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sldIdLst>
    <p:sldId id="256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9001"/>
    <a:srgbClr val="FFFD78"/>
    <a:srgbClr val="40C070"/>
    <a:srgbClr val="DEECF8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41"/>
    <p:restoredTop sz="94658"/>
  </p:normalViewPr>
  <p:slideViewPr>
    <p:cSldViewPr snapToGrid="0">
      <p:cViewPr varScale="1">
        <p:scale>
          <a:sx n="102" d="100"/>
          <a:sy n="102" d="100"/>
        </p:scale>
        <p:origin x="1424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BD35C6-7CAD-4548-AC6E-52C001648DF2}" type="datetimeFigureOut">
              <a:rPr lang="en-GB" smtClean="0"/>
              <a:t>28/03/2026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CB2F9C-EE91-734B-A47F-E925A8D890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6403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BC184-DD25-15C4-015E-EBFC40381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B66835-322C-61EF-69F3-77029B5D4F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ED561-F7B6-4EFA-3636-8D6E84A9B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28/03/2026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AD407-E5AF-F592-7868-F6159238F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AA389-1879-6EBB-1699-B454B0E3D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42A011-4401-4A32-2E8A-4BA0473FCD9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444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Media Placeholder 8">
            <a:extLst>
              <a:ext uri="{FF2B5EF4-FFF2-40B4-BE49-F238E27FC236}">
                <a16:creationId xmlns:a16="http://schemas.microsoft.com/office/drawing/2014/main" id="{B586524A-BD3F-86FA-7CE2-6F80F5901BB6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582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A8DF3-7887-0D25-6299-663E5BEA1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55B19-5A9C-777C-3A0B-C53B6B607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E581F-BFF5-CC21-546B-C47CA19FB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28/03/2026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4A786-B768-14C5-BAA7-7D8A83233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4674A-8FE0-36C3-AD71-04588B4CB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 descr="A close-up of a card&#10;&#10;Description automatically generated">
            <a:extLst>
              <a:ext uri="{FF2B5EF4-FFF2-40B4-BE49-F238E27FC236}">
                <a16:creationId xmlns:a16="http://schemas.microsoft.com/office/drawing/2014/main" id="{FD25676D-13E6-C1C0-5C8A-5986F28323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74211" y="136525"/>
            <a:ext cx="1359177" cy="670279"/>
          </a:xfrm>
          <a:prstGeom prst="rect">
            <a:avLst/>
          </a:prstGeom>
        </p:spPr>
      </p:pic>
      <p:sp>
        <p:nvSpPr>
          <p:cNvPr id="8" name="Media Placeholder 8">
            <a:extLst>
              <a:ext uri="{FF2B5EF4-FFF2-40B4-BE49-F238E27FC236}">
                <a16:creationId xmlns:a16="http://schemas.microsoft.com/office/drawing/2014/main" id="{F312437F-7809-0AAA-2C7B-8774A55DF303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75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A8DF3-7887-0D25-6299-663E5BEA1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55B19-5A9C-777C-3A0B-C53B6B607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E581F-BFF5-CC21-546B-C47CA19FB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28/03/2026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4A786-B768-14C5-BAA7-7D8A83233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4674A-8FE0-36C3-AD71-04588B4CB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 descr="A close-up of a pink sign&#10;&#10;Description automatically generated">
            <a:extLst>
              <a:ext uri="{FF2B5EF4-FFF2-40B4-BE49-F238E27FC236}">
                <a16:creationId xmlns:a16="http://schemas.microsoft.com/office/drawing/2014/main" id="{6BAA6382-4CD1-57C8-5CE1-796DB9D5EA2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90078" y="136525"/>
            <a:ext cx="1501922" cy="645454"/>
          </a:xfrm>
          <a:prstGeom prst="rect">
            <a:avLst/>
          </a:prstGeom>
        </p:spPr>
      </p:pic>
      <p:sp>
        <p:nvSpPr>
          <p:cNvPr id="7" name="Media Placeholder 8">
            <a:extLst>
              <a:ext uri="{FF2B5EF4-FFF2-40B4-BE49-F238E27FC236}">
                <a16:creationId xmlns:a16="http://schemas.microsoft.com/office/drawing/2014/main" id="{E4E89A89-3CFD-194C-3963-C8547EE8F89F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862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 T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A8DF3-7887-0D25-6299-663E5BEA1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55B19-5A9C-777C-3A0B-C53B6B607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E581F-BFF5-CC21-546B-C47CA19FB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28/03/2026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4A786-B768-14C5-BAA7-7D8A83233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4674A-8FE0-36C3-AD71-04588B4CB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 descr="A pink background with a cartoon character&#10;&#10;Description automatically generated">
            <a:extLst>
              <a:ext uri="{FF2B5EF4-FFF2-40B4-BE49-F238E27FC236}">
                <a16:creationId xmlns:a16="http://schemas.microsoft.com/office/drawing/2014/main" id="{471E7CCF-06E5-C5ED-10F1-3AADDF1B29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14904" y="136525"/>
            <a:ext cx="1477096" cy="608216"/>
          </a:xfrm>
          <a:prstGeom prst="rect">
            <a:avLst/>
          </a:prstGeom>
        </p:spPr>
      </p:pic>
      <p:sp>
        <p:nvSpPr>
          <p:cNvPr id="7" name="Media Placeholder 8">
            <a:extLst>
              <a:ext uri="{FF2B5EF4-FFF2-40B4-BE49-F238E27FC236}">
                <a16:creationId xmlns:a16="http://schemas.microsoft.com/office/drawing/2014/main" id="{537CE4E2-4EA9-23E1-026D-E9644C05F12F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140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 I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A8DF3-7887-0D25-6299-663E5BEA1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55B19-5A9C-777C-3A0B-C53B6B607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E581F-BFF5-CC21-546B-C47CA19FB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28/03/2026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4A786-B768-14C5-BAA7-7D8A83233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4674A-8FE0-36C3-AD71-04588B4CB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Picture 9" descr="A green background with black text&#10;&#10;Description automatically generated">
            <a:extLst>
              <a:ext uri="{FF2B5EF4-FFF2-40B4-BE49-F238E27FC236}">
                <a16:creationId xmlns:a16="http://schemas.microsoft.com/office/drawing/2014/main" id="{0B5E4881-D395-D820-8C55-3FE63D4D97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14905" y="136525"/>
            <a:ext cx="1477095" cy="614422"/>
          </a:xfrm>
          <a:prstGeom prst="rect">
            <a:avLst/>
          </a:prstGeom>
        </p:spPr>
      </p:pic>
      <p:sp>
        <p:nvSpPr>
          <p:cNvPr id="7" name="Media Placeholder 8">
            <a:extLst>
              <a:ext uri="{FF2B5EF4-FFF2-40B4-BE49-F238E27FC236}">
                <a16:creationId xmlns:a16="http://schemas.microsoft.com/office/drawing/2014/main" id="{F7EB1FDF-CC20-386A-D505-4F002F47DE9C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622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2B028-48FA-A020-20C2-4D8AB5E76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8ED87-60D9-0A91-F7A5-6EC9EDB76D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9BEF50-E30D-B113-05A6-A5002BCFC7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F75C14-D20E-18EA-A151-41D49FE08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28/03/2026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39D468-1C9D-56DB-8A47-117B17E00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B9D0DD-797F-0814-4724-15C10964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sp>
        <p:nvSpPr>
          <p:cNvPr id="8" name="Media Placeholder 8">
            <a:extLst>
              <a:ext uri="{FF2B5EF4-FFF2-40B4-BE49-F238E27FC236}">
                <a16:creationId xmlns:a16="http://schemas.microsoft.com/office/drawing/2014/main" id="{04DA42A8-0ACE-BF63-515D-9A42B554D8C2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15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CD606-625C-AD6F-7685-6B3875376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8FA711-20C9-1855-A2A7-70494876B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806C4F-1083-4167-7DB8-BF147B549D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F838C2-94F5-B119-F94F-C7E7A8FC72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9F157D-5813-40F9-7A2B-86EFDE43BE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A0128D-9DBC-F783-5938-FF937C093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28/03/2026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3FC24E-7ABC-71DA-FE5E-3CD3C6C44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D3AC60-E11D-DD5B-C7F1-15EDD4C98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Media Placeholder 8">
            <a:extLst>
              <a:ext uri="{FF2B5EF4-FFF2-40B4-BE49-F238E27FC236}">
                <a16:creationId xmlns:a16="http://schemas.microsoft.com/office/drawing/2014/main" id="{240D8869-214D-34CF-4D72-42A3FB0A5CC8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286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6DE27-3917-5873-B219-6062AC3C0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7E8C4D-CFE1-27C5-ACFB-99780D918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28/03/2026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F4C2A3-A00E-B5EA-BF36-54B3D1C43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981897-A3D0-8FE9-FFB3-8C0611C15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sp>
        <p:nvSpPr>
          <p:cNvPr id="6" name="Media Placeholder 8">
            <a:extLst>
              <a:ext uri="{FF2B5EF4-FFF2-40B4-BE49-F238E27FC236}">
                <a16:creationId xmlns:a16="http://schemas.microsoft.com/office/drawing/2014/main" id="{B89E3C10-91AD-30FE-6814-24C9ED6CD8C2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801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C1B19B-2D34-E6EE-9B0E-E791BFCE5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28/03/2026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B34ADB-1387-7E9B-BE06-BC69C6AC4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8DF8EC-1D16-E916-777C-62CD56598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sp>
        <p:nvSpPr>
          <p:cNvPr id="5" name="Media Placeholder 8">
            <a:extLst>
              <a:ext uri="{FF2B5EF4-FFF2-40B4-BE49-F238E27FC236}">
                <a16:creationId xmlns:a16="http://schemas.microsoft.com/office/drawing/2014/main" id="{6F93E976-3037-C4A5-7A5D-6A5D5209B14A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022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5531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93E219-9D08-E086-012A-E19B38DA5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01F7DA-0CCE-ACAA-4C72-F8070A170E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4E5B30-657F-37CD-1E3D-2EFAD3D397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 Light" panose="02000000000000000000" pitchFamily="2" charset="77"/>
              </a:defRPr>
            </a:lvl1pPr>
          </a:lstStyle>
          <a:p>
            <a:fld id="{50FFC714-CD1F-1F47-9B04-0D0894B2988C}" type="datetimeFigureOut">
              <a:rPr lang="en-GB" smtClean="0"/>
              <a:pPr/>
              <a:t>28/03/2026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A83DC-6B0C-710A-7700-D6C96F367B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 Light" panose="02000000000000000000" pitchFamily="2" charset="77"/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2950C-B405-7AF7-EA6A-70B2884A14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 Light" panose="02000000000000000000" pitchFamily="2" charset="77"/>
              </a:defRPr>
            </a:lvl1pPr>
          </a:lstStyle>
          <a:p>
            <a:fld id="{2082E964-443D-C44D-AA24-C6EC26BE89C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C74CBD-5CCA-A2E4-4E13-311FD5492F8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444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inkl Cursive Looped Light" panose="02000000000000000000" pitchFamily="2" charset="77"/>
            </a:endParaRPr>
          </a:p>
        </p:txBody>
      </p:sp>
      <p:pic>
        <p:nvPicPr>
          <p:cNvPr id="8" name="Picture 7" descr="A black background with graphics and symbols&#10;&#10;Description automatically generated">
            <a:extLst>
              <a:ext uri="{FF2B5EF4-FFF2-40B4-BE49-F238E27FC236}">
                <a16:creationId xmlns:a16="http://schemas.microsoft.com/office/drawing/2014/main" id="{9A5B9FFB-DD02-A26E-66CD-26FA349E3AB7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2190" y="122848"/>
            <a:ext cx="550953" cy="478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885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63" r:id="rId4"/>
    <p:sldLayoutId id="2147483664" r:id="rId5"/>
    <p:sldLayoutId id="2147483652" r:id="rId6"/>
    <p:sldLayoutId id="2147483653" r:id="rId7"/>
    <p:sldLayoutId id="2147483654" r:id="rId8"/>
    <p:sldLayoutId id="2147483655" r:id="rId9"/>
    <p:sldLayoutId id="2147483665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winkl Cursive Looped Light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winkl Cursive Looped Light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winkl Cursive Looped Light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winkl Cursive Looped Light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 Light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 Light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219456" y="853440"/>
            <a:ext cx="5669280" cy="1879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0C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240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5462016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156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  </a:t>
            </a:r>
            <a:r>
              <a:rPr lang="en-US" sz="1600" dirty="0">
                <a:solidFill>
                  <a:srgbClr val="156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 Value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231392"/>
            <a:ext cx="5462016" cy="144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the value of the digit 5 in 5,274?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19456" y="2854960"/>
            <a:ext cx="5669280" cy="1879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0C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2400"/>
          </a:p>
        </p:txBody>
      </p:sp>
      <p:sp>
        <p:nvSpPr>
          <p:cNvPr id="10" name="Text 8"/>
          <p:cNvSpPr/>
          <p:nvPr/>
        </p:nvSpPr>
        <p:spPr>
          <a:xfrm>
            <a:off x="365760" y="2915920"/>
            <a:ext cx="5462016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156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  </a:t>
            </a:r>
            <a:r>
              <a:rPr lang="en-US" sz="1600" dirty="0">
                <a:solidFill>
                  <a:srgbClr val="156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Addition and Subtraction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3232912"/>
            <a:ext cx="5462016" cy="144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Calculate 4,316 + 2,547.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219456" y="4856480"/>
            <a:ext cx="5669280" cy="1879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0C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2400"/>
          </a:p>
        </p:txBody>
      </p:sp>
      <p:sp>
        <p:nvSpPr>
          <p:cNvPr id="14" name="Text 12"/>
          <p:cNvSpPr/>
          <p:nvPr/>
        </p:nvSpPr>
        <p:spPr>
          <a:xfrm>
            <a:off x="365760" y="4917440"/>
            <a:ext cx="5462016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156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  </a:t>
            </a:r>
            <a:r>
              <a:rPr lang="en-US" sz="1600" dirty="0">
                <a:solidFill>
                  <a:srgbClr val="156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Multiplication and Division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5760" y="5234432"/>
            <a:ext cx="5462016" cy="1440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8 x 6?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315456" y="853440"/>
            <a:ext cx="5669280" cy="2880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0C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2400"/>
          </a:p>
        </p:txBody>
      </p:sp>
      <p:sp>
        <p:nvSpPr>
          <p:cNvPr id="18" name="Text 16"/>
          <p:cNvSpPr/>
          <p:nvPr/>
        </p:nvSpPr>
        <p:spPr>
          <a:xfrm>
            <a:off x="6461760" y="914400"/>
            <a:ext cx="5462016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156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  </a:t>
            </a:r>
            <a:r>
              <a:rPr lang="en-US" sz="1600" dirty="0">
                <a:solidFill>
                  <a:srgbClr val="156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Measurement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61760" y="1231392"/>
            <a:ext cx="5462016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many centimetres are in 3.5 metres?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6315456" y="3855720"/>
            <a:ext cx="5669280" cy="2880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0C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2400"/>
          </a:p>
        </p:txBody>
      </p:sp>
      <p:sp>
        <p:nvSpPr>
          <p:cNvPr id="22" name="Text 20"/>
          <p:cNvSpPr/>
          <p:nvPr/>
        </p:nvSpPr>
        <p:spPr>
          <a:xfrm>
            <a:off x="6461760" y="3916680"/>
            <a:ext cx="5462016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156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  </a:t>
            </a:r>
            <a:r>
              <a:rPr lang="en-US" sz="1600" dirty="0">
                <a:solidFill>
                  <a:srgbClr val="156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Fractions and Decimals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61760" y="4233672"/>
            <a:ext cx="5462016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0.5 as a fraction?</a:t>
            </a:r>
            <a:endParaRPr lang="en-US" sz="2400" dirty="0"/>
          </a:p>
        </p:txBody>
      </p:sp>
      <p:sp>
        <p:nvSpPr>
          <p:cNvPr id="27" name="Title 26">
            <a:extLst>
              <a:ext uri="{FF2B5EF4-FFF2-40B4-BE49-F238E27FC236}">
                <a16:creationId xmlns:a16="http://schemas.microsoft.com/office/drawing/2014/main" id="{2998A083-636C-5B5A-DD9E-7DA36EBB1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738"/>
            <a:ext cx="10515600" cy="744347"/>
          </a:xfrm>
        </p:spPr>
        <p:txBody>
          <a:bodyPr/>
          <a:lstStyle/>
          <a:p>
            <a:r>
              <a:rPr lang="en-GB" dirty="0"/>
              <a:t>Rapid Maths – Day 1</a:t>
            </a:r>
          </a:p>
        </p:txBody>
      </p:sp>
      <p:sp>
        <p:nvSpPr>
          <p:cNvPr id="29" name="Media Placeholder 28">
            <a:extLst>
              <a:ext uri="{FF2B5EF4-FFF2-40B4-BE49-F238E27FC236}">
                <a16:creationId xmlns:a16="http://schemas.microsoft.com/office/drawing/2014/main" id="{F651315B-C65C-9082-C034-DDBC7BDCB853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/>
        <p:txBody>
          <a:bodyPr>
            <a:normAutofit fontScale="77500" lnSpcReduction="20000"/>
          </a:bodyPr>
          <a:lstStyle/>
          <a:p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219456" y="853440"/>
            <a:ext cx="5669280" cy="1879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5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240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5462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67" b="1" dirty="0">
                <a:solidFill>
                  <a:srgbClr val="156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  </a:t>
            </a:r>
            <a:r>
              <a:rPr lang="en-US" sz="1467" dirty="0">
                <a:solidFill>
                  <a:srgbClr val="156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 Value</a:t>
            </a:r>
            <a:endParaRPr lang="en-US" sz="1467" dirty="0"/>
          </a:p>
        </p:txBody>
      </p:sp>
      <p:sp>
        <p:nvSpPr>
          <p:cNvPr id="7" name="Text 5"/>
          <p:cNvSpPr/>
          <p:nvPr/>
        </p:nvSpPr>
        <p:spPr>
          <a:xfrm>
            <a:off x="365760" y="1207008"/>
            <a:ext cx="5462016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67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the value of the digit 5 in 5,274?</a:t>
            </a:r>
            <a:endParaRPr lang="en-US" sz="1467" dirty="0"/>
          </a:p>
        </p:txBody>
      </p:sp>
      <p:sp>
        <p:nvSpPr>
          <p:cNvPr id="8" name="Text 6"/>
          <p:cNvSpPr/>
          <p:nvPr/>
        </p:nvSpPr>
        <p:spPr>
          <a:xfrm>
            <a:off x="365760" y="1584960"/>
            <a:ext cx="5462016" cy="1087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1D6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5,000 (5 thousands)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219456" y="2854960"/>
            <a:ext cx="5669280" cy="1879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5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2400"/>
          </a:p>
        </p:txBody>
      </p:sp>
      <p:sp>
        <p:nvSpPr>
          <p:cNvPr id="11" name="Text 9"/>
          <p:cNvSpPr/>
          <p:nvPr/>
        </p:nvSpPr>
        <p:spPr>
          <a:xfrm>
            <a:off x="365760" y="2915920"/>
            <a:ext cx="5462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67" b="1" dirty="0">
                <a:solidFill>
                  <a:srgbClr val="156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  </a:t>
            </a:r>
            <a:r>
              <a:rPr lang="en-US" sz="1467" dirty="0">
                <a:solidFill>
                  <a:srgbClr val="156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Addition and Subtraction</a:t>
            </a:r>
            <a:endParaRPr lang="en-US" sz="1467" dirty="0"/>
          </a:p>
        </p:txBody>
      </p:sp>
      <p:sp>
        <p:nvSpPr>
          <p:cNvPr id="12" name="Text 10"/>
          <p:cNvSpPr/>
          <p:nvPr/>
        </p:nvSpPr>
        <p:spPr>
          <a:xfrm>
            <a:off x="365760" y="3208528"/>
            <a:ext cx="5462016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67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Calculate 4,316 + 2,547.</a:t>
            </a:r>
            <a:endParaRPr lang="en-US" sz="1467" dirty="0"/>
          </a:p>
        </p:txBody>
      </p:sp>
      <p:sp>
        <p:nvSpPr>
          <p:cNvPr id="13" name="Text 11"/>
          <p:cNvSpPr/>
          <p:nvPr/>
        </p:nvSpPr>
        <p:spPr>
          <a:xfrm>
            <a:off x="365760" y="3586480"/>
            <a:ext cx="5462016" cy="1087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1D6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6,863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219456" y="4856480"/>
            <a:ext cx="5669280" cy="1879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5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2400"/>
          </a:p>
        </p:txBody>
      </p:sp>
      <p:sp>
        <p:nvSpPr>
          <p:cNvPr id="16" name="Text 14"/>
          <p:cNvSpPr/>
          <p:nvPr/>
        </p:nvSpPr>
        <p:spPr>
          <a:xfrm>
            <a:off x="365760" y="4917440"/>
            <a:ext cx="5462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67" b="1" dirty="0">
                <a:solidFill>
                  <a:srgbClr val="156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  </a:t>
            </a:r>
            <a:r>
              <a:rPr lang="en-US" sz="1467" dirty="0">
                <a:solidFill>
                  <a:srgbClr val="156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Multiplication and Division</a:t>
            </a:r>
            <a:endParaRPr lang="en-US" sz="1467" dirty="0"/>
          </a:p>
        </p:txBody>
      </p:sp>
      <p:sp>
        <p:nvSpPr>
          <p:cNvPr id="17" name="Text 15"/>
          <p:cNvSpPr/>
          <p:nvPr/>
        </p:nvSpPr>
        <p:spPr>
          <a:xfrm>
            <a:off x="365760" y="5210048"/>
            <a:ext cx="5462016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67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8 x 6?</a:t>
            </a:r>
            <a:endParaRPr lang="en-US" sz="1467" dirty="0"/>
          </a:p>
        </p:txBody>
      </p:sp>
      <p:sp>
        <p:nvSpPr>
          <p:cNvPr id="18" name="Text 16"/>
          <p:cNvSpPr/>
          <p:nvPr/>
        </p:nvSpPr>
        <p:spPr>
          <a:xfrm>
            <a:off x="365760" y="5588000"/>
            <a:ext cx="5462016" cy="1087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1D6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48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6315456" y="853440"/>
            <a:ext cx="5669280" cy="2880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5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2400"/>
          </a:p>
        </p:txBody>
      </p:sp>
      <p:sp>
        <p:nvSpPr>
          <p:cNvPr id="21" name="Text 19"/>
          <p:cNvSpPr/>
          <p:nvPr/>
        </p:nvSpPr>
        <p:spPr>
          <a:xfrm>
            <a:off x="6461760" y="914400"/>
            <a:ext cx="5462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67" b="1" dirty="0">
                <a:solidFill>
                  <a:srgbClr val="156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  </a:t>
            </a:r>
            <a:r>
              <a:rPr lang="en-US" sz="1467" dirty="0">
                <a:solidFill>
                  <a:srgbClr val="156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Measurement</a:t>
            </a:r>
            <a:endParaRPr lang="en-US" sz="1467" dirty="0"/>
          </a:p>
        </p:txBody>
      </p:sp>
      <p:sp>
        <p:nvSpPr>
          <p:cNvPr id="22" name="Text 20"/>
          <p:cNvSpPr/>
          <p:nvPr/>
        </p:nvSpPr>
        <p:spPr>
          <a:xfrm>
            <a:off x="6461760" y="1207008"/>
            <a:ext cx="5462016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67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many centimetres are in 3.5 metres?</a:t>
            </a:r>
            <a:endParaRPr lang="en-US" sz="1467" dirty="0"/>
          </a:p>
        </p:txBody>
      </p:sp>
      <p:sp>
        <p:nvSpPr>
          <p:cNvPr id="23" name="Text 21"/>
          <p:cNvSpPr/>
          <p:nvPr/>
        </p:nvSpPr>
        <p:spPr>
          <a:xfrm>
            <a:off x="6461760" y="1584960"/>
            <a:ext cx="5462016" cy="2087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1D6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 cm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6315456" y="3855720"/>
            <a:ext cx="5669280" cy="2880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5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2400"/>
          </a:p>
        </p:txBody>
      </p:sp>
      <p:sp>
        <p:nvSpPr>
          <p:cNvPr id="26" name="Text 24"/>
          <p:cNvSpPr/>
          <p:nvPr/>
        </p:nvSpPr>
        <p:spPr>
          <a:xfrm>
            <a:off x="6461760" y="3916680"/>
            <a:ext cx="5462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67" b="1" dirty="0">
                <a:solidFill>
                  <a:srgbClr val="156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  </a:t>
            </a:r>
            <a:r>
              <a:rPr lang="en-US" sz="1467" dirty="0">
                <a:solidFill>
                  <a:srgbClr val="156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Fractions and Decimals</a:t>
            </a:r>
            <a:endParaRPr lang="en-US" sz="1467" dirty="0"/>
          </a:p>
        </p:txBody>
      </p:sp>
      <p:sp>
        <p:nvSpPr>
          <p:cNvPr id="27" name="Text 25"/>
          <p:cNvSpPr/>
          <p:nvPr/>
        </p:nvSpPr>
        <p:spPr>
          <a:xfrm>
            <a:off x="6461760" y="4209288"/>
            <a:ext cx="5462016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67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0.5 as a fraction?</a:t>
            </a:r>
            <a:endParaRPr lang="en-US" sz="1467" dirty="0"/>
          </a:p>
        </p:txBody>
      </p:sp>
      <p:sp>
        <p:nvSpPr>
          <p:cNvPr id="28" name="Text 26"/>
          <p:cNvSpPr/>
          <p:nvPr/>
        </p:nvSpPr>
        <p:spPr>
          <a:xfrm>
            <a:off x="6461760" y="4587240"/>
            <a:ext cx="5462016" cy="2087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1D6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1/2</a:t>
            </a:r>
            <a:endParaRPr lang="en-US" sz="2800" dirty="0"/>
          </a:p>
        </p:txBody>
      </p:sp>
      <p:sp>
        <p:nvSpPr>
          <p:cNvPr id="29" name="Title 28">
            <a:extLst>
              <a:ext uri="{FF2B5EF4-FFF2-40B4-BE49-F238E27FC236}">
                <a16:creationId xmlns:a16="http://schemas.microsoft.com/office/drawing/2014/main" id="{5B0AE788-CB9C-0BAE-0169-E2DC28404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8255"/>
            <a:ext cx="10515600" cy="922655"/>
          </a:xfrm>
        </p:spPr>
        <p:txBody>
          <a:bodyPr/>
          <a:lstStyle/>
          <a:p>
            <a:r>
              <a:rPr lang="en-GB" dirty="0"/>
              <a:t>Rapid Maths – Answers – Day 1</a:t>
            </a:r>
          </a:p>
        </p:txBody>
      </p:sp>
      <p:sp>
        <p:nvSpPr>
          <p:cNvPr id="31" name="Media Placeholder 30">
            <a:extLst>
              <a:ext uri="{FF2B5EF4-FFF2-40B4-BE49-F238E27FC236}">
                <a16:creationId xmlns:a16="http://schemas.microsoft.com/office/drawing/2014/main" id="{4170A160-1068-8D57-3010-514F85A42B3B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/>
        <p:txBody>
          <a:bodyPr>
            <a:normAutofit fontScale="77500" lnSpcReduction="20000"/>
          </a:bodyPr>
          <a:lstStyle/>
          <a:p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000" dirty="0" err="1" smtClean="0">
            <a:latin typeface="Twinkl Cursive Looped Light" panose="02000000000000000000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0" id="{1BD95F8B-D119-184E-B461-EB96D434B869}" vid="{751A4A59-1635-514C-9025-B9911AE6E5D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71695694772F44B387615DF8DED97F" ma:contentTypeVersion="16" ma:contentTypeDescription="Create a new document." ma:contentTypeScope="" ma:versionID="6b988a150421d80c99f84aa2bfb3de38">
  <xsd:schema xmlns:xsd="http://www.w3.org/2001/XMLSchema" xmlns:xs="http://www.w3.org/2001/XMLSchema" xmlns:p="http://schemas.microsoft.com/office/2006/metadata/properties" xmlns:ns2="9e6dd442-da5e-411e-833f-0fee7dcd7819" xmlns:ns3="4848fd07-94db-4308-8950-9cb0e230b958" targetNamespace="http://schemas.microsoft.com/office/2006/metadata/properties" ma:root="true" ma:fieldsID="0840e1ae8104f568f88bbc0ee80d0ce2" ns2:_="" ns3:_="">
    <xsd:import namespace="9e6dd442-da5e-411e-833f-0fee7dcd7819"/>
    <xsd:import namespace="4848fd07-94db-4308-8950-9cb0e230b9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6dd442-da5e-411e-833f-0fee7dcd78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3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bd08261e-ebf2-489e-9cf5-3c5ddf1ef55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48fd07-94db-4308-8950-9cb0e230b958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90903c9d-9125-4551-886d-abbd3fd64318}" ma:internalName="TaxCatchAll" ma:showField="CatchAllData" ma:web="4848fd07-94db-4308-8950-9cb0e230b9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e6dd442-da5e-411e-833f-0fee7dcd7819">
      <Terms xmlns="http://schemas.microsoft.com/office/infopath/2007/PartnerControls"/>
    </lcf76f155ced4ddcb4097134ff3c332f>
    <TaxCatchAll xmlns="4848fd07-94db-4308-8950-9cb0e230b958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7A4E24F-1B38-454E-8089-0BD97B1C5B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e6dd442-da5e-411e-833f-0fee7dcd7819"/>
    <ds:schemaRef ds:uri="4848fd07-94db-4308-8950-9cb0e230b95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23CE296-60E4-4853-B3BD-F33DDF6ED904}">
  <ds:schemaRefs>
    <ds:schemaRef ds:uri="http://purl.org/dc/elements/1.1/"/>
    <ds:schemaRef ds:uri="http://purl.org/dc/terms/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4848fd07-94db-4308-8950-9cb0e230b958"/>
    <ds:schemaRef ds:uri="9e6dd442-da5e-411e-833f-0fee7dcd7819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689B1C0-FAA9-4C87-B6A9-158CCD6B193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</TotalTime>
  <Words>132</Words>
  <Application>Microsoft Macintosh PowerPoint</Application>
  <PresentationFormat>Widescreen</PresentationFormat>
  <Paragraphs>29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Arial</vt:lpstr>
      <vt:lpstr>Twinkl Cursive Looped Light</vt:lpstr>
      <vt:lpstr>Office Theme</vt:lpstr>
      <vt:lpstr>Rapid Maths – Day 1</vt:lpstr>
      <vt:lpstr>Rapid Maths – Answers – Day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innes mclean</dc:creator>
  <cp:lastModifiedBy>innes mclean</cp:lastModifiedBy>
  <cp:revision>1</cp:revision>
  <dcterms:created xsi:type="dcterms:W3CDTF">2026-03-28T09:24:09Z</dcterms:created>
  <dcterms:modified xsi:type="dcterms:W3CDTF">2026-03-28T09:29:35Z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0x010100AC71695694772F44B387615DF8DED97F</vt:lpwstr>
  </property>
</Properties>
</file>