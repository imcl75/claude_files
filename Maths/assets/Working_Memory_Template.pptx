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510" r:id="rId12"/>
    <p:sldId id="2511" r:id="rId13"/>
    <p:sldId id="2512" r:id="rId14"/>
    <p:sldId id="2513" r:id="rId15"/>
    <p:sldId id="2514" r:id="rId16"/>
    <p:sldId id="2515" r:id="rId17"/>
    <p:sldId id="2516" r:id="rId18"/>
    <p:sldId id="251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9001"/>
    <a:srgbClr val="FFFD78"/>
    <a:srgbClr val="40C070"/>
    <a:srgbClr val="DEECF8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1"/>
    <p:restoredTop sz="94658"/>
  </p:normalViewPr>
  <p:slideViewPr>
    <p:cSldViewPr snapToGrid="0">
      <p:cViewPr varScale="1">
        <p:scale>
          <a:sx n="102" d="100"/>
          <a:sy n="102" d="100"/>
        </p:scale>
        <p:origin x="142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D35C6-7CAD-4548-AC6E-52C001648DF2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B2F9C-EE91-734B-A47F-E925A8D890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40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69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6892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C184-DD25-15C4-015E-EBFC40381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66835-322C-61EF-69F3-77029B5D4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ED561-F7B6-4EFA-3636-8D6E84A9B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AD407-E5AF-F592-7868-F6159238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AA389-1879-6EBB-1699-B454B0E3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42A011-4401-4A32-2E8A-4BA0473FCD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B586524A-BD3F-86FA-7CE2-6F80F5901BB6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8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lose-up of a card&#10;&#10;Description automatically generated">
            <a:extLst>
              <a:ext uri="{FF2B5EF4-FFF2-40B4-BE49-F238E27FC236}">
                <a16:creationId xmlns:a16="http://schemas.microsoft.com/office/drawing/2014/main" id="{FD25676D-13E6-C1C0-5C8A-5986F28323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211" y="136525"/>
            <a:ext cx="1359177" cy="670279"/>
          </a:xfrm>
          <a:prstGeom prst="rect">
            <a:avLst/>
          </a:prstGeom>
        </p:spPr>
      </p:pic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F312437F-7809-0AAA-2C7B-8774A55DF303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lose-up of a pink sign&#10;&#10;Description automatically generated">
            <a:extLst>
              <a:ext uri="{FF2B5EF4-FFF2-40B4-BE49-F238E27FC236}">
                <a16:creationId xmlns:a16="http://schemas.microsoft.com/office/drawing/2014/main" id="{6BAA6382-4CD1-57C8-5CE1-796DB9D5EA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E4E89A89-3CFD-194C-3963-C8547EE8F89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62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471E7CCF-06E5-C5ED-10F1-3AADDF1B2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537CE4E2-4EA9-23E1-026D-E9644C05F12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4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0B5E4881-D395-D820-8C55-3FE63D4D9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F7EB1FDF-CC20-386A-D505-4F002F47DE9C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2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2B028-48FA-A020-20C2-4D8AB5E76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8ED87-60D9-0A91-F7A5-6EC9EDB76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BEF50-E30D-B113-05A6-A5002BCFC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75C14-D20E-18EA-A151-41D49FE0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9D468-1C9D-56DB-8A47-117B17E0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9D0DD-797F-0814-4724-15C10964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04DA42A8-0ACE-BF63-515D-9A42B554D8C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D606-625C-AD6F-7685-6B3875376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FA711-20C9-1855-A2A7-70494876B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06C4F-1083-4167-7DB8-BF147B549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838C2-94F5-B119-F94F-C7E7A8FC7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9F157D-5813-40F9-7A2B-86EFDE43B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A0128D-9DBC-F783-5938-FF937C09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3FC24E-7ABC-71DA-FE5E-3CD3C6C4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D3AC60-E11D-DD5B-C7F1-15EDD4C9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Media Placeholder 8">
            <a:extLst>
              <a:ext uri="{FF2B5EF4-FFF2-40B4-BE49-F238E27FC236}">
                <a16:creationId xmlns:a16="http://schemas.microsoft.com/office/drawing/2014/main" id="{240D8869-214D-34CF-4D72-42A3FB0A5CC8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8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DE27-3917-5873-B219-6062AC3C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E8C4D-CFE1-27C5-ACFB-99780D91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4C2A3-A00E-B5EA-BF36-54B3D1C43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81897-A3D0-8FE9-FFB3-8C0611C1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6" name="Media Placeholder 8">
            <a:extLst>
              <a:ext uri="{FF2B5EF4-FFF2-40B4-BE49-F238E27FC236}">
                <a16:creationId xmlns:a16="http://schemas.microsoft.com/office/drawing/2014/main" id="{B89E3C10-91AD-30FE-6814-24C9ED6CD8C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0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22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9904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3E219-9D08-E086-012A-E19B38DA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1F7DA-0CCE-ACAA-4C72-F8070A170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E5B30-657F-37CD-1E3D-2EFAD3D39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50FFC714-CD1F-1F47-9B04-0D0894B2988C}" type="datetimeFigureOut">
              <a:rPr lang="en-GB" smtClean="0"/>
              <a:pPr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A83DC-6B0C-710A-7700-D6C96F367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2950C-B405-7AF7-EA6A-70B2884A1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2082E964-443D-C44D-AA24-C6EC26BE89C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C74CBD-5CCA-A2E4-4E13-311FD5492F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inkl Cursive Looped Light" panose="02000000000000000000" pitchFamily="2" charset="77"/>
            </a:endParaRPr>
          </a:p>
        </p:txBody>
      </p:sp>
      <p:pic>
        <p:nvPicPr>
          <p:cNvPr id="8" name="Picture 7" descr="A black background with graphics and symbols&#10;&#10;Description automatically generated">
            <a:extLst>
              <a:ext uri="{FF2B5EF4-FFF2-40B4-BE49-F238E27FC236}">
                <a16:creationId xmlns:a16="http://schemas.microsoft.com/office/drawing/2014/main" id="{9A5B9FFB-DD02-A26E-66CD-26FA349E3AB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190" y="122848"/>
            <a:ext cx="550953" cy="4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8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64" r:id="rId5"/>
    <p:sldLayoutId id="2147483652" r:id="rId6"/>
    <p:sldLayoutId id="2147483653" r:id="rId7"/>
    <p:sldLayoutId id="2147483654" r:id="rId8"/>
    <p:sldLayoutId id="2147483655" r:id="rId9"/>
    <p:sldLayoutId id="214748366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 Light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606EE896-8252-F4E0-136B-01ADE2509360}"/>
              </a:ext>
            </a:extLst>
          </p:cNvPr>
          <p:cNvGrpSpPr/>
          <p:nvPr/>
        </p:nvGrpSpPr>
        <p:grpSpPr>
          <a:xfrm>
            <a:off x="1231392" y="2633472"/>
            <a:ext cx="9729216" cy="1658112"/>
            <a:chOff x="1231392" y="2145792"/>
            <a:chExt cx="9729216" cy="1658112"/>
          </a:xfrm>
        </p:grpSpPr>
        <p:sp>
          <p:nvSpPr>
            <p:cNvPr id="5" name="Text 3"/>
            <p:cNvSpPr/>
            <p:nvPr/>
          </p:nvSpPr>
          <p:spPr>
            <a:xfrm>
              <a:off x="1231392" y="2145792"/>
              <a:ext cx="1438656" cy="1280160"/>
            </a:xfrm>
            <a:prstGeom prst="rect">
              <a:avLst/>
            </a:prstGeom>
            <a:solidFill>
              <a:srgbClr val="1C4060"/>
            </a:solidFill>
            <a:ln w="19050">
              <a:solidFill>
                <a:srgbClr val="156082"/>
              </a:solidFill>
            </a:ln>
            <a:effectLst>
              <a:outerShdw blurRad="63500" dist="25400" dir="8100000" algn="bl" rotWithShape="0">
                <a:srgbClr val="000000">
                  <a:alpha val="15000"/>
                </a:srgbClr>
              </a:outerShdw>
            </a:effectLst>
          </p:spPr>
          <p:txBody>
            <a:bodyPr wrap="square" rtlCol="0" anchor="ctr"/>
            <a:lstStyle/>
            <a:p>
              <a:pPr algn="ctr">
                <a:lnSpc>
                  <a:spcPct val="150000"/>
                </a:lnSpc>
              </a:pPr>
              <a:r>
                <a:rPr lang="en-GB" sz="7200" b="1" noProof="1">
                  <a:solidFill>
                    <a:srgbClr val="FFC00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🐸</a:t>
              </a:r>
              <a:endParaRPr lang="en-GB" sz="7200" noProof="1"/>
            </a:p>
          </p:txBody>
        </p:sp>
        <p:sp>
          <p:nvSpPr>
            <p:cNvPr id="6" name="Text 4"/>
            <p:cNvSpPr/>
            <p:nvPr/>
          </p:nvSpPr>
          <p:spPr>
            <a:xfrm>
              <a:off x="1231392" y="3511296"/>
              <a:ext cx="1438656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GB" sz="1200" noProof="1">
                  <a:solidFill>
                    <a:srgbClr val="4A6B8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1st</a:t>
              </a:r>
              <a:endParaRPr lang="en-GB" sz="1200" noProof="1"/>
            </a:p>
          </p:txBody>
        </p:sp>
        <p:sp>
          <p:nvSpPr>
            <p:cNvPr id="7" name="Text 5"/>
            <p:cNvSpPr/>
            <p:nvPr/>
          </p:nvSpPr>
          <p:spPr>
            <a:xfrm>
              <a:off x="2889504" y="2145792"/>
              <a:ext cx="1438656" cy="1280160"/>
            </a:xfrm>
            <a:prstGeom prst="rect">
              <a:avLst/>
            </a:prstGeom>
            <a:solidFill>
              <a:srgbClr val="1C4060"/>
            </a:solidFill>
            <a:ln w="19050">
              <a:solidFill>
                <a:srgbClr val="156082"/>
              </a:solidFill>
            </a:ln>
            <a:effectLst>
              <a:outerShdw blurRad="63500" dist="25400" dir="8100000" algn="bl" rotWithShape="0">
                <a:srgbClr val="000000">
                  <a:alpha val="15000"/>
                </a:srgbClr>
              </a:outerShdw>
            </a:effectLst>
          </p:spPr>
          <p:txBody>
            <a:bodyPr wrap="square" rtlCol="0" anchor="ctr"/>
            <a:lstStyle/>
            <a:p>
              <a:pPr algn="ctr">
                <a:lnSpc>
                  <a:spcPct val="150000"/>
                </a:lnSpc>
              </a:pPr>
              <a:r>
                <a:rPr lang="en-GB" sz="7200" b="1" noProof="1">
                  <a:solidFill>
                    <a:srgbClr val="FFC00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🎻</a:t>
              </a:r>
              <a:endParaRPr lang="en-GB" sz="7200" noProof="1"/>
            </a:p>
          </p:txBody>
        </p:sp>
        <p:sp>
          <p:nvSpPr>
            <p:cNvPr id="8" name="Text 6"/>
            <p:cNvSpPr/>
            <p:nvPr/>
          </p:nvSpPr>
          <p:spPr>
            <a:xfrm>
              <a:off x="2889504" y="3511296"/>
              <a:ext cx="1438656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GB" sz="1200" noProof="1">
                  <a:solidFill>
                    <a:srgbClr val="4A6B8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2nd</a:t>
              </a:r>
              <a:endParaRPr lang="en-GB" sz="1200" noProof="1"/>
            </a:p>
          </p:txBody>
        </p:sp>
        <p:sp>
          <p:nvSpPr>
            <p:cNvPr id="9" name="Text 7"/>
            <p:cNvSpPr/>
            <p:nvPr/>
          </p:nvSpPr>
          <p:spPr>
            <a:xfrm>
              <a:off x="4547616" y="2145792"/>
              <a:ext cx="1438656" cy="1280160"/>
            </a:xfrm>
            <a:prstGeom prst="rect">
              <a:avLst/>
            </a:prstGeom>
            <a:solidFill>
              <a:srgbClr val="1C4060"/>
            </a:solidFill>
            <a:ln w="19050">
              <a:solidFill>
                <a:srgbClr val="156082"/>
              </a:solidFill>
            </a:ln>
            <a:effectLst>
              <a:outerShdw blurRad="63500" dist="25400" dir="8100000" algn="bl" rotWithShape="0">
                <a:srgbClr val="000000">
                  <a:alpha val="15000"/>
                </a:srgbClr>
              </a:outerShdw>
            </a:effectLst>
          </p:spPr>
          <p:txBody>
            <a:bodyPr wrap="square" rtlCol="0" anchor="ctr"/>
            <a:lstStyle/>
            <a:p>
              <a:pPr algn="ctr">
                <a:lnSpc>
                  <a:spcPct val="150000"/>
                </a:lnSpc>
              </a:pPr>
              <a:r>
                <a:rPr lang="en-GB" sz="7200" b="1" noProof="1">
                  <a:solidFill>
                    <a:srgbClr val="FFC00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🌮</a:t>
              </a:r>
              <a:endParaRPr lang="en-GB" sz="7200" noProof="1"/>
            </a:p>
          </p:txBody>
        </p:sp>
        <p:sp>
          <p:nvSpPr>
            <p:cNvPr id="10" name="Text 8"/>
            <p:cNvSpPr/>
            <p:nvPr/>
          </p:nvSpPr>
          <p:spPr>
            <a:xfrm>
              <a:off x="4547616" y="3511296"/>
              <a:ext cx="1438656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GB" sz="1200" noProof="1">
                  <a:solidFill>
                    <a:srgbClr val="4A6B8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3rd</a:t>
              </a:r>
              <a:endParaRPr lang="en-GB" sz="1200" noProof="1"/>
            </a:p>
          </p:txBody>
        </p:sp>
        <p:sp>
          <p:nvSpPr>
            <p:cNvPr id="11" name="Text 9"/>
            <p:cNvSpPr/>
            <p:nvPr/>
          </p:nvSpPr>
          <p:spPr>
            <a:xfrm>
              <a:off x="6205728" y="2145792"/>
              <a:ext cx="1438656" cy="1280160"/>
            </a:xfrm>
            <a:prstGeom prst="rect">
              <a:avLst/>
            </a:prstGeom>
            <a:solidFill>
              <a:srgbClr val="1C4060"/>
            </a:solidFill>
            <a:ln w="19050">
              <a:solidFill>
                <a:srgbClr val="156082"/>
              </a:solidFill>
            </a:ln>
            <a:effectLst>
              <a:outerShdw blurRad="63500" dist="25400" dir="8100000" algn="bl" rotWithShape="0">
                <a:srgbClr val="000000">
                  <a:alpha val="15000"/>
                </a:srgbClr>
              </a:outerShdw>
            </a:effectLst>
          </p:spPr>
          <p:txBody>
            <a:bodyPr wrap="square" rtlCol="0" anchor="ctr"/>
            <a:lstStyle/>
            <a:p>
              <a:pPr algn="ctr">
                <a:lnSpc>
                  <a:spcPct val="150000"/>
                </a:lnSpc>
              </a:pPr>
              <a:r>
                <a:rPr lang="en-GB" sz="7200" b="1" noProof="1">
                  <a:solidFill>
                    <a:srgbClr val="FFC00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🚀</a:t>
              </a:r>
              <a:endParaRPr lang="en-GB" sz="7200" noProof="1"/>
            </a:p>
          </p:txBody>
        </p:sp>
        <p:sp>
          <p:nvSpPr>
            <p:cNvPr id="12" name="Text 10"/>
            <p:cNvSpPr/>
            <p:nvPr/>
          </p:nvSpPr>
          <p:spPr>
            <a:xfrm>
              <a:off x="6205728" y="3511296"/>
              <a:ext cx="1438656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GB" sz="1200" noProof="1">
                  <a:solidFill>
                    <a:srgbClr val="4A6B8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4th</a:t>
              </a:r>
              <a:endParaRPr lang="en-GB" sz="1200" noProof="1"/>
            </a:p>
          </p:txBody>
        </p:sp>
        <p:sp>
          <p:nvSpPr>
            <p:cNvPr id="13" name="Text 11"/>
            <p:cNvSpPr/>
            <p:nvPr/>
          </p:nvSpPr>
          <p:spPr>
            <a:xfrm>
              <a:off x="7863840" y="2145792"/>
              <a:ext cx="1438656" cy="1280160"/>
            </a:xfrm>
            <a:prstGeom prst="rect">
              <a:avLst/>
            </a:prstGeom>
            <a:solidFill>
              <a:srgbClr val="1C4060"/>
            </a:solidFill>
            <a:ln w="19050">
              <a:solidFill>
                <a:srgbClr val="156082"/>
              </a:solidFill>
            </a:ln>
            <a:effectLst>
              <a:outerShdw blurRad="63500" dist="25400" dir="8100000" algn="bl" rotWithShape="0">
                <a:srgbClr val="000000">
                  <a:alpha val="15000"/>
                </a:srgbClr>
              </a:outerShdw>
            </a:effectLst>
          </p:spPr>
          <p:txBody>
            <a:bodyPr wrap="square" rtlCol="0" anchor="ctr"/>
            <a:lstStyle/>
            <a:p>
              <a:pPr algn="ctr">
                <a:lnSpc>
                  <a:spcPct val="150000"/>
                </a:lnSpc>
              </a:pPr>
              <a:r>
                <a:rPr lang="en-GB" sz="7200" b="1" noProof="1">
                  <a:solidFill>
                    <a:srgbClr val="FFC00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🦋</a:t>
              </a:r>
              <a:endParaRPr lang="en-GB" sz="7200" noProof="1"/>
            </a:p>
          </p:txBody>
        </p:sp>
        <p:sp>
          <p:nvSpPr>
            <p:cNvPr id="14" name="Text 12"/>
            <p:cNvSpPr/>
            <p:nvPr/>
          </p:nvSpPr>
          <p:spPr>
            <a:xfrm>
              <a:off x="7863840" y="3511296"/>
              <a:ext cx="1438656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GB" sz="1200" noProof="1">
                  <a:solidFill>
                    <a:srgbClr val="4A6B8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5th</a:t>
              </a:r>
              <a:endParaRPr lang="en-GB" sz="1200" noProof="1"/>
            </a:p>
          </p:txBody>
        </p:sp>
        <p:sp>
          <p:nvSpPr>
            <p:cNvPr id="15" name="Text 13"/>
            <p:cNvSpPr/>
            <p:nvPr/>
          </p:nvSpPr>
          <p:spPr>
            <a:xfrm>
              <a:off x="9521952" y="2145792"/>
              <a:ext cx="1438656" cy="1280160"/>
            </a:xfrm>
            <a:prstGeom prst="rect">
              <a:avLst/>
            </a:prstGeom>
            <a:solidFill>
              <a:srgbClr val="1C4060"/>
            </a:solidFill>
            <a:ln w="19050">
              <a:solidFill>
                <a:srgbClr val="156082"/>
              </a:solidFill>
            </a:ln>
            <a:effectLst>
              <a:outerShdw blurRad="63500" dist="25400" dir="8100000" algn="bl" rotWithShape="0">
                <a:srgbClr val="000000">
                  <a:alpha val="15000"/>
                </a:srgbClr>
              </a:outerShdw>
            </a:effectLst>
          </p:spPr>
          <p:txBody>
            <a:bodyPr wrap="square" rtlCol="0" anchor="ctr"/>
            <a:lstStyle/>
            <a:p>
              <a:pPr algn="ctr">
                <a:lnSpc>
                  <a:spcPct val="150000"/>
                </a:lnSpc>
              </a:pPr>
              <a:r>
                <a:rPr lang="en-GB" sz="7200" b="1" noProof="1">
                  <a:solidFill>
                    <a:srgbClr val="FFC00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🏆</a:t>
              </a:r>
              <a:endParaRPr lang="en-GB" sz="7200" noProof="1"/>
            </a:p>
          </p:txBody>
        </p:sp>
        <p:sp>
          <p:nvSpPr>
            <p:cNvPr id="16" name="Text 14"/>
            <p:cNvSpPr/>
            <p:nvPr/>
          </p:nvSpPr>
          <p:spPr>
            <a:xfrm>
              <a:off x="9521952" y="3511296"/>
              <a:ext cx="1438656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GB" sz="1200" noProof="1">
                  <a:solidFill>
                    <a:srgbClr val="4A6B85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6th</a:t>
              </a:r>
              <a:endParaRPr lang="en-GB" sz="1200" noProof="1"/>
            </a:p>
          </p:txBody>
        </p:sp>
      </p:grpSp>
      <p:sp>
        <p:nvSpPr>
          <p:cNvPr id="22" name="Title 21">
            <a:extLst>
              <a:ext uri="{FF2B5EF4-FFF2-40B4-BE49-F238E27FC236}">
                <a16:creationId xmlns:a16="http://schemas.microsoft.com/office/drawing/2014/main" id="{9A804F41-F7B1-BAED-E118-90E1CF9A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121" y="131034"/>
            <a:ext cx="8265216" cy="1325563"/>
          </a:xfrm>
        </p:spPr>
        <p:txBody>
          <a:bodyPr>
            <a:normAutofit/>
          </a:bodyPr>
          <a:lstStyle/>
          <a:p>
            <a:r>
              <a:rPr lang="en-GB" sz="4000" b="1" noProof="1">
                <a:solidFill>
                  <a:srgbClr val="0E2841"/>
                </a:solidFill>
                <a:latin typeface="Twinkl Cursive Looped Light" pitchFamily="34" charset="0"/>
                <a:ea typeface="Twinkl Cursive Looped Light" pitchFamily="34" charset="-122"/>
                <a:cs typeface="Twinkl Cursive Looped Light" pitchFamily="34" charset="-120"/>
              </a:rPr>
              <a:t>Remember the details and the order</a:t>
            </a:r>
            <a:endParaRPr lang="en-GB" sz="4000" dirty="0"/>
          </a:p>
        </p:txBody>
      </p:sp>
      <p:sp>
        <p:nvSpPr>
          <p:cNvPr id="24" name="Media Placeholder 23">
            <a:extLst>
              <a:ext uri="{FF2B5EF4-FFF2-40B4-BE49-F238E27FC236}">
                <a16:creationId xmlns:a16="http://schemas.microsoft.com/office/drawing/2014/main" id="{EC6A25BC-7C4E-0E5C-2D98-BE7792CAD8C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en-GB"/>
          </a:p>
        </p:txBody>
      </p:sp>
      <p:sp>
        <p:nvSpPr>
          <p:cNvPr id="20" name="Show game">
            <a:extLst>
              <a:ext uri="{FF2B5EF4-FFF2-40B4-BE49-F238E27FC236}">
                <a16:creationId xmlns:a16="http://schemas.microsoft.com/office/drawing/2014/main" id="{6671049E-61CF-AFFC-794F-9CF503CEA15E}"/>
              </a:ext>
            </a:extLst>
          </p:cNvPr>
          <p:cNvSpPr/>
          <p:nvPr/>
        </p:nvSpPr>
        <p:spPr>
          <a:xfrm>
            <a:off x="4772416" y="1231713"/>
            <a:ext cx="2647166" cy="62045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1">
                <a:solidFill>
                  <a:sysClr val="windowText" lastClr="000000"/>
                </a:solidFill>
              </a:rPr>
              <a:t>Click to Show</a:t>
            </a:r>
          </a:p>
        </p:txBody>
      </p:sp>
      <p:sp>
        <p:nvSpPr>
          <p:cNvPr id="25" name="go to questions">
            <a:extLst>
              <a:ext uri="{FF2B5EF4-FFF2-40B4-BE49-F238E27FC236}">
                <a16:creationId xmlns:a16="http://schemas.microsoft.com/office/drawing/2014/main" id="{6DF62A6D-95DA-8A79-FFFC-D08647BA1F62}"/>
              </a:ext>
            </a:extLst>
          </p:cNvPr>
          <p:cNvSpPr/>
          <p:nvPr/>
        </p:nvSpPr>
        <p:spPr>
          <a:xfrm>
            <a:off x="4830871" y="5383115"/>
            <a:ext cx="2530257" cy="62045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noProof="1"/>
              <a:t>Go to the questions</a:t>
            </a:r>
          </a:p>
        </p:txBody>
      </p:sp>
    </p:spTree>
    <p:extLst>
      <p:ext uri="{BB962C8B-B14F-4D97-AF65-F5344CB8AC3E}">
        <p14:creationId xmlns:p14="http://schemas.microsoft.com/office/powerpoint/2010/main" val="221067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16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41376" y="1196654"/>
            <a:ext cx="5486400" cy="926592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 wrap="square" lIns="203200" tIns="203200" rIns="203200" bIns="203200" rtlCol="0" anchor="ctr"/>
          <a:lstStyle/>
          <a:p>
            <a:r>
              <a:rPr lang="en-GB" sz="1733" b="1" noProof="1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  What was the 1st emoji?</a:t>
            </a:r>
            <a:endParaRPr lang="en-GB" sz="1733" noProof="1"/>
          </a:p>
        </p:txBody>
      </p:sp>
      <p:sp>
        <p:nvSpPr>
          <p:cNvPr id="7" name="Text 5"/>
          <p:cNvSpPr/>
          <p:nvPr/>
        </p:nvSpPr>
        <p:spPr>
          <a:xfrm>
            <a:off x="341376" y="2123246"/>
            <a:ext cx="5486400" cy="682752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 wrap="square" lIns="203200" tIns="203200" rIns="203200" bIns="203200" rtlCol="0" anchor="ctr"/>
          <a:lstStyle/>
          <a:p>
            <a:r>
              <a:rPr lang="en-GB" sz="2000" b="1" noProof="1">
                <a:solidFill>
                  <a:srgbClr val="0E2841"/>
                </a:solidFill>
                <a:latin typeface="Aptos" pitchFamily="34" charset="0"/>
              </a:rPr>
              <a:t>Answer:   Frog</a:t>
            </a:r>
          </a:p>
        </p:txBody>
      </p:sp>
      <p:sp>
        <p:nvSpPr>
          <p:cNvPr id="8" name="Text 6"/>
          <p:cNvSpPr/>
          <p:nvPr/>
        </p:nvSpPr>
        <p:spPr>
          <a:xfrm>
            <a:off x="341376" y="2965089"/>
            <a:ext cx="5486400" cy="926592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 wrap="square" lIns="203200" tIns="203200" rIns="203200" bIns="203200" rtlCol="0" anchor="ctr"/>
          <a:lstStyle/>
          <a:p>
            <a:r>
              <a:rPr lang="en-GB" sz="1733" b="1" noProof="1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  What was the 4th emoji?</a:t>
            </a:r>
            <a:endParaRPr lang="en-GB" sz="1733" noProof="1"/>
          </a:p>
        </p:txBody>
      </p:sp>
      <p:sp>
        <p:nvSpPr>
          <p:cNvPr id="9" name="Text 7"/>
          <p:cNvSpPr/>
          <p:nvPr/>
        </p:nvSpPr>
        <p:spPr>
          <a:xfrm>
            <a:off x="341376" y="3891681"/>
            <a:ext cx="5486400" cy="682752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 wrap="square" lIns="203200" tIns="203200" rIns="203200" bIns="203200" rtlCol="0" anchor="ctr"/>
          <a:lstStyle/>
          <a:p>
            <a:r>
              <a:rPr lang="en-GB" sz="2000" b="1" noProof="1">
                <a:solidFill>
                  <a:srgbClr val="0E2841"/>
                </a:solidFill>
                <a:latin typeface="Aptos" pitchFamily="34" charset="0"/>
              </a:rPr>
              <a:t>Answer:   Rocket</a:t>
            </a:r>
          </a:p>
        </p:txBody>
      </p:sp>
      <p:sp>
        <p:nvSpPr>
          <p:cNvPr id="10" name="Text 8"/>
          <p:cNvSpPr/>
          <p:nvPr/>
        </p:nvSpPr>
        <p:spPr>
          <a:xfrm>
            <a:off x="341376" y="4765568"/>
            <a:ext cx="5486400" cy="926592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 wrap="square" lIns="203200" tIns="203200" rIns="203200" bIns="203200" rtlCol="0" anchor="ctr"/>
          <a:lstStyle/>
          <a:p>
            <a:r>
              <a:rPr lang="en-GB" sz="1733" b="1" noProof="1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  Which emoji came after the taco?</a:t>
            </a:r>
            <a:endParaRPr lang="en-GB" sz="1733" noProof="1"/>
          </a:p>
        </p:txBody>
      </p:sp>
      <p:sp>
        <p:nvSpPr>
          <p:cNvPr id="11" name="Text 9"/>
          <p:cNvSpPr/>
          <p:nvPr/>
        </p:nvSpPr>
        <p:spPr>
          <a:xfrm>
            <a:off x="341376" y="5692160"/>
            <a:ext cx="5486400" cy="682752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 wrap="square" lIns="203200" tIns="203200" rIns="203200" bIns="203200" rtlCol="0" anchor="ctr"/>
          <a:lstStyle/>
          <a:p>
            <a:r>
              <a:rPr lang="en-GB" sz="2000" b="1" noProof="1">
                <a:solidFill>
                  <a:srgbClr val="0E2841"/>
                </a:solidFill>
                <a:latin typeface="Aptos" pitchFamily="34" charset="0"/>
              </a:rPr>
              <a:t>Answer:   Rocket</a:t>
            </a:r>
          </a:p>
        </p:txBody>
      </p:sp>
      <p:sp>
        <p:nvSpPr>
          <p:cNvPr id="12" name="Text 10"/>
          <p:cNvSpPr/>
          <p:nvPr/>
        </p:nvSpPr>
        <p:spPr>
          <a:xfrm>
            <a:off x="6364224" y="1196654"/>
            <a:ext cx="5486400" cy="926592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 wrap="square" lIns="203200" tIns="203200" rIns="203200" bIns="203200" rtlCol="0" anchor="ctr"/>
          <a:lstStyle/>
          <a:p>
            <a:r>
              <a:rPr lang="en-GB" sz="1733" b="1" noProof="1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  What was the last emoji?</a:t>
            </a:r>
            <a:endParaRPr lang="en-GB" sz="1733" noProof="1"/>
          </a:p>
        </p:txBody>
      </p:sp>
      <p:sp>
        <p:nvSpPr>
          <p:cNvPr id="13" name="Text 11"/>
          <p:cNvSpPr/>
          <p:nvPr/>
        </p:nvSpPr>
        <p:spPr>
          <a:xfrm>
            <a:off x="6364224" y="2123246"/>
            <a:ext cx="5486400" cy="682752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 wrap="square" lIns="203200" tIns="203200" rIns="203200" bIns="203200" rtlCol="0" anchor="ctr"/>
          <a:lstStyle/>
          <a:p>
            <a:r>
              <a:rPr lang="en-GB" sz="2000" b="1" noProof="1">
                <a:solidFill>
                  <a:srgbClr val="0E2841"/>
                </a:solidFill>
                <a:latin typeface="Aptos" pitchFamily="34" charset="0"/>
              </a:rPr>
              <a:t>Answer:   Trophy</a:t>
            </a:r>
          </a:p>
        </p:txBody>
      </p:sp>
      <p:sp>
        <p:nvSpPr>
          <p:cNvPr id="14" name="Text 12"/>
          <p:cNvSpPr/>
          <p:nvPr/>
        </p:nvSpPr>
        <p:spPr>
          <a:xfrm>
            <a:off x="6364224" y="2965089"/>
            <a:ext cx="5486400" cy="926592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 wrap="square" lIns="203200" tIns="203200" rIns="203200" bIns="203200" rtlCol="0" anchor="ctr"/>
          <a:lstStyle/>
          <a:p>
            <a:r>
              <a:rPr lang="en-GB" sz="1733" b="1" noProof="1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  Which emoji was a living creature?</a:t>
            </a:r>
            <a:endParaRPr lang="en-GB" sz="1733" noProof="1"/>
          </a:p>
        </p:txBody>
      </p:sp>
      <p:sp>
        <p:nvSpPr>
          <p:cNvPr id="15" name="Text 13"/>
          <p:cNvSpPr/>
          <p:nvPr/>
        </p:nvSpPr>
        <p:spPr>
          <a:xfrm>
            <a:off x="6364224" y="3891681"/>
            <a:ext cx="5486400" cy="682752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 wrap="square" lIns="203200" tIns="203200" rIns="203200" bIns="203200" rtlCol="0" anchor="ctr"/>
          <a:lstStyle/>
          <a:p>
            <a:r>
              <a:rPr lang="en-GB" sz="2000" b="1" noProof="1">
                <a:solidFill>
                  <a:srgbClr val="0E2841"/>
                </a:solidFill>
                <a:latin typeface="Aptos" pitchFamily="34" charset="0"/>
              </a:rPr>
              <a:t>Answer:   Frog or butterfly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F8AD402-223E-3BFB-6BB5-51B4608CD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4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Now answer from memory!</a:t>
            </a:r>
          </a:p>
        </p:txBody>
      </p:sp>
      <p:sp>
        <p:nvSpPr>
          <p:cNvPr id="18" name="Media Placeholder 17">
            <a:extLst>
              <a:ext uri="{FF2B5EF4-FFF2-40B4-BE49-F238E27FC236}">
                <a16:creationId xmlns:a16="http://schemas.microsoft.com/office/drawing/2014/main" id="{F53D464B-05C8-BB36-2E6D-3746803AB6E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50749" y="6374912"/>
            <a:ext cx="1098550" cy="365125"/>
          </a:xfrm>
        </p:spPr>
        <p:txBody>
          <a:bodyPr>
            <a:normAutofit fontScale="77500" lnSpcReduction="20000"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23870"/>
      </p:ext>
    </p:extLst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6" grpId="1" animBg="1"/>
      <p:bldP spid="7" grpId="0" uiExpand="1" build="p"/>
      <p:bldP spid="7" grpId="1" animBg="1"/>
      <p:bldP spid="8" grpId="0" uiExpand="1" build="p"/>
      <p:bldP spid="8" grpId="1" animBg="1"/>
      <p:bldP spid="9" grpId="0" uiExpand="1" build="p"/>
      <p:bldP spid="9" grpId="1" animBg="1"/>
      <p:bldP spid="10" grpId="0" uiExpand="1" build="p"/>
      <p:bldP spid="10" grpId="1" animBg="1"/>
      <p:bldP spid="11" grpId="0" uiExpand="1" build="p"/>
      <p:bldP spid="11" grpId="1" animBg="1"/>
      <p:bldP spid="12" grpId="0" uiExpand="1" build="p"/>
      <p:bldP spid="12" grpId="1" animBg="1"/>
      <p:bldP spid="13" grpId="0" uiExpand="1" build="p"/>
      <p:bldP spid="13" grpId="1" animBg="1"/>
      <p:bldP spid="14" grpId="0" uiExpand="1" build="p"/>
      <p:bldP spid="14" grpId="1" animBg="1"/>
      <p:bldP spid="15" grpId="0" uiExpand="1" build="p"/>
      <p:bldP spid="15" grpId="1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2243938" y="130759"/>
            <a:ext cx="8265262" cy="1325880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l"/>
            <a:r>
              <a:rPr lang="en-GB" sz="4000" b="1" dirty="0">
                <a:latin typeface="Twinkl Cursive Looped Light"/>
                <a:solidFill>
                  <a:srgbClr val="0E2841"/>
                </a:solidFill>
              </a:rPr>
              <a:t>Remember the details and the order</a:t>
            </a:r>
          </a:p>
        </p:txBody>
      </p:sp>
      <p:sp>
        <p:nvSpPr>
          <p:cNvPr id="3" name="Show game"/>
          <p:cNvSpPr/>
          <p:nvPr/>
        </p:nvSpPr>
        <p:spPr>
          <a:xfrm>
            <a:off x="4772254" y="1231697"/>
            <a:ext cx="2647188" cy="620878"/>
          </a:xfrm>
          <a:prstGeom prst="roundRect">
            <a:avLst/>
          </a:prstGeom>
          <a:solidFill>
            <a:srgbClr val="92D050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latin typeface="Aptos"/>
                <a:solidFill>
                  <a:srgbClr val="0E2841"/>
                </a:solidFill>
              </a:rPr>
              <a:t>Click to Show</a:t>
            </a:r>
          </a:p>
        </p:txBody>
      </p:sp>
      <p:sp>
        <p:nvSpPr>
          <p:cNvPr id="4" name="Item 1"/>
          <p:cNvSpPr/>
          <p:nvPr/>
        </p:nvSpPr>
        <p:spPr>
          <a:xfrm>
            <a:off x="457200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3600" b="1" dirty="0">
                <a:latin typeface="Aptos"/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5" name="Label 1"/>
          <p:cNvSpPr/>
          <p:nvPr/>
        </p:nvSpPr>
        <p:spPr>
          <a:xfrm>
            <a:off x="457200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1st</a:t>
            </a:r>
          </a:p>
        </p:txBody>
      </p:sp>
      <p:sp>
        <p:nvSpPr>
          <p:cNvPr id="6" name="Item 2"/>
          <p:cNvSpPr/>
          <p:nvPr/>
        </p:nvSpPr>
        <p:spPr>
          <a:xfrm>
            <a:off x="2097024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3600" b="1" dirty="0">
                <a:latin typeface="Aptos"/>
                <a:solidFill>
                  <a:srgbClr val="FFC000"/>
                </a:solidFill>
              </a:rPr>
              <a:t>19</a:t>
            </a:r>
          </a:p>
        </p:txBody>
      </p:sp>
      <p:sp>
        <p:nvSpPr>
          <p:cNvPr id="7" name="Label 2"/>
          <p:cNvSpPr/>
          <p:nvPr/>
        </p:nvSpPr>
        <p:spPr>
          <a:xfrm>
            <a:off x="2097024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2nd</a:t>
            </a:r>
          </a:p>
        </p:txBody>
      </p:sp>
      <p:sp>
        <p:nvSpPr>
          <p:cNvPr id="8" name="Item 3"/>
          <p:cNvSpPr/>
          <p:nvPr/>
        </p:nvSpPr>
        <p:spPr>
          <a:xfrm>
            <a:off x="3736848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3600" b="1" dirty="0">
                <a:latin typeface="Aptos"/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9" name="Label 3"/>
          <p:cNvSpPr/>
          <p:nvPr/>
        </p:nvSpPr>
        <p:spPr>
          <a:xfrm>
            <a:off x="3736848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3rd</a:t>
            </a:r>
          </a:p>
        </p:txBody>
      </p:sp>
      <p:sp>
        <p:nvSpPr>
          <p:cNvPr id="10" name="Item 4"/>
          <p:cNvSpPr/>
          <p:nvPr/>
        </p:nvSpPr>
        <p:spPr>
          <a:xfrm>
            <a:off x="5376672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3600" b="1" dirty="0">
                <a:latin typeface="Aptos"/>
                <a:solidFill>
                  <a:srgbClr val="FFC000"/>
                </a:solidFill>
              </a:rPr>
              <a:t>14</a:t>
            </a:r>
          </a:p>
        </p:txBody>
      </p:sp>
      <p:sp>
        <p:nvSpPr>
          <p:cNvPr id="11" name="Label 4"/>
          <p:cNvSpPr/>
          <p:nvPr/>
        </p:nvSpPr>
        <p:spPr>
          <a:xfrm>
            <a:off x="5376672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4th</a:t>
            </a:r>
          </a:p>
        </p:txBody>
      </p:sp>
      <p:sp>
        <p:nvSpPr>
          <p:cNvPr id="12" name="Item 5"/>
          <p:cNvSpPr/>
          <p:nvPr/>
        </p:nvSpPr>
        <p:spPr>
          <a:xfrm>
            <a:off x="7016496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3600" b="1" dirty="0">
                <a:latin typeface="Aptos"/>
                <a:solidFill>
                  <a:srgbClr val="FFC000"/>
                </a:solidFill>
              </a:rPr>
              <a:t>8</a:t>
            </a:r>
          </a:p>
        </p:txBody>
      </p:sp>
      <p:sp>
        <p:nvSpPr>
          <p:cNvPr id="13" name="Label 5"/>
          <p:cNvSpPr/>
          <p:nvPr/>
        </p:nvSpPr>
        <p:spPr>
          <a:xfrm>
            <a:off x="7016496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5th</a:t>
            </a:r>
          </a:p>
        </p:txBody>
      </p:sp>
      <p:sp>
        <p:nvSpPr>
          <p:cNvPr id="14" name="Item 6"/>
          <p:cNvSpPr/>
          <p:nvPr/>
        </p:nvSpPr>
        <p:spPr>
          <a:xfrm>
            <a:off x="8656320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3600" b="1" dirty="0">
                <a:latin typeface="Aptos"/>
                <a:solidFill>
                  <a:srgbClr val="FFC000"/>
                </a:solidFill>
              </a:rPr>
              <a:t>27</a:t>
            </a:r>
          </a:p>
        </p:txBody>
      </p:sp>
      <p:sp>
        <p:nvSpPr>
          <p:cNvPr id="15" name="Label 6"/>
          <p:cNvSpPr/>
          <p:nvPr/>
        </p:nvSpPr>
        <p:spPr>
          <a:xfrm>
            <a:off x="8656320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6th</a:t>
            </a:r>
          </a:p>
        </p:txBody>
      </p:sp>
      <p:sp>
        <p:nvSpPr>
          <p:cNvPr id="16" name="Item 7"/>
          <p:cNvSpPr/>
          <p:nvPr/>
        </p:nvSpPr>
        <p:spPr>
          <a:xfrm>
            <a:off x="10296144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3600" b="1" dirty="0">
                <a:latin typeface="Aptos"/>
                <a:solidFill>
                  <a:srgbClr val="FFC000"/>
                </a:solidFill>
              </a:rPr>
              <a:t>11</a:t>
            </a:r>
          </a:p>
        </p:txBody>
      </p:sp>
      <p:sp>
        <p:nvSpPr>
          <p:cNvPr id="17" name="Label 7"/>
          <p:cNvSpPr/>
          <p:nvPr/>
        </p:nvSpPr>
        <p:spPr>
          <a:xfrm>
            <a:off x="10296144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7th</a:t>
            </a:r>
          </a:p>
        </p:txBody>
      </p:sp>
      <p:sp>
        <p:nvSpPr>
          <p:cNvPr id="18" name="go to questions"/>
          <p:cNvSpPr/>
          <p:nvPr/>
        </p:nvSpPr>
        <p:spPr>
          <a:xfrm>
            <a:off x="4830775" y="5383073"/>
            <a:ext cx="2530145" cy="620878"/>
          </a:xfrm>
          <a:prstGeom prst="roundRect">
            <a:avLst/>
          </a:prstGeom>
          <a:solidFill>
            <a:srgbClr val="0F9ED5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latin typeface="Aptos"/>
                <a:solidFill>
                  <a:srgbClr val="FFFFFF"/>
                </a:solidFill>
              </a:rPr>
              <a:t>Go to the</a:t>
            </a:r>
          </a:p>
          <a:p>
            <a:pPr algn="ctr"/>
            <a:r>
              <a:rPr lang="en-GB" sz="2000" b="1" dirty="0">
                <a:latin typeface="Aptos"/>
                <a:solidFill>
                  <a:srgbClr val="FFFFFF"/>
                </a:solidFill>
              </a:rPr>
              <a:t>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838505" y="100584"/>
            <a:ext cx="10515600" cy="1325880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l"/>
            <a:r>
              <a:rPr lang="en-GB" sz="4400" b="1" dirty="0">
                <a:latin typeface="Twinkl Cursive Looped Light"/>
                <a:solidFill>
                  <a:srgbClr val="0E2841"/>
                </a:solidFill>
              </a:rPr>
              <a:t>Now answer from memory!</a:t>
            </a:r>
          </a:p>
        </p:txBody>
      </p:sp>
      <p:sp>
        <p:nvSpPr>
          <p:cNvPr id="3" name="Q1"/>
          <p:cNvSpPr/>
          <p:nvPr/>
        </p:nvSpPr>
        <p:spPr>
          <a:xfrm>
            <a:off x="341071" y="1196950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Q1   What was the 1st number?</a:t>
            </a:r>
          </a:p>
        </p:txBody>
      </p:sp>
      <p:sp>
        <p:nvSpPr>
          <p:cNvPr id="4" name="A1"/>
          <p:cNvSpPr/>
          <p:nvPr/>
        </p:nvSpPr>
        <p:spPr>
          <a:xfrm>
            <a:off x="341071" y="2123237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6</a:t>
            </a:r>
          </a:p>
        </p:txBody>
      </p:sp>
      <p:sp>
        <p:nvSpPr>
          <p:cNvPr id="5" name="Q2"/>
          <p:cNvSpPr/>
          <p:nvPr/>
        </p:nvSpPr>
        <p:spPr>
          <a:xfrm>
            <a:off x="341071" y="2965399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Q2   What was the 4th number?</a:t>
            </a:r>
          </a:p>
        </p:txBody>
      </p:sp>
      <p:sp>
        <p:nvSpPr>
          <p:cNvPr id="6" name="A2"/>
          <p:cNvSpPr/>
          <p:nvPr/>
        </p:nvSpPr>
        <p:spPr>
          <a:xfrm>
            <a:off x="341071" y="3891686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14</a:t>
            </a:r>
          </a:p>
        </p:txBody>
      </p:sp>
      <p:sp>
        <p:nvSpPr>
          <p:cNvPr id="7" name="Q3"/>
          <p:cNvSpPr/>
          <p:nvPr/>
        </p:nvSpPr>
        <p:spPr>
          <a:xfrm>
            <a:off x="341071" y="4765853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Q3   Sum of the first two numbers?</a:t>
            </a:r>
          </a:p>
        </p:txBody>
      </p:sp>
      <p:sp>
        <p:nvSpPr>
          <p:cNvPr id="8" name="A3"/>
          <p:cNvSpPr/>
          <p:nvPr/>
        </p:nvSpPr>
        <p:spPr>
          <a:xfrm>
            <a:off x="341071" y="5692140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25  (6 + 19)</a:t>
            </a:r>
          </a:p>
        </p:txBody>
      </p:sp>
      <p:sp>
        <p:nvSpPr>
          <p:cNvPr id="9" name="Q4"/>
          <p:cNvSpPr/>
          <p:nvPr/>
        </p:nvSpPr>
        <p:spPr>
          <a:xfrm>
            <a:off x="6364224" y="1196950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Q4   How many odd numbers were there?</a:t>
            </a:r>
          </a:p>
        </p:txBody>
      </p:sp>
      <p:sp>
        <p:nvSpPr>
          <p:cNvPr id="10" name="A4"/>
          <p:cNvSpPr/>
          <p:nvPr/>
        </p:nvSpPr>
        <p:spPr>
          <a:xfrm>
            <a:off x="6364224" y="2123237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3  (19, 27, 11)</a:t>
            </a:r>
          </a:p>
        </p:txBody>
      </p:sp>
      <p:sp>
        <p:nvSpPr>
          <p:cNvPr id="11" name="Q5"/>
          <p:cNvSpPr/>
          <p:nvPr/>
        </p:nvSpPr>
        <p:spPr>
          <a:xfrm>
            <a:off x="6364224" y="2965399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Q5   What was the largest number?</a:t>
            </a:r>
          </a:p>
        </p:txBody>
      </p:sp>
      <p:sp>
        <p:nvSpPr>
          <p:cNvPr id="12" name="A5"/>
          <p:cNvSpPr/>
          <p:nvPr/>
        </p:nvSpPr>
        <p:spPr>
          <a:xfrm>
            <a:off x="6364224" y="3891686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27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5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3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7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8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5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0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11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7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3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14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9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6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17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1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9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20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4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2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23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6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5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26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8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8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29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0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31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32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2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1" uiExpand="1" build="p"/>
      <p:bldP spid="7" grpId="2" uiExpand="1" build="p"/>
      <p:bldP spid="9" grpId="3" uiExpand="1" build="p"/>
      <p:bldP spid="11" grpId="4" uiExpand="1" build="p"/>
      <p:bldP spid="4" grpId="5" uiExpand="1" build="p"/>
      <p:bldP spid="6" grpId="6" uiExpand="1" build="p"/>
      <p:bldP spid="8" grpId="7" uiExpand="1" build="p"/>
      <p:bldP spid="10" grpId="8" uiExpand="1" build="p"/>
      <p:bldP spid="12" grpId="9" uiExpand="1" build="p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2243938" y="130759"/>
            <a:ext cx="8265262" cy="1325880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l"/>
            <a:r>
              <a:rPr lang="en-GB" sz="4000" b="1" dirty="0">
                <a:latin typeface="Twinkl Cursive Looped Light"/>
                <a:solidFill>
                  <a:srgbClr val="0E2841"/>
                </a:solidFill>
              </a:rPr>
              <a:t>Remember the details and the order</a:t>
            </a:r>
          </a:p>
        </p:txBody>
      </p:sp>
      <p:sp>
        <p:nvSpPr>
          <p:cNvPr id="3" name="Show game"/>
          <p:cNvSpPr/>
          <p:nvPr/>
        </p:nvSpPr>
        <p:spPr>
          <a:xfrm>
            <a:off x="4772254" y="1231697"/>
            <a:ext cx="2647188" cy="620878"/>
          </a:xfrm>
          <a:prstGeom prst="roundRect">
            <a:avLst/>
          </a:prstGeom>
          <a:solidFill>
            <a:srgbClr val="92D050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latin typeface="Aptos"/>
                <a:solidFill>
                  <a:srgbClr val="0E2841"/>
                </a:solidFill>
              </a:rPr>
              <a:t>Click to Show</a:t>
            </a:r>
          </a:p>
        </p:txBody>
      </p:sp>
      <p:sp>
        <p:nvSpPr>
          <p:cNvPr id="4" name="Item 1"/>
          <p:cNvSpPr/>
          <p:nvPr/>
        </p:nvSpPr>
        <p:spPr>
          <a:xfrm>
            <a:off x="457200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2600" b="1" dirty="0">
                <a:latin typeface="Aptos"/>
                <a:solidFill>
                  <a:srgbClr val="FFC000"/>
                </a:solidFill>
              </a:rPr>
              <a:t>igloo</a:t>
            </a:r>
          </a:p>
        </p:txBody>
      </p:sp>
      <p:sp>
        <p:nvSpPr>
          <p:cNvPr id="5" name="Label 1"/>
          <p:cNvSpPr/>
          <p:nvPr/>
        </p:nvSpPr>
        <p:spPr>
          <a:xfrm>
            <a:off x="457200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1st</a:t>
            </a:r>
          </a:p>
        </p:txBody>
      </p:sp>
      <p:sp>
        <p:nvSpPr>
          <p:cNvPr id="6" name="Item 2"/>
          <p:cNvSpPr/>
          <p:nvPr/>
        </p:nvSpPr>
        <p:spPr>
          <a:xfrm>
            <a:off x="2424989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2600" b="1" dirty="0">
                <a:latin typeface="Aptos"/>
                <a:solidFill>
                  <a:srgbClr val="FFC000"/>
                </a:solidFill>
              </a:rPr>
              <a:t>anchor</a:t>
            </a:r>
          </a:p>
        </p:txBody>
      </p:sp>
      <p:sp>
        <p:nvSpPr>
          <p:cNvPr id="7" name="Label 2"/>
          <p:cNvSpPr/>
          <p:nvPr/>
        </p:nvSpPr>
        <p:spPr>
          <a:xfrm>
            <a:off x="2424989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2nd</a:t>
            </a:r>
          </a:p>
        </p:txBody>
      </p:sp>
      <p:sp>
        <p:nvSpPr>
          <p:cNvPr id="8" name="Item 3"/>
          <p:cNvSpPr/>
          <p:nvPr/>
        </p:nvSpPr>
        <p:spPr>
          <a:xfrm>
            <a:off x="4392778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2600" b="1" dirty="0">
                <a:latin typeface="Aptos"/>
                <a:solidFill>
                  <a:srgbClr val="FFC000"/>
                </a:solidFill>
              </a:rPr>
              <a:t>pilgrim</a:t>
            </a:r>
          </a:p>
        </p:txBody>
      </p:sp>
      <p:sp>
        <p:nvSpPr>
          <p:cNvPr id="9" name="Label 3"/>
          <p:cNvSpPr/>
          <p:nvPr/>
        </p:nvSpPr>
        <p:spPr>
          <a:xfrm>
            <a:off x="4392778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3rd</a:t>
            </a:r>
          </a:p>
        </p:txBody>
      </p:sp>
      <p:sp>
        <p:nvSpPr>
          <p:cNvPr id="10" name="Item 4"/>
          <p:cNvSpPr/>
          <p:nvPr/>
        </p:nvSpPr>
        <p:spPr>
          <a:xfrm>
            <a:off x="6360566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2600" b="1" dirty="0">
                <a:latin typeface="Aptos"/>
                <a:solidFill>
                  <a:srgbClr val="FFC000"/>
                </a:solidFill>
              </a:rPr>
              <a:t>crevice</a:t>
            </a:r>
          </a:p>
        </p:txBody>
      </p:sp>
      <p:sp>
        <p:nvSpPr>
          <p:cNvPr id="11" name="Label 4"/>
          <p:cNvSpPr/>
          <p:nvPr/>
        </p:nvSpPr>
        <p:spPr>
          <a:xfrm>
            <a:off x="6360566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4th</a:t>
            </a:r>
          </a:p>
        </p:txBody>
      </p:sp>
      <p:sp>
        <p:nvSpPr>
          <p:cNvPr id="12" name="Item 5"/>
          <p:cNvSpPr/>
          <p:nvPr/>
        </p:nvSpPr>
        <p:spPr>
          <a:xfrm>
            <a:off x="8328355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2600" b="1" dirty="0">
                <a:latin typeface="Aptos"/>
                <a:solidFill>
                  <a:srgbClr val="FFC000"/>
                </a:solidFill>
              </a:rPr>
              <a:t>lantern</a:t>
            </a:r>
          </a:p>
        </p:txBody>
      </p:sp>
      <p:sp>
        <p:nvSpPr>
          <p:cNvPr id="13" name="Label 5"/>
          <p:cNvSpPr/>
          <p:nvPr/>
        </p:nvSpPr>
        <p:spPr>
          <a:xfrm>
            <a:off x="8328355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5th</a:t>
            </a:r>
          </a:p>
        </p:txBody>
      </p:sp>
      <p:sp>
        <p:nvSpPr>
          <p:cNvPr id="14" name="Item 6"/>
          <p:cNvSpPr/>
          <p:nvPr/>
        </p:nvSpPr>
        <p:spPr>
          <a:xfrm>
            <a:off x="10296144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2600" b="1" dirty="0">
                <a:latin typeface="Aptos"/>
                <a:solidFill>
                  <a:srgbClr val="FFC000"/>
                </a:solidFill>
              </a:rPr>
              <a:t>surplus</a:t>
            </a:r>
          </a:p>
        </p:txBody>
      </p:sp>
      <p:sp>
        <p:nvSpPr>
          <p:cNvPr id="15" name="Label 6"/>
          <p:cNvSpPr/>
          <p:nvPr/>
        </p:nvSpPr>
        <p:spPr>
          <a:xfrm>
            <a:off x="10296144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6th</a:t>
            </a:r>
          </a:p>
        </p:txBody>
      </p:sp>
      <p:sp>
        <p:nvSpPr>
          <p:cNvPr id="16" name="go to questions"/>
          <p:cNvSpPr/>
          <p:nvPr/>
        </p:nvSpPr>
        <p:spPr>
          <a:xfrm>
            <a:off x="4830775" y="5383073"/>
            <a:ext cx="2530145" cy="620878"/>
          </a:xfrm>
          <a:prstGeom prst="roundRect">
            <a:avLst/>
          </a:prstGeom>
          <a:solidFill>
            <a:srgbClr val="0F9ED5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latin typeface="Aptos"/>
                <a:solidFill>
                  <a:srgbClr val="FFFFFF"/>
                </a:solidFill>
              </a:rPr>
              <a:t>Go to the</a:t>
            </a:r>
          </a:p>
          <a:p>
            <a:pPr algn="ctr"/>
            <a:r>
              <a:rPr lang="en-GB" sz="2000" b="1" dirty="0">
                <a:latin typeface="Aptos"/>
                <a:solidFill>
                  <a:srgbClr val="FFFFFF"/>
                </a:solidFill>
              </a:rPr>
              <a:t>questions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838505" y="100584"/>
            <a:ext cx="10515600" cy="1325880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l"/>
            <a:r>
              <a:rPr lang="en-GB" sz="4400" b="1" dirty="0">
                <a:latin typeface="Twinkl Cursive Looped Light"/>
                <a:solidFill>
                  <a:srgbClr val="0E2841"/>
                </a:solidFill>
              </a:rPr>
              <a:t>Now answer from memory!</a:t>
            </a:r>
          </a:p>
        </p:txBody>
      </p:sp>
      <p:sp>
        <p:nvSpPr>
          <p:cNvPr id="3" name="Q1"/>
          <p:cNvSpPr/>
          <p:nvPr/>
        </p:nvSpPr>
        <p:spPr>
          <a:xfrm>
            <a:off x="341071" y="1196950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Q1   What was the 1st word?</a:t>
            </a:r>
          </a:p>
        </p:txBody>
      </p:sp>
      <p:sp>
        <p:nvSpPr>
          <p:cNvPr id="4" name="A1"/>
          <p:cNvSpPr/>
          <p:nvPr/>
        </p:nvSpPr>
        <p:spPr>
          <a:xfrm>
            <a:off x="341071" y="2123237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igloo</a:t>
            </a:r>
          </a:p>
        </p:txBody>
      </p:sp>
      <p:sp>
        <p:nvSpPr>
          <p:cNvPr id="5" name="Q2"/>
          <p:cNvSpPr/>
          <p:nvPr/>
        </p:nvSpPr>
        <p:spPr>
          <a:xfrm>
            <a:off x="341071" y="2965399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Q2   What was the 3rd word?</a:t>
            </a:r>
          </a:p>
        </p:txBody>
      </p:sp>
      <p:sp>
        <p:nvSpPr>
          <p:cNvPr id="6" name="A2"/>
          <p:cNvSpPr/>
          <p:nvPr/>
        </p:nvSpPr>
        <p:spPr>
          <a:xfrm>
            <a:off x="341071" y="3891686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pilgrim</a:t>
            </a:r>
          </a:p>
        </p:txBody>
      </p:sp>
      <p:sp>
        <p:nvSpPr>
          <p:cNvPr id="7" name="Q3"/>
          <p:cNvSpPr/>
          <p:nvPr/>
        </p:nvSpPr>
        <p:spPr>
          <a:xfrm>
            <a:off x="341071" y="4765853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Q3   Which word is used on a boat?</a:t>
            </a:r>
          </a:p>
        </p:txBody>
      </p:sp>
      <p:sp>
        <p:nvSpPr>
          <p:cNvPr id="8" name="A3"/>
          <p:cNvSpPr/>
          <p:nvPr/>
        </p:nvSpPr>
        <p:spPr>
          <a:xfrm>
            <a:off x="341071" y="5692140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anchor</a:t>
            </a:r>
          </a:p>
        </p:txBody>
      </p:sp>
      <p:sp>
        <p:nvSpPr>
          <p:cNvPr id="9" name="Q4"/>
          <p:cNvSpPr/>
          <p:nvPr/>
        </p:nvSpPr>
        <p:spPr>
          <a:xfrm>
            <a:off x="6364224" y="1196950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Q4   Which word means extra or leftover?</a:t>
            </a:r>
          </a:p>
        </p:txBody>
      </p:sp>
      <p:sp>
        <p:nvSpPr>
          <p:cNvPr id="10" name="A4"/>
          <p:cNvSpPr/>
          <p:nvPr/>
        </p:nvSpPr>
        <p:spPr>
          <a:xfrm>
            <a:off x="6364224" y="2123237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surplus</a:t>
            </a:r>
          </a:p>
        </p:txBody>
      </p:sp>
      <p:sp>
        <p:nvSpPr>
          <p:cNvPr id="11" name="Q5"/>
          <p:cNvSpPr/>
          <p:nvPr/>
        </p:nvSpPr>
        <p:spPr>
          <a:xfrm>
            <a:off x="6364224" y="2965399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Q5   What was the last word?</a:t>
            </a:r>
          </a:p>
        </p:txBody>
      </p:sp>
      <p:sp>
        <p:nvSpPr>
          <p:cNvPr id="12" name="A5"/>
          <p:cNvSpPr/>
          <p:nvPr/>
        </p:nvSpPr>
        <p:spPr>
          <a:xfrm>
            <a:off x="6364224" y="3891686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surplus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5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3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7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8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5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0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11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7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3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14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9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6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17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1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9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20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4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2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23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6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5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26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8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8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29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0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31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32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2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1" uiExpand="1" build="p"/>
      <p:bldP spid="7" grpId="2" uiExpand="1" build="p"/>
      <p:bldP spid="9" grpId="3" uiExpand="1" build="p"/>
      <p:bldP spid="11" grpId="4" uiExpand="1" build="p"/>
      <p:bldP spid="4" grpId="5" uiExpand="1" build="p"/>
      <p:bldP spid="6" grpId="6" uiExpand="1" build="p"/>
      <p:bldP spid="8" grpId="7" uiExpand="1" build="p"/>
      <p:bldP spid="10" grpId="8" uiExpand="1" build="p"/>
      <p:bldP spid="12" grpId="9" uiExpand="1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2243938" y="130759"/>
            <a:ext cx="8265262" cy="1325880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l"/>
            <a:r>
              <a:rPr lang="en-GB" sz="4000" b="1" dirty="0">
                <a:latin typeface="Twinkl Cursive Looped Light"/>
                <a:solidFill>
                  <a:srgbClr val="0E2841"/>
                </a:solidFill>
              </a:rPr>
              <a:t>Remember the details and the order</a:t>
            </a:r>
          </a:p>
        </p:txBody>
      </p:sp>
      <p:sp>
        <p:nvSpPr>
          <p:cNvPr id="3" name="Show game"/>
          <p:cNvSpPr/>
          <p:nvPr/>
        </p:nvSpPr>
        <p:spPr>
          <a:xfrm>
            <a:off x="4772254" y="1231697"/>
            <a:ext cx="2647188" cy="620878"/>
          </a:xfrm>
          <a:prstGeom prst="roundRect">
            <a:avLst/>
          </a:prstGeom>
          <a:solidFill>
            <a:srgbClr val="92D050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latin typeface="Aptos"/>
                <a:solidFill>
                  <a:srgbClr val="0E2841"/>
                </a:solidFill>
              </a:rPr>
              <a:t>Click to Show</a:t>
            </a:r>
          </a:p>
        </p:txBody>
      </p:sp>
      <p:sp>
        <p:nvSpPr>
          <p:cNvPr id="4" name="Item 1"/>
          <p:cNvSpPr/>
          <p:nvPr/>
        </p:nvSpPr>
        <p:spPr>
          <a:xfrm>
            <a:off x="457200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4000" b="1" dirty="0">
                <a:latin typeface="Aptos"/>
                <a:solidFill>
                  <a:srgbClr val="FFC000"/>
                </a:solidFill>
              </a:rPr>
              <a:t>🦊</a:t>
            </a:r>
          </a:p>
        </p:txBody>
      </p:sp>
      <p:sp>
        <p:nvSpPr>
          <p:cNvPr id="5" name="Label 1"/>
          <p:cNvSpPr/>
          <p:nvPr/>
        </p:nvSpPr>
        <p:spPr>
          <a:xfrm>
            <a:off x="457200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1st</a:t>
            </a:r>
          </a:p>
        </p:txBody>
      </p:sp>
      <p:sp>
        <p:nvSpPr>
          <p:cNvPr id="6" name="Item 2"/>
          <p:cNvSpPr/>
          <p:nvPr/>
        </p:nvSpPr>
        <p:spPr>
          <a:xfrm>
            <a:off x="2424989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4000" b="1" dirty="0">
                <a:latin typeface="Aptos"/>
                <a:solidFill>
                  <a:srgbClr val="FFC000"/>
                </a:solidFill>
              </a:rPr>
              <a:t>🎠</a:t>
            </a:r>
          </a:p>
        </p:txBody>
      </p:sp>
      <p:sp>
        <p:nvSpPr>
          <p:cNvPr id="7" name="Label 2"/>
          <p:cNvSpPr/>
          <p:nvPr/>
        </p:nvSpPr>
        <p:spPr>
          <a:xfrm>
            <a:off x="2424989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2nd</a:t>
            </a:r>
          </a:p>
        </p:txBody>
      </p:sp>
      <p:sp>
        <p:nvSpPr>
          <p:cNvPr id="8" name="Item 3"/>
          <p:cNvSpPr/>
          <p:nvPr/>
        </p:nvSpPr>
        <p:spPr>
          <a:xfrm>
            <a:off x="4392778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4000" b="1" dirty="0">
                <a:latin typeface="Aptos"/>
                <a:solidFill>
                  <a:srgbClr val="FFC000"/>
                </a:solidFill>
              </a:rPr>
              <a:t>🍇</a:t>
            </a:r>
          </a:p>
        </p:txBody>
      </p:sp>
      <p:sp>
        <p:nvSpPr>
          <p:cNvPr id="9" name="Label 3"/>
          <p:cNvSpPr/>
          <p:nvPr/>
        </p:nvSpPr>
        <p:spPr>
          <a:xfrm>
            <a:off x="4392778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3rd</a:t>
            </a:r>
          </a:p>
        </p:txBody>
      </p:sp>
      <p:sp>
        <p:nvSpPr>
          <p:cNvPr id="10" name="Item 4"/>
          <p:cNvSpPr/>
          <p:nvPr/>
        </p:nvSpPr>
        <p:spPr>
          <a:xfrm>
            <a:off x="6360566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4000" b="1" dirty="0">
                <a:latin typeface="Aptos"/>
                <a:solidFill>
                  <a:srgbClr val="FFC000"/>
                </a:solidFill>
              </a:rPr>
              <a:t>🛺</a:t>
            </a:r>
          </a:p>
        </p:txBody>
      </p:sp>
      <p:sp>
        <p:nvSpPr>
          <p:cNvPr id="11" name="Label 4"/>
          <p:cNvSpPr/>
          <p:nvPr/>
        </p:nvSpPr>
        <p:spPr>
          <a:xfrm>
            <a:off x="6360566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4th</a:t>
            </a:r>
          </a:p>
        </p:txBody>
      </p:sp>
      <p:sp>
        <p:nvSpPr>
          <p:cNvPr id="12" name="Item 5"/>
          <p:cNvSpPr/>
          <p:nvPr/>
        </p:nvSpPr>
        <p:spPr>
          <a:xfrm>
            <a:off x="8328355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4000" b="1" dirty="0">
                <a:latin typeface="Aptos"/>
                <a:solidFill>
                  <a:srgbClr val="FFC000"/>
                </a:solidFill>
              </a:rPr>
              <a:t>🌋</a:t>
            </a:r>
          </a:p>
        </p:txBody>
      </p:sp>
      <p:sp>
        <p:nvSpPr>
          <p:cNvPr id="13" name="Label 5"/>
          <p:cNvSpPr/>
          <p:nvPr/>
        </p:nvSpPr>
        <p:spPr>
          <a:xfrm>
            <a:off x="8328355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5th</a:t>
            </a:r>
          </a:p>
        </p:txBody>
      </p:sp>
      <p:sp>
        <p:nvSpPr>
          <p:cNvPr id="14" name="Item 6"/>
          <p:cNvSpPr/>
          <p:nvPr/>
        </p:nvSpPr>
        <p:spPr>
          <a:xfrm>
            <a:off x="10296144" y="2146097"/>
            <a:ext cx="1438351" cy="1280160"/>
          </a:xfrm>
          <a:prstGeom prst="rect">
            <a:avLst/>
          </a:prstGeom>
          <a:solidFill>
            <a:srgbClr val="1C4060"/>
          </a:solidFill>
          <a:ln w="19050">
            <a:solidFill>
              <a:srgbClr val="156082"/>
            </a:solidFill>
          </a:ln>
        </p:spPr>
        <p:txBody>
          <a:bodyPr rtlCol="0" anchor="ctr"/>
          <a:lstStyle/>
          <a:p>
            <a:pPr algn="ctr"/>
            <a:r>
              <a:rPr lang="en-GB" sz="4000" b="1" dirty="0">
                <a:latin typeface="Aptos"/>
                <a:solidFill>
                  <a:srgbClr val="FFC000"/>
                </a:solidFill>
              </a:rPr>
              <a:t>🎯</a:t>
            </a:r>
          </a:p>
        </p:txBody>
      </p:sp>
      <p:sp>
        <p:nvSpPr>
          <p:cNvPr id="15" name="Label 6"/>
          <p:cNvSpPr/>
          <p:nvPr/>
        </p:nvSpPr>
        <p:spPr>
          <a:xfrm>
            <a:off x="10296144" y="3511296"/>
            <a:ext cx="1438351" cy="292608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1200" b="0" dirty="0">
                <a:latin typeface="Aptos"/>
                <a:solidFill>
                  <a:srgbClr val="4A6B85"/>
                </a:solidFill>
              </a:rPr>
              <a:t>6th</a:t>
            </a:r>
          </a:p>
        </p:txBody>
      </p:sp>
      <p:sp>
        <p:nvSpPr>
          <p:cNvPr id="16" name="go to questions"/>
          <p:cNvSpPr/>
          <p:nvPr/>
        </p:nvSpPr>
        <p:spPr>
          <a:xfrm>
            <a:off x="4830775" y="5383073"/>
            <a:ext cx="2530145" cy="620878"/>
          </a:xfrm>
          <a:prstGeom prst="roundRect">
            <a:avLst/>
          </a:prstGeom>
          <a:solidFill>
            <a:srgbClr val="0F9ED5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latin typeface="Aptos"/>
                <a:solidFill>
                  <a:srgbClr val="FFFFFF"/>
                </a:solidFill>
              </a:rPr>
              <a:t>Go to the</a:t>
            </a:r>
          </a:p>
          <a:p>
            <a:pPr algn="ctr"/>
            <a:r>
              <a:rPr lang="en-GB" sz="2000" b="1" dirty="0">
                <a:latin typeface="Aptos"/>
                <a:solidFill>
                  <a:srgbClr val="FFFFFF"/>
                </a:solidFill>
              </a:rPr>
              <a:t>questions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838505" y="100584"/>
            <a:ext cx="10515600" cy="1325880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l"/>
            <a:r>
              <a:rPr lang="en-GB" sz="4400" b="1" dirty="0">
                <a:latin typeface="Twinkl Cursive Looped Light"/>
                <a:solidFill>
                  <a:srgbClr val="0E2841"/>
                </a:solidFill>
              </a:rPr>
              <a:t>Now answer from memory!</a:t>
            </a:r>
          </a:p>
        </p:txBody>
      </p:sp>
      <p:sp>
        <p:nvSpPr>
          <p:cNvPr id="3" name="Q1"/>
          <p:cNvSpPr/>
          <p:nvPr/>
        </p:nvSpPr>
        <p:spPr>
          <a:xfrm>
            <a:off x="341071" y="1196950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Q1   What was the 2nd emoji?</a:t>
            </a:r>
          </a:p>
        </p:txBody>
      </p:sp>
      <p:sp>
        <p:nvSpPr>
          <p:cNvPr id="4" name="A1"/>
          <p:cNvSpPr/>
          <p:nvPr/>
        </p:nvSpPr>
        <p:spPr>
          <a:xfrm>
            <a:off x="341071" y="2123237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Carousel</a:t>
            </a:r>
          </a:p>
        </p:txBody>
      </p:sp>
      <p:sp>
        <p:nvSpPr>
          <p:cNvPr id="5" name="Q2"/>
          <p:cNvSpPr/>
          <p:nvPr/>
        </p:nvSpPr>
        <p:spPr>
          <a:xfrm>
            <a:off x="341071" y="2965399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Q2   What was the 5th emoji?</a:t>
            </a:r>
          </a:p>
        </p:txBody>
      </p:sp>
      <p:sp>
        <p:nvSpPr>
          <p:cNvPr id="6" name="A2"/>
          <p:cNvSpPr/>
          <p:nvPr/>
        </p:nvSpPr>
        <p:spPr>
          <a:xfrm>
            <a:off x="341071" y="3891686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Volcano</a:t>
            </a:r>
          </a:p>
        </p:txBody>
      </p:sp>
      <p:sp>
        <p:nvSpPr>
          <p:cNvPr id="7" name="Q3"/>
          <p:cNvSpPr/>
          <p:nvPr/>
        </p:nvSpPr>
        <p:spPr>
          <a:xfrm>
            <a:off x="341071" y="4765853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Q3   Which emoji came after the grapes?</a:t>
            </a:r>
          </a:p>
        </p:txBody>
      </p:sp>
      <p:sp>
        <p:nvSpPr>
          <p:cNvPr id="8" name="A3"/>
          <p:cNvSpPr/>
          <p:nvPr/>
        </p:nvSpPr>
        <p:spPr>
          <a:xfrm>
            <a:off x="341071" y="5692140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Rickshaw</a:t>
            </a:r>
          </a:p>
        </p:txBody>
      </p:sp>
      <p:sp>
        <p:nvSpPr>
          <p:cNvPr id="9" name="Q4"/>
          <p:cNvSpPr/>
          <p:nvPr/>
        </p:nvSpPr>
        <p:spPr>
          <a:xfrm>
            <a:off x="6364224" y="1196950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Q4   What was the last emoji?</a:t>
            </a:r>
          </a:p>
        </p:txBody>
      </p:sp>
      <p:sp>
        <p:nvSpPr>
          <p:cNvPr id="10" name="A4"/>
          <p:cNvSpPr/>
          <p:nvPr/>
        </p:nvSpPr>
        <p:spPr>
          <a:xfrm>
            <a:off x="6364224" y="2123237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Target / bullseye</a:t>
            </a:r>
          </a:p>
        </p:txBody>
      </p:sp>
      <p:sp>
        <p:nvSpPr>
          <p:cNvPr id="11" name="Q5"/>
          <p:cNvSpPr/>
          <p:nvPr/>
        </p:nvSpPr>
        <p:spPr>
          <a:xfrm>
            <a:off x="6364224" y="2965399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Q5   Which emoji was a living creature?</a:t>
            </a:r>
          </a:p>
        </p:txBody>
      </p:sp>
      <p:sp>
        <p:nvSpPr>
          <p:cNvPr id="12" name="A5"/>
          <p:cNvSpPr/>
          <p:nvPr/>
        </p:nvSpPr>
        <p:spPr>
          <a:xfrm>
            <a:off x="6364224" y="3891686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Fox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5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3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7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8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5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0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11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7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3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14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9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6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17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1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9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20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4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2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23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6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5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26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8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7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8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29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0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30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31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32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2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1" uiExpand="1" build="p"/>
      <p:bldP spid="7" grpId="2" uiExpand="1" build="p"/>
      <p:bldP spid="9" grpId="3" uiExpand="1" build="p"/>
      <p:bldP spid="11" grpId="4" uiExpand="1" build="p"/>
      <p:bldP spid="4" grpId="5" uiExpand="1" build="p"/>
      <p:bldP spid="6" grpId="6" uiExpand="1" build="p"/>
      <p:bldP spid="8" grpId="7" uiExpand="1" build="p"/>
      <p:bldP spid="10" grpId="8" uiExpand="1" build="p"/>
      <p:bldP spid="12" grpId="9" uiExpand="1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2243938" y="130759"/>
            <a:ext cx="8265262" cy="1325880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l"/>
            <a:r>
              <a:rPr lang="en-GB" sz="4000" b="1" dirty="0">
                <a:latin typeface="Twinkl Cursive Looped Light"/>
                <a:solidFill>
                  <a:srgbClr val="0E2841"/>
                </a:solidFill>
              </a:rPr>
              <a:t>Remember the details and the order</a:t>
            </a:r>
          </a:p>
        </p:txBody>
      </p:sp>
      <p:sp>
        <p:nvSpPr>
          <p:cNvPr id="3" name="Show game"/>
          <p:cNvSpPr/>
          <p:nvPr/>
        </p:nvSpPr>
        <p:spPr>
          <a:xfrm>
            <a:off x="4772254" y="1231697"/>
            <a:ext cx="2647188" cy="620878"/>
          </a:xfrm>
          <a:prstGeom prst="roundRect">
            <a:avLst/>
          </a:prstGeom>
          <a:solidFill>
            <a:srgbClr val="92D050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latin typeface="Aptos"/>
                <a:solidFill>
                  <a:srgbClr val="0E2841"/>
                </a:solidFill>
              </a:rPr>
              <a:t>Click to Show</a:t>
            </a:r>
          </a:p>
        </p:txBody>
      </p:sp>
      <p:sp>
        <p:nvSpPr>
          <p:cNvPr id="4" name="Strip 1"/>
          <p:cNvSpPr/>
          <p:nvPr/>
        </p:nvSpPr>
        <p:spPr>
          <a:xfrm>
            <a:off x="457200" y="1920240"/>
            <a:ext cx="73152" cy="1417320"/>
          </a:xfrm>
          <a:prstGeom prst="rect">
            <a:avLst/>
          </a:prstGeom>
          <a:solidFill>
            <a:srgbClr val="FFC000"/>
          </a:solidFill>
          <a:ln w="0">
            <a:noFill/>
          </a:ln>
        </p:spPr>
      </p:sp>
      <p:sp>
        <p:nvSpPr>
          <p:cNvPr id="5" name="Icon 1"/>
          <p:cNvSpPr/>
          <p:nvPr/>
        </p:nvSpPr>
        <p:spPr>
          <a:xfrm>
            <a:off x="566928" y="1920240"/>
            <a:ext cx="914400" cy="1417320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3200" b="0" dirty="0">
                <a:latin typeface="Aptos"/>
                <a:solidFill>
                  <a:srgbClr val="0E2841"/>
                </a:solidFill>
              </a:rPr>
              <a:t>📚</a:t>
            </a:r>
          </a:p>
        </p:txBody>
      </p:sp>
      <p:sp>
        <p:nvSpPr>
          <p:cNvPr id="6" name="Fact 1"/>
          <p:cNvSpPr/>
          <p:nvPr/>
        </p:nvSpPr>
        <p:spPr>
          <a:xfrm>
            <a:off x="1444752" y="1920240"/>
            <a:ext cx="4681728" cy="1417320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600" b="1" dirty="0">
                <a:latin typeface="Aptos"/>
                <a:solidFill>
                  <a:srgbClr val="0E2841"/>
                </a:solidFill>
              </a:rPr>
              <a:t>There were fourteen books on the top shelf.</a:t>
            </a:r>
          </a:p>
        </p:txBody>
      </p:sp>
      <p:sp>
        <p:nvSpPr>
          <p:cNvPr id="7" name="Strip 2"/>
          <p:cNvSpPr/>
          <p:nvPr/>
        </p:nvSpPr>
        <p:spPr>
          <a:xfrm>
            <a:off x="6309360" y="1920240"/>
            <a:ext cx="73152" cy="1417320"/>
          </a:xfrm>
          <a:prstGeom prst="rect">
            <a:avLst/>
          </a:prstGeom>
          <a:solidFill>
            <a:srgbClr val="FFC000"/>
          </a:solidFill>
          <a:ln w="0">
            <a:noFill/>
          </a:ln>
        </p:spPr>
      </p:sp>
      <p:sp>
        <p:nvSpPr>
          <p:cNvPr id="8" name="Icon 2"/>
          <p:cNvSpPr/>
          <p:nvPr/>
        </p:nvSpPr>
        <p:spPr>
          <a:xfrm>
            <a:off x="6419088" y="1920240"/>
            <a:ext cx="914400" cy="1417320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3200" b="0" dirty="0">
                <a:latin typeface="Aptos"/>
                <a:solidFill>
                  <a:srgbClr val="0E2841"/>
                </a:solidFill>
              </a:rPr>
              <a:t>🕯️</a:t>
            </a:r>
          </a:p>
        </p:txBody>
      </p:sp>
      <p:sp>
        <p:nvSpPr>
          <p:cNvPr id="9" name="Fact 2"/>
          <p:cNvSpPr/>
          <p:nvPr/>
        </p:nvSpPr>
        <p:spPr>
          <a:xfrm>
            <a:off x="7296912" y="1920240"/>
            <a:ext cx="4681728" cy="1417320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600" b="1" dirty="0">
                <a:latin typeface="Aptos"/>
                <a:solidFill>
                  <a:srgbClr val="0E2841"/>
                </a:solidFill>
              </a:rPr>
              <a:t>A green candle sat on the wooden desk.</a:t>
            </a:r>
          </a:p>
        </p:txBody>
      </p:sp>
      <p:sp>
        <p:nvSpPr>
          <p:cNvPr id="10" name="Strip 3"/>
          <p:cNvSpPr/>
          <p:nvPr/>
        </p:nvSpPr>
        <p:spPr>
          <a:xfrm>
            <a:off x="457200" y="3657600"/>
            <a:ext cx="73152" cy="1417320"/>
          </a:xfrm>
          <a:prstGeom prst="rect">
            <a:avLst/>
          </a:prstGeom>
          <a:solidFill>
            <a:srgbClr val="FFC000"/>
          </a:solidFill>
          <a:ln w="0">
            <a:noFill/>
          </a:ln>
        </p:spPr>
      </p:sp>
      <p:sp>
        <p:nvSpPr>
          <p:cNvPr id="11" name="Icon 3"/>
          <p:cNvSpPr/>
          <p:nvPr/>
        </p:nvSpPr>
        <p:spPr>
          <a:xfrm>
            <a:off x="566928" y="3657600"/>
            <a:ext cx="914400" cy="1417320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3200" b="0" dirty="0">
                <a:latin typeface="Aptos"/>
                <a:solidFill>
                  <a:srgbClr val="0E2841"/>
                </a:solidFill>
              </a:rPr>
              <a:t>🐈</a:t>
            </a:r>
          </a:p>
        </p:txBody>
      </p:sp>
      <p:sp>
        <p:nvSpPr>
          <p:cNvPr id="12" name="Fact 3"/>
          <p:cNvSpPr/>
          <p:nvPr/>
        </p:nvSpPr>
        <p:spPr>
          <a:xfrm>
            <a:off x="1444752" y="3657600"/>
            <a:ext cx="4681728" cy="1417320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600" b="1" dirty="0">
                <a:latin typeface="Aptos"/>
                <a:solidFill>
                  <a:srgbClr val="0E2841"/>
                </a:solidFill>
              </a:rPr>
              <a:t>A stripy cat slept on the window seat.</a:t>
            </a:r>
          </a:p>
        </p:txBody>
      </p:sp>
      <p:sp>
        <p:nvSpPr>
          <p:cNvPr id="13" name="Strip 4"/>
          <p:cNvSpPr/>
          <p:nvPr/>
        </p:nvSpPr>
        <p:spPr>
          <a:xfrm>
            <a:off x="6309360" y="3657600"/>
            <a:ext cx="73152" cy="1417320"/>
          </a:xfrm>
          <a:prstGeom prst="rect">
            <a:avLst/>
          </a:prstGeom>
          <a:solidFill>
            <a:srgbClr val="FFC000"/>
          </a:solidFill>
          <a:ln w="0">
            <a:noFill/>
          </a:ln>
        </p:spPr>
      </p:sp>
      <p:sp>
        <p:nvSpPr>
          <p:cNvPr id="14" name="Icon 4"/>
          <p:cNvSpPr/>
          <p:nvPr/>
        </p:nvSpPr>
        <p:spPr>
          <a:xfrm>
            <a:off x="6419088" y="3657600"/>
            <a:ext cx="914400" cy="1417320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ctr"/>
            <a:r>
              <a:rPr lang="en-GB" sz="3200" b="0" dirty="0">
                <a:latin typeface="Aptos"/>
                <a:solidFill>
                  <a:srgbClr val="0E2841"/>
                </a:solidFill>
              </a:rPr>
              <a:t>🗺️</a:t>
            </a:r>
          </a:p>
        </p:txBody>
      </p:sp>
      <p:sp>
        <p:nvSpPr>
          <p:cNvPr id="15" name="Fact 4"/>
          <p:cNvSpPr/>
          <p:nvPr/>
        </p:nvSpPr>
        <p:spPr>
          <a:xfrm>
            <a:off x="7296912" y="3657600"/>
            <a:ext cx="4681728" cy="1417320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600" b="1" dirty="0">
                <a:latin typeface="Aptos"/>
                <a:solidFill>
                  <a:srgbClr val="0E2841"/>
                </a:solidFill>
              </a:rPr>
              <a:t>An old map of England hung on the wall.</a:t>
            </a:r>
          </a:p>
        </p:txBody>
      </p:sp>
      <p:sp>
        <p:nvSpPr>
          <p:cNvPr id="16" name="go to questions"/>
          <p:cNvSpPr/>
          <p:nvPr/>
        </p:nvSpPr>
        <p:spPr>
          <a:xfrm>
            <a:off x="4830775" y="5383073"/>
            <a:ext cx="2530145" cy="620878"/>
          </a:xfrm>
          <a:prstGeom prst="roundRect">
            <a:avLst/>
          </a:prstGeom>
          <a:solidFill>
            <a:srgbClr val="0F9ED5"/>
          </a:solidFill>
          <a:ln w="0">
            <a:noFill/>
          </a:ln>
        </p:spPr>
        <p:txBody>
          <a:bodyPr rtlCol="0" anchor="ctr"/>
          <a:lstStyle/>
          <a:p>
            <a:pPr algn="ctr"/>
            <a:r>
              <a:rPr lang="en-GB" sz="2000" b="1" dirty="0">
                <a:latin typeface="Aptos"/>
                <a:solidFill>
                  <a:srgbClr val="FFFFFF"/>
                </a:solidFill>
              </a:rPr>
              <a:t>Go to the</a:t>
            </a:r>
          </a:p>
          <a:p>
            <a:pPr algn="ctr"/>
            <a:r>
              <a:rPr lang="en-GB" sz="2000" b="1" dirty="0">
                <a:latin typeface="Aptos"/>
                <a:solidFill>
                  <a:srgbClr val="FFFFFF"/>
                </a:solidFill>
              </a:rPr>
              <a:t>questions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838505" y="100584"/>
            <a:ext cx="10515600" cy="1325880"/>
          </a:xfrm>
          <a:prstGeom prst="rect">
            <a:avLst/>
          </a:prstGeom>
          <a:ln w="0">
            <a:noFill/>
          </a:ln>
          <a:noFill/>
        </p:spPr>
        <p:txBody>
          <a:bodyPr rtlCol="0" anchor="ctr"/>
          <a:lstStyle/>
          <a:p>
            <a:pPr algn="l"/>
            <a:r>
              <a:rPr lang="en-GB" sz="4400" b="1" dirty="0">
                <a:latin typeface="Twinkl Cursive Looped Light"/>
                <a:solidFill>
                  <a:srgbClr val="0E2841"/>
                </a:solidFill>
              </a:rPr>
              <a:t>Now answer from memory!</a:t>
            </a:r>
          </a:p>
        </p:txBody>
      </p:sp>
      <p:sp>
        <p:nvSpPr>
          <p:cNvPr id="3" name="Q1"/>
          <p:cNvSpPr/>
          <p:nvPr/>
        </p:nvSpPr>
        <p:spPr>
          <a:xfrm>
            <a:off x="341071" y="1196950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Q1   How many books were on the top shelf?</a:t>
            </a:r>
          </a:p>
        </p:txBody>
      </p:sp>
      <p:sp>
        <p:nvSpPr>
          <p:cNvPr id="4" name="A1"/>
          <p:cNvSpPr/>
          <p:nvPr/>
        </p:nvSpPr>
        <p:spPr>
          <a:xfrm>
            <a:off x="341071" y="2123237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Fourteen</a:t>
            </a:r>
          </a:p>
        </p:txBody>
      </p:sp>
      <p:sp>
        <p:nvSpPr>
          <p:cNvPr id="5" name="Q2"/>
          <p:cNvSpPr/>
          <p:nvPr/>
        </p:nvSpPr>
        <p:spPr>
          <a:xfrm>
            <a:off x="6364224" y="1196950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Q2   What colour was the candle?</a:t>
            </a:r>
          </a:p>
        </p:txBody>
      </p:sp>
      <p:sp>
        <p:nvSpPr>
          <p:cNvPr id="6" name="A2"/>
          <p:cNvSpPr/>
          <p:nvPr/>
        </p:nvSpPr>
        <p:spPr>
          <a:xfrm>
            <a:off x="6364224" y="2123237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Green</a:t>
            </a:r>
          </a:p>
        </p:txBody>
      </p:sp>
      <p:sp>
        <p:nvSpPr>
          <p:cNvPr id="7" name="Q3"/>
          <p:cNvSpPr/>
          <p:nvPr/>
        </p:nvSpPr>
        <p:spPr>
          <a:xfrm>
            <a:off x="341071" y="3200400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Q3   Where was the cat sleeping?</a:t>
            </a:r>
          </a:p>
        </p:txBody>
      </p:sp>
      <p:sp>
        <p:nvSpPr>
          <p:cNvPr id="8" name="A3"/>
          <p:cNvSpPr/>
          <p:nvPr/>
        </p:nvSpPr>
        <p:spPr>
          <a:xfrm>
            <a:off x="341071" y="4126687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On the window seat</a:t>
            </a:r>
          </a:p>
        </p:txBody>
      </p:sp>
      <p:sp>
        <p:nvSpPr>
          <p:cNvPr id="9" name="Q4"/>
          <p:cNvSpPr/>
          <p:nvPr/>
        </p:nvSpPr>
        <p:spPr>
          <a:xfrm>
            <a:off x="6364224" y="3200400"/>
            <a:ext cx="5486400" cy="926287"/>
          </a:xfrm>
          <a:prstGeom prst="rect">
            <a:avLst/>
          </a:prstGeom>
          <a:solidFill>
            <a:srgbClr val="C2D9EC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1730" b="1" dirty="0">
                <a:latin typeface="Aptos"/>
                <a:solidFill>
                  <a:srgbClr val="0E2841"/>
                </a:solidFill>
              </a:rPr>
              <a:t>Q4   What was on the wall?</a:t>
            </a:r>
          </a:p>
        </p:txBody>
      </p:sp>
      <p:sp>
        <p:nvSpPr>
          <p:cNvPr id="10" name="A4"/>
          <p:cNvSpPr/>
          <p:nvPr/>
        </p:nvSpPr>
        <p:spPr>
          <a:xfrm>
            <a:off x="6364224" y="4126687"/>
            <a:ext cx="5486400" cy="683057"/>
          </a:xfrm>
          <a:prstGeom prst="rect">
            <a:avLst/>
          </a:prstGeom>
          <a:solidFill>
            <a:srgbClr val="92D050"/>
          </a:solidFill>
          <a:ln w="19050">
            <a:solidFill>
              <a:srgbClr val="156082"/>
            </a:solidFill>
          </a:ln>
        </p:spPr>
        <p:txBody>
          <a:bodyPr rtlCol="0" anchor="ctr" lIns="152400"/>
          <a:lstStyle/>
          <a:p>
            <a:pPr algn="l"/>
            <a:r>
              <a:rPr lang="en-GB" sz="2000" b="1" dirty="0">
                <a:latin typeface="Aptos"/>
                <a:solidFill>
                  <a:srgbClr val="0E2841"/>
                </a:solidFill>
              </a:rPr>
              <a:t>Answer:   An old map of England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4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5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3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7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8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5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0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11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7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3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14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9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6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17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4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9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20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6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2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23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8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dur="indefinite" nodeType="clickEffect">
                      <p:stCondLst>
                        <p:cond evt="onClick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25" dur="1" fill="hold" presetID="1" presetClass="entr" presetSubtype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Tn id="26" dur="1" fill="hold">
                                  <p:stCondLst>
                                    <p:cond delay="0"/>
                                  </p:stCondLst>
                                </p:cTn>
                                <p:tgtEl>
                                  <p:spTgt spid="10"/>
                                </p:tgtEl>
                                <p:attrNameLst>
                                  <p:attrName>style.visibility</p:attrName>
                                </p:attrNameLst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gtEl>
                    <p:sldTgt/>
                  </p:tgtEl>
                </p:cond>
              </p:prevCondLst>
              <p:nextCondLst>
                <p:cond evt="onNext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1" uiExpand="1" build="p"/>
      <p:bldP spid="7" grpId="2" uiExpand="1" build="p"/>
      <p:bldP spid="9" grpId="3" uiExpand="1" build="p"/>
      <p:bldP spid="4" grpId="4" uiExpand="1" build="p"/>
      <p:bldP spid="6" grpId="5" uiExpand="1" build="p"/>
      <p:bldP spid="8" grpId="6" uiExpand="1" build="p"/>
      <p:bldP spid="10" grpId="7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err="1" smtClean="0">
            <a:latin typeface="Twinkl Cursive Looped Light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0" id="{1BD95F8B-D119-184E-B461-EB96D434B869}" vid="{751A4A59-1635-514C-9025-B9911AE6E5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DFB5B86-DE2D-B04D-AC6F-C5373A5EEDD2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A4E24F-1B38-454E-8089-0BD97B1C5B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6dd442-da5e-411e-833f-0fee7dcd7819"/>
    <ds:schemaRef ds:uri="4848fd07-94db-4308-8950-9cb0e230b9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23CE296-60E4-4853-B3BD-F33DDF6ED904}">
  <ds:schemaRefs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4848fd07-94db-4308-8950-9cb0e230b958"/>
    <ds:schemaRef ds:uri="9e6dd442-da5e-411e-833f-0fee7dcd7819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689B1C0-FAA9-4C87-B6A9-158CCD6B193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86</Words>
  <Application>Microsoft Macintosh PowerPoint</Application>
  <PresentationFormat>Widescreen</PresentationFormat>
  <Paragraphs>28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Twinkl Cursive Looped Light</vt:lpstr>
      <vt:lpstr>Office Theme</vt:lpstr>
      <vt:lpstr>Remember the details and the order</vt:lpstr>
      <vt:lpstr>Now answer from memory!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3</cp:revision>
  <dcterms:created xsi:type="dcterms:W3CDTF">2026-03-28T09:37:31Z</dcterms:created>
  <dcterms:modified xsi:type="dcterms:W3CDTF">2026-03-28T10:01:32Z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0x010100AC71695694772F44B387615DF8DED97F</vt:lpwstr>
  </property>
</Properties>
</file>