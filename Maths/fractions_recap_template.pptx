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56" r:id="rId6"/>
    <p:sldId id="257" r:id="rId5"/>
    <p:sldId id="258" r:id="rId12"/>
    <p:sldId id="259" r:id="rId13"/>
    <p:sldId id="260" r:id="rId14"/>
    <p:sldId id="26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F9001"/>
    <a:srgbClr val="FFFD78"/>
    <a:srgbClr val="40C070"/>
    <a:srgbClr val="DEECF8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41"/>
    <p:restoredTop sz="94658"/>
  </p:normalViewPr>
  <p:slideViewPr>
    <p:cSldViewPr snapToGrid="0">
      <p:cViewPr varScale="1">
        <p:scale>
          <a:sx n="102" d="100"/>
          <a:sy n="102" d="100"/>
        </p:scale>
        <p:origin x="1424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BD35C6-7CAD-4548-AC6E-52C001648DF2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CB2F9C-EE91-734B-A47F-E925A8D8909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6403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BC184-DD25-15C4-015E-EBFC403815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B66835-322C-61EF-69F3-77029B5D4F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9ED561-F7B6-4EFA-3636-8D6E84A9B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AD407-E5AF-F592-7868-F6159238FC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AA389-1879-6EBB-1699-B454B0E3D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42A011-4401-4A32-2E8A-4BA0473FCD9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Media Placeholder 8">
            <a:extLst>
              <a:ext uri="{FF2B5EF4-FFF2-40B4-BE49-F238E27FC236}">
                <a16:creationId xmlns:a16="http://schemas.microsoft.com/office/drawing/2014/main" id="{B586524A-BD3F-86FA-7CE2-6F80F5901BB6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82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7" name="Picture 6" descr="A close-up of a card&#10;&#10;Description automatically generated">
            <a:extLst>
              <a:ext uri="{FF2B5EF4-FFF2-40B4-BE49-F238E27FC236}">
                <a16:creationId xmlns:a16="http://schemas.microsoft.com/office/drawing/2014/main" id="{FD25676D-13E6-C1C0-5C8A-5986F28323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211" y="136525"/>
            <a:ext cx="1359177" cy="670279"/>
          </a:xfrm>
          <a:prstGeom prst="rect">
            <a:avLst/>
          </a:prstGeom>
        </p:spPr>
      </p:pic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F312437F-7809-0AAA-2C7B-8774A55DF303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755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e 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8" name="Picture 7" descr="A close-up of a pink sign&#10;&#10;Description automatically generated">
            <a:extLst>
              <a:ext uri="{FF2B5EF4-FFF2-40B4-BE49-F238E27FC236}">
                <a16:creationId xmlns:a16="http://schemas.microsoft.com/office/drawing/2014/main" id="{6BAA6382-4CD1-57C8-5CE1-796DB9D5EA2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90078" y="136525"/>
            <a:ext cx="1501922" cy="645454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E4E89A89-3CFD-194C-3963-C8547EE8F89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8629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Tri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Picture 8" descr="A pink background with a cartoon character&#10;&#10;Description automatically generated">
            <a:extLst>
              <a:ext uri="{FF2B5EF4-FFF2-40B4-BE49-F238E27FC236}">
                <a16:creationId xmlns:a16="http://schemas.microsoft.com/office/drawing/2014/main" id="{471E7CCF-06E5-C5ED-10F1-3AADDF1B296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4" y="136525"/>
            <a:ext cx="1477096" cy="608216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537CE4E2-4EA9-23E1-026D-E9644C05F12F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14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ou do I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A8DF3-7887-0D25-6299-663E5BEA1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A55B19-5A9C-777C-3A0B-C53B6B6079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5E581F-BFF5-CC21-546B-C47CA19FB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4A786-B768-14C5-BAA7-7D8A83233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94674A-8FE0-36C3-AD71-04588B4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pic>
        <p:nvPicPr>
          <p:cNvPr id="10" name="Picture 9" descr="A green background with black text&#10;&#10;Description automatically generated">
            <a:extLst>
              <a:ext uri="{FF2B5EF4-FFF2-40B4-BE49-F238E27FC236}">
                <a16:creationId xmlns:a16="http://schemas.microsoft.com/office/drawing/2014/main" id="{0B5E4881-D395-D820-8C55-3FE63D4D97E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14905" y="136525"/>
            <a:ext cx="1477095" cy="614422"/>
          </a:xfrm>
          <a:prstGeom prst="rect">
            <a:avLst/>
          </a:prstGeom>
        </p:spPr>
      </p:pic>
      <p:sp>
        <p:nvSpPr>
          <p:cNvPr id="7" name="Media Placeholder 8">
            <a:extLst>
              <a:ext uri="{FF2B5EF4-FFF2-40B4-BE49-F238E27FC236}">
                <a16:creationId xmlns:a16="http://schemas.microsoft.com/office/drawing/2014/main" id="{F7EB1FDF-CC20-386A-D505-4F002F47DE9C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6228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2B028-48FA-A020-20C2-4D8AB5E76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E8ED87-60D9-0A91-F7A5-6EC9EDB76D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9BEF50-E30D-B113-05A6-A5002BCFC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75C14-D20E-18EA-A151-41D49FE08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9D468-1C9D-56DB-8A47-117B17E00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9D0DD-797F-0814-4724-15C109642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8" name="Media Placeholder 8">
            <a:extLst>
              <a:ext uri="{FF2B5EF4-FFF2-40B4-BE49-F238E27FC236}">
                <a16:creationId xmlns:a16="http://schemas.microsoft.com/office/drawing/2014/main" id="{04DA42A8-0ACE-BF63-515D-9A42B554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515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CD606-625C-AD6F-7685-6B3875376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8FA711-20C9-1855-A2A7-70494876B5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06C4F-1083-4167-7DB8-BF147B549D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F838C2-94F5-B119-F94F-C7E7A8FC72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9F157D-5813-40F9-7A2B-86EFDE43BE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EA0128D-9DBC-F783-5938-FF937C093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FC24E-7ABC-71DA-FE5E-3CD3C6C44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3AC60-E11D-DD5B-C7F1-15EDD4C983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10" name="Media Placeholder 8">
            <a:extLst>
              <a:ext uri="{FF2B5EF4-FFF2-40B4-BE49-F238E27FC236}">
                <a16:creationId xmlns:a16="http://schemas.microsoft.com/office/drawing/2014/main" id="{240D8869-214D-34CF-4D72-42A3FB0A5CC8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286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DE27-3917-5873-B219-6062AC3C0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7E8C4D-CFE1-27C5-ACFB-99780D918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F4C2A3-A00E-B5EA-BF36-54B3D1C43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81897-A3D0-8FE9-FFB3-8C0611C15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6" name="Media Placeholder 8">
            <a:extLst>
              <a:ext uri="{FF2B5EF4-FFF2-40B4-BE49-F238E27FC236}">
                <a16:creationId xmlns:a16="http://schemas.microsoft.com/office/drawing/2014/main" id="{B89E3C10-91AD-30FE-6814-24C9ED6CD8C2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801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C1B19B-2D34-E6EE-9B0E-E791BFCE5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FFC714-CD1F-1F47-9B04-0D0894B2988C}" type="datetimeFigureOut">
              <a:rPr lang="en-GB" smtClean="0"/>
              <a:t>28/03/2026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7B34ADB-1387-7E9B-BE06-BC69C6AC4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DF8EC-1D16-E916-777C-62CD56598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82E964-443D-C44D-AA24-C6EC26BE89C8}" type="slidenum">
              <a:rPr lang="en-GB" smtClean="0"/>
              <a:t>‹#›</a:t>
            </a:fld>
            <a:endParaRPr lang="en-GB"/>
          </a:p>
        </p:txBody>
      </p:sp>
      <p:sp>
        <p:nvSpPr>
          <p:cNvPr id="5" name="Media Placeholder 8">
            <a:extLst>
              <a:ext uri="{FF2B5EF4-FFF2-40B4-BE49-F238E27FC236}">
                <a16:creationId xmlns:a16="http://schemas.microsoft.com/office/drawing/2014/main" id="{6F93E976-3037-C4A5-7A5D-6A5D5209B14A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10963275" y="6356350"/>
            <a:ext cx="1098550" cy="365125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022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55314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Relationship Id="rId1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93E219-9D08-E086-012A-E19B38DA5F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01F7DA-0CCE-ACAA-4C72-F8070A170E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4E5B30-657F-37CD-1E3D-2EFAD3D39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50FFC714-CD1F-1F47-9B04-0D0894B2988C}" type="datetimeFigureOut">
              <a:rPr lang="en-GB" smtClean="0"/>
              <a:pPr/>
              <a:t>28/03/2026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A83DC-6B0C-710A-7700-D6C96F367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2950C-B405-7AF7-EA6A-70B2884A14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82000"/>
                  </a:schemeClr>
                </a:solidFill>
                <a:latin typeface="Twinkl Cursive Looped Light" panose="02000000000000000000" pitchFamily="2" charset="77"/>
              </a:defRPr>
            </a:lvl1pPr>
          </a:lstStyle>
          <a:p>
            <a:fld id="{2082E964-443D-C44D-AA24-C6EC26BE89C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BC74CBD-5CCA-A2E4-4E13-311FD5492F8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444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latin typeface="Twinkl Cursive Looped Light" panose="02000000000000000000" pitchFamily="2" charset="77"/>
            </a:endParaRPr>
          </a:p>
        </p:txBody>
      </p:sp>
      <p:pic>
        <p:nvPicPr>
          <p:cNvPr id="8" name="Picture 7" descr="A black background with graphics and symbols&#10;&#10;Description automatically generated">
            <a:extLst>
              <a:ext uri="{FF2B5EF4-FFF2-40B4-BE49-F238E27FC236}">
                <a16:creationId xmlns:a16="http://schemas.microsoft.com/office/drawing/2014/main" id="{9A5B9FFB-DD02-A26E-66CD-26FA349E3AB7}"/>
              </a:ext>
            </a:extLst>
          </p:cNvPr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02190" y="122848"/>
            <a:ext cx="550953" cy="478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2885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63" r:id="rId4"/>
    <p:sldLayoutId id="2147483664" r:id="rId5"/>
    <p:sldLayoutId id="2147483652" r:id="rId6"/>
    <p:sldLayoutId id="2147483653" r:id="rId7"/>
    <p:sldLayoutId id="2147483654" r:id="rId8"/>
    <p:sldLayoutId id="2147483655" r:id="rId9"/>
    <p:sldLayoutId id="214748366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Twinkl Cursive Looped Light" panose="02000000000000000000" pitchFamily="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Twinkl Cursive Looped Light" panose="02000000000000000000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1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Relationship Id="rId9" Type="http://schemas.openxmlformats.org/officeDocument/2006/relationships/image" Target="../media/image11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2.png"/><Relationship Id="rId8" Type="http://schemas.openxmlformats.org/officeDocument/2006/relationships/image" Target="../media/image3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image" Target="../media/image36.png"/><Relationship Id="rId8" Type="http://schemas.openxmlformats.org/officeDocument/2006/relationships/image" Target="../media/image37.png"/><Relationship Id="rId9" Type="http://schemas.openxmlformats.org/officeDocument/2006/relationships/image" Target="../media/image11.png"/><Relationship Id="rId10" Type="http://schemas.openxmlformats.org/officeDocument/2006/relationships/image" Target="../media/image38.png"/><Relationship Id="rId1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Media Placeholder 6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8" name="Rectangle 7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9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Twinkl Cursive Looped Light"/>
              </a:rPr>
              <a:t>Fractions Recap — Mixed → Improper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7315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ptos"/>
              </a:rPr>
              <a:t>Monday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0" y="1024127"/>
            <a:ext cx="0" cy="5696713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1097280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127101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Watch and follow the steps.</a:t>
            </a:r>
          </a:p>
        </p:txBody>
      </p:sp>
      <p:pic>
        <p:nvPicPr>
          <p:cNvPr id="14" name="Picture 13" descr="m2i_ido_q_M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65376"/>
            <a:ext cx="128016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20240" y="1938528"/>
            <a:ext cx="4251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98D3"/>
                </a:solidFill>
                <a:latin typeface="Aptos"/>
              </a:rPr>
              <a:t>Step 1:  Multiply whole × denominator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286000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Aptos"/>
              </a:rPr>
              <a:t>2 × 5 = 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743200"/>
            <a:ext cx="4251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98D3"/>
                </a:solidFill>
                <a:latin typeface="Aptos"/>
              </a:rPr>
              <a:t>Step 2:  Add the numerator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090672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Aptos"/>
              </a:rPr>
              <a:t>10 + 3 = 13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5C2A"/>
                </a:solidFill>
                <a:latin typeface="Aptos"/>
              </a:rPr>
              <a:t>Answer:</a:t>
            </a:r>
          </a:p>
        </p:txBody>
      </p:sp>
      <p:pic>
        <p:nvPicPr>
          <p:cNvPr id="20" name="Picture 19" descr="m2i_ido_a_M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3675887"/>
            <a:ext cx="731520" cy="105156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115568"/>
            <a:ext cx="1097280" cy="4754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80960" y="1271016"/>
            <a:ext cx="423641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Now you try — convert to an improper fraction.</a:t>
            </a:r>
          </a:p>
        </p:txBody>
      </p:sp>
      <p:pic>
        <p:nvPicPr>
          <p:cNvPr id="23" name="Picture 22" descr="qlabel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847088"/>
            <a:ext cx="502920" cy="310896"/>
          </a:xfrm>
          <a:prstGeom prst="rect">
            <a:avLst/>
          </a:prstGeom>
        </p:spPr>
      </p:pic>
      <p:pic>
        <p:nvPicPr>
          <p:cNvPr id="24" name="Picture 23" descr="m2i_yd_q0_M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31" y="1709928"/>
            <a:ext cx="1143000" cy="960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83879" y="193852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57D24"/>
                </a:solidFill>
                <a:latin typeface="Aptos"/>
              </a:rPr>
              <a:t>=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828800"/>
            <a:ext cx="1280160" cy="777240"/>
          </a:xfrm>
          <a:prstGeom prst="rect">
            <a:avLst/>
          </a:prstGeom>
          <a:solidFill>
            <a:srgbClr val="DEEAF1"/>
          </a:solidFill>
          <a:ln w="9525">
            <a:solidFill>
              <a:srgbClr val="179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qlabel_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224527"/>
            <a:ext cx="502920" cy="310896"/>
          </a:xfrm>
          <a:prstGeom prst="rect">
            <a:avLst/>
          </a:prstGeom>
        </p:spPr>
      </p:pic>
      <p:pic>
        <p:nvPicPr>
          <p:cNvPr id="30" name="Picture 29" descr="m2i_yd_q1_M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431" y="4087368"/>
            <a:ext cx="1143000" cy="96012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8183879" y="431596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57D24"/>
                </a:solidFill>
                <a:latin typeface="Aptos"/>
              </a:rPr>
              <a:t>=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4206240"/>
            <a:ext cx="1280160" cy="777240"/>
          </a:xfrm>
          <a:prstGeom prst="rect">
            <a:avLst/>
          </a:prstGeom>
          <a:solidFill>
            <a:srgbClr val="DEEAF1"/>
          </a:solidFill>
          <a:ln w="9525">
            <a:solidFill>
              <a:srgbClr val="179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Media Placeholder 6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8" name="Rectangle 7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A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Twinkl Cursive Looped Light"/>
              </a:rPr>
              <a:t>Fractions Recap — Improper → 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7315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ptos"/>
              </a:rPr>
              <a:t>Monday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0" y="1024127"/>
            <a:ext cx="0" cy="5696713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1097280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1152144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Watch and follow the steps.</a:t>
            </a:r>
          </a:p>
        </p:txBody>
      </p:sp>
      <p:pic>
        <p:nvPicPr>
          <p:cNvPr id="14" name="Picture 13" descr="i2m_ido_q_M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19"/>
            <a:ext cx="73152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45920" y="1755648"/>
            <a:ext cx="45262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AE62"/>
                </a:solidFill>
                <a:latin typeface="Aptos"/>
              </a:rPr>
              <a:t>Step 1:  Divide numerator ÷ denominator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103120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ptos"/>
              </a:rPr>
              <a:t>11 ÷ 3 = 3  remainder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560320"/>
            <a:ext cx="4526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AE62"/>
                </a:solidFill>
                <a:latin typeface="Aptos"/>
              </a:rPr>
              <a:t>Step 2:  Whole = quotient, fraction = remainder / divisor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5876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5C2A"/>
                </a:solidFill>
                <a:latin typeface="Aptos"/>
              </a:rPr>
              <a:t>Answer:</a:t>
            </a:r>
          </a:p>
        </p:txBody>
      </p:sp>
      <p:pic>
        <p:nvPicPr>
          <p:cNvPr id="19" name="Picture 18" descr="i2m_ido_a_M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675887"/>
            <a:ext cx="1097280" cy="105156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115568"/>
            <a:ext cx="1097280" cy="4754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80960" y="1271016"/>
            <a:ext cx="423641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Now you try — convert to a mixed number.</a:t>
            </a:r>
          </a:p>
        </p:txBody>
      </p:sp>
      <p:pic>
        <p:nvPicPr>
          <p:cNvPr id="22" name="Picture 21" descr="qlabel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984248"/>
            <a:ext cx="502920" cy="310896"/>
          </a:xfrm>
          <a:prstGeom prst="rect">
            <a:avLst/>
          </a:prstGeom>
        </p:spPr>
      </p:pic>
      <p:pic>
        <p:nvPicPr>
          <p:cNvPr id="23" name="Picture 22" descr="i2m_yd_q0_M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31" y="1709928"/>
            <a:ext cx="731520" cy="9601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0" y="193852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57D24"/>
                </a:solidFill>
                <a:latin typeface="Aptos"/>
              </a:rPr>
              <a:t>=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828800"/>
            <a:ext cx="1508760" cy="777240"/>
          </a:xfrm>
          <a:prstGeom prst="rect">
            <a:avLst/>
          </a:prstGeom>
          <a:solidFill>
            <a:srgbClr val="DEEAF1"/>
          </a:solidFill>
          <a:ln w="9525">
            <a:solidFill>
              <a:srgbClr val="2BA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qlabel_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361688"/>
            <a:ext cx="502920" cy="310896"/>
          </a:xfrm>
          <a:prstGeom prst="rect">
            <a:avLst/>
          </a:prstGeom>
        </p:spPr>
      </p:pic>
      <p:pic>
        <p:nvPicPr>
          <p:cNvPr id="29" name="Picture 28" descr="i2m_yd_q1_Mon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431" y="4087368"/>
            <a:ext cx="731520" cy="9601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0" y="431596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57D24"/>
                </a:solidFill>
                <a:latin typeface="Aptos"/>
              </a:rPr>
              <a:t>=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4206240"/>
            <a:ext cx="1508760" cy="777240"/>
          </a:xfrm>
          <a:prstGeom prst="rect">
            <a:avLst/>
          </a:prstGeom>
          <a:solidFill>
            <a:srgbClr val="DEEAF1"/>
          </a:solidFill>
          <a:ln w="9525">
            <a:solidFill>
              <a:srgbClr val="2BA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Media Placeholder 6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8" name="Rectangle 7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9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Twinkl Cursive Looped Light"/>
              </a:rPr>
              <a:t>Fractions Recap — Mixed → Improper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7315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ptos"/>
              </a:rPr>
              <a:t>Tuesday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0" y="1024127"/>
            <a:ext cx="0" cy="5696713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1097280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127101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Watch and follow the steps.</a:t>
            </a:r>
          </a:p>
        </p:txBody>
      </p:sp>
      <p:pic>
        <p:nvPicPr>
          <p:cNvPr id="14" name="Picture 13" descr="m2i_ido_q_T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65376"/>
            <a:ext cx="128016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20240" y="1938528"/>
            <a:ext cx="4251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98D3"/>
                </a:solidFill>
                <a:latin typeface="Aptos"/>
              </a:rPr>
              <a:t>Step 1:  Multiply whole × denominator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286000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Aptos"/>
              </a:rPr>
              <a:t>2 × 7 = 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743200"/>
            <a:ext cx="4251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98D3"/>
                </a:solidFill>
                <a:latin typeface="Aptos"/>
              </a:rPr>
              <a:t>Step 2:  Add the numerator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090672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Aptos"/>
              </a:rPr>
              <a:t>14 + 5 =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5C2A"/>
                </a:solidFill>
                <a:latin typeface="Aptos"/>
              </a:rPr>
              <a:t>Answer:</a:t>
            </a:r>
          </a:p>
        </p:txBody>
      </p:sp>
      <p:pic>
        <p:nvPicPr>
          <p:cNvPr id="20" name="Picture 19" descr="m2i_ido_a_T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3675887"/>
            <a:ext cx="731520" cy="105156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115568"/>
            <a:ext cx="1097280" cy="4754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80960" y="1271016"/>
            <a:ext cx="423641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Now you try — convert to an improper fraction.</a:t>
            </a:r>
          </a:p>
        </p:txBody>
      </p:sp>
      <p:pic>
        <p:nvPicPr>
          <p:cNvPr id="23" name="Picture 22" descr="qlabel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847088"/>
            <a:ext cx="502920" cy="310896"/>
          </a:xfrm>
          <a:prstGeom prst="rect">
            <a:avLst/>
          </a:prstGeom>
        </p:spPr>
      </p:pic>
      <p:pic>
        <p:nvPicPr>
          <p:cNvPr id="24" name="Picture 23" descr="m2i_yd_q0_T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31" y="1709928"/>
            <a:ext cx="1143000" cy="960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83879" y="193852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57D24"/>
                </a:solidFill>
                <a:latin typeface="Aptos"/>
              </a:rPr>
              <a:t>=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828800"/>
            <a:ext cx="1280160" cy="777240"/>
          </a:xfrm>
          <a:prstGeom prst="rect">
            <a:avLst/>
          </a:prstGeom>
          <a:solidFill>
            <a:srgbClr val="DEEAF1"/>
          </a:solidFill>
          <a:ln w="9525">
            <a:solidFill>
              <a:srgbClr val="179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Media Placeholder 6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8" name="Rectangle 7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A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Twinkl Cursive Looped Light"/>
              </a:rPr>
              <a:t>Fractions Recap — Improper → 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7315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ptos"/>
              </a:rPr>
              <a:t>Tuesday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0" y="1024127"/>
            <a:ext cx="0" cy="5696713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1097280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1152144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Watch and follow the steps.</a:t>
            </a:r>
          </a:p>
        </p:txBody>
      </p:sp>
      <p:pic>
        <p:nvPicPr>
          <p:cNvPr id="14" name="Picture 13" descr="i2m_ido_q_T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19"/>
            <a:ext cx="73152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45920" y="1755648"/>
            <a:ext cx="45262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AE62"/>
                </a:solidFill>
                <a:latin typeface="Aptos"/>
              </a:rPr>
              <a:t>Step 1:  Divide numerator ÷ denominator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103120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ptos"/>
              </a:rPr>
              <a:t>19 ÷ 6 = 3  remainder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560320"/>
            <a:ext cx="4526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AE62"/>
                </a:solidFill>
                <a:latin typeface="Aptos"/>
              </a:rPr>
              <a:t>Step 2:  Whole = quotient, fraction = remainder / divisor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5876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5C2A"/>
                </a:solidFill>
                <a:latin typeface="Aptos"/>
              </a:rPr>
              <a:t>Answer:</a:t>
            </a:r>
          </a:p>
        </p:txBody>
      </p:sp>
      <p:pic>
        <p:nvPicPr>
          <p:cNvPr id="19" name="Picture 18" descr="i2m_ido_a_T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675887"/>
            <a:ext cx="1097280" cy="105156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115568"/>
            <a:ext cx="1097280" cy="4754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80960" y="1271016"/>
            <a:ext cx="423641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Now you try — convert to a mixed number.</a:t>
            </a:r>
          </a:p>
        </p:txBody>
      </p:sp>
      <p:pic>
        <p:nvPicPr>
          <p:cNvPr id="22" name="Picture 21" descr="qlabel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984248"/>
            <a:ext cx="502920" cy="310896"/>
          </a:xfrm>
          <a:prstGeom prst="rect">
            <a:avLst/>
          </a:prstGeom>
        </p:spPr>
      </p:pic>
      <p:pic>
        <p:nvPicPr>
          <p:cNvPr id="23" name="Picture 22" descr="i2m_yd_q0_Tu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31" y="1709928"/>
            <a:ext cx="731520" cy="9601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0" y="193852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57D24"/>
                </a:solidFill>
                <a:latin typeface="Aptos"/>
              </a:rPr>
              <a:t>=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828800"/>
            <a:ext cx="1508760" cy="777240"/>
          </a:xfrm>
          <a:prstGeom prst="rect">
            <a:avLst/>
          </a:prstGeom>
          <a:solidFill>
            <a:srgbClr val="DEEAF1"/>
          </a:solidFill>
          <a:ln w="9525">
            <a:solidFill>
              <a:srgbClr val="2BA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qlabel_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361688"/>
            <a:ext cx="502920" cy="310896"/>
          </a:xfrm>
          <a:prstGeom prst="rect">
            <a:avLst/>
          </a:prstGeom>
        </p:spPr>
      </p:pic>
      <p:pic>
        <p:nvPicPr>
          <p:cNvPr id="29" name="Picture 28" descr="i2m_yd_q1_Tu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431" y="4087368"/>
            <a:ext cx="731520" cy="9601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0" y="431596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57D24"/>
                </a:solidFill>
                <a:latin typeface="Aptos"/>
              </a:rPr>
              <a:t>=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4206240"/>
            <a:ext cx="1508760" cy="777240"/>
          </a:xfrm>
          <a:prstGeom prst="rect">
            <a:avLst/>
          </a:prstGeom>
          <a:solidFill>
            <a:srgbClr val="DEEAF1"/>
          </a:solidFill>
          <a:ln w="9525">
            <a:solidFill>
              <a:srgbClr val="2BA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EEC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Media Placeholder 6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8" name="Rectangle 7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798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Twinkl Cursive Looped Light"/>
              </a:rPr>
              <a:t>Fractions Recap — Mixed → Improper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7315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ptos"/>
              </a:rPr>
              <a:t>Wednesday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0" y="1024127"/>
            <a:ext cx="0" cy="5696713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1097280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371600" y="1271016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Watch and follow the steps.</a:t>
            </a:r>
          </a:p>
        </p:txBody>
      </p:sp>
      <p:pic>
        <p:nvPicPr>
          <p:cNvPr id="14" name="Picture 13" descr="m2i_ido_q_W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65376"/>
            <a:ext cx="128016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920240" y="1938528"/>
            <a:ext cx="4251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98D3"/>
                </a:solidFill>
                <a:latin typeface="Aptos"/>
              </a:rPr>
              <a:t>Step 1:  Multiply whole × denominator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286000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Aptos"/>
              </a:rPr>
              <a:t>5 × 3 = 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2743200"/>
            <a:ext cx="425195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798D3"/>
                </a:solidFill>
                <a:latin typeface="Aptos"/>
              </a:rPr>
              <a:t>Step 2:  Add the numerator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3090672"/>
            <a:ext cx="32004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Aptos"/>
              </a:rPr>
              <a:t>15 + 1 = 16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58768"/>
            <a:ext cx="1280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5C2A"/>
                </a:solidFill>
                <a:latin typeface="Aptos"/>
              </a:rPr>
              <a:t>Answer:</a:t>
            </a:r>
          </a:p>
        </p:txBody>
      </p:sp>
      <p:pic>
        <p:nvPicPr>
          <p:cNvPr id="20" name="Picture 19" descr="m2i_ido_a_W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3080" y="3675887"/>
            <a:ext cx="731520" cy="105156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115568"/>
            <a:ext cx="1097280" cy="47548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7680960" y="1271016"/>
            <a:ext cx="423641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Now you try — convert to an improper fraction.</a:t>
            </a:r>
          </a:p>
        </p:txBody>
      </p:sp>
      <p:pic>
        <p:nvPicPr>
          <p:cNvPr id="23" name="Picture 22" descr="qlabel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847088"/>
            <a:ext cx="502920" cy="310896"/>
          </a:xfrm>
          <a:prstGeom prst="rect">
            <a:avLst/>
          </a:prstGeom>
        </p:spPr>
      </p:pic>
      <p:pic>
        <p:nvPicPr>
          <p:cNvPr id="24" name="Picture 23" descr="m2i_yd_q0_W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31" y="1709928"/>
            <a:ext cx="1143000" cy="9601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183879" y="193852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57D24"/>
                </a:solidFill>
                <a:latin typeface="Aptos"/>
              </a:rPr>
              <a:t>=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828800"/>
            <a:ext cx="1280160" cy="777240"/>
          </a:xfrm>
          <a:prstGeom prst="rect">
            <a:avLst/>
          </a:prstGeom>
          <a:solidFill>
            <a:srgbClr val="DEEAF1"/>
          </a:solidFill>
          <a:ln w="9525">
            <a:solidFill>
              <a:srgbClr val="1798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7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/>
        </p:txBody>
      </p:sp>
      <p:sp>
        <p:nvSpPr>
          <p:cNvPr id="7" name="Media Placeholder 6"/>
          <p:cNvSpPr>
            <a:spLocks noGrp="1"/>
          </p:cNvSpPr>
          <p:nvPr>
            <p:ph type="media" idx="13" sz="quarter"/>
          </p:nvPr>
        </p:nvSpPr>
        <p:spPr/>
      </p:sp>
      <p:sp>
        <p:nvSpPr>
          <p:cNvPr id="8" name="Rectangle 7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2BAE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73152"/>
            <a:ext cx="8686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0">
                <a:solidFill>
                  <a:srgbClr val="FFFFFF"/>
                </a:solidFill>
                <a:latin typeface="Twinkl Cursive Looped Light"/>
              </a:rPr>
              <a:t>Fractions Recap — Improper → Mixed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73152"/>
            <a:ext cx="28346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800" b="1">
                <a:solidFill>
                  <a:srgbClr val="FFFFFF"/>
                </a:solidFill>
                <a:latin typeface="Aptos"/>
              </a:rPr>
              <a:t>Wednesday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17920" y="1024127"/>
            <a:ext cx="0" cy="5696713"/>
          </a:xfrm>
          <a:prstGeom prst="line">
            <a:avLst/>
          </a:prstGeom>
          <a:ln w="9525">
            <a:solidFill>
              <a:srgbClr val="BBBBB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15568"/>
            <a:ext cx="1097280" cy="47548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554480" y="1152144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Watch and follow the steps.</a:t>
            </a:r>
          </a:p>
        </p:txBody>
      </p:sp>
      <p:pic>
        <p:nvPicPr>
          <p:cNvPr id="14" name="Picture 13" descr="i2m_ido_q_W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645919"/>
            <a:ext cx="731520" cy="1051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645920" y="1755648"/>
            <a:ext cx="4526279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AE62"/>
                </a:solidFill>
                <a:latin typeface="Aptos"/>
              </a:rPr>
              <a:t>Step 1:  Divide numerator ÷ denominator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2103120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Aptos"/>
              </a:rPr>
              <a:t>31 ÷ 8 = 3  remainder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2560320"/>
            <a:ext cx="4526279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2BAE62"/>
                </a:solidFill>
                <a:latin typeface="Aptos"/>
              </a:rPr>
              <a:t>Step 2:  Whole = quotient, fraction = remainder / divisor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" y="3858768"/>
            <a:ext cx="1234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A5C2A"/>
                </a:solidFill>
                <a:latin typeface="Aptos"/>
              </a:rPr>
              <a:t>Answer:</a:t>
            </a:r>
          </a:p>
        </p:txBody>
      </p:sp>
      <p:pic>
        <p:nvPicPr>
          <p:cNvPr id="19" name="Picture 18" descr="i2m_ido_a_W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1640" y="3675887"/>
            <a:ext cx="1097280" cy="105156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115568"/>
            <a:ext cx="1097280" cy="47548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80960" y="1271016"/>
            <a:ext cx="4236415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444444"/>
                </a:solidFill>
                <a:latin typeface="Aptos"/>
              </a:rPr>
              <a:t>Now you try — convert to a mixed number.</a:t>
            </a:r>
          </a:p>
        </p:txBody>
      </p:sp>
      <p:pic>
        <p:nvPicPr>
          <p:cNvPr id="22" name="Picture 21" descr="qlabel_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1984248"/>
            <a:ext cx="502920" cy="310896"/>
          </a:xfrm>
          <a:prstGeom prst="rect">
            <a:avLst/>
          </a:prstGeom>
        </p:spPr>
      </p:pic>
      <p:pic>
        <p:nvPicPr>
          <p:cNvPr id="23" name="Picture 22" descr="i2m_yd_q0_W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85431" y="1709928"/>
            <a:ext cx="731520" cy="9601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72400" y="193852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57D24"/>
                </a:solidFill>
                <a:latin typeface="Aptos"/>
              </a:rPr>
              <a:t>=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75320" y="1828800"/>
            <a:ext cx="1508760" cy="777240"/>
          </a:xfrm>
          <a:prstGeom prst="rect">
            <a:avLst/>
          </a:prstGeom>
          <a:solidFill>
            <a:srgbClr val="DEEAF1"/>
          </a:solidFill>
          <a:ln w="9525">
            <a:solidFill>
              <a:srgbClr val="2BA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qlabel_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46520" y="4361688"/>
            <a:ext cx="502920" cy="310896"/>
          </a:xfrm>
          <a:prstGeom prst="rect">
            <a:avLst/>
          </a:prstGeom>
        </p:spPr>
      </p:pic>
      <p:pic>
        <p:nvPicPr>
          <p:cNvPr id="29" name="Picture 28" descr="i2m_yd_q1_W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85431" y="4087368"/>
            <a:ext cx="731520" cy="96012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7772400" y="4315968"/>
            <a:ext cx="411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E57D24"/>
                </a:solidFill>
                <a:latin typeface="Aptos"/>
              </a:rPr>
              <a:t>=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20" y="4206240"/>
            <a:ext cx="1508760" cy="777240"/>
          </a:xfrm>
          <a:prstGeom prst="rect">
            <a:avLst/>
          </a:prstGeom>
          <a:solidFill>
            <a:srgbClr val="DEEAF1"/>
          </a:solidFill>
          <a:ln w="9525">
            <a:solidFill>
              <a:srgbClr val="2BAE6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err="1" smtClean="0">
            <a:latin typeface="Twinkl Cursive Looped Light" panose="02000000000000000000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0" id="{1BD95F8B-D119-184E-B461-EB96D434B869}" vid="{751A4A59-1635-514C-9025-B9911AE6E5D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71695694772F44B387615DF8DED97F" ma:contentTypeVersion="16" ma:contentTypeDescription="Create a new document." ma:contentTypeScope="" ma:versionID="6b988a150421d80c99f84aa2bfb3de38">
  <xsd:schema xmlns:xsd="http://www.w3.org/2001/XMLSchema" xmlns:xs="http://www.w3.org/2001/XMLSchema" xmlns:p="http://schemas.microsoft.com/office/2006/metadata/properties" xmlns:ns2="9e6dd442-da5e-411e-833f-0fee7dcd7819" xmlns:ns3="4848fd07-94db-4308-8950-9cb0e230b958" targetNamespace="http://schemas.microsoft.com/office/2006/metadata/properties" ma:root="true" ma:fieldsID="0840e1ae8104f568f88bbc0ee80d0ce2" ns2:_="" ns3:_="">
    <xsd:import namespace="9e6dd442-da5e-411e-833f-0fee7dcd7819"/>
    <xsd:import namespace="4848fd07-94db-4308-8950-9cb0e230b9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6dd442-da5e-411e-833f-0fee7dcd78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d08261e-ebf2-489e-9cf5-3c5ddf1ef55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48fd07-94db-4308-8950-9cb0e230b95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0903c9d-9125-4551-886d-abbd3fd64318}" ma:internalName="TaxCatchAll" ma:showField="CatchAllData" ma:web="4848fd07-94db-4308-8950-9cb0e230b9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9e6dd442-da5e-411e-833f-0fee7dcd7819">
      <Terms xmlns="http://schemas.microsoft.com/office/infopath/2007/PartnerControls"/>
    </lcf76f155ced4ddcb4097134ff3c332f>
    <TaxCatchAll xmlns="4848fd07-94db-4308-8950-9cb0e230b95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7A4E24F-1B38-454E-8089-0BD97B1C5B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6dd442-da5e-411e-833f-0fee7dcd7819"/>
    <ds:schemaRef ds:uri="4848fd07-94db-4308-8950-9cb0e230b9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23CE296-60E4-4853-B3BD-F33DDF6ED904}">
  <ds:schemaRefs>
    <ds:schemaRef ds:uri="http://purl.org/dc/elements/1.1/"/>
    <ds:schemaRef ds:uri="http://purl.org/dc/terms/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4848fd07-94db-4308-8950-9cb0e230b958"/>
    <ds:schemaRef ds:uri="9e6dd442-da5e-411e-833f-0fee7dcd7819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1689B1C0-FAA9-4C87-B6A9-158CCD6B193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132</Words>
  <Application>Microsoft Macintosh PowerPoint</Application>
  <PresentationFormat>Widescreen</PresentationFormat>
  <Paragraphs>29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Arial</vt:lpstr>
      <vt:lpstr>Twinkl Cursive Looped Light</vt:lpstr>
      <vt:lpstr>Office Theme</vt:lpstr>
      <vt:lpstr>Rapid Maths – Day 1</vt:lpstr>
      <vt:lpstr>Rapid Maths – Answers – Day 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innes mclean</dc:creator>
  <cp:lastModifiedBy>innes mclean</cp:lastModifiedBy>
  <cp:revision>1</cp:revision>
  <dcterms:created xsi:type="dcterms:W3CDTF">2026-03-28T09:24:09Z</dcterms:created>
  <dcterms:modified xsi:type="dcterms:W3CDTF">2026-03-28T09:29:35Z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0x010100AC71695694772F44B387615DF8DED97F</vt:lpwstr>
  </property>
</Properties>
</file>