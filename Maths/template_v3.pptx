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9"/>
    <p:sldId id="273" r:id="rId8"/>
    <p:sldId id="274" r:id="rId7"/>
    <p:sldId id="275" r:id="rId6"/>
    <p:sldId id="276" r:id="rId5"/>
    <p:sldId id="27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9001"/>
    <a:srgbClr val="FFFD78"/>
    <a:srgbClr val="40C070"/>
    <a:srgbClr val="DEECF8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15"/>
    <p:restoredTop sz="94684"/>
  </p:normalViewPr>
  <p:slideViewPr>
    <p:cSldViewPr snapToGrid="0">
      <p:cViewPr varScale="1">
        <p:scale>
          <a:sx n="108" d="100"/>
          <a:sy n="108" d="100"/>
        </p:scale>
        <p:origin x="224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21.xml"/><Relationship Id="rId6" Type="http://schemas.openxmlformats.org/officeDocument/2006/relationships/slide" Target="slides/slide20.xml"/><Relationship Id="rId7" Type="http://schemas.openxmlformats.org/officeDocument/2006/relationships/slide" Target="slides/slide19.xml"/><Relationship Id="rId8" Type="http://schemas.openxmlformats.org/officeDocument/2006/relationships/slide" Target="slides/slide18.xml"/><Relationship Id="rId9" Type="http://schemas.openxmlformats.org/officeDocument/2006/relationships/slide" Target="slides/slide17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D35C6-7CAD-4548-AC6E-52C001648DF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B2F9C-EE91-734B-A47F-E925A8D890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40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QUESTION — Coordinates</a:t>
            </a:r>
          </a:p>
          <a:p>
            <a:r>
              <a:t>How can we describe exactly where something is?</a:t>
            </a:r>
          </a:p>
          <a:p>
            <a:r>
              <a:t>Same slide used for all lessons in this topic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TITLE — Day 1 (Monday)</a:t>
            </a:r>
          </a:p>
          <a:p>
            <a:r>
              <a:t>Topic: Coordinates</a:t>
            </a:r>
          </a:p>
          <a:p>
            <a:r>
              <a:t>LI: Pupils give directions from one position to another on a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DO — Learning Objective</a:t>
            </a:r>
          </a:p>
          <a:p>
            <a:r>
              <a:t>WALT: …give directions from one place to another on a grid.</a:t>
            </a:r>
          </a:p>
          <a:p>
            <a:r>
              <a:t>TIOB: …being able to describe exactly where something is and how to get there is a skill we use in maps, plans and many other areas of maths.</a:t>
            </a:r>
          </a:p>
          <a:p>
            <a:r>
              <a:t>IWSTB: …writing clear directions using left, right, up and down with a number of steps, and checking them by tracing the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 — WM Number Sequence</a:t>
            </a:r>
          </a:p>
          <a:p>
            <a:r>
              <a:t>Numbers: [7, 13, 4, 28, 11, 5, 19]</a:t>
            </a:r>
          </a:p>
          <a:p>
            <a:r>
              <a:t>Click reveals numbers, cover reappears after 15s.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 — WM Q&amp;A</a:t>
            </a:r>
          </a:p>
          <a:p>
            <a:r>
              <a:t>All cards hidden at start. Reveal: Q1→A1→Q2→A2→Q3→A3→Q4→A4→Q5→A5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 — Rapid Maths Day 1</a:t>
            </a:r>
          </a:p>
          <a:p>
            <a:r>
              <a:t>Q1 (Place Value): What is the value of the digit 4 in 34,512? → 4,000</a:t>
            </a:r>
          </a:p>
          <a:p>
            <a:r>
              <a:t>Q2 (Fractions and Decimals): What is 1/2 as a decimal? → 0.5</a:t>
            </a:r>
          </a:p>
          <a:p>
            <a:r>
              <a:t>Q3 (Multiplication / Division): What is 7 × 8? → 56</a:t>
            </a:r>
          </a:p>
          <a:p>
            <a:r>
              <a:t>Q4 (Geometry): How many sides does a hexagon have? → 6</a:t>
            </a:r>
          </a:p>
          <a:p>
            <a:r>
              <a:t>Q5 (Measurement): How many centimetres are in 2 metres? → 200 cm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 — RM Answers Day 1</a:t>
            </a:r>
          </a:p>
          <a:p>
            <a:r>
              <a:t>Q1: 4,000</a:t>
            </a:r>
          </a:p>
          <a:p>
            <a:r>
              <a:t>Q2: 0.5</a:t>
            </a:r>
          </a:p>
          <a:p>
            <a:r>
              <a:t>Q3: 56</a:t>
            </a:r>
          </a:p>
          <a:p>
            <a:r>
              <a:t>Q4: 6</a:t>
            </a:r>
          </a:p>
          <a:p>
            <a:r>
              <a:t>Q5: 200 cm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DO — Vocabulary</a:t>
            </a:r>
          </a:p>
          <a:p>
            <a:r>
              <a:t>Words: ['grid', 'direction', 'steps', 'route', 'position']</a:t>
            </a:r>
          </a:p>
          <a:p>
            <a:r>
              <a:t>Word 1 visible at start; each definition and subsequent word revealed per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DO C1 — Narrate: 'From A, I move 3 right, then 2 up, and I arrive at B.'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DO C1 — Key question: does the order of moves change the destination?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DO C1 — Pupils tell the teacher what moves to make. Compare correct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 (TRIOS)</a:t>
            </a:r>
          </a:p>
          <a:p>
            <a:r>
              <a:t>Swap roles each round — aim for 3 complete journeys each.</a:t>
            </a:r>
          </a:p>
          <a:p>
            <a:r>
              <a:t>Challenge: Can you find two different direction sequences that produce the same journey?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 (INDEPENDENT) — C1</a:t>
            </a:r>
          </a:p>
          <a:p>
            <a:r>
              <a:t>Printed grid with 4 start/end pairs. Write directions for each. Mark the route taken.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 (INDEPENDENT)</a:t>
            </a:r>
          </a:p>
          <a:p>
            <a:r>
              <a:t>Learning Paper 1</a:t>
            </a:r>
          </a:p>
          <a:p>
            <a:r>
              <a:t>Leave blank — Innes adds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 (INDEPENDENT)</a:t>
            </a:r>
          </a:p>
          <a:p>
            <a:r>
              <a:t>Marking Station 1</a:t>
            </a:r>
          </a:p>
          <a:p>
            <a:r>
              <a:t>Leave blank — Innes adds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DO C2 — Model leg 1 (A→B): 2 right, 1 up. Leg 2 (B→C): 2 right, 3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DO — Spot the Mistake (3-beat animated)</a:t>
            </a:r>
          </a:p>
          <a:p>
            <a:r>
              <a:t>Beat 1 (load): Grid + instruction visible. Ask: 'What do you notice?'</a:t>
            </a:r>
          </a:p>
          <a:p>
            <a:r>
              <a:t>Beat 2 (click 1): ✗ appears at landing position. Ask: 'Where does it end up?'</a:t>
            </a:r>
          </a:p>
          <a:p>
            <a:r>
              <a:t>Beat 3 (click 2): Explanation revealed.</a:t>
            </a:r>
          </a:p>
          <a:p/>
          <a:p>
            <a:r>
              <a:t>I DO C2 — Spot the Mistake</a:t>
            </a:r>
          </a:p>
          <a:p>
            <a:r>
              <a:t>Concept: Move lands off the grid — direction count not checked against grid boundary</a:t>
            </a:r>
          </a:p>
          <a:p>
            <a:r>
              <a:t>Beat 1 (load): Grid + instruction visible.</a:t>
            </a:r>
          </a:p>
          <a:p>
            <a:r>
              <a:t>Beat 2 (click 1): X appears at error position.</a:t>
            </a:r>
          </a:p>
          <a:p>
            <a:r>
              <a:t>Beat 3 (click 2): Explanation revealed.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 (TRIOS)</a:t>
            </a:r>
          </a:p>
          <a:p>
            <a:r>
              <a:t>Each trio creates a three-stop journey on a grid, writes the directions for each leg, and swaps with another trio to check.</a:t>
            </a:r>
          </a:p>
          <a:p>
            <a:r>
              <a:t>Challenge: Can you find two different sets of directions for the same journey?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 (INDEPENDENT) — C2</a:t>
            </a:r>
          </a:p>
          <a:p>
            <a:r>
              <a:t>Write directions for 3 three-stop journeys on a printed grid. Extension: describe the return journey for one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 (INDEPENDENT)</a:t>
            </a:r>
          </a:p>
          <a:p>
            <a:r>
              <a:t>Learning Paper 2</a:t>
            </a:r>
          </a:p>
          <a:p>
            <a:r>
              <a:t>Leave blank — Innes adds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 (INDEPENDENT)</a:t>
            </a:r>
          </a:p>
          <a:p>
            <a:r>
              <a:t>Marking Station 2</a:t>
            </a:r>
          </a:p>
          <a:p>
            <a:r>
              <a:t>Leave blank — Innes adds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DO — Learning Review</a:t>
            </a:r>
          </a:p>
          <a:p>
            <a:r>
              <a:t>Stem 1: To give directions on a grid, I...</a:t>
            </a:r>
          </a:p>
          <a:p>
            <a:r>
              <a:t>Stem 2: I found it tricky when...</a:t>
            </a:r>
          </a:p>
          <a:p>
            <a:r>
              <a:t>Stem 3: I could check my directions were right by...</a:t>
            </a:r>
          </a:p>
          <a:p/>
          <a:p>
            <a:r>
              <a:t>Stand to speak. Learning intelligence icons prompt discussion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C184-DD25-15C4-015E-EBFC40381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66835-322C-61EF-69F3-77029B5D4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ED561-F7B6-4EFA-3636-8D6E84A9B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AD407-E5AF-F592-7868-F6159238F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AA389-1879-6EBB-1699-B454B0E3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42A011-4401-4A32-2E8A-4BA0473FCD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B586524A-BD3F-86FA-7CE2-6F80F5901BB6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82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close-up of a card&#10;&#10;Description automatically generated">
            <a:extLst>
              <a:ext uri="{FF2B5EF4-FFF2-40B4-BE49-F238E27FC236}">
                <a16:creationId xmlns:a16="http://schemas.microsoft.com/office/drawing/2014/main" id="{FD25676D-13E6-C1C0-5C8A-5986F28323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211" y="136525"/>
            <a:ext cx="1359177" cy="670279"/>
          </a:xfrm>
          <a:prstGeom prst="rect">
            <a:avLst/>
          </a:prstGeom>
        </p:spPr>
      </p:pic>
      <p:sp>
        <p:nvSpPr>
          <p:cNvPr id="8" name="Media Placeholder 8">
            <a:extLst>
              <a:ext uri="{FF2B5EF4-FFF2-40B4-BE49-F238E27FC236}">
                <a16:creationId xmlns:a16="http://schemas.microsoft.com/office/drawing/2014/main" id="{F312437F-7809-0AAA-2C7B-8774A55DF303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close-up of a pink sign&#10;&#10;Description automatically generated">
            <a:extLst>
              <a:ext uri="{FF2B5EF4-FFF2-40B4-BE49-F238E27FC236}">
                <a16:creationId xmlns:a16="http://schemas.microsoft.com/office/drawing/2014/main" id="{6BAA6382-4CD1-57C8-5CE1-796DB9D5EA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0078" y="136525"/>
            <a:ext cx="1501922" cy="645454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E4E89A89-3CFD-194C-3963-C8547EE8F89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62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pink background with a cartoon character&#10;&#10;Description automatically generated">
            <a:extLst>
              <a:ext uri="{FF2B5EF4-FFF2-40B4-BE49-F238E27FC236}">
                <a16:creationId xmlns:a16="http://schemas.microsoft.com/office/drawing/2014/main" id="{471E7CCF-06E5-C5ED-10F1-3AADDF1B29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4" y="136525"/>
            <a:ext cx="1477096" cy="608216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537CE4E2-4EA9-23E1-026D-E9644C05F12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40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I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green background with black text&#10;&#10;Description automatically generated">
            <a:extLst>
              <a:ext uri="{FF2B5EF4-FFF2-40B4-BE49-F238E27FC236}">
                <a16:creationId xmlns:a16="http://schemas.microsoft.com/office/drawing/2014/main" id="{0B5E4881-D395-D820-8C55-3FE63D4D97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5" y="136525"/>
            <a:ext cx="1477095" cy="614422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F7EB1FDF-CC20-386A-D505-4F002F47DE9C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2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2B028-48FA-A020-20C2-4D8AB5E76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8ED87-60D9-0A91-F7A5-6EC9EDB76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BEF50-E30D-B113-05A6-A5002BCFC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75C14-D20E-18EA-A151-41D49FE0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9D468-1C9D-56DB-8A47-117B17E0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9D0DD-797F-0814-4724-15C10964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Media Placeholder 8">
            <a:extLst>
              <a:ext uri="{FF2B5EF4-FFF2-40B4-BE49-F238E27FC236}">
                <a16:creationId xmlns:a16="http://schemas.microsoft.com/office/drawing/2014/main" id="{04DA42A8-0ACE-BF63-515D-9A42B554D8C2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5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CD606-625C-AD6F-7685-6B3875376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FA711-20C9-1855-A2A7-70494876B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06C4F-1083-4167-7DB8-BF147B549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838C2-94F5-B119-F94F-C7E7A8FC7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9F157D-5813-40F9-7A2B-86EFDE43B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A0128D-9DBC-F783-5938-FF937C09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3FC24E-7ABC-71DA-FE5E-3CD3C6C44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D3AC60-E11D-DD5B-C7F1-15EDD4C98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Media Placeholder 8">
            <a:extLst>
              <a:ext uri="{FF2B5EF4-FFF2-40B4-BE49-F238E27FC236}">
                <a16:creationId xmlns:a16="http://schemas.microsoft.com/office/drawing/2014/main" id="{240D8869-214D-34CF-4D72-42A3FB0A5CC8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8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DE27-3917-5873-B219-6062AC3C0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7E8C4D-CFE1-27C5-ACFB-99780D91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4C2A3-A00E-B5EA-BF36-54B3D1C43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81897-A3D0-8FE9-FFB3-8C0611C1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6" name="Media Placeholder 8">
            <a:extLst>
              <a:ext uri="{FF2B5EF4-FFF2-40B4-BE49-F238E27FC236}">
                <a16:creationId xmlns:a16="http://schemas.microsoft.com/office/drawing/2014/main" id="{B89E3C10-91AD-30FE-6814-24C9ED6CD8C2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01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 Do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1B19B-2D34-E6EE-9B0E-E791BFCE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34ADB-1387-7E9B-BE06-BC69C6AC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F8EC-1D16-E916-777C-62CD5659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6F93E976-3037-C4A5-7A5D-6A5D5209B14A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pic>
        <p:nvPicPr>
          <p:cNvPr id="6" name="Picture 5" descr="A close-up of a card&#10;&#10;Description automatically generated">
            <a:extLst>
              <a:ext uri="{FF2B5EF4-FFF2-40B4-BE49-F238E27FC236}">
                <a16:creationId xmlns:a16="http://schemas.microsoft.com/office/drawing/2014/main" id="{DA57D4A3-B049-DE66-5451-72B09E589C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211" y="136525"/>
            <a:ext cx="1359177" cy="67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022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1B19B-2D34-E6EE-9B0E-E791BFCE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34ADB-1387-7E9B-BE06-BC69C6AC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F8EC-1D16-E916-777C-62CD5659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6F93E976-3037-C4A5-7A5D-6A5D5209B14A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pic>
        <p:nvPicPr>
          <p:cNvPr id="7" name="Picture 6" descr="A close-up of a pink sign&#10;&#10;Description automatically generated">
            <a:extLst>
              <a:ext uri="{FF2B5EF4-FFF2-40B4-BE49-F238E27FC236}">
                <a16:creationId xmlns:a16="http://schemas.microsoft.com/office/drawing/2014/main" id="{32547A0B-5A8D-57A6-267C-A128F43D2A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0078" y="136525"/>
            <a:ext cx="1501922" cy="64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10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1B19B-2D34-E6EE-9B0E-E791BFCE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34ADB-1387-7E9B-BE06-BC69C6AC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F8EC-1D16-E916-777C-62CD5659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6F93E976-3037-C4A5-7A5D-6A5D5209B14A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pic>
        <p:nvPicPr>
          <p:cNvPr id="7" name="Picture 6" descr="A pink background with a cartoon character&#10;&#10;Description automatically generated">
            <a:extLst>
              <a:ext uri="{FF2B5EF4-FFF2-40B4-BE49-F238E27FC236}">
                <a16:creationId xmlns:a16="http://schemas.microsoft.com/office/drawing/2014/main" id="{EA5D93D5-1AA4-7FAB-95A3-1E23723A81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4" y="136525"/>
            <a:ext cx="1477096" cy="60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151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Ind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1B19B-2D34-E6EE-9B0E-E791BFCE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34ADB-1387-7E9B-BE06-BC69C6AC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F8EC-1D16-E916-777C-62CD5659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6F93E976-3037-C4A5-7A5D-6A5D5209B14A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pic>
        <p:nvPicPr>
          <p:cNvPr id="7" name="Picture 6" descr="A green background with black text&#10;&#10;Description automatically generated">
            <a:extLst>
              <a:ext uri="{FF2B5EF4-FFF2-40B4-BE49-F238E27FC236}">
                <a16:creationId xmlns:a16="http://schemas.microsoft.com/office/drawing/2014/main" id="{A59801E9-ADA9-46FD-C635-5B8320C218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5" y="136525"/>
            <a:ext cx="1477095" cy="6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333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1B19B-2D34-E6EE-9B0E-E791BFCE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34ADB-1387-7E9B-BE06-BC69C6AC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F8EC-1D16-E916-777C-62CD5659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458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7772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3E219-9D08-E086-012A-E19B38DA5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1F7DA-0CCE-ACAA-4C72-F8070A170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E5B30-657F-37CD-1E3D-2EFAD3D39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50FFC714-CD1F-1F47-9B04-0D0894B2988C}" type="datetimeFigureOut">
              <a:rPr lang="en-GB" smtClean="0"/>
              <a:pPr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A83DC-6B0C-710A-7700-D6C96F367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2950C-B405-7AF7-EA6A-70B2884A1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2082E964-443D-C44D-AA24-C6EC26BE89C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C74CBD-5CCA-A2E4-4E13-311FD5492F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inkl Cursive Looped Light" panose="02000000000000000000" pitchFamily="2" charset="77"/>
            </a:endParaRPr>
          </a:p>
        </p:txBody>
      </p:sp>
      <p:pic>
        <p:nvPicPr>
          <p:cNvPr id="8" name="Picture 7" descr="A black background with graphics and symbols&#10;&#10;Description automatically generated">
            <a:extLst>
              <a:ext uri="{FF2B5EF4-FFF2-40B4-BE49-F238E27FC236}">
                <a16:creationId xmlns:a16="http://schemas.microsoft.com/office/drawing/2014/main" id="{9A5B9FFB-DD02-A26E-66CD-26FA349E3AB7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2190" y="122848"/>
            <a:ext cx="550953" cy="47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8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3" r:id="rId4"/>
    <p:sldLayoutId id="2147483664" r:id="rId5"/>
    <p:sldLayoutId id="2147483652" r:id="rId6"/>
    <p:sldLayoutId id="2147483653" r:id="rId7"/>
    <p:sldLayoutId id="2147483654" r:id="rId8"/>
    <p:sldLayoutId id="2147483655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 Light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" y="85039"/>
            <a:ext cx="9290304" cy="3046780"/>
          </a:xfrm>
          <a:prstGeom prst="rect">
            <a:avLst/>
          </a:prstGeom>
        </p:spPr>
      </p:pic>
      <p:sp>
        <p:nvSpPr>
          <p:cNvPr id="30" name="KQText"/>
          <p:cNvSpPr/>
          <p:nvPr/>
        </p:nvSpPr>
        <p:spPr>
          <a:xfrm>
            <a:off x="4511649" y="1014984"/>
            <a:ext cx="5396788" cy="1371600"/>
          </a:xfrm>
          <a:prstGeom prst="rect">
            <a:avLst/>
          </a:prstGeom>
          <a:noFill/>
          <a:ln w="0">
            <a:noFill/>
          </a:ln>
        </p:spPr>
        <p:txBody>
          <a:bodyPr rtlCol="0" anchor="t"/>
          <a:lstStyle/>
          <a:p>
            <a:pPr algn="l"/>
            <a:r>
              <a:rPr lang="en-GB" sz="2600" dirty="0">
                <a:solidFill>
                  <a:srgbClr val="000000"/>
                </a:solidFill>
                <a:latin typeface="Twinkl Cursive Looped"/>
              </a:rPr>
              <a:t>How can we describe exactly where something is?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399" y="2837383"/>
            <a:ext cx="5905195" cy="2794406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784" y="5340096"/>
            <a:ext cx="1106424" cy="961948"/>
          </a:xfrm>
          <a:prstGeom prst="rect">
            <a:avLst/>
          </a:prstGeom>
        </p:spPr>
      </p:pic>
      <p:sp>
        <p:nvSpPr>
          <p:cNvPr id="31" name="BAM"/>
          <p:cNvSpPr/>
          <p:nvPr/>
        </p:nvSpPr>
        <p:spPr>
          <a:xfrm>
            <a:off x="4511649" y="6250838"/>
            <a:ext cx="2813608" cy="392277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400" b="1" dirty="0">
                <a:solidFill>
                  <a:srgbClr val="000000"/>
                </a:solidFill>
                <a:latin typeface="Twinkl Cursive Looped Light"/>
              </a:rPr>
              <a:t>Being a Mathematician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M"/>
          <p:cNvSpPr/>
          <p:nvPr/>
        </p:nvSpPr>
        <p:spPr>
          <a:xfrm>
            <a:off x="2955340" y="1948586"/>
            <a:ext cx="6602882" cy="461772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000000"/>
                </a:solidFill>
                <a:latin typeface="Twinkl Cursive Looped Light"/>
              </a:rPr>
              <a:t>Being a Mathematician</a:t>
            </a:r>
          </a:p>
        </p:txBody>
      </p:sp>
      <p:sp>
        <p:nvSpPr>
          <p:cNvPr id="4" name="DayText"/>
          <p:cNvSpPr/>
          <p:nvPr/>
        </p:nvSpPr>
        <p:spPr>
          <a:xfrm>
            <a:off x="4100169" y="2238451"/>
            <a:ext cx="4118457" cy="1861718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0" dirty="0">
                <a:solidFill>
                  <a:srgbClr val="000000"/>
                </a:solidFill>
                <a:latin typeface="Twinkl Cursive Looped Light"/>
              </a:rPr>
              <a:t>Day 1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729" y="153619"/>
            <a:ext cx="1889150" cy="16422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707" y="3910888"/>
            <a:ext cx="5905195" cy="27944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7" name="Group 16">
            <a:extLst>
              <a:ext uri="{FF2B5EF4-FFF2-40B4-BE49-F238E27FC236}">
                <a16:creationId xmlns:a16="http://schemas.microsoft.com/office/drawing/2014/main" id="{E18D37A7-C77B-9004-0CAD-65144747963A}"/>
              </a:ext>
            </a:extLst>
          </p:cNvPr>
          <p:cNvGrpSpPr/>
          <p:nvPr/>
        </p:nvGrpSpPr>
        <p:grpSpPr>
          <a:xfrm>
            <a:off x="7413404" y="1190498"/>
            <a:ext cx="3447776" cy="4463856"/>
            <a:chOff x="7413404" y="1190498"/>
            <a:chExt cx="3447776" cy="4463856"/>
          </a:xfrm>
        </p:grpSpPr>
        <p:sp>
          <p:nvSpPr>
            <p:cNvPr id="4" name="Rounded Rectangle 23">
              <a:extLst>
                <a:ext uri="{FF2B5EF4-FFF2-40B4-BE49-F238E27FC236}">
                  <a16:creationId xmlns:a16="http://schemas.microsoft.com/office/drawing/2014/main" id="{BF1BFD3A-BED9-CFCF-047D-E80DCA9D3529}"/>
                </a:ext>
              </a:extLst>
            </p:cNvPr>
            <p:cNvSpPr/>
            <p:nvPr/>
          </p:nvSpPr>
          <p:spPr>
            <a:xfrm>
              <a:off x="7641965" y="1326408"/>
              <a:ext cx="3219215" cy="432794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463"/>
            </a:p>
          </p:txBody>
        </p:sp>
        <p:sp>
          <p:nvSpPr>
            <p:cNvPr id="9" name="Cloud Callout 20">
              <a:extLst>
                <a:ext uri="{FF2B5EF4-FFF2-40B4-BE49-F238E27FC236}">
                  <a16:creationId xmlns:a16="http://schemas.microsoft.com/office/drawing/2014/main" id="{784763EA-4F3E-67D8-9A76-65953CE98AE2}"/>
                </a:ext>
              </a:extLst>
            </p:cNvPr>
            <p:cNvSpPr/>
            <p:nvPr/>
          </p:nvSpPr>
          <p:spPr>
            <a:xfrm>
              <a:off x="9041505" y="1452019"/>
              <a:ext cx="1780139" cy="1145527"/>
            </a:xfrm>
            <a:prstGeom prst="cloudCallout">
              <a:avLst>
                <a:gd name="adj1" fmla="val -58088"/>
                <a:gd name="adj2" fmla="val 36610"/>
              </a:avLst>
            </a:prstGeom>
            <a:solidFill>
              <a:srgbClr val="DEECF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  <a:latin typeface="Twinkl Cursive Looped" panose="02000000000000000000" pitchFamily="2" charset="77"/>
                </a:rPr>
                <a:t>How will I know when I get there?</a:t>
              </a:r>
            </a:p>
          </p:txBody>
        </p:sp>
        <p:sp>
          <p:nvSpPr>
            <p:cNvPr id="14" name="Right Arrow 40">
              <a:extLst>
                <a:ext uri="{FF2B5EF4-FFF2-40B4-BE49-F238E27FC236}">
                  <a16:creationId xmlns:a16="http://schemas.microsoft.com/office/drawing/2014/main" id="{69DA531C-4D9E-AFB1-31D3-CEA5B1923DEC}"/>
                </a:ext>
              </a:extLst>
            </p:cNvPr>
            <p:cNvSpPr/>
            <p:nvPr/>
          </p:nvSpPr>
          <p:spPr>
            <a:xfrm>
              <a:off x="7413404" y="4146519"/>
              <a:ext cx="372092" cy="312039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3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2B33F87-7972-1C10-B0BF-085EC4B4B2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61793" b="81925" l="43765" r="56864"/>
                      </a14:imgEffect>
                    </a14:imgLayer>
                  </a14:imgProps>
                </a:ext>
              </a:extLst>
            </a:blip>
            <a:srcRect l="42128" t="59276" r="41499" b="15559"/>
            <a:stretch/>
          </p:blipFill>
          <p:spPr>
            <a:xfrm>
              <a:off x="7641965" y="1190498"/>
              <a:ext cx="1388277" cy="2023138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40B1D3-46C2-81B3-3123-8D68A3820D98}"/>
              </a:ext>
            </a:extLst>
          </p:cNvPr>
          <p:cNvGrpSpPr/>
          <p:nvPr/>
        </p:nvGrpSpPr>
        <p:grpSpPr>
          <a:xfrm>
            <a:off x="4212765" y="1326408"/>
            <a:ext cx="3318976" cy="4327945"/>
            <a:chOff x="4212765" y="1326408"/>
            <a:chExt cx="3318976" cy="4327945"/>
          </a:xfrm>
        </p:grpSpPr>
        <p:sp>
          <p:nvSpPr>
            <p:cNvPr id="5" name="Rounded Rectangle 22">
              <a:extLst>
                <a:ext uri="{FF2B5EF4-FFF2-40B4-BE49-F238E27FC236}">
                  <a16:creationId xmlns:a16="http://schemas.microsoft.com/office/drawing/2014/main" id="{96AEB0BA-9375-43FE-015C-8F24C5688CBA}"/>
                </a:ext>
              </a:extLst>
            </p:cNvPr>
            <p:cNvSpPr/>
            <p:nvPr/>
          </p:nvSpPr>
          <p:spPr>
            <a:xfrm>
              <a:off x="4389476" y="1326408"/>
              <a:ext cx="3142265" cy="432794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463"/>
            </a:p>
          </p:txBody>
        </p:sp>
        <p:sp>
          <p:nvSpPr>
            <p:cNvPr id="8" name="Cloud Callout 17">
              <a:extLst>
                <a:ext uri="{FF2B5EF4-FFF2-40B4-BE49-F238E27FC236}">
                  <a16:creationId xmlns:a16="http://schemas.microsoft.com/office/drawing/2014/main" id="{2BD4852D-6C15-7FE1-7D38-9A9CEA1CADD1}"/>
                </a:ext>
              </a:extLst>
            </p:cNvPr>
            <p:cNvSpPr/>
            <p:nvPr/>
          </p:nvSpPr>
          <p:spPr>
            <a:xfrm>
              <a:off x="5705644" y="1424851"/>
              <a:ext cx="1780139" cy="1145527"/>
            </a:xfrm>
            <a:prstGeom prst="cloudCallout">
              <a:avLst>
                <a:gd name="adj1" fmla="val -55636"/>
                <a:gd name="adj2" fmla="val 39814"/>
              </a:avLst>
            </a:prstGeom>
            <a:solidFill>
              <a:srgbClr val="DEECF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  <a:latin typeface="Twinkl Cursive Looped" panose="02000000000000000000" pitchFamily="2" charset="77"/>
                </a:rPr>
                <a:t>Why are we learning this?</a:t>
              </a:r>
            </a:p>
          </p:txBody>
        </p:sp>
        <p:sp>
          <p:nvSpPr>
            <p:cNvPr id="13" name="Right Arrow 38">
              <a:extLst>
                <a:ext uri="{FF2B5EF4-FFF2-40B4-BE49-F238E27FC236}">
                  <a16:creationId xmlns:a16="http://schemas.microsoft.com/office/drawing/2014/main" id="{54C72C56-55AA-10DD-9D4C-7134F641A768}"/>
                </a:ext>
              </a:extLst>
            </p:cNvPr>
            <p:cNvSpPr/>
            <p:nvPr/>
          </p:nvSpPr>
          <p:spPr>
            <a:xfrm>
              <a:off x="4212765" y="4146519"/>
              <a:ext cx="372092" cy="312039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63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F4AD9E8-4B12-D56E-1FC2-4F9F931358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61376" b="80317" l="20847" r="34709">
                          <a14:foregroundMark x1="24656" y1="80000" x2="24656" y2="80000"/>
                          <a14:foregroundMark x1="29312" y1="80317" x2="29312" y2="80317"/>
                        </a14:backgroundRemoval>
                      </a14:imgEffect>
                    </a14:imgLayer>
                  </a14:imgProps>
                </a:ext>
              </a:extLst>
            </a:blip>
            <a:srcRect l="19127" t="59276" r="63462" b="18202"/>
            <a:stretch/>
          </p:blipFill>
          <p:spPr>
            <a:xfrm>
              <a:off x="4493017" y="1391670"/>
              <a:ext cx="1332436" cy="1634235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9A41177-A06F-D4F9-9110-2ECE13DEC255}"/>
              </a:ext>
            </a:extLst>
          </p:cNvPr>
          <p:cNvGrpSpPr/>
          <p:nvPr/>
        </p:nvGrpSpPr>
        <p:grpSpPr>
          <a:xfrm>
            <a:off x="1268703" y="1326407"/>
            <a:ext cx="3052489" cy="4321278"/>
            <a:chOff x="1268703" y="1326407"/>
            <a:chExt cx="3052489" cy="4321278"/>
          </a:xfrm>
        </p:grpSpPr>
        <p:sp>
          <p:nvSpPr>
            <p:cNvPr id="6" name="Rounded Rectangle 21">
              <a:extLst>
                <a:ext uri="{FF2B5EF4-FFF2-40B4-BE49-F238E27FC236}">
                  <a16:creationId xmlns:a16="http://schemas.microsoft.com/office/drawing/2014/main" id="{DD37D4B3-56DA-1C4C-4EE9-285C393DDD67}"/>
                </a:ext>
              </a:extLst>
            </p:cNvPr>
            <p:cNvSpPr/>
            <p:nvPr/>
          </p:nvSpPr>
          <p:spPr>
            <a:xfrm>
              <a:off x="1268703" y="1326407"/>
              <a:ext cx="3052489" cy="432127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463"/>
            </a:p>
          </p:txBody>
        </p:sp>
        <p:sp>
          <p:nvSpPr>
            <p:cNvPr id="7" name="Cloud Callout 14">
              <a:extLst>
                <a:ext uri="{FF2B5EF4-FFF2-40B4-BE49-F238E27FC236}">
                  <a16:creationId xmlns:a16="http://schemas.microsoft.com/office/drawing/2014/main" id="{D32E277B-D5D3-B6C7-BAB2-8B16E9E4C3B0}"/>
                </a:ext>
              </a:extLst>
            </p:cNvPr>
            <p:cNvSpPr/>
            <p:nvPr/>
          </p:nvSpPr>
          <p:spPr>
            <a:xfrm>
              <a:off x="2507027" y="1424849"/>
              <a:ext cx="1780139" cy="1145527"/>
            </a:xfrm>
            <a:prstGeom prst="cloudCallout">
              <a:avLst>
                <a:gd name="adj1" fmla="val -53267"/>
                <a:gd name="adj2" fmla="val 36981"/>
              </a:avLst>
            </a:prstGeom>
            <a:solidFill>
              <a:srgbClr val="DEECF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  <a:latin typeface="Twinkl Cursive Looped" panose="02000000000000000000" pitchFamily="2" charset="77"/>
                </a:rPr>
                <a:t>What are we learning?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115FBA6-C08C-F38D-52BF-1B39A0988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5075" y="1506111"/>
              <a:ext cx="956012" cy="1391913"/>
            </a:xfrm>
            <a:prstGeom prst="rect">
              <a:avLst/>
            </a:prstGeom>
          </p:spPr>
        </p:pic>
      </p:grpSp>
      <p:sp>
        <p:nvSpPr>
          <p:cNvPr id="10" name="Rounded Rectangle 25">
            <a:extLst>
              <a:ext uri="{FF2B5EF4-FFF2-40B4-BE49-F238E27FC236}">
                <a16:creationId xmlns:a16="http://schemas.microsoft.com/office/drawing/2014/main" id="{9E09109D-CEB2-218C-5FC7-EF73369196D7}"/>
              </a:ext>
            </a:extLst>
          </p:cNvPr>
          <p:cNvSpPr/>
          <p:nvPr/>
        </p:nvSpPr>
        <p:spPr>
          <a:xfrm>
            <a:off x="1419910" y="3077728"/>
            <a:ext cx="2746044" cy="2388602"/>
          </a:xfrm>
          <a:prstGeom prst="roundRect">
            <a:avLst/>
          </a:prstGeom>
          <a:solidFill>
            <a:srgbClr val="DEEC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1706" b="1" dirty="0">
                <a:solidFill>
                  <a:schemeClr val="tx1"/>
                </a:solidFill>
                <a:latin typeface="Twinkl Cursive Looped" panose="02000000000000000000" pitchFamily="2" charset="77"/>
              </a:rPr>
              <a:t>We are learning to…</a:t>
            </a:r>
          </a:p>
          <a:p>
            <a:pPr algn="ctr">
              <a:lnSpc>
                <a:spcPct val="150000"/>
              </a:lnSpc>
            </a:pPr>
            <a:r>
              <a:rPr lang="en-GB" sz="1600" dirty="0">
                <a:solidFill>
                  <a:schemeClr val="tx1"/>
                </a:solidFill>
                <a:latin typeface="Twinkl Cursive Looped" panose="02000000000000000000" pitchFamily="2" charset="77"/>
              </a:rPr>
              <a:t>…give directions from one place to another on a grid.</a:t>
            </a:r>
          </a:p>
        </p:txBody>
      </p:sp>
      <p:sp>
        <p:nvSpPr>
          <p:cNvPr id="11" name="Rounded Rectangle 26">
            <a:extLst>
              <a:ext uri="{FF2B5EF4-FFF2-40B4-BE49-F238E27FC236}">
                <a16:creationId xmlns:a16="http://schemas.microsoft.com/office/drawing/2014/main" id="{54CC894F-840D-B2B3-B3A6-36AD492F4A63}"/>
              </a:ext>
            </a:extLst>
          </p:cNvPr>
          <p:cNvSpPr/>
          <p:nvPr/>
        </p:nvSpPr>
        <p:spPr>
          <a:xfrm>
            <a:off x="4611544" y="3077728"/>
            <a:ext cx="2758393" cy="2388602"/>
          </a:xfrm>
          <a:prstGeom prst="roundRect">
            <a:avLst/>
          </a:prstGeom>
          <a:solidFill>
            <a:srgbClr val="DEEC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1" rIns="0" bIns="45721" rtlCol="0" anchor="t"/>
          <a:lstStyle/>
          <a:p>
            <a:pPr algn="ctr"/>
            <a:r>
              <a:rPr lang="en-GB" sz="1600" b="1" dirty="0">
                <a:solidFill>
                  <a:schemeClr val="tx1"/>
                </a:solidFill>
                <a:latin typeface="Twinkl Cursive Looped" panose="02000000000000000000" pitchFamily="2" charset="77"/>
              </a:rPr>
              <a:t>This is because…</a:t>
            </a:r>
          </a:p>
          <a:p>
            <a:pPr algn="ctr">
              <a:lnSpc>
                <a:spcPct val="150000"/>
              </a:lnSpc>
            </a:pPr>
            <a:r>
              <a:rPr lang="en-GB" sz="1400" dirty="0">
                <a:solidFill>
                  <a:schemeClr val="tx1"/>
                </a:solidFill>
                <a:latin typeface="Twinkl Cursive Looped" panose="02000000000000000000" pitchFamily="2" charset="77"/>
              </a:rPr>
              <a:t>…being able to describe exactly where something is and how to get there is a skill we use in maps, plans and many other areas of maths.</a:t>
            </a:r>
          </a:p>
        </p:txBody>
      </p:sp>
      <p:sp>
        <p:nvSpPr>
          <p:cNvPr id="12" name="Rounded Rectangle 27">
            <a:extLst>
              <a:ext uri="{FF2B5EF4-FFF2-40B4-BE49-F238E27FC236}">
                <a16:creationId xmlns:a16="http://schemas.microsoft.com/office/drawing/2014/main" id="{B217A384-8C43-2A5D-1FF1-99024393350A}"/>
              </a:ext>
            </a:extLst>
          </p:cNvPr>
          <p:cNvSpPr/>
          <p:nvPr/>
        </p:nvSpPr>
        <p:spPr>
          <a:xfrm>
            <a:off x="7820573" y="3077727"/>
            <a:ext cx="2890239" cy="2365355"/>
          </a:xfrm>
          <a:prstGeom prst="roundRect">
            <a:avLst/>
          </a:prstGeom>
          <a:solidFill>
            <a:srgbClr val="DEEC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1" rIns="0" bIns="45721" rtlCol="0" anchor="t"/>
          <a:lstStyle/>
          <a:p>
            <a:pPr algn="ctr"/>
            <a:r>
              <a:rPr lang="en-GB" sz="1600" b="1" dirty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>
              <a:lnSpc>
                <a:spcPct val="150000"/>
              </a:lnSpc>
            </a:pPr>
            <a:r>
              <a:rPr lang="en-GB" sz="1600" dirty="0">
                <a:solidFill>
                  <a:schemeClr val="tx1"/>
                </a:solidFill>
                <a:latin typeface="Twinkl Cursive Looped" panose="02000000000000000000" pitchFamily="2" charset="0"/>
              </a:rPr>
              <a:t>…writing clear directions using left, right, up and down with a number of steps, and checking them by tracing the route.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2" name="Media Placeholder 21">
            <a:extLst>
              <a:ext uri="{FF2B5EF4-FFF2-40B4-BE49-F238E27FC236}">
                <a16:creationId xmlns:a16="http://schemas.microsoft.com/office/drawing/2014/main" id="{DF541D10-5C55-3DC2-F844-A70AAEC6C300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Media Placeholder 3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2" name="Title"/>
          <p:cNvSpPr/>
          <p:nvPr/>
        </p:nvSpPr>
        <p:spPr>
          <a:xfrm>
            <a:off x="2243937" y="130759"/>
            <a:ext cx="8265261" cy="132588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l"/>
            <a:r>
              <a:rPr lang="en-GB" sz="4000" b="1" dirty="0">
                <a:solidFill>
                  <a:srgbClr val="000000"/>
                </a:solidFill>
                <a:latin typeface="Twinkl Cursive Looped Light"/>
              </a:rPr>
              <a:t>Remember the details and the order</a:t>
            </a:r>
          </a:p>
        </p:txBody>
      </p:sp>
      <p:sp>
        <p:nvSpPr>
          <p:cNvPr id="3" name="ShowBtn"/>
          <p:cNvSpPr/>
          <p:nvPr/>
        </p:nvSpPr>
        <p:spPr>
          <a:xfrm>
            <a:off x="4772253" y="1231696"/>
            <a:ext cx="2647188" cy="620877"/>
          </a:xfrm>
          <a:prstGeom prst="roundRect">
            <a:avLst/>
          </a:prstGeom>
          <a:solidFill>
            <a:srgbClr val="92D050"/>
          </a:solidFill>
          <a:ln w="0">
            <a:noFill/>
          </a:ln>
        </p:spPr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0E2841"/>
                </a:solidFill>
                <a:latin typeface="Aptos"/>
              </a:rPr>
              <a:t>Click to Show</a:t>
            </a:r>
          </a:p>
        </p:txBody>
      </p:sp>
      <p:sp>
        <p:nvSpPr>
          <p:cNvPr id="10" name="Item1"/>
          <p:cNvSpPr/>
          <p:nvPr/>
        </p:nvSpPr>
        <p:spPr>
          <a:xfrm>
            <a:off x="457200" y="2146096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4000" b="1" dirty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1" name="Item2"/>
          <p:cNvSpPr/>
          <p:nvPr/>
        </p:nvSpPr>
        <p:spPr>
          <a:xfrm>
            <a:off x="2097023" y="2146096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4000" b="1" dirty="0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12" name="Item3"/>
          <p:cNvSpPr/>
          <p:nvPr/>
        </p:nvSpPr>
        <p:spPr>
          <a:xfrm>
            <a:off x="3736847" y="2146096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4000" b="1" dirty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Item4"/>
          <p:cNvSpPr/>
          <p:nvPr/>
        </p:nvSpPr>
        <p:spPr>
          <a:xfrm>
            <a:off x="5376672" y="2146096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4000" b="1" dirty="0">
                <a:solidFill>
                  <a:srgbClr val="FFFFFF"/>
                </a:solidFill>
                <a:latin typeface="Aptos"/>
              </a:rPr>
              <a:t>28</a:t>
            </a:r>
          </a:p>
        </p:txBody>
      </p:sp>
      <p:sp>
        <p:nvSpPr>
          <p:cNvPr id="14" name="Item5"/>
          <p:cNvSpPr/>
          <p:nvPr/>
        </p:nvSpPr>
        <p:spPr>
          <a:xfrm>
            <a:off x="7016496" y="2146096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4000" b="1" dirty="0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15" name="Item6"/>
          <p:cNvSpPr/>
          <p:nvPr/>
        </p:nvSpPr>
        <p:spPr>
          <a:xfrm>
            <a:off x="8656320" y="2146096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4000" b="1" dirty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6" name="Item7"/>
          <p:cNvSpPr/>
          <p:nvPr/>
        </p:nvSpPr>
        <p:spPr>
          <a:xfrm>
            <a:off x="10296144" y="2146096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4000" b="1" dirty="0">
                <a:solidFill>
                  <a:srgbClr val="FFFFFF"/>
                </a:solidFill>
                <a:latin typeface="Aptos"/>
              </a:rPr>
              <a:t>19</a:t>
            </a:r>
          </a:p>
        </p:txBody>
      </p:sp>
      <p:sp>
        <p:nvSpPr>
          <p:cNvPr id="20" name="GoBtn"/>
          <p:cNvSpPr/>
          <p:nvPr/>
        </p:nvSpPr>
        <p:spPr>
          <a:xfrm>
            <a:off x="4830775" y="5383072"/>
            <a:ext cx="2530144" cy="620877"/>
          </a:xfrm>
          <a:prstGeom prst="roundRect">
            <a:avLst/>
          </a:prstGeom>
          <a:solidFill>
            <a:srgbClr val="0F9ED5"/>
          </a:solidFill>
          <a:ln w="0">
            <a:noFill/>
          </a:ln>
        </p:spPr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FFFFFF"/>
                </a:solidFill>
                <a:latin typeface="Aptos"/>
              </a:rPr>
              <a:t>Go to the questions</a:t>
            </a:r>
          </a:p>
        </p:txBody>
      </p:sp>
      <p:sp>
        <p:nvSpPr>
          <p:cNvPr id="30" name="Cover"/>
          <p:cNvSpPr/>
          <p:nvPr/>
        </p:nvSpPr>
        <p:spPr>
          <a:xfrm>
            <a:off x="0" y="1920240"/>
            <a:ext cx="12191695" cy="3063240"/>
          </a:xfrm>
          <a:prstGeom prst="rect">
            <a:avLst/>
          </a:prstGeom>
          <a:solidFill>
            <a:srgbClr val="DEECF8"/>
          </a:solidFill>
          <a:ln w="0">
            <a:noFill/>
          </a:ln>
        </p:spPr>
        <p:txBody>
          <a:bodyPr rtlCol="0" anchor="ctr"/>
          <a:lstStyle/>
          <a:p>
            <a:pPr algn="l"/>
            <a:r>
              <a:rPr lang="en-GB" sz="1800" dirty="0">
                <a:solidFill>
                  <a:srgbClr val="000000"/>
                </a:solidFill>
                <a:latin typeface="Twinkl Cursive Looped Light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15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Media Placeholder 3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20" name="Title"/>
          <p:cNvSpPr/>
          <p:nvPr/>
        </p:nvSpPr>
        <p:spPr>
          <a:xfrm>
            <a:off x="838504" y="100584"/>
            <a:ext cx="10515600" cy="132588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l"/>
            <a:r>
              <a:rPr lang="en-GB" sz="4400" b="1" dirty="0">
                <a:solidFill>
                  <a:srgbClr val="000000"/>
                </a:solidFill>
                <a:latin typeface="Twinkl Cursive Looped Light"/>
              </a:rPr>
              <a:t>Now answer from memory!</a:t>
            </a:r>
          </a:p>
        </p:txBody>
      </p:sp>
      <p:sp>
        <p:nvSpPr>
          <p:cNvPr id="21" name="Q1"/>
          <p:cNvSpPr/>
          <p:nvPr/>
        </p:nvSpPr>
        <p:spPr>
          <a:xfrm>
            <a:off x="341071" y="1196949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l"/>
            <a:r>
              <a:rPr lang="en-GB" sz="1700" b="1" dirty="0">
                <a:solidFill>
                  <a:srgbClr val="0E2841"/>
                </a:solidFill>
                <a:latin typeface="Aptos"/>
              </a:rPr>
              <a:t>Q1   What was the 1st number?</a:t>
            </a:r>
          </a:p>
        </p:txBody>
      </p:sp>
      <p:sp>
        <p:nvSpPr>
          <p:cNvPr id="22" name="A1"/>
          <p:cNvSpPr/>
          <p:nvPr/>
        </p:nvSpPr>
        <p:spPr>
          <a:xfrm>
            <a:off x="341071" y="2123236"/>
            <a:ext cx="5486400" cy="683056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l"/>
            <a:r>
              <a:rPr lang="en-GB" sz="2000" b="1" dirty="0">
                <a:solidFill>
                  <a:srgbClr val="0E2841"/>
                </a:solidFill>
                <a:latin typeface="Aptos"/>
              </a:rPr>
              <a:t>Answer:   7</a:t>
            </a:r>
          </a:p>
        </p:txBody>
      </p:sp>
      <p:sp>
        <p:nvSpPr>
          <p:cNvPr id="23" name="Q2"/>
          <p:cNvSpPr/>
          <p:nvPr/>
        </p:nvSpPr>
        <p:spPr>
          <a:xfrm>
            <a:off x="341071" y="2965399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l"/>
            <a:r>
              <a:rPr lang="en-GB" sz="1700" b="1" dirty="0">
                <a:solidFill>
                  <a:srgbClr val="0E2841"/>
                </a:solidFill>
                <a:latin typeface="Aptos"/>
              </a:rPr>
              <a:t>Q2   What was the 3rd number?</a:t>
            </a:r>
          </a:p>
        </p:txBody>
      </p:sp>
      <p:sp>
        <p:nvSpPr>
          <p:cNvPr id="24" name="A2"/>
          <p:cNvSpPr/>
          <p:nvPr/>
        </p:nvSpPr>
        <p:spPr>
          <a:xfrm>
            <a:off x="341071" y="3891686"/>
            <a:ext cx="5486400" cy="683056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l"/>
            <a:r>
              <a:rPr lang="en-GB" sz="2000" b="1" dirty="0">
                <a:solidFill>
                  <a:srgbClr val="0E2841"/>
                </a:solidFill>
                <a:latin typeface="Aptos"/>
              </a:rPr>
              <a:t>Answer:   4</a:t>
            </a:r>
          </a:p>
        </p:txBody>
      </p:sp>
      <p:sp>
        <p:nvSpPr>
          <p:cNvPr id="25" name="Q3"/>
          <p:cNvSpPr/>
          <p:nvPr/>
        </p:nvSpPr>
        <p:spPr>
          <a:xfrm>
            <a:off x="341071" y="4765852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l"/>
            <a:r>
              <a:rPr lang="en-GB" sz="1700" b="1" dirty="0">
                <a:solidFill>
                  <a:srgbClr val="0E2841"/>
                </a:solidFill>
                <a:latin typeface="Aptos"/>
              </a:rPr>
              <a:t>Q3   Sum of the first two numbers?</a:t>
            </a:r>
          </a:p>
        </p:txBody>
      </p:sp>
      <p:sp>
        <p:nvSpPr>
          <p:cNvPr id="26" name="A3"/>
          <p:cNvSpPr/>
          <p:nvPr/>
        </p:nvSpPr>
        <p:spPr>
          <a:xfrm>
            <a:off x="341071" y="5692140"/>
            <a:ext cx="5486400" cy="683056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l"/>
            <a:r>
              <a:rPr lang="en-GB" sz="2000" b="1" dirty="0">
                <a:solidFill>
                  <a:srgbClr val="0E2841"/>
                </a:solidFill>
                <a:latin typeface="Aptos"/>
              </a:rPr>
              <a:t>Answer:   20  (7 + 13)</a:t>
            </a:r>
          </a:p>
        </p:txBody>
      </p:sp>
      <p:sp>
        <p:nvSpPr>
          <p:cNvPr id="27" name="Q4"/>
          <p:cNvSpPr/>
          <p:nvPr/>
        </p:nvSpPr>
        <p:spPr>
          <a:xfrm>
            <a:off x="6364224" y="1196949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l"/>
            <a:r>
              <a:rPr lang="en-GB" sz="1700" b="1" dirty="0">
                <a:solidFill>
                  <a:srgbClr val="0E2841"/>
                </a:solidFill>
                <a:latin typeface="Aptos"/>
              </a:rPr>
              <a:t>Q4   How many odd numbers were there?</a:t>
            </a:r>
          </a:p>
        </p:txBody>
      </p:sp>
      <p:sp>
        <p:nvSpPr>
          <p:cNvPr id="28" name="A4"/>
          <p:cNvSpPr/>
          <p:nvPr/>
        </p:nvSpPr>
        <p:spPr>
          <a:xfrm>
            <a:off x="6364224" y="2123236"/>
            <a:ext cx="5486400" cy="683056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l"/>
            <a:r>
              <a:rPr lang="en-GB" sz="2000" b="1" dirty="0">
                <a:solidFill>
                  <a:srgbClr val="0E2841"/>
                </a:solidFill>
                <a:latin typeface="Aptos"/>
              </a:rPr>
              <a:t>Answer:   4  (7, 13, 11, 19)</a:t>
            </a:r>
          </a:p>
        </p:txBody>
      </p:sp>
      <p:sp>
        <p:nvSpPr>
          <p:cNvPr id="29" name="Q5"/>
          <p:cNvSpPr/>
          <p:nvPr/>
        </p:nvSpPr>
        <p:spPr>
          <a:xfrm>
            <a:off x="6364224" y="2965399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l"/>
            <a:r>
              <a:rPr lang="en-GB" sz="1700" b="1" dirty="0">
                <a:solidFill>
                  <a:srgbClr val="0E2841"/>
                </a:solidFill>
                <a:latin typeface="Aptos"/>
              </a:rPr>
              <a:t>Q5   What was the largest number?</a:t>
            </a:r>
          </a:p>
        </p:txBody>
      </p:sp>
      <p:sp>
        <p:nvSpPr>
          <p:cNvPr id="30" name="A5"/>
          <p:cNvSpPr/>
          <p:nvPr/>
        </p:nvSpPr>
        <p:spPr>
          <a:xfrm>
            <a:off x="6364224" y="3891686"/>
            <a:ext cx="5486400" cy="683056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l"/>
            <a:r>
              <a:rPr lang="en-GB" sz="2000" b="1" dirty="0">
                <a:solidFill>
                  <a:srgbClr val="0E2841"/>
                </a:solidFill>
                <a:latin typeface="Aptos"/>
              </a:rPr>
              <a:t>Answer:   28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  <p:bldP spid="21" grpId="1" animBg="1"/>
      <p:bldP spid="22" grpId="0" uiExpand="1" build="p"/>
      <p:bldP spid="22" grpId="1" animBg="1"/>
      <p:bldP spid="23" grpId="0" uiExpand="1" build="p"/>
      <p:bldP spid="23" grpId="1" animBg="1"/>
      <p:bldP spid="24" grpId="0" uiExpand="1" build="p"/>
      <p:bldP spid="24" grpId="1" animBg="1"/>
      <p:bldP spid="25" grpId="0" uiExpand="1" build="p"/>
      <p:bldP spid="25" grpId="1" animBg="1"/>
      <p:bldP spid="26" grpId="0" uiExpand="1" build="p"/>
      <p:bldP spid="26" grpId="1" animBg="1"/>
      <p:bldP spid="27" grpId="0" uiExpand="1" build="p"/>
      <p:bldP spid="27" grpId="1" animBg="1"/>
      <p:bldP spid="28" grpId="0" uiExpand="1" build="p"/>
      <p:bldP spid="28" grpId="1" animBg="1"/>
      <p:bldP spid="29" grpId="0" uiExpand="1" build="p"/>
      <p:bldP spid="29" grpId="1" animBg="1"/>
      <p:bldP spid="30" grpId="0" uiExpand="1" build="p"/>
      <p:bldP spid="30" grpId="1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Media Placeholder 3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2" name="Title"/>
          <p:cNvSpPr/>
          <p:nvPr/>
        </p:nvSpPr>
        <p:spPr>
          <a:xfrm>
            <a:off x="838504" y="63093"/>
            <a:ext cx="10515600" cy="744321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l"/>
            <a:r>
              <a:rPr lang="en-GB" sz="2800" dirty="0">
                <a:solidFill>
                  <a:srgbClr val="000000"/>
                </a:solidFill>
                <a:latin typeface="Twinkl Cursive Looped Light"/>
              </a:rPr>
              <a:t>Rapid Maths – Day 1</a:t>
            </a:r>
          </a:p>
        </p:txBody>
      </p:sp>
      <p:sp>
        <p:nvSpPr>
          <p:cNvPr id="10" name="Card1"/>
          <p:cNvSpPr/>
          <p:nvPr/>
        </p:nvSpPr>
        <p:spPr>
          <a:xfrm>
            <a:off x="219456" y="853135"/>
            <a:ext cx="5669280" cy="1880006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</p:spPr>
        <p:txBody>
          <a:bodyPr/>
          <a:lstStyle/>
          <a:p/>
        </p:txBody>
      </p:sp>
      <p:sp>
        <p:nvSpPr>
          <p:cNvPr id="11" name="Topic1"/>
          <p:cNvSpPr/>
          <p:nvPr/>
        </p:nvSpPr>
        <p:spPr>
          <a:xfrm>
            <a:off x="365760" y="914400"/>
            <a:ext cx="5461711" cy="317296"/>
          </a:xfrm>
          <a:prstGeom prst="rect">
            <a:avLst/>
          </a:prstGeom>
          <a:solidFill>
            <a:srgbClr val="156082"/>
          </a:solidFill>
          <a:ln w="0">
            <a:noFill/>
          </a:ln>
        </p:spPr>
        <p:txBody>
          <a:bodyPr rtlCol="0" anchor="ctr"/>
          <a:lstStyle/>
          <a:p>
            <a:pPr algn="l"/>
            <a:r>
              <a:rPr lang="en-GB" sz="1600" b="0" dirty="0">
                <a:solidFill>
                  <a:srgbClr val="FFFFFF"/>
                </a:solidFill>
                <a:latin typeface="Aptos"/>
              </a:rPr>
              <a:t>Q1  Place Value</a:t>
            </a:r>
          </a:p>
        </p:txBody>
      </p:sp>
      <p:sp>
        <p:nvSpPr>
          <p:cNvPr id="12" name="QText1"/>
          <p:cNvSpPr/>
          <p:nvPr/>
        </p:nvSpPr>
        <p:spPr>
          <a:xfrm>
            <a:off x="365760" y="1231696"/>
            <a:ext cx="5461711" cy="1441094"/>
          </a:xfrm>
          <a:prstGeom prst="rect">
            <a:avLst/>
          </a:prstGeom>
          <a:noFill/>
          <a:ln w="0">
            <a:noFill/>
          </a:ln>
        </p:spPr>
        <p:txBody>
          <a:bodyPr rtlCol="0" anchor="t"/>
          <a:lstStyle/>
          <a:p>
            <a:pPr algn="l"/>
            <a:r>
              <a:rPr lang="en-GB" sz="2400" b="0" dirty="0">
                <a:solidFill>
                  <a:srgbClr val="1A1A1A"/>
                </a:solidFill>
                <a:latin typeface="Aptos"/>
              </a:rPr>
              <a:t>What is the value of the digit 4 in 34,512?</a:t>
            </a:r>
          </a:p>
        </p:txBody>
      </p:sp>
      <p:sp>
        <p:nvSpPr>
          <p:cNvPr id="13" name="Card2"/>
          <p:cNvSpPr/>
          <p:nvPr/>
        </p:nvSpPr>
        <p:spPr>
          <a:xfrm>
            <a:off x="219456" y="2854756"/>
            <a:ext cx="5669280" cy="1880006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</p:spPr>
        <p:txBody>
          <a:bodyPr/>
          <a:lstStyle/>
          <a:p/>
        </p:txBody>
      </p:sp>
      <p:sp>
        <p:nvSpPr>
          <p:cNvPr id="14" name="Topic2"/>
          <p:cNvSpPr/>
          <p:nvPr/>
        </p:nvSpPr>
        <p:spPr>
          <a:xfrm>
            <a:off x="365760" y="2916021"/>
            <a:ext cx="5461711" cy="317296"/>
          </a:xfrm>
          <a:prstGeom prst="rect">
            <a:avLst/>
          </a:prstGeom>
          <a:solidFill>
            <a:srgbClr val="156082"/>
          </a:solidFill>
          <a:ln w="0">
            <a:noFill/>
          </a:ln>
        </p:spPr>
        <p:txBody>
          <a:bodyPr rtlCol="0" anchor="ctr"/>
          <a:lstStyle/>
          <a:p>
            <a:pPr algn="l"/>
            <a:r>
              <a:rPr lang="en-GB" sz="1600" b="0" dirty="0">
                <a:solidFill>
                  <a:srgbClr val="FFFFFF"/>
                </a:solidFill>
                <a:latin typeface="Aptos"/>
              </a:rPr>
              <a:t>Q2  Fractions and Decimals</a:t>
            </a:r>
          </a:p>
        </p:txBody>
      </p:sp>
      <p:sp>
        <p:nvSpPr>
          <p:cNvPr id="15" name="QText2"/>
          <p:cNvSpPr/>
          <p:nvPr/>
        </p:nvSpPr>
        <p:spPr>
          <a:xfrm>
            <a:off x="365760" y="3233318"/>
            <a:ext cx="5461711" cy="1441094"/>
          </a:xfrm>
          <a:prstGeom prst="rect">
            <a:avLst/>
          </a:prstGeom>
          <a:noFill/>
          <a:ln w="0">
            <a:noFill/>
          </a:ln>
        </p:spPr>
        <p:txBody>
          <a:bodyPr rtlCol="0" anchor="t"/>
          <a:lstStyle/>
          <a:p>
            <a:pPr algn="l"/>
            <a:r>
              <a:rPr lang="en-GB" sz="2400" b="0" dirty="0">
                <a:solidFill>
                  <a:srgbClr val="1A1A1A"/>
                </a:solidFill>
                <a:latin typeface="Aptos"/>
              </a:rPr>
              <a:t>What is 1/2 as a decimal?</a:t>
            </a:r>
          </a:p>
        </p:txBody>
      </p:sp>
      <p:sp>
        <p:nvSpPr>
          <p:cNvPr id="16" name="Card3"/>
          <p:cNvSpPr/>
          <p:nvPr/>
        </p:nvSpPr>
        <p:spPr>
          <a:xfrm>
            <a:off x="219456" y="4856378"/>
            <a:ext cx="5669280" cy="1880006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</p:spPr>
        <p:txBody>
          <a:bodyPr/>
          <a:lstStyle/>
          <a:p/>
        </p:txBody>
      </p:sp>
      <p:sp>
        <p:nvSpPr>
          <p:cNvPr id="17" name="Topic3"/>
          <p:cNvSpPr/>
          <p:nvPr/>
        </p:nvSpPr>
        <p:spPr>
          <a:xfrm>
            <a:off x="365760" y="4917643"/>
            <a:ext cx="5461711" cy="317296"/>
          </a:xfrm>
          <a:prstGeom prst="rect">
            <a:avLst/>
          </a:prstGeom>
          <a:solidFill>
            <a:srgbClr val="156082"/>
          </a:solidFill>
          <a:ln w="0">
            <a:noFill/>
          </a:ln>
        </p:spPr>
        <p:txBody>
          <a:bodyPr rtlCol="0" anchor="ctr"/>
          <a:lstStyle/>
          <a:p>
            <a:pPr algn="l"/>
            <a:r>
              <a:rPr lang="en-GB" sz="1600" b="0" dirty="0">
                <a:solidFill>
                  <a:srgbClr val="FFFFFF"/>
                </a:solidFill>
                <a:latin typeface="Aptos"/>
              </a:rPr>
              <a:t>Q3  Multiplication / Division</a:t>
            </a:r>
          </a:p>
        </p:txBody>
      </p:sp>
      <p:sp>
        <p:nvSpPr>
          <p:cNvPr id="18" name="QText3"/>
          <p:cNvSpPr/>
          <p:nvPr/>
        </p:nvSpPr>
        <p:spPr>
          <a:xfrm>
            <a:off x="365760" y="5234940"/>
            <a:ext cx="5461711" cy="1441094"/>
          </a:xfrm>
          <a:prstGeom prst="rect">
            <a:avLst/>
          </a:prstGeom>
          <a:noFill/>
          <a:ln w="0">
            <a:noFill/>
          </a:ln>
        </p:spPr>
        <p:txBody>
          <a:bodyPr rtlCol="0" anchor="t"/>
          <a:lstStyle/>
          <a:p>
            <a:pPr algn="l"/>
            <a:r>
              <a:rPr lang="en-GB" sz="2400" b="0" dirty="0">
                <a:solidFill>
                  <a:srgbClr val="1A1A1A"/>
                </a:solidFill>
                <a:latin typeface="Aptos"/>
              </a:rPr>
              <a:t>What is 7 × 8?</a:t>
            </a:r>
          </a:p>
        </p:txBody>
      </p:sp>
      <p:sp>
        <p:nvSpPr>
          <p:cNvPr id="19" name="Card4"/>
          <p:cNvSpPr/>
          <p:nvPr/>
        </p:nvSpPr>
        <p:spPr>
          <a:xfrm>
            <a:off x="6315760" y="853135"/>
            <a:ext cx="5669280" cy="2880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</p:spPr>
        <p:txBody>
          <a:bodyPr/>
          <a:lstStyle/>
          <a:p/>
        </p:txBody>
      </p:sp>
      <p:sp>
        <p:nvSpPr>
          <p:cNvPr id="20" name="Topic4"/>
          <p:cNvSpPr/>
          <p:nvPr/>
        </p:nvSpPr>
        <p:spPr>
          <a:xfrm>
            <a:off x="6462064" y="914400"/>
            <a:ext cx="5461711" cy="317296"/>
          </a:xfrm>
          <a:prstGeom prst="rect">
            <a:avLst/>
          </a:prstGeom>
          <a:solidFill>
            <a:srgbClr val="156082"/>
          </a:solidFill>
          <a:ln w="0">
            <a:noFill/>
          </a:ln>
        </p:spPr>
        <p:txBody>
          <a:bodyPr rtlCol="0" anchor="ctr"/>
          <a:lstStyle/>
          <a:p>
            <a:pPr algn="l"/>
            <a:r>
              <a:rPr lang="en-GB" sz="1600" b="0" dirty="0">
                <a:solidFill>
                  <a:srgbClr val="FFFFFF"/>
                </a:solidFill>
                <a:latin typeface="Aptos"/>
              </a:rPr>
              <a:t>Q4  Geometry</a:t>
            </a:r>
          </a:p>
        </p:txBody>
      </p:sp>
      <p:sp>
        <p:nvSpPr>
          <p:cNvPr id="21" name="QText4"/>
          <p:cNvSpPr/>
          <p:nvPr/>
        </p:nvSpPr>
        <p:spPr>
          <a:xfrm>
            <a:off x="6462064" y="1231696"/>
            <a:ext cx="5461711" cy="2441448"/>
          </a:xfrm>
          <a:prstGeom prst="rect">
            <a:avLst/>
          </a:prstGeom>
          <a:noFill/>
          <a:ln w="0">
            <a:noFill/>
          </a:ln>
        </p:spPr>
        <p:txBody>
          <a:bodyPr rtlCol="0" anchor="t"/>
          <a:lstStyle/>
          <a:p>
            <a:pPr algn="l"/>
            <a:r>
              <a:rPr lang="en-GB" sz="2400" b="0" dirty="0">
                <a:solidFill>
                  <a:srgbClr val="1A1A1A"/>
                </a:solidFill>
                <a:latin typeface="Aptos"/>
              </a:rPr>
              <a:t>How many sides does a hexagon have?</a:t>
            </a:r>
          </a:p>
        </p:txBody>
      </p:sp>
      <p:sp>
        <p:nvSpPr>
          <p:cNvPr id="22" name="Card5"/>
          <p:cNvSpPr/>
          <p:nvPr/>
        </p:nvSpPr>
        <p:spPr>
          <a:xfrm>
            <a:off x="6315760" y="3856024"/>
            <a:ext cx="5669280" cy="2880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</p:spPr>
        <p:txBody>
          <a:bodyPr/>
          <a:lstStyle/>
          <a:p/>
        </p:txBody>
      </p:sp>
      <p:sp>
        <p:nvSpPr>
          <p:cNvPr id="23" name="Topic5"/>
          <p:cNvSpPr/>
          <p:nvPr/>
        </p:nvSpPr>
        <p:spPr>
          <a:xfrm>
            <a:off x="6462064" y="3917289"/>
            <a:ext cx="5461711" cy="317296"/>
          </a:xfrm>
          <a:prstGeom prst="rect">
            <a:avLst/>
          </a:prstGeom>
          <a:solidFill>
            <a:srgbClr val="156082"/>
          </a:solidFill>
          <a:ln w="0">
            <a:noFill/>
          </a:ln>
        </p:spPr>
        <p:txBody>
          <a:bodyPr rtlCol="0" anchor="ctr"/>
          <a:lstStyle/>
          <a:p>
            <a:pPr algn="l"/>
            <a:r>
              <a:rPr lang="en-GB" sz="1600" b="0" dirty="0">
                <a:solidFill>
                  <a:srgbClr val="FFFFFF"/>
                </a:solidFill>
                <a:latin typeface="Aptos"/>
              </a:rPr>
              <a:t>Q5  Measurement</a:t>
            </a:r>
          </a:p>
        </p:txBody>
      </p:sp>
      <p:sp>
        <p:nvSpPr>
          <p:cNvPr id="24" name="QText5"/>
          <p:cNvSpPr/>
          <p:nvPr/>
        </p:nvSpPr>
        <p:spPr>
          <a:xfrm>
            <a:off x="6462064" y="4234586"/>
            <a:ext cx="5461711" cy="2441448"/>
          </a:xfrm>
          <a:prstGeom prst="rect">
            <a:avLst/>
          </a:prstGeom>
          <a:noFill/>
          <a:ln w="0">
            <a:noFill/>
          </a:ln>
        </p:spPr>
        <p:txBody>
          <a:bodyPr rtlCol="0" anchor="t"/>
          <a:lstStyle/>
          <a:p>
            <a:pPr algn="l"/>
            <a:r>
              <a:rPr lang="en-GB" sz="2400" b="0" dirty="0">
                <a:solidFill>
                  <a:srgbClr val="1A1A1A"/>
                </a:solidFill>
                <a:latin typeface="Aptos"/>
              </a:rPr>
              <a:t>How many centimetres are in 2 metres?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Media Placeholder 3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2" name="Title"/>
          <p:cNvSpPr/>
          <p:nvPr/>
        </p:nvSpPr>
        <p:spPr>
          <a:xfrm>
            <a:off x="838504" y="-8229"/>
            <a:ext cx="10515600" cy="922629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l"/>
            <a:r>
              <a:rPr lang="en-GB" sz="2800" dirty="0">
                <a:solidFill>
                  <a:srgbClr val="000000"/>
                </a:solidFill>
                <a:latin typeface="Twinkl Cursive Looped Light"/>
              </a:rPr>
              <a:t>Rapid Maths – Answers – Day 1</a:t>
            </a:r>
          </a:p>
        </p:txBody>
      </p:sp>
      <p:sp>
        <p:nvSpPr>
          <p:cNvPr id="10" name="Card1"/>
          <p:cNvSpPr/>
          <p:nvPr/>
        </p:nvSpPr>
        <p:spPr>
          <a:xfrm>
            <a:off x="219456" y="853135"/>
            <a:ext cx="5669280" cy="1880006"/>
          </a:xfrm>
          <a:prstGeom prst="rect">
            <a:avLst/>
          </a:prstGeom>
          <a:solidFill>
            <a:srgbClr val="FFFFFF"/>
          </a:solidFill>
          <a:ln w="25400">
            <a:solidFill>
              <a:srgbClr val="1D6B40"/>
            </a:solidFill>
          </a:ln>
        </p:spPr>
        <p:txBody>
          <a:bodyPr/>
          <a:lstStyle/>
          <a:p/>
        </p:txBody>
      </p:sp>
      <p:sp>
        <p:nvSpPr>
          <p:cNvPr id="11" name="Topic1"/>
          <p:cNvSpPr/>
          <p:nvPr/>
        </p:nvSpPr>
        <p:spPr>
          <a:xfrm>
            <a:off x="365760" y="914400"/>
            <a:ext cx="5461711" cy="292608"/>
          </a:xfrm>
          <a:prstGeom prst="rect">
            <a:avLst/>
          </a:prstGeom>
          <a:solidFill>
            <a:srgbClr val="156082"/>
          </a:solidFill>
          <a:ln w="0">
            <a:noFill/>
          </a:ln>
        </p:spPr>
        <p:txBody>
          <a:bodyPr rtlCol="0" anchor="ctr"/>
          <a:lstStyle/>
          <a:p>
            <a:pPr algn="l"/>
            <a:r>
              <a:rPr lang="en-GB" sz="1470" b="0" dirty="0">
                <a:solidFill>
                  <a:srgbClr val="156082"/>
                </a:solidFill>
                <a:latin typeface="Aptos"/>
              </a:rPr>
              <a:t>Q1  Place Value</a:t>
            </a:r>
          </a:p>
        </p:txBody>
      </p:sp>
      <p:sp>
        <p:nvSpPr>
          <p:cNvPr id="12" name="QText1"/>
          <p:cNvSpPr/>
          <p:nvPr/>
        </p:nvSpPr>
        <p:spPr>
          <a:xfrm>
            <a:off x="365760" y="1207008"/>
            <a:ext cx="5461711" cy="390448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l"/>
            <a:r>
              <a:rPr lang="en-GB" sz="1470" b="0" dirty="0">
                <a:solidFill>
                  <a:srgbClr val="777777"/>
                </a:solidFill>
                <a:latin typeface="Aptos"/>
              </a:rPr>
              <a:t>What is the value of the digit 4 in 34,512?</a:t>
            </a:r>
          </a:p>
        </p:txBody>
      </p:sp>
      <p:sp>
        <p:nvSpPr>
          <p:cNvPr id="13" name="AText1"/>
          <p:cNvSpPr/>
          <p:nvPr/>
        </p:nvSpPr>
        <p:spPr>
          <a:xfrm>
            <a:off x="365760" y="1584655"/>
            <a:ext cx="5461711" cy="1087221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l"/>
            <a:r>
              <a:rPr lang="en-GB" sz="2800" b="1" dirty="0">
                <a:solidFill>
                  <a:srgbClr val="1D6B40"/>
                </a:solidFill>
                <a:latin typeface="Aptos"/>
              </a:rPr>
              <a:t>4,000</a:t>
            </a:r>
          </a:p>
        </p:txBody>
      </p:sp>
      <p:sp>
        <p:nvSpPr>
          <p:cNvPr id="14" name="Card2"/>
          <p:cNvSpPr/>
          <p:nvPr/>
        </p:nvSpPr>
        <p:spPr>
          <a:xfrm>
            <a:off x="219456" y="2854756"/>
            <a:ext cx="5669280" cy="1880006"/>
          </a:xfrm>
          <a:prstGeom prst="rect">
            <a:avLst/>
          </a:prstGeom>
          <a:solidFill>
            <a:srgbClr val="FFFFFF"/>
          </a:solidFill>
          <a:ln w="25400">
            <a:solidFill>
              <a:srgbClr val="1D6B40"/>
            </a:solidFill>
          </a:ln>
        </p:spPr>
        <p:txBody>
          <a:bodyPr/>
          <a:lstStyle/>
          <a:p/>
        </p:txBody>
      </p:sp>
      <p:sp>
        <p:nvSpPr>
          <p:cNvPr id="15" name="Topic2"/>
          <p:cNvSpPr/>
          <p:nvPr/>
        </p:nvSpPr>
        <p:spPr>
          <a:xfrm>
            <a:off x="365760" y="2916021"/>
            <a:ext cx="5461711" cy="292608"/>
          </a:xfrm>
          <a:prstGeom prst="rect">
            <a:avLst/>
          </a:prstGeom>
          <a:solidFill>
            <a:srgbClr val="156082"/>
          </a:solidFill>
          <a:ln w="0">
            <a:noFill/>
          </a:ln>
        </p:spPr>
        <p:txBody>
          <a:bodyPr rtlCol="0" anchor="ctr"/>
          <a:lstStyle/>
          <a:p>
            <a:pPr algn="l"/>
            <a:r>
              <a:rPr lang="en-GB" sz="1470" b="0" dirty="0">
                <a:solidFill>
                  <a:srgbClr val="156082"/>
                </a:solidFill>
                <a:latin typeface="Aptos"/>
              </a:rPr>
              <a:t>Q2  Fractions and Decimals</a:t>
            </a:r>
          </a:p>
        </p:txBody>
      </p:sp>
      <p:sp>
        <p:nvSpPr>
          <p:cNvPr id="16" name="QText2"/>
          <p:cNvSpPr/>
          <p:nvPr/>
        </p:nvSpPr>
        <p:spPr>
          <a:xfrm>
            <a:off x="365760" y="3208629"/>
            <a:ext cx="5461711" cy="390448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l"/>
            <a:r>
              <a:rPr lang="en-GB" sz="1470" b="0" dirty="0">
                <a:solidFill>
                  <a:srgbClr val="777777"/>
                </a:solidFill>
                <a:latin typeface="Aptos"/>
              </a:rPr>
              <a:t>What is 1/2 as a decimal?</a:t>
            </a:r>
          </a:p>
        </p:txBody>
      </p:sp>
      <p:sp>
        <p:nvSpPr>
          <p:cNvPr id="17" name="AText2"/>
          <p:cNvSpPr/>
          <p:nvPr/>
        </p:nvSpPr>
        <p:spPr>
          <a:xfrm>
            <a:off x="365760" y="3586276"/>
            <a:ext cx="5461711" cy="1087221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l"/>
            <a:r>
              <a:rPr lang="en-GB" sz="2800" b="1" dirty="0">
                <a:solidFill>
                  <a:srgbClr val="1D6B40"/>
                </a:solidFill>
                <a:latin typeface="Aptos"/>
              </a:rPr>
              <a:t>0.5</a:t>
            </a:r>
          </a:p>
        </p:txBody>
      </p:sp>
      <p:sp>
        <p:nvSpPr>
          <p:cNvPr id="18" name="Card3"/>
          <p:cNvSpPr/>
          <p:nvPr/>
        </p:nvSpPr>
        <p:spPr>
          <a:xfrm>
            <a:off x="219456" y="4856378"/>
            <a:ext cx="5669280" cy="1880006"/>
          </a:xfrm>
          <a:prstGeom prst="rect">
            <a:avLst/>
          </a:prstGeom>
          <a:solidFill>
            <a:srgbClr val="FFFFFF"/>
          </a:solidFill>
          <a:ln w="25400">
            <a:solidFill>
              <a:srgbClr val="1D6B40"/>
            </a:solidFill>
          </a:ln>
        </p:spPr>
        <p:txBody>
          <a:bodyPr/>
          <a:lstStyle/>
          <a:p/>
        </p:txBody>
      </p:sp>
      <p:sp>
        <p:nvSpPr>
          <p:cNvPr id="19" name="Topic3"/>
          <p:cNvSpPr/>
          <p:nvPr/>
        </p:nvSpPr>
        <p:spPr>
          <a:xfrm>
            <a:off x="365760" y="4917643"/>
            <a:ext cx="5461711" cy="292608"/>
          </a:xfrm>
          <a:prstGeom prst="rect">
            <a:avLst/>
          </a:prstGeom>
          <a:solidFill>
            <a:srgbClr val="156082"/>
          </a:solidFill>
          <a:ln w="0">
            <a:noFill/>
          </a:ln>
        </p:spPr>
        <p:txBody>
          <a:bodyPr rtlCol="0" anchor="ctr"/>
          <a:lstStyle/>
          <a:p>
            <a:pPr algn="l"/>
            <a:r>
              <a:rPr lang="en-GB" sz="1470" b="0" dirty="0">
                <a:solidFill>
                  <a:srgbClr val="156082"/>
                </a:solidFill>
                <a:latin typeface="Aptos"/>
              </a:rPr>
              <a:t>Q3  Multiplication / Division</a:t>
            </a:r>
          </a:p>
        </p:txBody>
      </p:sp>
      <p:sp>
        <p:nvSpPr>
          <p:cNvPr id="20" name="QText3"/>
          <p:cNvSpPr/>
          <p:nvPr/>
        </p:nvSpPr>
        <p:spPr>
          <a:xfrm>
            <a:off x="365760" y="5210251"/>
            <a:ext cx="5461711" cy="390448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l"/>
            <a:r>
              <a:rPr lang="en-GB" sz="1470" b="0" dirty="0">
                <a:solidFill>
                  <a:srgbClr val="777777"/>
                </a:solidFill>
                <a:latin typeface="Aptos"/>
              </a:rPr>
              <a:t>What is 7 × 8?</a:t>
            </a:r>
          </a:p>
        </p:txBody>
      </p:sp>
      <p:sp>
        <p:nvSpPr>
          <p:cNvPr id="21" name="AText3"/>
          <p:cNvSpPr/>
          <p:nvPr/>
        </p:nvSpPr>
        <p:spPr>
          <a:xfrm>
            <a:off x="365760" y="5587898"/>
            <a:ext cx="5461711" cy="1087221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l"/>
            <a:r>
              <a:rPr lang="en-GB" sz="2800" b="1" dirty="0">
                <a:solidFill>
                  <a:srgbClr val="1D6B40"/>
                </a:solidFill>
                <a:latin typeface="Aptos"/>
              </a:rPr>
              <a:t>56</a:t>
            </a:r>
          </a:p>
        </p:txBody>
      </p:sp>
      <p:sp>
        <p:nvSpPr>
          <p:cNvPr id="22" name="Card4"/>
          <p:cNvSpPr/>
          <p:nvPr/>
        </p:nvSpPr>
        <p:spPr>
          <a:xfrm>
            <a:off x="6315760" y="853135"/>
            <a:ext cx="5669280" cy="2880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D6B40"/>
            </a:solidFill>
          </a:ln>
        </p:spPr>
        <p:txBody>
          <a:bodyPr/>
          <a:lstStyle/>
          <a:p/>
        </p:txBody>
      </p:sp>
      <p:sp>
        <p:nvSpPr>
          <p:cNvPr id="23" name="Topic4"/>
          <p:cNvSpPr/>
          <p:nvPr/>
        </p:nvSpPr>
        <p:spPr>
          <a:xfrm>
            <a:off x="6462064" y="914400"/>
            <a:ext cx="5461711" cy="292608"/>
          </a:xfrm>
          <a:prstGeom prst="rect">
            <a:avLst/>
          </a:prstGeom>
          <a:solidFill>
            <a:srgbClr val="156082"/>
          </a:solidFill>
          <a:ln w="0">
            <a:noFill/>
          </a:ln>
        </p:spPr>
        <p:txBody>
          <a:bodyPr rtlCol="0" anchor="ctr"/>
          <a:lstStyle/>
          <a:p>
            <a:pPr algn="l"/>
            <a:r>
              <a:rPr lang="en-GB" sz="1470" b="0" dirty="0">
                <a:solidFill>
                  <a:srgbClr val="156082"/>
                </a:solidFill>
                <a:latin typeface="Aptos"/>
              </a:rPr>
              <a:t>Q4  Geometry</a:t>
            </a:r>
          </a:p>
        </p:txBody>
      </p:sp>
      <p:sp>
        <p:nvSpPr>
          <p:cNvPr id="24" name="QText4"/>
          <p:cNvSpPr/>
          <p:nvPr/>
        </p:nvSpPr>
        <p:spPr>
          <a:xfrm>
            <a:off x="6462064" y="1207008"/>
            <a:ext cx="5461711" cy="390448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l"/>
            <a:r>
              <a:rPr lang="en-GB" sz="1470" b="0" dirty="0">
                <a:solidFill>
                  <a:srgbClr val="777777"/>
                </a:solidFill>
                <a:latin typeface="Aptos"/>
              </a:rPr>
              <a:t>How many sides does a hexagon have?</a:t>
            </a:r>
          </a:p>
        </p:txBody>
      </p:sp>
      <p:sp>
        <p:nvSpPr>
          <p:cNvPr id="25" name="AText4"/>
          <p:cNvSpPr/>
          <p:nvPr/>
        </p:nvSpPr>
        <p:spPr>
          <a:xfrm>
            <a:off x="6462064" y="1584655"/>
            <a:ext cx="5461711" cy="2087575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l"/>
            <a:r>
              <a:rPr lang="en-GB" sz="2800" b="1" dirty="0">
                <a:solidFill>
                  <a:srgbClr val="1D6B40"/>
                </a:solidFill>
                <a:latin typeface="Aptos"/>
              </a:rPr>
              <a:t>6</a:t>
            </a:r>
          </a:p>
        </p:txBody>
      </p:sp>
      <p:sp>
        <p:nvSpPr>
          <p:cNvPr id="26" name="Card5"/>
          <p:cNvSpPr/>
          <p:nvPr/>
        </p:nvSpPr>
        <p:spPr>
          <a:xfrm>
            <a:off x="6315760" y="3856024"/>
            <a:ext cx="5669280" cy="2880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D6B40"/>
            </a:solidFill>
          </a:ln>
        </p:spPr>
        <p:txBody>
          <a:bodyPr/>
          <a:lstStyle/>
          <a:p/>
        </p:txBody>
      </p:sp>
      <p:sp>
        <p:nvSpPr>
          <p:cNvPr id="27" name="Topic5"/>
          <p:cNvSpPr/>
          <p:nvPr/>
        </p:nvSpPr>
        <p:spPr>
          <a:xfrm>
            <a:off x="6462064" y="3917289"/>
            <a:ext cx="5461711" cy="292608"/>
          </a:xfrm>
          <a:prstGeom prst="rect">
            <a:avLst/>
          </a:prstGeom>
          <a:solidFill>
            <a:srgbClr val="156082"/>
          </a:solidFill>
          <a:ln w="0">
            <a:noFill/>
          </a:ln>
        </p:spPr>
        <p:txBody>
          <a:bodyPr rtlCol="0" anchor="ctr"/>
          <a:lstStyle/>
          <a:p>
            <a:pPr algn="l"/>
            <a:r>
              <a:rPr lang="en-GB" sz="1470" b="0" dirty="0">
                <a:solidFill>
                  <a:srgbClr val="156082"/>
                </a:solidFill>
                <a:latin typeface="Aptos"/>
              </a:rPr>
              <a:t>Q5  Measurement</a:t>
            </a:r>
          </a:p>
        </p:txBody>
      </p:sp>
      <p:sp>
        <p:nvSpPr>
          <p:cNvPr id="28" name="QText5"/>
          <p:cNvSpPr/>
          <p:nvPr/>
        </p:nvSpPr>
        <p:spPr>
          <a:xfrm>
            <a:off x="6462064" y="4209897"/>
            <a:ext cx="5461711" cy="390448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l"/>
            <a:r>
              <a:rPr lang="en-GB" sz="1470" b="0" dirty="0">
                <a:solidFill>
                  <a:srgbClr val="777777"/>
                </a:solidFill>
                <a:latin typeface="Aptos"/>
              </a:rPr>
              <a:t>How many centimetres are in 2 metres?</a:t>
            </a:r>
          </a:p>
        </p:txBody>
      </p:sp>
      <p:sp>
        <p:nvSpPr>
          <p:cNvPr id="29" name="AText5"/>
          <p:cNvSpPr/>
          <p:nvPr/>
        </p:nvSpPr>
        <p:spPr>
          <a:xfrm>
            <a:off x="6462064" y="4587544"/>
            <a:ext cx="5461711" cy="2087575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l"/>
            <a:r>
              <a:rPr lang="en-GB" sz="2800" b="1" dirty="0">
                <a:solidFill>
                  <a:srgbClr val="1D6B40"/>
                </a:solidFill>
                <a:latin typeface="Aptos"/>
              </a:rPr>
              <a:t>200 cm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Precise Mathematical 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Media Placeholder 3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50" name="VocabBody"/>
          <p:cNvSpPr/>
          <p:nvPr/>
        </p:nvSpPr>
        <p:spPr>
          <a:xfrm>
            <a:off x="838504" y="1826056"/>
            <a:ext cx="11160252" cy="4860036"/>
          </a:xfrm>
          <a:prstGeom prst="rect">
            <a:avLst/>
          </a:prstGeom>
          <a:noFill/>
          <a:ln w="0">
            <a:noFill/>
          </a:ln>
        </p:spPr>
        <p:txBody>
          <a:bodyPr rtlCol="0" anchor="t">
            <a:normAutofit/>
          </a:bodyPr>
          <a:lstStyle/>
          <a:p>
            <a:pPr lvl="0"/>
            <a:r>
              <a:rPr lang="en-GB" sz="1800" b="1" dirty="0">
                <a:latin typeface="Twinkl Cursive Looped Light"/>
              </a:rPr>
              <a:t>grid</a:t>
            </a:r>
          </a:p>
          <a:p>
            <a:pPr lvl="1"/>
            <a:r>
              <a:rPr lang="en-GB" sz="1600" b="0" dirty="0">
                <a:latin typeface="Twinkl Cursive Looped Light"/>
              </a:rPr>
              <a:t>A pattern of lines making rows and columns of squares.</a:t>
            </a:r>
          </a:p>
          <a:p>
            <a:pPr lvl="1"/>
            <a:endParaRPr lang="en-GB" dirty="0"/>
          </a:p>
          <a:p>
            <a:pPr lvl="0"/>
            <a:r>
              <a:rPr lang="en-GB" sz="1800" b="1" dirty="0">
                <a:latin typeface="Twinkl Cursive Looped Light"/>
              </a:rPr>
              <a:t>direction</a:t>
            </a:r>
          </a:p>
          <a:p>
            <a:pPr lvl="1"/>
            <a:r>
              <a:rPr lang="en-GB" sz="1600" b="0" dirty="0">
                <a:latin typeface="Twinkl Cursive Looped Light"/>
              </a:rPr>
              <a:t>The way you move on a grid — left, right, up or down.</a:t>
            </a:r>
          </a:p>
          <a:p>
            <a:pPr lvl="1"/>
            <a:endParaRPr lang="en-GB" dirty="0"/>
          </a:p>
          <a:p>
            <a:pPr lvl="0"/>
            <a:r>
              <a:rPr lang="en-GB" sz="1800" b="1" dirty="0">
                <a:latin typeface="Twinkl Cursive Looped Light"/>
              </a:rPr>
              <a:t>steps</a:t>
            </a:r>
          </a:p>
          <a:p>
            <a:pPr lvl="1"/>
            <a:r>
              <a:rPr lang="en-GB" sz="1600" b="0" dirty="0">
                <a:latin typeface="Twinkl Cursive Looped Light"/>
              </a:rPr>
              <a:t>The number of squares you move in one direction.</a:t>
            </a:r>
          </a:p>
          <a:p>
            <a:pPr lvl="1"/>
            <a:endParaRPr lang="en-GB" dirty="0"/>
          </a:p>
          <a:p>
            <a:pPr lvl="0"/>
            <a:r>
              <a:rPr lang="en-GB" sz="1800" b="1" dirty="0">
                <a:latin typeface="Twinkl Cursive Looped Light"/>
              </a:rPr>
              <a:t>route</a:t>
            </a:r>
          </a:p>
          <a:p>
            <a:pPr lvl="1"/>
            <a:r>
              <a:rPr lang="en-GB" sz="1600" b="0" dirty="0">
                <a:latin typeface="Twinkl Cursive Looped Light"/>
              </a:rPr>
              <a:t>The path you take from one place to another.</a:t>
            </a:r>
          </a:p>
          <a:p>
            <a:pPr lvl="1"/>
            <a:endParaRPr lang="en-GB" dirty="0"/>
          </a:p>
          <a:p>
            <a:pPr lvl="0"/>
            <a:r>
              <a:rPr lang="en-GB" sz="1800" b="1" dirty="0">
                <a:latin typeface="Twinkl Cursive Looped Light"/>
              </a:rPr>
              <a:t>position</a:t>
            </a:r>
          </a:p>
          <a:p>
            <a:pPr lvl="1"/>
            <a:r>
              <a:rPr lang="en-GB" sz="1600" b="0" dirty="0">
                <a:latin typeface="Twinkl Cursive Looped Light"/>
              </a:rPr>
              <a:t>The exact place where something sits on a grid.</a:t>
            </a:r>
          </a:p>
          <a:p>
            <a:pPr lvl="1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Giving directions on a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Media Placeholder 3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50" name="GridPanel"/>
          <p:cNvSpPr/>
          <p:nvPr/>
        </p:nvSpPr>
        <p:spPr>
          <a:xfrm>
            <a:off x="365760" y="1325880"/>
            <a:ext cx="640080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txBody>
          <a:bodyPr/>
          <a:lstStyle/>
          <a:p/>
        </p:txBody>
      </p:sp>
      <p:sp>
        <p:nvSpPr>
          <p:cNvPr id="51" name="HLine0"/>
          <p:cNvSpPr/>
          <p:nvPr/>
        </p:nvSpPr>
        <p:spPr>
          <a:xfrm>
            <a:off x="822960" y="1508760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2" name="HLine1"/>
          <p:cNvSpPr/>
          <p:nvPr/>
        </p:nvSpPr>
        <p:spPr>
          <a:xfrm>
            <a:off x="822960" y="2266405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3" name="HLine2"/>
          <p:cNvSpPr/>
          <p:nvPr/>
        </p:nvSpPr>
        <p:spPr>
          <a:xfrm>
            <a:off x="822960" y="3024051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4" name="HLine3"/>
          <p:cNvSpPr/>
          <p:nvPr/>
        </p:nvSpPr>
        <p:spPr>
          <a:xfrm>
            <a:off x="822960" y="3781697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5" name="HLine4"/>
          <p:cNvSpPr/>
          <p:nvPr/>
        </p:nvSpPr>
        <p:spPr>
          <a:xfrm>
            <a:off x="822960" y="4539342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6" name="HLine5"/>
          <p:cNvSpPr/>
          <p:nvPr/>
        </p:nvSpPr>
        <p:spPr>
          <a:xfrm>
            <a:off x="822960" y="5296988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7" name="HLine6"/>
          <p:cNvSpPr/>
          <p:nvPr/>
        </p:nvSpPr>
        <p:spPr>
          <a:xfrm>
            <a:off x="822960" y="6054634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0" name="VLine0"/>
          <p:cNvSpPr/>
          <p:nvPr/>
        </p:nvSpPr>
        <p:spPr>
          <a:xfrm>
            <a:off x="822960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1" name="VLine1"/>
          <p:cNvSpPr/>
          <p:nvPr/>
        </p:nvSpPr>
        <p:spPr>
          <a:xfrm>
            <a:off x="1580605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2" name="VLine2"/>
          <p:cNvSpPr/>
          <p:nvPr/>
        </p:nvSpPr>
        <p:spPr>
          <a:xfrm>
            <a:off x="2338251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3" name="VLine3"/>
          <p:cNvSpPr/>
          <p:nvPr/>
        </p:nvSpPr>
        <p:spPr>
          <a:xfrm>
            <a:off x="3095897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4" name="VLine4"/>
          <p:cNvSpPr/>
          <p:nvPr/>
        </p:nvSpPr>
        <p:spPr>
          <a:xfrm>
            <a:off x="3853542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5" name="VLine5"/>
          <p:cNvSpPr/>
          <p:nvPr/>
        </p:nvSpPr>
        <p:spPr>
          <a:xfrm>
            <a:off x="4611188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6" name="VLine6"/>
          <p:cNvSpPr/>
          <p:nvPr/>
        </p:nvSpPr>
        <p:spPr>
          <a:xfrm>
            <a:off x="5368834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70" name="XLabel0"/>
          <p:cNvSpPr/>
          <p:nvPr/>
        </p:nvSpPr>
        <p:spPr>
          <a:xfrm>
            <a:off x="713232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0</a:t>
            </a:r>
          </a:p>
        </p:txBody>
      </p:sp>
      <p:sp>
        <p:nvSpPr>
          <p:cNvPr id="71" name="XLabel1"/>
          <p:cNvSpPr/>
          <p:nvPr/>
        </p:nvSpPr>
        <p:spPr>
          <a:xfrm>
            <a:off x="1470877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1</a:t>
            </a:r>
          </a:p>
        </p:txBody>
      </p:sp>
      <p:sp>
        <p:nvSpPr>
          <p:cNvPr id="72" name="XLabel2"/>
          <p:cNvSpPr/>
          <p:nvPr/>
        </p:nvSpPr>
        <p:spPr>
          <a:xfrm>
            <a:off x="2228523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2</a:t>
            </a:r>
          </a:p>
        </p:txBody>
      </p:sp>
      <p:sp>
        <p:nvSpPr>
          <p:cNvPr id="73" name="XLabel3"/>
          <p:cNvSpPr/>
          <p:nvPr/>
        </p:nvSpPr>
        <p:spPr>
          <a:xfrm>
            <a:off x="2986169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3</a:t>
            </a:r>
          </a:p>
        </p:txBody>
      </p:sp>
      <p:sp>
        <p:nvSpPr>
          <p:cNvPr id="74" name="XLabel4"/>
          <p:cNvSpPr/>
          <p:nvPr/>
        </p:nvSpPr>
        <p:spPr>
          <a:xfrm>
            <a:off x="3743814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4</a:t>
            </a:r>
          </a:p>
        </p:txBody>
      </p:sp>
      <p:sp>
        <p:nvSpPr>
          <p:cNvPr id="75" name="XLabel5"/>
          <p:cNvSpPr/>
          <p:nvPr/>
        </p:nvSpPr>
        <p:spPr>
          <a:xfrm>
            <a:off x="4501460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5</a:t>
            </a:r>
          </a:p>
        </p:txBody>
      </p:sp>
      <p:sp>
        <p:nvSpPr>
          <p:cNvPr id="76" name="XLabel6"/>
          <p:cNvSpPr/>
          <p:nvPr/>
        </p:nvSpPr>
        <p:spPr>
          <a:xfrm>
            <a:off x="5259106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6</a:t>
            </a:r>
          </a:p>
        </p:txBody>
      </p:sp>
      <p:sp>
        <p:nvSpPr>
          <p:cNvPr id="80" name="YLabel0"/>
          <p:cNvSpPr/>
          <p:nvPr/>
        </p:nvSpPr>
        <p:spPr>
          <a:xfrm>
            <a:off x="502920" y="5944906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0</a:t>
            </a:r>
          </a:p>
        </p:txBody>
      </p:sp>
      <p:sp>
        <p:nvSpPr>
          <p:cNvPr id="81" name="YLabel1"/>
          <p:cNvSpPr/>
          <p:nvPr/>
        </p:nvSpPr>
        <p:spPr>
          <a:xfrm>
            <a:off x="502920" y="5187260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1</a:t>
            </a:r>
          </a:p>
        </p:txBody>
      </p:sp>
      <p:sp>
        <p:nvSpPr>
          <p:cNvPr id="82" name="YLabel2"/>
          <p:cNvSpPr/>
          <p:nvPr/>
        </p:nvSpPr>
        <p:spPr>
          <a:xfrm>
            <a:off x="502920" y="4429614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2</a:t>
            </a:r>
          </a:p>
        </p:txBody>
      </p:sp>
      <p:sp>
        <p:nvSpPr>
          <p:cNvPr id="83" name="YLabel3"/>
          <p:cNvSpPr/>
          <p:nvPr/>
        </p:nvSpPr>
        <p:spPr>
          <a:xfrm>
            <a:off x="502920" y="3671969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3</a:t>
            </a:r>
          </a:p>
        </p:txBody>
      </p:sp>
      <p:sp>
        <p:nvSpPr>
          <p:cNvPr id="84" name="YLabel4"/>
          <p:cNvSpPr/>
          <p:nvPr/>
        </p:nvSpPr>
        <p:spPr>
          <a:xfrm>
            <a:off x="502920" y="2914323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4</a:t>
            </a:r>
          </a:p>
        </p:txBody>
      </p:sp>
      <p:sp>
        <p:nvSpPr>
          <p:cNvPr id="85" name="YLabel5"/>
          <p:cNvSpPr/>
          <p:nvPr/>
        </p:nvSpPr>
        <p:spPr>
          <a:xfrm>
            <a:off x="502920" y="2156677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5</a:t>
            </a:r>
          </a:p>
        </p:txBody>
      </p:sp>
      <p:sp>
        <p:nvSpPr>
          <p:cNvPr id="86" name="YLabel6"/>
          <p:cNvSpPr/>
          <p:nvPr/>
        </p:nvSpPr>
        <p:spPr>
          <a:xfrm>
            <a:off x="502920" y="1399031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6</a:t>
            </a:r>
          </a:p>
        </p:txBody>
      </p:sp>
      <p:sp>
        <p:nvSpPr>
          <p:cNvPr id="90" name="XAxisLabel"/>
          <p:cNvSpPr/>
          <p:nvPr/>
        </p:nvSpPr>
        <p:spPr>
          <a:xfrm>
            <a:off x="2958737" y="6374674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" b="1" dirty="0">
                <a:solidFill>
                  <a:srgbClr val="156082"/>
                </a:solidFill>
                <a:latin typeface="Aptos"/>
              </a:rPr>
              <a:t>x</a:t>
            </a:r>
          </a:p>
        </p:txBody>
      </p:sp>
      <p:sp>
        <p:nvSpPr>
          <p:cNvPr id="91" name="YAxisLabel"/>
          <p:cNvSpPr/>
          <p:nvPr/>
        </p:nvSpPr>
        <p:spPr>
          <a:xfrm>
            <a:off x="365760" y="3671969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" b="1" dirty="0">
                <a:solidFill>
                  <a:srgbClr val="156082"/>
                </a:solidFill>
                <a:latin typeface="Aptos"/>
              </a:rPr>
              <a:t>y</a:t>
            </a:r>
          </a:p>
        </p:txBody>
      </p:sp>
      <p:sp>
        <p:nvSpPr>
          <p:cNvPr id="100" name="PointA"/>
          <p:cNvSpPr/>
          <p:nvPr/>
        </p:nvSpPr>
        <p:spPr>
          <a:xfrm>
            <a:off x="1470877" y="5187260"/>
            <a:ext cx="219456" cy="219456"/>
          </a:xfrm>
          <a:prstGeom prst="ellipse">
            <a:avLst/>
          </a:prstGeom>
          <a:solidFill>
            <a:srgbClr val="1F4E7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110" name="PtLabelA"/>
          <p:cNvSpPr/>
          <p:nvPr/>
        </p:nvSpPr>
        <p:spPr>
          <a:xfrm>
            <a:off x="1635469" y="4876364"/>
            <a:ext cx="274320" cy="201168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" b="1" dirty="0">
                <a:solidFill>
                  <a:srgbClr val="1F4E79"/>
                </a:solidFill>
                <a:latin typeface="Aptos"/>
              </a:rPr>
              <a:t>A</a:t>
            </a:r>
          </a:p>
        </p:txBody>
      </p:sp>
      <p:sp>
        <p:nvSpPr>
          <p:cNvPr id="101" name="PointB"/>
          <p:cNvSpPr/>
          <p:nvPr/>
        </p:nvSpPr>
        <p:spPr>
          <a:xfrm>
            <a:off x="3743814" y="3671969"/>
            <a:ext cx="219456" cy="219456"/>
          </a:xfrm>
          <a:prstGeom prst="ellipse">
            <a:avLst/>
          </a:prstGeom>
          <a:solidFill>
            <a:srgbClr val="C00000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111" name="PtLabelB"/>
          <p:cNvSpPr/>
          <p:nvPr/>
        </p:nvSpPr>
        <p:spPr>
          <a:xfrm>
            <a:off x="3908406" y="3361073"/>
            <a:ext cx="274320" cy="201168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" b="1" dirty="0">
                <a:solidFill>
                  <a:srgbClr val="C00000"/>
                </a:solidFill>
                <a:latin typeface="Aptos"/>
              </a:rPr>
              <a:t>B</a:t>
            </a:r>
          </a:p>
        </p:txBody>
      </p:sp>
      <p:sp>
        <p:nvSpPr>
          <p:cNvPr id="130" name="Caption"/>
          <p:cNvSpPr/>
          <p:nvPr/>
        </p:nvSpPr>
        <p:spPr>
          <a:xfrm>
            <a:off x="6995160" y="1463039"/>
            <a:ext cx="5013655" cy="1097280"/>
          </a:xfrm>
          <a:prstGeom prst="rect">
            <a:avLst/>
          </a:prstGeom>
          <a:solidFill>
            <a:srgbClr val="DEECF8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l"/>
            <a:r>
              <a:rPr lang="en-GB" sz="2000" dirty="0">
                <a:solidFill>
                  <a:srgbClr val="1F4E79"/>
                </a:solidFill>
                <a:latin typeface="Twinkl Cursive Looped Light"/>
              </a:rPr>
              <a:t>How do we get from A to 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Does the order of moves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Media Placeholder 3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50" name="GridPanel"/>
          <p:cNvSpPr/>
          <p:nvPr/>
        </p:nvSpPr>
        <p:spPr>
          <a:xfrm>
            <a:off x="365760" y="1325880"/>
            <a:ext cx="640080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txBody>
          <a:bodyPr/>
          <a:lstStyle/>
          <a:p/>
        </p:txBody>
      </p:sp>
      <p:sp>
        <p:nvSpPr>
          <p:cNvPr id="51" name="HLine0"/>
          <p:cNvSpPr/>
          <p:nvPr/>
        </p:nvSpPr>
        <p:spPr>
          <a:xfrm>
            <a:off x="822960" y="1508760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2" name="HLine1"/>
          <p:cNvSpPr/>
          <p:nvPr/>
        </p:nvSpPr>
        <p:spPr>
          <a:xfrm>
            <a:off x="822960" y="2266405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3" name="HLine2"/>
          <p:cNvSpPr/>
          <p:nvPr/>
        </p:nvSpPr>
        <p:spPr>
          <a:xfrm>
            <a:off x="822960" y="3024051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4" name="HLine3"/>
          <p:cNvSpPr/>
          <p:nvPr/>
        </p:nvSpPr>
        <p:spPr>
          <a:xfrm>
            <a:off x="822960" y="3781697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5" name="HLine4"/>
          <p:cNvSpPr/>
          <p:nvPr/>
        </p:nvSpPr>
        <p:spPr>
          <a:xfrm>
            <a:off x="822960" y="4539342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6" name="HLine5"/>
          <p:cNvSpPr/>
          <p:nvPr/>
        </p:nvSpPr>
        <p:spPr>
          <a:xfrm>
            <a:off x="822960" y="5296988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7" name="HLine6"/>
          <p:cNvSpPr/>
          <p:nvPr/>
        </p:nvSpPr>
        <p:spPr>
          <a:xfrm>
            <a:off x="822960" y="6054634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0" name="VLine0"/>
          <p:cNvSpPr/>
          <p:nvPr/>
        </p:nvSpPr>
        <p:spPr>
          <a:xfrm>
            <a:off x="822960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1" name="VLine1"/>
          <p:cNvSpPr/>
          <p:nvPr/>
        </p:nvSpPr>
        <p:spPr>
          <a:xfrm>
            <a:off x="1580605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2" name="VLine2"/>
          <p:cNvSpPr/>
          <p:nvPr/>
        </p:nvSpPr>
        <p:spPr>
          <a:xfrm>
            <a:off x="2338251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3" name="VLine3"/>
          <p:cNvSpPr/>
          <p:nvPr/>
        </p:nvSpPr>
        <p:spPr>
          <a:xfrm>
            <a:off x="3095897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4" name="VLine4"/>
          <p:cNvSpPr/>
          <p:nvPr/>
        </p:nvSpPr>
        <p:spPr>
          <a:xfrm>
            <a:off x="3853542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5" name="VLine5"/>
          <p:cNvSpPr/>
          <p:nvPr/>
        </p:nvSpPr>
        <p:spPr>
          <a:xfrm>
            <a:off x="4611188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6" name="VLine6"/>
          <p:cNvSpPr/>
          <p:nvPr/>
        </p:nvSpPr>
        <p:spPr>
          <a:xfrm>
            <a:off x="5368834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70" name="XLabel0"/>
          <p:cNvSpPr/>
          <p:nvPr/>
        </p:nvSpPr>
        <p:spPr>
          <a:xfrm>
            <a:off x="713232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0</a:t>
            </a:r>
          </a:p>
        </p:txBody>
      </p:sp>
      <p:sp>
        <p:nvSpPr>
          <p:cNvPr id="71" name="XLabel1"/>
          <p:cNvSpPr/>
          <p:nvPr/>
        </p:nvSpPr>
        <p:spPr>
          <a:xfrm>
            <a:off x="1470877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1</a:t>
            </a:r>
          </a:p>
        </p:txBody>
      </p:sp>
      <p:sp>
        <p:nvSpPr>
          <p:cNvPr id="72" name="XLabel2"/>
          <p:cNvSpPr/>
          <p:nvPr/>
        </p:nvSpPr>
        <p:spPr>
          <a:xfrm>
            <a:off x="2228523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2</a:t>
            </a:r>
          </a:p>
        </p:txBody>
      </p:sp>
      <p:sp>
        <p:nvSpPr>
          <p:cNvPr id="73" name="XLabel3"/>
          <p:cNvSpPr/>
          <p:nvPr/>
        </p:nvSpPr>
        <p:spPr>
          <a:xfrm>
            <a:off x="2986169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3</a:t>
            </a:r>
          </a:p>
        </p:txBody>
      </p:sp>
      <p:sp>
        <p:nvSpPr>
          <p:cNvPr id="74" name="XLabel4"/>
          <p:cNvSpPr/>
          <p:nvPr/>
        </p:nvSpPr>
        <p:spPr>
          <a:xfrm>
            <a:off x="3743814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4</a:t>
            </a:r>
          </a:p>
        </p:txBody>
      </p:sp>
      <p:sp>
        <p:nvSpPr>
          <p:cNvPr id="75" name="XLabel5"/>
          <p:cNvSpPr/>
          <p:nvPr/>
        </p:nvSpPr>
        <p:spPr>
          <a:xfrm>
            <a:off x="4501460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5</a:t>
            </a:r>
          </a:p>
        </p:txBody>
      </p:sp>
      <p:sp>
        <p:nvSpPr>
          <p:cNvPr id="76" name="XLabel6"/>
          <p:cNvSpPr/>
          <p:nvPr/>
        </p:nvSpPr>
        <p:spPr>
          <a:xfrm>
            <a:off x="5259106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6</a:t>
            </a:r>
          </a:p>
        </p:txBody>
      </p:sp>
      <p:sp>
        <p:nvSpPr>
          <p:cNvPr id="80" name="YLabel0"/>
          <p:cNvSpPr/>
          <p:nvPr/>
        </p:nvSpPr>
        <p:spPr>
          <a:xfrm>
            <a:off x="502920" y="5944906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0</a:t>
            </a:r>
          </a:p>
        </p:txBody>
      </p:sp>
      <p:sp>
        <p:nvSpPr>
          <p:cNvPr id="81" name="YLabel1"/>
          <p:cNvSpPr/>
          <p:nvPr/>
        </p:nvSpPr>
        <p:spPr>
          <a:xfrm>
            <a:off x="502920" y="5187260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1</a:t>
            </a:r>
          </a:p>
        </p:txBody>
      </p:sp>
      <p:sp>
        <p:nvSpPr>
          <p:cNvPr id="82" name="YLabel2"/>
          <p:cNvSpPr/>
          <p:nvPr/>
        </p:nvSpPr>
        <p:spPr>
          <a:xfrm>
            <a:off x="502920" y="4429614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2</a:t>
            </a:r>
          </a:p>
        </p:txBody>
      </p:sp>
      <p:sp>
        <p:nvSpPr>
          <p:cNvPr id="83" name="YLabel3"/>
          <p:cNvSpPr/>
          <p:nvPr/>
        </p:nvSpPr>
        <p:spPr>
          <a:xfrm>
            <a:off x="502920" y="3671969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3</a:t>
            </a:r>
          </a:p>
        </p:txBody>
      </p:sp>
      <p:sp>
        <p:nvSpPr>
          <p:cNvPr id="84" name="YLabel4"/>
          <p:cNvSpPr/>
          <p:nvPr/>
        </p:nvSpPr>
        <p:spPr>
          <a:xfrm>
            <a:off x="502920" y="2914323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4</a:t>
            </a:r>
          </a:p>
        </p:txBody>
      </p:sp>
      <p:sp>
        <p:nvSpPr>
          <p:cNvPr id="85" name="YLabel5"/>
          <p:cNvSpPr/>
          <p:nvPr/>
        </p:nvSpPr>
        <p:spPr>
          <a:xfrm>
            <a:off x="502920" y="2156677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5</a:t>
            </a:r>
          </a:p>
        </p:txBody>
      </p:sp>
      <p:sp>
        <p:nvSpPr>
          <p:cNvPr id="86" name="YLabel6"/>
          <p:cNvSpPr/>
          <p:nvPr/>
        </p:nvSpPr>
        <p:spPr>
          <a:xfrm>
            <a:off x="502920" y="1399031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6</a:t>
            </a:r>
          </a:p>
        </p:txBody>
      </p:sp>
      <p:sp>
        <p:nvSpPr>
          <p:cNvPr id="90" name="XAxisLabel"/>
          <p:cNvSpPr/>
          <p:nvPr/>
        </p:nvSpPr>
        <p:spPr>
          <a:xfrm>
            <a:off x="2958737" y="6374674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" b="1" dirty="0">
                <a:solidFill>
                  <a:srgbClr val="156082"/>
                </a:solidFill>
                <a:latin typeface="Aptos"/>
              </a:rPr>
              <a:t>x</a:t>
            </a:r>
          </a:p>
        </p:txBody>
      </p:sp>
      <p:sp>
        <p:nvSpPr>
          <p:cNvPr id="91" name="YAxisLabel"/>
          <p:cNvSpPr/>
          <p:nvPr/>
        </p:nvSpPr>
        <p:spPr>
          <a:xfrm>
            <a:off x="365760" y="3671969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" b="1" dirty="0">
                <a:solidFill>
                  <a:srgbClr val="156082"/>
                </a:solidFill>
                <a:latin typeface="Aptos"/>
              </a:rPr>
              <a:t>y</a:t>
            </a:r>
          </a:p>
        </p:txBody>
      </p:sp>
      <p:sp>
        <p:nvSpPr>
          <p:cNvPr id="100" name="PointA"/>
          <p:cNvSpPr/>
          <p:nvPr/>
        </p:nvSpPr>
        <p:spPr>
          <a:xfrm>
            <a:off x="1470877" y="2914323"/>
            <a:ext cx="219456" cy="219456"/>
          </a:xfrm>
          <a:prstGeom prst="ellipse">
            <a:avLst/>
          </a:prstGeom>
          <a:solidFill>
            <a:srgbClr val="1F4E7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110" name="PtLabelA"/>
          <p:cNvSpPr/>
          <p:nvPr/>
        </p:nvSpPr>
        <p:spPr>
          <a:xfrm>
            <a:off x="1635469" y="2603427"/>
            <a:ext cx="274320" cy="201168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" b="1" dirty="0">
                <a:solidFill>
                  <a:srgbClr val="1F4E79"/>
                </a:solidFill>
                <a:latin typeface="Aptos"/>
              </a:rPr>
              <a:t>A</a:t>
            </a:r>
          </a:p>
        </p:txBody>
      </p:sp>
      <p:sp>
        <p:nvSpPr>
          <p:cNvPr id="101" name="PointB"/>
          <p:cNvSpPr/>
          <p:nvPr/>
        </p:nvSpPr>
        <p:spPr>
          <a:xfrm>
            <a:off x="3743814" y="4429614"/>
            <a:ext cx="219456" cy="219456"/>
          </a:xfrm>
          <a:prstGeom prst="ellipse">
            <a:avLst/>
          </a:prstGeom>
          <a:solidFill>
            <a:srgbClr val="C00000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111" name="PtLabelB"/>
          <p:cNvSpPr/>
          <p:nvPr/>
        </p:nvSpPr>
        <p:spPr>
          <a:xfrm>
            <a:off x="3908406" y="4118718"/>
            <a:ext cx="274320" cy="201168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" b="1" dirty="0">
                <a:solidFill>
                  <a:srgbClr val="C00000"/>
                </a:solidFill>
                <a:latin typeface="Aptos"/>
              </a:rPr>
              <a:t>B</a:t>
            </a:r>
          </a:p>
        </p:txBody>
      </p:sp>
      <p:sp>
        <p:nvSpPr>
          <p:cNvPr id="130" name="Caption"/>
          <p:cNvSpPr/>
          <p:nvPr/>
        </p:nvSpPr>
        <p:spPr>
          <a:xfrm>
            <a:off x="6995160" y="1463039"/>
            <a:ext cx="5013655" cy="1097280"/>
          </a:xfrm>
          <a:prstGeom prst="rect">
            <a:avLst/>
          </a:prstGeom>
          <a:solidFill>
            <a:srgbClr val="DEECF8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l"/>
            <a:r>
              <a:rPr lang="en-GB" sz="2000" dirty="0">
                <a:solidFill>
                  <a:srgbClr val="1F4E79"/>
                </a:solidFill>
                <a:latin typeface="Twinkl Cursive Looped Light"/>
              </a:rPr>
              <a:t>Try: 3 right then 2 down. Now try: 2 down then 3 right. Where do you end up?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turn — write the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Media Placeholder 3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50" name="GridPanel"/>
          <p:cNvSpPr/>
          <p:nvPr/>
        </p:nvSpPr>
        <p:spPr>
          <a:xfrm>
            <a:off x="365760" y="1325880"/>
            <a:ext cx="640080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txBody>
          <a:bodyPr/>
          <a:lstStyle/>
          <a:p/>
        </p:txBody>
      </p:sp>
      <p:sp>
        <p:nvSpPr>
          <p:cNvPr id="51" name="HLine0"/>
          <p:cNvSpPr/>
          <p:nvPr/>
        </p:nvSpPr>
        <p:spPr>
          <a:xfrm>
            <a:off x="822960" y="1508760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2" name="HLine1"/>
          <p:cNvSpPr/>
          <p:nvPr/>
        </p:nvSpPr>
        <p:spPr>
          <a:xfrm>
            <a:off x="822960" y="2266405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3" name="HLine2"/>
          <p:cNvSpPr/>
          <p:nvPr/>
        </p:nvSpPr>
        <p:spPr>
          <a:xfrm>
            <a:off x="822960" y="3024051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4" name="HLine3"/>
          <p:cNvSpPr/>
          <p:nvPr/>
        </p:nvSpPr>
        <p:spPr>
          <a:xfrm>
            <a:off x="822960" y="3781697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5" name="HLine4"/>
          <p:cNvSpPr/>
          <p:nvPr/>
        </p:nvSpPr>
        <p:spPr>
          <a:xfrm>
            <a:off x="822960" y="4539342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6" name="HLine5"/>
          <p:cNvSpPr/>
          <p:nvPr/>
        </p:nvSpPr>
        <p:spPr>
          <a:xfrm>
            <a:off x="822960" y="5296988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7" name="HLine6"/>
          <p:cNvSpPr/>
          <p:nvPr/>
        </p:nvSpPr>
        <p:spPr>
          <a:xfrm>
            <a:off x="822960" y="6054634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0" name="VLine0"/>
          <p:cNvSpPr/>
          <p:nvPr/>
        </p:nvSpPr>
        <p:spPr>
          <a:xfrm>
            <a:off x="822960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1" name="VLine1"/>
          <p:cNvSpPr/>
          <p:nvPr/>
        </p:nvSpPr>
        <p:spPr>
          <a:xfrm>
            <a:off x="1580605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2" name="VLine2"/>
          <p:cNvSpPr/>
          <p:nvPr/>
        </p:nvSpPr>
        <p:spPr>
          <a:xfrm>
            <a:off x="2338251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3" name="VLine3"/>
          <p:cNvSpPr/>
          <p:nvPr/>
        </p:nvSpPr>
        <p:spPr>
          <a:xfrm>
            <a:off x="3095897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4" name="VLine4"/>
          <p:cNvSpPr/>
          <p:nvPr/>
        </p:nvSpPr>
        <p:spPr>
          <a:xfrm>
            <a:off x="3853542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5" name="VLine5"/>
          <p:cNvSpPr/>
          <p:nvPr/>
        </p:nvSpPr>
        <p:spPr>
          <a:xfrm>
            <a:off x="4611188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6" name="VLine6"/>
          <p:cNvSpPr/>
          <p:nvPr/>
        </p:nvSpPr>
        <p:spPr>
          <a:xfrm>
            <a:off x="5368834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70" name="XLabel0"/>
          <p:cNvSpPr/>
          <p:nvPr/>
        </p:nvSpPr>
        <p:spPr>
          <a:xfrm>
            <a:off x="713232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0</a:t>
            </a:r>
          </a:p>
        </p:txBody>
      </p:sp>
      <p:sp>
        <p:nvSpPr>
          <p:cNvPr id="71" name="XLabel1"/>
          <p:cNvSpPr/>
          <p:nvPr/>
        </p:nvSpPr>
        <p:spPr>
          <a:xfrm>
            <a:off x="1470877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1</a:t>
            </a:r>
          </a:p>
        </p:txBody>
      </p:sp>
      <p:sp>
        <p:nvSpPr>
          <p:cNvPr id="72" name="XLabel2"/>
          <p:cNvSpPr/>
          <p:nvPr/>
        </p:nvSpPr>
        <p:spPr>
          <a:xfrm>
            <a:off x="2228523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2</a:t>
            </a:r>
          </a:p>
        </p:txBody>
      </p:sp>
      <p:sp>
        <p:nvSpPr>
          <p:cNvPr id="73" name="XLabel3"/>
          <p:cNvSpPr/>
          <p:nvPr/>
        </p:nvSpPr>
        <p:spPr>
          <a:xfrm>
            <a:off x="2986169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3</a:t>
            </a:r>
          </a:p>
        </p:txBody>
      </p:sp>
      <p:sp>
        <p:nvSpPr>
          <p:cNvPr id="74" name="XLabel4"/>
          <p:cNvSpPr/>
          <p:nvPr/>
        </p:nvSpPr>
        <p:spPr>
          <a:xfrm>
            <a:off x="3743814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4</a:t>
            </a:r>
          </a:p>
        </p:txBody>
      </p:sp>
      <p:sp>
        <p:nvSpPr>
          <p:cNvPr id="75" name="XLabel5"/>
          <p:cNvSpPr/>
          <p:nvPr/>
        </p:nvSpPr>
        <p:spPr>
          <a:xfrm>
            <a:off x="4501460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5</a:t>
            </a:r>
          </a:p>
        </p:txBody>
      </p:sp>
      <p:sp>
        <p:nvSpPr>
          <p:cNvPr id="76" name="XLabel6"/>
          <p:cNvSpPr/>
          <p:nvPr/>
        </p:nvSpPr>
        <p:spPr>
          <a:xfrm>
            <a:off x="5259106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6</a:t>
            </a:r>
          </a:p>
        </p:txBody>
      </p:sp>
      <p:sp>
        <p:nvSpPr>
          <p:cNvPr id="80" name="YLabel0"/>
          <p:cNvSpPr/>
          <p:nvPr/>
        </p:nvSpPr>
        <p:spPr>
          <a:xfrm>
            <a:off x="502920" y="5944906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0</a:t>
            </a:r>
          </a:p>
        </p:txBody>
      </p:sp>
      <p:sp>
        <p:nvSpPr>
          <p:cNvPr id="81" name="YLabel1"/>
          <p:cNvSpPr/>
          <p:nvPr/>
        </p:nvSpPr>
        <p:spPr>
          <a:xfrm>
            <a:off x="502920" y="5187260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1</a:t>
            </a:r>
          </a:p>
        </p:txBody>
      </p:sp>
      <p:sp>
        <p:nvSpPr>
          <p:cNvPr id="82" name="YLabel2"/>
          <p:cNvSpPr/>
          <p:nvPr/>
        </p:nvSpPr>
        <p:spPr>
          <a:xfrm>
            <a:off x="502920" y="4429614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2</a:t>
            </a:r>
          </a:p>
        </p:txBody>
      </p:sp>
      <p:sp>
        <p:nvSpPr>
          <p:cNvPr id="83" name="YLabel3"/>
          <p:cNvSpPr/>
          <p:nvPr/>
        </p:nvSpPr>
        <p:spPr>
          <a:xfrm>
            <a:off x="502920" y="3671969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3</a:t>
            </a:r>
          </a:p>
        </p:txBody>
      </p:sp>
      <p:sp>
        <p:nvSpPr>
          <p:cNvPr id="84" name="YLabel4"/>
          <p:cNvSpPr/>
          <p:nvPr/>
        </p:nvSpPr>
        <p:spPr>
          <a:xfrm>
            <a:off x="502920" y="2914323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4</a:t>
            </a:r>
          </a:p>
        </p:txBody>
      </p:sp>
      <p:sp>
        <p:nvSpPr>
          <p:cNvPr id="85" name="YLabel5"/>
          <p:cNvSpPr/>
          <p:nvPr/>
        </p:nvSpPr>
        <p:spPr>
          <a:xfrm>
            <a:off x="502920" y="2156677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5</a:t>
            </a:r>
          </a:p>
        </p:txBody>
      </p:sp>
      <p:sp>
        <p:nvSpPr>
          <p:cNvPr id="86" name="YLabel6"/>
          <p:cNvSpPr/>
          <p:nvPr/>
        </p:nvSpPr>
        <p:spPr>
          <a:xfrm>
            <a:off x="502920" y="1399031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6</a:t>
            </a:r>
          </a:p>
        </p:txBody>
      </p:sp>
      <p:sp>
        <p:nvSpPr>
          <p:cNvPr id="90" name="XAxisLabel"/>
          <p:cNvSpPr/>
          <p:nvPr/>
        </p:nvSpPr>
        <p:spPr>
          <a:xfrm>
            <a:off x="2958737" y="6374674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" b="1" dirty="0">
                <a:solidFill>
                  <a:srgbClr val="156082"/>
                </a:solidFill>
                <a:latin typeface="Aptos"/>
              </a:rPr>
              <a:t>x</a:t>
            </a:r>
          </a:p>
        </p:txBody>
      </p:sp>
      <p:sp>
        <p:nvSpPr>
          <p:cNvPr id="91" name="YAxisLabel"/>
          <p:cNvSpPr/>
          <p:nvPr/>
        </p:nvSpPr>
        <p:spPr>
          <a:xfrm>
            <a:off x="365760" y="3671969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" b="1" dirty="0">
                <a:solidFill>
                  <a:srgbClr val="156082"/>
                </a:solidFill>
                <a:latin typeface="Aptos"/>
              </a:rPr>
              <a:t>y</a:t>
            </a:r>
          </a:p>
        </p:txBody>
      </p:sp>
      <p:sp>
        <p:nvSpPr>
          <p:cNvPr id="100" name="PointA"/>
          <p:cNvSpPr/>
          <p:nvPr/>
        </p:nvSpPr>
        <p:spPr>
          <a:xfrm>
            <a:off x="1470877" y="4429614"/>
            <a:ext cx="219456" cy="219456"/>
          </a:xfrm>
          <a:prstGeom prst="ellipse">
            <a:avLst/>
          </a:prstGeom>
          <a:solidFill>
            <a:srgbClr val="1F4E7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110" name="PtLabelA"/>
          <p:cNvSpPr/>
          <p:nvPr/>
        </p:nvSpPr>
        <p:spPr>
          <a:xfrm>
            <a:off x="1635469" y="4118718"/>
            <a:ext cx="274320" cy="201168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" b="1" dirty="0">
                <a:solidFill>
                  <a:srgbClr val="1F4E79"/>
                </a:solidFill>
                <a:latin typeface="Aptos"/>
              </a:rPr>
              <a:t>A</a:t>
            </a:r>
          </a:p>
        </p:txBody>
      </p:sp>
      <p:sp>
        <p:nvSpPr>
          <p:cNvPr id="101" name="PointB"/>
          <p:cNvSpPr/>
          <p:nvPr/>
        </p:nvSpPr>
        <p:spPr>
          <a:xfrm>
            <a:off x="4501460" y="2156677"/>
            <a:ext cx="219456" cy="219456"/>
          </a:xfrm>
          <a:prstGeom prst="ellipse">
            <a:avLst/>
          </a:prstGeom>
          <a:solidFill>
            <a:srgbClr val="C00000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111" name="PtLabelB"/>
          <p:cNvSpPr/>
          <p:nvPr/>
        </p:nvSpPr>
        <p:spPr>
          <a:xfrm>
            <a:off x="4666052" y="1845781"/>
            <a:ext cx="274320" cy="201168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" b="1" dirty="0">
                <a:solidFill>
                  <a:srgbClr val="C00000"/>
                </a:solidFill>
                <a:latin typeface="Aptos"/>
              </a:rPr>
              <a:t>B</a:t>
            </a:r>
          </a:p>
        </p:txBody>
      </p:sp>
      <p:sp>
        <p:nvSpPr>
          <p:cNvPr id="131" name="StemBox"/>
          <p:cNvSpPr/>
          <p:nvPr/>
        </p:nvSpPr>
        <p:spPr>
          <a:xfrm>
            <a:off x="6995160" y="1463039"/>
            <a:ext cx="5013655" cy="1280160"/>
          </a:xfrm>
          <a:prstGeom prst="rect">
            <a:avLst/>
          </a:prstGeom>
          <a:solidFill>
            <a:srgbClr val="FFF2CC"/>
          </a:solidFill>
          <a:ln w="19050">
            <a:solidFill>
              <a:srgbClr val="E8B825"/>
            </a:solidFill>
          </a:ln>
        </p:spPr>
        <p:txBody>
          <a:bodyPr rtlCol="0" anchor="ctr"/>
          <a:lstStyle/>
          <a:p>
            <a:pPr algn="l"/>
            <a:r>
              <a:rPr lang="en-GB" sz="1800" dirty="0">
                <a:solidFill>
                  <a:srgbClr val="1F4E79"/>
                </a:solidFill>
                <a:latin typeface="Twinkl Cursive Looped Light"/>
              </a:rPr>
              <a:t>From A, move ___ right/left and ___ up/down to reach 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Trios — three-stop journeys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Media Placeholder 3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20" name="Role1"/>
          <p:cNvSpPr/>
          <p:nvPr/>
        </p:nvSpPr>
        <p:spPr>
          <a:xfrm>
            <a:off x="457200" y="1463040"/>
            <a:ext cx="3474720" cy="914400"/>
          </a:xfrm>
          <a:prstGeom prst="rect">
            <a:avLst/>
          </a:prstGeom>
          <a:solidFill>
            <a:srgbClr val="DEEAF1"/>
          </a:solidFill>
          <a:ln w="19050">
            <a:solidFill>
              <a:srgbClr val="1F4E79"/>
            </a:solidFill>
          </a:ln>
        </p:spPr>
        <p:txBody>
          <a:bodyPr rtlCol="0" anchor="ctr"/>
          <a:lstStyle/>
          <a:p>
            <a:pPr algn="l"/>
            <a:r>
              <a:rPr lang="en-GB" sz="1800" b="1" dirty="0">
                <a:solidFill>
                  <a:srgbClr val="1F4E79"/>
                </a:solidFill>
                <a:latin typeface="Twinkl Cursive Looped Light"/>
              </a:rPr>
              <a:t>A: marks start and end</a:t>
            </a:r>
          </a:p>
        </p:txBody>
      </p:sp>
      <p:sp>
        <p:nvSpPr>
          <p:cNvPr id="21" name="Role2"/>
          <p:cNvSpPr/>
          <p:nvPr/>
        </p:nvSpPr>
        <p:spPr>
          <a:xfrm>
            <a:off x="457200" y="2514600"/>
            <a:ext cx="3474720" cy="914400"/>
          </a:xfrm>
          <a:prstGeom prst="rect">
            <a:avLst/>
          </a:prstGeom>
          <a:solidFill>
            <a:srgbClr val="EAD1F0"/>
          </a:solidFill>
          <a:ln w="19050">
            <a:solidFill>
              <a:srgbClr val="7030A0"/>
            </a:solidFill>
          </a:ln>
        </p:spPr>
        <p:txBody>
          <a:bodyPr rtlCol="0" anchor="ctr"/>
          <a:lstStyle/>
          <a:p>
            <a:pPr algn="l"/>
            <a:r>
              <a:rPr lang="en-GB" sz="1800" b="1" dirty="0">
                <a:solidFill>
                  <a:srgbClr val="7030A0"/>
                </a:solidFill>
                <a:latin typeface="Twinkl Cursive Looped Light"/>
              </a:rPr>
              <a:t>B: writes directions</a:t>
            </a:r>
          </a:p>
        </p:txBody>
      </p:sp>
      <p:sp>
        <p:nvSpPr>
          <p:cNvPr id="22" name="Role3"/>
          <p:cNvSpPr/>
          <p:nvPr/>
        </p:nvSpPr>
        <p:spPr>
          <a:xfrm>
            <a:off x="457200" y="3566160"/>
            <a:ext cx="3474720" cy="914400"/>
          </a:xfrm>
          <a:prstGeom prst="rect">
            <a:avLst/>
          </a:prstGeom>
          <a:solidFill>
            <a:srgbClr val="FCE4D6"/>
          </a:solidFill>
          <a:ln w="1905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r>
              <a:rPr lang="en-GB" sz="1800" b="1" dirty="0">
                <a:solidFill>
                  <a:srgbClr val="C00000"/>
                </a:solidFill>
                <a:latin typeface="Twinkl Cursive Looped Light"/>
              </a:rPr>
              <a:t>C: checks by tracing the route</a:t>
            </a:r>
          </a:p>
        </p:txBody>
      </p:sp>
      <p:sp>
        <p:nvSpPr>
          <p:cNvPr id="30" name="Task"/>
          <p:cNvSpPr/>
          <p:nvPr/>
        </p:nvSpPr>
        <p:spPr>
          <a:xfrm>
            <a:off x="4206240" y="1463040"/>
            <a:ext cx="7772400" cy="1280160"/>
          </a:xfrm>
          <a:prstGeom prst="rect">
            <a:avLst/>
          </a:prstGeom>
          <a:solidFill>
            <a:srgbClr val="DEECF8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l"/>
            <a:r>
              <a:rPr lang="en-GB" sz="1800" dirty="0">
                <a:solidFill>
                  <a:srgbClr val="1F4E79"/>
                </a:solidFill>
                <a:latin typeface="Twinkl Cursive Looped Light"/>
              </a:rPr>
              <a:t>Swap roles each round — aim for 3 complete journeys each.</a:t>
            </a:r>
          </a:p>
        </p:txBody>
      </p:sp>
      <p:sp>
        <p:nvSpPr>
          <p:cNvPr id="31" name="Challenge"/>
          <p:cNvSpPr/>
          <p:nvPr/>
        </p:nvSpPr>
        <p:spPr>
          <a:xfrm>
            <a:off x="4206240" y="2926080"/>
            <a:ext cx="7772400" cy="1005840"/>
          </a:xfrm>
          <a:prstGeom prst="rect">
            <a:avLst/>
          </a:prstGeom>
          <a:solidFill>
            <a:srgbClr val="F2E6F9"/>
          </a:solidFill>
          <a:ln w="19050">
            <a:solidFill>
              <a:srgbClr val="7030A0"/>
            </a:solidFill>
          </a:ln>
        </p:spPr>
        <p:txBody>
          <a:bodyPr rtlCol="0" anchor="ctr"/>
          <a:lstStyle/>
          <a:p>
            <a:pPr algn="l"/>
            <a:r>
              <a:rPr lang="en-GB" sz="1600" dirty="0">
                <a:solidFill>
                  <a:srgbClr val="7030A0"/>
                </a:solidFill>
                <a:latin typeface="Twinkl Cursive Looped Light"/>
              </a:rPr>
              <a:t>Challenge: Can you find two different direction sequences that produce the same journey?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Independent — direction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Media Placeholder 3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20" name="Standard"/>
          <p:cNvSpPr/>
          <p:nvPr/>
        </p:nvSpPr>
        <p:spPr>
          <a:xfrm>
            <a:off x="457200" y="1463040"/>
            <a:ext cx="11430000" cy="1188720"/>
          </a:xfrm>
          <a:prstGeom prst="rect">
            <a:avLst/>
          </a:prstGeom>
          <a:solidFill>
            <a:srgbClr val="DEECF8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l"/>
            <a:r>
              <a:rPr lang="en-GB" sz="2000" dirty="0">
                <a:solidFill>
                  <a:srgbClr val="1F4E79"/>
                </a:solidFill>
                <a:latin typeface="Twinkl Cursive Looped Light"/>
              </a:rPr>
              <a:t>Printed grid with 4 start/end pairs. Write directions for each. Mark the route taken.</a:t>
            </a:r>
          </a:p>
        </p:txBody>
      </p:sp>
      <p:sp>
        <p:nvSpPr>
          <p:cNvPr id="21" name="Supported"/>
          <p:cNvSpPr/>
          <p:nvPr/>
        </p:nvSpPr>
        <p:spPr>
          <a:xfrm>
            <a:off x="457200" y="2834640"/>
            <a:ext cx="11430000" cy="1188720"/>
          </a:xfrm>
          <a:prstGeom prst="rect">
            <a:avLst/>
          </a:prstGeom>
          <a:solidFill>
            <a:srgbClr val="F2F2F2"/>
          </a:solidFill>
          <a:ln w="19050">
            <a:solidFill>
              <a:srgbClr val="BBBBBB"/>
            </a:solidFill>
          </a:ln>
        </p:spPr>
        <p:txBody>
          <a:bodyPr rtlCol="0" anchor="ctr"/>
          <a:lstStyle/>
          <a:p>
            <a:pPr algn="l"/>
            <a:r>
              <a:rPr lang="en-GB" sz="1800" dirty="0">
                <a:solidFill>
                  <a:srgbClr val="333333"/>
                </a:solidFill>
                <a:latin typeface="Twinkl Cursive Looped Light"/>
              </a:rPr>
              <a:t>Supported: Grids with only horizontal or vertical moves — not both combined. Use arrow cards instead of written directions initially.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Media Placeholder 3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20" name="LPTitle"/>
          <p:cNvSpPr/>
          <p:nvPr/>
        </p:nvSpPr>
        <p:spPr>
          <a:xfrm>
            <a:off x="457200" y="91440"/>
            <a:ext cx="10972800" cy="82296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000000"/>
                </a:solidFill>
                <a:latin typeface="Twinkl Cursive Looped Light"/>
              </a:rPr>
              <a:t>Learning Paper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Media Placeholder 3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20" name="LPTitle"/>
          <p:cNvSpPr/>
          <p:nvPr/>
        </p:nvSpPr>
        <p:spPr>
          <a:xfrm>
            <a:off x="457200" y="91440"/>
            <a:ext cx="10972800" cy="82296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000000"/>
                </a:solidFill>
                <a:latin typeface="Twinkl Cursive Looped Light"/>
              </a:rPr>
              <a:t>Marking Station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Multi-step journeys — three positions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Media Placeholder 3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50" name="GridPanel"/>
          <p:cNvSpPr/>
          <p:nvPr/>
        </p:nvSpPr>
        <p:spPr>
          <a:xfrm>
            <a:off x="365760" y="1325880"/>
            <a:ext cx="640080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txBody>
          <a:bodyPr/>
          <a:lstStyle/>
          <a:p/>
        </p:txBody>
      </p:sp>
      <p:sp>
        <p:nvSpPr>
          <p:cNvPr id="51" name="HLine0"/>
          <p:cNvSpPr/>
          <p:nvPr/>
        </p:nvSpPr>
        <p:spPr>
          <a:xfrm>
            <a:off x="822960" y="1508760"/>
            <a:ext cx="4640580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2" name="HLine1"/>
          <p:cNvSpPr/>
          <p:nvPr/>
        </p:nvSpPr>
        <p:spPr>
          <a:xfrm>
            <a:off x="822960" y="2171700"/>
            <a:ext cx="4640580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3" name="HLine2"/>
          <p:cNvSpPr/>
          <p:nvPr/>
        </p:nvSpPr>
        <p:spPr>
          <a:xfrm>
            <a:off x="822960" y="2834639"/>
            <a:ext cx="4640580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4" name="HLine3"/>
          <p:cNvSpPr/>
          <p:nvPr/>
        </p:nvSpPr>
        <p:spPr>
          <a:xfrm>
            <a:off x="822960" y="3497579"/>
            <a:ext cx="4640580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5" name="HLine4"/>
          <p:cNvSpPr/>
          <p:nvPr/>
        </p:nvSpPr>
        <p:spPr>
          <a:xfrm>
            <a:off x="822960" y="4160520"/>
            <a:ext cx="4640580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6" name="HLine5"/>
          <p:cNvSpPr/>
          <p:nvPr/>
        </p:nvSpPr>
        <p:spPr>
          <a:xfrm>
            <a:off x="822960" y="4823460"/>
            <a:ext cx="4640580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7" name="HLine6"/>
          <p:cNvSpPr/>
          <p:nvPr/>
        </p:nvSpPr>
        <p:spPr>
          <a:xfrm>
            <a:off x="822960" y="5486400"/>
            <a:ext cx="4640580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8" name="HLine7"/>
          <p:cNvSpPr/>
          <p:nvPr/>
        </p:nvSpPr>
        <p:spPr>
          <a:xfrm>
            <a:off x="822960" y="6149340"/>
            <a:ext cx="4640580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0" name="VLine0"/>
          <p:cNvSpPr/>
          <p:nvPr/>
        </p:nvSpPr>
        <p:spPr>
          <a:xfrm>
            <a:off x="822960" y="1508760"/>
            <a:ext cx="0" cy="464058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1" name="VLine1"/>
          <p:cNvSpPr/>
          <p:nvPr/>
        </p:nvSpPr>
        <p:spPr>
          <a:xfrm>
            <a:off x="1485900" y="1508760"/>
            <a:ext cx="0" cy="464058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2" name="VLine2"/>
          <p:cNvSpPr/>
          <p:nvPr/>
        </p:nvSpPr>
        <p:spPr>
          <a:xfrm>
            <a:off x="2148840" y="1508760"/>
            <a:ext cx="0" cy="464058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3" name="VLine3"/>
          <p:cNvSpPr/>
          <p:nvPr/>
        </p:nvSpPr>
        <p:spPr>
          <a:xfrm>
            <a:off x="2811779" y="1508760"/>
            <a:ext cx="0" cy="464058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4" name="VLine4"/>
          <p:cNvSpPr/>
          <p:nvPr/>
        </p:nvSpPr>
        <p:spPr>
          <a:xfrm>
            <a:off x="3474720" y="1508760"/>
            <a:ext cx="0" cy="464058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5" name="VLine5"/>
          <p:cNvSpPr/>
          <p:nvPr/>
        </p:nvSpPr>
        <p:spPr>
          <a:xfrm>
            <a:off x="4137660" y="1508760"/>
            <a:ext cx="0" cy="464058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6" name="VLine6"/>
          <p:cNvSpPr/>
          <p:nvPr/>
        </p:nvSpPr>
        <p:spPr>
          <a:xfrm>
            <a:off x="4800600" y="1508760"/>
            <a:ext cx="0" cy="464058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7" name="VLine7"/>
          <p:cNvSpPr/>
          <p:nvPr/>
        </p:nvSpPr>
        <p:spPr>
          <a:xfrm>
            <a:off x="5463540" y="1508760"/>
            <a:ext cx="0" cy="464058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70" name="XLabel0"/>
          <p:cNvSpPr/>
          <p:nvPr/>
        </p:nvSpPr>
        <p:spPr>
          <a:xfrm>
            <a:off x="713232" y="6195059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0</a:t>
            </a:r>
          </a:p>
        </p:txBody>
      </p:sp>
      <p:sp>
        <p:nvSpPr>
          <p:cNvPr id="71" name="XLabel1"/>
          <p:cNvSpPr/>
          <p:nvPr/>
        </p:nvSpPr>
        <p:spPr>
          <a:xfrm>
            <a:off x="1376172" y="6195059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1</a:t>
            </a:r>
          </a:p>
        </p:txBody>
      </p:sp>
      <p:sp>
        <p:nvSpPr>
          <p:cNvPr id="72" name="XLabel2"/>
          <p:cNvSpPr/>
          <p:nvPr/>
        </p:nvSpPr>
        <p:spPr>
          <a:xfrm>
            <a:off x="2039112" y="6195059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2</a:t>
            </a:r>
          </a:p>
        </p:txBody>
      </p:sp>
      <p:sp>
        <p:nvSpPr>
          <p:cNvPr id="73" name="XLabel3"/>
          <p:cNvSpPr/>
          <p:nvPr/>
        </p:nvSpPr>
        <p:spPr>
          <a:xfrm>
            <a:off x="2702051" y="6195059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3</a:t>
            </a:r>
          </a:p>
        </p:txBody>
      </p:sp>
      <p:sp>
        <p:nvSpPr>
          <p:cNvPr id="74" name="XLabel4"/>
          <p:cNvSpPr/>
          <p:nvPr/>
        </p:nvSpPr>
        <p:spPr>
          <a:xfrm>
            <a:off x="3364991" y="6195059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4</a:t>
            </a:r>
          </a:p>
        </p:txBody>
      </p:sp>
      <p:sp>
        <p:nvSpPr>
          <p:cNvPr id="75" name="XLabel5"/>
          <p:cNvSpPr/>
          <p:nvPr/>
        </p:nvSpPr>
        <p:spPr>
          <a:xfrm>
            <a:off x="4027932" y="6195059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5</a:t>
            </a:r>
          </a:p>
        </p:txBody>
      </p:sp>
      <p:sp>
        <p:nvSpPr>
          <p:cNvPr id="76" name="XLabel6"/>
          <p:cNvSpPr/>
          <p:nvPr/>
        </p:nvSpPr>
        <p:spPr>
          <a:xfrm>
            <a:off x="4690872" y="6195059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6</a:t>
            </a:r>
          </a:p>
        </p:txBody>
      </p:sp>
      <p:sp>
        <p:nvSpPr>
          <p:cNvPr id="77" name="XLabel7"/>
          <p:cNvSpPr/>
          <p:nvPr/>
        </p:nvSpPr>
        <p:spPr>
          <a:xfrm>
            <a:off x="5353812" y="6195059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7</a:t>
            </a:r>
          </a:p>
        </p:txBody>
      </p:sp>
      <p:sp>
        <p:nvSpPr>
          <p:cNvPr id="80" name="YLabel0"/>
          <p:cNvSpPr/>
          <p:nvPr/>
        </p:nvSpPr>
        <p:spPr>
          <a:xfrm>
            <a:off x="502920" y="6039612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0</a:t>
            </a:r>
          </a:p>
        </p:txBody>
      </p:sp>
      <p:sp>
        <p:nvSpPr>
          <p:cNvPr id="81" name="YLabel1"/>
          <p:cNvSpPr/>
          <p:nvPr/>
        </p:nvSpPr>
        <p:spPr>
          <a:xfrm>
            <a:off x="502920" y="5376672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1</a:t>
            </a:r>
          </a:p>
        </p:txBody>
      </p:sp>
      <p:sp>
        <p:nvSpPr>
          <p:cNvPr id="82" name="YLabel2"/>
          <p:cNvSpPr/>
          <p:nvPr/>
        </p:nvSpPr>
        <p:spPr>
          <a:xfrm>
            <a:off x="502920" y="4713732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2</a:t>
            </a:r>
          </a:p>
        </p:txBody>
      </p:sp>
      <p:sp>
        <p:nvSpPr>
          <p:cNvPr id="83" name="YLabel3"/>
          <p:cNvSpPr/>
          <p:nvPr/>
        </p:nvSpPr>
        <p:spPr>
          <a:xfrm>
            <a:off x="502920" y="4050791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3</a:t>
            </a:r>
          </a:p>
        </p:txBody>
      </p:sp>
      <p:sp>
        <p:nvSpPr>
          <p:cNvPr id="84" name="YLabel4"/>
          <p:cNvSpPr/>
          <p:nvPr/>
        </p:nvSpPr>
        <p:spPr>
          <a:xfrm>
            <a:off x="502920" y="3387851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4</a:t>
            </a:r>
          </a:p>
        </p:txBody>
      </p:sp>
      <p:sp>
        <p:nvSpPr>
          <p:cNvPr id="85" name="YLabel5"/>
          <p:cNvSpPr/>
          <p:nvPr/>
        </p:nvSpPr>
        <p:spPr>
          <a:xfrm>
            <a:off x="502920" y="2724911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5</a:t>
            </a:r>
          </a:p>
        </p:txBody>
      </p:sp>
      <p:sp>
        <p:nvSpPr>
          <p:cNvPr id="86" name="YLabel6"/>
          <p:cNvSpPr/>
          <p:nvPr/>
        </p:nvSpPr>
        <p:spPr>
          <a:xfrm>
            <a:off x="502920" y="2061972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6</a:t>
            </a:r>
          </a:p>
        </p:txBody>
      </p:sp>
      <p:sp>
        <p:nvSpPr>
          <p:cNvPr id="87" name="YLabel7"/>
          <p:cNvSpPr/>
          <p:nvPr/>
        </p:nvSpPr>
        <p:spPr>
          <a:xfrm>
            <a:off x="502920" y="1399031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7</a:t>
            </a:r>
          </a:p>
        </p:txBody>
      </p:sp>
      <p:sp>
        <p:nvSpPr>
          <p:cNvPr id="90" name="XAxisLabel"/>
          <p:cNvSpPr/>
          <p:nvPr/>
        </p:nvSpPr>
        <p:spPr>
          <a:xfrm>
            <a:off x="3006090" y="6469379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" b="1" dirty="0">
                <a:solidFill>
                  <a:srgbClr val="156082"/>
                </a:solidFill>
                <a:latin typeface="Aptos"/>
              </a:rPr>
              <a:t>x</a:t>
            </a:r>
          </a:p>
        </p:txBody>
      </p:sp>
      <p:sp>
        <p:nvSpPr>
          <p:cNvPr id="91" name="YAxisLabel"/>
          <p:cNvSpPr/>
          <p:nvPr/>
        </p:nvSpPr>
        <p:spPr>
          <a:xfrm>
            <a:off x="365760" y="3719322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" b="1" dirty="0">
                <a:solidFill>
                  <a:srgbClr val="156082"/>
                </a:solidFill>
                <a:latin typeface="Aptos"/>
              </a:rPr>
              <a:t>y</a:t>
            </a:r>
          </a:p>
        </p:txBody>
      </p:sp>
      <p:sp>
        <p:nvSpPr>
          <p:cNvPr id="100" name="PointA"/>
          <p:cNvSpPr/>
          <p:nvPr/>
        </p:nvSpPr>
        <p:spPr>
          <a:xfrm>
            <a:off x="1376172" y="5376672"/>
            <a:ext cx="219456" cy="219456"/>
          </a:xfrm>
          <a:prstGeom prst="ellipse">
            <a:avLst/>
          </a:prstGeom>
          <a:solidFill>
            <a:srgbClr val="1F4E7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110" name="PtLabelA"/>
          <p:cNvSpPr/>
          <p:nvPr/>
        </p:nvSpPr>
        <p:spPr>
          <a:xfrm>
            <a:off x="1540764" y="5065776"/>
            <a:ext cx="274320" cy="201168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" b="1" dirty="0">
                <a:solidFill>
                  <a:srgbClr val="1F4E79"/>
                </a:solidFill>
                <a:latin typeface="Aptos"/>
              </a:rPr>
              <a:t>A</a:t>
            </a:r>
          </a:p>
        </p:txBody>
      </p:sp>
      <p:sp>
        <p:nvSpPr>
          <p:cNvPr id="101" name="PointB"/>
          <p:cNvSpPr/>
          <p:nvPr/>
        </p:nvSpPr>
        <p:spPr>
          <a:xfrm>
            <a:off x="2702051" y="4713732"/>
            <a:ext cx="219456" cy="219456"/>
          </a:xfrm>
          <a:prstGeom prst="ellipse">
            <a:avLst/>
          </a:prstGeom>
          <a:solidFill>
            <a:srgbClr val="7030A0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111" name="PtLabelB"/>
          <p:cNvSpPr/>
          <p:nvPr/>
        </p:nvSpPr>
        <p:spPr>
          <a:xfrm>
            <a:off x="2866644" y="4402836"/>
            <a:ext cx="274320" cy="201168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" b="1" dirty="0">
                <a:solidFill>
                  <a:srgbClr val="7030A0"/>
                </a:solidFill>
                <a:latin typeface="Aptos"/>
              </a:rPr>
              <a:t>B</a:t>
            </a:r>
          </a:p>
        </p:txBody>
      </p:sp>
      <p:sp>
        <p:nvSpPr>
          <p:cNvPr id="102" name="PointC"/>
          <p:cNvSpPr/>
          <p:nvPr/>
        </p:nvSpPr>
        <p:spPr>
          <a:xfrm>
            <a:off x="4027932" y="2724911"/>
            <a:ext cx="219456" cy="219456"/>
          </a:xfrm>
          <a:prstGeom prst="ellipse">
            <a:avLst/>
          </a:prstGeom>
          <a:solidFill>
            <a:srgbClr val="C00000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112" name="PtLabelC"/>
          <p:cNvSpPr/>
          <p:nvPr/>
        </p:nvSpPr>
        <p:spPr>
          <a:xfrm>
            <a:off x="4192524" y="2414015"/>
            <a:ext cx="274320" cy="201168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" b="1" dirty="0">
                <a:solidFill>
                  <a:srgbClr val="C00000"/>
                </a:solidFill>
                <a:latin typeface="Aptos"/>
              </a:rPr>
              <a:t>C</a:t>
            </a:r>
          </a:p>
        </p:txBody>
      </p:sp>
      <p:sp>
        <p:nvSpPr>
          <p:cNvPr id="130" name="Caption"/>
          <p:cNvSpPr/>
          <p:nvPr/>
        </p:nvSpPr>
        <p:spPr>
          <a:xfrm>
            <a:off x="6995160" y="1463039"/>
            <a:ext cx="5013655" cy="1097280"/>
          </a:xfrm>
          <a:prstGeom prst="rect">
            <a:avLst/>
          </a:prstGeom>
          <a:solidFill>
            <a:srgbClr val="DEECF8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l"/>
            <a:r>
              <a:rPr lang="en-GB" sz="2000" dirty="0">
                <a:solidFill>
                  <a:srgbClr val="1F4E79"/>
                </a:solidFill>
                <a:latin typeface="Twinkl Cursive Looped Light"/>
              </a:rPr>
              <a:t>Journey: A → B → C. Write directions for each leg separately.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Spot the mistake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Media Placeholder 3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50" name="GridPanel"/>
          <p:cNvSpPr/>
          <p:nvPr/>
        </p:nvSpPr>
        <p:spPr>
          <a:xfrm>
            <a:off x="365760" y="1325880"/>
            <a:ext cx="640080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txBody>
          <a:bodyPr/>
          <a:lstStyle/>
          <a:p/>
        </p:txBody>
      </p:sp>
      <p:sp>
        <p:nvSpPr>
          <p:cNvPr id="51" name="HLine0"/>
          <p:cNvSpPr/>
          <p:nvPr/>
        </p:nvSpPr>
        <p:spPr>
          <a:xfrm>
            <a:off x="822960" y="1508760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2" name="HLine1"/>
          <p:cNvSpPr/>
          <p:nvPr/>
        </p:nvSpPr>
        <p:spPr>
          <a:xfrm>
            <a:off x="822960" y="2266405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3" name="HLine2"/>
          <p:cNvSpPr/>
          <p:nvPr/>
        </p:nvSpPr>
        <p:spPr>
          <a:xfrm>
            <a:off x="822960" y="3024051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4" name="HLine3"/>
          <p:cNvSpPr/>
          <p:nvPr/>
        </p:nvSpPr>
        <p:spPr>
          <a:xfrm>
            <a:off x="822960" y="3781697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5" name="HLine4"/>
          <p:cNvSpPr/>
          <p:nvPr/>
        </p:nvSpPr>
        <p:spPr>
          <a:xfrm>
            <a:off x="822960" y="4539342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6" name="HLine5"/>
          <p:cNvSpPr/>
          <p:nvPr/>
        </p:nvSpPr>
        <p:spPr>
          <a:xfrm>
            <a:off x="822960" y="5296988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57" name="HLine6"/>
          <p:cNvSpPr/>
          <p:nvPr/>
        </p:nvSpPr>
        <p:spPr>
          <a:xfrm>
            <a:off x="822960" y="6054634"/>
            <a:ext cx="4545874" cy="0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0" name="VLine0"/>
          <p:cNvSpPr/>
          <p:nvPr/>
        </p:nvSpPr>
        <p:spPr>
          <a:xfrm>
            <a:off x="822960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1" name="VLine1"/>
          <p:cNvSpPr/>
          <p:nvPr/>
        </p:nvSpPr>
        <p:spPr>
          <a:xfrm>
            <a:off x="1580605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2" name="VLine2"/>
          <p:cNvSpPr/>
          <p:nvPr/>
        </p:nvSpPr>
        <p:spPr>
          <a:xfrm>
            <a:off x="2338251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3" name="VLine3"/>
          <p:cNvSpPr/>
          <p:nvPr/>
        </p:nvSpPr>
        <p:spPr>
          <a:xfrm>
            <a:off x="3095897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4" name="VLine4"/>
          <p:cNvSpPr/>
          <p:nvPr/>
        </p:nvSpPr>
        <p:spPr>
          <a:xfrm>
            <a:off x="3853542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5" name="VLine5"/>
          <p:cNvSpPr/>
          <p:nvPr/>
        </p:nvSpPr>
        <p:spPr>
          <a:xfrm>
            <a:off x="4611188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66" name="VLine6"/>
          <p:cNvSpPr/>
          <p:nvPr/>
        </p:nvSpPr>
        <p:spPr>
          <a:xfrm>
            <a:off x="5368834" y="1508760"/>
            <a:ext cx="0" cy="4545874"/>
          </a:xfrm>
          <a:prstGeom prst="line">
            <a:avLst/>
          </a:prstGeom>
          <a:ln w="9525">
            <a:solidFill>
              <a:srgbClr val="AAAAAA"/>
            </a:solidFill>
          </a:ln>
        </p:spPr>
        <p:txBody>
          <a:bodyPr/>
          <a:lstStyle/>
          <a:p/>
        </p:txBody>
      </p:sp>
      <p:sp>
        <p:nvSpPr>
          <p:cNvPr id="70" name="XLabel0"/>
          <p:cNvSpPr/>
          <p:nvPr/>
        </p:nvSpPr>
        <p:spPr>
          <a:xfrm>
            <a:off x="713232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0</a:t>
            </a:r>
          </a:p>
        </p:txBody>
      </p:sp>
      <p:sp>
        <p:nvSpPr>
          <p:cNvPr id="71" name="XLabel1"/>
          <p:cNvSpPr/>
          <p:nvPr/>
        </p:nvSpPr>
        <p:spPr>
          <a:xfrm>
            <a:off x="1470877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1</a:t>
            </a:r>
          </a:p>
        </p:txBody>
      </p:sp>
      <p:sp>
        <p:nvSpPr>
          <p:cNvPr id="72" name="XLabel2"/>
          <p:cNvSpPr/>
          <p:nvPr/>
        </p:nvSpPr>
        <p:spPr>
          <a:xfrm>
            <a:off x="2228523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2</a:t>
            </a:r>
          </a:p>
        </p:txBody>
      </p:sp>
      <p:sp>
        <p:nvSpPr>
          <p:cNvPr id="73" name="XLabel3"/>
          <p:cNvSpPr/>
          <p:nvPr/>
        </p:nvSpPr>
        <p:spPr>
          <a:xfrm>
            <a:off x="2986169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3</a:t>
            </a:r>
          </a:p>
        </p:txBody>
      </p:sp>
      <p:sp>
        <p:nvSpPr>
          <p:cNvPr id="74" name="XLabel4"/>
          <p:cNvSpPr/>
          <p:nvPr/>
        </p:nvSpPr>
        <p:spPr>
          <a:xfrm>
            <a:off x="3743814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4</a:t>
            </a:r>
          </a:p>
        </p:txBody>
      </p:sp>
      <p:sp>
        <p:nvSpPr>
          <p:cNvPr id="75" name="XLabel5"/>
          <p:cNvSpPr/>
          <p:nvPr/>
        </p:nvSpPr>
        <p:spPr>
          <a:xfrm>
            <a:off x="4501460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5</a:t>
            </a:r>
          </a:p>
        </p:txBody>
      </p:sp>
      <p:sp>
        <p:nvSpPr>
          <p:cNvPr id="76" name="XLabel6"/>
          <p:cNvSpPr/>
          <p:nvPr/>
        </p:nvSpPr>
        <p:spPr>
          <a:xfrm>
            <a:off x="5259106" y="6100354"/>
            <a:ext cx="219456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6</a:t>
            </a:r>
          </a:p>
        </p:txBody>
      </p:sp>
      <p:sp>
        <p:nvSpPr>
          <p:cNvPr id="80" name="YLabel0"/>
          <p:cNvSpPr/>
          <p:nvPr/>
        </p:nvSpPr>
        <p:spPr>
          <a:xfrm>
            <a:off x="502920" y="5944906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0</a:t>
            </a:r>
          </a:p>
        </p:txBody>
      </p:sp>
      <p:sp>
        <p:nvSpPr>
          <p:cNvPr id="81" name="YLabel1"/>
          <p:cNvSpPr/>
          <p:nvPr/>
        </p:nvSpPr>
        <p:spPr>
          <a:xfrm>
            <a:off x="502920" y="5187260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1</a:t>
            </a:r>
          </a:p>
        </p:txBody>
      </p:sp>
      <p:sp>
        <p:nvSpPr>
          <p:cNvPr id="82" name="YLabel2"/>
          <p:cNvSpPr/>
          <p:nvPr/>
        </p:nvSpPr>
        <p:spPr>
          <a:xfrm>
            <a:off x="502920" y="4429614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2</a:t>
            </a:r>
          </a:p>
        </p:txBody>
      </p:sp>
      <p:sp>
        <p:nvSpPr>
          <p:cNvPr id="83" name="YLabel3"/>
          <p:cNvSpPr/>
          <p:nvPr/>
        </p:nvSpPr>
        <p:spPr>
          <a:xfrm>
            <a:off x="502920" y="3671969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3</a:t>
            </a:r>
          </a:p>
        </p:txBody>
      </p:sp>
      <p:sp>
        <p:nvSpPr>
          <p:cNvPr id="84" name="YLabel4"/>
          <p:cNvSpPr/>
          <p:nvPr/>
        </p:nvSpPr>
        <p:spPr>
          <a:xfrm>
            <a:off x="502920" y="2914323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4</a:t>
            </a:r>
          </a:p>
        </p:txBody>
      </p:sp>
      <p:sp>
        <p:nvSpPr>
          <p:cNvPr id="85" name="YLabel5"/>
          <p:cNvSpPr/>
          <p:nvPr/>
        </p:nvSpPr>
        <p:spPr>
          <a:xfrm>
            <a:off x="502920" y="2156677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5</a:t>
            </a:r>
          </a:p>
        </p:txBody>
      </p:sp>
      <p:sp>
        <p:nvSpPr>
          <p:cNvPr id="86" name="YLabel6"/>
          <p:cNvSpPr/>
          <p:nvPr/>
        </p:nvSpPr>
        <p:spPr>
          <a:xfrm>
            <a:off x="502920" y="1399031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333333"/>
                </a:solidFill>
                <a:latin typeface="Aptos"/>
              </a:rPr>
              <a:t>6</a:t>
            </a:r>
          </a:p>
        </p:txBody>
      </p:sp>
      <p:sp>
        <p:nvSpPr>
          <p:cNvPr id="90" name="XAxisLabel"/>
          <p:cNvSpPr/>
          <p:nvPr/>
        </p:nvSpPr>
        <p:spPr>
          <a:xfrm>
            <a:off x="2958737" y="6374674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" b="1" dirty="0">
                <a:solidFill>
                  <a:srgbClr val="156082"/>
                </a:solidFill>
                <a:latin typeface="Aptos"/>
              </a:rPr>
              <a:t>x</a:t>
            </a:r>
          </a:p>
        </p:txBody>
      </p:sp>
      <p:sp>
        <p:nvSpPr>
          <p:cNvPr id="91" name="YAxisLabel"/>
          <p:cNvSpPr/>
          <p:nvPr/>
        </p:nvSpPr>
        <p:spPr>
          <a:xfrm>
            <a:off x="365760" y="3671969"/>
            <a:ext cx="274320" cy="22860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" b="1" dirty="0">
                <a:solidFill>
                  <a:srgbClr val="156082"/>
                </a:solidFill>
                <a:latin typeface="Aptos"/>
              </a:rPr>
              <a:t>y</a:t>
            </a:r>
          </a:p>
        </p:txBody>
      </p:sp>
      <p:sp>
        <p:nvSpPr>
          <p:cNvPr id="100" name="PointA"/>
          <p:cNvSpPr/>
          <p:nvPr/>
        </p:nvSpPr>
        <p:spPr>
          <a:xfrm>
            <a:off x="2986169" y="3671969"/>
            <a:ext cx="219456" cy="219456"/>
          </a:xfrm>
          <a:prstGeom prst="ellipse">
            <a:avLst/>
          </a:prstGeom>
          <a:solidFill>
            <a:srgbClr val="1F4E79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110" name="PtLabelA"/>
          <p:cNvSpPr/>
          <p:nvPr/>
        </p:nvSpPr>
        <p:spPr>
          <a:xfrm>
            <a:off x="3150761" y="3361073"/>
            <a:ext cx="274320" cy="201168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000" b="1" dirty="0">
                <a:solidFill>
                  <a:srgbClr val="1F4E79"/>
                </a:solidFill>
                <a:latin typeface="Aptos"/>
              </a:rPr>
              <a:t>A</a:t>
            </a:r>
          </a:p>
        </p:txBody>
      </p:sp>
      <p:sp>
        <p:nvSpPr>
          <p:cNvPr id="133" name="ErrorInstruction"/>
          <p:cNvSpPr/>
          <p:nvPr/>
        </p:nvSpPr>
        <p:spPr>
          <a:xfrm>
            <a:off x="6995160" y="1463040"/>
            <a:ext cx="5013655" cy="73152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l"/>
            <a:r>
              <a:rPr lang="en-GB" sz="1600" dirty="0">
                <a:solidFill>
                  <a:srgbClr val="333333"/>
                </a:solidFill>
                <a:latin typeface="Twinkl Cursive Looped Light"/>
              </a:rPr>
              <a:t>Instruction given: "From A at (3,3): move 4 squares right"</a:t>
            </a:r>
          </a:p>
        </p:txBody>
      </p:sp>
      <p:sp>
        <p:nvSpPr>
          <p:cNvPr id="120" name="ErrorMark"/>
          <p:cNvSpPr/>
          <p:nvPr/>
        </p:nvSpPr>
        <p:spPr>
          <a:xfrm>
            <a:off x="5610497" y="3644537"/>
            <a:ext cx="274320" cy="27432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FF0000"/>
                </a:solidFill>
                <a:latin typeface="Aptos"/>
              </a:rPr>
              <a:t>✗</a:t>
            </a:r>
          </a:p>
        </p:txBody>
      </p:sp>
      <p:sp>
        <p:nvSpPr>
          <p:cNvPr id="132" name="ErrorNote"/>
          <p:cNvSpPr/>
          <p:nvPr/>
        </p:nvSpPr>
        <p:spPr>
          <a:xfrm>
            <a:off x="6995160" y="2377440"/>
            <a:ext cx="5013655" cy="1371600"/>
          </a:xfrm>
          <a:prstGeom prst="rect">
            <a:avLst/>
          </a:prstGeom>
          <a:solidFill>
            <a:srgbClr val="FFE6E6"/>
          </a:solidFill>
          <a:ln w="1905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r>
              <a:rPr lang="en-GB" sz="1800" b="1" dirty="0">
                <a:solidFill>
                  <a:srgbClr val="C00000"/>
                </a:solidFill>
                <a:latin typeface="Twinkl Cursive Looped Light"/>
              </a:rPr>
              <a:t>4 right from column 3 lands on column 7 — but the grid only goes to column 6. Always check the grid boundary before writing your directions.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uiExpand="1" build="p"/>
      <p:bldP spid="120" grpId="1" animBg="1"/>
      <p:bldP spid="132" grpId="0" uiExpand="1" build="p"/>
      <p:bldP spid="132" grpId="1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Trios — create and swap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Media Placeholder 3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20" name="Role1"/>
          <p:cNvSpPr/>
          <p:nvPr/>
        </p:nvSpPr>
        <p:spPr>
          <a:xfrm>
            <a:off x="457200" y="1463040"/>
            <a:ext cx="3474720" cy="914400"/>
          </a:xfrm>
          <a:prstGeom prst="rect">
            <a:avLst/>
          </a:prstGeom>
          <a:solidFill>
            <a:srgbClr val="DEEAF1"/>
          </a:solidFill>
          <a:ln w="19050">
            <a:solidFill>
              <a:srgbClr val="1F4E79"/>
            </a:solidFill>
          </a:ln>
        </p:spPr>
        <p:txBody>
          <a:bodyPr rtlCol="0" anchor="ctr"/>
          <a:lstStyle/>
          <a:p>
            <a:pPr algn="l"/>
            <a:r>
              <a:rPr lang="en-GB" sz="1800" b="1" dirty="0">
                <a:solidFill>
                  <a:srgbClr val="1F4E79"/>
                </a:solidFill>
                <a:latin typeface="Twinkl Cursive Looped Light"/>
              </a:rPr>
              <a:t>Shared roles from Cycle 1</a:t>
            </a:r>
          </a:p>
        </p:txBody>
      </p:sp>
      <p:sp>
        <p:nvSpPr>
          <p:cNvPr id="30" name="Task"/>
          <p:cNvSpPr/>
          <p:nvPr/>
        </p:nvSpPr>
        <p:spPr>
          <a:xfrm>
            <a:off x="4206240" y="1463040"/>
            <a:ext cx="7772400" cy="1280160"/>
          </a:xfrm>
          <a:prstGeom prst="rect">
            <a:avLst/>
          </a:prstGeom>
          <a:solidFill>
            <a:srgbClr val="DEECF8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l"/>
            <a:r>
              <a:rPr lang="en-GB" sz="1800" dirty="0">
                <a:solidFill>
                  <a:srgbClr val="1F4E79"/>
                </a:solidFill>
                <a:latin typeface="Twinkl Cursive Looped Light"/>
              </a:rPr>
              <a:t>Each trio creates a three-stop journey on a grid, writes the directions for each leg, and swaps with another trio to check.</a:t>
            </a:r>
          </a:p>
        </p:txBody>
      </p:sp>
      <p:sp>
        <p:nvSpPr>
          <p:cNvPr id="31" name="Challenge"/>
          <p:cNvSpPr/>
          <p:nvPr/>
        </p:nvSpPr>
        <p:spPr>
          <a:xfrm>
            <a:off x="4206240" y="2926080"/>
            <a:ext cx="7772400" cy="1005840"/>
          </a:xfrm>
          <a:prstGeom prst="rect">
            <a:avLst/>
          </a:prstGeom>
          <a:solidFill>
            <a:srgbClr val="F2E6F9"/>
          </a:solidFill>
          <a:ln w="19050">
            <a:solidFill>
              <a:srgbClr val="7030A0"/>
            </a:solidFill>
          </a:ln>
        </p:spPr>
        <p:txBody>
          <a:bodyPr rtlCol="0" anchor="ctr"/>
          <a:lstStyle/>
          <a:p>
            <a:pPr algn="l"/>
            <a:r>
              <a:rPr lang="en-GB" sz="1600" dirty="0">
                <a:solidFill>
                  <a:srgbClr val="7030A0"/>
                </a:solidFill>
                <a:latin typeface="Twinkl Cursive Looped Light"/>
              </a:rPr>
              <a:t>Challenge: Can you find two different sets of directions for the same journey?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Independent — three-stop journeys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Media Placeholder 3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20" name="Standard"/>
          <p:cNvSpPr/>
          <p:nvPr/>
        </p:nvSpPr>
        <p:spPr>
          <a:xfrm>
            <a:off x="457200" y="1463040"/>
            <a:ext cx="11430000" cy="1188720"/>
          </a:xfrm>
          <a:prstGeom prst="rect">
            <a:avLst/>
          </a:prstGeom>
          <a:solidFill>
            <a:srgbClr val="DEECF8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l"/>
            <a:r>
              <a:rPr lang="en-GB" sz="2000" dirty="0">
                <a:solidFill>
                  <a:srgbClr val="1F4E79"/>
                </a:solidFill>
                <a:latin typeface="Twinkl Cursive Looped Light"/>
              </a:rPr>
              <a:t>Write directions for 3 three-stop journeys on a printed grid. Extension: describe the return journey for one of them.</a:t>
            </a:r>
          </a:p>
        </p:txBody>
      </p:sp>
      <p:sp>
        <p:nvSpPr>
          <p:cNvPr id="21" name="Supported"/>
          <p:cNvSpPr/>
          <p:nvPr/>
        </p:nvSpPr>
        <p:spPr>
          <a:xfrm>
            <a:off x="457200" y="2834640"/>
            <a:ext cx="11430000" cy="1188720"/>
          </a:xfrm>
          <a:prstGeom prst="rect">
            <a:avLst/>
          </a:prstGeom>
          <a:solidFill>
            <a:srgbClr val="F2F2F2"/>
          </a:solidFill>
          <a:ln w="19050">
            <a:solidFill>
              <a:srgbClr val="BBBBBB"/>
            </a:solidFill>
          </a:ln>
        </p:spPr>
        <p:txBody>
          <a:bodyPr rtlCol="0" anchor="ctr"/>
          <a:lstStyle/>
          <a:p>
            <a:pPr algn="l"/>
            <a:r>
              <a:rPr lang="en-GB" sz="1800" dirty="0">
                <a:solidFill>
                  <a:srgbClr val="333333"/>
                </a:solidFill>
                <a:latin typeface="Twinkl Cursive Looped Light"/>
              </a:rPr>
              <a:t>Supported: Two three-stop journeys with one leg already written.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Media Placeholder 3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20" name="LPTitle"/>
          <p:cNvSpPr/>
          <p:nvPr/>
        </p:nvSpPr>
        <p:spPr>
          <a:xfrm>
            <a:off x="457200" y="91440"/>
            <a:ext cx="10972800" cy="82296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000000"/>
                </a:solidFill>
                <a:latin typeface="Twinkl Cursive Looped Light"/>
              </a:rPr>
              <a:t>Learning Paper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Media Placeholder 3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20" name="LPTitle"/>
          <p:cNvSpPr/>
          <p:nvPr/>
        </p:nvSpPr>
        <p:spPr>
          <a:xfrm>
            <a:off x="457200" y="91440"/>
            <a:ext cx="10972800" cy="822960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000000"/>
                </a:solidFill>
                <a:latin typeface="Twinkl Cursive Looped Light"/>
              </a:rPr>
              <a:t>Marking Station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edia Placeholder 1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11" name="Title"/>
          <p:cNvSpPr/>
          <p:nvPr/>
        </p:nvSpPr>
        <p:spPr>
          <a:xfrm>
            <a:off x="4729276" y="180136"/>
            <a:ext cx="3065068" cy="585216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2400" b="1" dirty="0">
                <a:solidFill>
                  <a:srgbClr val="000000"/>
                </a:solidFill>
                <a:latin typeface="Twinkl Cursive Looped Light"/>
              </a:rPr>
              <a:t>Learning Review</a:t>
            </a:r>
          </a:p>
        </p:txBody>
      </p:sp>
      <p:sp>
        <p:nvSpPr>
          <p:cNvPr id="12" name="Bubble1"/>
          <p:cNvSpPr/>
          <p:nvPr/>
        </p:nvSpPr>
        <p:spPr>
          <a:xfrm>
            <a:off x="1102766" y="1034186"/>
            <a:ext cx="2802636" cy="1163116"/>
          </a:xfrm>
          <a:prstGeom prst="wedgeRoundRectCallout">
            <a:avLst/>
          </a:prstGeom>
          <a:solidFill>
            <a:srgbClr val="E9917F"/>
          </a:solidFill>
          <a:ln w="0">
            <a:noFill/>
          </a:ln>
        </p:spPr>
        <p:txBody>
          <a:bodyPr rtlCol="0" anchor="ctr"/>
          <a:lstStyle/>
          <a:p>
            <a:pPr algn="ctr"/>
            <a:r>
              <a:rPr lang="en-GB" sz="2000" b="1" dirty="0">
                <a:latin typeface="Twinkl Cursive Looped Light"/>
              </a:rPr>
              <a:t>To give directions on a grid, I...</a:t>
            </a:r>
          </a:p>
        </p:txBody>
      </p:sp>
      <p:sp>
        <p:nvSpPr>
          <p:cNvPr id="13" name="Bubble2"/>
          <p:cNvSpPr/>
          <p:nvPr/>
        </p:nvSpPr>
        <p:spPr>
          <a:xfrm>
            <a:off x="4822545" y="1075334"/>
            <a:ext cx="2802636" cy="1163116"/>
          </a:xfrm>
          <a:prstGeom prst="wedgeRoundRectCallout">
            <a:avLst/>
          </a:prstGeom>
          <a:solidFill>
            <a:srgbClr val="D977ED"/>
          </a:solidFill>
          <a:ln w="0">
            <a:noFill/>
          </a:ln>
        </p:spPr>
        <p:txBody>
          <a:bodyPr rtlCol="0" anchor="ctr"/>
          <a:lstStyle/>
          <a:p>
            <a:pPr algn="ctr"/>
            <a:r>
              <a:rPr lang="en-GB" sz="2000" b="1" dirty="0">
                <a:latin typeface="Twinkl Cursive Looped Light"/>
              </a:rPr>
              <a:t>I found it tricky when...</a:t>
            </a:r>
          </a:p>
        </p:txBody>
      </p:sp>
      <p:sp>
        <p:nvSpPr>
          <p:cNvPr id="14" name="Bubble3"/>
          <p:cNvSpPr/>
          <p:nvPr/>
        </p:nvSpPr>
        <p:spPr>
          <a:xfrm>
            <a:off x="8633764" y="1075334"/>
            <a:ext cx="2754172" cy="1163116"/>
          </a:xfrm>
          <a:prstGeom prst="wedgeRoundRectCallout">
            <a:avLst/>
          </a:prstGeom>
          <a:solidFill>
            <a:srgbClr val="92D050"/>
          </a:solidFill>
          <a:ln w="0">
            <a:noFill/>
          </a:ln>
        </p:spPr>
        <p:txBody>
          <a:bodyPr rtlCol="0" anchor="ctr"/>
          <a:lstStyle/>
          <a:p>
            <a:pPr algn="ctr"/>
            <a:r>
              <a:rPr lang="en-GB" sz="2000" b="1" dirty="0">
                <a:latin typeface="Twinkl Cursive Looped Light"/>
              </a:rPr>
              <a:t>I could check my directions were right by...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990" y="2557576"/>
            <a:ext cx="5905195" cy="2794406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" y="4668012"/>
            <a:ext cx="1623060" cy="198059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964" y="5625388"/>
            <a:ext cx="947318" cy="1193292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32" y="5635447"/>
            <a:ext cx="966520" cy="1184148"/>
          </a:xfrm>
          <a:prstGeom prst="rect">
            <a:avLst/>
          </a:prstGeom>
        </p:spPr>
      </p:pic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3383" y="5553151"/>
            <a:ext cx="1065276" cy="1242669"/>
          </a:xfrm>
          <a:prstGeom prst="rect">
            <a:avLst/>
          </a:prstGeom>
        </p:spPr>
      </p:pic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3406" y="5517489"/>
            <a:ext cx="1015898" cy="130210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4664" y="3932834"/>
            <a:ext cx="960120" cy="96012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0056" y="3932834"/>
            <a:ext cx="961034" cy="961034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2835" y="4981651"/>
            <a:ext cx="961034" cy="961034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0971" y="4982565"/>
            <a:ext cx="960120" cy="9610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err="1" smtClean="0">
            <a:latin typeface="Twinkl Cursive Looped Light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8" id="{F08900A5-541B-6149-807B-0BEAE5FFA4C0}" vid="{892993DB-DE4E-3A43-A645-5D3C617463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3CE296-60E4-4853-B3BD-F33DDF6ED904}">
  <ds:schemaRefs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4848fd07-94db-4308-8950-9cb0e230b958"/>
    <ds:schemaRef ds:uri="9e6dd442-da5e-411e-833f-0fee7dcd7819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7A4E24F-1B38-454E-8089-0BD97B1C5B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6dd442-da5e-411e-833f-0fee7dcd7819"/>
    <ds:schemaRef ds:uri="4848fd07-94db-4308-8950-9cb0e230b9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89B1C0-FAA9-4C87-B6A9-158CCD6B193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</TotalTime>
  <Words>531</Words>
  <Application>Microsoft Macintosh PowerPoint</Application>
  <PresentationFormat>Widescreen</PresentationFormat>
  <Paragraphs>109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Sassoon Infant Rg</vt:lpstr>
      <vt:lpstr>Sassoon Primary Rg</vt:lpstr>
      <vt:lpstr>Twinkl Cursive Looped</vt:lpstr>
      <vt:lpstr>Twinkl Cursive Looped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Rapid Maths – Day 1</vt:lpstr>
      <vt:lpstr>Rapid Maths – Answers – Day 1</vt:lpstr>
      <vt:lpstr>Vocabulary</vt:lpstr>
      <vt:lpstr>PowerPoint Presentation</vt:lpstr>
      <vt:lpstr>PowerPoint Presentation</vt:lpstr>
      <vt:lpstr>PowerPoint Presentation</vt:lpstr>
      <vt:lpstr>PowerPoint Presentation</vt:lpstr>
      <vt:lpstr>Learning Paper 1</vt:lpstr>
      <vt:lpstr>Marking station 1</vt:lpstr>
      <vt:lpstr>PowerPoint Presentation</vt:lpstr>
      <vt:lpstr>PowerPoint Presentation</vt:lpstr>
      <vt:lpstr>PowerPoint Presentation</vt:lpstr>
      <vt:lpstr>PowerPoint Presentation</vt:lpstr>
      <vt:lpstr>Learning Paper 2</vt:lpstr>
      <vt:lpstr>Marking station 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5</cp:revision>
  <dcterms:created xsi:type="dcterms:W3CDTF">2026-04-13T10:13:09Z</dcterms:created>
  <dcterms:modified xsi:type="dcterms:W3CDTF">2026-04-13T12:13:50Z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0x010100AC71695694772F44B387615DF8DED97F</vt:lpwstr>
  </property>
</Properties>
</file>