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</p:sldIdLst>
  <p:sldSz cx="12192000" cy="6858000"/>
  <p:notesSz cx="6797675" cy="9926638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 Slides" id="{CEF8FBF2-344B-BB4E-982A-03D4563613E1}">
          <p14:sldIdLst>
            <p14:sldId id="256"/>
            <p14:sldId id="328"/>
            <p14:sldId id="257"/>
            <p14:sldId id="326"/>
            <p14:sldId id="2080"/>
            <p14:sldId id="2081"/>
            <p14:sldId id="2082"/>
            <p14:sldId id="2083"/>
            <p14:sldId id="258"/>
          </p14:sldIdLst>
        </p14:section>
        <p14:section name="Lesson Slides" id="{642C3F51-7772-FE4A-AB12-7B1259B3E2DC}">
          <p14:sldIdLst>
            <p14:sldId id="259"/>
            <p14:sldId id="330"/>
            <p14:sldId id="2086"/>
            <p14:sldId id="2088"/>
            <p14:sldId id="2089"/>
            <p14:sldId id="2090"/>
            <p14:sldId id="2079"/>
            <p14:sldId id="20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 snapToGrid="0">
      <p:cViewPr varScale="1">
        <p:scale>
          <a:sx n="116" d="100"/>
          <a:sy n="116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699-13CA-4A28-B0BE-386DAA6B8EE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29491-41F3-4D9B-8AFE-07B5E093E5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</file>

<file path=ppt/notesSlides/_rels/notesSlide9.xml.rels><?xml version='1.0' encoding='UTF-8' standalone='yes'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0F35-A86A-C3CA-D6C8-BEE5A91B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BD4D7-24F4-A5D3-5BA9-38301B7CA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FF7D0-3CDF-80A4-3DB5-0A25909D0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New enquiry session 1 – look back at the building blocks of learning explored so far for this substantive concept.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0241E-2C6C-EF1C-1EF3-25C66F5B9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8E8B9-ADA3-45E0-8420-BE5E8FCCF1F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545673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 TEACHING POINTS — talk through the diagram:</a:t>
            </a:r>
          </a:p>
          <a:p>
            <a:endParaRPr lang="en-GB" dirty="0"/>
          </a:p>
          <a:p>
            <a:r>
              <a:rPr lang="en-GB" dirty="0"/>
              <a:t>1. The Moon orbits Earth every 27–29 days. As it moves, we see different amounts of the lit half — these are the phases.</a:t>
            </a:r>
          </a:p>
          <a:p>
            <a:endParaRPr lang="en-GB" dirty="0"/>
          </a:p>
          <a:p>
            <a:r>
              <a:rPr lang="en-GB" dirty="0"/>
              <a:t>2. “Waxing” = the lit area is GROWING (right side). “Waning” = the lit area is SHRINKING (left side).</a:t>
            </a:r>
          </a:p>
          <a:p>
            <a:endParaRPr lang="en-GB" dirty="0"/>
          </a:p>
          <a:p>
            <a:r>
              <a:rPr lang="en-GB" dirty="0"/>
              <a:t>3. MISCONCEPTION: The phases are NOT caused by Earth’s shadow — that only happens during a lunar eclipse (see next slide). The phases are caused by which part of the Moon’s sunlit half we can see from Earth.</a:t>
            </a:r>
          </a:p>
          <a:p>
            <a:endParaRPr lang="en-GB" dirty="0"/>
          </a:p>
          <a:p>
            <a:r>
              <a:rPr lang="en-GB" dirty="0"/>
              <a:t>4. Walk through each phase: 1 New Moon → 2 Waxing Crescent → 3 First Quarter → 4 Waxing Gibbous → 5 Full Moon → 6 Waning Gibbous → 7 Third Quarter → 8 Waning Crescent.</a:t>
            </a:r>
          </a:p>
          <a:p>
            <a:endParaRPr lang="en-GB" dirty="0"/>
          </a:p>
          <a:p>
            <a:r>
              <a:rPr lang="en-GB" dirty="0"/>
              <a:t>Questions to ask: “What comes after the Full Moon?” (Waning Gibbous). “Why can’t we see the New Moon?” (dark side faces us). “What causes a First Quarter?” (Moon is 90° from the Sun in its orbit).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5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ard&#10;&#10;Description automatically generated">
            <a:extLst>
              <a:ext uri="{FF2B5EF4-FFF2-40B4-BE49-F238E27FC236}">
                <a16:creationId xmlns:a16="http://schemas.microsoft.com/office/drawing/2014/main" id="{A27BF2D0-CE5F-8C02-9C76-B79D759336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0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7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9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19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846CE7D5-CF57-46EF-B807-FDD0502418D4}" type="datetimeFigureOut">
              <a:rPr lang="en-GB" smtClean="0"/>
              <a:pPr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77E68B-BB67-F80C-9274-EFB7DAA5AA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Twinkl Cursive Looped Light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90" r:id="rId4"/>
    <p:sldLayoutId id="2147483691" r:id="rId5"/>
    <p:sldLayoutId id="2147483672" r:id="rId6"/>
    <p:sldLayoutId id="2147483692" r:id="rId7"/>
    <p:sldLayoutId id="2147483693" r:id="rId8"/>
    <p:sldLayoutId id="2147483694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microsoft.com/office/2007/relationships/hdphoto" Target="../media/hdphoto5.wdp"/>
  <Relationship Id="rId2" Type="http://schemas.openxmlformats.org/officeDocument/2006/relationships/image" Target="../media/image6.png"/>
  <Relationship Id="rId3" Type="http://schemas.openxmlformats.org/officeDocument/2006/relationships/image" Target="../media/image7.png"/>
  <Relationship Id="rId4" Type="http://schemas.openxmlformats.org/officeDocument/2006/relationships/image" Target="../media/image8.png"/>
  <Relationship Id="rId5" Type="http://schemas.openxmlformats.org/officeDocument/2006/relationships/image" Target="../media/image9.png"/>
  <Relationship Id="rId6" Type="http://schemas.openxmlformats.org/officeDocument/2006/relationships/slideLayout" Target="../slideLayouts/slideLayout15.xml"/>
  <Relationship Id="rId7" Type="http://schemas.openxmlformats.org/officeDocument/2006/relationships/image" Target="../media/image10.png"/>
  <Relationship Id="rId8" Type="http://schemas.openxmlformats.org/officeDocument/2006/relationships/image" Target="../media/image11.png"/>
  <Relationship Id="rId9" Type="http://schemas.openxmlformats.org/officeDocument/2006/relationships/image" Target="../media/image12.png"/>
  <Relationship Id="rId10" Type="http://schemas.openxmlformats.org/officeDocument/2006/relationships/image" Target="../media/image13.png"/>
  <Relationship Id="rId11" Type="http://schemas.openxmlformats.org/officeDocument/2006/relationships/image" Target="../media/image14.png"/>
  <Relationship Id="rId12" Type="http://schemas.openxmlformats.org/officeDocument/2006/relationships/image" Target="../media/image15.png"/>
</Relationships>
</file>

<file path=ppt/slides/_rels/slide2.xml.rels><?xml version='1.0' encoding='UTF-8' standalone='yes'?>
<Relationships xmlns="http://schemas.openxmlformats.org/package/2006/relationships">
  <Relationship Id="rId1" Type="http://schemas.openxmlformats.org/officeDocument/2006/relationships/image" Target="../media/image16.png"/>
  <Relationship Id="rId2" Type="http://schemas.openxmlformats.org/officeDocument/2006/relationships/image" Target="../media/image17.png"/>
  <Relationship Id="rId3" Type="http://schemas.openxmlformats.org/officeDocument/2006/relationships/slideLayout" Target="../slideLayouts/slideLayout1.xml"/>
  <Relationship Id="rId4" Type="http://schemas.openxmlformats.org/officeDocument/2006/relationships/image" Target="../media/image18.png"/>
</Relationships>
</file>

<file path=ppt/slides/_rels/slide3.xml.rels><?xml version='1.0' encoding='UTF-8' standalone='yes'?>
<Relationships xmlns="http://schemas.openxmlformats.org/package/2006/relationships">
  <Relationship Id="rId1" Type="http://schemas.openxmlformats.org/officeDocument/2006/relationships/image" Target="../media/image19.png"/>
  <Relationship Id="rId2" Type="http://schemas.openxmlformats.org/officeDocument/2006/relationships/notesSlide" Target="../notesSlides/notesSlide3.xml"/>
  <Relationship Id="rId3" Type="http://schemas.openxmlformats.org/officeDocument/2006/relationships/slideLayout" Target="../slideLayouts/slideLayout10.xml"/>
  <Relationship Id="rId4" Type="http://schemas.openxmlformats.org/officeDocument/2006/relationships/image" Target="../media/image20.png"/>
  <Relationship Id="rId5" Type="http://schemas.microsoft.com/office/2007/relationships/hdphoto" Target="../media/hdphoto21.wdp"/>
</Relationships>
</file>

<file path=ppt/slides/_rels/slide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
  <Relationship Id="rId1" Type="http://schemas.openxmlformats.org/officeDocument/2006/relationships/image" Target="../media/image23.png"/>
  <Relationship Id="rId2" Type="http://schemas.openxmlformats.org/officeDocument/2006/relationships/image" Target="../media/image24.png"/>
  <Relationship Id="rId3" Type="http://schemas.openxmlformats.org/officeDocument/2006/relationships/image" Target="../media/image25.png"/>
  <Relationship Id="rId4" Type="http://schemas.openxmlformats.org/officeDocument/2006/relationships/slideLayout" Target="../slideLayouts/slideLayout1.xml"/>
  <Relationship Id="rId5" Type="http://schemas.openxmlformats.org/officeDocument/2006/relationships/image" Target="../media/image26.png"/>
  <Relationship Id="rId6" Type="http://schemas.openxmlformats.org/officeDocument/2006/relationships/image" Target="../media/image27.png"/>
  <Relationship Id="rId7" Type="http://schemas.microsoft.com/office/2007/relationships/hdphoto" Target="../media/hdphoto28.wdp"/>
</Relationships>
</file>

<file path=ppt/slides/_rels/slide6.xml.rels><?xml version='1.0' encoding='UTF-8' standalone='yes'?>
<Relationships xmlns="http://schemas.openxmlformats.org/package/2006/relationships">
  <Relationship Id="rId1" Type="http://schemas.openxmlformats.org/officeDocument/2006/relationships/image" Target="../media/image29.png"/>
  <Relationship Id="rId2" Type="http://schemas.openxmlformats.org/officeDocument/2006/relationships/slideLayout" Target="../slideLayouts/slideLayout5.xml"/>
</Relationships>
</file>

<file path=ppt/slides/_rels/slide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_rels/slide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_rels/slide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3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BF61D6F3-BE72-682F-E1BA-0AD4842F6FA2}"/>
              </a:ext>
            </a:extLst>
          </p:cNvPr>
          <p:cNvSpPr/>
          <p:nvPr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room&#10;&#10;Description automatically generated">
            <a:extLst>
              <a:ext uri="{FF2B5EF4-FFF2-40B4-BE49-F238E27FC236}">
                <a16:creationId xmlns:a16="http://schemas.microsoft.com/office/drawing/2014/main" id="{FAD1A21A-B21C-B28F-6A5A-7DD1A384AE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978" y="3024044"/>
            <a:ext cx="1179274" cy="171165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BF9ACAE-FFEF-5DEC-6166-CC5E464B0AFF}"/>
              </a:ext>
            </a:extLst>
          </p:cNvPr>
          <p:cNvGrpSpPr/>
          <p:nvPr/>
        </p:nvGrpSpPr>
        <p:grpSpPr>
          <a:xfrm>
            <a:off x="10578232" y="182017"/>
            <a:ext cx="1436056" cy="1418744"/>
            <a:chOff x="9534228" y="92149"/>
            <a:chExt cx="1436056" cy="14187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A9CF60-091C-5CED-8650-8EBDAE750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94101" y="92149"/>
              <a:ext cx="676183" cy="67618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59752E-2F50-7871-E0A3-6C7D27916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34228" y="825334"/>
              <a:ext cx="676183" cy="6761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2656D8C-38E7-892E-7284-476FC8A90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4229" y="92149"/>
              <a:ext cx="676183" cy="67618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F08735-A0C9-89CD-B0AE-D7FA38400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94100" y="834710"/>
              <a:ext cx="676183" cy="67618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2B97B53-51A1-78D4-6A2A-1D3630234CE5}"/>
              </a:ext>
            </a:extLst>
          </p:cNvPr>
          <p:cNvSpPr txBox="1"/>
          <p:nvPr/>
        </p:nvSpPr>
        <p:spPr>
          <a:xfrm>
            <a:off x="4511555" y="6250547"/>
            <a:ext cx="281347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50" b="1" dirty="0">
                <a:latin typeface="Sassoon Primary Rg" panose="02000606020000020004" pitchFamily="2" charset="0"/>
              </a:rPr>
              <a:t>Being a Scientist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D472920B-3AC3-6962-912A-ECD184C538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84FEC-9863-BED2-4AE1-54E4504ADAA7}"/>
              </a:ext>
            </a:extLst>
          </p:cNvPr>
          <p:cNvSpPr txBox="1"/>
          <p:nvPr/>
        </p:nvSpPr>
        <p:spPr>
          <a:xfrm>
            <a:off x="10412654" y="1600761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>
                <a:latin typeface="Sassoon Infant Rg" panose="02000503030000020003" pitchFamily="2" charset="0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A7AD0B-4409-B039-0E4A-87475B1619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6096000" y="3193166"/>
            <a:ext cx="1750251" cy="2146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F1DACB-B251-7FA9-5939-AB63D05676A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3007342" y="2841309"/>
            <a:ext cx="1679750" cy="2398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9A040B-DA02-65B0-ED11-81A877B03AE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3237191"/>
            <a:ext cx="1645920" cy="239860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CA1F225-1C05-9920-AEA0-CFCE1FBCB296}"/>
              </a:ext>
            </a:extLst>
          </p:cNvPr>
          <p:cNvGrpSpPr/>
          <p:nvPr/>
        </p:nvGrpSpPr>
        <p:grpSpPr>
          <a:xfrm>
            <a:off x="2649646" y="773796"/>
            <a:ext cx="7344893" cy="2015968"/>
            <a:chOff x="1400000" y="126068"/>
            <a:chExt cx="7344893" cy="2015968"/>
          </a:xfrm>
        </p:grpSpPr>
        <p:pic>
          <p:nvPicPr>
            <p:cNvPr id="16" name="Picture 17">
              <a:extLst>
                <a:ext uri="{FF2B5EF4-FFF2-40B4-BE49-F238E27FC236}">
                  <a16:creationId xmlns:a16="http://schemas.microsoft.com/office/drawing/2014/main" id="{F490CF37-09D8-DA4F-EF1F-F05B636B1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C20B53-7D9C-E436-8FB4-6401EE398549}"/>
                </a:ext>
              </a:extLst>
            </p:cNvPr>
            <p:cNvSpPr txBox="1"/>
            <p:nvPr/>
          </p:nvSpPr>
          <p:spPr>
            <a:xfrm>
              <a:off x="2901299" y="129668"/>
              <a:ext cx="5843594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50" u="sng">
                  <a:latin typeface="Sassoon Primary Rg" panose="02000606020000020004" pitchFamily="2" charset="0"/>
                </a:rPr>
                <a:t>How does our planet compare to other planets?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987ABF-5516-84B1-DE1C-665E3F133617}"/>
                </a:ext>
              </a:extLst>
            </p:cNvPr>
            <p:cNvSpPr txBox="1"/>
            <p:nvPr/>
          </p:nvSpPr>
          <p:spPr>
            <a:xfrm>
              <a:off x="2933144" y="1249484"/>
              <a:ext cx="3624943" cy="89255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>
              <a:defPPr>
                <a:defRPr lang="en-US"/>
              </a:defPPr>
              <a:lvl1pPr>
                <a:defRPr sz="3200">
                  <a:latin typeface="Sassoon Primary Rg" panose="02000606020000020004" pitchFamily="2" charset="0"/>
                </a:defRPr>
              </a:lvl1pPr>
            </a:lstStyle>
            <a:p>
              <a:endParaRPr/>
              <a:r>
                <a:rPr sz="2000"/>
                <a:t>Our Challenge:</a:t>
              </a:r>
            </a:p>
            <a:p>
              <a:r>
                <a:rPr sz="2000"/>
                <a:t>Write an information text about a chosen planet.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0CA01A-EB08-079E-F8F3-26E0CB5E4AB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576" y="5339852"/>
            <a:ext cx="1104848" cy="85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5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easOfStud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646612"/>
            <a:ext cx="5796000" cy="5564776"/>
          </a:xfrm>
          <a:prstGeom prst="rect">
            <a:avLst/>
          </a:prstGeom>
        </p:spPr>
      </p:pic>
      <p:pic>
        <p:nvPicPr>
          <p:cNvPr id="3" name="Skil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6000" y="408055"/>
            <a:ext cx="5796000" cy="6041890"/>
          </a:xfrm>
          <a:prstGeom prst="rect">
            <a:avLst/>
          </a:prstGeom>
        </p:spPr>
      </p:pic>
      <p:pic>
        <p:nvPicPr>
          <p:cNvPr id="10" name="Scientist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5948000"/>
            <a:ext cx="1067312" cy="760000"/>
          </a:xfrm>
          <a:prstGeom prst="rect">
            <a:avLst/>
          </a:prstGeom>
        </p:spPr>
      </p:pic>
      <p:sp>
        <p:nvSpPr>
          <p:cNvPr id="11" name="TitleBeing"/>
          <p:cNvSpPr txBox="1"/>
          <p:nvPr/>
        </p:nvSpPr>
        <p:spPr>
          <a:xfrm>
            <a:off x="200000" y="150000"/>
            <a:ext cx="11792000" cy="7000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lang="en-GB" sz="3600" b="1" dirty="0">
                <a:solidFill>
                  <a:srgbClr val="1A5C1A"/>
                </a:solidFill>
                <a:latin typeface="Twinkl Cursive Looped Light" panose="02000000000000000000" pitchFamily="2" charset="77"/>
              </a:rPr>
              <a:t>Being a Scientist</a:t>
            </a:r>
          </a:p>
        </p:txBody>
      </p:sp>
    </p:spTree>
    <p:extLst>
      <p:ext uri="{BB962C8B-B14F-4D97-AF65-F5344CB8AC3E}">
        <p14:creationId xmlns:p14="http://schemas.microsoft.com/office/powerpoint/2010/main" val="240403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D28B-826C-A9FE-BED6-C497560C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Freeform: Shape 272">
            <a:extLst>
              <a:ext uri="{FF2B5EF4-FFF2-40B4-BE49-F238E27FC236}">
                <a16:creationId xmlns:a16="http://schemas.microsoft.com/office/drawing/2014/main" id="{890B5CAE-62CF-1CA0-255F-51645AF88149}"/>
              </a:ext>
            </a:extLst>
          </p:cNvPr>
          <p:cNvSpPr/>
          <p:nvPr/>
        </p:nvSpPr>
        <p:spPr>
          <a:xfrm>
            <a:off x="6801640" y="168470"/>
            <a:ext cx="174874" cy="255783"/>
          </a:xfrm>
          <a:custGeom>
            <a:avLst/>
            <a:gdLst>
              <a:gd name="connsiteX0" fmla="*/ 65530 w 131059"/>
              <a:gd name="connsiteY0" fmla="*/ 129765 h 129765"/>
              <a:gd name="connsiteX1" fmla="*/ 131059 w 131059"/>
              <a:gd name="connsiteY1" fmla="*/ 64883 h 129765"/>
              <a:gd name="connsiteX2" fmla="*/ 65530 w 131059"/>
              <a:gd name="connsiteY2" fmla="*/ 0 h 129765"/>
              <a:gd name="connsiteX3" fmla="*/ 0 w 131059"/>
              <a:gd name="connsiteY3" fmla="*/ 64883 h 129765"/>
              <a:gd name="connsiteX4" fmla="*/ 65530 w 131059"/>
              <a:gd name="connsiteY4" fmla="*/ 129765 h 129765"/>
              <a:gd name="connsiteX5" fmla="*/ 65530 w 131059"/>
              <a:gd name="connsiteY5" fmla="*/ 43255 h 129765"/>
              <a:gd name="connsiteX6" fmla="*/ 87373 w 131059"/>
              <a:gd name="connsiteY6" fmla="*/ 64883 h 129765"/>
              <a:gd name="connsiteX7" fmla="*/ 65530 w 131059"/>
              <a:gd name="connsiteY7" fmla="*/ 86510 h 129765"/>
              <a:gd name="connsiteX8" fmla="*/ 43686 w 131059"/>
              <a:gd name="connsiteY8" fmla="*/ 64883 h 129765"/>
              <a:gd name="connsiteX9" fmla="*/ 65530 w 131059"/>
              <a:gd name="connsiteY9" fmla="*/ 43255 h 129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1059" h="129765">
                <a:moveTo>
                  <a:pt x="65530" y="129765"/>
                </a:moveTo>
                <a:cubicBezTo>
                  <a:pt x="101721" y="129765"/>
                  <a:pt x="131059" y="100716"/>
                  <a:pt x="131059" y="64883"/>
                </a:cubicBezTo>
                <a:cubicBezTo>
                  <a:pt x="131059" y="29049"/>
                  <a:pt x="101721" y="0"/>
                  <a:pt x="65530" y="0"/>
                </a:cubicBezTo>
                <a:cubicBezTo>
                  <a:pt x="29338" y="0"/>
                  <a:pt x="0" y="29049"/>
                  <a:pt x="0" y="64883"/>
                </a:cubicBezTo>
                <a:cubicBezTo>
                  <a:pt x="0" y="100716"/>
                  <a:pt x="29338" y="129765"/>
                  <a:pt x="65530" y="129765"/>
                </a:cubicBezTo>
                <a:close/>
                <a:moveTo>
                  <a:pt x="65530" y="43255"/>
                </a:moveTo>
                <a:cubicBezTo>
                  <a:pt x="77594" y="43255"/>
                  <a:pt x="87373" y="52938"/>
                  <a:pt x="87373" y="64883"/>
                </a:cubicBezTo>
                <a:cubicBezTo>
                  <a:pt x="87373" y="76827"/>
                  <a:pt x="77594" y="86510"/>
                  <a:pt x="65530" y="86510"/>
                </a:cubicBezTo>
                <a:cubicBezTo>
                  <a:pt x="53466" y="86510"/>
                  <a:pt x="43686" y="76827"/>
                  <a:pt x="43686" y="64883"/>
                </a:cubicBezTo>
                <a:cubicBezTo>
                  <a:pt x="43686" y="52938"/>
                  <a:pt x="53466" y="43255"/>
                  <a:pt x="65530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4" name="Freeform: Shape 283">
            <a:extLst>
              <a:ext uri="{FF2B5EF4-FFF2-40B4-BE49-F238E27FC236}">
                <a16:creationId xmlns:a16="http://schemas.microsoft.com/office/drawing/2014/main" id="{43E8D030-8741-C8CA-F1F0-5C12B9D32616}"/>
              </a:ext>
            </a:extLst>
          </p:cNvPr>
          <p:cNvSpPr/>
          <p:nvPr/>
        </p:nvSpPr>
        <p:spPr>
          <a:xfrm>
            <a:off x="9467674" y="224090"/>
            <a:ext cx="233165" cy="341044"/>
          </a:xfrm>
          <a:custGeom>
            <a:avLst/>
            <a:gdLst>
              <a:gd name="connsiteX0" fmla="*/ 87373 w 174745"/>
              <a:gd name="connsiteY0" fmla="*/ 173021 h 173020"/>
              <a:gd name="connsiteX1" fmla="*/ 174745 w 174745"/>
              <a:gd name="connsiteY1" fmla="*/ 86510 h 173020"/>
              <a:gd name="connsiteX2" fmla="*/ 87373 w 174745"/>
              <a:gd name="connsiteY2" fmla="*/ 0 h 173020"/>
              <a:gd name="connsiteX3" fmla="*/ 0 w 174745"/>
              <a:gd name="connsiteY3" fmla="*/ 86510 h 173020"/>
              <a:gd name="connsiteX4" fmla="*/ 87373 w 174745"/>
              <a:gd name="connsiteY4" fmla="*/ 173021 h 173020"/>
              <a:gd name="connsiteX5" fmla="*/ 87373 w 174745"/>
              <a:gd name="connsiteY5" fmla="*/ 43255 h 173020"/>
              <a:gd name="connsiteX6" fmla="*/ 131059 w 174745"/>
              <a:gd name="connsiteY6" fmla="*/ 86510 h 173020"/>
              <a:gd name="connsiteX7" fmla="*/ 87373 w 174745"/>
              <a:gd name="connsiteY7" fmla="*/ 129765 h 173020"/>
              <a:gd name="connsiteX8" fmla="*/ 43686 w 174745"/>
              <a:gd name="connsiteY8" fmla="*/ 86510 h 173020"/>
              <a:gd name="connsiteX9" fmla="*/ 87373 w 174745"/>
              <a:gd name="connsiteY9" fmla="*/ 43255 h 173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745" h="173020">
                <a:moveTo>
                  <a:pt x="87373" y="173021"/>
                </a:moveTo>
                <a:cubicBezTo>
                  <a:pt x="135626" y="173021"/>
                  <a:pt x="174745" y="134288"/>
                  <a:pt x="174745" y="86510"/>
                </a:cubicBezTo>
                <a:cubicBezTo>
                  <a:pt x="174745" y="38732"/>
                  <a:pt x="135626" y="0"/>
                  <a:pt x="87373" y="0"/>
                </a:cubicBezTo>
                <a:cubicBezTo>
                  <a:pt x="39119" y="0"/>
                  <a:pt x="0" y="38732"/>
                  <a:pt x="0" y="86510"/>
                </a:cubicBezTo>
                <a:cubicBezTo>
                  <a:pt x="0" y="134288"/>
                  <a:pt x="39119" y="173021"/>
                  <a:pt x="87373" y="173021"/>
                </a:cubicBezTo>
                <a:close/>
                <a:moveTo>
                  <a:pt x="87373" y="43255"/>
                </a:moveTo>
                <a:cubicBezTo>
                  <a:pt x="111501" y="43255"/>
                  <a:pt x="131059" y="62620"/>
                  <a:pt x="131059" y="86510"/>
                </a:cubicBezTo>
                <a:cubicBezTo>
                  <a:pt x="131059" y="110400"/>
                  <a:pt x="111501" y="129765"/>
                  <a:pt x="87373" y="129765"/>
                </a:cubicBezTo>
                <a:cubicBezTo>
                  <a:pt x="63245" y="129765"/>
                  <a:pt x="43686" y="110400"/>
                  <a:pt x="43686" y="86510"/>
                </a:cubicBezTo>
                <a:cubicBezTo>
                  <a:pt x="43686" y="62620"/>
                  <a:pt x="63245" y="43255"/>
                  <a:pt x="87373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5" name="Freeform: Shape 284">
            <a:extLst>
              <a:ext uri="{FF2B5EF4-FFF2-40B4-BE49-F238E27FC236}">
                <a16:creationId xmlns:a16="http://schemas.microsoft.com/office/drawing/2014/main" id="{388152F7-4779-F5DA-F88B-FC8010CDDD5C}"/>
              </a:ext>
            </a:extLst>
          </p:cNvPr>
          <p:cNvSpPr/>
          <p:nvPr/>
        </p:nvSpPr>
        <p:spPr>
          <a:xfrm>
            <a:off x="8109740" y="434950"/>
            <a:ext cx="349748" cy="511568"/>
          </a:xfrm>
          <a:custGeom>
            <a:avLst/>
            <a:gdLst>
              <a:gd name="connsiteX0" fmla="*/ 131059 w 262118"/>
              <a:gd name="connsiteY0" fmla="*/ 259531 h 259530"/>
              <a:gd name="connsiteX1" fmla="*/ 262118 w 262118"/>
              <a:gd name="connsiteY1" fmla="*/ 129765 h 259530"/>
              <a:gd name="connsiteX2" fmla="*/ 131059 w 262118"/>
              <a:gd name="connsiteY2" fmla="*/ 0 h 259530"/>
              <a:gd name="connsiteX3" fmla="*/ 0 w 262118"/>
              <a:gd name="connsiteY3" fmla="*/ 129765 h 259530"/>
              <a:gd name="connsiteX4" fmla="*/ 131059 w 262118"/>
              <a:gd name="connsiteY4" fmla="*/ 259531 h 259530"/>
              <a:gd name="connsiteX5" fmla="*/ 131059 w 262118"/>
              <a:gd name="connsiteY5" fmla="*/ 43255 h 259530"/>
              <a:gd name="connsiteX6" fmla="*/ 218432 w 262118"/>
              <a:gd name="connsiteY6" fmla="*/ 129765 h 259530"/>
              <a:gd name="connsiteX7" fmla="*/ 131059 w 262118"/>
              <a:gd name="connsiteY7" fmla="*/ 216276 h 259530"/>
              <a:gd name="connsiteX8" fmla="*/ 43686 w 262118"/>
              <a:gd name="connsiteY8" fmla="*/ 129765 h 259530"/>
              <a:gd name="connsiteX9" fmla="*/ 131059 w 262118"/>
              <a:gd name="connsiteY9" fmla="*/ 43255 h 25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2118" h="259530">
                <a:moveTo>
                  <a:pt x="131059" y="259531"/>
                </a:moveTo>
                <a:cubicBezTo>
                  <a:pt x="203441" y="259531"/>
                  <a:pt x="262118" y="201433"/>
                  <a:pt x="262118" y="129765"/>
                </a:cubicBezTo>
                <a:cubicBezTo>
                  <a:pt x="262118" y="58098"/>
                  <a:pt x="203441" y="0"/>
                  <a:pt x="131059" y="0"/>
                </a:cubicBezTo>
                <a:cubicBezTo>
                  <a:pt x="58677" y="0"/>
                  <a:pt x="0" y="58098"/>
                  <a:pt x="0" y="129765"/>
                </a:cubicBezTo>
                <a:cubicBezTo>
                  <a:pt x="85" y="201398"/>
                  <a:pt x="58712" y="259446"/>
                  <a:pt x="131059" y="259531"/>
                </a:cubicBezTo>
                <a:close/>
                <a:moveTo>
                  <a:pt x="131059" y="43255"/>
                </a:moveTo>
                <a:cubicBezTo>
                  <a:pt x="179313" y="43255"/>
                  <a:pt x="218432" y="81988"/>
                  <a:pt x="218432" y="129765"/>
                </a:cubicBezTo>
                <a:cubicBezTo>
                  <a:pt x="218432" y="177543"/>
                  <a:pt x="179313" y="216276"/>
                  <a:pt x="131059" y="216276"/>
                </a:cubicBezTo>
                <a:cubicBezTo>
                  <a:pt x="82805" y="216276"/>
                  <a:pt x="43686" y="177543"/>
                  <a:pt x="43686" y="129765"/>
                </a:cubicBezTo>
                <a:cubicBezTo>
                  <a:pt x="43686" y="81988"/>
                  <a:pt x="82805" y="43255"/>
                  <a:pt x="131059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98E1F639-4E99-D483-D521-AFE3CE27EC43}"/>
              </a:ext>
            </a:extLst>
          </p:cNvPr>
          <p:cNvSpPr/>
          <p:nvPr/>
        </p:nvSpPr>
        <p:spPr>
          <a:xfrm>
            <a:off x="7186402" y="549370"/>
            <a:ext cx="174874" cy="255783"/>
          </a:xfrm>
          <a:custGeom>
            <a:avLst/>
            <a:gdLst>
              <a:gd name="connsiteX0" fmla="*/ 65530 w 131059"/>
              <a:gd name="connsiteY0" fmla="*/ 129765 h 129765"/>
              <a:gd name="connsiteX1" fmla="*/ 131059 w 131059"/>
              <a:gd name="connsiteY1" fmla="*/ 64883 h 129765"/>
              <a:gd name="connsiteX2" fmla="*/ 65530 w 131059"/>
              <a:gd name="connsiteY2" fmla="*/ 0 h 129765"/>
              <a:gd name="connsiteX3" fmla="*/ 0 w 131059"/>
              <a:gd name="connsiteY3" fmla="*/ 64883 h 129765"/>
              <a:gd name="connsiteX4" fmla="*/ 65530 w 131059"/>
              <a:gd name="connsiteY4" fmla="*/ 129765 h 129765"/>
              <a:gd name="connsiteX5" fmla="*/ 65530 w 131059"/>
              <a:gd name="connsiteY5" fmla="*/ 43255 h 129765"/>
              <a:gd name="connsiteX6" fmla="*/ 87373 w 131059"/>
              <a:gd name="connsiteY6" fmla="*/ 64883 h 129765"/>
              <a:gd name="connsiteX7" fmla="*/ 65530 w 131059"/>
              <a:gd name="connsiteY7" fmla="*/ 86510 h 129765"/>
              <a:gd name="connsiteX8" fmla="*/ 43686 w 131059"/>
              <a:gd name="connsiteY8" fmla="*/ 64883 h 129765"/>
              <a:gd name="connsiteX9" fmla="*/ 65530 w 131059"/>
              <a:gd name="connsiteY9" fmla="*/ 43255 h 129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1059" h="129765">
                <a:moveTo>
                  <a:pt x="65530" y="129765"/>
                </a:moveTo>
                <a:cubicBezTo>
                  <a:pt x="101721" y="129765"/>
                  <a:pt x="131059" y="100717"/>
                  <a:pt x="131059" y="64883"/>
                </a:cubicBezTo>
                <a:cubicBezTo>
                  <a:pt x="131059" y="29048"/>
                  <a:pt x="101721" y="0"/>
                  <a:pt x="65530" y="0"/>
                </a:cubicBezTo>
                <a:cubicBezTo>
                  <a:pt x="29338" y="0"/>
                  <a:pt x="0" y="29048"/>
                  <a:pt x="0" y="64883"/>
                </a:cubicBezTo>
                <a:cubicBezTo>
                  <a:pt x="0" y="100717"/>
                  <a:pt x="29338" y="129765"/>
                  <a:pt x="65530" y="129765"/>
                </a:cubicBezTo>
                <a:close/>
                <a:moveTo>
                  <a:pt x="65530" y="43255"/>
                </a:moveTo>
                <a:cubicBezTo>
                  <a:pt x="77594" y="43255"/>
                  <a:pt x="87373" y="52938"/>
                  <a:pt x="87373" y="64883"/>
                </a:cubicBezTo>
                <a:cubicBezTo>
                  <a:pt x="87373" y="76828"/>
                  <a:pt x="77594" y="86510"/>
                  <a:pt x="65530" y="86510"/>
                </a:cubicBezTo>
                <a:cubicBezTo>
                  <a:pt x="53466" y="86510"/>
                  <a:pt x="43686" y="76828"/>
                  <a:pt x="43686" y="64883"/>
                </a:cubicBezTo>
                <a:cubicBezTo>
                  <a:pt x="43686" y="52938"/>
                  <a:pt x="53466" y="43255"/>
                  <a:pt x="65530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4AFFE3-3EDD-2D6B-F8F2-ECEC91D596C6}"/>
              </a:ext>
            </a:extLst>
          </p:cNvPr>
          <p:cNvGrpSpPr/>
          <p:nvPr/>
        </p:nvGrpSpPr>
        <p:grpSpPr>
          <a:xfrm>
            <a:off x="6417190" y="5097492"/>
            <a:ext cx="4969774" cy="661583"/>
            <a:chOff x="1999694" y="1717038"/>
            <a:chExt cx="1713901" cy="288544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69E0FA1-E895-852F-3E15-494FEB12906F}"/>
                </a:ext>
              </a:extLst>
            </p:cNvPr>
            <p:cNvSpPr/>
            <p:nvPr/>
          </p:nvSpPr>
          <p:spPr>
            <a:xfrm>
              <a:off x="1999694" y="1717038"/>
              <a:ext cx="1713901" cy="288544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3F4DC51A-284E-99E8-9167-59E68DE0A852}"/>
                </a:ext>
              </a:extLst>
            </p:cNvPr>
            <p:cNvSpPr txBox="1"/>
            <p:nvPr/>
          </p:nvSpPr>
          <p:spPr>
            <a:xfrm>
              <a:off x="2333340" y="1800703"/>
              <a:ext cx="1296589" cy="27181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t" anchorCtr="0">
              <a:noAutofit/>
            </a:bodyPr>
            <a:lstStyle/>
            <a:p>
              <a:pPr lvl="0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The Earth and its place in the solar system</a:t>
              </a:r>
              <a:endParaRPr lang="en-GB" sz="2000" kern="12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636C74-8A8D-3356-77FA-D8DE51DE6802}"/>
              </a:ext>
            </a:extLst>
          </p:cNvPr>
          <p:cNvGrpSpPr/>
          <p:nvPr/>
        </p:nvGrpSpPr>
        <p:grpSpPr>
          <a:xfrm>
            <a:off x="6532989" y="5035884"/>
            <a:ext cx="752715" cy="748493"/>
            <a:chOff x="4462145" y="450020"/>
            <a:chExt cx="801261" cy="903352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304A672-A20D-02D7-6BF9-1EC6B3D5E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32" b="95719" l="8301" r="96332">
                          <a14:foregroundMark x1="9266" y1="45034" x2="9266" y2="45034"/>
                          <a14:foregroundMark x1="9653" y1="49658" x2="9653" y2="49658"/>
                          <a14:foregroundMark x1="43436" y1="93664" x2="43436" y2="93664"/>
                          <a14:foregroundMark x1="95174" y1="43836" x2="95174" y2="43836"/>
                          <a14:foregroundMark x1="95946" y1="48973" x2="95946" y2="48973"/>
                          <a14:foregroundMark x1="96525" y1="43664" x2="96525" y2="43664"/>
                          <a14:foregroundMark x1="61004" y1="95719" x2="61004" y2="95719"/>
                          <a14:foregroundMark x1="41313" y1="12671" x2="41313" y2="1267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62145" y="450020"/>
              <a:ext cx="801261" cy="90335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C212B0-28C8-5FA7-4F2B-74283CCE2772}"/>
                </a:ext>
              </a:extLst>
            </p:cNvPr>
            <p:cNvSpPr txBox="1"/>
            <p:nvPr/>
          </p:nvSpPr>
          <p:spPr>
            <a:xfrm>
              <a:off x="4704080" y="708024"/>
              <a:ext cx="375920" cy="50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latin typeface="Sassoon Infant Rg" panose="02000503030000020003" pitchFamily="2" charset="0"/>
                  <a:ea typeface="Sassoon Infant Rg" panose="02000503030000020003" pitchFamily="2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3AD538-88D8-1E11-1047-B873E8966AF3}"/>
              </a:ext>
            </a:extLst>
          </p:cNvPr>
          <p:cNvGrpSpPr/>
          <p:nvPr/>
        </p:nvGrpSpPr>
        <p:grpSpPr>
          <a:xfrm>
            <a:off x="6450333" y="4413131"/>
            <a:ext cx="4827428" cy="661583"/>
            <a:chOff x="3999246" y="1747524"/>
            <a:chExt cx="1713901" cy="282447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B060DAD-EF25-D8D0-A908-ED0BBEF67040}"/>
                </a:ext>
              </a:extLst>
            </p:cNvPr>
            <p:cNvSpPr/>
            <p:nvPr/>
          </p:nvSpPr>
          <p:spPr>
            <a:xfrm>
              <a:off x="3999246" y="1747524"/>
              <a:ext cx="1713901" cy="2824471"/>
            </a:xfrm>
            <a:prstGeom prst="roundRect">
              <a:avLst/>
            </a:prstGeom>
            <a:solidFill>
              <a:srgbClr val="F892BB"/>
            </a:solidFill>
            <a:ln>
              <a:solidFill>
                <a:srgbClr val="F892BB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A709540D-1F0A-C010-4777-AB9A3887A110}"/>
                </a:ext>
              </a:extLst>
            </p:cNvPr>
            <p:cNvSpPr txBox="1"/>
            <p:nvPr/>
          </p:nvSpPr>
          <p:spPr>
            <a:xfrm>
              <a:off x="4363773" y="1977206"/>
              <a:ext cx="1337136" cy="19541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t" anchorCtr="0">
              <a:noAutofit/>
            </a:bodyPr>
            <a:lstStyle/>
            <a:p>
              <a:pPr lvl="0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Rocks; The Water Cycle</a:t>
              </a:r>
              <a:endParaRPr lang="en-GB" kern="12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B81624-0237-6726-B904-2554037D6481}"/>
              </a:ext>
            </a:extLst>
          </p:cNvPr>
          <p:cNvGrpSpPr/>
          <p:nvPr/>
        </p:nvGrpSpPr>
        <p:grpSpPr>
          <a:xfrm>
            <a:off x="6486751" y="4356793"/>
            <a:ext cx="752715" cy="748493"/>
            <a:chOff x="4462145" y="450020"/>
            <a:chExt cx="801261" cy="90335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2E3BFF9-E166-1B3E-216F-5B7FF45C8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32" b="95719" l="8301" r="96332">
                          <a14:foregroundMark x1="9266" y1="45034" x2="9266" y2="45034"/>
                          <a14:foregroundMark x1="9653" y1="49658" x2="9653" y2="49658"/>
                          <a14:foregroundMark x1="43436" y1="93664" x2="43436" y2="93664"/>
                          <a14:foregroundMark x1="95174" y1="43836" x2="95174" y2="43836"/>
                          <a14:foregroundMark x1="95946" y1="48973" x2="95946" y2="48973"/>
                          <a14:foregroundMark x1="96525" y1="43664" x2="96525" y2="43664"/>
                          <a14:foregroundMark x1="61004" y1="95719" x2="61004" y2="95719"/>
                          <a14:foregroundMark x1="41313" y1="12671" x2="41313" y2="1267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62145" y="450020"/>
              <a:ext cx="801261" cy="9033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776757-FE5F-E8D9-5636-4D0000069244}"/>
                </a:ext>
              </a:extLst>
            </p:cNvPr>
            <p:cNvSpPr txBox="1"/>
            <p:nvPr/>
          </p:nvSpPr>
          <p:spPr>
            <a:xfrm>
              <a:off x="4704080" y="708024"/>
              <a:ext cx="375920" cy="50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latin typeface="Sassoon Infant Rg" panose="02000503030000020003" pitchFamily="2" charset="0"/>
                  <a:ea typeface="Sassoon Infant Rg" panose="02000503030000020003" pitchFamily="2" charset="0"/>
                </a:rPr>
                <a:t>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A79250-77D1-D55B-048B-0F4D6AD9FD8A}"/>
              </a:ext>
            </a:extLst>
          </p:cNvPr>
          <p:cNvGrpSpPr/>
          <p:nvPr/>
        </p:nvGrpSpPr>
        <p:grpSpPr>
          <a:xfrm>
            <a:off x="6431265" y="3709371"/>
            <a:ext cx="4865561" cy="661583"/>
            <a:chOff x="5998798" y="1737362"/>
            <a:chExt cx="1713901" cy="2844795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8574402-6B1E-7410-73A1-79B19DF1D4AE}"/>
                </a:ext>
              </a:extLst>
            </p:cNvPr>
            <p:cNvSpPr/>
            <p:nvPr/>
          </p:nvSpPr>
          <p:spPr>
            <a:xfrm>
              <a:off x="5998798" y="1737362"/>
              <a:ext cx="1713901" cy="2844795"/>
            </a:xfrm>
            <a:prstGeom prst="roundRect">
              <a:avLst/>
            </a:prstGeom>
            <a:grpFill/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62D5E931-161F-48C2-4C3C-03843B92EAF2}"/>
                </a:ext>
              </a:extLst>
            </p:cNvPr>
            <p:cNvSpPr txBox="1"/>
            <p:nvPr/>
          </p:nvSpPr>
          <p:spPr>
            <a:xfrm>
              <a:off x="6082464" y="1821028"/>
              <a:ext cx="1546569" cy="2344261"/>
            </a:xfrm>
            <a:prstGeom prst="rect">
              <a:avLst/>
            </a:prstGeom>
            <a:grpFill/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t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000" b="1" u="sng" kern="12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D32491-0465-C122-C963-98A7342F17C6}"/>
              </a:ext>
            </a:extLst>
          </p:cNvPr>
          <p:cNvGrpSpPr/>
          <p:nvPr/>
        </p:nvGrpSpPr>
        <p:grpSpPr>
          <a:xfrm>
            <a:off x="6400961" y="3638841"/>
            <a:ext cx="752715" cy="748493"/>
            <a:chOff x="4462145" y="450020"/>
            <a:chExt cx="801261" cy="90335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CB2284D-50EA-00A5-D235-53A152638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32" b="95719" l="8301" r="96332">
                          <a14:foregroundMark x1="9266" y1="45034" x2="9266" y2="45034"/>
                          <a14:foregroundMark x1="9653" y1="49658" x2="9653" y2="49658"/>
                          <a14:foregroundMark x1="43436" y1="93664" x2="43436" y2="93664"/>
                          <a14:foregroundMark x1="95174" y1="43836" x2="95174" y2="43836"/>
                          <a14:foregroundMark x1="95946" y1="48973" x2="95946" y2="48973"/>
                          <a14:foregroundMark x1="96525" y1="43664" x2="96525" y2="43664"/>
                          <a14:foregroundMark x1="61004" y1="95719" x2="61004" y2="95719"/>
                          <a14:foregroundMark x1="41313" y1="12671" x2="41313" y2="1267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62145" y="450020"/>
              <a:ext cx="801261" cy="903352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A637AC-EBBD-BFF1-53CE-AD87E02885C5}"/>
                </a:ext>
              </a:extLst>
            </p:cNvPr>
            <p:cNvSpPr txBox="1"/>
            <p:nvPr/>
          </p:nvSpPr>
          <p:spPr>
            <a:xfrm>
              <a:off x="4704080" y="708024"/>
              <a:ext cx="375920" cy="50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latin typeface="Sassoon Infant Rg" panose="02000503030000020003" pitchFamily="2" charset="0"/>
                  <a:ea typeface="Sassoon Infant Rg" panose="02000503030000020003" pitchFamily="2" charset="0"/>
                </a:rPr>
                <a:t>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96C828-97F2-290C-9323-3FD851DDCFA2}"/>
              </a:ext>
            </a:extLst>
          </p:cNvPr>
          <p:cNvGrpSpPr/>
          <p:nvPr/>
        </p:nvGrpSpPr>
        <p:grpSpPr>
          <a:xfrm>
            <a:off x="6532989" y="2319424"/>
            <a:ext cx="4791567" cy="745161"/>
            <a:chOff x="1999694" y="1717038"/>
            <a:chExt cx="1713901" cy="288544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89CA199-6D37-F8A3-C2CC-124E47314080}"/>
                </a:ext>
              </a:extLst>
            </p:cNvPr>
            <p:cNvSpPr/>
            <p:nvPr/>
          </p:nvSpPr>
          <p:spPr>
            <a:xfrm>
              <a:off x="1999694" y="1717038"/>
              <a:ext cx="1713901" cy="288544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4F09C7EA-2672-54DE-8871-20D4CD0D5AED}"/>
                </a:ext>
              </a:extLst>
            </p:cNvPr>
            <p:cNvSpPr txBox="1"/>
            <p:nvPr/>
          </p:nvSpPr>
          <p:spPr>
            <a:xfrm>
              <a:off x="2083360" y="1800704"/>
              <a:ext cx="1546569" cy="27181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t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000" b="1" u="sng" kern="12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B423AB4-C5FA-F3F2-E049-81B22D5B05C9}"/>
              </a:ext>
            </a:extLst>
          </p:cNvPr>
          <p:cNvGrpSpPr/>
          <p:nvPr/>
        </p:nvGrpSpPr>
        <p:grpSpPr>
          <a:xfrm>
            <a:off x="6467851" y="2298689"/>
            <a:ext cx="752715" cy="748493"/>
            <a:chOff x="1721712" y="2823332"/>
            <a:chExt cx="801261" cy="903352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9CEB023-F614-932E-CE30-D43E095AE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32" b="95719" l="8301" r="96332">
                          <a14:foregroundMark x1="9266" y1="45034" x2="9266" y2="45034"/>
                          <a14:foregroundMark x1="9653" y1="49658" x2="9653" y2="49658"/>
                          <a14:foregroundMark x1="43436" y1="93664" x2="43436" y2="93664"/>
                          <a14:foregroundMark x1="95174" y1="43836" x2="95174" y2="43836"/>
                          <a14:foregroundMark x1="95946" y1="48973" x2="95946" y2="48973"/>
                          <a14:foregroundMark x1="96525" y1="43664" x2="96525" y2="43664"/>
                          <a14:foregroundMark x1="61004" y1="95719" x2="61004" y2="95719"/>
                          <a14:foregroundMark x1="41313" y1="12671" x2="41313" y2="1267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21712" y="2823332"/>
              <a:ext cx="801261" cy="90335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78FD884-0C76-D10F-0587-02975C2814C5}"/>
                </a:ext>
              </a:extLst>
            </p:cNvPr>
            <p:cNvSpPr txBox="1"/>
            <p:nvPr/>
          </p:nvSpPr>
          <p:spPr>
            <a:xfrm>
              <a:off x="1959488" y="3052739"/>
              <a:ext cx="375920" cy="50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latin typeface="Sassoon Infant Rg" panose="02000503030000020003" pitchFamily="2" charset="0"/>
                  <a:ea typeface="Sassoon Infant Rg" panose="02000503030000020003" pitchFamily="2" charset="0"/>
                </a:rPr>
                <a:t>6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54D781-BC4F-8F2F-AF7C-D63C614BC73C}"/>
              </a:ext>
            </a:extLst>
          </p:cNvPr>
          <p:cNvGrpSpPr/>
          <p:nvPr/>
        </p:nvGrpSpPr>
        <p:grpSpPr>
          <a:xfrm>
            <a:off x="6419256" y="3046473"/>
            <a:ext cx="4827428" cy="661583"/>
            <a:chOff x="7998350" y="1737362"/>
            <a:chExt cx="1713901" cy="284479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A80802F-60E6-4F70-43A7-06C63E16E98A}"/>
                </a:ext>
              </a:extLst>
            </p:cNvPr>
            <p:cNvSpPr/>
            <p:nvPr/>
          </p:nvSpPr>
          <p:spPr>
            <a:xfrm>
              <a:off x="7998350" y="1737362"/>
              <a:ext cx="1713901" cy="2844795"/>
            </a:xfrm>
            <a:prstGeom prst="roundRect">
              <a:avLst/>
            </a:prstGeom>
            <a:solidFill>
              <a:srgbClr val="F9D2B5"/>
            </a:solidFill>
            <a:ln>
              <a:solidFill>
                <a:srgbClr val="F9D2B5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21CD02FA-0292-309A-7D46-96D128028D07}"/>
                </a:ext>
              </a:extLst>
            </p:cNvPr>
            <p:cNvSpPr txBox="1"/>
            <p:nvPr/>
          </p:nvSpPr>
          <p:spPr>
            <a:xfrm>
              <a:off x="8322864" y="1821027"/>
              <a:ext cx="1305721" cy="267746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t" anchorCtr="0">
              <a:noAutofit/>
            </a:bodyPr>
            <a:lstStyle/>
            <a:p>
              <a:pPr lvl="0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Life cycles &amp; Seasonal cycles; Astronomy &amp; Meteorology</a:t>
              </a:r>
              <a:endParaRPr lang="en-GB" kern="12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15041C-8B24-D5EB-3E00-FDB0121F9A50}"/>
              </a:ext>
            </a:extLst>
          </p:cNvPr>
          <p:cNvGrpSpPr/>
          <p:nvPr/>
        </p:nvGrpSpPr>
        <p:grpSpPr>
          <a:xfrm>
            <a:off x="6499917" y="2981007"/>
            <a:ext cx="752715" cy="748493"/>
            <a:chOff x="4462145" y="450020"/>
            <a:chExt cx="801261" cy="903352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B64CE59-2D84-7968-E2B7-436D34636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32" b="95719" l="8301" r="96332">
                          <a14:foregroundMark x1="9266" y1="45034" x2="9266" y2="45034"/>
                          <a14:foregroundMark x1="9653" y1="49658" x2="9653" y2="49658"/>
                          <a14:foregroundMark x1="43436" y1="93664" x2="43436" y2="93664"/>
                          <a14:foregroundMark x1="95174" y1="43836" x2="95174" y2="43836"/>
                          <a14:foregroundMark x1="95946" y1="48973" x2="95946" y2="48973"/>
                          <a14:foregroundMark x1="96525" y1="43664" x2="96525" y2="43664"/>
                          <a14:foregroundMark x1="61004" y1="95719" x2="61004" y2="95719"/>
                          <a14:foregroundMark x1="41313" y1="12671" x2="41313" y2="1267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62145" y="450020"/>
              <a:ext cx="801261" cy="903352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831AE9-CCBA-C200-3372-BDDEC48D4D7C}"/>
                </a:ext>
              </a:extLst>
            </p:cNvPr>
            <p:cNvSpPr txBox="1"/>
            <p:nvPr/>
          </p:nvSpPr>
          <p:spPr>
            <a:xfrm>
              <a:off x="4704080" y="708024"/>
              <a:ext cx="375920" cy="50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latin typeface="Sassoon Infant Rg" panose="02000503030000020003" pitchFamily="2" charset="0"/>
                  <a:ea typeface="Sassoon Infant Rg" panose="02000503030000020003" pitchFamily="2" charset="0"/>
                </a:rPr>
                <a:t>5</a:t>
              </a:r>
            </a:p>
          </p:txBody>
        </p:sp>
      </p:grpSp>
      <p:sp>
        <p:nvSpPr>
          <p:cNvPr id="138" name="Frame 137">
            <a:extLst>
              <a:ext uri="{FF2B5EF4-FFF2-40B4-BE49-F238E27FC236}">
                <a16:creationId xmlns:a16="http://schemas.microsoft.com/office/drawing/2014/main" id="{25604C1C-BF3C-BA90-E0B7-2F1C514C63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468C20B0-3C2F-D3EB-2A88-E8DE6921CCC9}"/>
              </a:ext>
            </a:extLst>
          </p:cNvPr>
          <p:cNvGrpSpPr/>
          <p:nvPr/>
        </p:nvGrpSpPr>
        <p:grpSpPr>
          <a:xfrm>
            <a:off x="6524130" y="5781853"/>
            <a:ext cx="4791569" cy="706284"/>
            <a:chOff x="7998350" y="1737362"/>
            <a:chExt cx="1713901" cy="2844795"/>
          </a:xfrm>
        </p:grpSpPr>
        <p:sp>
          <p:nvSpPr>
            <p:cNvPr id="307" name="Rectangle: Rounded Corners 306">
              <a:extLst>
                <a:ext uri="{FF2B5EF4-FFF2-40B4-BE49-F238E27FC236}">
                  <a16:creationId xmlns:a16="http://schemas.microsoft.com/office/drawing/2014/main" id="{1747B141-139B-400A-1928-F6F2C34D8CE6}"/>
                </a:ext>
              </a:extLst>
            </p:cNvPr>
            <p:cNvSpPr/>
            <p:nvPr/>
          </p:nvSpPr>
          <p:spPr>
            <a:xfrm>
              <a:off x="7998350" y="1737362"/>
              <a:ext cx="1713901" cy="2844795"/>
            </a:xfrm>
            <a:prstGeom prst="roundRect">
              <a:avLst/>
            </a:prstGeom>
            <a:solidFill>
              <a:srgbClr val="F9D2B5"/>
            </a:solidFill>
            <a:ln>
              <a:solidFill>
                <a:srgbClr val="F9D2B5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8" name="Rectangle: Rounded Corners 4">
              <a:extLst>
                <a:ext uri="{FF2B5EF4-FFF2-40B4-BE49-F238E27FC236}">
                  <a16:creationId xmlns:a16="http://schemas.microsoft.com/office/drawing/2014/main" id="{EBDDC0F9-8C13-9E7A-13DA-0A466C2C3419}"/>
                </a:ext>
              </a:extLst>
            </p:cNvPr>
            <p:cNvSpPr txBox="1"/>
            <p:nvPr/>
          </p:nvSpPr>
          <p:spPr>
            <a:xfrm>
              <a:off x="8319208" y="2291858"/>
              <a:ext cx="1309377" cy="22066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t" anchorCtr="0">
              <a:noAutofit/>
            </a:bodyPr>
            <a:lstStyle/>
            <a:p>
              <a:pPr lvl="0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 Seasonal Changes; Animals &amp; plants</a:t>
              </a:r>
              <a:endParaRPr lang="en-GB" kern="12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endParaRP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BD5F1F03-2EE2-8411-AC91-B9339B9EB5C8}"/>
              </a:ext>
            </a:extLst>
          </p:cNvPr>
          <p:cNvGrpSpPr/>
          <p:nvPr/>
        </p:nvGrpSpPr>
        <p:grpSpPr>
          <a:xfrm>
            <a:off x="6569485" y="5750072"/>
            <a:ext cx="752715" cy="748493"/>
            <a:chOff x="6450334" y="5317226"/>
            <a:chExt cx="801261" cy="90335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4A121F-0AD1-0328-ECAF-FEFD1BC36000}"/>
                </a:ext>
              </a:extLst>
            </p:cNvPr>
            <p:cNvSpPr txBox="1"/>
            <p:nvPr/>
          </p:nvSpPr>
          <p:spPr>
            <a:xfrm>
              <a:off x="6671572" y="5599207"/>
              <a:ext cx="389673" cy="50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latin typeface="Sassoon Infant Rg" panose="02000503030000020003" pitchFamily="2" charset="0"/>
                  <a:ea typeface="Sassoon Infant Rg" panose="02000503030000020003" pitchFamily="2" charset="0"/>
                </a:rPr>
                <a:t>1</a:t>
              </a:r>
            </a:p>
          </p:txBody>
        </p:sp>
        <p:pic>
          <p:nvPicPr>
            <p:cNvPr id="310" name="Picture 309">
              <a:extLst>
                <a:ext uri="{FF2B5EF4-FFF2-40B4-BE49-F238E27FC236}">
                  <a16:creationId xmlns:a16="http://schemas.microsoft.com/office/drawing/2014/main" id="{7E5D7BE5-4218-0502-7CF9-D13205E7B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32" b="95719" l="8301" r="96332">
                          <a14:foregroundMark x1="9266" y1="45034" x2="9266" y2="45034"/>
                          <a14:foregroundMark x1="9653" y1="49658" x2="9653" y2="49658"/>
                          <a14:foregroundMark x1="43436" y1="93664" x2="43436" y2="93664"/>
                          <a14:foregroundMark x1="95174" y1="43836" x2="95174" y2="43836"/>
                          <a14:foregroundMark x1="95946" y1="48973" x2="95946" y2="48973"/>
                          <a14:foregroundMark x1="96525" y1="43664" x2="96525" y2="43664"/>
                          <a14:foregroundMark x1="61004" y1="95719" x2="61004" y2="95719"/>
                          <a14:foregroundMark x1="41313" y1="12671" x2="41313" y2="1267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50334" y="5317226"/>
              <a:ext cx="801261" cy="903352"/>
            </a:xfrm>
            <a:prstGeom prst="rect">
              <a:avLst/>
            </a:prstGeom>
          </p:spPr>
        </p:pic>
      </p:grpSp>
      <p:sp>
        <p:nvSpPr>
          <p:cNvPr id="320" name="Freeform: Shape 319">
            <a:extLst>
              <a:ext uri="{FF2B5EF4-FFF2-40B4-BE49-F238E27FC236}">
                <a16:creationId xmlns:a16="http://schemas.microsoft.com/office/drawing/2014/main" id="{398AF7CB-DED6-C9D4-3721-C5CBDF1DD33C}"/>
              </a:ext>
            </a:extLst>
          </p:cNvPr>
          <p:cNvSpPr/>
          <p:nvPr/>
        </p:nvSpPr>
        <p:spPr>
          <a:xfrm>
            <a:off x="5838826" y="1098925"/>
            <a:ext cx="6099174" cy="5606668"/>
          </a:xfrm>
          <a:custGeom>
            <a:avLst/>
            <a:gdLst>
              <a:gd name="connsiteX0" fmla="*/ 513624 w 514349"/>
              <a:gd name="connsiteY0" fmla="*/ 5877 h 571500"/>
              <a:gd name="connsiteX1" fmla="*/ 504823 w 514349"/>
              <a:gd name="connsiteY1" fmla="*/ 0 h 571500"/>
              <a:gd name="connsiteX2" fmla="*/ 9523 w 514349"/>
              <a:gd name="connsiteY2" fmla="*/ 0 h 571500"/>
              <a:gd name="connsiteX3" fmla="*/ 0 w 514349"/>
              <a:gd name="connsiteY3" fmla="*/ 9527 h 571500"/>
              <a:gd name="connsiteX4" fmla="*/ 2789 w 514349"/>
              <a:gd name="connsiteY4" fmla="*/ 16259 h 571500"/>
              <a:gd name="connsiteX5" fmla="*/ 24144 w 514349"/>
              <a:gd name="connsiteY5" fmla="*/ 37624 h 571500"/>
              <a:gd name="connsiteX6" fmla="*/ 38098 w 514349"/>
              <a:gd name="connsiteY6" fmla="*/ 71295 h 571500"/>
              <a:gd name="connsiteX7" fmla="*/ 38098 w 514349"/>
              <a:gd name="connsiteY7" fmla="*/ 523875 h 571500"/>
              <a:gd name="connsiteX8" fmla="*/ 85723 w 514349"/>
              <a:gd name="connsiteY8" fmla="*/ 571500 h 571500"/>
              <a:gd name="connsiteX9" fmla="*/ 428623 w 514349"/>
              <a:gd name="connsiteY9" fmla="*/ 571500 h 571500"/>
              <a:gd name="connsiteX10" fmla="*/ 476248 w 514349"/>
              <a:gd name="connsiteY10" fmla="*/ 523875 h 571500"/>
              <a:gd name="connsiteX11" fmla="*/ 476248 w 514349"/>
              <a:gd name="connsiteY11" fmla="*/ 71295 h 571500"/>
              <a:gd name="connsiteX12" fmla="*/ 490202 w 514349"/>
              <a:gd name="connsiteY12" fmla="*/ 37624 h 571500"/>
              <a:gd name="connsiteX13" fmla="*/ 511557 w 514349"/>
              <a:gd name="connsiteY13" fmla="*/ 16259 h 571500"/>
              <a:gd name="connsiteX14" fmla="*/ 513624 w 514349"/>
              <a:gd name="connsiteY14" fmla="*/ 5877 h 571500"/>
              <a:gd name="connsiteX15" fmla="*/ 428623 w 514349"/>
              <a:gd name="connsiteY15" fmla="*/ 552450 h 571500"/>
              <a:gd name="connsiteX16" fmla="*/ 85723 w 514349"/>
              <a:gd name="connsiteY16" fmla="*/ 552450 h 571500"/>
              <a:gd name="connsiteX17" fmla="*/ 57148 w 514349"/>
              <a:gd name="connsiteY17" fmla="*/ 523875 h 571500"/>
              <a:gd name="connsiteX18" fmla="*/ 57148 w 514349"/>
              <a:gd name="connsiteY18" fmla="*/ 123739 h 571500"/>
              <a:gd name="connsiteX19" fmla="*/ 234113 w 514349"/>
              <a:gd name="connsiteY19" fmla="*/ 100013 h 571500"/>
              <a:gd name="connsiteX20" fmla="*/ 323848 w 514349"/>
              <a:gd name="connsiteY20" fmla="*/ 85725 h 571500"/>
              <a:gd name="connsiteX21" fmla="*/ 438348 w 514349"/>
              <a:gd name="connsiteY21" fmla="*/ 106804 h 571500"/>
              <a:gd name="connsiteX22" fmla="*/ 457198 w 514349"/>
              <a:gd name="connsiteY22" fmla="*/ 112919 h 571500"/>
              <a:gd name="connsiteX23" fmla="*/ 457198 w 514349"/>
              <a:gd name="connsiteY23" fmla="*/ 523875 h 571500"/>
              <a:gd name="connsiteX24" fmla="*/ 428623 w 514349"/>
              <a:gd name="connsiteY24" fmla="*/ 552450 h 571500"/>
              <a:gd name="connsiteX25" fmla="*/ 476715 w 514349"/>
              <a:gd name="connsiteY25" fmla="*/ 24165 h 571500"/>
              <a:gd name="connsiteX26" fmla="*/ 457198 w 514349"/>
              <a:gd name="connsiteY26" fmla="*/ 71295 h 571500"/>
              <a:gd name="connsiteX27" fmla="*/ 457198 w 514349"/>
              <a:gd name="connsiteY27" fmla="*/ 93202 h 571500"/>
              <a:gd name="connsiteX28" fmla="*/ 444816 w 514349"/>
              <a:gd name="connsiteY28" fmla="*/ 88897 h 571500"/>
              <a:gd name="connsiteX29" fmla="*/ 323848 w 514349"/>
              <a:gd name="connsiteY29" fmla="*/ 66675 h 571500"/>
              <a:gd name="connsiteX30" fmla="*/ 229312 w 514349"/>
              <a:gd name="connsiteY30" fmla="*/ 81563 h 571500"/>
              <a:gd name="connsiteX31" fmla="*/ 57148 w 514349"/>
              <a:gd name="connsiteY31" fmla="*/ 104699 h 571500"/>
              <a:gd name="connsiteX32" fmla="*/ 57148 w 514349"/>
              <a:gd name="connsiteY32" fmla="*/ 71295 h 571500"/>
              <a:gd name="connsiteX33" fmla="*/ 37641 w 514349"/>
              <a:gd name="connsiteY33" fmla="*/ 24184 h 571500"/>
              <a:gd name="connsiteX34" fmla="*/ 32678 w 514349"/>
              <a:gd name="connsiteY34" fmla="*/ 19212 h 571500"/>
              <a:gd name="connsiteX35" fmla="*/ 32745 w 514349"/>
              <a:gd name="connsiteY35" fmla="*/ 19050 h 571500"/>
              <a:gd name="connsiteX36" fmla="*/ 481601 w 514349"/>
              <a:gd name="connsiteY36" fmla="*/ 19050 h 571500"/>
              <a:gd name="connsiteX37" fmla="*/ 481668 w 514349"/>
              <a:gd name="connsiteY37" fmla="*/ 19212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14349" h="571500">
                <a:moveTo>
                  <a:pt x="513624" y="5877"/>
                </a:moveTo>
                <a:cubicBezTo>
                  <a:pt x="512149" y="2318"/>
                  <a:pt x="508675" y="-1"/>
                  <a:pt x="504823" y="0"/>
                </a:cubicBezTo>
                <a:lnTo>
                  <a:pt x="9523" y="0"/>
                </a:lnTo>
                <a:cubicBezTo>
                  <a:pt x="4262" y="1"/>
                  <a:pt x="-1" y="4266"/>
                  <a:pt x="0" y="9527"/>
                </a:cubicBezTo>
                <a:cubicBezTo>
                  <a:pt x="1" y="12052"/>
                  <a:pt x="1004" y="14473"/>
                  <a:pt x="2789" y="16259"/>
                </a:cubicBezTo>
                <a:lnTo>
                  <a:pt x="24144" y="37624"/>
                </a:lnTo>
                <a:cubicBezTo>
                  <a:pt x="33105" y="46533"/>
                  <a:pt x="38130" y="58658"/>
                  <a:pt x="38098" y="71295"/>
                </a:cubicBezTo>
                <a:lnTo>
                  <a:pt x="38098" y="523875"/>
                </a:lnTo>
                <a:cubicBezTo>
                  <a:pt x="38130" y="550165"/>
                  <a:pt x="59433" y="571469"/>
                  <a:pt x="85723" y="571500"/>
                </a:cubicBezTo>
                <a:lnTo>
                  <a:pt x="428623" y="571500"/>
                </a:lnTo>
                <a:cubicBezTo>
                  <a:pt x="454913" y="571469"/>
                  <a:pt x="476217" y="550165"/>
                  <a:pt x="476248" y="523875"/>
                </a:cubicBezTo>
                <a:lnTo>
                  <a:pt x="476248" y="71295"/>
                </a:lnTo>
                <a:cubicBezTo>
                  <a:pt x="476216" y="58658"/>
                  <a:pt x="481241" y="46533"/>
                  <a:pt x="490202" y="37624"/>
                </a:cubicBezTo>
                <a:lnTo>
                  <a:pt x="511557" y="16259"/>
                </a:lnTo>
                <a:cubicBezTo>
                  <a:pt x="514283" y="13535"/>
                  <a:pt x="515099" y="9437"/>
                  <a:pt x="513624" y="5877"/>
                </a:cubicBezTo>
                <a:close/>
                <a:moveTo>
                  <a:pt x="428623" y="552450"/>
                </a:moveTo>
                <a:lnTo>
                  <a:pt x="85723" y="552450"/>
                </a:lnTo>
                <a:cubicBezTo>
                  <a:pt x="69941" y="552450"/>
                  <a:pt x="57148" y="539657"/>
                  <a:pt x="57148" y="523875"/>
                </a:cubicBezTo>
                <a:lnTo>
                  <a:pt x="57148" y="123739"/>
                </a:lnTo>
                <a:cubicBezTo>
                  <a:pt x="116951" y="124062"/>
                  <a:pt x="176508" y="116077"/>
                  <a:pt x="234113" y="100013"/>
                </a:cubicBezTo>
                <a:cubicBezTo>
                  <a:pt x="263218" y="91110"/>
                  <a:pt x="293419" y="86302"/>
                  <a:pt x="323848" y="85725"/>
                </a:cubicBezTo>
                <a:cubicBezTo>
                  <a:pt x="363013" y="85345"/>
                  <a:pt x="401885" y="92501"/>
                  <a:pt x="438348" y="106804"/>
                </a:cubicBezTo>
                <a:cubicBezTo>
                  <a:pt x="444517" y="109177"/>
                  <a:pt x="450811" y="111219"/>
                  <a:pt x="457198" y="112919"/>
                </a:cubicBezTo>
                <a:lnTo>
                  <a:pt x="457198" y="523875"/>
                </a:lnTo>
                <a:cubicBezTo>
                  <a:pt x="457198" y="539657"/>
                  <a:pt x="444405" y="552450"/>
                  <a:pt x="428623" y="552450"/>
                </a:cubicBezTo>
                <a:close/>
                <a:moveTo>
                  <a:pt x="476715" y="24165"/>
                </a:moveTo>
                <a:cubicBezTo>
                  <a:pt x="464219" y="36666"/>
                  <a:pt x="457199" y="53619"/>
                  <a:pt x="457198" y="71295"/>
                </a:cubicBezTo>
                <a:lnTo>
                  <a:pt x="457198" y="93202"/>
                </a:lnTo>
                <a:cubicBezTo>
                  <a:pt x="453626" y="92069"/>
                  <a:pt x="449492" y="90583"/>
                  <a:pt x="444816" y="88897"/>
                </a:cubicBezTo>
                <a:cubicBezTo>
                  <a:pt x="406263" y="73898"/>
                  <a:pt x="365214" y="66357"/>
                  <a:pt x="323848" y="66675"/>
                </a:cubicBezTo>
                <a:cubicBezTo>
                  <a:pt x="291796" y="67197"/>
                  <a:pt x="259974" y="72208"/>
                  <a:pt x="229312" y="81563"/>
                </a:cubicBezTo>
                <a:cubicBezTo>
                  <a:pt x="173292" y="97306"/>
                  <a:pt x="115337" y="105093"/>
                  <a:pt x="57148" y="104699"/>
                </a:cubicBezTo>
                <a:lnTo>
                  <a:pt x="57148" y="71295"/>
                </a:lnTo>
                <a:cubicBezTo>
                  <a:pt x="57151" y="53626"/>
                  <a:pt x="50134" y="36679"/>
                  <a:pt x="37641" y="24184"/>
                </a:cubicBezTo>
                <a:lnTo>
                  <a:pt x="32678" y="19212"/>
                </a:lnTo>
                <a:cubicBezTo>
                  <a:pt x="32593" y="19126"/>
                  <a:pt x="32621" y="19050"/>
                  <a:pt x="32745" y="19050"/>
                </a:cubicBezTo>
                <a:lnTo>
                  <a:pt x="481601" y="19050"/>
                </a:lnTo>
                <a:cubicBezTo>
                  <a:pt x="481725" y="19050"/>
                  <a:pt x="481754" y="19126"/>
                  <a:pt x="481668" y="19212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6" name="Freeform: Shape 325">
            <a:extLst>
              <a:ext uri="{FF2B5EF4-FFF2-40B4-BE49-F238E27FC236}">
                <a16:creationId xmlns:a16="http://schemas.microsoft.com/office/drawing/2014/main" id="{9675B98F-5F7A-9B51-F33C-2B8DF96E98E6}"/>
              </a:ext>
            </a:extLst>
          </p:cNvPr>
          <p:cNvSpPr/>
          <p:nvPr/>
        </p:nvSpPr>
        <p:spPr>
          <a:xfrm>
            <a:off x="10249380" y="250021"/>
            <a:ext cx="349748" cy="511568"/>
          </a:xfrm>
          <a:custGeom>
            <a:avLst/>
            <a:gdLst>
              <a:gd name="connsiteX0" fmla="*/ 131059 w 262118"/>
              <a:gd name="connsiteY0" fmla="*/ 259531 h 259530"/>
              <a:gd name="connsiteX1" fmla="*/ 262118 w 262118"/>
              <a:gd name="connsiteY1" fmla="*/ 129765 h 259530"/>
              <a:gd name="connsiteX2" fmla="*/ 131059 w 262118"/>
              <a:gd name="connsiteY2" fmla="*/ 0 h 259530"/>
              <a:gd name="connsiteX3" fmla="*/ 0 w 262118"/>
              <a:gd name="connsiteY3" fmla="*/ 129765 h 259530"/>
              <a:gd name="connsiteX4" fmla="*/ 131059 w 262118"/>
              <a:gd name="connsiteY4" fmla="*/ 259531 h 259530"/>
              <a:gd name="connsiteX5" fmla="*/ 131059 w 262118"/>
              <a:gd name="connsiteY5" fmla="*/ 43255 h 259530"/>
              <a:gd name="connsiteX6" fmla="*/ 218432 w 262118"/>
              <a:gd name="connsiteY6" fmla="*/ 129765 h 259530"/>
              <a:gd name="connsiteX7" fmla="*/ 131059 w 262118"/>
              <a:gd name="connsiteY7" fmla="*/ 216276 h 259530"/>
              <a:gd name="connsiteX8" fmla="*/ 43686 w 262118"/>
              <a:gd name="connsiteY8" fmla="*/ 129765 h 259530"/>
              <a:gd name="connsiteX9" fmla="*/ 131059 w 262118"/>
              <a:gd name="connsiteY9" fmla="*/ 43255 h 25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2118" h="259530">
                <a:moveTo>
                  <a:pt x="131059" y="259531"/>
                </a:moveTo>
                <a:cubicBezTo>
                  <a:pt x="203441" y="259531"/>
                  <a:pt x="262118" y="201433"/>
                  <a:pt x="262118" y="129765"/>
                </a:cubicBezTo>
                <a:cubicBezTo>
                  <a:pt x="262118" y="58098"/>
                  <a:pt x="203441" y="0"/>
                  <a:pt x="131059" y="0"/>
                </a:cubicBezTo>
                <a:cubicBezTo>
                  <a:pt x="58677" y="0"/>
                  <a:pt x="0" y="58098"/>
                  <a:pt x="0" y="129765"/>
                </a:cubicBezTo>
                <a:cubicBezTo>
                  <a:pt x="85" y="201398"/>
                  <a:pt x="58712" y="259446"/>
                  <a:pt x="131059" y="259531"/>
                </a:cubicBezTo>
                <a:close/>
                <a:moveTo>
                  <a:pt x="131059" y="43255"/>
                </a:moveTo>
                <a:cubicBezTo>
                  <a:pt x="179313" y="43255"/>
                  <a:pt x="218432" y="81988"/>
                  <a:pt x="218432" y="129765"/>
                </a:cubicBezTo>
                <a:cubicBezTo>
                  <a:pt x="218432" y="177543"/>
                  <a:pt x="179313" y="216276"/>
                  <a:pt x="131059" y="216276"/>
                </a:cubicBezTo>
                <a:cubicBezTo>
                  <a:pt x="82805" y="216276"/>
                  <a:pt x="43686" y="177543"/>
                  <a:pt x="43686" y="129765"/>
                </a:cubicBezTo>
                <a:cubicBezTo>
                  <a:pt x="43686" y="81988"/>
                  <a:pt x="82805" y="43255"/>
                  <a:pt x="131059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7" name="Freeform: Shape 326">
            <a:extLst>
              <a:ext uri="{FF2B5EF4-FFF2-40B4-BE49-F238E27FC236}">
                <a16:creationId xmlns:a16="http://schemas.microsoft.com/office/drawing/2014/main" id="{EAFB7493-1371-4D43-DEFA-1B105872E2D8}"/>
              </a:ext>
            </a:extLst>
          </p:cNvPr>
          <p:cNvSpPr/>
          <p:nvPr/>
        </p:nvSpPr>
        <p:spPr>
          <a:xfrm>
            <a:off x="9879186" y="663515"/>
            <a:ext cx="174874" cy="255783"/>
          </a:xfrm>
          <a:custGeom>
            <a:avLst/>
            <a:gdLst>
              <a:gd name="connsiteX0" fmla="*/ 65530 w 131059"/>
              <a:gd name="connsiteY0" fmla="*/ 129765 h 129765"/>
              <a:gd name="connsiteX1" fmla="*/ 131059 w 131059"/>
              <a:gd name="connsiteY1" fmla="*/ 64883 h 129765"/>
              <a:gd name="connsiteX2" fmla="*/ 65530 w 131059"/>
              <a:gd name="connsiteY2" fmla="*/ 0 h 129765"/>
              <a:gd name="connsiteX3" fmla="*/ 0 w 131059"/>
              <a:gd name="connsiteY3" fmla="*/ 64883 h 129765"/>
              <a:gd name="connsiteX4" fmla="*/ 65530 w 131059"/>
              <a:gd name="connsiteY4" fmla="*/ 129765 h 129765"/>
              <a:gd name="connsiteX5" fmla="*/ 65530 w 131059"/>
              <a:gd name="connsiteY5" fmla="*/ 43255 h 129765"/>
              <a:gd name="connsiteX6" fmla="*/ 87373 w 131059"/>
              <a:gd name="connsiteY6" fmla="*/ 64883 h 129765"/>
              <a:gd name="connsiteX7" fmla="*/ 65530 w 131059"/>
              <a:gd name="connsiteY7" fmla="*/ 86510 h 129765"/>
              <a:gd name="connsiteX8" fmla="*/ 43686 w 131059"/>
              <a:gd name="connsiteY8" fmla="*/ 64883 h 129765"/>
              <a:gd name="connsiteX9" fmla="*/ 65530 w 131059"/>
              <a:gd name="connsiteY9" fmla="*/ 43255 h 129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1059" h="129765">
                <a:moveTo>
                  <a:pt x="65530" y="129765"/>
                </a:moveTo>
                <a:cubicBezTo>
                  <a:pt x="101721" y="129765"/>
                  <a:pt x="131059" y="100716"/>
                  <a:pt x="131059" y="64883"/>
                </a:cubicBezTo>
                <a:cubicBezTo>
                  <a:pt x="131059" y="29049"/>
                  <a:pt x="101721" y="0"/>
                  <a:pt x="65530" y="0"/>
                </a:cubicBezTo>
                <a:cubicBezTo>
                  <a:pt x="29338" y="0"/>
                  <a:pt x="0" y="29049"/>
                  <a:pt x="0" y="64883"/>
                </a:cubicBezTo>
                <a:cubicBezTo>
                  <a:pt x="0" y="100716"/>
                  <a:pt x="29338" y="129765"/>
                  <a:pt x="65530" y="129765"/>
                </a:cubicBezTo>
                <a:close/>
                <a:moveTo>
                  <a:pt x="65530" y="43255"/>
                </a:moveTo>
                <a:cubicBezTo>
                  <a:pt x="77594" y="43255"/>
                  <a:pt x="87373" y="52938"/>
                  <a:pt x="87373" y="64883"/>
                </a:cubicBezTo>
                <a:cubicBezTo>
                  <a:pt x="87373" y="76827"/>
                  <a:pt x="77594" y="86510"/>
                  <a:pt x="65530" y="86510"/>
                </a:cubicBezTo>
                <a:cubicBezTo>
                  <a:pt x="53466" y="86510"/>
                  <a:pt x="43686" y="76827"/>
                  <a:pt x="43686" y="64883"/>
                </a:cubicBezTo>
                <a:cubicBezTo>
                  <a:pt x="43686" y="52938"/>
                  <a:pt x="53466" y="43255"/>
                  <a:pt x="65530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8" name="Freeform: Shape 327">
            <a:extLst>
              <a:ext uri="{FF2B5EF4-FFF2-40B4-BE49-F238E27FC236}">
                <a16:creationId xmlns:a16="http://schemas.microsoft.com/office/drawing/2014/main" id="{B65D3A72-DB67-44A2-7590-D2ACB1638E62}"/>
              </a:ext>
            </a:extLst>
          </p:cNvPr>
          <p:cNvSpPr/>
          <p:nvPr/>
        </p:nvSpPr>
        <p:spPr>
          <a:xfrm>
            <a:off x="8705483" y="233286"/>
            <a:ext cx="174874" cy="255783"/>
          </a:xfrm>
          <a:custGeom>
            <a:avLst/>
            <a:gdLst>
              <a:gd name="connsiteX0" fmla="*/ 65530 w 131059"/>
              <a:gd name="connsiteY0" fmla="*/ 129765 h 129765"/>
              <a:gd name="connsiteX1" fmla="*/ 131059 w 131059"/>
              <a:gd name="connsiteY1" fmla="*/ 64883 h 129765"/>
              <a:gd name="connsiteX2" fmla="*/ 65530 w 131059"/>
              <a:gd name="connsiteY2" fmla="*/ 0 h 129765"/>
              <a:gd name="connsiteX3" fmla="*/ 0 w 131059"/>
              <a:gd name="connsiteY3" fmla="*/ 64883 h 129765"/>
              <a:gd name="connsiteX4" fmla="*/ 65530 w 131059"/>
              <a:gd name="connsiteY4" fmla="*/ 129765 h 129765"/>
              <a:gd name="connsiteX5" fmla="*/ 65530 w 131059"/>
              <a:gd name="connsiteY5" fmla="*/ 43255 h 129765"/>
              <a:gd name="connsiteX6" fmla="*/ 87373 w 131059"/>
              <a:gd name="connsiteY6" fmla="*/ 64883 h 129765"/>
              <a:gd name="connsiteX7" fmla="*/ 65530 w 131059"/>
              <a:gd name="connsiteY7" fmla="*/ 86510 h 129765"/>
              <a:gd name="connsiteX8" fmla="*/ 43686 w 131059"/>
              <a:gd name="connsiteY8" fmla="*/ 64883 h 129765"/>
              <a:gd name="connsiteX9" fmla="*/ 65530 w 131059"/>
              <a:gd name="connsiteY9" fmla="*/ 43255 h 129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1059" h="129765">
                <a:moveTo>
                  <a:pt x="65530" y="129765"/>
                </a:moveTo>
                <a:cubicBezTo>
                  <a:pt x="101721" y="129765"/>
                  <a:pt x="131059" y="100716"/>
                  <a:pt x="131059" y="64883"/>
                </a:cubicBezTo>
                <a:cubicBezTo>
                  <a:pt x="131059" y="29049"/>
                  <a:pt x="101721" y="0"/>
                  <a:pt x="65530" y="0"/>
                </a:cubicBezTo>
                <a:cubicBezTo>
                  <a:pt x="29338" y="0"/>
                  <a:pt x="0" y="29049"/>
                  <a:pt x="0" y="64883"/>
                </a:cubicBezTo>
                <a:cubicBezTo>
                  <a:pt x="0" y="100716"/>
                  <a:pt x="29338" y="129765"/>
                  <a:pt x="65530" y="129765"/>
                </a:cubicBezTo>
                <a:close/>
                <a:moveTo>
                  <a:pt x="65530" y="43255"/>
                </a:moveTo>
                <a:cubicBezTo>
                  <a:pt x="77594" y="43255"/>
                  <a:pt x="87373" y="52938"/>
                  <a:pt x="87373" y="64883"/>
                </a:cubicBezTo>
                <a:cubicBezTo>
                  <a:pt x="87373" y="76827"/>
                  <a:pt x="77594" y="86510"/>
                  <a:pt x="65530" y="86510"/>
                </a:cubicBezTo>
                <a:cubicBezTo>
                  <a:pt x="53466" y="86510"/>
                  <a:pt x="43686" y="76827"/>
                  <a:pt x="43686" y="64883"/>
                </a:cubicBezTo>
                <a:cubicBezTo>
                  <a:pt x="43686" y="52938"/>
                  <a:pt x="53466" y="43255"/>
                  <a:pt x="65530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9" name="Freeform: Shape 328">
            <a:extLst>
              <a:ext uri="{FF2B5EF4-FFF2-40B4-BE49-F238E27FC236}">
                <a16:creationId xmlns:a16="http://schemas.microsoft.com/office/drawing/2014/main" id="{83A37025-3A24-6137-FE65-8F5348A20C75}"/>
              </a:ext>
            </a:extLst>
          </p:cNvPr>
          <p:cNvSpPr/>
          <p:nvPr/>
        </p:nvSpPr>
        <p:spPr>
          <a:xfrm>
            <a:off x="6579005" y="641948"/>
            <a:ext cx="233165" cy="341044"/>
          </a:xfrm>
          <a:custGeom>
            <a:avLst/>
            <a:gdLst>
              <a:gd name="connsiteX0" fmla="*/ 87373 w 174745"/>
              <a:gd name="connsiteY0" fmla="*/ 173021 h 173020"/>
              <a:gd name="connsiteX1" fmla="*/ 174745 w 174745"/>
              <a:gd name="connsiteY1" fmla="*/ 86510 h 173020"/>
              <a:gd name="connsiteX2" fmla="*/ 87373 w 174745"/>
              <a:gd name="connsiteY2" fmla="*/ 0 h 173020"/>
              <a:gd name="connsiteX3" fmla="*/ 0 w 174745"/>
              <a:gd name="connsiteY3" fmla="*/ 86510 h 173020"/>
              <a:gd name="connsiteX4" fmla="*/ 87373 w 174745"/>
              <a:gd name="connsiteY4" fmla="*/ 173021 h 173020"/>
              <a:gd name="connsiteX5" fmla="*/ 87373 w 174745"/>
              <a:gd name="connsiteY5" fmla="*/ 43255 h 173020"/>
              <a:gd name="connsiteX6" fmla="*/ 131059 w 174745"/>
              <a:gd name="connsiteY6" fmla="*/ 86510 h 173020"/>
              <a:gd name="connsiteX7" fmla="*/ 87373 w 174745"/>
              <a:gd name="connsiteY7" fmla="*/ 129765 h 173020"/>
              <a:gd name="connsiteX8" fmla="*/ 43686 w 174745"/>
              <a:gd name="connsiteY8" fmla="*/ 86510 h 173020"/>
              <a:gd name="connsiteX9" fmla="*/ 87373 w 174745"/>
              <a:gd name="connsiteY9" fmla="*/ 43255 h 173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745" h="173020">
                <a:moveTo>
                  <a:pt x="87373" y="173021"/>
                </a:moveTo>
                <a:cubicBezTo>
                  <a:pt x="135626" y="173021"/>
                  <a:pt x="174745" y="134288"/>
                  <a:pt x="174745" y="86510"/>
                </a:cubicBezTo>
                <a:cubicBezTo>
                  <a:pt x="174745" y="38732"/>
                  <a:pt x="135626" y="0"/>
                  <a:pt x="87373" y="0"/>
                </a:cubicBezTo>
                <a:cubicBezTo>
                  <a:pt x="39119" y="0"/>
                  <a:pt x="0" y="38732"/>
                  <a:pt x="0" y="86510"/>
                </a:cubicBezTo>
                <a:cubicBezTo>
                  <a:pt x="0" y="134288"/>
                  <a:pt x="39119" y="173021"/>
                  <a:pt x="87373" y="173021"/>
                </a:cubicBezTo>
                <a:close/>
                <a:moveTo>
                  <a:pt x="87373" y="43255"/>
                </a:moveTo>
                <a:cubicBezTo>
                  <a:pt x="111501" y="43255"/>
                  <a:pt x="131059" y="62620"/>
                  <a:pt x="131059" y="86510"/>
                </a:cubicBezTo>
                <a:cubicBezTo>
                  <a:pt x="131059" y="110400"/>
                  <a:pt x="111501" y="129765"/>
                  <a:pt x="87373" y="129765"/>
                </a:cubicBezTo>
                <a:cubicBezTo>
                  <a:pt x="63245" y="129765"/>
                  <a:pt x="43686" y="110400"/>
                  <a:pt x="43686" y="86510"/>
                </a:cubicBezTo>
                <a:cubicBezTo>
                  <a:pt x="43686" y="62620"/>
                  <a:pt x="63245" y="43255"/>
                  <a:pt x="87373" y="43255"/>
                </a:cubicBezTo>
                <a:close/>
              </a:path>
            </a:pathLst>
          </a:custGeom>
          <a:solidFill>
            <a:srgbClr val="000000"/>
          </a:solidFill>
          <a:ln w="2182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87D3D7-E7E1-13E7-D410-5D7041A3EB28}"/>
              </a:ext>
            </a:extLst>
          </p:cNvPr>
          <p:cNvSpPr txBox="1"/>
          <p:nvPr/>
        </p:nvSpPr>
        <p:spPr>
          <a:xfrm>
            <a:off x="144316" y="961919"/>
            <a:ext cx="4618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GB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GB" sz="1800" b="0" i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4.5 billion years ago a cloud of space dust coalesced to form a star surrounded by a group of planets and other material. The story of this is Earth and Space Science.</a:t>
            </a:r>
            <a:r>
              <a:rPr lang="en-GB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GB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GB" sz="1800" b="0" i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study of the Earth itself is Geography.</a:t>
            </a:r>
            <a:r>
              <a:rPr lang="en-GB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GB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EFACE21-A215-7F2A-264F-A6E3690E606D}"/>
              </a:ext>
            </a:extLst>
          </p:cNvPr>
          <p:cNvSpPr txBox="1"/>
          <p:nvPr/>
        </p:nvSpPr>
        <p:spPr>
          <a:xfrm>
            <a:off x="1154787" y="348834"/>
            <a:ext cx="4126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b="1"/>
              <a:t>What is Earth and Space Science?</a:t>
            </a:r>
            <a:r>
              <a:rPr lang="en-GB"/>
              <a:t> </a:t>
            </a:r>
            <a:r>
              <a:rPr lang="en-GB" sz="24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GB" sz="60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69" name="Picture 268">
            <a:extLst>
              <a:ext uri="{FF2B5EF4-FFF2-40B4-BE49-F238E27FC236}">
                <a16:creationId xmlns:a16="http://schemas.microsoft.com/office/drawing/2014/main" id="{07BFBE47-3111-E366-D91D-F789C3D2388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16" y="105448"/>
            <a:ext cx="1104848" cy="8564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68856C-220E-B13B-2C5F-12A2C9F29F15}"/>
              </a:ext>
            </a:extLst>
          </p:cNvPr>
          <p:cNvSpPr txBox="1"/>
          <p:nvPr/>
        </p:nvSpPr>
        <p:spPr>
          <a:xfrm>
            <a:off x="7840982" y="1302594"/>
            <a:ext cx="1626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u="sng">
                <a:solidFill>
                  <a:srgbClr val="000000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Contexts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5D6C8-663F-7F05-1628-B61EBBD131BB}"/>
              </a:ext>
            </a:extLst>
          </p:cNvPr>
          <p:cNvSpPr txBox="1"/>
          <p:nvPr/>
        </p:nvSpPr>
        <p:spPr>
          <a:xfrm>
            <a:off x="1585255" y="2582636"/>
            <a:ext cx="243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sz="2400" b="1" u="sng">
                <a:solidFill>
                  <a:srgbClr val="000000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Key concepts:</a:t>
            </a:r>
            <a:endParaRPr lang="en-GB" sz="6000" b="0" i="0" u="sng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5F6A66-415C-8024-328A-E31AD1BC41B5}"/>
              </a:ext>
            </a:extLst>
          </p:cNvPr>
          <p:cNvSpPr/>
          <p:nvPr/>
        </p:nvSpPr>
        <p:spPr>
          <a:xfrm>
            <a:off x="3608299" y="4711431"/>
            <a:ext cx="1773377" cy="160735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Earth is dynamically part of the solar system and beyond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473CCB-FB4C-30DB-F3D7-529924009355}"/>
              </a:ext>
            </a:extLst>
          </p:cNvPr>
          <p:cNvSpPr/>
          <p:nvPr/>
        </p:nvSpPr>
        <p:spPr>
          <a:xfrm>
            <a:off x="472935" y="2981007"/>
            <a:ext cx="1681918" cy="15111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he Earth is a single system with four dynamically interconnected 'spheres'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3C3B3C-7EAF-8C8F-523B-21D73A30DB8C}"/>
              </a:ext>
            </a:extLst>
          </p:cNvPr>
          <p:cNvSpPr/>
          <p:nvPr/>
        </p:nvSpPr>
        <p:spPr>
          <a:xfrm>
            <a:off x="4201955" y="2904053"/>
            <a:ext cx="1537915" cy="136486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The Earth works in cycles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53D1EC-D11A-6280-A0A9-36EBF88977EF}"/>
              </a:ext>
            </a:extLst>
          </p:cNvPr>
          <p:cNvSpPr/>
          <p:nvPr/>
        </p:nvSpPr>
        <p:spPr>
          <a:xfrm>
            <a:off x="767803" y="4793887"/>
            <a:ext cx="1661588" cy="14508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Distance/time scales in Earth and space systems vary greatly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A34E04-9534-93AF-1D41-2037CCF5ADD5}"/>
              </a:ext>
            </a:extLst>
          </p:cNvPr>
          <p:cNvSpPr/>
          <p:nvPr/>
        </p:nvSpPr>
        <p:spPr>
          <a:xfrm>
            <a:off x="2425204" y="3244990"/>
            <a:ext cx="1734454" cy="14508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  <a:latin typeface="Sassoon Infant Rg" panose="02000503030000020003" pitchFamily="2" charset="0"/>
                <a:ea typeface="Sassoon Infant Rg" panose="02000503030000020003" pitchFamily="2" charset="0"/>
              </a:rPr>
              <a:t>All parts of the Earth system are constantly changing</a:t>
            </a:r>
          </a:p>
        </p:txBody>
      </p:sp>
    </p:spTree>
    <p:extLst>
      <p:ext uri="{BB962C8B-B14F-4D97-AF65-F5344CB8AC3E}">
        <p14:creationId xmlns:p14="http://schemas.microsoft.com/office/powerpoint/2010/main" val="106983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7" y="105448"/>
            <a:ext cx="1102706" cy="856470"/>
          </a:xfrm>
          <a:prstGeom prst="rect">
            <a:avLst/>
          </a:prstGeom>
        </p:spPr>
      </p:pic>
      <p:sp>
        <p:nvSpPr>
          <p:cNvPr id="3" name="DisciplineTitle"/>
          <p:cNvSpPr txBox="1"/>
          <p:nvPr/>
        </p:nvSpPr>
        <p:spPr>
          <a:xfrm>
            <a:off x="1249164" y="223255"/>
            <a:ext cx="2236999" cy="738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2400" b="1" dirty="0">
                <a:solidFill>
                  <a:srgbClr val="1A3A5C"/>
                </a:solidFill>
              </a:rPr>
              <a:t>What is Earth and Space Science?</a:t>
            </a:r>
          </a:p>
        </p:txBody>
      </p:sp>
      <p:sp>
        <p:nvSpPr>
          <p:cNvPr id="4" name="DisciplineDesc"/>
          <p:cNvSpPr txBox="1"/>
          <p:nvPr/>
        </p:nvSpPr>
        <p:spPr>
          <a:xfrm>
            <a:off x="158742" y="1069430"/>
            <a:ext cx="2490988" cy="328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1800" dirty="0">
                <a:solidFill>
                  <a:srgbClr val="1A3A5C"/>
                </a:solidFill>
              </a:rPr>
              <a:t>4.5 billion years ago a cloud of space dust coalesced to form a star surrounded by a group of planets and other material. The story of this is Earth and Space Science.
The study of the Earth itself is Geography.</a:t>
            </a:r>
          </a:p>
        </p:txBody>
      </p:sp>
      <p:sp>
        <p:nvSpPr>
          <p:cNvPr id="50" name="Ring50"/>
          <p:cNvSpPr/>
          <p:nvPr/>
        </p:nvSpPr>
        <p:spPr>
          <a:xfrm>
            <a:off x="3311728" y="694225"/>
            <a:ext cx="8357820" cy="5936212"/>
          </a:xfrm>
          <a:prstGeom prst="ellipse">
            <a:avLst/>
          </a:prstGeom>
          <a:noFill/>
          <a:ln w="19050">
            <a:solidFill>
              <a:srgbClr val="A8C8E0"/>
            </a:solidFill>
          </a:ln>
        </p:spPr>
        <p:txBody>
          <a:bodyPr/>
          <a:lstStyle/>
          <a:p/>
        </p:txBody>
      </p:sp>
      <p:sp>
        <p:nvSpPr>
          <p:cNvPr id="51" name="Ring51"/>
          <p:cNvSpPr/>
          <p:nvPr/>
        </p:nvSpPr>
        <p:spPr>
          <a:xfrm>
            <a:off x="4771030" y="1578600"/>
            <a:ext cx="5439216" cy="4167462"/>
          </a:xfrm>
          <a:prstGeom prst="ellipse">
            <a:avLst/>
          </a:prstGeom>
          <a:noFill/>
          <a:ln w="19050">
            <a:solidFill>
              <a:srgbClr val="A8C8E0"/>
            </a:solidFill>
          </a:ln>
        </p:spPr>
        <p:txBody>
          <a:bodyPr/>
          <a:lstStyle/>
          <a:p/>
        </p:txBody>
      </p:sp>
      <p:sp>
        <p:nvSpPr>
          <p:cNvPr id="52" name="Ring52"/>
          <p:cNvSpPr/>
          <p:nvPr/>
        </p:nvSpPr>
        <p:spPr>
          <a:xfrm>
            <a:off x="6296664" y="2741613"/>
            <a:ext cx="2387948" cy="1841436"/>
          </a:xfrm>
          <a:prstGeom prst="ellipse">
            <a:avLst/>
          </a:prstGeom>
          <a:noFill/>
          <a:ln w="19050">
            <a:solidFill>
              <a:srgbClr val="A8C8E0"/>
            </a:solidFill>
          </a:ln>
        </p:spPr>
        <p:txBody>
          <a:bodyPr/>
          <a:lstStyle/>
          <a:p/>
        </p:txBody>
      </p:sp>
      <p:sp>
        <p:nvSpPr>
          <p:cNvPr id="53" name="Nucleus"/>
          <p:cNvSpPr/>
          <p:nvPr/>
        </p:nvSpPr>
        <p:spPr>
          <a:xfrm>
            <a:off x="6787520" y="3129284"/>
            <a:ext cx="1406236" cy="1066094"/>
          </a:xfrm>
          <a:prstGeom prst="ellipse">
            <a:avLst/>
          </a:prstGeom>
          <a:solidFill>
            <a:srgbClr val="0A3D62"/>
          </a:solidFill>
        </p:spPr>
        <p:txBody>
          <a:bodyPr anchor="ctr" wrap="square"/>
          <a:lstStyle/>
          <a:p>
            <a:pPr algn="ctr"/>
            <a:r>
              <a:rPr lang="en-GB" sz="800" b="1" dirty="0">
                <a:solidFill>
                  <a:srgbClr val="FFFFFF"/>
                </a:solidFill>
                <a:latin typeface="Aptos"/>
              </a:rPr>
              <a:t>Astronomy</a:t>
            </a:r>
          </a:p>
        </p:txBody>
      </p:sp>
      <p:sp>
        <p:nvSpPr>
          <p:cNvPr id="54" name="El54"/>
          <p:cNvSpPr/>
          <p:nvPr/>
        </p:nvSpPr>
        <p:spPr>
          <a:xfrm>
            <a:off x="7238577" y="2511433"/>
            <a:ext cx="504122" cy="460359"/>
          </a:xfrm>
          <a:prstGeom prst="ellipse">
            <a:avLst/>
          </a:prstGeom>
          <a:solidFill>
            <a:srgbClr val="E57D24"/>
          </a:solidFill>
          <a:ln w="19050">
            <a:solidFill>
              <a:srgbClr val="A35610"/>
            </a:solidFill>
          </a:ln>
        </p:spPr>
        <p:txBody>
          <a:bodyPr lIns="0" tIns="0" rIns="0" bIns="0" anchor="ctr"/>
          <a:lstStyle/>
          <a:p>
            <a:pPr algn="ctr"/>
            <a:r>
              <a:rPr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El55"/>
          <p:cNvSpPr/>
          <p:nvPr/>
        </p:nvSpPr>
        <p:spPr>
          <a:xfrm>
            <a:off x="7238577" y="4352870"/>
            <a:ext cx="504122" cy="460360"/>
          </a:xfrm>
          <a:prstGeom prst="ellipse">
            <a:avLst/>
          </a:prstGeom>
          <a:solidFill>
            <a:srgbClr val="E57D24"/>
          </a:solidFill>
          <a:ln w="19050">
            <a:solidFill>
              <a:srgbClr val="A35610"/>
            </a:solidFill>
          </a:ln>
        </p:spPr>
        <p:txBody>
          <a:bodyPr lIns="0" tIns="0" rIns="0" bIns="0" anchor="ctr"/>
          <a:lstStyle/>
          <a:p>
            <a:pPr algn="ctr"/>
            <a:r>
              <a:rPr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6" name="El56"/>
          <p:cNvSpPr/>
          <p:nvPr/>
        </p:nvSpPr>
        <p:spPr>
          <a:xfrm>
            <a:off x="7238577" y="1348420"/>
            <a:ext cx="504122" cy="460359"/>
          </a:xfrm>
          <a:prstGeom prst="ellipse">
            <a:avLst/>
          </a:prstGeom>
          <a:solidFill>
            <a:srgbClr val="E57D24"/>
          </a:solidFill>
          <a:ln w="19050">
            <a:solidFill>
              <a:srgbClr val="A35610"/>
            </a:solidFill>
          </a:ln>
        </p:spPr>
        <p:txBody>
          <a:bodyPr lIns="0" tIns="0" rIns="0" bIns="0" anchor="ctr"/>
          <a:lstStyle/>
          <a:p>
            <a:pPr algn="ctr"/>
            <a:r>
              <a:rPr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El57"/>
          <p:cNvSpPr/>
          <p:nvPr/>
        </p:nvSpPr>
        <p:spPr>
          <a:xfrm>
            <a:off x="9161629" y="1958730"/>
            <a:ext cx="504123" cy="460360"/>
          </a:xfrm>
          <a:prstGeom prst="ellipse">
            <a:avLst/>
          </a:prstGeom>
          <a:solidFill>
            <a:srgbClr val="E57D24"/>
          </a:solidFill>
          <a:ln w="19050">
            <a:solidFill>
              <a:srgbClr val="A35610"/>
            </a:solidFill>
          </a:ln>
        </p:spPr>
        <p:txBody>
          <a:bodyPr lIns="0" tIns="0" rIns="0" bIns="0" anchor="ctr"/>
          <a:lstStyle/>
          <a:p>
            <a:pPr algn="ctr"/>
            <a:r>
              <a:rPr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8" name="El58"/>
          <p:cNvSpPr/>
          <p:nvPr/>
        </p:nvSpPr>
        <p:spPr>
          <a:xfrm>
            <a:off x="9958185" y="3432152"/>
            <a:ext cx="504123" cy="460359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9" name="El59"/>
          <p:cNvSpPr/>
          <p:nvPr/>
        </p:nvSpPr>
        <p:spPr>
          <a:xfrm>
            <a:off x="9161629" y="4905572"/>
            <a:ext cx="504123" cy="460359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0" name="El60"/>
          <p:cNvSpPr/>
          <p:nvPr/>
        </p:nvSpPr>
        <p:spPr>
          <a:xfrm>
            <a:off x="7238577" y="5515883"/>
            <a:ext cx="504122" cy="46036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1" name="El61"/>
          <p:cNvSpPr/>
          <p:nvPr/>
        </p:nvSpPr>
        <p:spPr>
          <a:xfrm>
            <a:off x="5315523" y="4905572"/>
            <a:ext cx="504123" cy="460359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2" name="El62"/>
          <p:cNvSpPr/>
          <p:nvPr/>
        </p:nvSpPr>
        <p:spPr>
          <a:xfrm>
            <a:off x="4518968" y="3432152"/>
            <a:ext cx="504123" cy="460359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3" name="El63"/>
          <p:cNvSpPr/>
          <p:nvPr/>
        </p:nvSpPr>
        <p:spPr>
          <a:xfrm>
            <a:off x="5315523" y="1958730"/>
            <a:ext cx="504123" cy="46036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4" name="El64"/>
          <p:cNvSpPr/>
          <p:nvPr/>
        </p:nvSpPr>
        <p:spPr>
          <a:xfrm>
            <a:off x="7238577" y="464046"/>
            <a:ext cx="504122" cy="460359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5" name="El65"/>
          <p:cNvSpPr/>
          <p:nvPr/>
        </p:nvSpPr>
        <p:spPr>
          <a:xfrm>
            <a:off x="11212957" y="2514956"/>
            <a:ext cx="504123" cy="460359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6" name="El66"/>
          <p:cNvSpPr/>
          <p:nvPr/>
        </p:nvSpPr>
        <p:spPr>
          <a:xfrm>
            <a:off x="9694878" y="5833399"/>
            <a:ext cx="504123" cy="46036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7" name="El67"/>
          <p:cNvSpPr/>
          <p:nvPr/>
        </p:nvSpPr>
        <p:spPr>
          <a:xfrm>
            <a:off x="4782274" y="5833399"/>
            <a:ext cx="504123" cy="46036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BBBBB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000" name="LessonLabel"/>
          <p:cNvSpPr txBox="1"/>
          <p:nvPr/>
        </p:nvSpPr>
        <p:spPr>
          <a:xfrm>
            <a:off x="7208270" y="2226344"/>
            <a:ext cx="1162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winkl Cursive Looped" pitchFamily="2" charset="77"/>
              </a:rPr>
              <a:t>The Universe</a:t>
            </a:r>
          </a:p>
        </p:txBody>
      </p:sp>
      <p:sp>
        <p:nvSpPr>
          <p:cNvPr id="2001" name="LessonLabel"/>
          <p:cNvSpPr txBox="1"/>
          <p:nvPr/>
        </p:nvSpPr>
        <p:spPr>
          <a:xfrm>
            <a:off x="6874683" y="4812456"/>
            <a:ext cx="1527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winkl Cursive Looped" pitchFamily="2" charset="77"/>
              </a:rPr>
              <a:t>Our Solar System</a:t>
            </a:r>
          </a:p>
        </p:txBody>
      </p:sp>
      <p:sp>
        <p:nvSpPr>
          <p:cNvPr id="2002" name="LessonLabel"/>
          <p:cNvSpPr txBox="1"/>
          <p:nvPr/>
        </p:nvSpPr>
        <p:spPr>
          <a:xfrm>
            <a:off x="6719341" y="1069430"/>
            <a:ext cx="1704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winkl Cursive Looped" pitchFamily="2" charset="77"/>
              </a:rPr>
              <a:t>Sizes and Distances</a:t>
            </a:r>
          </a:p>
        </p:txBody>
      </p:sp>
      <p:sp>
        <p:nvSpPr>
          <p:cNvPr id="2003" name="LessonLabel"/>
          <p:cNvSpPr txBox="1"/>
          <p:nvPr/>
        </p:nvSpPr>
        <p:spPr>
          <a:xfrm>
            <a:off x="8521921" y="1449189"/>
            <a:ext cx="1726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winkl Cursive Looped" pitchFamily="2" charset="77"/>
              </a:rPr>
              <a:t>Day, Night and the Seasons</a:t>
            </a:r>
          </a:p>
        </p:txBody>
      </p:sp>
      <p:sp>
        <p:nvSpPr>
          <p:cNvPr id="1000" name="OrangeEl5"/>
          <p:cNvSpPr>
            <a:spLocks noGrp="1"/>
          </p:cNvSpPr>
          <p:nvPr/>
        </p:nvSpPr>
        <p:spPr>
          <a:xfrm>
            <a:off x="9958185" y="3432152"/>
            <a:ext cx="504123" cy="460359"/>
          </a:xfrm>
          <a:prstGeom prst="ellipse">
            <a:avLst/>
          </a:prstGeom>
          <a:solidFill>
            <a:srgbClr val="E57D24"/>
          </a:solidFill>
          <a:ln w="19050">
            <a:solidFill>
              <a:srgbClr val="A35610"/>
            </a:solidFill>
          </a:ln>
        </p:spPr>
        <p:txBody>
          <a:bodyPr lIns="0" tIns="0" rIns="0" bIns="0" anchor="ctr"/>
          <a:lstStyle/>
          <a:p>
            <a:pPr algn="ctr"/>
            <a:r>
              <a:rPr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01" name="LessonLabel"/>
          <p:cNvSpPr txBox="1"/>
          <p:nvPr/>
        </p:nvSpPr>
        <p:spPr>
          <a:xfrm>
            <a:off x="9769736" y="3093923"/>
            <a:ext cx="939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winkl Cursive Looped" pitchFamily="2" charset="77"/>
              </a:rPr>
              <a:t>The Moon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" grpId="0" build="p"/>
      <p:bldP spid="100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7">
            <a:extLst>
              <a:ext uri="{FF2B5EF4-FFF2-40B4-BE49-F238E27FC236}">
                <a16:creationId xmlns:a16="http://schemas.microsoft.com/office/drawing/2014/main" id="{9BDF134B-F7D5-F637-528A-B455AAD40997}"/>
              </a:ext>
            </a:extLst>
          </p:cNvPr>
          <p:cNvSpPr txBox="1">
            <a:spLocks/>
          </p:cNvSpPr>
          <p:nvPr/>
        </p:nvSpPr>
        <p:spPr>
          <a:xfrm>
            <a:off x="1185691" y="252727"/>
            <a:ext cx="10128517" cy="5873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Twinkl Cursive Looped" panose="02000000000000000000" pitchFamily="2" charset="77"/>
                <a:ea typeface="+mj-ea"/>
                <a:cs typeface="+mj-cs"/>
              </a:defRPr>
            </a:lvl1pPr>
          </a:lstStyle>
          <a:p>
            <a:pPr algn="l"/>
            <a:r>
              <a:rPr lang="en-GB" dirty="0" sz="3600"/>
              <a:t>How does our planet compare to other planets?</a:t>
            </a:r>
          </a:p>
        </p:txBody>
      </p:sp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3ECCABA-6F87-1312-9EAE-20F2076FD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F7050D59-8C61-83AE-9DB5-FFADAE914387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4" name="Rounded Rectangle 22">
            <a:extLst>
              <a:ext uri="{FF2B5EF4-FFF2-40B4-BE49-F238E27FC236}">
                <a16:creationId xmlns:a16="http://schemas.microsoft.com/office/drawing/2014/main" id="{BC80871D-926E-D442-3AC3-678BD69C771E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5" name="Rounded Rectangle 21">
            <a:extLst>
              <a:ext uri="{FF2B5EF4-FFF2-40B4-BE49-F238E27FC236}">
                <a16:creationId xmlns:a16="http://schemas.microsoft.com/office/drawing/2014/main" id="{F555DC25-06BD-4B79-3B20-B575F0562AA5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6" name="Right Arrow 38">
            <a:extLst>
              <a:ext uri="{FF2B5EF4-FFF2-40B4-BE49-F238E27FC236}">
                <a16:creationId xmlns:a16="http://schemas.microsoft.com/office/drawing/2014/main" id="{9AA28F9D-BC5E-ED32-EEB4-92E9FA0E98CA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7" name="Right Arrow 40">
            <a:extLst>
              <a:ext uri="{FF2B5EF4-FFF2-40B4-BE49-F238E27FC236}">
                <a16:creationId xmlns:a16="http://schemas.microsoft.com/office/drawing/2014/main" id="{C0633AB6-CD88-AD42-B070-B477DE4719EB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8" name="Cloud Callout 14">
            <a:extLst>
              <a:ext uri="{FF2B5EF4-FFF2-40B4-BE49-F238E27FC236}">
                <a16:creationId xmlns:a16="http://schemas.microsoft.com/office/drawing/2014/main" id="{5C74D7A6-2C15-3A45-C4E3-7F8A3BF1243A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9" name="Cloud Callout 17">
            <a:extLst>
              <a:ext uri="{FF2B5EF4-FFF2-40B4-BE49-F238E27FC236}">
                <a16:creationId xmlns:a16="http://schemas.microsoft.com/office/drawing/2014/main" id="{AF7D6DAD-2C0D-CB97-15BF-FBDE2C41A7C8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30" name="Cloud Callout 29">
            <a:extLst>
              <a:ext uri="{FF2B5EF4-FFF2-40B4-BE49-F238E27FC236}">
                <a16:creationId xmlns:a16="http://schemas.microsoft.com/office/drawing/2014/main" id="{465CA858-243E-D2BE-DEA2-4FB518AC9C40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7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31" name="Rounded Rectangle 25">
            <a:extLst>
              <a:ext uri="{FF2B5EF4-FFF2-40B4-BE49-F238E27FC236}">
                <a16:creationId xmlns:a16="http://schemas.microsoft.com/office/drawing/2014/main" id="{29D614CD-7CF2-0B1A-95CE-5E6AEF50990D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2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2758502-30E4-E7C2-7CD9-C03673A5B9A6}"/>
              </a:ext>
            </a:extLst>
          </p:cNvPr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9711D7-4162-DDDA-1D98-4EDF60CE0F5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F070FC8-022E-4B53-B77B-2C9166E08F3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662F3DB-2DC4-D728-3645-2477B77AF4B1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2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345293-4DA9-19A8-63F0-C4E2BBD09A5D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2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7" name="Picture 17">
            <a:extLst>
              <a:ext uri="{FF2B5EF4-FFF2-40B4-BE49-F238E27FC236}">
                <a16:creationId xmlns:a16="http://schemas.microsoft.com/office/drawing/2014/main" id="{0632CD2E-AFA2-4CFC-B607-B6F333DC8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Frame 37">
            <a:extLst>
              <a:ext uri="{FF2B5EF4-FFF2-40B4-BE49-F238E27FC236}">
                <a16:creationId xmlns:a16="http://schemas.microsoft.com/office/drawing/2014/main" id="{37AFDD29-276F-F635-9B5C-AF73F85411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876EBA-F4D8-82F7-787C-49356E838ED3}"/>
              </a:ext>
            </a:extLst>
          </p:cNvPr>
          <p:cNvSpPr txBox="1"/>
          <p:nvPr/>
        </p:nvSpPr>
        <p:spPr>
          <a:xfrm>
            <a:off x="450937" y="4485370"/>
            <a:ext cx="2968668" cy="17360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describe the Moon's movement and explain what causes its phases and lunar eclipses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06A4FE-EE62-48A5-7A31-B97B06CB56A1}"/>
              </a:ext>
            </a:extLst>
          </p:cNvPr>
          <p:cNvSpPr txBox="1"/>
          <p:nvPr/>
        </p:nvSpPr>
        <p:spPr>
          <a:xfrm>
            <a:off x="4662305" y="4466662"/>
            <a:ext cx="2968668" cy="17360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to understand how the Moon orbits Earth and correct common misconceptions about the Moon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1CA8D7-3CD9-5194-60BE-F3CBED0E8573}"/>
              </a:ext>
            </a:extLst>
          </p:cNvPr>
          <p:cNvSpPr txBox="1"/>
          <p:nvPr/>
        </p:nvSpPr>
        <p:spPr>
          <a:xfrm>
            <a:off x="8785991" y="4447954"/>
            <a:ext cx="2968668" cy="17360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describe the phases of the Moon and explain what causes them; explain what a lunar eclipse is; correct the misconception that the Moon is only visible at night</a:t>
            </a:r>
          </a:p>
        </p:txBody>
      </p:sp>
    </p:spTree>
    <p:extLst>
      <p:ext uri="{BB962C8B-B14F-4D97-AF65-F5344CB8AC3E}">
        <p14:creationId xmlns:p14="http://schemas.microsoft.com/office/powerpoint/2010/main" val="315704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69612"/>
          </a:xfrm>
        </p:spPr>
        <p:txBody>
          <a:bodyPr/>
          <a:lstStyle/>
          <a:p>
            <a:r>
              <a:rPr lang="en-GB" dirty="0">
                <a:latin typeface="Twinkl Cursive Looped Light" panose="02000000000000000000" pitchFamily="2" charset="77"/>
              </a:rPr>
              <a:t>Recap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B61A-0E8A-C903-8F9C-ECF6A8E4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394"/>
            <a:ext cx="10515600" cy="5225170"/>
          </a:xfrm>
        </p:spPr>
        <p:txBody>
          <a:bodyPr wrap="square" anchor="t"/>
          <a:lstStyle/>
          <a:p>
            <a:pPr marL="457200" indent="-457200">
              <a:buFont typeface="+mj-lt"/>
              <a:buAutoNum type="arabicPeriod"/>
            </a:pPr>
            <a:r>
              <a:rPr lang="en-GB" sz="3200" dirty="0"/>
              <a:t>What causes day and night on Earth?</a:t>
            </a:r>
          </a:p>
          <a:p>
            <a:pPr marL="457200">
              <a:buNone/>
            </a:pPr>
            <a:r>
              <a:rPr lang="en-GB" sz="2400" b="1" dirty="0">
                <a:solidFill>
                  <a:srgbClr val="1A5C2A"/>
                </a:solidFill>
              </a:rPr>
              <a:t>→ Earth's rotation on its axis.</a:t>
            </a:r>
          </a:p>
          <a:p>
            <a:endParaRPr lang="en-GB" sz="600" dirty="0"/>
          </a:p>
          <a:p>
            <a:pPr marL="457200" indent="-457200">
              <a:buFont typeface="+mj-lt"/>
              <a:buAutoNum type="arabicPeriod" startAt="2"/>
            </a:pPr>
            <a:r>
              <a:rPr lang="en-GB" sz="3200" dirty="0"/>
              <a:t>What causes the seasons?</a:t>
            </a:r>
          </a:p>
          <a:p>
            <a:pPr marL="457200">
              <a:buNone/>
            </a:pPr>
            <a:r>
              <a:rPr lang="en-GB" sz="2400" b="1" dirty="0">
                <a:solidFill>
                  <a:srgbClr val="1A5C2A"/>
                </a:solidFill>
              </a:rPr>
              <a:t>→ Earth's tilted axis as it orbits the Sun.</a:t>
            </a:r>
          </a:p>
          <a:p>
            <a:endParaRPr lang="en-GB" sz="600" dirty="0"/>
          </a:p>
          <a:p>
            <a:pPr marL="457200" indent="-457200">
              <a:buFont typeface="+mj-lt"/>
              <a:buAutoNum type="arabicPeriod" startAt="3"/>
            </a:pPr>
            <a:r>
              <a:rPr lang="en-GB" sz="3200" dirty="0"/>
              <a:t>Where does the Sun appear to rise each morning?</a:t>
            </a:r>
          </a:p>
          <a:p>
            <a:pPr marL="457200">
              <a:buNone/>
            </a:pPr>
            <a:r>
              <a:rPr lang="en-GB" sz="2400" b="1" dirty="0">
                <a:solidFill>
                  <a:srgbClr val="1A5C2A"/>
                </a:solidFill>
              </a:rPr>
              <a:t>→ In the east.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D4B68-E932-D4CB-00AD-D3707FDEE5B4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751" y="906137"/>
            <a:ext cx="1434098" cy="1517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winkl Cursive Looped Light" panose="02000000000000000000" pitchFamily="2" charset="77"/>
              </a:rPr>
              <a:t>Key Vocabulary</a:t>
            </a:r>
          </a:p>
        </p:txBody>
      </p:sp>
      <p:sp>
        <p:nvSpPr>
          <p:cNvPr id="10" name="VocabContent"/>
          <p:cNvSpPr/>
          <p:nvPr/>
        </p:nvSpPr>
        <p:spPr>
          <a:xfrm>
            <a:off x="246888" y="1275907"/>
            <a:ext cx="11684402" cy="54502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GB" sz="2800" b="1" dirty="0"/>
              <a:t>satellite</a:t>
            </a:r>
          </a:p>
          <a:p>
            <a:pPr marL="457200"/>
            <a:r>
              <a:rPr lang="en-GB" sz="2400" dirty="0">
                <a:solidFill>
                  <a:srgbClr val="1A5C2A"/>
                </a:solidFill>
              </a:rPr>
              <a:t>a body that orbits a planet — the Moon is Earth's natural satellite</a:t>
            </a:r>
          </a:p>
          <a:p>
            <a:endParaRPr lang="en-GB" sz="600" dirty="0"/>
          </a:p>
          <a:p>
            <a:r>
              <a:rPr lang="en-GB" sz="2800" b="1" dirty="0"/>
              <a:t>phase</a:t>
            </a:r>
          </a:p>
          <a:p>
            <a:pPr marL="457200"/>
            <a:r>
              <a:rPr lang="en-GB" sz="2400" dirty="0">
                <a:solidFill>
                  <a:srgbClr val="1A5C2A"/>
                </a:solidFill>
              </a:rPr>
              <a:t>the changing shape of the Moon as seen from Earth over the course of a month</a:t>
            </a:r>
          </a:p>
          <a:p>
            <a:endParaRPr lang="en-GB" sz="600" dirty="0"/>
          </a:p>
          <a:p>
            <a:r>
              <a:rPr lang="en-GB" sz="2800" b="1" dirty="0"/>
              <a:t>eclipse</a:t>
            </a:r>
          </a:p>
          <a:p>
            <a:pPr marL="457200"/>
            <a:r>
              <a:rPr lang="en-GB" sz="2400" dirty="0">
                <a:solidFill>
                  <a:srgbClr val="1A5C2A"/>
                </a:solidFill>
              </a:rPr>
              <a:t>when one body in space moves into the shadow of another</a:t>
            </a:r>
          </a:p>
          <a:p>
            <a:endParaRPr lang="en-GB" sz="600" dirty="0"/>
          </a:p>
          <a:p>
            <a:r>
              <a:rPr lang="en-GB" sz="2800" b="1" dirty="0"/>
              <a:t>lunar</a:t>
            </a:r>
          </a:p>
          <a:p>
            <a:pPr marL="457200"/>
            <a:r>
              <a:rPr lang="en-GB" sz="2400" dirty="0">
                <a:solidFill>
                  <a:srgbClr val="1A5C2A"/>
                </a:solidFill>
              </a:rPr>
              <a:t>relating to the Moon</a:t>
            </a:r>
          </a:p>
          <a:p>
            <a:endParaRPr lang="en-GB" sz="600" dirty="0"/>
          </a:p>
          <a:p>
            <a:r>
              <a:rPr lang="en-GB" sz="2800" b="1" dirty="0"/>
              <a:t>reflect</a:t>
            </a:r>
          </a:p>
          <a:p>
            <a:pPr marL="457200"/>
            <a:r>
              <a:rPr lang="en-GB" sz="2400" dirty="0">
                <a:solidFill>
                  <a:srgbClr val="1A5C2A"/>
                </a:solidFill>
              </a:rPr>
              <a:t>the Moon does not produce its own light — it reflects light from the Sun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winkl Cursive Looped Light" panose="02000000000000000000" pitchFamily="2" charset="77"/>
              </a:rPr>
              <a:t>The moon: Key facts and misconceptions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1A3A5C"/>
                </a:solidFill>
              </a:rPr>
              <a:t>The Moon is always in the sky — it can be seen during the day as well as at night.</a:t>
            </a:r>
          </a:p>
          <a:p>
            <a:endParaRPr lang="en-GB" dirty="0">
              <a:solidFill>
                <a:srgbClr val="1A3A5C"/>
              </a:solidFill>
            </a:endParaRPr>
          </a:p>
          <a:p>
            <a:r>
              <a:rPr lang="en-GB" dirty="0">
                <a:solidFill>
                  <a:srgbClr val="1A3A5C"/>
                </a:solidFill>
              </a:rPr>
              <a:t>The Moon does not produce its own light — it reflects sunlight.</a:t>
            </a:r>
          </a:p>
          <a:p>
            <a:endParaRPr lang="en-GB" dirty="0">
              <a:solidFill>
                <a:srgbClr val="1A3A5C"/>
              </a:solidFill>
            </a:endParaRPr>
          </a:p>
          <a:p>
            <a:r>
              <a:rPr lang="en-GB" dirty="0">
                <a:solidFill>
                  <a:srgbClr val="1A3A5C"/>
                </a:solidFill>
              </a:rPr>
              <a:t>The Moon orbits Earth once every 27–29 days, causing the phases.</a:t>
            </a:r>
          </a:p>
          <a:p>
            <a:endParaRPr lang="en-GB" dirty="0">
              <a:solidFill>
                <a:srgbClr val="1A3A5C"/>
              </a:solidFill>
            </a:endParaRPr>
          </a:p>
          <a:p>
            <a:r>
              <a:rPr lang="en-GB" dirty="0">
                <a:solidFill>
                  <a:srgbClr val="1A3A5C"/>
                </a:solidFill>
              </a:rPr>
              <a:t>The phases are not caused by Earth's shadow — they are caused by which part of the lit Moon we can see.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winkl Cursive Looped Light" panose="02000000000000000000" pitchFamily="2" charset="77"/>
              </a:rPr>
              <a:t>The eight phases of the Moon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67" y="1400000"/>
            <a:ext cx="9316666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winkl Cursive Looped Light" panose="02000000000000000000" pitchFamily="2" charset="77"/>
              </a:rPr>
              <a:t>What is a lunar eclipse?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26" y="1947731"/>
            <a:ext cx="7443547" cy="415453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600000" y="1947731"/>
            <a:ext cx="3392000" cy="15440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1800" dirty="0">
                <a:solidFill>
                  <a:srgbClr val="1A3A5C"/>
                </a:solidFill>
              </a:rPr>
              <a:t>A lunar eclipse happens when Earth passes directly between the Sun and the Moon, casting its shadow on the Moon.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00000" y="3531820"/>
            <a:ext cx="3392000" cy="15440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1800" dirty="0">
                <a:solidFill>
                  <a:srgbClr val="1A3A5C"/>
                </a:solidFill>
              </a:rPr>
              <a:t>Earth’s shadow has two parts: the umbra (full shadow) and the penumbra (partial shadow).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00000" y="5115909"/>
            <a:ext cx="3392000" cy="15440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1800" dirty="0">
                <a:solidFill>
                  <a:srgbClr val="1A3A5C"/>
                </a:solidFill>
              </a:rPr>
              <a:t>During a total lunar eclipse the Moon turns red because Earth’s atmosphere bends red light onto it — this is called a Blood Moon.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winkl Cursive Looped Light" panose="02000000000000000000" pitchFamily="2" charset="77"/>
              </a:rPr>
              <a:t>The Moon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56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1A3A5C"/>
                </a:solidFill>
              </a:rPr>
              <a:t>Draw and label the eight phases of the Moon in order.</a:t>
            </a:r>
          </a:p>
          <a:p>
            <a:endParaRPr lang="en-GB" dirty="0">
              <a:solidFill>
                <a:srgbClr val="1A3A5C"/>
              </a:solidFill>
            </a:endParaRPr>
          </a:p>
          <a:p>
            <a:r>
              <a:rPr lang="en-GB" dirty="0">
                <a:solidFill>
                  <a:srgbClr val="1A3A5C"/>
                </a:solidFill>
              </a:rPr>
              <a:t>Explain in your own words what causes a lunar eclipse.</a:t>
            </a:r>
          </a:p>
          <a:p>
            <a:endParaRPr lang="en-GB" dirty="0">
              <a:solidFill>
                <a:srgbClr val="1A3A5C"/>
              </a:solidFill>
            </a:endParaRPr>
          </a:p>
          <a:p>
            <a:r>
              <a:rPr lang="en-GB" dirty="0">
                <a:solidFill>
                  <a:srgbClr val="1A3A5C"/>
                </a:solidFill>
              </a:rPr>
              <a:t>Challenge: Explain why the Moon appears to change shape — and what some people might think it IS caused by.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A6B4DBD3-1650-4F14-9F48-B17CE115DAA3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5FD6E2-7B08-4A6F-A2DF-BA161DFA20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FDE8DF-3064-4F6F-ABCB-4D7C0E2AE5CB}">
  <ds:schemaRefs>
    <ds:schemaRef ds:uri="http://schemas.microsoft.com/office/infopath/2007/PartnerControls"/>
    <ds:schemaRef ds:uri="http://schemas.microsoft.com/office/2006/documentManagement/types"/>
    <ds:schemaRef ds:uri="4848fd07-94db-4308-8950-9cb0e230b958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9e6dd442-da5e-411e-833f-0fee7dcd7819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1796</Words>
  <Application>Microsoft Macintosh PowerPoint</Application>
  <PresentationFormat>Widescreen</PresentationFormat>
  <Paragraphs>255</Paragraphs>
  <Slides>17</Slides>
  <Notes>9</Notes>
  <HiddenSlides>9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Sassoon Infant Rg</vt:lpstr>
      <vt:lpstr>Sassoon Primary Rg</vt:lpstr>
      <vt:lpstr>Segoe UI</vt:lpstr>
      <vt:lpstr>Twinkl Cursive Looped</vt:lpstr>
      <vt:lpstr>Twinkl Cursive Looped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Carrying out the investigation</vt:lpstr>
      <vt:lpstr>Watch: how we will carry out the test</vt:lpstr>
      <vt:lpstr>PowerPoint Presentation</vt:lpstr>
      <vt:lpstr>Class results — what did we find?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Innes Mclean - WFA</cp:lastModifiedBy>
  <cp:revision>8</cp:revision>
  <cp:lastPrinted>2026-03-10T10:00:11Z</cp:lastPrinted>
  <dcterms:created xsi:type="dcterms:W3CDTF">2025-03-06T13:15:34Z</dcterms:created>
  <dcterms:modified xsi:type="dcterms:W3CDTF">2026-07-09T09:40:56Z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