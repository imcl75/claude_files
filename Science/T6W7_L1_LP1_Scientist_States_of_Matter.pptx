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905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p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24" y="228600"/>
            <a:ext cx="2521275" cy="7124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" y="1078235"/>
            <a:ext cx="64008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u="none">
                <a:solidFill>
                  <a:srgbClr val="1798D3"/>
                </a:solidFill>
                <a:latin typeface="Twinkl Cursive Looped"/>
              </a:rPr>
              <a:t>Part A   Sort the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425707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Twinkl Cursive Looped"/>
              </a:rPr>
              <a:t>Sort each material into solid, liquid or gas. Write one reason for each, using the particle model below to help you.</a:t>
            </a:r>
          </a:p>
        </p:txBody>
      </p:sp>
      <p:pic>
        <p:nvPicPr>
          <p:cNvPr id="5" name="Picture 4" descr="particle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764" y="1937771"/>
            <a:ext cx="2244471" cy="12527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" y="3281939"/>
            <a:ext cx="1664208" cy="297179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3309371"/>
            <a:ext cx="1591056" cy="242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FFFFFF"/>
                </a:solidFill>
                <a:latin typeface="Twinkl Cursive Looped"/>
              </a:rPr>
              <a:t>Material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92808" y="3281939"/>
            <a:ext cx="896112" cy="297179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9384" y="3309371"/>
            <a:ext cx="822960" cy="242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FFFFFF"/>
                </a:solidFill>
                <a:latin typeface="Twinkl Cursive Looped"/>
              </a:rPr>
              <a:t>State?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3281939"/>
            <a:ext cx="3840480" cy="297179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3309371"/>
            <a:ext cx="3767328" cy="242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u="none">
                <a:solidFill>
                  <a:srgbClr val="FFFFFF"/>
                </a:solidFill>
                <a:latin typeface="Twinkl Cursive Looped"/>
              </a:rPr>
              <a:t>Reason (use the particle model)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579119"/>
            <a:ext cx="1664208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" y="3615695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2808" y="3579119"/>
            <a:ext cx="89611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3579119"/>
            <a:ext cx="384048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3908303"/>
            <a:ext cx="16642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" y="3944879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Water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3908303"/>
            <a:ext cx="89611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88920" y="3908303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237487"/>
            <a:ext cx="1664208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4274063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Steam (water vapour)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92808" y="4237487"/>
            <a:ext cx="89611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88920" y="4237487"/>
            <a:ext cx="384048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4566671"/>
            <a:ext cx="16642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" y="4603247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Wood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92808" y="4566671"/>
            <a:ext cx="89611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88920" y="4566671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4895855"/>
            <a:ext cx="1664208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6" y="4932431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Sand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92808" y="4895855"/>
            <a:ext cx="89611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88920" y="4895855"/>
            <a:ext cx="384048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5225039"/>
            <a:ext cx="16642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5176" y="5261615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Milk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92808" y="5225039"/>
            <a:ext cx="89611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88920" y="5225039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5554223"/>
            <a:ext cx="1664208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5590799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Balloon (filled with air)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92808" y="5554223"/>
            <a:ext cx="896112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88920" y="5554223"/>
            <a:ext cx="3840480" cy="32918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8600" y="5883407"/>
            <a:ext cx="16642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" y="5919983"/>
            <a:ext cx="159105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none">
                <a:solidFill>
                  <a:srgbClr val="1A1A1A"/>
                </a:solidFill>
                <a:latin typeface="Twinkl Cursive Looped"/>
              </a:rPr>
              <a:t>Honey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92808" y="5883407"/>
            <a:ext cx="896112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88920" y="5883407"/>
            <a:ext cx="3840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6322319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u="none">
                <a:solidFill>
                  <a:srgbClr val="1798D3"/>
                </a:solidFill>
                <a:latin typeface="Twinkl Cursive Looped"/>
              </a:rPr>
              <a:t>Part B   Challenge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6633215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u="none">
                <a:solidFill>
                  <a:srgbClr val="1A1A1A"/>
                </a:solidFill>
                <a:latin typeface="Twinkl Cursive Looped"/>
              </a:rPr>
              <a:t>Can you find one material that is difficult to classify? Why?</a:t>
            </a:r>
          </a:p>
        </p:txBody>
      </p:sp>
      <p:sp>
        <p:nvSpPr>
          <p:cNvPr id="46" name="Line46"/>
          <p:cNvSpPr>
            <a:spLocks noGrp="1"/>
          </p:cNvSpPr>
          <p:nvPr/>
        </p:nvSpPr>
        <p:spPr>
          <a:xfrm>
            <a:off x="228600" y="7140707"/>
            <a:ext cx="6400800" cy="0"/>
          </a:xfrm>
          <a:prstGeom prst="line">
            <a:avLst/>
          </a:prstGeom>
          <a:noFill/>
          <a:ln w="12700">
            <a:solidFill>
              <a:srgbClr val="BDD7EE"/>
            </a:solidFill>
          </a:ln>
          <a:effectLst/>
        </p:spPr>
        <p:txBody>
          <a:bodyPr/>
          <a:lstStyle/>
          <a:p/>
        </p:txBody>
      </p:sp>
      <p:sp>
        <p:nvSpPr>
          <p:cNvPr id="47" name="Line47"/>
          <p:cNvSpPr>
            <a:spLocks noGrp="1"/>
          </p:cNvSpPr>
          <p:nvPr/>
        </p:nvSpPr>
        <p:spPr>
          <a:xfrm>
            <a:off x="228600" y="7428743"/>
            <a:ext cx="6400800" cy="0"/>
          </a:xfrm>
          <a:prstGeom prst="line">
            <a:avLst/>
          </a:prstGeom>
          <a:noFill/>
          <a:ln w="12700">
            <a:solidFill>
              <a:srgbClr val="BDD7EE"/>
            </a:solidFill>
          </a:ln>
          <a:effectLst/>
        </p:spPr>
        <p:txBody>
          <a:bodyPr/>
          <a:lstStyle/>
          <a:p/>
        </p:txBody>
      </p:sp>
      <p:sp>
        <p:nvSpPr>
          <p:cNvPr id="48" name="Line48"/>
          <p:cNvSpPr>
            <a:spLocks noGrp="1"/>
          </p:cNvSpPr>
          <p:nvPr/>
        </p:nvSpPr>
        <p:spPr>
          <a:xfrm>
            <a:off x="228600" y="7716779"/>
            <a:ext cx="6400800" cy="0"/>
          </a:xfrm>
          <a:prstGeom prst="line">
            <a:avLst/>
          </a:prstGeom>
          <a:noFill/>
          <a:ln w="12700">
            <a:solidFill>
              <a:srgbClr val="BDD7EE"/>
            </a:solidFill>
          </a:ln>
          <a:effectLst/>
        </p:spPr>
        <p:txBody>
          <a:bodyPr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228600" y="8141975"/>
            <a:ext cx="6400800" cy="615696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8187695"/>
            <a:ext cx="6309360" cy="54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E67E22"/>
                </a:solidFill>
                <a:latin typeface="Twinkl Cursive Looped"/>
              </a:rPr>
              <a:t>Word bank: </a:t>
            </a:r>
            <a:r>
              <a:rPr sz="1200">
                <a:solidFill>
                  <a:srgbClr val="1A1A1A"/>
                </a:solidFill>
                <a:latin typeface="Twinkl Cursive Looped"/>
              </a:rPr>
              <a:t>solid  •  liquid  •  gas  •  particles  •  closely packed  •  slide past  •  spread out  •  fixed shape  •  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274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 u="none">
                <a:solidFill>
                  <a:srgbClr val="4FAD5B"/>
                </a:solidFill>
                <a:latin typeface="Twinkl Cursive Looped"/>
              </a:rPr>
              <a:t>Marking 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685800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798D3"/>
                </a:solidFill>
                <a:latin typeface="Twinkl Cursive Looped"/>
              </a:rPr>
              <a:t>Part A  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60120"/>
            <a:ext cx="1664208" cy="256032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" y="987552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Twinkl Cursive Looped"/>
              </a:rPr>
              <a:t>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92808" y="960120"/>
            <a:ext cx="896112" cy="256032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9384" y="98755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Twinkl Cursive Looped"/>
              </a:rPr>
              <a:t>State?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960120"/>
            <a:ext cx="3840480" cy="256032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987552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Twinkl Cursive Looped"/>
              </a:rPr>
              <a:t>Reason (use the particle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" y="1234440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9384" y="123444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Solid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23444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Particles packed tightly in a fixed arrangement, so ice keeps its shape.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" y="147218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9384" y="147218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Liquid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147218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Particles are close but can slide past each other, so water flows and takes the shape of its container.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" y="1856232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Steam (water vapour)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9384" y="18562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Gas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5496" y="185623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Particles move quickly and are spread far apart, so steam fills the space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" y="2240280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Wood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9384" y="224028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Solid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224028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Particles are fixed in place, so wood keeps its shape and does not 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" y="247802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Sand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9384" y="247802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Solid (tricky!)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247802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Each grain is a solid with its own fixed shape, but lots of grains together can pour like a liquid.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" y="2862072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Milk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9384" y="286207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Liquid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5496" y="2862072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Particles slide past each other, so milk flows and takes the shape of its container.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3246120"/>
            <a:ext cx="15910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Balloon (filled with air)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9384" y="324612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Gas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5496" y="3246120"/>
            <a:ext cx="3767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The air particles inside move quickly and spread out to fill the balloon.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" y="3483864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Honey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9384" y="3483864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Liquid (tricky!)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496" y="3483864"/>
            <a:ext cx="3767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u="none">
                <a:solidFill>
                  <a:srgbClr val="4FAD5B"/>
                </a:solidFill>
                <a:latin typeface="Twinkl Cursive Looped"/>
              </a:rPr>
              <a:t>Honey flows very slowly, but it is still a liquid because it takes the shape of its container.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3986784"/>
            <a:ext cx="6400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u="none">
                <a:solidFill>
                  <a:srgbClr val="1798D3"/>
                </a:solidFill>
                <a:latin typeface="Twinkl Cursive Looped"/>
              </a:rPr>
              <a:t>Part B   Challenge - model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4261104"/>
            <a:ext cx="64008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u="none">
                <a:solidFill>
                  <a:srgbClr val="4FAD5B"/>
                </a:solidFill>
                <a:latin typeface="Twinkl Cursive Looped"/>
              </a:rPr>
              <a:t>Sand and honey are the best examples.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50799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u="none">
                <a:solidFill>
                  <a:srgbClr val="4FAD5B"/>
                </a:solidFill>
                <a:latin typeface="Twinkl Cursive Looped"/>
              </a:rPr>
              <a:t>Sand: a single grain is a solid with its own fixed shape, but a big pile of grains can be poured and takes the shape of its container - a bit like a liquid.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4928616"/>
            <a:ext cx="64008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u="none">
                <a:solidFill>
                  <a:srgbClr val="4FAD5B"/>
                </a:solidFill>
                <a:latin typeface="Twinkl Cursive Looped"/>
              </a:rPr>
              <a:t>Honey: it is a liquid because it takes the shape of its container, but it flows so slowly it can look almost solid.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