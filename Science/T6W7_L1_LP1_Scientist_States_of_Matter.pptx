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p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39" y="228600"/>
            <a:ext cx="3566160" cy="12776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1643379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A   Sort the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917699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1A1A1A"/>
                </a:solidFill>
                <a:latin typeface="Twinkl Cursive Looped"/>
              </a:rPr>
              <a:t>Sort each material into solid, liquid or gas. Write one reason for each, using the particle model below to help you.</a:t>
            </a:r>
          </a:p>
        </p:txBody>
      </p:sp>
      <p:pic>
        <p:nvPicPr>
          <p:cNvPr id="5" name="Picture 4" descr="particl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892" y="2338323"/>
            <a:ext cx="1720215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28600" y="3389883"/>
            <a:ext cx="1664208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" y="3417315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892808" y="3389883"/>
            <a:ext cx="896112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9384" y="3417315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3389883"/>
            <a:ext cx="3840480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3417315"/>
            <a:ext cx="3767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645915"/>
            <a:ext cx="1664208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" y="3682491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2808" y="3645915"/>
            <a:ext cx="896112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3645915"/>
            <a:ext cx="3840480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3975099"/>
            <a:ext cx="166420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" y="4011675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Water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8" y="3975099"/>
            <a:ext cx="896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3975099"/>
            <a:ext cx="3840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4304284"/>
            <a:ext cx="1664208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" y="4340860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2808" y="4304284"/>
            <a:ext cx="896112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88920" y="4304284"/>
            <a:ext cx="3840480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4633468"/>
            <a:ext cx="166420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" y="4670044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Wood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92808" y="4633468"/>
            <a:ext cx="896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4633468"/>
            <a:ext cx="3840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" y="4962652"/>
            <a:ext cx="1664208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" y="4999228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Sand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8" y="4962652"/>
            <a:ext cx="896112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88920" y="4962652"/>
            <a:ext cx="3840480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291836"/>
            <a:ext cx="166420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" y="5328412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Milk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2808" y="5291836"/>
            <a:ext cx="896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88920" y="5291836"/>
            <a:ext cx="3840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" y="5621020"/>
            <a:ext cx="1664208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" y="5657596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92808" y="5621020"/>
            <a:ext cx="896112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8920" y="5621020"/>
            <a:ext cx="3840480" cy="329184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5950204"/>
            <a:ext cx="1664208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5176" y="5986780"/>
            <a:ext cx="15910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u="none">
                <a:solidFill>
                  <a:srgbClr val="1A1A1A"/>
                </a:solidFill>
                <a:latin typeface="Twinkl Cursive Looped"/>
              </a:rPr>
              <a:t>Honey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92808" y="5950204"/>
            <a:ext cx="8961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88920" y="5950204"/>
            <a:ext cx="3840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600" y="638911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B   Challenge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" y="6663436"/>
            <a:ext cx="6400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1A1A1A"/>
                </a:solidFill>
                <a:latin typeface="Twinkl Cursive Looped"/>
              </a:rPr>
              <a:t>Can you find one material that is difficult to classify? Why?</a:t>
            </a:r>
          </a:p>
        </p:txBody>
      </p:sp>
      <p:sp>
        <p:nvSpPr>
          <p:cNvPr id="46" name="Line46"/>
          <p:cNvSpPr>
            <a:spLocks noGrp="1"/>
          </p:cNvSpPr>
          <p:nvPr/>
        </p:nvSpPr>
        <p:spPr>
          <a:xfrm>
            <a:off x="228600" y="6910324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7" name="Line47"/>
          <p:cNvSpPr>
            <a:spLocks noGrp="1"/>
          </p:cNvSpPr>
          <p:nvPr/>
        </p:nvSpPr>
        <p:spPr>
          <a:xfrm>
            <a:off x="228600" y="7198360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8" name="Line48"/>
          <p:cNvSpPr>
            <a:spLocks noGrp="1"/>
          </p:cNvSpPr>
          <p:nvPr/>
        </p:nvSpPr>
        <p:spPr>
          <a:xfrm>
            <a:off x="228600" y="7486396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228600" y="7911592"/>
            <a:ext cx="6400800" cy="493776"/>
          </a:xfrm>
          <a:prstGeom prst="rect">
            <a:avLst/>
          </a:prstGeom>
          <a:solidFill>
            <a:srgbClr val="FEF9E7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7957312"/>
            <a:ext cx="6309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67E22"/>
                </a:solidFill>
                <a:latin typeface="Twinkl Cursive Looped"/>
              </a:rPr>
              <a:t>Word bank: </a:t>
            </a:r>
            <a:r>
              <a:rPr sz="900">
                <a:solidFill>
                  <a:srgbClr val="1A1A1A"/>
                </a:solidFill>
                <a:latin typeface="Twinkl Cursive Looped"/>
              </a:rPr>
              <a:t>solid  •  liquid  •  gas  •  particles  •  closely packed  •  slide past  •  spread out  •  fixed shape  •  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274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 u="none">
                <a:solidFill>
                  <a:srgbClr val="4FAD5B"/>
                </a:solidFill>
                <a:latin typeface="Twinkl Cursive Looped"/>
              </a:rPr>
              <a:t>Marking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85800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A  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960120"/>
            <a:ext cx="1664208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" y="987552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2808" y="960120"/>
            <a:ext cx="896112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9384" y="987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960120"/>
            <a:ext cx="3840480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5496" y="987552"/>
            <a:ext cx="3767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234440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9384" y="123444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234440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packed tightly in a fixed arrangement, so ice keeps its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1618488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9384" y="161848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25496" y="1618488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close but can slide past each other, so water flows and takes the shape of its container.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2002536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9384" y="20025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5496" y="2002536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move quickly and are spread far apart, so steam fills the space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2386584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9384" y="238658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2386584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fixed in place, so wood keeps its shape and does not 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" y="277063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384" y="27706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 (tricky!)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5496" y="2770632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Each grain is a solid with its own fixed shape, but lots of grains together can pour like a liquid.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3154679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Milk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9384" y="315467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5496" y="3154679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slide past each other, so milk flows and takes the shape of its container.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538727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9384" y="3538727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5496" y="3538727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The air particles inside move quickly and spread out to fill the balloon.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" y="3922775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9384" y="392277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 (tricky!)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25496" y="3922775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 flows very slowly, but it is still a liquid because it takes the shape of its container.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442569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B   Challenge - model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4700016"/>
            <a:ext cx="6400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 and honey are the best examples.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494690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Sand: a single grain is a solid with its own fixed shape, but a big pile of grains can be poured and takes the shape of its container - a bit like a liquid.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" y="53675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Honey: it is a liquid because it takes the shape of its container, but it flows so slowly it can look almost solid.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