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9905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p_lab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24" y="228600"/>
            <a:ext cx="2521275" cy="712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8600" y="1078235"/>
            <a:ext cx="6400800" cy="2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u="none">
                <a:solidFill>
                  <a:srgbClr val="1798D3"/>
                </a:solidFill>
                <a:latin typeface="Twinkl Cursive Looped"/>
              </a:rPr>
              <a:t>Part A   Sort the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425707"/>
            <a:ext cx="6400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Twinkl Cursive Looped"/>
              </a:rPr>
              <a:t>Sort each material into solid, liquid or gas. Write one reason for each, using the particle model below to help you.</a:t>
            </a:r>
          </a:p>
        </p:txBody>
      </p:sp>
      <p:pic>
        <p:nvPicPr>
          <p:cNvPr id="5" name="Picture 4" descr="particle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764" y="1937771"/>
            <a:ext cx="2244471" cy="12527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28600" y="3281939"/>
            <a:ext cx="1664208" cy="297179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" y="3309371"/>
            <a:ext cx="1591056" cy="242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892808" y="3281939"/>
            <a:ext cx="896112" cy="297179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9384" y="3309371"/>
            <a:ext cx="822960" cy="242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3281939"/>
            <a:ext cx="3840480" cy="297179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3309371"/>
            <a:ext cx="3767328" cy="242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3579119"/>
            <a:ext cx="1664208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" y="3615695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2808" y="3579119"/>
            <a:ext cx="896112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3579119"/>
            <a:ext cx="3840480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" y="3940576"/>
            <a:ext cx="1664208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" y="3977152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Water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8" y="3940576"/>
            <a:ext cx="896112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88920" y="3940576"/>
            <a:ext cx="3840480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4302033"/>
            <a:ext cx="1664208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" y="4338609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92808" y="4302033"/>
            <a:ext cx="896112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88920" y="4302033"/>
            <a:ext cx="3840480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" y="4663490"/>
            <a:ext cx="1664208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" y="4700066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Wood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92808" y="4663490"/>
            <a:ext cx="896112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88920" y="4663490"/>
            <a:ext cx="3840480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8600" y="5024947"/>
            <a:ext cx="1664208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5176" y="5061523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Sand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8" y="5024947"/>
            <a:ext cx="896112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88920" y="5024947"/>
            <a:ext cx="3840480" cy="361456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386404"/>
            <a:ext cx="1664208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176" y="5422980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Milk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92808" y="5386404"/>
            <a:ext cx="896112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788920" y="5386404"/>
            <a:ext cx="3840480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8600" y="5747861"/>
            <a:ext cx="1664208" cy="576609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5176" y="5784437"/>
            <a:ext cx="1591056" cy="5034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92808" y="5747861"/>
            <a:ext cx="896112" cy="576609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88920" y="5747861"/>
            <a:ext cx="3840480" cy="576609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6324471"/>
            <a:ext cx="1664208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5176" y="6361047"/>
            <a:ext cx="1591056" cy="28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none">
                <a:solidFill>
                  <a:srgbClr val="1A1A1A"/>
                </a:solidFill>
                <a:latin typeface="Twinkl Cursive Looped"/>
              </a:rPr>
              <a:t>Honey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92808" y="6324471"/>
            <a:ext cx="896112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88920" y="6324471"/>
            <a:ext cx="3840480" cy="361456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600" y="6795656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u="none">
                <a:solidFill>
                  <a:srgbClr val="1798D3"/>
                </a:solidFill>
                <a:latin typeface="Twinkl Cursive Looped"/>
              </a:rPr>
              <a:t>Part B   Challenge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" y="7106552"/>
            <a:ext cx="6400800" cy="192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Twinkl Cursive Looped"/>
              </a:rPr>
              <a:t>Can you find one material that is difficult to classify? Why?</a:t>
            </a:r>
          </a:p>
        </p:txBody>
      </p:sp>
      <p:sp>
        <p:nvSpPr>
          <p:cNvPr id="46" name="Line46"/>
          <p:cNvSpPr>
            <a:spLocks noGrp="1"/>
          </p:cNvSpPr>
          <p:nvPr/>
        </p:nvSpPr>
        <p:spPr>
          <a:xfrm>
            <a:off x="228600" y="7586612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7" name="Line47"/>
          <p:cNvSpPr>
            <a:spLocks noGrp="1"/>
          </p:cNvSpPr>
          <p:nvPr/>
        </p:nvSpPr>
        <p:spPr>
          <a:xfrm>
            <a:off x="228600" y="7874648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8" name="Line48"/>
          <p:cNvSpPr>
            <a:spLocks noGrp="1"/>
          </p:cNvSpPr>
          <p:nvPr/>
        </p:nvSpPr>
        <p:spPr>
          <a:xfrm>
            <a:off x="228600" y="8162684"/>
            <a:ext cx="6400800" cy="0"/>
          </a:xfrm>
          <a:prstGeom prst="line">
            <a:avLst/>
          </a:prstGeom>
          <a:noFill/>
          <a:ln w="12700">
            <a:solidFill>
              <a:srgbClr val="BDD7EE"/>
            </a:solidFill>
          </a:ln>
          <a:effectLst/>
        </p:spPr>
        <p:txBody>
          <a:bodyPr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228600" y="8587880"/>
            <a:ext cx="6400800" cy="615696"/>
          </a:xfrm>
          <a:prstGeom prst="rect">
            <a:avLst/>
          </a:prstGeom>
          <a:solidFill>
            <a:srgbClr val="FEF9E7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8633600"/>
            <a:ext cx="6309360" cy="542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E67E22"/>
                </a:solidFill>
                <a:latin typeface="Twinkl Cursive Looped"/>
              </a:rPr>
              <a:t>Word bank: </a:t>
            </a:r>
            <a:r>
              <a:rPr sz="1200">
                <a:solidFill>
                  <a:srgbClr val="1A1A1A"/>
                </a:solidFill>
                <a:latin typeface="Twinkl Cursive Looped"/>
              </a:rPr>
              <a:t>solid  •  liquid  •  gas  •  particles  •  closely packed  •  slide past  •  spread out  •  fixed shape  •  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2743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 i="0" u="none">
                <a:solidFill>
                  <a:srgbClr val="4FAD5B"/>
                </a:solidFill>
                <a:latin typeface="Twinkl Cursive Looped"/>
              </a:rPr>
              <a:t>Marking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685800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A  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960120"/>
            <a:ext cx="1664208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5176" y="987552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1892808" y="960120"/>
            <a:ext cx="896112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9384" y="98755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State?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960120"/>
            <a:ext cx="3840480" cy="256032"/>
          </a:xfrm>
          <a:prstGeom prst="rect">
            <a:avLst/>
          </a:prstGeom>
          <a:solidFill>
            <a:srgbClr val="1798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5496" y="987552"/>
            <a:ext cx="37673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Twinkl Cursive Looped"/>
              </a:rPr>
              <a:t>Reason (use the particle model)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1234440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9384" y="123444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25496" y="1234440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packed tightly in a fixed arrangement, so ice keeps its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1618488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9384" y="161848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25496" y="1618488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close but can slide past each other, so water flows and takes the shape of its container.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2002536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Steam (water vapour)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9384" y="2002536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25496" y="2002536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move quickly and are spread far apart, so steam fills the space available.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2386584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9384" y="2386584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2386584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are fixed in place, so wood keeps its shape and does not flow.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" y="2770632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9384" y="27706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Solid (tricky!)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25496" y="2770632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Each grain is a solid with its own fixed shape, but lots of grains together can pour like a liquid.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3154679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Milk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9384" y="315467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25496" y="3154679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Particles slide past each other, so milk flows and takes the shape of its container.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538727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Balloon (filled with air)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9384" y="3538727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Gas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25496" y="3538727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The air particles inside move quickly and spread out to fill the balloon.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" y="3922775"/>
            <a:ext cx="15910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9384" y="392277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Liquid (tricky!)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25496" y="3922775"/>
            <a:ext cx="3767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 u="none">
                <a:solidFill>
                  <a:srgbClr val="4FAD5B"/>
                </a:solidFill>
                <a:latin typeface="Twinkl Cursive Looped"/>
              </a:rPr>
              <a:t>Honey flows very slowly, but it is still a liquid because it takes the shape of its container.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" y="4425696"/>
            <a:ext cx="6400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u="none">
                <a:solidFill>
                  <a:srgbClr val="1798D3"/>
                </a:solidFill>
                <a:latin typeface="Twinkl Cursive Looped"/>
              </a:rPr>
              <a:t>Part B   Challenge - model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" y="4700016"/>
            <a:ext cx="6400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 and honey are the best examples.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" y="494690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Sand: a single grain is a solid with its own fixed shape, but a big pile of grains can be poured and takes the shape of its container - a bit like a liquid.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" y="536752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 u="none">
                <a:solidFill>
                  <a:srgbClr val="4FAD5B"/>
                </a:solidFill>
                <a:latin typeface="Twinkl Cursive Looped"/>
              </a:rPr>
              <a:t>Honey: it is a liquid because it takes the shape of its container, but it flows so slowly it can look almost solid.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