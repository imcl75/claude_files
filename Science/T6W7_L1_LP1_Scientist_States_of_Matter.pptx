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6858000" cy="9905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p_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39" y="228600"/>
            <a:ext cx="3566160" cy="127761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" y="1643379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none">
                <a:solidFill>
                  <a:srgbClr val="1798D3"/>
                </a:solidFill>
                <a:latin typeface="Twinkl Cursive Looped"/>
              </a:rPr>
              <a:t>Part A   Sort the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917699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1A1A1A"/>
                </a:solidFill>
                <a:latin typeface="Twinkl Cursive Looped"/>
              </a:rPr>
              <a:t>Sort each material into solid, liquid or gas. Write one reason for each, using the particle model to help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2338323"/>
            <a:ext cx="1664208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" y="2365755"/>
            <a:ext cx="15910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1892808" y="2338323"/>
            <a:ext cx="896112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9384" y="2365755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State?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2338323"/>
            <a:ext cx="3840480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25496" y="2365755"/>
            <a:ext cx="3767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Reason (use the particle model)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594355"/>
            <a:ext cx="1664208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" y="2630931"/>
            <a:ext cx="15910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2594355"/>
            <a:ext cx="896112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8920" y="2594355"/>
            <a:ext cx="384048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978403"/>
            <a:ext cx="166420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" y="3014979"/>
            <a:ext cx="15910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Water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92808" y="2978403"/>
            <a:ext cx="89611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88920" y="2978403"/>
            <a:ext cx="3840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3362451"/>
            <a:ext cx="1664208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" y="3399027"/>
            <a:ext cx="15910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Steam (water vapour)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8" y="3362451"/>
            <a:ext cx="896112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88920" y="3362451"/>
            <a:ext cx="384048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3746499"/>
            <a:ext cx="166420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" y="3783075"/>
            <a:ext cx="15910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Wood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2808" y="3746499"/>
            <a:ext cx="89611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88920" y="3746499"/>
            <a:ext cx="3840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130547"/>
            <a:ext cx="1664208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" y="4167123"/>
            <a:ext cx="15910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Sand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92808" y="4130547"/>
            <a:ext cx="896112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88920" y="4130547"/>
            <a:ext cx="384048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4514595"/>
            <a:ext cx="166420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5176" y="4551171"/>
            <a:ext cx="15910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Milk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8" y="4514595"/>
            <a:ext cx="89611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88920" y="4514595"/>
            <a:ext cx="3840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4898643"/>
            <a:ext cx="1664208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" y="4935219"/>
            <a:ext cx="15910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Balloon (filled with air)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92808" y="4898643"/>
            <a:ext cx="896112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88920" y="4898643"/>
            <a:ext cx="384048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8600" y="5282691"/>
            <a:ext cx="166420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" y="5319267"/>
            <a:ext cx="15910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Honey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92808" y="5282691"/>
            <a:ext cx="89611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88920" y="5282691"/>
            <a:ext cx="3840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8600" y="5776467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none">
                <a:solidFill>
                  <a:srgbClr val="1798D3"/>
                </a:solidFill>
                <a:latin typeface="Twinkl Cursive Looped"/>
              </a:rPr>
              <a:t>Part B   Challenge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" y="6050787"/>
            <a:ext cx="6400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1A1A1A"/>
                </a:solidFill>
                <a:latin typeface="Twinkl Cursive Looped"/>
              </a:rPr>
              <a:t>Can you find one material that is difficult to classify? Why?</a:t>
            </a:r>
          </a:p>
        </p:txBody>
      </p:sp>
      <p:sp>
        <p:nvSpPr>
          <p:cNvPr id="45" name="Line45"/>
          <p:cNvSpPr>
            <a:spLocks noGrp="1"/>
          </p:cNvSpPr>
          <p:nvPr/>
        </p:nvSpPr>
        <p:spPr>
          <a:xfrm>
            <a:off x="228600" y="6297675"/>
            <a:ext cx="6400800" cy="0"/>
          </a:xfrm>
          <a:prstGeom prst="line">
            <a:avLst/>
          </a:prstGeom>
          <a:noFill/>
          <a:ln w="12700">
            <a:solidFill>
              <a:srgbClr val="BDD7EE"/>
            </a:solidFill>
          </a:ln>
          <a:effectLst/>
        </p:spPr>
        <p:txBody>
          <a:bodyPr/>
          <a:lstStyle/>
          <a:p/>
        </p:txBody>
      </p:sp>
      <p:sp>
        <p:nvSpPr>
          <p:cNvPr id="46" name="Line46"/>
          <p:cNvSpPr>
            <a:spLocks noGrp="1"/>
          </p:cNvSpPr>
          <p:nvPr/>
        </p:nvSpPr>
        <p:spPr>
          <a:xfrm>
            <a:off x="228600" y="6585711"/>
            <a:ext cx="6400800" cy="0"/>
          </a:xfrm>
          <a:prstGeom prst="line">
            <a:avLst/>
          </a:prstGeom>
          <a:noFill/>
          <a:ln w="12700">
            <a:solidFill>
              <a:srgbClr val="BDD7EE"/>
            </a:solidFill>
          </a:ln>
          <a:effectLst/>
        </p:spPr>
        <p:txBody>
          <a:bodyPr/>
          <a:lstStyle/>
          <a:p/>
        </p:txBody>
      </p:sp>
      <p:sp>
        <p:nvSpPr>
          <p:cNvPr id="47" name="Line47"/>
          <p:cNvSpPr>
            <a:spLocks noGrp="1"/>
          </p:cNvSpPr>
          <p:nvPr/>
        </p:nvSpPr>
        <p:spPr>
          <a:xfrm>
            <a:off x="228600" y="6873747"/>
            <a:ext cx="6400800" cy="0"/>
          </a:xfrm>
          <a:prstGeom prst="line">
            <a:avLst/>
          </a:prstGeom>
          <a:noFill/>
          <a:ln w="12700">
            <a:solidFill>
              <a:srgbClr val="BDD7EE"/>
            </a:solidFill>
          </a:ln>
          <a:effectLst/>
        </p:spPr>
        <p:txBody>
          <a:bodyPr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228600" y="7298943"/>
            <a:ext cx="6400800" cy="493776"/>
          </a:xfrm>
          <a:prstGeom prst="rect">
            <a:avLst/>
          </a:prstGeom>
          <a:solidFill>
            <a:srgbClr val="FEF9E7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7344664"/>
            <a:ext cx="6309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67E22"/>
                </a:solidFill>
                <a:latin typeface="Twinkl Cursive Looped"/>
              </a:rPr>
              <a:t>Word bank: </a:t>
            </a:r>
            <a:r>
              <a:rPr sz="900">
                <a:solidFill>
                  <a:srgbClr val="1A1A1A"/>
                </a:solidFill>
                <a:latin typeface="Twinkl Cursive Looped"/>
              </a:rPr>
              <a:t>solid  •  liquid  •  gas  •  particles  •  closely packed  •  slide past  •  spread out  •  fixed shape  •  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2743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 u="none">
                <a:solidFill>
                  <a:srgbClr val="4FAD5B"/>
                </a:solidFill>
                <a:latin typeface="Twinkl Cursive Looped"/>
              </a:rPr>
              <a:t>Marking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85800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none">
                <a:solidFill>
                  <a:srgbClr val="1798D3"/>
                </a:solidFill>
                <a:latin typeface="Twinkl Cursive Looped"/>
              </a:rPr>
              <a:t>Part A  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960120"/>
            <a:ext cx="1664208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5176" y="987552"/>
            <a:ext cx="15910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892808" y="960120"/>
            <a:ext cx="896112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9384" y="9875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State?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960120"/>
            <a:ext cx="3840480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5496" y="987552"/>
            <a:ext cx="3767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Reason (use the particle model)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1234440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9384" y="123444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Solid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234440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packed tightly in a fixed arrangement, so ice keeps its shape.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1618488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Water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9384" y="161848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Liquid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25496" y="1618488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are close but can slide past each other, so water flows and takes the shape of its container.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2002536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Steam (water vapour)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9384" y="200253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25496" y="2002536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move quickly and are spread far apart, so steam fills the space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" y="2386584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9384" y="2386584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Solid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25496" y="2386584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are fixed in place, so wood keeps its shape and does not flow.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" y="2770632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9384" y="277063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Solid (tricky!)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25496" y="2770632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Each grain is a solid with its own fixed shape, but lots of grains together can pour like a liquid.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" y="3154679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Milk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9384" y="3154679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Liquid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25496" y="3154679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slide past each other, so milk flows and takes the shape of its container.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" y="3538727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Balloon (filled with air)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9384" y="3538727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Gas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25496" y="3538727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The air particles inside move quickly and spread out to fill the balloon.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" y="3922775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Honey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9384" y="3922775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Liquid (tricky!)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25496" y="3922775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Honey flows very slowly, but it is still a liquid because it takes the shape of its container.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442569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none">
                <a:solidFill>
                  <a:srgbClr val="1798D3"/>
                </a:solidFill>
                <a:latin typeface="Twinkl Cursive Looped"/>
              </a:rPr>
              <a:t>Part B   Challenge - model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" y="4700016"/>
            <a:ext cx="6400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4FAD5B"/>
                </a:solidFill>
                <a:latin typeface="Twinkl Cursive Looped"/>
              </a:rPr>
              <a:t>Sand and honey are the best examples.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494690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4FAD5B"/>
                </a:solidFill>
                <a:latin typeface="Twinkl Cursive Looped"/>
              </a:rPr>
              <a:t>Sand: a single grain is a solid with its own fixed shape, but a big pile of grains can be poured and takes the shape of its container - a bit like a liquid.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" y="53675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4FAD5B"/>
                </a:solidFill>
                <a:latin typeface="Twinkl Cursive Looped"/>
              </a:rPr>
              <a:t>Honey: it is a liquid because it takes the shape of its container, but it flows so slowly it can look almost solid.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