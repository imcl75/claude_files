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notesSlides/notesSlide4.xml" ContentType="application/vnd.openxmlformats-officedocument.presentationml.notesSlide+xml"/>
  <Override PartName="/ppt/ink/ink2.xml" ContentType="application/inkml+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3.xml" ContentType="application/inkml+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ink/ink4.xml" ContentType="application/inkml+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7"/>
  </p:notesMasterIdLst>
  <p:sldIdLst>
    <p:sldId id="1923" r:id="rId5"/>
    <p:sldId id="1817" r:id="rId6"/>
    <p:sldId id="1884" r:id="rId7"/>
    <p:sldId id="1912" r:id="rId8"/>
    <p:sldId id="1907" r:id="rId9"/>
    <p:sldId id="1887" r:id="rId10"/>
    <p:sldId id="1800" r:id="rId11"/>
    <p:sldId id="1904" r:id="rId12"/>
    <p:sldId id="407" r:id="rId13"/>
    <p:sldId id="1799" r:id="rId14"/>
    <p:sldId id="1885" r:id="rId15"/>
    <p:sldId id="1903" r:id="rId16"/>
    <p:sldId id="1804" r:id="rId17"/>
    <p:sldId id="1902" r:id="rId18"/>
    <p:sldId id="1924" r:id="rId19"/>
    <p:sldId id="2001" r:id="rId20"/>
    <p:sldId id="2002" r:id="rId21"/>
    <p:sldId id="2003" r:id="rId22"/>
    <p:sldId id="2004" r:id="rId23"/>
    <p:sldId id="2005" r:id="rId24"/>
    <p:sldId id="2006" r:id="rId25"/>
    <p:sldId id="2007" r:id="rId26"/>
  </p:sldIdLst>
  <p:sldSz cx="12192000" cy="6858000"/>
  <p:notesSz cx="6797675"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FFFF00"/>
    <a:srgbClr val="DEECF8"/>
    <a:srgbClr val="DFF2C0"/>
    <a:srgbClr val="FFDD99"/>
    <a:srgbClr val="A2CFFC"/>
    <a:srgbClr val="CD007A"/>
    <a:srgbClr val="FFD5EE"/>
    <a:srgbClr val="D463AF"/>
    <a:srgbClr val="FFAF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09F301-27E4-4D88-94B9-562A1BA83B82}" v="4" dt="2026-06-18T10:09:35.5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nnes Mclean - WFA" userId="cffa568d-066a-4903-b028-bafd937e5ea6" providerId="ADAL" clId="{BBC503F0-0109-47F6-B1DF-E0A271B1FB53}"/>
    <pc:docChg chg="modSld">
      <pc:chgData name="Innes Mclean - WFA" userId="cffa568d-066a-4903-b028-bafd937e5ea6" providerId="ADAL" clId="{BBC503F0-0109-47F6-B1DF-E0A271B1FB53}" dt="2026-06-17T16:53:33.761" v="60" actId="34476"/>
      <pc:docMkLst>
        <pc:docMk/>
      </pc:docMkLst>
      <pc:sldChg chg="modSp mod">
        <pc:chgData name="Innes Mclean - WFA" userId="cffa568d-066a-4903-b028-bafd937e5ea6" providerId="ADAL" clId="{BBC503F0-0109-47F6-B1DF-E0A271B1FB53}" dt="2026-06-17T07:09:00.364" v="59" actId="20577"/>
        <pc:sldMkLst>
          <pc:docMk/>
          <pc:sldMk cId="3172617500" sldId="1817"/>
        </pc:sldMkLst>
        <pc:spChg chg="mod">
          <ac:chgData name="Innes Mclean - WFA" userId="cffa568d-066a-4903-b028-bafd937e5ea6" providerId="ADAL" clId="{BBC503F0-0109-47F6-B1DF-E0A271B1FB53}" dt="2026-06-17T07:09:00.364" v="59" actId="20577"/>
          <ac:spMkLst>
            <pc:docMk/>
            <pc:sldMk cId="3172617500" sldId="1817"/>
            <ac:spMk id="8" creationId="{E3C356D1-4D69-6789-D9E9-77C69F82E055}"/>
          </ac:spMkLst>
        </pc:spChg>
      </pc:sldChg>
      <pc:sldChg chg="mod modShow">
        <pc:chgData name="Innes Mclean - WFA" userId="cffa568d-066a-4903-b028-bafd937e5ea6" providerId="ADAL" clId="{BBC503F0-0109-47F6-B1DF-E0A271B1FB53}" dt="2026-06-17T16:53:33.761" v="60" actId="34476"/>
        <pc:sldMkLst>
          <pc:docMk/>
          <pc:sldMk cId="3943437938" sldId="1907"/>
        </pc:sldMkLst>
      </pc:sldChg>
    </pc:docChg>
  </pc:docChgLst>
  <pc:docChgLst>
    <pc:chgData name="Leyla McLaughlin - WFA" userId="9552512a-718d-489e-b148-9b36b5caacc3" providerId="ADAL" clId="{D1980C13-80FB-456B-A29C-1A2B06B70559}"/>
    <pc:docChg chg="custSel modSld">
      <pc:chgData name="Leyla McLaughlin - WFA" userId="9552512a-718d-489e-b148-9b36b5caacc3" providerId="ADAL" clId="{D1980C13-80FB-456B-A29C-1A2B06B70559}" dt="2026-06-18T10:09:35.537" v="3" actId="27636"/>
      <pc:docMkLst>
        <pc:docMk/>
      </pc:docMkLst>
      <pc:sldChg chg="mod modShow">
        <pc:chgData name="Leyla McLaughlin - WFA" userId="9552512a-718d-489e-b148-9b36b5caacc3" providerId="ADAL" clId="{D1980C13-80FB-456B-A29C-1A2B06B70559}" dt="2026-06-17T12:11:24.660" v="1" actId="729"/>
        <pc:sldMkLst>
          <pc:docMk/>
          <pc:sldMk cId="4200216718" sldId="1884"/>
        </pc:sldMkLst>
      </pc:sldChg>
      <pc:sldChg chg="addSp modSp mod">
        <pc:chgData name="Leyla McLaughlin - WFA" userId="9552512a-718d-489e-b148-9b36b5caacc3" providerId="ADAL" clId="{D1980C13-80FB-456B-A29C-1A2B06B70559}" dt="2026-06-18T10:09:35.537" v="3" actId="27636"/>
        <pc:sldMkLst>
          <pc:docMk/>
          <pc:sldMk cId="303222904" sldId="1887"/>
        </pc:sldMkLst>
        <pc:spChg chg="mod">
          <ac:chgData name="Leyla McLaughlin - WFA" userId="9552512a-718d-489e-b148-9b36b5caacc3" providerId="ADAL" clId="{D1980C13-80FB-456B-A29C-1A2B06B70559}" dt="2026-06-18T10:09:35.537" v="3" actId="27636"/>
          <ac:spMkLst>
            <pc:docMk/>
            <pc:sldMk cId="303222904" sldId="1887"/>
            <ac:spMk id="15" creationId="{DB1CFDC9-8812-2D57-F259-9934E0E81FC7}"/>
          </ac:spMkLst>
        </pc:spChg>
        <pc:inkChg chg="add">
          <ac:chgData name="Leyla McLaughlin - WFA" userId="9552512a-718d-489e-b148-9b36b5caacc3" providerId="ADAL" clId="{D1980C13-80FB-456B-A29C-1A2B06B70559}" dt="2026-06-18T10:09:35.082" v="2"/>
          <ac:inkMkLst>
            <pc:docMk/>
            <pc:sldMk cId="303222904" sldId="1887"/>
            <ac:inkMk id="3" creationId="{3EE41BA5-6181-DB30-A716-2A581FAABB59}"/>
          </ac:inkMkLst>
        </pc:inkChg>
      </pc:sldChg>
      <pc:sldChg chg="mod modShow">
        <pc:chgData name="Leyla McLaughlin - WFA" userId="9552512a-718d-489e-b148-9b36b5caacc3" providerId="ADAL" clId="{D1980C13-80FB-456B-A29C-1A2B06B70559}" dt="2026-06-17T12:06:26.897" v="0" actId="729"/>
        <pc:sldMkLst>
          <pc:docMk/>
          <pc:sldMk cId="3943437938" sldId="1907"/>
        </pc:sldMkLst>
      </pc:sldChg>
      <pc:sldChg chg="addSp">
        <pc:chgData name="Leyla McLaughlin - WFA" userId="9552512a-718d-489e-b148-9b36b5caacc3" providerId="ADAL" clId="{D1980C13-80FB-456B-A29C-1A2B06B70559}" dt="2026-06-18T10:09:35.082" v="2"/>
        <pc:sldMkLst>
          <pc:docMk/>
          <pc:sldMk cId="4055174833" sldId="1912"/>
        </pc:sldMkLst>
        <pc:inkChg chg="add">
          <ac:chgData name="Leyla McLaughlin - WFA" userId="9552512a-718d-489e-b148-9b36b5caacc3" providerId="ADAL" clId="{D1980C13-80FB-456B-A29C-1A2B06B70559}" dt="2026-06-18T10:09:35.082" v="2"/>
          <ac:inkMkLst>
            <pc:docMk/>
            <pc:sldMk cId="4055174833" sldId="1912"/>
            <ac:inkMk id="2" creationId="{5D2C9D5F-FAFF-06A7-AD88-7690CD0EA4CC}"/>
          </ac:inkMkLst>
        </pc:inkChg>
      </pc:sldChg>
    </pc:docChg>
  </pc:docChgLst>
  <pc:docChgLst>
    <pc:chgData name="Innes Mclean - WFA" userId="cffa568d-066a-4903-b028-bafd937e5ea6" providerId="ADAL" clId="{BAFB47AA-30B1-57EF-A3A9-D4A2AD815BD7}"/>
    <pc:docChg chg="custSel addSld delSld modSld">
      <pc:chgData name="Innes Mclean - WFA" userId="cffa568d-066a-4903-b028-bafd937e5ea6" providerId="ADAL" clId="{BAFB47AA-30B1-57EF-A3A9-D4A2AD815BD7}" dt="2026-05-21T16:23:20.305" v="82" actId="1076"/>
      <pc:docMkLst>
        <pc:docMk/>
      </pc:docMkLst>
      <pc:sldChg chg="addSp modSp add mod modShow">
        <pc:chgData name="Innes Mclean - WFA" userId="cffa568d-066a-4903-b028-bafd937e5ea6" providerId="ADAL" clId="{BAFB47AA-30B1-57EF-A3A9-D4A2AD815BD7}" dt="2026-05-21T16:23:12.533" v="81" actId="1076"/>
        <pc:sldMkLst>
          <pc:docMk/>
          <pc:sldMk cId="3303693540" sldId="407"/>
        </pc:sldMkLst>
        <pc:spChg chg="mod">
          <ac:chgData name="Innes Mclean - WFA" userId="cffa568d-066a-4903-b028-bafd937e5ea6" providerId="ADAL" clId="{BAFB47AA-30B1-57EF-A3A9-D4A2AD815BD7}" dt="2026-05-21T16:22:57.742" v="60" actId="20577"/>
          <ac:spMkLst>
            <pc:docMk/>
            <pc:sldMk cId="3303693540" sldId="407"/>
            <ac:spMk id="3" creationId="{9AA1DE16-8C7B-4868-2DE3-9C9C7D7D4324}"/>
          </ac:spMkLst>
        </pc:spChg>
        <pc:spChg chg="add mod">
          <ac:chgData name="Innes Mclean - WFA" userId="cffa568d-066a-4903-b028-bafd937e5ea6" providerId="ADAL" clId="{BAFB47AA-30B1-57EF-A3A9-D4A2AD815BD7}" dt="2026-05-21T16:23:12.533" v="81" actId="1076"/>
          <ac:spMkLst>
            <pc:docMk/>
            <pc:sldMk cId="3303693540" sldId="407"/>
            <ac:spMk id="6" creationId="{2B18F8C8-4B63-E425-87CE-D13C91BCA056}"/>
          </ac:spMkLst>
        </pc:spChg>
      </pc:sldChg>
      <pc:sldChg chg="add mod modShow">
        <pc:chgData name="Innes Mclean - WFA" userId="cffa568d-066a-4903-b028-bafd937e5ea6" providerId="ADAL" clId="{BAFB47AA-30B1-57EF-A3A9-D4A2AD815BD7}" dt="2026-05-21T16:22:52.831" v="59" actId="34476"/>
        <pc:sldMkLst>
          <pc:docMk/>
          <pc:sldMk cId="2855788608" sldId="1799"/>
        </pc:sldMkLst>
      </pc:sldChg>
      <pc:sldChg chg="modSp add mod modShow">
        <pc:chgData name="Innes Mclean - WFA" userId="cffa568d-066a-4903-b028-bafd937e5ea6" providerId="ADAL" clId="{BAFB47AA-30B1-57EF-A3A9-D4A2AD815BD7}" dt="2026-05-21T16:23:20.305" v="82" actId="1076"/>
        <pc:sldMkLst>
          <pc:docMk/>
          <pc:sldMk cId="1979448493" sldId="1804"/>
        </pc:sldMkLst>
        <pc:spChg chg="mod">
          <ac:chgData name="Innes Mclean - WFA" userId="cffa568d-066a-4903-b028-bafd937e5ea6" providerId="ADAL" clId="{BAFB47AA-30B1-57EF-A3A9-D4A2AD815BD7}" dt="2026-05-21T16:23:20.305" v="82" actId="1076"/>
          <ac:spMkLst>
            <pc:docMk/>
            <pc:sldMk cId="1979448493" sldId="1804"/>
            <ac:spMk id="22" creationId="{BBE494B4-E4A1-C48A-15E2-3683EA0AD086}"/>
          </ac:spMkLst>
        </pc:spChg>
      </pc:sldChg>
      <pc:sldChg chg="modSp mod">
        <pc:chgData name="Innes Mclean - WFA" userId="cffa568d-066a-4903-b028-bafd937e5ea6" providerId="ADAL" clId="{BAFB47AA-30B1-57EF-A3A9-D4A2AD815BD7}" dt="2026-05-18T15:47:23.455" v="55" actId="20577"/>
        <pc:sldMkLst>
          <pc:docMk/>
          <pc:sldMk cId="3172617500" sldId="1817"/>
        </pc:sldMkLst>
        <pc:spChg chg="mod">
          <ac:chgData name="Innes Mclean - WFA" userId="cffa568d-066a-4903-b028-bafd937e5ea6" providerId="ADAL" clId="{BAFB47AA-30B1-57EF-A3A9-D4A2AD815BD7}" dt="2026-05-18T15:47:23.455" v="55" actId="20577"/>
          <ac:spMkLst>
            <pc:docMk/>
            <pc:sldMk cId="3172617500" sldId="1817"/>
            <ac:spMk id="6" creationId="{BB00753D-C189-01CA-44B1-B484F954D600}"/>
          </ac:spMkLst>
        </pc:spChg>
      </pc:sldChg>
      <pc:sldChg chg="add mod modShow">
        <pc:chgData name="Innes Mclean - WFA" userId="cffa568d-066a-4903-b028-bafd937e5ea6" providerId="ADAL" clId="{BAFB47AA-30B1-57EF-A3A9-D4A2AD815BD7}" dt="2026-05-21T16:22:52.831" v="59" actId="34476"/>
        <pc:sldMkLst>
          <pc:docMk/>
          <pc:sldMk cId="3287233457" sldId="1885"/>
        </pc:sldMkLst>
      </pc:sldChg>
      <pc:sldChg chg="add mod modShow">
        <pc:chgData name="Innes Mclean - WFA" userId="cffa568d-066a-4903-b028-bafd937e5ea6" providerId="ADAL" clId="{BAFB47AA-30B1-57EF-A3A9-D4A2AD815BD7}" dt="2026-05-21T16:22:52.831" v="59" actId="34476"/>
        <pc:sldMkLst>
          <pc:docMk/>
          <pc:sldMk cId="2842610468" sldId="1902"/>
        </pc:sldMkLst>
      </pc:sldChg>
      <pc:sldChg chg="add mod modShow">
        <pc:chgData name="Innes Mclean - WFA" userId="cffa568d-066a-4903-b028-bafd937e5ea6" providerId="ADAL" clId="{BAFB47AA-30B1-57EF-A3A9-D4A2AD815BD7}" dt="2026-05-21T16:22:52.831" v="59" actId="34476"/>
        <pc:sldMkLst>
          <pc:docMk/>
          <pc:sldMk cId="3934231579" sldId="1903"/>
        </pc:sldMkLst>
      </pc:sldChg>
      <pc:sldChg chg="modSp mod">
        <pc:chgData name="Innes Mclean - WFA" userId="cffa568d-066a-4903-b028-bafd937e5ea6" providerId="ADAL" clId="{BAFB47AA-30B1-57EF-A3A9-D4A2AD815BD7}" dt="2026-05-21T16:22:48.227" v="58" actId="27636"/>
        <pc:sldMkLst>
          <pc:docMk/>
          <pc:sldMk cId="4127022080" sldId="1904"/>
        </pc:sldMkLst>
        <pc:spChg chg="mod">
          <ac:chgData name="Innes Mclean - WFA" userId="cffa568d-066a-4903-b028-bafd937e5ea6" providerId="ADAL" clId="{BAFB47AA-30B1-57EF-A3A9-D4A2AD815BD7}" dt="2026-05-21T16:22:48.227" v="58" actId="27636"/>
          <ac:spMkLst>
            <pc:docMk/>
            <pc:sldMk cId="4127022080" sldId="1904"/>
            <ac:spMk id="9" creationId="{C39F0976-7660-64BA-E055-E6E60B65E8BB}"/>
          </ac:spMkLst>
        </pc:spChg>
      </pc:sldChg>
      <pc:sldChg chg="add mod modShow">
        <pc:chgData name="Innes Mclean - WFA" userId="cffa568d-066a-4903-b028-bafd937e5ea6" providerId="ADAL" clId="{BAFB47AA-30B1-57EF-A3A9-D4A2AD815BD7}" dt="2026-05-21T16:22:52.831" v="59" actId="34476"/>
        <pc:sldMkLst>
          <pc:docMk/>
          <pc:sldMk cId="2161724486" sldId="1924"/>
        </pc:sldMkLst>
      </pc:sldChg>
    </pc:docChg>
  </pc:docChgLst>
</pc:chgInfo>
</file>

<file path=ppt/ink/ink1.xml><?xml version="1.0" encoding="utf-8"?>
<inkml:ink xmlns:inkml="http://www.w3.org/2003/InkML">
  <inkml:definitions>
    <inkml:context xml:id="ctx0">
      <inkml:inkSource xml:id="inkSrc0">
        <inkml:traceFormat>
          <inkml:channel name="X" type="integer" max="26395" units="cm"/>
          <inkml:channel name="Y" type="integer" max="14847" units="cm"/>
          <inkml:channel name="T" type="integer" max="2.14748E9" units="dev"/>
        </inkml:traceFormat>
        <inkml:channelProperties>
          <inkml:channelProperty channel="X" name="resolution" value="159.99879" units="1/cm"/>
          <inkml:channelProperty channel="Y" name="resolution" value="160.00647" units="1/cm"/>
          <inkml:channelProperty channel="T" name="resolution" value="1" units="1/dev"/>
        </inkml:channelProperties>
      </inkml:inkSource>
      <inkml:timestamp xml:id="ts0" timeString="2026-06-17T14:17:08.032"/>
    </inkml:context>
    <inkml:brush xml:id="br0">
      <inkml:brushProperty name="width" value="0.05292" units="cm"/>
      <inkml:brushProperty name="height" value="0.05292" units="cm"/>
      <inkml:brushProperty name="color" value="#FF0000"/>
    </inkml:brush>
  </inkml:definitions>
  <inkml:trace contextRef="#ctx0" brushRef="#br0">27613 12065 0,'0'0'16</inkml:trace>
  <inkml:trace contextRef="#ctx0" brushRef="#br0" timeOffset="459.63">27947 12073 0,'0'0'0,"7"-7"0,-7 7 0,8-4 0,0-1 16,-1 0-16,0 1 16,0 2-16,-1 0 15,0 4 1,-1 0-16,0 2 0,0 1 0,-1 2 15,1 0-15,-1 0 0,1 0 16,-2 0-16,1 1 16,-2-1-16,1 1 15,-2-2-15,1 2 0,-1-2 16,-1 1 0,-1-2-16,1 1 0,-3 0 15,2 0-15,-2 0 0,2 1 16,0-1-16,-1 1 15,2-7-15,0 0 0</inkml:trace>
  <inkml:trace contextRef="#ctx0" brushRef="#br0" timeOffset="903.53">28040 12264 0,'0'0'0,"0"0"0,0 0 0,0 0 0,0 0 0,0 0 0,4-11 15,-1 4-15,-2 0 0,0 4 32,2-1-32,-1 2 15,0 1-15,0 1 0,-1 0 16,1 3-16,-1-2 15,0 3-15,1 1 16,-1 0-16,0 1 0,0 1 16,1-2-16,-1 1 15,-1 0-15,1-3 16,-1 1-16,0 0 0,0-1 16,0-1-16,0 0 15,0-1-15,0 0 16,0-1-16,0-1 0,0 1 15,2-3-15,-2 2 16,0 0-16,1-2 0,-1-1 16,0 2-16,0-2 15,0 3-15,0-2 16,1 2-16,-1 1 0,1 0 16,1 1-16,-2-1 15</inkml:trace>
</inkml:ink>
</file>

<file path=ppt/ink/ink2.xml><?xml version="1.0" encoding="utf-8"?>
<inkml:ink xmlns:inkml="http://www.w3.org/2003/InkML">
  <inkml:definitions>
    <inkml:context xml:id="ctx0">
      <inkml:inkSource xml:id="inkSrc0">
        <inkml:traceFormat>
          <inkml:channel name="X" type="integer" max="26395" units="cm"/>
          <inkml:channel name="Y" type="integer" max="14847" units="cm"/>
          <inkml:channel name="T" type="integer" max="2.14748E9" units="dev"/>
        </inkml:traceFormat>
        <inkml:channelProperties>
          <inkml:channelProperty channel="X" name="resolution" value="159.99879" units="1/cm"/>
          <inkml:channelProperty channel="Y" name="resolution" value="160.00647" units="1/cm"/>
          <inkml:channelProperty channel="T" name="resolution" value="1" units="1/dev"/>
        </inkml:channelProperties>
      </inkml:inkSource>
      <inkml:timestamp xml:id="ts0" timeString="2026-06-18T10:09:35.080"/>
    </inkml:context>
    <inkml:brush xml:id="br0">
      <inkml:brushProperty name="width" value="0.05292" units="cm"/>
      <inkml:brushProperty name="height" value="0.05292" units="cm"/>
      <inkml:brushProperty name="color" value="#FF0000"/>
    </inkml:brush>
  </inkml:definitions>
  <inkml:trace contextRef="#ctx0" brushRef="#br0">6941 17698 0,'-27'-13'0,"-41"-23"0,-2-3 16,7 0-16,13 4 15,15 11-15,1 2 0,-2 0 16,-7-2-16,-22-14 16,-8-7-16,-5-5 0,78 50 15,0 0-15,0 0 16,0 0-16</inkml:trace>
  <inkml:trace contextRef="#ctx0" brushRef="#br0" timeOffset="1">7455 15835 0,'-4'1'0,"4"-1"15</inkml:trace>
  <inkml:trace contextRef="#ctx0" brushRef="#br0" timeOffset="2">5026 16764 0,'-5'2'0</inkml:trace>
  <inkml:trace contextRef="#ctx0" brushRef="#br0" timeOffset="3">6999 13547 0,'0'0'0,"0"0"0,0 0 0,0 0 0,0 0 31,-11-3-31,0 2 0,11 1 16,0 0-16,0 0 16,0 0-16,0 0 15</inkml:trace>
  <inkml:trace contextRef="#ctx0" brushRef="#br0" timeOffset="4">11867 13297 0,'0'0'16,"-4"-5"-16,-6-6 16,-7-4-16,-6-7 0,3 4 15,2 5-15,0 8 16,5 0-16,3 2 15,3 3-15,3-1 0,2 2 16,2-1-16,2 3 16,1 0-16,0 0 0,2 3 15,0 0-15,-1-2 16,-4-4-16,0 0 16</inkml:trace>
</inkml:ink>
</file>

<file path=ppt/ink/ink3.xml><?xml version="1.0" encoding="utf-8"?>
<inkml:ink xmlns:inkml="http://www.w3.org/2003/InkML">
  <inkml:definitions>
    <inkml:context xml:id="ctx0">
      <inkml:inkSource xml:id="inkSrc0">
        <inkml:traceFormat>
          <inkml:channel name="X" type="integer" max="26395" units="cm"/>
          <inkml:channel name="Y" type="integer" max="14847" units="cm"/>
          <inkml:channel name="T" type="integer" max="2.14748E9" units="dev"/>
        </inkml:traceFormat>
        <inkml:channelProperties>
          <inkml:channelProperty channel="X" name="resolution" value="159.99879" units="1/cm"/>
          <inkml:channelProperty channel="Y" name="resolution" value="160.00647" units="1/cm"/>
          <inkml:channelProperty channel="T" name="resolution" value="1" units="1/dev"/>
        </inkml:channelProperties>
      </inkml:inkSource>
      <inkml:timestamp xml:id="ts0" timeString="2025-09-17T12:45:34.864"/>
    </inkml:context>
    <inkml:brush xml:id="br0">
      <inkml:brushProperty name="width" value="0.05292" units="cm"/>
      <inkml:brushProperty name="height" value="0.05292" units="cm"/>
      <inkml:brushProperty name="color" value="#FF0000"/>
    </inkml:brush>
  </inkml:definitions>
  <inkml:trace contextRef="#ctx0" brushRef="#br0">27383 10603 0,'0'0'0</inkml:trace>
</inkml:ink>
</file>

<file path=ppt/ink/ink4.xml><?xml version="1.0" encoding="utf-8"?>
<inkml:ink xmlns:inkml="http://www.w3.org/2003/InkML">
  <inkml:definitions>
    <inkml:context xml:id="ctx0">
      <inkml:inkSource xml:id="inkSrc0">
        <inkml:traceFormat>
          <inkml:channel name="X" type="integer" max="26395" units="cm"/>
          <inkml:channel name="Y" type="integer" max="14847" units="cm"/>
          <inkml:channel name="T" type="integer" max="2.14748E9" units="dev"/>
        </inkml:traceFormat>
        <inkml:channelProperties>
          <inkml:channelProperty channel="X" name="resolution" value="159.99879" units="1/cm"/>
          <inkml:channelProperty channel="Y" name="resolution" value="160.00647" units="1/cm"/>
          <inkml:channelProperty channel="T" name="resolution" value="1" units="1/dev"/>
        </inkml:channelProperties>
      </inkml:inkSource>
      <inkml:timestamp xml:id="ts0" timeString="2025-09-17T12:45:34.864"/>
    </inkml:context>
    <inkml:brush xml:id="br0">
      <inkml:brushProperty name="width" value="0.05292" units="cm"/>
      <inkml:brushProperty name="height" value="0.05292" units="cm"/>
      <inkml:brushProperty name="color" value="#FF0000"/>
    </inkml:brush>
  </inkml:definitions>
  <inkml:trace contextRef="#ctx0" brushRef="#br0">27383 10603 0,'0'0'0</inkml:trace>
</inkml:ink>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D225DB60-C16B-446D-B5DB-6D7125925E95}" type="datetimeFigureOut">
              <a:rPr lang="en-GB" smtClean="0"/>
              <a:t>18/06/2026</a:t>
            </a:fld>
            <a:endParaRPr lang="en-GB"/>
          </a:p>
        </p:txBody>
      </p:sp>
      <p:sp>
        <p:nvSpPr>
          <p:cNvPr id="4" name="Slide Image Placeholder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B7E8E8B9-ADA3-45E0-8420-BE5E8FCCF1F7}" type="slidenum">
              <a:rPr lang="en-GB" smtClean="0"/>
              <a:t>‹#›</a:t>
            </a:fld>
            <a:endParaRPr lang="en-GB"/>
          </a:p>
        </p:txBody>
      </p:sp>
    </p:spTree>
    <p:extLst>
      <p:ext uri="{BB962C8B-B14F-4D97-AF65-F5344CB8AC3E}">
        <p14:creationId xmlns:p14="http://schemas.microsoft.com/office/powerpoint/2010/main" val="8571382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11416-2BF0-1BF0-993C-D7EDF44CEA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AD52C-A15F-345E-DEC9-153A113F16DD}"/>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C3F11A5D-2009-B729-C92B-9C76C84A13B9}"/>
              </a:ext>
            </a:extLst>
          </p:cNvPr>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a:extLst>
              <a:ext uri="{FF2B5EF4-FFF2-40B4-BE49-F238E27FC236}">
                <a16:creationId xmlns:a16="http://schemas.microsoft.com/office/drawing/2014/main" id="{19A8A58E-928C-8E71-2814-F5DCBF204BB4}"/>
              </a:ext>
            </a:extLst>
          </p:cNvPr>
          <p:cNvSpPr>
            <a:spLocks noGrp="1"/>
          </p:cNvSpPr>
          <p:nvPr>
            <p:ph type="sldNum" sz="quarter" idx="5"/>
          </p:nvPr>
        </p:nvSpPr>
        <p:spPr/>
        <p:txBody>
          <a:bodyPr/>
          <a:lstStyle/>
          <a:p>
            <a:fld id="{B7E8E8B9-ADA3-45E0-8420-BE5E8FCCF1F7}" type="slidenum">
              <a:rPr lang="en-GB" smtClean="0"/>
              <a:t>3</a:t>
            </a:fld>
            <a:endParaRPr lang="en-GB"/>
          </a:p>
        </p:txBody>
      </p:sp>
    </p:spTree>
    <p:extLst>
      <p:ext uri="{BB962C8B-B14F-4D97-AF65-F5344CB8AC3E}">
        <p14:creationId xmlns:p14="http://schemas.microsoft.com/office/powerpoint/2010/main" val="32935852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93071-2F46-9644-A2D0-B7A516A87A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F26A4-4C33-FD41-8664-9FFE0D685774}"/>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B023575B-F319-685A-F4EB-043ABE52686C}"/>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86D2E282-AD31-3D4D-FFE7-ECB14224B778}"/>
              </a:ext>
            </a:extLst>
          </p:cNvPr>
          <p:cNvSpPr>
            <a:spLocks noGrp="1"/>
          </p:cNvSpPr>
          <p:nvPr>
            <p:ph type="sldNum" sz="quarter" idx="5"/>
          </p:nvPr>
        </p:nvSpPr>
        <p:spPr/>
        <p:txBody>
          <a:bodyPr/>
          <a:lstStyle/>
          <a:p>
            <a:fld id="{B7E8E8B9-ADA3-45E0-8420-BE5E8FCCF1F7}" type="slidenum">
              <a:rPr lang="en-GB" smtClean="0"/>
              <a:t>4</a:t>
            </a:fld>
            <a:endParaRPr lang="en-GB"/>
          </a:p>
        </p:txBody>
      </p:sp>
    </p:spTree>
    <p:extLst>
      <p:ext uri="{BB962C8B-B14F-4D97-AF65-F5344CB8AC3E}">
        <p14:creationId xmlns:p14="http://schemas.microsoft.com/office/powerpoint/2010/main" val="23042133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9E6B0-A6BD-A747-E971-48B8368E97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60842B-70A3-6A87-DE71-DC5CDBBC8C28}"/>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F84E4DBC-5075-4DA5-C90B-BB7261D97387}"/>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90E457-613E-E4B9-F2D4-8EB91F55A8B1}"/>
              </a:ext>
            </a:extLst>
          </p:cNvPr>
          <p:cNvSpPr>
            <a:spLocks noGrp="1"/>
          </p:cNvSpPr>
          <p:nvPr>
            <p:ph type="sldNum" sz="quarter" idx="5"/>
          </p:nvPr>
        </p:nvSpPr>
        <p:spPr/>
        <p:txBody>
          <a:bodyPr/>
          <a:lstStyle/>
          <a:p>
            <a:fld id="{B7E8E8B9-ADA3-45E0-8420-BE5E8FCCF1F7}" type="slidenum">
              <a:rPr lang="en-GB" smtClean="0"/>
              <a:t>5</a:t>
            </a:fld>
            <a:endParaRPr lang="en-GB"/>
          </a:p>
        </p:txBody>
      </p:sp>
    </p:spTree>
    <p:extLst>
      <p:ext uri="{BB962C8B-B14F-4D97-AF65-F5344CB8AC3E}">
        <p14:creationId xmlns:p14="http://schemas.microsoft.com/office/powerpoint/2010/main" val="7320701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BE0DF-E15F-5B7F-F1A7-97D7767E08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CDCBFC-DD36-F38E-02CE-18E5BFA080A5}"/>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DCBA88D1-8153-ACA0-4EC1-0560A2F1293A}"/>
              </a:ext>
            </a:extLst>
          </p:cNvPr>
          <p:cNvSpPr>
            <a:spLocks noGrp="1"/>
          </p:cNvSpPr>
          <p:nvPr>
            <p:ph type="body" idx="1"/>
          </p:nvPr>
        </p:nvSpPr>
        <p:spPr/>
        <p:txBody>
          <a:bodyPr/>
          <a:lstStyle/>
          <a:p>
            <a:r>
              <a:rPr lang="en-GB"/>
              <a:t>OH ES &amp; KW reading phonically decodable version with TP</a:t>
            </a:r>
          </a:p>
        </p:txBody>
      </p:sp>
      <p:sp>
        <p:nvSpPr>
          <p:cNvPr id="4" name="Slide Number Placeholder 3">
            <a:extLst>
              <a:ext uri="{FF2B5EF4-FFF2-40B4-BE49-F238E27FC236}">
                <a16:creationId xmlns:a16="http://schemas.microsoft.com/office/drawing/2014/main" id="{AEDBB03C-83C0-8406-0E5B-977918F0DAB0}"/>
              </a:ext>
            </a:extLst>
          </p:cNvPr>
          <p:cNvSpPr>
            <a:spLocks noGrp="1"/>
          </p:cNvSpPr>
          <p:nvPr>
            <p:ph type="sldNum" sz="quarter" idx="5"/>
          </p:nvPr>
        </p:nvSpPr>
        <p:spPr/>
        <p:txBody>
          <a:bodyPr/>
          <a:lstStyle/>
          <a:p>
            <a:fld id="{B7E8E8B9-ADA3-45E0-8420-BE5E8FCCF1F7}" type="slidenum">
              <a:rPr lang="en-GB" smtClean="0"/>
              <a:t>6</a:t>
            </a:fld>
            <a:endParaRPr lang="en-GB"/>
          </a:p>
        </p:txBody>
      </p:sp>
    </p:spTree>
    <p:extLst>
      <p:ext uri="{BB962C8B-B14F-4D97-AF65-F5344CB8AC3E}">
        <p14:creationId xmlns:p14="http://schemas.microsoft.com/office/powerpoint/2010/main" val="40126006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9</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10</a:t>
            </a:fld>
            <a:endParaRPr lang="en-GB"/>
          </a:p>
        </p:txBody>
      </p:sp>
    </p:spTree>
    <p:extLst>
      <p:ext uri="{BB962C8B-B14F-4D97-AF65-F5344CB8AC3E}">
        <p14:creationId xmlns:p14="http://schemas.microsoft.com/office/powerpoint/2010/main" val="36244987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90C4-3F63-5CE3-40C0-37C3972A6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53583-2126-636C-06E9-AC409DB697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094D933-7CA1-A8E0-3C7B-D224B672327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CBF62738-39F3-90E4-2B16-74770B32C315}"/>
              </a:ext>
            </a:extLst>
          </p:cNvPr>
          <p:cNvSpPr>
            <a:spLocks noGrp="1"/>
          </p:cNvSpPr>
          <p:nvPr>
            <p:ph type="sldNum" sz="quarter" idx="5"/>
          </p:nvPr>
        </p:nvSpPr>
        <p:spPr/>
        <p:txBody>
          <a:bodyPr/>
          <a:lstStyle/>
          <a:p>
            <a:fld id="{B7E8E8B9-ADA3-45E0-8420-BE5E8FCCF1F7}" type="slidenum">
              <a:rPr lang="en-GB" smtClean="0"/>
              <a:t>11</a:t>
            </a:fld>
            <a:endParaRPr lang="en-GB"/>
          </a:p>
        </p:txBody>
      </p:sp>
    </p:spTree>
    <p:extLst>
      <p:ext uri="{BB962C8B-B14F-4D97-AF65-F5344CB8AC3E}">
        <p14:creationId xmlns:p14="http://schemas.microsoft.com/office/powerpoint/2010/main" val="24800050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91006-C5AD-CE9A-768D-97FEB0FA1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318E-FA05-39EA-68AF-6B9E723A00D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AEEA19-065F-0F91-7D7E-3BF88230403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651696-B6F4-AA2A-3057-6BD30C08333F}"/>
              </a:ext>
            </a:extLst>
          </p:cNvPr>
          <p:cNvSpPr>
            <a:spLocks noGrp="1"/>
          </p:cNvSpPr>
          <p:nvPr>
            <p:ph type="sldNum" sz="quarter" idx="5"/>
          </p:nvPr>
        </p:nvSpPr>
        <p:spPr/>
        <p:txBody>
          <a:bodyPr/>
          <a:lstStyle/>
          <a:p>
            <a:fld id="{B7E8E8B9-ADA3-45E0-8420-BE5E8FCCF1F7}" type="slidenum">
              <a:rPr lang="en-GB" smtClean="0"/>
              <a:t>12</a:t>
            </a:fld>
            <a:endParaRPr lang="en-GB"/>
          </a:p>
        </p:txBody>
      </p:sp>
    </p:spTree>
    <p:extLst>
      <p:ext uri="{BB962C8B-B14F-4D97-AF65-F5344CB8AC3E}">
        <p14:creationId xmlns:p14="http://schemas.microsoft.com/office/powerpoint/2010/main" val="189496573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OH ES &amp; KW reading phonically decodable version with TP</a:t>
            </a:r>
          </a:p>
        </p:txBody>
      </p:sp>
      <p:sp>
        <p:nvSpPr>
          <p:cNvPr id="4" name="Slide Number Placeholder 3"/>
          <p:cNvSpPr>
            <a:spLocks noGrp="1"/>
          </p:cNvSpPr>
          <p:nvPr>
            <p:ph type="sldNum" sz="quarter" idx="5"/>
          </p:nvPr>
        </p:nvSpPr>
        <p:spPr/>
        <p:txBody>
          <a:bodyPr/>
          <a:lstStyle/>
          <a:p>
            <a:fld id="{B7E8E8B9-ADA3-45E0-8420-BE5E8FCCF1F7}" type="slidenum">
              <a:rPr lang="en-GB" smtClean="0"/>
              <a:t>13</a:t>
            </a:fld>
            <a:endParaRPr lang="en-GB"/>
          </a:p>
        </p:txBody>
      </p:sp>
    </p:spTree>
    <p:extLst>
      <p:ext uri="{BB962C8B-B14F-4D97-AF65-F5344CB8AC3E}">
        <p14:creationId xmlns:p14="http://schemas.microsoft.com/office/powerpoint/2010/main" val="26816728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16</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17</a:t>
            </a:fld>
            <a:endParaRPr lang="en-GB"/>
          </a:p>
        </p:txBody>
      </p:sp>
    </p:spTree>
    <p:extLst>
      <p:ext uri="{BB962C8B-B14F-4D97-AF65-F5344CB8AC3E}">
        <p14:creationId xmlns:p14="http://schemas.microsoft.com/office/powerpoint/2010/main" val="36244987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990C4-3F63-5CE3-40C0-37C3972A6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53583-2126-636C-06E9-AC409DB69760}"/>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2094D933-7CA1-A8E0-3C7B-D224B6723271}"/>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CBF62738-39F3-90E4-2B16-74770B32C315}"/>
              </a:ext>
            </a:extLst>
          </p:cNvPr>
          <p:cNvSpPr>
            <a:spLocks noGrp="1"/>
          </p:cNvSpPr>
          <p:nvPr>
            <p:ph type="sldNum" sz="quarter" idx="5"/>
          </p:nvPr>
        </p:nvSpPr>
        <p:spPr/>
        <p:txBody>
          <a:bodyPr/>
          <a:lstStyle/>
          <a:p>
            <a:fld id="{B7E8E8B9-ADA3-45E0-8420-BE5E8FCCF1F7}" type="slidenum">
              <a:rPr lang="en-GB" smtClean="0"/>
              <a:t>18</a:t>
            </a:fld>
            <a:endParaRPr lang="en-GB"/>
          </a:p>
        </p:txBody>
      </p:sp>
    </p:spTree>
    <p:extLst>
      <p:ext uri="{BB962C8B-B14F-4D97-AF65-F5344CB8AC3E}">
        <p14:creationId xmlns:p14="http://schemas.microsoft.com/office/powerpoint/2010/main" val="24800050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91006-C5AD-CE9A-768D-97FEB0FA1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2B318E-FA05-39EA-68AF-6B9E723A00DA}"/>
              </a:ext>
            </a:extLst>
          </p:cNvPr>
          <p:cNvSpPr>
            <a:spLocks noGrp="1" noRot="1" noChangeAspect="1"/>
          </p:cNvSpPr>
          <p:nvPr>
            <p:ph type="sldImg"/>
          </p:nvPr>
        </p:nvSpPr>
        <p:spPr/>
        <p:txBody>
          <a:bodyPr/>
          <a:lstStyle/>
          <a:p>
            <a:endParaRPr lang="en-GB"/>
          </a:p>
        </p:txBody>
      </p:sp>
      <p:sp>
        <p:nvSpPr>
          <p:cNvPr id="3" name="Notes Placeholder 2">
            <a:extLst>
              <a:ext uri="{FF2B5EF4-FFF2-40B4-BE49-F238E27FC236}">
                <a16:creationId xmlns:a16="http://schemas.microsoft.com/office/drawing/2014/main" id="{4CAEEA19-065F-0F91-7D7E-3BF882304030}"/>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3A651696-B6F4-AA2A-3057-6BD30C08333F}"/>
              </a:ext>
            </a:extLst>
          </p:cNvPr>
          <p:cNvSpPr>
            <a:spLocks noGrp="1"/>
          </p:cNvSpPr>
          <p:nvPr>
            <p:ph type="sldNum" sz="quarter" idx="5"/>
          </p:nvPr>
        </p:nvSpPr>
        <p:spPr/>
        <p:txBody>
          <a:bodyPr/>
          <a:lstStyle/>
          <a:p>
            <a:fld id="{B7E8E8B9-ADA3-45E0-8420-BE5E8FCCF1F7}" type="slidenum">
              <a:rPr lang="en-GB" smtClean="0"/>
              <a:t>19</a:t>
            </a:fld>
            <a:endParaRPr lang="en-GB"/>
          </a:p>
        </p:txBody>
      </p:sp>
    </p:spTree>
    <p:extLst>
      <p:ext uri="{BB962C8B-B14F-4D97-AF65-F5344CB8AC3E}">
        <p14:creationId xmlns:p14="http://schemas.microsoft.com/office/powerpoint/2010/main" val="18949657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OH ES &amp; KW reading phonically decodable version with TP</a:t>
            </a:r>
          </a:p>
        </p:txBody>
      </p:sp>
      <p:sp>
        <p:nvSpPr>
          <p:cNvPr id="4" name="Slide Number Placeholder 3"/>
          <p:cNvSpPr>
            <a:spLocks noGrp="1"/>
          </p:cNvSpPr>
          <p:nvPr>
            <p:ph type="sldNum" sz="quarter" idx="5"/>
          </p:nvPr>
        </p:nvSpPr>
        <p:spPr/>
        <p:txBody>
          <a:bodyPr/>
          <a:lstStyle/>
          <a:p>
            <a:fld id="{B7E8E8B9-ADA3-45E0-8420-BE5E8FCCF1F7}" type="slidenum">
              <a:rPr lang="en-GB" smtClean="0"/>
              <a:t>20</a:t>
            </a:fld>
            <a:endParaRPr lang="en-GB"/>
          </a:p>
        </p:txBody>
      </p:sp>
    </p:spTree>
    <p:extLst>
      <p:ext uri="{BB962C8B-B14F-4D97-AF65-F5344CB8AC3E}">
        <p14:creationId xmlns:p14="http://schemas.microsoft.com/office/powerpoint/2010/main" val="26816728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21</a:t>
            </a:fld>
            <a:endParaRPr lang="en-GB"/>
          </a:p>
        </p:txBody>
      </p:sp>
    </p:spTree>
    <p:extLst>
      <p:ext uri="{BB962C8B-B14F-4D97-AF65-F5344CB8AC3E}">
        <p14:creationId xmlns:p14="http://schemas.microsoft.com/office/powerpoint/2010/main" val="19110069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B"/>
          </a:p>
        </p:txBody>
      </p:sp>
      <p:sp>
        <p:nvSpPr>
          <p:cNvPr id="3" name="Notes Placeholder 2"/>
          <p:cNvSpPr>
            <a:spLocks noGrp="1"/>
          </p:cNvSpPr>
          <p:nvPr>
            <p:ph type="body" idx="1"/>
          </p:nvPr>
        </p:nvSpPr>
        <p:spPr/>
        <p:txBody>
          <a:bodyPr/>
          <a:lstStyle/>
          <a:p>
            <a:r>
              <a:rPr lang="en-GB"/>
              <a:t>Background knowledge – We use our background knowledge and experiences to help us with our reading</a:t>
            </a:r>
          </a:p>
          <a:p>
            <a:r>
              <a:rPr lang="en-GB"/>
              <a:t>Vocabulary – we use new vocabulary when reading</a:t>
            </a:r>
          </a:p>
          <a:p>
            <a:r>
              <a:rPr lang="en-GB"/>
              <a:t>Fluency &amp; Expression – We read fluently and with expression to make our reading exciting</a:t>
            </a:r>
          </a:p>
          <a:p>
            <a:r>
              <a:rPr lang="en-GB"/>
              <a:t>Discuss &amp; explain thinking – We discuss and explain our thinking and understanding of our reading</a:t>
            </a:r>
          </a:p>
          <a:p>
            <a:r>
              <a:rPr lang="en-GB"/>
              <a:t>Read a wide range of texts – We read a wide range of texts at WFA</a:t>
            </a:r>
          </a:p>
          <a:p>
            <a:r>
              <a:rPr lang="en-GB"/>
              <a:t>Decoding and phonics – We use our phonics to help us decode and learn new words when we are reading</a:t>
            </a:r>
          </a:p>
          <a:p>
            <a:endParaRPr lang="en-GB"/>
          </a:p>
        </p:txBody>
      </p:sp>
      <p:sp>
        <p:nvSpPr>
          <p:cNvPr id="4" name="Slide Number Placeholder 3"/>
          <p:cNvSpPr>
            <a:spLocks noGrp="1"/>
          </p:cNvSpPr>
          <p:nvPr>
            <p:ph type="sldNum" sz="quarter" idx="5"/>
          </p:nvPr>
        </p:nvSpPr>
        <p:spPr/>
        <p:txBody>
          <a:bodyPr/>
          <a:lstStyle/>
          <a:p>
            <a:fld id="{B7E8E8B9-ADA3-45E0-8420-BE5E8FCCF1F7}" type="slidenum">
              <a:rPr lang="en-GB" smtClean="0"/>
              <a:t>22</a:t>
            </a:fld>
            <a:endParaRPr lang="en-GB"/>
          </a:p>
        </p:txBody>
      </p:sp>
    </p:spTree>
    <p:extLst>
      <p:ext uri="{BB962C8B-B14F-4D97-AF65-F5344CB8AC3E}">
        <p14:creationId xmlns:p14="http://schemas.microsoft.com/office/powerpoint/2010/main" val="3624498783"/>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5A21D-2FCA-5103-944C-97A33EAB499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4E451915-D313-134F-3B39-E2202692B0C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0492851-C45E-2C62-1686-35F05261BF4A}"/>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5" name="Footer Placeholder 4">
            <a:extLst>
              <a:ext uri="{FF2B5EF4-FFF2-40B4-BE49-F238E27FC236}">
                <a16:creationId xmlns:a16="http://schemas.microsoft.com/office/drawing/2014/main" id="{5565C8CD-ED83-6186-0E09-D60B801105B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01FC3CD-1629-3981-C514-EA809A6DA1BC}"/>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173673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BF554-C9DF-1E20-73BD-9BEBF65F853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C7DEC16-6EFE-8F98-D786-F7FA33F73D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0F50926-EAE1-8CBC-B944-95606793B845}"/>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5" name="Footer Placeholder 4">
            <a:extLst>
              <a:ext uri="{FF2B5EF4-FFF2-40B4-BE49-F238E27FC236}">
                <a16:creationId xmlns:a16="http://schemas.microsoft.com/office/drawing/2014/main" id="{80EDD0ED-4188-0860-8E6D-81E93458E37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AAE27D8-31F7-1112-ED89-AD6BFC9E010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4887929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5DCD8-D0E7-C7D8-C221-D51F0B68147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B84F57CA-859A-366E-BD81-B51EB9F3F1B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816810-0B04-441A-BDC2-5334A4ED6B8F}"/>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5" name="Footer Placeholder 4">
            <a:extLst>
              <a:ext uri="{FF2B5EF4-FFF2-40B4-BE49-F238E27FC236}">
                <a16:creationId xmlns:a16="http://schemas.microsoft.com/office/drawing/2014/main" id="{967743A6-7DF3-3A54-9EA1-0818278D5BF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C0B308D-ED7A-41CA-CE45-BFD4B52EE3FF}"/>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5695795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6C61B-06CA-A5BD-FF28-522B3C1C5EC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56A4604E-C7F9-DE00-FC0E-9D0430CBD17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FC8481-8445-D097-8868-FEBEF363086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7EAA810B-D0B6-055B-A7B2-A91D9312431E}"/>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6" name="Footer Placeholder 5">
            <a:extLst>
              <a:ext uri="{FF2B5EF4-FFF2-40B4-BE49-F238E27FC236}">
                <a16:creationId xmlns:a16="http://schemas.microsoft.com/office/drawing/2014/main" id="{A3AD80D6-ABB1-0B43-2EF6-728A9BF7FFB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A1F566E-8C59-14B0-1B4A-013D19195555}"/>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13112049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FD8B9-6D91-0488-0B6B-D8925368CB77}"/>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93EC770-FFE0-0BCE-D25B-ED842005CA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ACAE04-0440-4429-84C8-7BB448E0612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9013C1A-78C5-C6A1-01F4-1F918414BE2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D5F05FB-98EA-3A71-20AF-C01DB3BD785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3A7D365-8161-72FD-ABB1-1B60E1F31FF2}"/>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8" name="Footer Placeholder 7">
            <a:extLst>
              <a:ext uri="{FF2B5EF4-FFF2-40B4-BE49-F238E27FC236}">
                <a16:creationId xmlns:a16="http://schemas.microsoft.com/office/drawing/2014/main" id="{DD4C5E40-7DE8-3AB1-5251-3786AB7A8391}"/>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328ECA8F-EE24-6FAE-06B6-EAB0AA8C899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1178559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21966A-38F6-03A2-7850-CBC3564D366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2AC653EE-AB8C-20D9-EBAD-D2C658811A8D}"/>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4" name="Footer Placeholder 3">
            <a:extLst>
              <a:ext uri="{FF2B5EF4-FFF2-40B4-BE49-F238E27FC236}">
                <a16:creationId xmlns:a16="http://schemas.microsoft.com/office/drawing/2014/main" id="{4B8671EA-7A81-2488-CC64-F7AA1FA5BC52}"/>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D3FA76E-F712-5B71-1F05-B2754EBC1D19}"/>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2179631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7460A9-9D13-270B-29A4-50F492C07A7C}"/>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3" name="Footer Placeholder 2">
            <a:extLst>
              <a:ext uri="{FF2B5EF4-FFF2-40B4-BE49-F238E27FC236}">
                <a16:creationId xmlns:a16="http://schemas.microsoft.com/office/drawing/2014/main" id="{3A1BD67B-379B-C75C-2673-E3D7E240730B}"/>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C727B918-0F9C-09A3-037D-B8A188A3028B}"/>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3755542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DC67F-FB8D-658E-598C-C851430A8D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BFDB75E-8915-32DA-B58D-D893D674504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52C66A0-5168-1295-9EEA-6F4269952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C462D3-A952-91CB-DCE0-30ED606AE43C}"/>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6" name="Footer Placeholder 5">
            <a:extLst>
              <a:ext uri="{FF2B5EF4-FFF2-40B4-BE49-F238E27FC236}">
                <a16:creationId xmlns:a16="http://schemas.microsoft.com/office/drawing/2014/main" id="{7AECD06D-C0FC-9664-2ACD-9DF3C518ABE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4F2D1BB-BAD7-3C27-EF7C-8769CDC6FC62}"/>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349846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3220F-DE75-7293-BA54-A820732EB0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E5A7D88C-152E-EE3F-9132-C786827FA58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D4B973C0-9031-5A51-8DC0-CD8C2DBD6F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C7FE28-2AB1-A1AE-1DC1-2891CD211974}"/>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6" name="Footer Placeholder 5">
            <a:extLst>
              <a:ext uri="{FF2B5EF4-FFF2-40B4-BE49-F238E27FC236}">
                <a16:creationId xmlns:a16="http://schemas.microsoft.com/office/drawing/2014/main" id="{4CFC7DF7-EE0C-A96A-0A71-4A20704DA62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3F354D7-FA08-FBD4-1D6D-7C0D0115C50D}"/>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3649426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6DE38-C159-DD3F-3419-061EC2706C5B}"/>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E4A78D7-9DB6-9FE7-D6A5-0D8C5113970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38ECF6-30BD-892C-0F30-CDFA8424ACF6}"/>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5" name="Footer Placeholder 4">
            <a:extLst>
              <a:ext uri="{FF2B5EF4-FFF2-40B4-BE49-F238E27FC236}">
                <a16:creationId xmlns:a16="http://schemas.microsoft.com/office/drawing/2014/main" id="{A79E0C5A-96D4-3102-5A52-240B1FD840F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C3AA66-3D0D-0085-C81D-088B396324C7}"/>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19533953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C868FC3-86B3-8BF7-3C43-D7286B46EAF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BDEA911C-6657-35D6-8679-F5861CAE8D1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07097C1-61F4-5117-4F0F-D1B0C168769E}"/>
              </a:ext>
            </a:extLst>
          </p:cNvPr>
          <p:cNvSpPr>
            <a:spLocks noGrp="1"/>
          </p:cNvSpPr>
          <p:nvPr>
            <p:ph type="dt" sz="half" idx="10"/>
          </p:nvPr>
        </p:nvSpPr>
        <p:spPr/>
        <p:txBody>
          <a:bodyPr/>
          <a:lstStyle/>
          <a:p>
            <a:fld id="{8B72D5E0-039A-4068-97A9-A3C4BF080BAA}" type="datetimeFigureOut">
              <a:rPr lang="en-GB" smtClean="0"/>
              <a:t>18/06/2026</a:t>
            </a:fld>
            <a:endParaRPr lang="en-GB"/>
          </a:p>
        </p:txBody>
      </p:sp>
      <p:sp>
        <p:nvSpPr>
          <p:cNvPr id="5" name="Footer Placeholder 4">
            <a:extLst>
              <a:ext uri="{FF2B5EF4-FFF2-40B4-BE49-F238E27FC236}">
                <a16:creationId xmlns:a16="http://schemas.microsoft.com/office/drawing/2014/main" id="{B2F7DD80-E551-6693-517F-57C80BD89A7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FC51674-A2E1-4818-8900-91FBB812AB3E}"/>
              </a:ext>
            </a:extLst>
          </p:cNvPr>
          <p:cNvSpPr>
            <a:spLocks noGrp="1"/>
          </p:cNvSpPr>
          <p:nvPr>
            <p:ph type="sldNum" sz="quarter" idx="12"/>
          </p:nvPr>
        </p:nvSpPr>
        <p:spPr/>
        <p:txBody>
          <a:bodyPr/>
          <a:lstStyle/>
          <a:p>
            <a:fld id="{6AD7094B-D2BC-452F-93E3-9C4A8FC9449E}" type="slidenum">
              <a:rPr lang="en-GB" smtClean="0"/>
              <a:t>‹#›</a:t>
            </a:fld>
            <a:endParaRPr lang="en-GB"/>
          </a:p>
        </p:txBody>
      </p:sp>
    </p:spTree>
    <p:extLst>
      <p:ext uri="{BB962C8B-B14F-4D97-AF65-F5344CB8AC3E}">
        <p14:creationId xmlns:p14="http://schemas.microsoft.com/office/powerpoint/2010/main" val="2747567405"/>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45C16C3-8E98-21FD-43ED-3AA697B77A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9AA3022-3424-75B4-F2EC-7CEB8FA07C5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EC25384-14A1-0395-EDE6-D2A60BCE49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B72D5E0-039A-4068-97A9-A3C4BF080BAA}" type="datetimeFigureOut">
              <a:rPr lang="en-GB" smtClean="0"/>
              <a:t>18/06/2026</a:t>
            </a:fld>
            <a:endParaRPr lang="en-GB"/>
          </a:p>
        </p:txBody>
      </p:sp>
      <p:sp>
        <p:nvSpPr>
          <p:cNvPr id="5" name="Footer Placeholder 4">
            <a:extLst>
              <a:ext uri="{FF2B5EF4-FFF2-40B4-BE49-F238E27FC236}">
                <a16:creationId xmlns:a16="http://schemas.microsoft.com/office/drawing/2014/main" id="{09290F1D-4E4C-69C6-26A7-CE1716791C6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B634093-083B-3EA6-BBB8-95BE7409B0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AD7094B-D2BC-452F-93E3-9C4A8FC9449E}" type="slidenum">
              <a:rPr lang="en-GB" smtClean="0"/>
              <a:t>‹#›</a:t>
            </a:fld>
            <a:endParaRPr lang="en-GB"/>
          </a:p>
        </p:txBody>
      </p:sp>
    </p:spTree>
    <p:extLst>
      <p:ext uri="{BB962C8B-B14F-4D97-AF65-F5344CB8AC3E}">
        <p14:creationId xmlns:p14="http://schemas.microsoft.com/office/powerpoint/2010/main" val="6997227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microsoft.com/office/2007/relationships/hdphoto" Target="../media/hdphoto1.wdp"/></Relationships>
</file>

<file path=ppt/slides/_rels/slide3.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4.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customXml" Target="../ink/ink1.xml"/></Relationships>
</file>

<file path=ppt/slides/_rels/slide5.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6.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customXml" Target="../ink/ink2.xml"/><Relationship Id="rId4" Type="http://schemas.openxmlformats.org/officeDocument/2006/relationships/image" Target="../media/image11.png"/></Relationships>
</file>

<file path=ppt/slides/_rels/slide7.xml.rels><?xml version="1.0" encoding="UTF-8"?><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9.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png"/></Relationships>
</file>

<file path=ppt/slides/_rels/slide10.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11.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customXml" Target="../ink/ink3.xml"/></Relationships>
</file>

<file path=ppt/slides/_rels/slide12.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3.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4.xml.rels><?xml version="1.0" encoding="UTF-8"?><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6.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microsoft.com/office/2007/relationships/hdphoto" Target="../media/hdphoto1.wdp"/><Relationship Id="rId4" Type="http://schemas.openxmlformats.org/officeDocument/2006/relationships/image" Target="../media/image3.png"/></Relationships>
</file>

<file path=ppt/slides/_rels/slide17.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microsoft.com/office/2007/relationships/hdphoto" Target="../media/hdphoto2.wdp"/></Relationships>
</file>

<file path=ppt/slides/_rels/slide18.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customXml" Target="../ink/ink4.xml"/></Relationships>
</file>

<file path=ppt/slides/_rels/slide19.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20.xml.rels><?xml version="1.0" encoding="UTF-8"?><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1.xml.rels><?xml version="1.0" encoding="UTF-8"?><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descr="A white grid with black text  Description automatically generated">
            <a:extLst>
              <a:ext uri="{FF2B5EF4-FFF2-40B4-BE49-F238E27FC236}">
                <a16:creationId xmlns:a16="http://schemas.microsoft.com/office/drawing/2014/main" id="{1B42834E-5B1E-8CE4-BEEE-8784E10AE2DF}"/>
              </a:ext>
            </a:extLst>
          </p:cNvPr>
          <p:cNvPicPr>
            <a:picLocks noChangeAspect="1"/>
          </p:cNvPicPr>
          <p:nvPr/>
        </p:nvPicPr>
        <p:blipFill>
          <a:blip r:embed="rId2"/>
          <a:stretch>
            <a:fillRect/>
          </a:stretch>
        </p:blipFill>
        <p:spPr>
          <a:xfrm>
            <a:off x="343349" y="169879"/>
            <a:ext cx="10272264" cy="6455163"/>
          </a:xfrm>
          <a:prstGeom prst="rect">
            <a:avLst/>
          </a:prstGeom>
        </p:spPr>
      </p:pic>
    </p:spTree>
    <p:extLst>
      <p:ext uri="{BB962C8B-B14F-4D97-AF65-F5344CB8AC3E}">
        <p14:creationId xmlns:p14="http://schemas.microsoft.com/office/powerpoint/2010/main" val="1269628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810699" y="542637"/>
            <a:ext cx="2570602" cy="2802616"/>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6" name="TextBox 5">
            <a:extLst>
              <a:ext uri="{FF2B5EF4-FFF2-40B4-BE49-F238E27FC236}">
                <a16:creationId xmlns:a16="http://schemas.microsoft.com/office/drawing/2014/main" id="{BB00753D-C189-01CA-44B1-B484F954D600}"/>
              </a:ext>
            </a:extLst>
          </p:cNvPr>
          <p:cNvSpPr txBox="1"/>
          <p:nvPr/>
        </p:nvSpPr>
        <p:spPr>
          <a:xfrm>
            <a:off x="0" y="4552141"/>
            <a:ext cx="12192000" cy="584775"/>
          </a:xfrm>
          <a:prstGeom prst="rect">
            <a:avLst/>
          </a:prstGeom>
          <a:noFill/>
        </p:spPr>
        <p:txBody>
          <a:bodyPr wrap="square">
            <a:spAutoFit/>
          </a:bodyPr>
          <a:lstStyle/>
          <a:p>
            <a:pPr algn="ctr"/>
            <a:r>
              <a:rPr lang="en-GB" sz="3200"/>
              <a:t>Vocabulary</a:t>
            </a:r>
          </a:p>
        </p:txBody>
      </p:sp>
      <p:sp>
        <p:nvSpPr>
          <p:cNvPr id="8" name="TextBox 7">
            <a:extLst>
              <a:ext uri="{FF2B5EF4-FFF2-40B4-BE49-F238E27FC236}">
                <a16:creationId xmlns:a16="http://schemas.microsoft.com/office/drawing/2014/main" id="{E3C356D1-4D69-6789-D9E9-77C69F82E055}"/>
              </a:ext>
            </a:extLst>
          </p:cNvPr>
          <p:cNvSpPr txBox="1"/>
          <p:nvPr/>
        </p:nvSpPr>
        <p:spPr>
          <a:xfrm>
            <a:off x="4423577" y="5199610"/>
            <a:ext cx="3329758" cy="1446550"/>
          </a:xfrm>
          <a:prstGeom prst="rect">
            <a:avLst/>
          </a:prstGeom>
          <a:noFill/>
        </p:spPr>
        <p:txBody>
          <a:bodyPr wrap="none" rtlCol="0" anchor="ctr">
            <a:spAutoFit/>
          </a:bodyPr>
          <a:lstStyle/>
          <a:p>
            <a:pPr algn="ctr"/>
            <a:r>
              <a:rPr lang="en-GB" sz="8800"/>
              <a:t>Monday</a:t>
            </a:r>
          </a:p>
        </p:txBody>
      </p:sp>
    </p:spTree>
    <p:extLst>
      <p:ext uri="{BB962C8B-B14F-4D97-AF65-F5344CB8AC3E}">
        <p14:creationId xmlns:p14="http://schemas.microsoft.com/office/powerpoint/2010/main" val="31726175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937DFFE-43F9-9789-7910-83BEEE3A3818}"/>
            </a:ext>
          </a:extLst>
        </p:cNvPr>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93E87004-6E1A-D1FF-FF85-9A712A9BB7B3}"/>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081EF958-1030-773B-A7D6-6CEB89A8F58A}"/>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CB992496-7EDE-333E-5CB0-3C40245FED5D}"/>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79FB5223-15E3-4844-7748-101D3E2F6D73}"/>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5594475F-C636-A29B-742C-0F17DB69B1FF}"/>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C934D238-3C31-683C-09D6-F097B09592C0}"/>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4C8634C0-C6DD-1B8E-85A5-094729686CE0}"/>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4200216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EC2FE-E3EF-97C8-F7DC-C0A25E1D163D}"/>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5AA7E159-E28C-77BB-73A2-F381C7A90837}"/>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91C39609-0D86-A5B7-4D8A-1F527D92392F}"/>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84199F61-4B0B-8E0F-2DB2-ED5EBBDF58E5}"/>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FC3196E5-5551-D86F-2179-6878DD23429F}"/>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BDA4AF79-C1C4-8EFA-F1F6-B418570C55CC}"/>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DB2EAE7E-9AF9-75F2-CFE5-9905D0F16B0E}"/>
              </a:ext>
            </a:extLst>
          </p:cNvPr>
          <p:cNvSpPr txBox="1"/>
          <p:nvPr/>
        </p:nvSpPr>
        <p:spPr>
          <a:xfrm>
            <a:off x="2442576" y="1217529"/>
            <a:ext cx="7503292" cy="646331"/>
          </a:xfrm>
          <a:prstGeom prst="rect">
            <a:avLst/>
          </a:prstGeom>
          <a:noFill/>
        </p:spPr>
        <p:txBody>
          <a:bodyPr wrap="square" rtlCol="0">
            <a:spAutoFit/>
          </a:bodyPr>
          <a:lstStyle/>
          <a:p>
            <a:r>
              <a:rPr lang="en-GB"/>
              <a:t>Are there any words you feel confident to explain the meaning of (definition)? Are there any where you are less confident?</a:t>
            </a:r>
          </a:p>
        </p:txBody>
      </p:sp>
      <p:graphicFrame>
        <p:nvGraphicFramePr>
          <p:cNvPr id="13" name="Table 12">
            <a:extLst>
              <a:ext uri="{FF2B5EF4-FFF2-40B4-BE49-F238E27FC236}">
                <a16:creationId xmlns:a16="http://schemas.microsoft.com/office/drawing/2014/main" id="{9464E341-C007-5632-B326-45797112EDA2}"/>
              </a:ext>
            </a:extLst>
          </p:cNvPr>
          <p:cNvGraphicFramePr>
            <a:graphicFrameLocks noGrp="1"/>
          </p:cNvGraphicFramePr>
          <p:nvPr>
            <p:extLst>
              <p:ext uri="{D42A27DB-BD31-4B8C-83A1-F6EECF244321}">
                <p14:modId xmlns:p14="http://schemas.microsoft.com/office/powerpoint/2010/main" val="3344407260"/>
              </p:ext>
            </p:extLst>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heritage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1800" b="0" i="0" u="none" strike="noStrike">
                          <a:solidFill>
                            <a:srgbClr val="000000"/>
                          </a:solidFill>
                          <a:effectLst/>
                          <a:latin typeface="Calibri" panose="020F0502020204030204" pitchFamily="34" charset="0"/>
                        </a:rPr>
                        <a:t>the traditions, values and customs passed down through generations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indigenous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originally from a place, before settlers or colonisers arrived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dialect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form of a language spoken in a particular area or by a particular group</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diverse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made up of many different types of people, ideas or things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Carnival</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large annual festival involving music, dancing and colourful costumes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E459C5E2-5BCA-E6D1-3FA2-4EE65FF057B2}"/>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7" name="Rectangle 16">
            <a:extLst>
              <a:ext uri="{FF2B5EF4-FFF2-40B4-BE49-F238E27FC236}">
                <a16:creationId xmlns:a16="http://schemas.microsoft.com/office/drawing/2014/main" id="{8378AAAA-9509-6BC5-9C3F-9C67043451B7}"/>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8" name="Rectangle 17">
            <a:extLst>
              <a:ext uri="{FF2B5EF4-FFF2-40B4-BE49-F238E27FC236}">
                <a16:creationId xmlns:a16="http://schemas.microsoft.com/office/drawing/2014/main" id="{483E4D50-B122-CB47-766E-B5E7AC2451E9}"/>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19" name="Rectangle 18">
            <a:extLst>
              <a:ext uri="{FF2B5EF4-FFF2-40B4-BE49-F238E27FC236}">
                <a16:creationId xmlns:a16="http://schemas.microsoft.com/office/drawing/2014/main" id="{4F499D47-C8D0-1D00-07CE-6BF9DF183DEF}"/>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p:sp>
        <p:nvSpPr>
          <p:cNvPr id="20" name="Rectangle 19">
            <a:extLst>
              <a:ext uri="{FF2B5EF4-FFF2-40B4-BE49-F238E27FC236}">
                <a16:creationId xmlns:a16="http://schemas.microsoft.com/office/drawing/2014/main" id="{FB71A36C-7A6A-7242-D64C-17151302D893}"/>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a:t>?</a:t>
            </a:r>
          </a:p>
        </p:txBody>
      </p:sp>
      <mc:AlternateContent xmlns:mc="http://schemas.openxmlformats.org/markup-compatibility/2006">
        <mc:Choice xmlns:p14="http://schemas.microsoft.com/office/powerpoint/2010/main" Requires="p14">
          <p:contentPart p14:bwMode="auto" r:id="rId4">
            <p14:nvContentPartPr>
              <p14:cNvPr id="2" name="Ink 1">
                <a:extLst>
                  <a:ext uri="{FF2B5EF4-FFF2-40B4-BE49-F238E27FC236}">
                    <a16:creationId xmlns:a16="http://schemas.microsoft.com/office/drawing/2014/main" id="{5D2C9D5F-FAFF-06A7-AD88-7690CD0EA4CC}"/>
                  </a:ext>
                </a:extLst>
              </p14:cNvPr>
              <p14:cNvContentPartPr/>
              <p14:nvPr/>
            </p14:nvContentPartPr>
            <p14:xfrm>
              <a:off x="9940680" y="4335840"/>
              <a:ext cx="168120" cy="91440"/>
            </p14:xfrm>
          </p:contentPart>
        </mc:Choice>
        <mc:Fallback>
          <p:pic>
            <p:nvPicPr>
              <p:cNvPr id="2" name="Ink 1">
                <a:extLst>
                  <a:ext uri="{FF2B5EF4-FFF2-40B4-BE49-F238E27FC236}">
                    <a16:creationId xmlns:a16="http://schemas.microsoft.com/office/drawing/2014/main" id="{5D2C9D5F-FAFF-06A7-AD88-7690CD0EA4CC}"/>
                  </a:ext>
                </a:extLst>
              </p:cNvPr>
              <p:cNvPicPr/>
              <p:nvPr/>
            </p:nvPicPr>
            <p:blipFill>
              <a:blip r:embed="rId5"/>
              <a:stretch>
                <a:fillRect/>
              </a:stretch>
            </p:blipFill>
            <p:spPr>
              <a:xfrm>
                <a:off x="9931320" y="4326480"/>
                <a:ext cx="186840" cy="110160"/>
              </a:xfrm>
              <a:prstGeom prst="rect">
                <a:avLst/>
              </a:prstGeom>
            </p:spPr>
          </p:pic>
        </mc:Fallback>
      </mc:AlternateContent>
    </p:spTree>
    <p:extLst>
      <p:ext uri="{BB962C8B-B14F-4D97-AF65-F5344CB8AC3E}">
        <p14:creationId xmlns:p14="http://schemas.microsoft.com/office/powerpoint/2010/main" val="405517483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7"/>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2" restart="whenNotActive" fill="hold" evtFilter="cancelBubble" nodeType="interactiveSeq">
                <p:stCondLst>
                  <p:cond evt="onClick" delay="0">
                    <p:tgtEl>
                      <p:spTgt spid="18"/>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17" restart="whenNotActive" fill="hold" evtFilter="cancelBubble" nodeType="interactiveSeq">
                <p:stCondLst>
                  <p:cond evt="onClick" delay="0">
                    <p:tgtEl>
                      <p:spTgt spid="19"/>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seq concurrent="1" nextAc="seek">
              <p:cTn id="22" restart="whenNotActive" fill="hold" evtFilter="cancelBubble" nodeType="interactiveSeq">
                <p:stCondLst>
                  <p:cond evt="onClick" delay="0">
                    <p:tgtEl>
                      <p:spTgt spid="20"/>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hidden"/>
                                      </p:to>
                                    </p:set>
                                  </p:childTnLst>
                                </p:cTn>
                              </p:par>
                            </p:childTnLst>
                          </p:cTn>
                        </p:par>
                      </p:childTnLst>
                    </p:cTn>
                  </p:par>
                </p:childTnLst>
              </p:cTn>
              <p:nextCondLst>
                <p:cond evt="onClick" delay="0">
                  <p:tgtEl>
                    <p:spTgt spid="20"/>
                  </p:tgtEl>
                </p:cond>
              </p:nextCondLst>
            </p:seq>
          </p:childTnLst>
        </p:cTn>
      </p:par>
    </p:tnLst>
    <p:bldLst>
      <p:bldP spid="16" grpId="0" animBg="1"/>
      <p:bldP spid="17" grpId="0" animBg="1"/>
      <p:bldP spid="18" grpId="0" animBg="1"/>
      <p:bldP spid="19" grpId="0" animBg="1"/>
      <p:bldP spid="2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5D4AD-39BF-E719-97C7-B9FE8F2F1D23}"/>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1EC62D8-35F3-692D-E010-0DC4232EB396}"/>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F8888C4F-1616-8D90-191F-5F1D6A12B17C}"/>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A3B5DDCC-932B-F66F-471E-38658DC395B0}"/>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733E3EE1-243D-DB63-04F2-FFCC4E6120EC}"/>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2DCF07E4-FAD7-AFAB-73D7-E54C6A426087}"/>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532B7159-F539-A363-45FE-8B91401BE68F}"/>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1BDE9717-27F4-D48A-5961-BBB082A50FA4}"/>
              </a:ext>
            </a:extLst>
          </p:cNvPr>
          <p:cNvGraphicFramePr>
            <a:graphicFrameLocks noGrp="1"/>
          </p:cNvGraphicFramePr>
          <p:nvPr>
            <p:extLst>
              <p:ext uri="{D42A27DB-BD31-4B8C-83A1-F6EECF244321}">
                <p14:modId xmlns:p14="http://schemas.microsoft.com/office/powerpoint/2010/main" val="394122683"/>
              </p:ext>
            </p:extLst>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sz="3200" b="0">
                        <a:solidFill>
                          <a:schemeClr val="tx1"/>
                        </a:solidFill>
                        <a:latin typeface="Twinkl Cursive Looped Light" panose="02000000000000000000" pitchFamily="2" charset="77"/>
                      </a:endParaRPr>
                    </a:p>
                    <a:p>
                      <a:pPr algn="ctr"/>
                      <a:r>
                        <a:rPr lang="en-GB" sz="3200" b="0">
                          <a:solidFill>
                            <a:schemeClr val="tx1"/>
                          </a:solidFill>
                          <a:latin typeface="Twinkl Cursive Looped Light" panose="02000000000000000000" pitchFamily="2" charset="77"/>
                        </a:rPr>
                        <a:t>heritage</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DCA91193-1537-0657-E11E-503EF19A61E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D4A4253D-E3B5-EFA7-4B1C-50AA791A86AA}"/>
              </a:ext>
            </a:extLst>
          </p:cNvPr>
          <p:cNvSpPr txBox="1"/>
          <p:nvPr/>
        </p:nvSpPr>
        <p:spPr>
          <a:xfrm>
            <a:off x="4788984" y="5296822"/>
            <a:ext cx="2400000" cy="480000"/>
          </a:xfrm>
          <a:prstGeom prst="rect">
            <a:avLst/>
          </a:prstGeom>
          <a:noFill/>
        </p:spPr>
        <p:txBody>
          <a:bodyPr wrap="square" rtlCol="0" anchor="ctr"/>
          <a:lstStyle/>
          <a:p>
            <a:pPr algn="ctr"/>
            <a:r>
              <a:rPr lang="en-GB"/>
              <a:t>heritage</a:t>
            </a:r>
          </a:p>
        </p:txBody>
      </p:sp>
      <p:cxnSp>
        <p:nvCxnSpPr>
          <p:cNvPr id="12" name="Straight Connector 11">
            <a:extLst>
              <a:ext uri="{FF2B5EF4-FFF2-40B4-BE49-F238E27FC236}">
                <a16:creationId xmlns:a16="http://schemas.microsoft.com/office/drawing/2014/main" id="{7C8845E9-B967-EA4D-1D1A-9AF3DDA85380}"/>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EB3BFB0-1A1A-2A77-4CC9-C8E227413B3E}"/>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EF585B9-9A59-4AD6-3B99-DB66AC0BC1C7}"/>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8E2FC65-99A3-B206-BA2E-B45AABD7E835}"/>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EF0396BA-9A50-9215-C8CB-0B99470EF9F5}"/>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43437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040D69-2A3E-AC4D-476F-E48DC49AB51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39D004C-6476-A163-CC76-9EB710752DEA}"/>
              </a:ext>
            </a:extLst>
          </p:cNvPr>
          <p:cNvPicPr>
            <a:picLocks noChangeAspect="1"/>
          </p:cNvPicPr>
          <p:nvPr/>
        </p:nvPicPr>
        <p:blipFill>
          <a:blip r:embed="rId3"/>
          <a:stretch>
            <a:fillRect/>
          </a:stretch>
        </p:blipFill>
        <p:spPr>
          <a:xfrm>
            <a:off x="525593" y="1980987"/>
            <a:ext cx="9243932" cy="1349566"/>
          </a:xfrm>
          <a:prstGeom prst="rect">
            <a:avLst/>
          </a:prstGeom>
        </p:spPr>
      </p:pic>
      <p:pic>
        <p:nvPicPr>
          <p:cNvPr id="11" name="Picture 10">
            <a:extLst>
              <a:ext uri="{FF2B5EF4-FFF2-40B4-BE49-F238E27FC236}">
                <a16:creationId xmlns:a16="http://schemas.microsoft.com/office/drawing/2014/main" id="{6B7C83CA-03D0-7626-308E-7CE111534218}"/>
              </a:ext>
            </a:extLst>
          </p:cNvPr>
          <p:cNvPicPr/>
          <p:nvPr/>
        </p:nvPicPr>
        <p:blipFill>
          <a:blip r:embed="rId4">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F0092A21-3382-F255-270E-BE0BDE056D4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sz="1800" b="1">
                <a:effectLst/>
                <a:latin typeface="Sassoon Infant Rg" panose="02000503030000020003" pitchFamily="2" charset="0"/>
                <a:ea typeface="Sassoon Infant Rg" panose="02000503030000020003" pitchFamily="2" charset="0"/>
                <a:cs typeface="Times New Roman" panose="02020603050405020304" pitchFamily="18" charset="0"/>
              </a:rPr>
              <a:t>Paired reading</a:t>
            </a:r>
            <a:r>
              <a:rPr lang="en-GB" sz="1800">
                <a:effectLst/>
                <a:latin typeface="Sassoon Infant Rg" panose="02000503030000020003" pitchFamily="2" charset="0"/>
                <a:ea typeface="Sassoon Infant Rg" panose="02000503030000020003" pitchFamily="2" charset="0"/>
                <a:cs typeface="Times New Roman" panose="02020603050405020304" pitchFamily="18" charset="0"/>
              </a:rPr>
              <a:t xml:space="preserve">.  </a:t>
            </a:r>
            <a:r>
              <a:rPr lang="en-GB" sz="1800">
                <a:latin typeface="Sassoon Infant Rg" panose="02000503030000020003" pitchFamily="2" charset="0"/>
                <a:ea typeface="Sassoon Infant Rg" panose="02000503030000020003" pitchFamily="2" charset="0"/>
                <a:cs typeface="Times New Roman" panose="02020603050405020304" pitchFamily="18" charset="0"/>
              </a:rPr>
              <a:t>Read the text with a partner, taking turns sentence by sentence. Focus on reading smoothly and clearly, matching your pace to the punctuation.</a:t>
            </a:r>
            <a:endParaRPr lang="en-GB" b="1"/>
          </a:p>
        </p:txBody>
      </p:sp>
      <p:grpSp>
        <p:nvGrpSpPr>
          <p:cNvPr id="7" name="Group 6">
            <a:extLst>
              <a:ext uri="{FF2B5EF4-FFF2-40B4-BE49-F238E27FC236}">
                <a16:creationId xmlns:a16="http://schemas.microsoft.com/office/drawing/2014/main" id="{2F4A7F38-FB96-EA15-05EC-03CFFB5CBE42}"/>
              </a:ext>
            </a:extLst>
          </p:cNvPr>
          <p:cNvGrpSpPr/>
          <p:nvPr/>
        </p:nvGrpSpPr>
        <p:grpSpPr>
          <a:xfrm>
            <a:off x="10349575" y="2457302"/>
            <a:ext cx="1316831" cy="1316831"/>
            <a:chOff x="5180554" y="3075697"/>
            <a:chExt cx="1316831" cy="1316831"/>
          </a:xfrm>
        </p:grpSpPr>
        <p:sp>
          <p:nvSpPr>
            <p:cNvPr id="9" name="Oval 8">
              <a:extLst>
                <a:ext uri="{FF2B5EF4-FFF2-40B4-BE49-F238E27FC236}">
                  <a16:creationId xmlns:a16="http://schemas.microsoft.com/office/drawing/2014/main" id="{230C30F1-14D6-3E62-897A-05259DF04DDD}"/>
                </a:ext>
              </a:extLst>
            </p:cNvPr>
            <p:cNvSpPr/>
            <p:nvPr/>
          </p:nvSpPr>
          <p:spPr>
            <a:xfrm>
              <a:off x="5180554" y="3075697"/>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0" name="Oval 4">
              <a:extLst>
                <a:ext uri="{FF2B5EF4-FFF2-40B4-BE49-F238E27FC236}">
                  <a16:creationId xmlns:a16="http://schemas.microsoft.com/office/drawing/2014/main" id="{94AC7F2E-0C00-B939-4106-51835EB2A269}"/>
                </a:ext>
              </a:extLst>
            </p:cNvPr>
            <p:cNvSpPr txBox="1"/>
            <p:nvPr/>
          </p:nvSpPr>
          <p:spPr>
            <a:xfrm>
              <a:off x="5373399" y="3268542"/>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effectLst/>
                  <a:latin typeface="Sassoon Infant Rg" panose="02000503030000020003" pitchFamily="2" charset="0"/>
                  <a:ea typeface="Sassoon Infant Rg" panose="02000503030000020003" pitchFamily="2" charset="0"/>
                </a:rPr>
                <a:t>Fluency &amp; Expression</a:t>
              </a:r>
            </a:p>
          </p:txBody>
        </p:sp>
      </p:grpSp>
      <p:sp>
        <p:nvSpPr>
          <p:cNvPr id="6" name="Rounded Rectangle 5">
            <a:extLst>
              <a:ext uri="{FF2B5EF4-FFF2-40B4-BE49-F238E27FC236}">
                <a16:creationId xmlns:a16="http://schemas.microsoft.com/office/drawing/2014/main" id="{D7466D49-4660-7227-B771-06F3B6102B62}"/>
              </a:ext>
            </a:extLst>
          </p:cNvPr>
          <p:cNvSpPr/>
          <p:nvPr/>
        </p:nvSpPr>
        <p:spPr>
          <a:xfrm>
            <a:off x="8019658" y="624524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5" name="TextBox 14">
            <a:extLst>
              <a:ext uri="{FF2B5EF4-FFF2-40B4-BE49-F238E27FC236}">
                <a16:creationId xmlns:a16="http://schemas.microsoft.com/office/drawing/2014/main" id="{DB1CFDC9-8812-2D57-F259-9934E0E81FC7}"/>
              </a:ext>
            </a:extLst>
          </p:cNvPr>
          <p:cNvSpPr txBox="1"/>
          <p:nvPr/>
        </p:nvSpPr>
        <p:spPr>
          <a:xfrm>
            <a:off x="183063" y="1034693"/>
            <a:ext cx="11864557" cy="5093190"/>
          </a:xfrm>
          <a:prstGeom prst="rect">
            <a:avLst/>
          </a:prstGeom>
          <a:solidFill>
            <a:schemeClr val="accent5">
              <a:lumMod val="20000"/>
              <a:lumOff val="80000"/>
            </a:schemeClr>
          </a:solidFill>
          <a:ln>
            <a:noFill/>
          </a:ln>
        </p:spPr>
        <p:txBody>
          <a:bodyPr wrap="square" anchor="ctr">
            <a:normAutofit/>
          </a:bodyPr>
          <a:lstStyle/>
          <a:p>
            <a:r>
              <a:rPr lang="en-GB" sz="2200"/>
              <a:t>Brazil is one of the most culturally diverse countries in the world. Its people speak Portuguese, which arrived with European settlers in the 1500s, but hundreds of indigenous languages are still spoken by communities across the Amazon basin. Over centuries, Brazil welcomed waves of immigrants from Africa, Japan, Italy, Germany and Lebanon, each bringing their own customs, food and traditions. This extraordinary blend of heritage has shaped modern Brazilian culture into something vivid and unlike anywhere else on Earth. England, too, has been shaped by the movement of people. Latin, French, Norse and Saxon languages all left their mark on English, which today borrows from more languages than almost any other tongue on the planet. Festivals like Diwali, Eid and Chinese New Year are celebrated in English cities alongside traditions that have existed for centuries. Though England is a far smaller country than Brazil, it holds a rich patchwork of local dialects, accents and customs — a Geordie from Newcastle speaks very differently to someone from Bristol. Culture is not fixed. In both countries, it changes and grows as communities share food, music, language and ideas. In Brazil, Carnival — the enormous annual festival of music, dance and costume — draws people from every region and background together in a great, joyful spectacle. In England, summer fetes, bonfire night and football bind communities in their own quieter ways. Despite the differences in scale, language and geography, both nations show that culture is always alive and always moving.</a:t>
            </a:r>
            <a:endParaRPr lang="en-GB" sz="2200" noProof="0"/>
          </a:p>
        </p:txBody>
      </p:sp>
      <mc:AlternateContent xmlns:mc="http://schemas.openxmlformats.org/markup-compatibility/2006">
        <mc:Choice xmlns:p14="http://schemas.microsoft.com/office/powerpoint/2010/main" Requires="p14">
          <p:contentPart p14:bwMode="auto" r:id="rId5">
            <p14:nvContentPartPr>
              <p14:cNvPr id="3" name="Ink 2">
                <a:extLst>
                  <a:ext uri="{FF2B5EF4-FFF2-40B4-BE49-F238E27FC236}">
                    <a16:creationId xmlns:a16="http://schemas.microsoft.com/office/drawing/2014/main" id="{3EE41BA5-6181-DB30-A716-2A581FAABB59}"/>
                  </a:ext>
                </a:extLst>
              </p14:cNvPr>
              <p14:cNvContentPartPr/>
              <p14:nvPr/>
            </p14:nvContentPartPr>
            <p14:xfrm>
              <a:off x="1807560" y="4751640"/>
              <a:ext cx="2464920" cy="1620000"/>
            </p14:xfrm>
          </p:contentPart>
        </mc:Choice>
        <mc:Fallback>
          <p:pic>
            <p:nvPicPr>
              <p:cNvPr id="3" name="Ink 2">
                <a:extLst>
                  <a:ext uri="{FF2B5EF4-FFF2-40B4-BE49-F238E27FC236}">
                    <a16:creationId xmlns:a16="http://schemas.microsoft.com/office/drawing/2014/main" id="{3EE41BA5-6181-DB30-A716-2A581FAABB59}"/>
                  </a:ext>
                </a:extLst>
              </p:cNvPr>
              <p:cNvPicPr/>
              <p:nvPr/>
            </p:nvPicPr>
            <p:blipFill>
              <a:blip r:embed="rId6"/>
              <a:stretch>
                <a:fillRect/>
              </a:stretch>
            </p:blipFill>
            <p:spPr>
              <a:xfrm>
                <a:off x="1798200" y="4742280"/>
                <a:ext cx="2483640" cy="1638720"/>
              </a:xfrm>
              <a:prstGeom prst="rect">
                <a:avLst/>
              </a:prstGeom>
            </p:spPr>
          </p:pic>
        </mc:Fallback>
      </mc:AlternateContent>
    </p:spTree>
    <p:extLst>
      <p:ext uri="{BB962C8B-B14F-4D97-AF65-F5344CB8AC3E}">
        <p14:creationId xmlns:p14="http://schemas.microsoft.com/office/powerpoint/2010/main" val="303222904"/>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6"/>
                  </p:tgtEl>
                </p:cond>
              </p:nextCondLst>
            </p:seq>
          </p:childTnLst>
        </p:cTn>
      </p:par>
    </p:tnLst>
    <p:bldLst>
      <p:bldP spid="15" grpId="0" animBg="1"/>
      <p:bldP spid="15" grpId="1"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7023D4CD-427D-4829-87ED-E2CC3EF8D760}"/>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A35914BD-597C-4EC9-A8CC-64938F558A31}"/>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FE91008D-524B-4E64-AED8-DADBF402F1F1}"/>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3B1F94B5-AE2B-4839-8A01-9D2FC48647A0}"/>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01F4601C-78F0-408A-BFB4-D2C386D5BE41}"/>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0F52BAE7-58D2-4ABA-B083-76155F063DF0}"/>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2308B9F9-02B7-4539-8FBF-46AC5DCEA9AA}"/>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6A1CB78E-9D4B-4986-8879-83568C225091}"/>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CF45870B-7F74-4D54-8596-BFA710ED989D}"/>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EA65950C-D815-47D7-8502-EDD27BCB7185}"/>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9616B4D3-C46F-48F5-8695-1B7F3A82ADA3}"/>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03BB604F-2FA6-4611-A323-4B2AD52B72FE}"/>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198215EB-E5DE-4419-AF3E-61B06E6ECF56}"/>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5002CF86-309B-4BC1-AAB4-D91F81D726FF}"/>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find and extract information from within a text.</a:t>
            </a:r>
          </a:p>
        </p:txBody>
      </p:sp>
      <p:sp>
        <p:nvSpPr>
          <p:cNvPr id="20" name="Rectangle 19">
            <a:extLst>
              <a:ext uri="{FF2B5EF4-FFF2-40B4-BE49-F238E27FC236}">
                <a16:creationId xmlns:a16="http://schemas.microsoft.com/office/drawing/2014/main" id="{06F95318-6BA1-4E64-BFC4-CA399BC0C6E8}"/>
              </a:ext>
            </a:extLst>
          </p:cNvPr>
          <p:cNvSpPr/>
          <p:nvPr/>
        </p:nvSpPr>
        <p:spPr>
          <a:xfrm>
            <a:off x="5597291" y="4824722"/>
            <a:ext cx="5583685" cy="830997"/>
          </a:xfrm>
          <a:prstGeom prst="rect">
            <a:avLst/>
          </a:prstGeom>
          <a:noFill/>
        </p:spPr>
        <p:txBody>
          <a:bodyPr wrap="square">
            <a:spAutoFit/>
          </a:bodyPr>
          <a:lstStyle/>
          <a:p>
            <a:r>
              <a:rPr lang="en-GB" sz="2400">
                <a:latin typeface="+mj-lt"/>
              </a:rPr>
              <a:t>I will show this by answering questions, making reference to the text.</a:t>
            </a:r>
          </a:p>
        </p:txBody>
      </p:sp>
      <p:grpSp>
        <p:nvGrpSpPr>
          <p:cNvPr id="26" name="Group 25">
            <a:extLst>
              <a:ext uri="{FF2B5EF4-FFF2-40B4-BE49-F238E27FC236}">
                <a16:creationId xmlns:a16="http://schemas.microsoft.com/office/drawing/2014/main" id="{2B08C31D-ED97-4B43-811F-A2D5B7EC5D3F}"/>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4A04811F-4042-449A-B9D1-E2A88F2EF32C}"/>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4CFC6DFC-1FF7-406B-91CA-DEF258FBDA0F}"/>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5B068E6C-5697-4CD7-B539-8E733F24A280}"/>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D8ECF509-D074-4A96-BD14-1B7F8C9EF352}"/>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E3884F2F-92E8-4449-B9C6-4BB79443B2D3}"/>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54230F3D-A112-7284-873F-C56C8ED18544}"/>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a clear understanding of what I am reading.</a:t>
            </a:r>
          </a:p>
        </p:txBody>
      </p:sp>
      <p:grpSp>
        <p:nvGrpSpPr>
          <p:cNvPr id="2" name="Group 1">
            <a:extLst>
              <a:ext uri="{FF2B5EF4-FFF2-40B4-BE49-F238E27FC236}">
                <a16:creationId xmlns:a16="http://schemas.microsoft.com/office/drawing/2014/main" id="{63BCCA52-B2F9-1150-2EC2-A8A910DE6CDF}"/>
              </a:ext>
            </a:extLst>
          </p:cNvPr>
          <p:cNvGrpSpPr/>
          <p:nvPr/>
        </p:nvGrpSpPr>
        <p:grpSpPr>
          <a:xfrm>
            <a:off x="10604358" y="118545"/>
            <a:ext cx="1530874" cy="2012378"/>
            <a:chOff x="8657485" y="829505"/>
            <a:chExt cx="1316831" cy="1668805"/>
          </a:xfrm>
        </p:grpSpPr>
        <p:grpSp>
          <p:nvGrpSpPr>
            <p:cNvPr id="24" name="Group 23">
              <a:extLst>
                <a:ext uri="{FF2B5EF4-FFF2-40B4-BE49-F238E27FC236}">
                  <a16:creationId xmlns:a16="http://schemas.microsoft.com/office/drawing/2014/main" id="{9DF1F7D1-5BF2-255E-1221-DF66584F31C4}"/>
                </a:ext>
              </a:extLst>
            </p:cNvPr>
            <p:cNvGrpSpPr/>
            <p:nvPr/>
          </p:nvGrpSpPr>
          <p:grpSpPr>
            <a:xfrm>
              <a:off x="8657485" y="829505"/>
              <a:ext cx="1316831" cy="1316831"/>
              <a:chOff x="3405584" y="4100477"/>
              <a:chExt cx="1316831" cy="1316831"/>
            </a:xfrm>
          </p:grpSpPr>
          <p:sp>
            <p:nvSpPr>
              <p:cNvPr id="31" name="Oval 30">
                <a:extLst>
                  <a:ext uri="{FF2B5EF4-FFF2-40B4-BE49-F238E27FC236}">
                    <a16:creationId xmlns:a16="http://schemas.microsoft.com/office/drawing/2014/main" id="{36527B03-E8B0-B308-5625-5D60701BABC9}"/>
                  </a:ext>
                </a:extLst>
              </p:cNvPr>
              <p:cNvSpPr/>
              <p:nvPr/>
            </p:nvSpPr>
            <p:spPr>
              <a:xfrm>
                <a:off x="3405584" y="4100477"/>
                <a:ext cx="1316831" cy="1316831"/>
              </a:xfrm>
              <a:prstGeom prst="ellipse">
                <a:avLst/>
              </a:prstGeom>
              <a:solidFill>
                <a:srgbClr val="FFD5EE"/>
              </a:solidFill>
              <a:ln w="38100">
                <a:solidFill>
                  <a:srgbClr val="CD007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32" name="Oval 4">
                <a:extLst>
                  <a:ext uri="{FF2B5EF4-FFF2-40B4-BE49-F238E27FC236}">
                    <a16:creationId xmlns:a16="http://schemas.microsoft.com/office/drawing/2014/main" id="{311692BE-7960-B1C4-FAA2-65AA32C03A40}"/>
                  </a:ext>
                </a:extLst>
              </p:cNvPr>
              <p:cNvSpPr txBox="1"/>
              <p:nvPr/>
            </p:nvSpPr>
            <p:spPr>
              <a:xfrm>
                <a:off x="3598429" y="4293322"/>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GB" sz="1200" b="1" kern="1200">
                    <a:solidFill>
                      <a:srgbClr val="CD007A"/>
                    </a:solidFill>
                    <a:latin typeface="Sassoon Infant Rg" panose="02000503030000020003" pitchFamily="2" charset="0"/>
                    <a:ea typeface="Sassoon Infant Rg" panose="02000503030000020003" pitchFamily="2" charset="0"/>
                  </a:rPr>
                  <a:t>Discuss &amp; explain thinking &amp; understanding</a:t>
                </a:r>
              </a:p>
            </p:txBody>
          </p:sp>
        </p:grpSp>
        <p:sp>
          <p:nvSpPr>
            <p:cNvPr id="25" name="TextBox 24">
              <a:extLst>
                <a:ext uri="{FF2B5EF4-FFF2-40B4-BE49-F238E27FC236}">
                  <a16:creationId xmlns:a16="http://schemas.microsoft.com/office/drawing/2014/main" id="{0E3DBC74-DEF3-15BE-F488-6929DEE9B83C}"/>
                </a:ext>
              </a:extLst>
            </p:cNvPr>
            <p:cNvSpPr txBox="1"/>
            <p:nvPr/>
          </p:nvSpPr>
          <p:spPr>
            <a:xfrm>
              <a:off x="8826392" y="2243080"/>
              <a:ext cx="979015" cy="255230"/>
            </a:xfrm>
            <a:prstGeom prst="rect">
              <a:avLst/>
            </a:prstGeom>
            <a:noFill/>
          </p:spPr>
          <p:txBody>
            <a:bodyPr wrap="square" rtlCol="0">
              <a:spAutoFit/>
            </a:bodyPr>
            <a:lstStyle/>
            <a:p>
              <a:pPr algn="ctr"/>
              <a:r>
                <a:rPr lang="en-GB" sz="1400" b="1">
                  <a:solidFill>
                    <a:srgbClr val="CD007A"/>
                  </a:solidFill>
                </a:rPr>
                <a:t>retrieve</a:t>
              </a:r>
            </a:p>
          </p:txBody>
        </p:sp>
      </p:grpSp>
    </p:spTree>
    <p:extLst>
      <p:ext uri="{BB962C8B-B14F-4D97-AF65-F5344CB8AC3E}">
        <p14:creationId xmlns:p14="http://schemas.microsoft.com/office/powerpoint/2010/main" val="19171547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5DDB52-DA63-044E-52E1-B8873C55D66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A83BB0C-F58E-DA56-564A-0BADE2422FC9}"/>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2" name="TextBox 1">
            <a:extLst>
              <a:ext uri="{FF2B5EF4-FFF2-40B4-BE49-F238E27FC236}">
                <a16:creationId xmlns:a16="http://schemas.microsoft.com/office/drawing/2014/main" id="{640BB64A-1496-7976-37EB-DCEEC8FBF17F}"/>
              </a:ext>
            </a:extLst>
          </p:cNvPr>
          <p:cNvSpPr txBox="1"/>
          <p:nvPr/>
        </p:nvSpPr>
        <p:spPr>
          <a:xfrm>
            <a:off x="378830" y="1843059"/>
            <a:ext cx="11713854" cy="3429144"/>
          </a:xfrm>
          <a:prstGeom prst="rect">
            <a:avLst/>
          </a:prstGeom>
          <a:noFill/>
        </p:spPr>
        <p:txBody>
          <a:bodyPr wrap="square" rtlCol="0">
            <a:spAutoFit/>
          </a:bodyPr>
          <a:lstStyle/>
          <a:p>
            <a:pPr lvl="1">
              <a:spcAft>
                <a:spcPts val="500"/>
              </a:spcAft>
            </a:pPr>
            <a:r>
              <a:rPr lang="en-GB" sz="2200"/>
              <a:t>What language do most people in Brazil speak, and where did it come from?</a:t>
            </a:r>
          </a:p>
          <a:p>
            <a:pPr lvl="1">
              <a:spcAft>
                <a:spcPts val="500"/>
              </a:spcAft>
            </a:pPr>
            <a:r>
              <a:rPr lang="en-GB" sz="2200"/>
              <a:t>Portuguese, which arrived with European settlers in the 1500s.</a:t>
            </a:r>
          </a:p>
          <a:p>
            <a:pPr lvl="1">
              <a:spcAft>
                <a:spcPts val="500"/>
              </a:spcAft>
            </a:pPr>
            <a:endParaRPr lang="en-GB" sz="2200"/>
          </a:p>
          <a:p>
            <a:pPr lvl="1">
              <a:spcAft>
                <a:spcPts val="500"/>
              </a:spcAft>
            </a:pPr>
            <a:r>
              <a:rPr lang="en-GB" sz="2200"/>
              <a:t>What does 'heritage' mean?</a:t>
            </a:r>
          </a:p>
          <a:p>
            <a:pPr lvl="1">
              <a:spcAft>
                <a:spcPts val="500"/>
              </a:spcAft>
            </a:pPr>
            <a:r>
              <a:rPr lang="en-GB" sz="2200"/>
              <a:t>The traditions, values and customs passed down through generations.</a:t>
            </a:r>
          </a:p>
          <a:p>
            <a:pPr lvl="1">
              <a:spcAft>
                <a:spcPts val="500"/>
              </a:spcAft>
            </a:pPr>
            <a:endParaRPr lang="en-GB" sz="2200"/>
          </a:p>
        </p:txBody>
      </p:sp>
      <p:sp>
        <p:nvSpPr>
          <p:cNvPr id="6" name="TextBox 5">
            <a:extLst>
              <a:ext uri="{FF2B5EF4-FFF2-40B4-BE49-F238E27FC236}">
                <a16:creationId xmlns:a16="http://schemas.microsoft.com/office/drawing/2014/main" id="{5BDAB0E7-50E0-A284-5814-9D1241C67513}"/>
              </a:ext>
            </a:extLst>
          </p:cNvPr>
          <p:cNvSpPr txBox="1"/>
          <p:nvPr/>
        </p:nvSpPr>
        <p:spPr>
          <a:xfrm>
            <a:off x="288098" y="335454"/>
            <a:ext cx="6329618" cy="707886"/>
          </a:xfrm>
          <a:prstGeom prst="rect">
            <a:avLst/>
          </a:prstGeom>
          <a:noFill/>
        </p:spPr>
        <p:txBody>
          <a:bodyPr wrap="none" rtlCol="0">
            <a:spAutoFit/>
          </a:bodyPr>
          <a:lstStyle/>
          <a:p>
            <a:r>
              <a:rPr lang="en-GB" sz="4000" b="1" u="sng"/>
              <a:t>Practice questions - Vocabulary</a:t>
            </a:r>
          </a:p>
        </p:txBody>
      </p:sp>
      <p:sp>
        <p:nvSpPr>
          <p:cNvPr id="3" name="TextBox 2">
            <a:extLst>
              <a:ext uri="{FF2B5EF4-FFF2-40B4-BE49-F238E27FC236}">
                <a16:creationId xmlns:a16="http://schemas.microsoft.com/office/drawing/2014/main" id="{68036728-B080-EA83-ECF1-479482CB4A6C}"/>
              </a:ext>
            </a:extLst>
          </p:cNvPr>
          <p:cNvSpPr txBox="1"/>
          <p:nvPr/>
        </p:nvSpPr>
        <p:spPr>
          <a:xfrm>
            <a:off x="288098" y="937015"/>
            <a:ext cx="10156370" cy="369332"/>
          </a:xfrm>
          <a:prstGeom prst="rect">
            <a:avLst/>
          </a:prstGeom>
          <a:noFill/>
        </p:spPr>
        <p:txBody>
          <a:bodyPr wrap="none" rtlCol="0">
            <a:spAutoFit/>
          </a:bodyPr>
          <a:lstStyle/>
          <a:p>
            <a:r>
              <a:rPr lang="en-GB"/>
              <a:t>Scanning the text – I am trying to find the parts in the text where I will retrieve the answer to the question.</a:t>
            </a:r>
          </a:p>
        </p:txBody>
      </p:sp>
      <p:sp>
        <p:nvSpPr>
          <p:cNvPr id="7" name="TextBox 6">
            <a:extLst>
              <a:ext uri="{FF2B5EF4-FFF2-40B4-BE49-F238E27FC236}">
                <a16:creationId xmlns:a16="http://schemas.microsoft.com/office/drawing/2014/main" id="{62ABBBA0-AF7C-8A47-0810-0E93014D5573}"/>
              </a:ext>
            </a:extLst>
          </p:cNvPr>
          <p:cNvSpPr txBox="1"/>
          <p:nvPr/>
        </p:nvSpPr>
        <p:spPr>
          <a:xfrm>
            <a:off x="739293" y="5447777"/>
            <a:ext cx="10292816" cy="830997"/>
          </a:xfrm>
          <a:prstGeom prst="rect">
            <a:avLst/>
          </a:prstGeom>
          <a:noFill/>
        </p:spPr>
        <p:txBody>
          <a:bodyPr wrap="square" rtlCol="0">
            <a:spAutoFit/>
          </a:bodyPr>
          <a:lstStyle/>
          <a:p>
            <a:r>
              <a:rPr lang="en-GB" sz="2400"/>
              <a:t>Checking my answers – does my answer match the question and use information from the text?</a:t>
            </a:r>
          </a:p>
        </p:txBody>
      </p:sp>
      <p:sp>
        <p:nvSpPr>
          <p:cNvPr id="9" name="TextBox 8">
            <a:extLst>
              <a:ext uri="{FF2B5EF4-FFF2-40B4-BE49-F238E27FC236}">
                <a16:creationId xmlns:a16="http://schemas.microsoft.com/office/drawing/2014/main" id="{C39F0976-7660-64BA-E055-E6E60B65E8BB}"/>
              </a:ext>
            </a:extLst>
          </p:cNvPr>
          <p:cNvSpPr txBox="1"/>
          <p:nvPr/>
        </p:nvSpPr>
        <p:spPr>
          <a:xfrm>
            <a:off x="378830" y="1512948"/>
            <a:ext cx="11434340" cy="3853893"/>
          </a:xfrm>
          <a:prstGeom prst="rect">
            <a:avLst/>
          </a:prstGeom>
          <a:solidFill>
            <a:schemeClr val="accent5">
              <a:lumMod val="20000"/>
              <a:lumOff val="80000"/>
            </a:schemeClr>
          </a:solidFill>
        </p:spPr>
        <p:txBody>
          <a:bodyPr wrap="square" anchor="ctr">
            <a:normAutofit fontScale="92500"/>
          </a:bodyPr>
          <a:lstStyle/>
          <a:p>
            <a:r>
              <a:rPr lang="en-GB" sz="2200"/>
              <a:t>Brazil is one of the most culturally diverse countries in the world. Its people speak Portuguese, which arrived with European settlers in the 1500s, but hundreds of indigenous languages are still spoken by communities across the Amazon basin. Over centuries, Brazil welcomed waves of immigrants from Africa, Japan, Italy, Germany and Lebanon, each bringing their own customs, food and traditions. This extraordinary blend of heritage has shaped modern Brazilian culture into something vivid and unlike anywhere else on Earth. England, too, has been shaped by the movement of people. Latin, French, Norse and Saxon languages all left their mark on English, which today borrows from more languages than almost any other tongue on the planet. Festivals like Diwali, Eid and Chinese New Year are celebrated in English cities alongside traditions that have existed for centuries. Though England is a far smaller country than Brazil, it holds a rich patchwork of local dialects, accents and customs — a Geordie from Newcastle speaks very differently to someone from Bristol. Culture is not fixed. In both countries, it changes and grows as communities share food, music, language and ideas. In Brazil, Carnival — the enormous annual festival of music, dance and costume — draws people from every region and background together in a great, joyful spectacle. In England, summer fetes, bonfire night and football bind communities in their own quieter ways. Despite the differences in scale, language and geography, both nations show that culture is always alive and always moving.</a:t>
            </a:r>
          </a:p>
        </p:txBody>
      </p:sp>
      <p:sp>
        <p:nvSpPr>
          <p:cNvPr id="8" name="Rounded Rectangle 7">
            <a:extLst>
              <a:ext uri="{FF2B5EF4-FFF2-40B4-BE49-F238E27FC236}">
                <a16:creationId xmlns:a16="http://schemas.microsoft.com/office/drawing/2014/main" id="{1F9C4591-5FD6-13A6-965E-8E77A5CE3342}"/>
              </a:ext>
            </a:extLst>
          </p:cNvPr>
          <p:cNvSpPr/>
          <p:nvPr/>
        </p:nvSpPr>
        <p:spPr>
          <a:xfrm>
            <a:off x="8019658" y="624524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pic>
        <p:nvPicPr>
          <p:cNvPr id="4" name="Picture 3">
            <a:extLst>
              <a:ext uri="{FF2B5EF4-FFF2-40B4-BE49-F238E27FC236}">
                <a16:creationId xmlns:a16="http://schemas.microsoft.com/office/drawing/2014/main" id="{98C313D4-3635-57FE-CBB6-13AFE64BC9F7}"/>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Tree>
    <p:extLst>
      <p:ext uri="{BB962C8B-B14F-4D97-AF65-F5344CB8AC3E}">
        <p14:creationId xmlns:p14="http://schemas.microsoft.com/office/powerpoint/2010/main" val="412702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7" restart="whenNotActive" fill="hold" evtFilter="cancelBubble" nodeType="interactiveSeq">
                <p:stCondLst>
                  <p:cond evt="onClick" delay="0">
                    <p:tgtEl>
                      <p:spTgt spid="8"/>
                    </p:tgtEl>
                  </p:cond>
                </p:stCondLst>
                <p:endSync evt="end" delay="0">
                  <p:rtn val="all"/>
                </p:endSync>
                <p:childTnLst>
                  <p:par>
                    <p:cTn id="28" fill="hold">
                      <p:stCondLst>
                        <p:cond delay="0"/>
                      </p:stCondLst>
                      <p:childTnLst>
                        <p:par>
                          <p:cTn id="29" fill="hold">
                            <p:stCondLst>
                              <p:cond delay="0"/>
                            </p:stCondLst>
                            <p:childTnLst>
                              <p:par>
                                <p:cTn id="30" presetID="1" presetClass="entr" presetSubtype="0" fill="hold" grpId="0" nodeType="withEffect">
                                  <p:stCondLst>
                                    <p:cond delay="0"/>
                                  </p:stCondLst>
                                  <p:childTnLst>
                                    <p:set>
                                      <p:cBhvr>
                                        <p:cTn id="31" dur="1" fill="hold">
                                          <p:stCondLst>
                                            <p:cond delay="0"/>
                                          </p:stCondLst>
                                        </p:cTn>
                                        <p:tgtEl>
                                          <p:spTgt spid="9"/>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xit" presetSubtype="0" fill="hold" grpId="1" nodeType="clickEffect">
                                  <p:stCondLst>
                                    <p:cond delay="0"/>
                                  </p:stCondLst>
                                  <p:childTnLst>
                                    <p:set>
                                      <p:cBhvr>
                                        <p:cTn id="35" dur="1" fill="hold">
                                          <p:stCondLst>
                                            <p:cond delay="0"/>
                                          </p:stCondLst>
                                        </p:cTn>
                                        <p:tgtEl>
                                          <p:spTgt spid="9"/>
                                        </p:tgtEl>
                                        <p:attrNameLst>
                                          <p:attrName>style.visibility</p:attrName>
                                        </p:attrNameLst>
                                      </p:cBhvr>
                                      <p:to>
                                        <p:strVal val="hidden"/>
                                      </p:to>
                                    </p:set>
                                  </p:childTnLst>
                                </p:cTn>
                              </p:par>
                            </p:childTnLst>
                          </p:cTn>
                        </p:par>
                      </p:childTnLst>
                    </p:cTn>
                  </p:par>
                </p:childTnLst>
              </p:cTn>
              <p:nextCondLst>
                <p:cond evt="onClick" delay="0">
                  <p:tgtEl>
                    <p:spTgt spid="8"/>
                  </p:tgtEl>
                </p:cond>
              </p:nextCondLst>
            </p:seq>
          </p:childTnLst>
        </p:cTn>
      </p:par>
    </p:tnLst>
    <p:bldLst>
      <p:bldP spid="7" grpId="0"/>
      <p:bldP spid="9" grpId="0" animBg="1"/>
      <p:bldP spid="9" grpId="1"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568895" y="211840"/>
            <a:ext cx="3039122" cy="3522775"/>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3" name="TextBox 2">
            <a:extLst>
              <a:ext uri="{FF2B5EF4-FFF2-40B4-BE49-F238E27FC236}">
                <a16:creationId xmlns:a16="http://schemas.microsoft.com/office/drawing/2014/main" id="{9AA1DE16-8C7B-4868-2DE3-9C9C7D7D4324}"/>
              </a:ext>
            </a:extLst>
          </p:cNvPr>
          <p:cNvSpPr txBox="1"/>
          <p:nvPr/>
        </p:nvSpPr>
        <p:spPr>
          <a:xfrm>
            <a:off x="0" y="4552141"/>
            <a:ext cx="12192000" cy="707886"/>
          </a:xfrm>
          <a:prstGeom prst="rect">
            <a:avLst/>
          </a:prstGeom>
          <a:noFill/>
        </p:spPr>
        <p:txBody>
          <a:bodyPr wrap="square" rtlCol="0">
            <a:spAutoFit/>
          </a:bodyPr>
          <a:lstStyle/>
          <a:p>
            <a:pPr algn="ctr"/>
            <a:r>
              <a:rPr lang="en-GB" sz="4000"/>
              <a:t>Retrieval</a:t>
            </a:r>
            <a:endParaRPr lang="en-GB"/>
          </a:p>
        </p:txBody>
      </p:sp>
      <p:sp>
        <p:nvSpPr>
          <p:cNvPr id="6" name="TextBox 5">
            <a:extLst>
              <a:ext uri="{FF2B5EF4-FFF2-40B4-BE49-F238E27FC236}">
                <a16:creationId xmlns:a16="http://schemas.microsoft.com/office/drawing/2014/main" id="{2B18F8C8-4B63-E425-87CE-D13C91BCA056}"/>
              </a:ext>
            </a:extLst>
          </p:cNvPr>
          <p:cNvSpPr txBox="1"/>
          <p:nvPr/>
        </p:nvSpPr>
        <p:spPr>
          <a:xfrm>
            <a:off x="4423577" y="5199610"/>
            <a:ext cx="3329758" cy="1446550"/>
          </a:xfrm>
          <a:prstGeom prst="rect">
            <a:avLst/>
          </a:prstGeom>
          <a:noFill/>
        </p:spPr>
        <p:txBody>
          <a:bodyPr wrap="none" rtlCol="0" anchor="ctr">
            <a:spAutoFit/>
          </a:bodyPr>
          <a:lstStyle/>
          <a:p>
            <a:pPr algn="ctr"/>
            <a:r>
              <a:rPr lang="en-GB" sz="8800"/>
              <a:t>Wednesday</a:t>
            </a:r>
          </a:p>
        </p:txBody>
      </p:sp>
    </p:spTree>
    <p:extLst>
      <p:ext uri="{BB962C8B-B14F-4D97-AF65-F5344CB8AC3E}">
        <p14:creationId xmlns:p14="http://schemas.microsoft.com/office/powerpoint/2010/main" val="33036935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ACEAB2A-6943-1061-22CF-9EC0847829D7}"/>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D9DEE78A-07A9-5FF3-9D78-C0D9D21EEFB2}"/>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16D2B17F-CF26-33D2-B6F6-70299CA1A763}"/>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3DF6A32D-163D-40C2-BACF-C964E0035D2E}"/>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A25D9A8A-09E0-BBBE-0C18-2E1880E52773}"/>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950C5C2B-42CC-39EC-6847-EE394E29BB3C}"/>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121AB0E8-B43D-DFDE-C896-2046E6E618BA}"/>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85578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3C5AD-3309-A9A5-F848-B93CB7BC5FD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B9D8A55-04E7-0528-A165-9FB98DB89054}"/>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2E1FDC99-0FE5-B42D-815D-42276802132E}"/>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1E5DC868-7EB8-4F7D-7DAE-A2A8DBE0A20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DACB8AB4-1258-EA30-31A5-77EEA5A000F2}"/>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659AE26C-55EC-A139-FEFB-5E8B79ECFD3A}"/>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086FA3C6-53FE-7451-6D4F-7009D38010D4}"/>
              </a:ext>
            </a:extLst>
          </p:cNvPr>
          <p:cNvSpPr txBox="1"/>
          <p:nvPr/>
        </p:nvSpPr>
        <p:spPr>
          <a:xfrm>
            <a:off x="2442576" y="1217529"/>
            <a:ext cx="7503292" cy="646331"/>
          </a:xfrm>
          <a:prstGeom prst="rect">
            <a:avLst/>
          </a:prstGeom>
          <a:noFill/>
        </p:spPr>
        <p:txBody>
          <a:bodyPr wrap="square" rtlCol="0">
            <a:spAutoFit/>
          </a:bodyPr>
          <a:lstStyle/>
          <a:p>
            <a:r>
              <a:rPr lang="en-GB"/>
              <a:t>the large-scale cutting down of trees in a forested area</a:t>
            </a:r>
          </a:p>
        </p:txBody>
      </p:sp>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9F75FCCA-8003-024B-2B29-0EDF6D801F3D}"/>
                  </a:ext>
                </a:extLst>
              </p14:cNvPr>
              <p14:cNvContentPartPr/>
              <p14:nvPr/>
            </p14:nvContentPartPr>
            <p14:xfrm>
              <a:off x="9034477" y="550400"/>
              <a:ext cx="360" cy="360"/>
            </p14:xfrm>
          </p:contentPart>
        </mc:Choice>
        <mc:Fallback>
          <p:pic>
            <p:nvPicPr>
              <p:cNvPr id="3" name="Ink 2">
                <a:extLst>
                  <a:ext uri="{FF2B5EF4-FFF2-40B4-BE49-F238E27FC236}">
                    <a16:creationId xmlns:a16="http://schemas.microsoft.com/office/drawing/2014/main" id="{9F75FCCA-8003-024B-2B29-0EDF6D801F3D}"/>
                  </a:ext>
                </a:extLst>
              </p:cNvPr>
              <p:cNvPicPr/>
              <p:nvPr/>
            </p:nvPicPr>
            <p:blipFill>
              <a:blip r:embed="rId5"/>
              <a:stretch>
                <a:fillRect/>
              </a:stretch>
            </p:blipFill>
            <p:spPr>
              <a:xfrm>
                <a:off x="9025117" y="541040"/>
                <a:ext cx="19080" cy="19080"/>
              </a:xfrm>
              <a:prstGeom prst="rect">
                <a:avLst/>
              </a:prstGeom>
            </p:spPr>
          </p:pic>
        </mc:Fallback>
      </mc:AlternateContent>
      <p:graphicFrame>
        <p:nvGraphicFramePr>
          <p:cNvPr id="7" name="Table 6">
            <a:extLst>
              <a:ext uri="{FF2B5EF4-FFF2-40B4-BE49-F238E27FC236}">
                <a16:creationId xmlns:a16="http://schemas.microsoft.com/office/drawing/2014/main" id="{AD7A6C68-D614-2377-056B-781707D2F236}"/>
              </a:ext>
            </a:extLst>
          </p:cNvPr>
          <p:cNvGraphicFramePr>
            <a:graphicFrameLocks noGrp="1"/>
          </p:cNvGraphicFramePr>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deforestation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using natural resources carefully so they can continue to be available in the future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sustainability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the variety of plants and animals living in a particular area</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biodiversity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the protection and careful management of the natural environment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conservation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returning land to its natural state, allowing wildlife and habitats to recover</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rewilding</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vast, flat, treeless region where the ground beneath the surface is permanently frozen.</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114E80EC-EDEA-A9B8-0AA7-BDF4DBA738D9}"/>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3" name="Rectangle 12">
            <a:extLst>
              <a:ext uri="{FF2B5EF4-FFF2-40B4-BE49-F238E27FC236}">
                <a16:creationId xmlns:a16="http://schemas.microsoft.com/office/drawing/2014/main" id="{2CF9C0CB-B38A-8B6C-0680-46BD300AE1DC}"/>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7" name="Rectangle 16">
            <a:extLst>
              <a:ext uri="{FF2B5EF4-FFF2-40B4-BE49-F238E27FC236}">
                <a16:creationId xmlns:a16="http://schemas.microsoft.com/office/drawing/2014/main" id="{4BF34747-0A22-7E80-CA39-94571BB7D672}"/>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8" name="Rectangle 17">
            <a:extLst>
              <a:ext uri="{FF2B5EF4-FFF2-40B4-BE49-F238E27FC236}">
                <a16:creationId xmlns:a16="http://schemas.microsoft.com/office/drawing/2014/main" id="{FB910803-A54A-5B45-8345-8FFD7AC1C67C}"/>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9" name="Rectangle 18">
            <a:extLst>
              <a:ext uri="{FF2B5EF4-FFF2-40B4-BE49-F238E27FC236}">
                <a16:creationId xmlns:a16="http://schemas.microsoft.com/office/drawing/2014/main" id="{DB05B3E1-CB09-5A78-B03C-31610DE59A67}"/>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Tree>
    <p:extLst>
      <p:ext uri="{BB962C8B-B14F-4D97-AF65-F5344CB8AC3E}">
        <p14:creationId xmlns:p14="http://schemas.microsoft.com/office/powerpoint/2010/main" val="328723345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3"/>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childTnLst>
                    </p:cTn>
                  </p:par>
                </p:childTnLst>
              </p:cTn>
              <p:nextCondLst>
                <p:cond evt="onClick" delay="0">
                  <p:tgtEl>
                    <p:spTgt spid="13"/>
                  </p:tgtEl>
                </p:cond>
              </p:nextCondLst>
            </p:seq>
            <p:seq concurrent="1" nextAc="seek">
              <p:cTn id="12" restart="whenNotActive" fill="hold" evtFilter="cancelBubble" nodeType="interactiveSeq">
                <p:stCondLst>
                  <p:cond evt="onClick" delay="0">
                    <p:tgtEl>
                      <p:spTgt spid="17"/>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7" restart="whenNotActive" fill="hold" evtFilter="cancelBubble" nodeType="interactiveSeq">
                <p:stCondLst>
                  <p:cond evt="onClick" delay="0">
                    <p:tgtEl>
                      <p:spTgt spid="18"/>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22" restart="whenNotActive" fill="hold" evtFilter="cancelBubble" nodeType="interactiveSeq">
                <p:stCondLst>
                  <p:cond evt="onClick" delay="0">
                    <p:tgtEl>
                      <p:spTgt spid="19"/>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childTnLst>
        </p:cTn>
      </p:par>
    </p:tnLst>
    <p:bldLst>
      <p:bldP spid="16" grpId="0" animBg="1"/>
      <p:bldP spid="13" grpId="0" animBg="1"/>
      <p:bldP spid="17" grpId="0" animBg="1"/>
      <p:bldP spid="18" grpId="0" animBg="1"/>
      <p:bldP spid="1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497C-5676-F0CE-9C15-81908FA1F34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DCBDDC3-E8B4-5DB7-95EB-E4EB767438DF}"/>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4D7EC211-6C19-B85F-7D0D-25A8FEEA3637}"/>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6358CBDE-7D41-F226-3072-41F208B4D98A}"/>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9CDE4E57-6664-84F7-C8E9-8F4381A4D091}"/>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3B86A135-C8BF-2285-F3AA-0B4C5706CE90}"/>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07FF75F1-41FF-EEA3-B802-ED64112A7D02}"/>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98F68A2F-1F77-2878-BCF5-883045F28026}"/>
              </a:ext>
            </a:extLst>
          </p:cNvPr>
          <p:cNvGraphicFramePr>
            <a:graphicFrameLocks noGrp="1"/>
          </p:cNvGraphicFramePr>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b="0">
                        <a:solidFill>
                          <a:schemeClr val="tx1"/>
                        </a:solidFill>
                      </a:endParaRPr>
                    </a:p>
                    <a:p>
                      <a:pPr algn="ctr"/>
                      <a:r>
                        <a:rPr lang="en-GB" sz="3200" b="0">
                          <a:solidFill>
                            <a:schemeClr val="tx1"/>
                          </a:solidFill>
                          <a:latin typeface="XCCW Joined 4a" panose="03050602040000000000" pitchFamily="66" charset="77"/>
                        </a:rPr>
                        <a:t>sustainability</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755B9240-8989-B9DB-0B3B-B8D062E07BC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7904627B-45D6-BE36-7042-C69B53AD1828}"/>
              </a:ext>
            </a:extLst>
          </p:cNvPr>
          <p:cNvSpPr txBox="1"/>
          <p:nvPr/>
        </p:nvSpPr>
        <p:spPr>
          <a:xfrm>
            <a:off x="4766154" y="5299847"/>
            <a:ext cx="2400000" cy="480000"/>
          </a:xfrm>
          <a:prstGeom prst="rect">
            <a:avLst/>
          </a:prstGeom>
          <a:noFill/>
        </p:spPr>
        <p:txBody>
          <a:bodyPr wrap="square" rtlCol="0" anchor="ctr"/>
          <a:lstStyle/>
          <a:p>
            <a:pPr algn="ctr"/>
            <a:r>
              <a:rPr lang="en-GB"/>
              <a:t>sustainability</a:t>
            </a:r>
          </a:p>
        </p:txBody>
      </p:sp>
      <p:cxnSp>
        <p:nvCxnSpPr>
          <p:cNvPr id="12" name="Straight Connector 11">
            <a:extLst>
              <a:ext uri="{FF2B5EF4-FFF2-40B4-BE49-F238E27FC236}">
                <a16:creationId xmlns:a16="http://schemas.microsoft.com/office/drawing/2014/main" id="{483F9876-11CA-68D4-B5B9-503CB1452DDF}"/>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67DD069-433E-BF48-9167-8E5BCC114624}"/>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37026A-B5E7-A43B-7015-F91BED67059F}"/>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7576966-8817-48AF-F837-0832462F5E46}"/>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6EE6038E-2E20-39E1-51AA-382FB77B2D40}"/>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342315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7C8F1879-9C69-AABD-5D27-70A3FD61C54F}"/>
              </a:ext>
            </a:extLst>
          </p:cNvPr>
          <p:cNvGrpSpPr/>
          <p:nvPr/>
        </p:nvGrpSpPr>
        <p:grpSpPr>
          <a:xfrm>
            <a:off x="43957" y="90546"/>
            <a:ext cx="963274" cy="909579"/>
            <a:chOff x="1630613" y="1026138"/>
            <a:chExt cx="1316831" cy="1316831"/>
          </a:xfrm>
        </p:grpSpPr>
        <p:sp>
          <p:nvSpPr>
            <p:cNvPr id="4" name="Oval 3">
              <a:extLst>
                <a:ext uri="{FF2B5EF4-FFF2-40B4-BE49-F238E27FC236}">
                  <a16:creationId xmlns:a16="http://schemas.microsoft.com/office/drawing/2014/main" id="{C5A04DD0-FF30-895F-0ED9-888B47B1A02D}"/>
                </a:ext>
              </a:extLst>
            </p:cNvPr>
            <p:cNvSpPr/>
            <p:nvPr/>
          </p:nvSpPr>
          <p:spPr>
            <a:xfrm>
              <a:off x="1630613" y="1026138"/>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5" name="Oval 4">
              <a:extLst>
                <a:ext uri="{FF2B5EF4-FFF2-40B4-BE49-F238E27FC236}">
                  <a16:creationId xmlns:a16="http://schemas.microsoft.com/office/drawing/2014/main" id="{8EBD88F1-D64A-0A71-7434-4A250ABBD4E6}"/>
                </a:ext>
              </a:extLst>
            </p:cNvPr>
            <p:cNvSpPr txBox="1"/>
            <p:nvPr/>
          </p:nvSpPr>
          <p:spPr>
            <a:xfrm>
              <a:off x="1823458"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latin typeface="Sassoon Infant Rg" panose="02000503030000020003" pitchFamily="2" charset="0"/>
                  <a:ea typeface="Sassoon Infant Rg" panose="02000503030000020003" pitchFamily="2" charset="0"/>
                </a:rPr>
                <a:t>Decoding &amp; phonics</a:t>
              </a:r>
            </a:p>
          </p:txBody>
        </p:sp>
      </p:grpSp>
      <p:pic>
        <p:nvPicPr>
          <p:cNvPr id="11" name="Picture 10">
            <a:extLst>
              <a:ext uri="{FF2B5EF4-FFF2-40B4-BE49-F238E27FC236}">
                <a16:creationId xmlns:a16="http://schemas.microsoft.com/office/drawing/2014/main" id="{5B88EF2C-3893-9BD5-87F9-6BF0F699F9A5}"/>
              </a:ext>
            </a:extLst>
          </p:cNvPr>
          <p:cNvPicPr/>
          <p:nvPr/>
        </p:nvPicPr>
        <p:blipFill>
          <a:blip r:embed="rId3">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D07968F0-1915-728F-1F6D-2CB9277677F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Independent Read</a:t>
            </a:r>
          </a:p>
        </p:txBody>
      </p:sp>
      <p:sp>
        <p:nvSpPr>
          <p:cNvPr id="22" name="TextBox 21">
            <a:extLst>
              <a:ext uri="{FF2B5EF4-FFF2-40B4-BE49-F238E27FC236}">
                <a16:creationId xmlns:a16="http://schemas.microsoft.com/office/drawing/2014/main" id="{BBE494B4-E4A1-C48A-15E2-3683EA0AD086}"/>
              </a:ext>
            </a:extLst>
          </p:cNvPr>
          <p:cNvSpPr txBox="1"/>
          <p:nvPr/>
        </p:nvSpPr>
        <p:spPr>
          <a:xfrm>
            <a:off x="1" y="931322"/>
            <a:ext cx="12191999" cy="830997"/>
          </a:xfrm>
          <a:prstGeom prst="rect">
            <a:avLst/>
          </a:prstGeom>
          <a:noFill/>
        </p:spPr>
        <p:txBody>
          <a:bodyPr wrap="square">
            <a:spAutoFit/>
          </a:bodyPr>
          <a:lstStyle/>
          <a:p>
            <a:pPr algn="ctr"/>
            <a:r>
              <a:rPr lang="en-GB" sz="1800">
                <a:effectLst/>
                <a:latin typeface="Sassoon Infant Rg" panose="02000503030000020003" pitchFamily="2" charset="0"/>
                <a:ea typeface="Sassoon Infant Rg" panose="02000503030000020003" pitchFamily="2" charset="0"/>
                <a:cs typeface="Times New Roman" panose="02020603050405020304" pitchFamily="18" charset="0"/>
              </a:rPr>
              <a:t xml:space="preserve">Read the complete text – underline any words or phrases you don’t understand.  Re-read full sentences for any parts you couldn’t read smoothly on the first attempt. </a:t>
            </a:r>
            <a:endParaRPr lang="en-GB" b="1"/>
          </a:p>
        </p:txBody>
      </p:sp>
      <p:sp>
        <p:nvSpPr>
          <p:cNvPr id="6" name="TextBox 5">
            <a:extLst>
              <a:ext uri="{FF2B5EF4-FFF2-40B4-BE49-F238E27FC236}">
                <a16:creationId xmlns:a16="http://schemas.microsoft.com/office/drawing/2014/main" id="{38C25E62-7AE0-A783-1D87-77105CAB659E}"/>
              </a:ext>
            </a:extLst>
          </p:cNvPr>
          <p:cNvSpPr txBox="1"/>
          <p:nvPr/>
        </p:nvSpPr>
        <p:spPr>
          <a:xfrm>
            <a:off x="2226896" y="3673314"/>
            <a:ext cx="7629665" cy="2308324"/>
          </a:xfrm>
          <a:prstGeom prst="rect">
            <a:avLst/>
          </a:prstGeom>
          <a:noFill/>
        </p:spPr>
        <p:txBody>
          <a:bodyPr wrap="square" rtlCol="0">
            <a:spAutoFit/>
          </a:bodyPr>
          <a:lstStyle/>
          <a:p>
            <a:endParaRPr lang="en-GB"/>
          </a:p>
          <a:p>
            <a:pPr marL="342900" indent="-342900">
              <a:buFont typeface="+mj-lt"/>
              <a:buAutoNum type="arabicPeriod"/>
            </a:pPr>
            <a:r>
              <a:rPr lang="en-GB"/>
              <a:t>Read by segmenting into phonemes and syllables</a:t>
            </a:r>
          </a:p>
          <a:p>
            <a:pPr marL="342900" indent="-342900">
              <a:buFont typeface="+mj-lt"/>
              <a:buAutoNum type="arabicPeriod"/>
            </a:pPr>
            <a:r>
              <a:rPr lang="en-GB"/>
              <a:t>Make a sensible attempt, making sure you blend ALL the sounds as you read.</a:t>
            </a:r>
          </a:p>
          <a:p>
            <a:pPr marL="342900" indent="-342900">
              <a:buFont typeface="+mj-lt"/>
              <a:buAutoNum type="arabicPeriod"/>
            </a:pPr>
            <a:r>
              <a:rPr lang="en-GB"/>
              <a:t>Use the context and parts of the word to make a sensible attempt at a definition.</a:t>
            </a:r>
          </a:p>
          <a:p>
            <a:pPr marL="342900" indent="-342900">
              <a:buFont typeface="+mj-lt"/>
              <a:buAutoNum type="arabicPeriod"/>
            </a:pPr>
            <a:endParaRPr lang="en-GB"/>
          </a:p>
          <a:p>
            <a:r>
              <a:rPr lang="en-GB"/>
              <a:t>Remember to re-read the entire sentence again.</a:t>
            </a:r>
          </a:p>
        </p:txBody>
      </p:sp>
      <p:pic>
        <p:nvPicPr>
          <p:cNvPr id="2" name="Picture 1">
            <a:extLst>
              <a:ext uri="{FF2B5EF4-FFF2-40B4-BE49-F238E27FC236}">
                <a16:creationId xmlns:a16="http://schemas.microsoft.com/office/drawing/2014/main" id="{4A238304-94B7-D6B3-84C9-8D8F6CDD2BB4}"/>
              </a:ext>
            </a:extLst>
          </p:cNvPr>
          <p:cNvPicPr>
            <a:picLocks noChangeAspect="1"/>
          </p:cNvPicPr>
          <p:nvPr/>
        </p:nvPicPr>
        <p:blipFill>
          <a:blip r:embed="rId4"/>
          <a:stretch>
            <a:fillRect/>
          </a:stretch>
        </p:blipFill>
        <p:spPr>
          <a:xfrm>
            <a:off x="866163" y="2097530"/>
            <a:ext cx="10351133" cy="1434810"/>
          </a:xfrm>
          <a:prstGeom prst="rect">
            <a:avLst/>
          </a:prstGeom>
        </p:spPr>
      </p:pic>
      <p:sp>
        <p:nvSpPr>
          <p:cNvPr id="13" name="TextBox 12">
            <a:extLst>
              <a:ext uri="{FF2B5EF4-FFF2-40B4-BE49-F238E27FC236}">
                <a16:creationId xmlns:a16="http://schemas.microsoft.com/office/drawing/2014/main" id="{A473D780-1F99-6094-42B5-9820D9017C99}"/>
              </a:ext>
            </a:extLst>
          </p:cNvPr>
          <p:cNvSpPr txBox="1"/>
          <p:nvPr/>
        </p:nvSpPr>
        <p:spPr>
          <a:xfrm>
            <a:off x="-2406316" y="1524000"/>
            <a:ext cx="184731" cy="369332"/>
          </a:xfrm>
          <a:prstGeom prst="rect">
            <a:avLst/>
          </a:prstGeom>
          <a:noFill/>
        </p:spPr>
        <p:txBody>
          <a:bodyPr wrap="none" rtlCol="0">
            <a:spAutoFit/>
          </a:bodyPr>
          <a:lstStyle/>
          <a:p>
            <a:endParaRPr lang="en-GB"/>
          </a:p>
        </p:txBody>
      </p:sp>
      <p:sp>
        <p:nvSpPr>
          <p:cNvPr id="15" name="TextBox 14">
            <a:extLst>
              <a:ext uri="{FF2B5EF4-FFF2-40B4-BE49-F238E27FC236}">
                <a16:creationId xmlns:a16="http://schemas.microsoft.com/office/drawing/2014/main" id="{E15A5C10-306D-554F-EAA6-B73E5AF3D6C7}"/>
              </a:ext>
            </a:extLst>
          </p:cNvPr>
          <p:cNvSpPr txBox="1"/>
          <p:nvPr/>
        </p:nvSpPr>
        <p:spPr>
          <a:xfrm>
            <a:off x="209488" y="1865629"/>
            <a:ext cx="11861201" cy="3985274"/>
          </a:xfrm>
          <a:prstGeom prst="rect">
            <a:avLst/>
          </a:prstGeom>
          <a:solidFill>
            <a:schemeClr val="accent5">
              <a:lumMod val="20000"/>
              <a:lumOff val="80000"/>
            </a:schemeClr>
          </a:solidFill>
        </p:spPr>
        <p:txBody>
          <a:bodyPr wrap="square" anchor="ctr">
            <a:noAutofit/>
          </a:bodyPr>
          <a:lstStyle/>
          <a:p>
            <a:r>
              <a:rPr lang="en-US" sz="2200"/>
              <a:t>For decades, vast stretches of the Amazon rainforest have been cleared to make way for farmland, cattle ranching and logging. At its peak in the early 2000s, Brazil was losing an area of forest the size of Belgium every year. Deforestation on this scale removes habitats for millions of species, releases stored carbon into the atmosphere and disrupts the water cycle that the entire South American continent depends upon. In recent years, Brazil has taken steps towards sustainability. The Amazon Fund, supported by Norway and Germany, has paid Brazil to reduce deforestation rates, and satellite technology is now used to monitor illegal logging. Between 2004 and 2012, Brazil cut its deforestation rate by nearly eighty percent — one of the largest conservation successes in history. However, rates rose again sharply in the late 2010s, and campaigners argue that the rainforest still faces serious threats. England faces its own sustainability challenges. Intensive farming has removed hedgerows, drained wetlands and reduced biodiversity across much of the countryside. In response, the government has introduced conservation schemes that pay farmers to restore habitats, plant trees and reduce chemical use. The Knepp Estate in West Sussex has become famous for its rewilding project, where land that was once intensively farmed has been returned to nature. Beavers, rare butterflies and turtle doves have returned to areas where they had not been seen for generations. Both Brazil and England show that protecting the natural world requires long-term commitment, political will and significant money.</a:t>
            </a:r>
          </a:p>
        </p:txBody>
      </p:sp>
      <p:sp>
        <p:nvSpPr>
          <p:cNvPr id="10" name="Rounded Rectangle 9">
            <a:extLst>
              <a:ext uri="{FF2B5EF4-FFF2-40B4-BE49-F238E27FC236}">
                <a16:creationId xmlns:a16="http://schemas.microsoft.com/office/drawing/2014/main" id="{911D3733-5EF2-7482-D164-B776AE41E9CC}"/>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Tree>
    <p:extLst>
      <p:ext uri="{BB962C8B-B14F-4D97-AF65-F5344CB8AC3E}">
        <p14:creationId xmlns:p14="http://schemas.microsoft.com/office/powerpoint/2010/main" val="197944849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10"/>
                  </p:tgtEl>
                </p:cond>
              </p:nextCondLst>
            </p:seq>
          </p:childTnLst>
        </p:cTn>
      </p:par>
    </p:tnLst>
    <p:bldLst>
      <p:bldP spid="15" grpId="0" animBg="1"/>
      <p:bldP spid="15"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15917-BDE9-A483-7A0D-AC15BA636611}"/>
            </a:ext>
          </a:extLst>
        </p:cNvPr>
        <p:cNvGrpSpPr/>
        <p:nvPr/>
      </p:nvGrpSpPr>
      <p:grpSpPr>
        <a:xfrm>
          <a:off x="0" y="0"/>
          <a:ext cx="0" cy="0"/>
          <a:chOff x="0" y="0"/>
          <a:chExt cx="0" cy="0"/>
        </a:xfrm>
      </p:grpSpPr>
      <p:sp>
        <p:nvSpPr>
          <p:cNvPr id="6" name="Freeform: Shape 5">
            <a:extLst>
              <a:ext uri="{FF2B5EF4-FFF2-40B4-BE49-F238E27FC236}">
                <a16:creationId xmlns:a16="http://schemas.microsoft.com/office/drawing/2014/main" id="{3E3AA9AF-9E3C-B821-0C95-D4AA63DFFCBB}"/>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BC8D8944-1BCF-D4B0-7DAF-EF76646CCF50}"/>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6EE8B722-85CC-7111-AF8B-97EEBEE9A272}"/>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AD3569E1-8E04-B7BA-0398-4180BE3B0EE3}"/>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FFC19485-EC34-F070-3B3F-978F61587575}"/>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3C0DDE4A-9E8B-5BE3-65C1-A3FA2705ACB2}"/>
              </a:ext>
            </a:extLst>
          </p:cNvPr>
          <p:cNvPicPr>
            <a:picLocks noChangeAspect="1"/>
          </p:cNvPicPr>
          <p:nvPr/>
        </p:nvPicPr>
        <p:blipFill>
          <a:blip r:embed="rId2"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A0F1A2A6-045F-00C7-688E-E6D0A25D5652}"/>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408A8433-A9BE-1E56-2965-99A3B5625947}"/>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27A24A2D-2408-EB9E-5F70-46F514294503}"/>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2946C962-D08C-0F71-45B1-FA00B59721B8}"/>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60E1483D-26A7-A33B-B0CD-B1044C4A76B4}"/>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ED4713C7-97EE-A5B0-8FC6-4CE70EA350BC}"/>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72843B94-CA11-5143-DFB7-BE14CB303150}"/>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CDA984DD-4FC4-64A0-887A-0A817B977071}"/>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understand and take meaning from a text.</a:t>
            </a:r>
          </a:p>
        </p:txBody>
      </p:sp>
      <p:sp>
        <p:nvSpPr>
          <p:cNvPr id="20" name="Rectangle 19">
            <a:extLst>
              <a:ext uri="{FF2B5EF4-FFF2-40B4-BE49-F238E27FC236}">
                <a16:creationId xmlns:a16="http://schemas.microsoft.com/office/drawing/2014/main" id="{3A23222B-35F4-3CDC-5FEA-1C58CE4A933A}"/>
              </a:ext>
            </a:extLst>
          </p:cNvPr>
          <p:cNvSpPr/>
          <p:nvPr/>
        </p:nvSpPr>
        <p:spPr>
          <a:xfrm>
            <a:off x="5597291" y="4824722"/>
            <a:ext cx="5583685" cy="1200329"/>
          </a:xfrm>
          <a:prstGeom prst="rect">
            <a:avLst/>
          </a:prstGeom>
          <a:noFill/>
        </p:spPr>
        <p:txBody>
          <a:bodyPr wrap="square">
            <a:spAutoFit/>
          </a:bodyPr>
          <a:lstStyle/>
          <a:p>
            <a:r>
              <a:rPr lang="en-GB" sz="2400">
                <a:latin typeface="+mj-lt"/>
              </a:rPr>
              <a:t>I will show this by answering questions which relate to the vocabulary used throughout the text.</a:t>
            </a:r>
          </a:p>
        </p:txBody>
      </p:sp>
      <p:grpSp>
        <p:nvGrpSpPr>
          <p:cNvPr id="26" name="Group 25">
            <a:extLst>
              <a:ext uri="{FF2B5EF4-FFF2-40B4-BE49-F238E27FC236}">
                <a16:creationId xmlns:a16="http://schemas.microsoft.com/office/drawing/2014/main" id="{F0FA508C-6CB1-E76E-F0A8-B64E6C4CD90D}"/>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3F558219-13F1-436A-59AF-11B90D95ABA1}"/>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33569914-364A-6AF1-85F1-0BFCF4FDB1A8}"/>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B90D4CDA-08E3-0ED1-C1FB-0242710F0D9A}"/>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8139F2B2-DE54-7CE1-CCBE-1C4164F07AC7}"/>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721B1AA3-17DD-506B-9B14-CDFF5EA0BECB}"/>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3A69BFB0-E1DC-E3FA-6EA3-821A27D46522}"/>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my understanding of vocabulary at a sentence and text level.</a:t>
            </a:r>
          </a:p>
        </p:txBody>
      </p:sp>
      <p:grpSp>
        <p:nvGrpSpPr>
          <p:cNvPr id="3" name="Group 2">
            <a:extLst>
              <a:ext uri="{FF2B5EF4-FFF2-40B4-BE49-F238E27FC236}">
                <a16:creationId xmlns:a16="http://schemas.microsoft.com/office/drawing/2014/main" id="{AB1D5BFC-9C6F-78FE-BB55-8A787A315711}"/>
              </a:ext>
            </a:extLst>
          </p:cNvPr>
          <p:cNvGrpSpPr/>
          <p:nvPr/>
        </p:nvGrpSpPr>
        <p:grpSpPr>
          <a:xfrm>
            <a:off x="10607910" y="233361"/>
            <a:ext cx="1316831" cy="1316831"/>
            <a:chOff x="5180554" y="1026138"/>
            <a:chExt cx="1316831" cy="1316831"/>
          </a:xfrm>
        </p:grpSpPr>
        <p:sp>
          <p:nvSpPr>
            <p:cNvPr id="4" name="Oval 3">
              <a:extLst>
                <a:ext uri="{FF2B5EF4-FFF2-40B4-BE49-F238E27FC236}">
                  <a16:creationId xmlns:a16="http://schemas.microsoft.com/office/drawing/2014/main" id="{30C90C35-E0BE-7AD4-92BC-8EFF113E4DB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1" name="Oval 4">
              <a:extLst>
                <a:ext uri="{FF2B5EF4-FFF2-40B4-BE49-F238E27FC236}">
                  <a16:creationId xmlns:a16="http://schemas.microsoft.com/office/drawing/2014/main" id="{D5E138FF-7604-1E33-555D-87C2C96CBE05}"/>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Tree>
    <p:extLst>
      <p:ext uri="{BB962C8B-B14F-4D97-AF65-F5344CB8AC3E}">
        <p14:creationId xmlns:p14="http://schemas.microsoft.com/office/powerpoint/2010/main" val="28426104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1F7DB-6538-E176-FE28-8F1AD256569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4F21690-854A-3024-D098-1C56DE57443E}"/>
              </a:ext>
            </a:extLst>
          </p:cNvPr>
          <p:cNvPicPr>
            <a:picLocks noChangeAspect="1"/>
          </p:cNvPicPr>
          <p:nvPr/>
        </p:nvPicPr>
        <p:blipFill>
          <a:blip r:embed="rId2"/>
          <a:stretch>
            <a:fillRect/>
          </a:stretch>
        </p:blipFill>
        <p:spPr>
          <a:xfrm>
            <a:off x="10424916" y="134700"/>
            <a:ext cx="1616752" cy="697982"/>
          </a:xfrm>
          <a:prstGeom prst="rect">
            <a:avLst/>
          </a:prstGeom>
        </p:spPr>
      </p:pic>
      <p:sp>
        <p:nvSpPr>
          <p:cNvPr id="6" name="TextBox 5">
            <a:extLst>
              <a:ext uri="{FF2B5EF4-FFF2-40B4-BE49-F238E27FC236}">
                <a16:creationId xmlns:a16="http://schemas.microsoft.com/office/drawing/2014/main" id="{AEC30692-9C94-A8DB-4755-85FE74DE9821}"/>
              </a:ext>
            </a:extLst>
          </p:cNvPr>
          <p:cNvSpPr txBox="1"/>
          <p:nvPr/>
        </p:nvSpPr>
        <p:spPr>
          <a:xfrm>
            <a:off x="288098" y="335454"/>
            <a:ext cx="6864956" cy="707886"/>
          </a:xfrm>
          <a:prstGeom prst="rect">
            <a:avLst/>
          </a:prstGeom>
          <a:noFill/>
        </p:spPr>
        <p:txBody>
          <a:bodyPr wrap="none" rtlCol="0">
            <a:spAutoFit/>
          </a:bodyPr>
          <a:lstStyle/>
          <a:p>
            <a:r>
              <a:rPr lang="en-GB" sz="4000" b="1" u="sng"/>
              <a:t>Practice questions - Retrieval</a:t>
            </a:r>
          </a:p>
        </p:txBody>
      </p:sp>
      <p:pic>
        <p:nvPicPr>
          <p:cNvPr id="7" name="Picture 6">
            <a:extLst>
              <a:ext uri="{FF2B5EF4-FFF2-40B4-BE49-F238E27FC236}">
                <a16:creationId xmlns:a16="http://schemas.microsoft.com/office/drawing/2014/main" id="{E0AB4FA0-4B96-F850-DD50-18A5FD657BB8}"/>
              </a:ext>
            </a:extLst>
          </p:cNvPr>
          <p:cNvPicPr/>
          <p:nvPr/>
        </p:nvPicPr>
        <p:blipFill>
          <a:blip r:embed="rId3">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
        <p:nvSpPr>
          <p:cNvPr id="4" name="Rounded Rectangle 9">
            <a:extLst>
              <a:ext uri="{FF2B5EF4-FFF2-40B4-BE49-F238E27FC236}">
                <a16:creationId xmlns:a16="http://schemas.microsoft.com/office/drawing/2014/main" id="{2A06B04F-B021-4121-0C16-7A5BACEFBC1B}"/>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0" name="TextBox 9">
            <a:extLst>
              <a:ext uri="{FF2B5EF4-FFF2-40B4-BE49-F238E27FC236}">
                <a16:creationId xmlns:a16="http://schemas.microsoft.com/office/drawing/2014/main" id="{C064352E-4E96-13BD-C58F-5EEC5E15F4B5}"/>
              </a:ext>
            </a:extLst>
          </p:cNvPr>
          <p:cNvSpPr txBox="1"/>
          <p:nvPr/>
        </p:nvSpPr>
        <p:spPr>
          <a:xfrm>
            <a:off x="418368" y="1463046"/>
            <a:ext cx="11355262" cy="2246769"/>
          </a:xfrm>
          <a:prstGeom prst="rect">
            <a:avLst/>
          </a:prstGeom>
          <a:noFill/>
        </p:spPr>
        <p:txBody>
          <a:bodyPr wrap="square" rtlCol="0">
            <a:spAutoFit/>
          </a:bodyPr>
          <a:lstStyle/>
          <a:p>
            <a:r>
              <a:rPr lang="en-US" sz="1900"/>
              <a:t>What does deforestation mean and why is it a problem?</a:t>
            </a:r>
          </a:p>
          <a:p>
            <a:r>
              <a:rPr lang="en-US" sz="1900"/>
              <a:t>Deforestation is the large-scale cutting down of trees. It destroys habitats, releases carbon and disrupts the water cycle.</a:t>
            </a:r>
          </a:p>
          <a:p>
            <a:endParaRPr lang="en-US" sz="1900"/>
          </a:p>
          <a:p>
            <a:r>
              <a:rPr lang="en-US" sz="1900"/>
              <a:t>Name the two countries that supported the Amazon Fund.</a:t>
            </a:r>
          </a:p>
          <a:p>
            <a:r>
              <a:rPr lang="en-US" sz="1900"/>
              <a:t>Norway and Germany.</a:t>
            </a:r>
          </a:p>
        </p:txBody>
      </p:sp>
      <p:sp>
        <p:nvSpPr>
          <p:cNvPr id="3" name="TextBox 2">
            <a:extLst>
              <a:ext uri="{FF2B5EF4-FFF2-40B4-BE49-F238E27FC236}">
                <a16:creationId xmlns:a16="http://schemas.microsoft.com/office/drawing/2014/main" id="{EBAE955F-2F2B-1B4A-4719-6AB782D998C5}"/>
              </a:ext>
            </a:extLst>
          </p:cNvPr>
          <p:cNvSpPr txBox="1"/>
          <p:nvPr/>
        </p:nvSpPr>
        <p:spPr>
          <a:xfrm>
            <a:off x="145774" y="1043340"/>
            <a:ext cx="12046226" cy="4585423"/>
          </a:xfrm>
          <a:prstGeom prst="rect">
            <a:avLst/>
          </a:prstGeom>
          <a:solidFill>
            <a:schemeClr val="accent5">
              <a:lumMod val="20000"/>
              <a:lumOff val="80000"/>
            </a:schemeClr>
          </a:solidFill>
        </p:spPr>
        <p:txBody>
          <a:bodyPr wrap="square" anchor="ctr">
            <a:noAutofit/>
          </a:bodyPr>
          <a:lstStyle/>
          <a:p>
            <a:r>
              <a:rPr lang="en-US" sz="2200"/>
              <a:t>For decades, vast stretches of the Amazon rainforest have been cleared to make way for farmland, cattle ranching and logging. At its peak in the early 2000s, Brazil was losing an area of forest the size of Belgium every year. Deforestation on this scale removes habitats for millions of species, releases stored carbon into the atmosphere and disrupts the water cycle that the entire South American continent depends upon. In recent years, Brazil has taken steps towards sustainability. The Amazon Fund, supported by Norway and Germany, has paid Brazil to reduce deforestation rates, and satellite technology is now used to monitor illegal logging. Between 2004 and 2012, Brazil cut its deforestation rate by nearly eighty percent — one of the largest conservation successes in history. However, rates rose again sharply in the late 2010s, and campaigners argue that the rainforest still faces serious threats. England faces its own sustainability challenges. Intensive farming has removed hedgerows, drained wetlands and reduced biodiversity across much of the countryside. In response, the government has introduced conservation schemes that pay farmers to restore habitats, plant trees and reduce chemical use. The Knepp Estate in West Sussex has become famous for its rewilding project, where land that was once intensively farmed has been returned to nature. Beavers, rare butterflies and turtle doves have returned to areas where they had not been seen for generations. Both Brazil and England show that protecting the natural world requires long-term commitment, political will and significant money.</a:t>
            </a:r>
          </a:p>
        </p:txBody>
      </p:sp>
    </p:spTree>
    <p:extLst>
      <p:ext uri="{BB962C8B-B14F-4D97-AF65-F5344CB8AC3E}">
        <p14:creationId xmlns:p14="http://schemas.microsoft.com/office/powerpoint/2010/main" val="2161724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4"/>
                    </p:tgtEl>
                  </p:cond>
                </p:stCondLst>
                <p:endSync evt="end" delay="0">
                  <p:rtn val="all"/>
                </p:endSync>
                <p:childTnLst>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xit" presetSubtype="0" fill="hold" grpId="1" nodeType="clickEffect">
                                  <p:stCondLst>
                                    <p:cond delay="0"/>
                                  </p:stCondLst>
                                  <p:childTnLst>
                                    <p:set>
                                      <p:cBhvr>
                                        <p:cTn id="31" dur="1" fill="hold">
                                          <p:stCondLst>
                                            <p:cond delay="0"/>
                                          </p:stCondLst>
                                        </p:cTn>
                                        <p:tgtEl>
                                          <p:spTgt spid="3"/>
                                        </p:tgtEl>
                                        <p:attrNameLst>
                                          <p:attrName>style.visibility</p:attrName>
                                        </p:attrNameLst>
                                      </p:cBhvr>
                                      <p:to>
                                        <p:strVal val="hidden"/>
                                      </p:to>
                                    </p:set>
                                  </p:childTnLst>
                                </p:cTn>
                              </p:par>
                            </p:childTnLst>
                          </p:cTn>
                        </p:par>
                      </p:childTnLst>
                    </p:cTn>
                  </p:par>
                </p:childTnLst>
              </p:cTn>
              <p:nextCondLst>
                <p:cond evt="onClick" delay="0">
                  <p:tgtEl>
                    <p:spTgt spid="4"/>
                  </p:tgtEl>
                </p:cond>
              </p:nextCondLst>
            </p:seq>
          </p:childTnLst>
        </p:cTn>
      </p:par>
    </p:tnLst>
    <p:bldLst>
      <p:bldP spid="3" grpId="0" animBg="1"/>
      <p:bldP spid="3"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D28150-E2BB-D124-E558-AC8A265F32E2}"/>
              </a:ext>
            </a:extLst>
          </p:cNvPr>
          <p:cNvSpPr>
            <a:spLocks noGrp="1"/>
          </p:cNvSpPr>
          <p:nvPr>
            <p:ph type="ctrTitle"/>
          </p:nvPr>
        </p:nvSpPr>
        <p:spPr>
          <a:xfrm>
            <a:off x="0" y="2017477"/>
            <a:ext cx="12192000" cy="2387600"/>
          </a:xfrm>
        </p:spPr>
        <p:txBody>
          <a:bodyPr/>
          <a:lstStyle/>
          <a:p>
            <a:r>
              <a:rPr lang="en-GB">
                <a:latin typeface="Sassoon Infant Rg" panose="02000503030000020003" pitchFamily="2" charset="0"/>
              </a:rPr>
              <a:t>Being a Reader</a:t>
            </a:r>
          </a:p>
        </p:txBody>
      </p:sp>
      <p:grpSp>
        <p:nvGrpSpPr>
          <p:cNvPr id="4" name="Group 3">
            <a:extLst>
              <a:ext uri="{FF2B5EF4-FFF2-40B4-BE49-F238E27FC236}">
                <a16:creationId xmlns:a16="http://schemas.microsoft.com/office/drawing/2014/main" id="{5F3F8467-5724-D86C-FDA4-D49533DEC4F0}"/>
              </a:ext>
            </a:extLst>
          </p:cNvPr>
          <p:cNvGrpSpPr/>
          <p:nvPr/>
        </p:nvGrpSpPr>
        <p:grpSpPr>
          <a:xfrm>
            <a:off x="4568895" y="211840"/>
            <a:ext cx="3039122" cy="3522775"/>
            <a:chOff x="7629233" y="677174"/>
            <a:chExt cx="2090136" cy="2455590"/>
          </a:xfrm>
        </p:grpSpPr>
        <p:pic>
          <p:nvPicPr>
            <p:cNvPr id="5" name="Picture 8" descr="Reading Icon 2954745">
              <a:extLst>
                <a:ext uri="{FF2B5EF4-FFF2-40B4-BE49-F238E27FC236}">
                  <a16:creationId xmlns:a16="http://schemas.microsoft.com/office/drawing/2014/main" id="{2B1C2540-38D6-7D21-7288-1F3B603531F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9233" y="1184735"/>
              <a:ext cx="2090136" cy="19480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F3344A5-4924-D3BC-68C4-52E2EB3B6D65}"/>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6627" b="95181" l="4969" r="92547">
                          <a14:foregroundMark x1="43478" y1="94578" x2="43478" y2="94578"/>
                          <a14:foregroundMark x1="4969" y1="50602" x2="4969" y2="50602"/>
                          <a14:foregroundMark x1="16770" y1="19277" x2="16770" y2="19277"/>
                          <a14:foregroundMark x1="49689" y1="8434" x2="49689" y2="8434"/>
                          <a14:foregroundMark x1="80124" y1="19277" x2="80124" y2="19277"/>
                          <a14:foregroundMark x1="56522" y1="95783" x2="56522" y2="95783"/>
                          <a14:foregroundMark x1="89441" y1="49398" x2="89441" y2="49398"/>
                          <a14:foregroundMark x1="49689" y1="6627" x2="49689" y2="6627"/>
                          <a14:foregroundMark x1="92547" y1="49398" x2="92547" y2="49398"/>
                        </a14:backgroundRemoval>
                      </a14:imgEffect>
                    </a14:imgLayer>
                  </a14:imgProps>
                </a:ext>
              </a:extLst>
            </a:blip>
            <a:stretch>
              <a:fillRect/>
            </a:stretch>
          </p:blipFill>
          <p:spPr>
            <a:xfrm>
              <a:off x="8856582" y="677174"/>
              <a:ext cx="716760" cy="688774"/>
            </a:xfrm>
            <a:prstGeom prst="rect">
              <a:avLst/>
            </a:prstGeom>
          </p:spPr>
        </p:pic>
      </p:grpSp>
      <p:sp>
        <p:nvSpPr>
          <p:cNvPr id="3" name="TextBox 2">
            <a:extLst>
              <a:ext uri="{FF2B5EF4-FFF2-40B4-BE49-F238E27FC236}">
                <a16:creationId xmlns:a16="http://schemas.microsoft.com/office/drawing/2014/main" id="{9AA1DE16-8C7B-4868-2DE3-9C9C7D7D4324}"/>
              </a:ext>
            </a:extLst>
          </p:cNvPr>
          <p:cNvSpPr txBox="1"/>
          <p:nvPr/>
        </p:nvSpPr>
        <p:spPr>
          <a:xfrm>
            <a:off x="0" y="4552141"/>
            <a:ext cx="12192000" cy="707886"/>
          </a:xfrm>
          <a:prstGeom prst="rect">
            <a:avLst/>
          </a:prstGeom>
          <a:noFill/>
        </p:spPr>
        <p:txBody>
          <a:bodyPr wrap="square" rtlCol="0">
            <a:spAutoFit/>
          </a:bodyPr>
          <a:lstStyle/>
          <a:p>
            <a:pPr algn="ctr"/>
            <a:r>
              <a:rPr lang="en-GB" sz="4000"/>
              <a:t>Inference</a:t>
            </a:r>
            <a:endParaRPr lang="en-GB"/>
          </a:p>
        </p:txBody>
      </p:sp>
      <p:sp>
        <p:nvSpPr>
          <p:cNvPr id="6" name="TextBox 5">
            <a:extLst>
              <a:ext uri="{FF2B5EF4-FFF2-40B4-BE49-F238E27FC236}">
                <a16:creationId xmlns:a16="http://schemas.microsoft.com/office/drawing/2014/main" id="{2B18F8C8-4B63-E425-87CE-D13C91BCA056}"/>
              </a:ext>
            </a:extLst>
          </p:cNvPr>
          <p:cNvSpPr txBox="1"/>
          <p:nvPr/>
        </p:nvSpPr>
        <p:spPr>
          <a:xfrm>
            <a:off x="4423577" y="5199610"/>
            <a:ext cx="3329758" cy="1446550"/>
          </a:xfrm>
          <a:prstGeom prst="rect">
            <a:avLst/>
          </a:prstGeom>
          <a:noFill/>
        </p:spPr>
        <p:txBody>
          <a:bodyPr wrap="none" rtlCol="0" anchor="ctr">
            <a:spAutoFit/>
          </a:bodyPr>
          <a:lstStyle/>
          <a:p>
            <a:pPr algn="ctr"/>
            <a:r>
              <a:rPr lang="en-GB" sz="8800"/>
              <a:t>Friday</a:t>
            </a:r>
          </a:p>
        </p:txBody>
      </p:sp>
    </p:spTree>
    <p:extLst>
      <p:ext uri="{BB962C8B-B14F-4D97-AF65-F5344CB8AC3E}">
        <p14:creationId xmlns:p14="http://schemas.microsoft.com/office/powerpoint/2010/main" val="3303693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4ACEAB2A-6943-1061-22CF-9EC0847829D7}"/>
              </a:ext>
            </a:extLst>
          </p:cNvPr>
          <p:cNvSpPr/>
          <p:nvPr/>
        </p:nvSpPr>
        <p:spPr>
          <a:xfrm>
            <a:off x="6476397" y="19821"/>
            <a:ext cx="5576138" cy="6818358"/>
          </a:xfrm>
          <a:prstGeom prst="round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D9DEE78A-07A9-5FF3-9D78-C0D9D21EEFB2}"/>
              </a:ext>
            </a:extLst>
          </p:cNvPr>
          <p:cNvSpPr txBox="1"/>
          <p:nvPr/>
        </p:nvSpPr>
        <p:spPr>
          <a:xfrm>
            <a:off x="6786658" y="-9273"/>
            <a:ext cx="4833400" cy="684803"/>
          </a:xfrm>
          <a:prstGeom prst="rect">
            <a:avLst/>
          </a:prstGeom>
          <a:noFill/>
        </p:spPr>
        <p:txBody>
          <a:bodyPr wrap="square" rtlCol="0">
            <a:spAutoFit/>
          </a:bodyPr>
          <a:lstStyle/>
          <a:p>
            <a:pPr algn="ctr">
              <a:lnSpc>
                <a:spcPct val="150000"/>
              </a:lnSpc>
            </a:pPr>
            <a:r>
              <a:rPr lang="en-GB" sz="2800" b="1" u="sng">
                <a:solidFill>
                  <a:schemeClr val="tx1"/>
                </a:solidFill>
                <a:latin typeface="Sassoon Infant Rg" panose="02000503030000020003" pitchFamily="2" charset="0"/>
                <a:ea typeface="Sassoon Infant Rg" panose="02000503030000020003" pitchFamily="2" charset="0"/>
              </a:rPr>
              <a:t>Why do we learn to read?</a:t>
            </a:r>
          </a:p>
        </p:txBody>
      </p:sp>
      <p:sp>
        <p:nvSpPr>
          <p:cNvPr id="11" name="TextBox 10">
            <a:extLst>
              <a:ext uri="{FF2B5EF4-FFF2-40B4-BE49-F238E27FC236}">
                <a16:creationId xmlns:a16="http://schemas.microsoft.com/office/drawing/2014/main" id="{16D2B17F-CF26-33D2-B6F6-70299CA1A763}"/>
              </a:ext>
            </a:extLst>
          </p:cNvPr>
          <p:cNvSpPr txBox="1"/>
          <p:nvPr/>
        </p:nvSpPr>
        <p:spPr>
          <a:xfrm>
            <a:off x="8246543" y="848912"/>
            <a:ext cx="3654961" cy="263149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Reading makes me </a:t>
            </a:r>
            <a:r>
              <a:rPr lang="en-GB" sz="3200" b="1">
                <a:solidFill>
                  <a:schemeClr val="tx1"/>
                </a:solidFill>
                <a:latin typeface="Sassoon Infant Rg" panose="02000503030000020003" pitchFamily="2" charset="0"/>
                <a:ea typeface="Sassoon Infant Rg" panose="02000503030000020003" pitchFamily="2" charset="0"/>
              </a:rPr>
              <a:t>powerful</a:t>
            </a:r>
            <a:r>
              <a:rPr lang="en-GB" sz="2400">
                <a:solidFill>
                  <a:schemeClr val="tx1"/>
                </a:solidFill>
                <a:latin typeface="Sassoon Infant Rg" panose="02000503030000020003" pitchFamily="2" charset="0"/>
                <a:ea typeface="Sassoon Infant Rg" panose="02000503030000020003" pitchFamily="2" charset="0"/>
              </a:rPr>
              <a:t xml:space="preserve"> because it helps me to </a:t>
            </a:r>
            <a:r>
              <a:rPr lang="en-GB" sz="3200" b="1">
                <a:solidFill>
                  <a:schemeClr val="tx1"/>
                </a:solidFill>
                <a:latin typeface="Sassoon Infant Rg" panose="02000503030000020003" pitchFamily="2" charset="0"/>
                <a:ea typeface="Sassoon Infant Rg" panose="02000503030000020003" pitchFamily="2" charset="0"/>
              </a:rPr>
              <a:t>understand</a:t>
            </a:r>
            <a:r>
              <a:rPr lang="en-GB" sz="2400">
                <a:solidFill>
                  <a:schemeClr val="tx1"/>
                </a:solidFill>
                <a:latin typeface="Sassoon Infant Rg" panose="02000503030000020003" pitchFamily="2" charset="0"/>
                <a:ea typeface="Sassoon Infant Rg" panose="02000503030000020003" pitchFamily="2" charset="0"/>
              </a:rPr>
              <a:t xml:space="preserve"> the world around me.</a:t>
            </a:r>
          </a:p>
        </p:txBody>
      </p:sp>
      <p:pic>
        <p:nvPicPr>
          <p:cNvPr id="7" name="Picture 6">
            <a:extLst>
              <a:ext uri="{FF2B5EF4-FFF2-40B4-BE49-F238E27FC236}">
                <a16:creationId xmlns:a16="http://schemas.microsoft.com/office/drawing/2014/main" id="{3DF6A32D-163D-40C2-BACF-C964E0035D2E}"/>
              </a:ext>
            </a:extLst>
          </p:cNvPr>
          <p:cNvPicPr>
            <a:picLocks noChangeAspect="1"/>
          </p:cNvPicPr>
          <p:nvPr/>
        </p:nvPicPr>
        <p:blipFill rotWithShape="1">
          <a:blip r:embed="rId3">
            <a:extLst>
              <a:ext uri="{BEBA8EAE-BF5A-486C-A8C5-ECC9F3942E4B}">
                <a14:imgProps xmlns:a14="http://schemas.microsoft.com/office/drawing/2010/main">
                  <a14:imgLayer r:embed="rId4">
                    <a14:imgEffect>
                      <a14:backgroundRemoval t="61376" b="80317" l="20847" r="34709">
                        <a14:foregroundMark x1="24656" y1="80000" x2="24656" y2="80000"/>
                        <a14:foregroundMark x1="29312" y1="80317" x2="29312" y2="80317"/>
                      </a14:backgroundRemoval>
                    </a14:imgEffect>
                  </a14:imgLayer>
                </a14:imgProps>
              </a:ext>
            </a:extLst>
          </a:blip>
          <a:srcRect l="19127" t="59276" r="63462" b="18202"/>
          <a:stretch/>
        </p:blipFill>
        <p:spPr>
          <a:xfrm>
            <a:off x="6896058" y="1151805"/>
            <a:ext cx="1350486" cy="1656373"/>
          </a:xfrm>
          <a:prstGeom prst="rect">
            <a:avLst/>
          </a:prstGeom>
        </p:spPr>
      </p:pic>
      <p:pic>
        <p:nvPicPr>
          <p:cNvPr id="12" name="Picture 11">
            <a:extLst>
              <a:ext uri="{FF2B5EF4-FFF2-40B4-BE49-F238E27FC236}">
                <a16:creationId xmlns:a16="http://schemas.microsoft.com/office/drawing/2014/main" id="{A25D9A8A-09E0-BBBE-0C18-2E1880E52773}"/>
              </a:ext>
            </a:extLst>
          </p:cNvPr>
          <p:cNvPicPr>
            <a:picLocks noChangeAspect="1"/>
          </p:cNvPicPr>
          <p:nvPr/>
        </p:nvPicPr>
        <p:blipFill rotWithShape="1">
          <a:blip r:embed="rId5">
            <a:extLst>
              <a:ext uri="{BEBA8EAE-BF5A-486C-A8C5-ECC9F3942E4B}">
                <a14:imgProps xmlns:a14="http://schemas.microsoft.com/office/drawing/2010/main">
                  <a14:imgLayer r:embed="rId4">
                    <a14:imgEffect>
                      <a14:backgroundRemoval t="61793" b="81925" l="64809" r="78176">
                        <a14:foregroundMark x1="75238" y1="61799" x2="75238" y2="61799"/>
                      </a14:backgroundRemoval>
                    </a14:imgEffect>
                  </a14:imgLayer>
                </a14:imgProps>
              </a:ext>
            </a:extLst>
          </a:blip>
          <a:srcRect l="63138" t="59276" r="20153" b="15559"/>
          <a:stretch/>
        </p:blipFill>
        <p:spPr>
          <a:xfrm>
            <a:off x="10650071" y="4324983"/>
            <a:ext cx="1251434" cy="1786987"/>
          </a:xfrm>
          <a:prstGeom prst="rect">
            <a:avLst/>
          </a:prstGeom>
        </p:spPr>
      </p:pic>
      <p:sp>
        <p:nvSpPr>
          <p:cNvPr id="14" name="TextBox 13">
            <a:extLst>
              <a:ext uri="{FF2B5EF4-FFF2-40B4-BE49-F238E27FC236}">
                <a16:creationId xmlns:a16="http://schemas.microsoft.com/office/drawing/2014/main" id="{950C5C2B-42CC-39EC-6847-EE394E29BB3C}"/>
              </a:ext>
            </a:extLst>
          </p:cNvPr>
          <p:cNvSpPr txBox="1"/>
          <p:nvPr/>
        </p:nvSpPr>
        <p:spPr>
          <a:xfrm>
            <a:off x="6786658" y="4022091"/>
            <a:ext cx="3863413" cy="1708160"/>
          </a:xfrm>
          <a:prstGeom prst="rect">
            <a:avLst/>
          </a:prstGeom>
          <a:noFill/>
        </p:spPr>
        <p:txBody>
          <a:bodyPr wrap="square">
            <a:spAutoFit/>
          </a:bodyPr>
          <a:lstStyle/>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At Wallscourt Farm Academy:</a:t>
            </a:r>
          </a:p>
          <a:p>
            <a:pPr algn="ctr">
              <a:lnSpc>
                <a:spcPct val="150000"/>
              </a:lnSpc>
            </a:pPr>
            <a:r>
              <a:rPr lang="en-GB" sz="2400">
                <a:solidFill>
                  <a:schemeClr val="tx1"/>
                </a:solidFill>
                <a:latin typeface="Sassoon Infant Rg" panose="02000503030000020003" pitchFamily="2" charset="0"/>
                <a:ea typeface="Sassoon Infant Rg" panose="02000503030000020003" pitchFamily="2" charset="0"/>
              </a:rPr>
              <a:t xml:space="preserve">We love to read, learn to read and read to learn! </a:t>
            </a:r>
          </a:p>
        </p:txBody>
      </p:sp>
      <p:pic>
        <p:nvPicPr>
          <p:cNvPr id="3" name="Picture 2">
            <a:extLst>
              <a:ext uri="{FF2B5EF4-FFF2-40B4-BE49-F238E27FC236}">
                <a16:creationId xmlns:a16="http://schemas.microsoft.com/office/drawing/2014/main" id="{121AB0E8-B43D-DFDE-C896-2046E6E618BA}"/>
              </a:ext>
            </a:extLst>
          </p:cNvPr>
          <p:cNvPicPr>
            <a:picLocks noChangeAspect="1"/>
          </p:cNvPicPr>
          <p:nvPr/>
        </p:nvPicPr>
        <p:blipFill>
          <a:blip r:embed="rId6"/>
          <a:stretch>
            <a:fillRect/>
          </a:stretch>
        </p:blipFill>
        <p:spPr>
          <a:xfrm>
            <a:off x="631179" y="568742"/>
            <a:ext cx="5645882" cy="565414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8557886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4"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43C5AD-3309-A9A5-F848-B93CB7BC5FD5}"/>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3B9D8A55-04E7-0528-A165-9FB98DB89054}"/>
              </a:ext>
            </a:extLst>
          </p:cNvPr>
          <p:cNvPicPr>
            <a:picLocks noChangeAspect="1"/>
          </p:cNvPicPr>
          <p:nvPr/>
        </p:nvPicPr>
        <p:blipFill>
          <a:blip r:embed="rId3"/>
          <a:stretch>
            <a:fillRect/>
          </a:stretch>
        </p:blipFill>
        <p:spPr>
          <a:xfrm>
            <a:off x="10424916" y="134700"/>
            <a:ext cx="1616752" cy="697982"/>
          </a:xfrm>
          <a:prstGeom prst="rect">
            <a:avLst/>
          </a:prstGeom>
        </p:spPr>
      </p:pic>
      <p:grpSp>
        <p:nvGrpSpPr>
          <p:cNvPr id="9" name="Group 8">
            <a:extLst>
              <a:ext uri="{FF2B5EF4-FFF2-40B4-BE49-F238E27FC236}">
                <a16:creationId xmlns:a16="http://schemas.microsoft.com/office/drawing/2014/main" id="{2E1FDC99-0FE5-B42D-815D-42276802132E}"/>
              </a:ext>
            </a:extLst>
          </p:cNvPr>
          <p:cNvGrpSpPr/>
          <p:nvPr/>
        </p:nvGrpSpPr>
        <p:grpSpPr>
          <a:xfrm>
            <a:off x="292072" y="239667"/>
            <a:ext cx="1145637" cy="1145637"/>
            <a:chOff x="5180554" y="1026138"/>
            <a:chExt cx="1316831" cy="1316831"/>
          </a:xfrm>
        </p:grpSpPr>
        <p:sp>
          <p:nvSpPr>
            <p:cNvPr id="10" name="Oval 9">
              <a:extLst>
                <a:ext uri="{FF2B5EF4-FFF2-40B4-BE49-F238E27FC236}">
                  <a16:creationId xmlns:a16="http://schemas.microsoft.com/office/drawing/2014/main" id="{1E5DC868-7EB8-4F7D-7DAE-A2A8DBE0A20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12" name="Oval 4">
              <a:extLst>
                <a:ext uri="{FF2B5EF4-FFF2-40B4-BE49-F238E27FC236}">
                  <a16:creationId xmlns:a16="http://schemas.microsoft.com/office/drawing/2014/main" id="{DACB8AB4-1258-EA30-31A5-77EEA5A000F2}"/>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4" name="Title 1">
            <a:extLst>
              <a:ext uri="{FF2B5EF4-FFF2-40B4-BE49-F238E27FC236}">
                <a16:creationId xmlns:a16="http://schemas.microsoft.com/office/drawing/2014/main" id="{659AE26C-55EC-A139-FEFB-5E8B79ECFD3A}"/>
              </a:ext>
            </a:extLst>
          </p:cNvPr>
          <p:cNvSpPr txBox="1">
            <a:spLocks/>
          </p:cNvSpPr>
          <p:nvPr/>
        </p:nvSpPr>
        <p:spPr>
          <a:xfrm>
            <a:off x="-253388" y="85619"/>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Vocabulary Focus</a:t>
            </a:r>
          </a:p>
        </p:txBody>
      </p:sp>
      <p:sp>
        <p:nvSpPr>
          <p:cNvPr id="15" name="TextBox 14">
            <a:extLst>
              <a:ext uri="{FF2B5EF4-FFF2-40B4-BE49-F238E27FC236}">
                <a16:creationId xmlns:a16="http://schemas.microsoft.com/office/drawing/2014/main" id="{086FA3C6-53FE-7451-6D4F-7009D38010D4}"/>
              </a:ext>
            </a:extLst>
          </p:cNvPr>
          <p:cNvSpPr txBox="1"/>
          <p:nvPr/>
        </p:nvSpPr>
        <p:spPr>
          <a:xfrm>
            <a:off x="2442576" y="1217529"/>
            <a:ext cx="7503292" cy="646331"/>
          </a:xfrm>
          <a:prstGeom prst="rect">
            <a:avLst/>
          </a:prstGeom>
          <a:noFill/>
        </p:spPr>
        <p:txBody>
          <a:bodyPr wrap="square" rtlCol="0">
            <a:spAutoFit/>
          </a:bodyPr>
          <a:lstStyle/>
          <a:p>
            <a:r>
              <a:rPr lang="en-GB"/>
              <a:t>the moment when a small change triggers a larger, often irreversible change</a:t>
            </a:r>
          </a:p>
        </p:txBody>
      </p:sp>
      <mc:AlternateContent xmlns:mc="http://schemas.openxmlformats.org/markup-compatibility/2006">
        <mc:Choice xmlns:p14="http://schemas.microsoft.com/office/powerpoint/2010/main" Requires="p14">
          <p:contentPart p14:bwMode="auto" r:id="rId4">
            <p14:nvContentPartPr>
              <p14:cNvPr id="3" name="Ink 2">
                <a:extLst>
                  <a:ext uri="{FF2B5EF4-FFF2-40B4-BE49-F238E27FC236}">
                    <a16:creationId xmlns:a16="http://schemas.microsoft.com/office/drawing/2014/main" id="{9F75FCCA-8003-024B-2B29-0EDF6D801F3D}"/>
                  </a:ext>
                </a:extLst>
              </p14:cNvPr>
              <p14:cNvContentPartPr/>
              <p14:nvPr/>
            </p14:nvContentPartPr>
            <p14:xfrm>
              <a:off x="9034477" y="550400"/>
              <a:ext cx="360" cy="360"/>
            </p14:xfrm>
          </p:contentPart>
        </mc:Choice>
        <mc:Fallback>
          <p:pic>
            <p:nvPicPr>
              <p:cNvPr id="3" name="Ink 2">
                <a:extLst>
                  <a:ext uri="{FF2B5EF4-FFF2-40B4-BE49-F238E27FC236}">
                    <a16:creationId xmlns:a16="http://schemas.microsoft.com/office/drawing/2014/main" id="{9F75FCCA-8003-024B-2B29-0EDF6D801F3D}"/>
                  </a:ext>
                </a:extLst>
              </p:cNvPr>
              <p:cNvPicPr/>
              <p:nvPr/>
            </p:nvPicPr>
            <p:blipFill>
              <a:blip r:embed="rId5"/>
              <a:stretch>
                <a:fillRect/>
              </a:stretch>
            </p:blipFill>
            <p:spPr>
              <a:xfrm>
                <a:off x="9025117" y="541040"/>
                <a:ext cx="19080" cy="19080"/>
              </a:xfrm>
              <a:prstGeom prst="rect">
                <a:avLst/>
              </a:prstGeom>
            </p:spPr>
          </p:pic>
        </mc:Fallback>
      </mc:AlternateContent>
      <p:graphicFrame>
        <p:nvGraphicFramePr>
          <p:cNvPr id="7" name="Table 6">
            <a:extLst>
              <a:ext uri="{FF2B5EF4-FFF2-40B4-BE49-F238E27FC236}">
                <a16:creationId xmlns:a16="http://schemas.microsoft.com/office/drawing/2014/main" id="{AD7A6C68-D614-2377-056B-781707D2F236}"/>
              </a:ext>
            </a:extLst>
          </p:cNvPr>
          <p:cNvGraphicFramePr>
            <a:graphicFrameLocks noGrp="1"/>
          </p:cNvGraphicFramePr>
          <p:nvPr/>
        </p:nvGraphicFramePr>
        <p:xfrm>
          <a:off x="647700" y="2173922"/>
          <a:ext cx="10663199" cy="3429000"/>
        </p:xfrm>
        <a:graphic>
          <a:graphicData uri="http://schemas.openxmlformats.org/drawingml/2006/table">
            <a:tbl>
              <a:tblPr>
                <a:tableStyleId>{5C22544A-7EE6-4342-B048-85BDC9FD1C3A}</a:tableStyleId>
              </a:tblPr>
              <a:tblGrid>
                <a:gridCol w="1638300">
                  <a:extLst>
                    <a:ext uri="{9D8B030D-6E8A-4147-A177-3AD203B41FA5}">
                      <a16:colId xmlns:a16="http://schemas.microsoft.com/office/drawing/2014/main" val="4160592141"/>
                    </a:ext>
                  </a:extLst>
                </a:gridCol>
                <a:gridCol w="9024899">
                  <a:extLst>
                    <a:ext uri="{9D8B030D-6E8A-4147-A177-3AD203B41FA5}">
                      <a16:colId xmlns:a16="http://schemas.microsoft.com/office/drawing/2014/main" val="3033414289"/>
                    </a:ext>
                  </a:extLst>
                </a:gridCol>
              </a:tblGrid>
              <a:tr h="685800">
                <a:tc>
                  <a:txBody>
                    <a:bodyPr/>
                    <a:lstStyle/>
                    <a:p>
                      <a:pPr algn="l" fontAlgn="b">
                        <a:buNone/>
                      </a:pPr>
                      <a:r>
                        <a:rPr lang="en-GB" sz="2000" b="0" i="0" u="none" strike="noStrike">
                          <a:solidFill>
                            <a:srgbClr val="000000"/>
                          </a:solidFill>
                          <a:effectLst/>
                          <a:latin typeface="Calibri" panose="020F0502020204030204" pitchFamily="34" charset="0"/>
                        </a:rPr>
                        <a:t>tipping point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gases such as carbon dioxide released into the atmosphere, usually from burning fuels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053441562"/>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emissions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the point at which the amount of greenhouse gases added equals the amount removed</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4187290"/>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net zero</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long period of very low rainfall leading to water shortages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47381064"/>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drought</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a sudden, large rise in sea level caused by storms or weather systems</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10434475"/>
                  </a:ext>
                </a:extLst>
              </a:tr>
              <a:tr h="685800">
                <a:tc>
                  <a:txBody>
                    <a:bodyPr/>
                    <a:lstStyle/>
                    <a:p>
                      <a:pPr algn="l" fontAlgn="b">
                        <a:buNone/>
                      </a:pPr>
                      <a:r>
                        <a:rPr lang="en-GB" sz="2000" b="0" i="0" u="none" strike="noStrike">
                          <a:solidFill>
                            <a:srgbClr val="000000"/>
                          </a:solidFill>
                          <a:effectLst/>
                          <a:latin typeface="Calibri" panose="020F0502020204030204" pitchFamily="34" charset="0"/>
                        </a:rPr>
                        <a:t>tidal surge</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b">
                        <a:buNone/>
                      </a:pPr>
                      <a:r>
                        <a:rPr lang="en-GB" sz="2000" b="0" i="0" u="none" strike="noStrike">
                          <a:solidFill>
                            <a:srgbClr val="000000"/>
                          </a:solidFill>
                          <a:effectLst/>
                          <a:latin typeface="Calibri" panose="020F0502020204030204" pitchFamily="34" charset="0"/>
                        </a:rPr>
                        <a:t>Relating to the buying and selling of goods and making money.</a:t>
                      </a: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21865700"/>
                  </a:ext>
                </a:extLst>
              </a:tr>
            </a:tbl>
          </a:graphicData>
        </a:graphic>
      </p:graphicFrame>
      <p:sp>
        <p:nvSpPr>
          <p:cNvPr id="16" name="Rectangle 15">
            <a:extLst>
              <a:ext uri="{FF2B5EF4-FFF2-40B4-BE49-F238E27FC236}">
                <a16:creationId xmlns:a16="http://schemas.microsoft.com/office/drawing/2014/main" id="{114E80EC-EDEA-A9B8-0AA7-BDF4DBA738D9}"/>
              </a:ext>
            </a:extLst>
          </p:cNvPr>
          <p:cNvSpPr/>
          <p:nvPr/>
        </p:nvSpPr>
        <p:spPr>
          <a:xfrm>
            <a:off x="2312410" y="21739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3" name="Rectangle 12">
            <a:extLst>
              <a:ext uri="{FF2B5EF4-FFF2-40B4-BE49-F238E27FC236}">
                <a16:creationId xmlns:a16="http://schemas.microsoft.com/office/drawing/2014/main" id="{2CF9C0CB-B38A-8B6C-0680-46BD300AE1DC}"/>
              </a:ext>
            </a:extLst>
          </p:cNvPr>
          <p:cNvSpPr/>
          <p:nvPr/>
        </p:nvSpPr>
        <p:spPr>
          <a:xfrm>
            <a:off x="2312410" y="28597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7" name="Rectangle 16">
            <a:extLst>
              <a:ext uri="{FF2B5EF4-FFF2-40B4-BE49-F238E27FC236}">
                <a16:creationId xmlns:a16="http://schemas.microsoft.com/office/drawing/2014/main" id="{4BF34747-0A22-7E80-CA39-94571BB7D672}"/>
              </a:ext>
            </a:extLst>
          </p:cNvPr>
          <p:cNvSpPr/>
          <p:nvPr/>
        </p:nvSpPr>
        <p:spPr>
          <a:xfrm>
            <a:off x="2312410" y="35455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8" name="Rectangle 17">
            <a:extLst>
              <a:ext uri="{FF2B5EF4-FFF2-40B4-BE49-F238E27FC236}">
                <a16:creationId xmlns:a16="http://schemas.microsoft.com/office/drawing/2014/main" id="{FB910803-A54A-5B45-8345-8FFD7AC1C67C}"/>
              </a:ext>
            </a:extLst>
          </p:cNvPr>
          <p:cNvSpPr/>
          <p:nvPr/>
        </p:nvSpPr>
        <p:spPr>
          <a:xfrm>
            <a:off x="2312410" y="42313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
        <p:nvSpPr>
          <p:cNvPr id="19" name="Rectangle 18">
            <a:extLst>
              <a:ext uri="{FF2B5EF4-FFF2-40B4-BE49-F238E27FC236}">
                <a16:creationId xmlns:a16="http://schemas.microsoft.com/office/drawing/2014/main" id="{DB05B3E1-CB09-5A78-B03C-31610DE59A67}"/>
              </a:ext>
            </a:extLst>
          </p:cNvPr>
          <p:cNvSpPr/>
          <p:nvPr/>
        </p:nvSpPr>
        <p:spPr>
          <a:xfrm>
            <a:off x="2312410" y="4917122"/>
            <a:ext cx="8985789" cy="685800"/>
          </a:xfrm>
          <a:prstGeom prst="rect">
            <a:avLst/>
          </a:prstGeom>
          <a:solidFill>
            <a:srgbClr val="00B0F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a:t>?</a:t>
            </a:r>
          </a:p>
        </p:txBody>
      </p:sp>
    </p:spTree>
    <p:extLst>
      <p:ext uri="{BB962C8B-B14F-4D97-AF65-F5344CB8AC3E}">
        <p14:creationId xmlns:p14="http://schemas.microsoft.com/office/powerpoint/2010/main" val="3287233457"/>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6"/>
                    </p:tgtEl>
                  </p:cond>
                </p:stCondLst>
                <p:endSync evt="end" delay="0">
                  <p:rtn val="all"/>
                </p:endSync>
                <p:childTnLst>
                  <p:par>
                    <p:cTn id="3" fill="hold">
                      <p:stCondLst>
                        <p:cond delay="0"/>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hidden"/>
                                      </p:to>
                                    </p:set>
                                  </p:childTnLst>
                                </p:cTn>
                              </p:par>
                            </p:childTnLst>
                          </p:cTn>
                        </p:par>
                      </p:childTnLst>
                    </p:cTn>
                  </p:par>
                </p:childTnLst>
              </p:cTn>
              <p:nextCondLst>
                <p:cond evt="onClick" delay="0">
                  <p:tgtEl>
                    <p:spTgt spid="16"/>
                  </p:tgtEl>
                </p:cond>
              </p:nextCondLst>
            </p:seq>
            <p:seq concurrent="1" nextAc="seek">
              <p:cTn id="7" restart="whenNotActive" fill="hold" evtFilter="cancelBubble" nodeType="interactiveSeq">
                <p:stCondLst>
                  <p:cond evt="onClick" delay="0">
                    <p:tgtEl>
                      <p:spTgt spid="13"/>
                    </p:tgtEl>
                  </p:cond>
                </p:stCondLst>
                <p:endSync evt="end" delay="0">
                  <p:rtn val="all"/>
                </p:endSync>
                <p:childTnLst>
                  <p:par>
                    <p:cTn id="8" fill="hold">
                      <p:stCondLst>
                        <p:cond delay="0"/>
                      </p:stCondLst>
                      <p:childTnLst>
                        <p:par>
                          <p:cTn id="9" fill="hold">
                            <p:stCondLst>
                              <p:cond delay="0"/>
                            </p:stCondLst>
                            <p:childTnLst>
                              <p:par>
                                <p:cTn id="10" presetID="1" presetClass="exit" presetSubtype="0" fill="hold" grpId="0" nodeType="clickEffect">
                                  <p:stCondLst>
                                    <p:cond delay="0"/>
                                  </p:stCondLst>
                                  <p:childTnLst>
                                    <p:set>
                                      <p:cBhvr>
                                        <p:cTn id="11" dur="1" fill="hold">
                                          <p:stCondLst>
                                            <p:cond delay="0"/>
                                          </p:stCondLst>
                                        </p:cTn>
                                        <p:tgtEl>
                                          <p:spTgt spid="13"/>
                                        </p:tgtEl>
                                        <p:attrNameLst>
                                          <p:attrName>style.visibility</p:attrName>
                                        </p:attrNameLst>
                                      </p:cBhvr>
                                      <p:to>
                                        <p:strVal val="hidden"/>
                                      </p:to>
                                    </p:set>
                                  </p:childTnLst>
                                </p:cTn>
                              </p:par>
                            </p:childTnLst>
                          </p:cTn>
                        </p:par>
                      </p:childTnLst>
                    </p:cTn>
                  </p:par>
                </p:childTnLst>
              </p:cTn>
              <p:nextCondLst>
                <p:cond evt="onClick" delay="0">
                  <p:tgtEl>
                    <p:spTgt spid="13"/>
                  </p:tgtEl>
                </p:cond>
              </p:nextCondLst>
            </p:seq>
            <p:seq concurrent="1" nextAc="seek">
              <p:cTn id="12" restart="whenNotActive" fill="hold" evtFilter="cancelBubble" nodeType="interactiveSeq">
                <p:stCondLst>
                  <p:cond evt="onClick" delay="0">
                    <p:tgtEl>
                      <p:spTgt spid="17"/>
                    </p:tgtEl>
                  </p:cond>
                </p:stCondLst>
                <p:endSync evt="end" delay="0">
                  <p:rtn val="all"/>
                </p:endSync>
                <p:childTnLst>
                  <p:par>
                    <p:cTn id="13" fill="hold">
                      <p:stCondLst>
                        <p:cond delay="0"/>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hidden"/>
                                      </p:to>
                                    </p:set>
                                  </p:childTnLst>
                                </p:cTn>
                              </p:par>
                            </p:childTnLst>
                          </p:cTn>
                        </p:par>
                      </p:childTnLst>
                    </p:cTn>
                  </p:par>
                </p:childTnLst>
              </p:cTn>
              <p:nextCondLst>
                <p:cond evt="onClick" delay="0">
                  <p:tgtEl>
                    <p:spTgt spid="17"/>
                  </p:tgtEl>
                </p:cond>
              </p:nextCondLst>
            </p:seq>
            <p:seq concurrent="1" nextAc="seek">
              <p:cTn id="17" restart="whenNotActive" fill="hold" evtFilter="cancelBubble" nodeType="interactiveSeq">
                <p:stCondLst>
                  <p:cond evt="onClick" delay="0">
                    <p:tgtEl>
                      <p:spTgt spid="18"/>
                    </p:tgtEl>
                  </p:cond>
                </p:stCondLst>
                <p:endSync evt="end" delay="0">
                  <p:rtn val="all"/>
                </p:endSync>
                <p:childTnLst>
                  <p:par>
                    <p:cTn id="18" fill="hold">
                      <p:stCondLst>
                        <p:cond delay="0"/>
                      </p:stCondLst>
                      <p:childTnLst>
                        <p:par>
                          <p:cTn id="19" fill="hold">
                            <p:stCondLst>
                              <p:cond delay="0"/>
                            </p:stCondLst>
                            <p:childTnLst>
                              <p:par>
                                <p:cTn id="20" presetID="1" presetClass="exit"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hidden"/>
                                      </p:to>
                                    </p:set>
                                  </p:childTnLst>
                                </p:cTn>
                              </p:par>
                            </p:childTnLst>
                          </p:cTn>
                        </p:par>
                      </p:childTnLst>
                    </p:cTn>
                  </p:par>
                </p:childTnLst>
              </p:cTn>
              <p:nextCondLst>
                <p:cond evt="onClick" delay="0">
                  <p:tgtEl>
                    <p:spTgt spid="18"/>
                  </p:tgtEl>
                </p:cond>
              </p:nextCondLst>
            </p:seq>
            <p:seq concurrent="1" nextAc="seek">
              <p:cTn id="22" restart="whenNotActive" fill="hold" evtFilter="cancelBubble" nodeType="interactiveSeq">
                <p:stCondLst>
                  <p:cond evt="onClick" delay="0">
                    <p:tgtEl>
                      <p:spTgt spid="19"/>
                    </p:tgtEl>
                  </p:cond>
                </p:stCondLst>
                <p:endSync evt="end" delay="0">
                  <p:rtn val="all"/>
                </p:endSync>
                <p:childTnLst>
                  <p:par>
                    <p:cTn id="23" fill="hold">
                      <p:stCondLst>
                        <p:cond delay="0"/>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childTnLst>
              </p:cTn>
              <p:nextCondLst>
                <p:cond evt="onClick" delay="0">
                  <p:tgtEl>
                    <p:spTgt spid="19"/>
                  </p:tgtEl>
                </p:cond>
              </p:nextCondLst>
            </p:seq>
          </p:childTnLst>
        </p:cTn>
      </p:par>
    </p:tnLst>
    <p:bldLst>
      <p:bldP spid="16" grpId="0" animBg="1"/>
      <p:bldP spid="13" grpId="0" animBg="1"/>
      <p:bldP spid="17" grpId="0" animBg="1"/>
      <p:bldP spid="18" grpId="0" animBg="1"/>
      <p:bldP spid="1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2C497C-5676-F0CE-9C15-81908FA1F34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DCBDDC3-E8B4-5DB7-95EB-E4EB767438DF}"/>
              </a:ext>
            </a:extLst>
          </p:cNvPr>
          <p:cNvGrpSpPr/>
          <p:nvPr/>
        </p:nvGrpSpPr>
        <p:grpSpPr>
          <a:xfrm>
            <a:off x="38684" y="68473"/>
            <a:ext cx="1316831" cy="1316831"/>
            <a:chOff x="5180554" y="1026138"/>
            <a:chExt cx="1316831" cy="1316831"/>
          </a:xfrm>
        </p:grpSpPr>
        <p:sp>
          <p:nvSpPr>
            <p:cNvPr id="4" name="Oval 3">
              <a:extLst>
                <a:ext uri="{FF2B5EF4-FFF2-40B4-BE49-F238E27FC236}">
                  <a16:creationId xmlns:a16="http://schemas.microsoft.com/office/drawing/2014/main" id="{4D7EC211-6C19-B85F-7D0D-25A8FEEA3637}"/>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6" name="Oval 4">
              <a:extLst>
                <a:ext uri="{FF2B5EF4-FFF2-40B4-BE49-F238E27FC236}">
                  <a16:creationId xmlns:a16="http://schemas.microsoft.com/office/drawing/2014/main" id="{6358CBDE-7D41-F226-3072-41F208B4D98A}"/>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
        <p:nvSpPr>
          <p:cNvPr id="13" name="Title 1">
            <a:extLst>
              <a:ext uri="{FF2B5EF4-FFF2-40B4-BE49-F238E27FC236}">
                <a16:creationId xmlns:a16="http://schemas.microsoft.com/office/drawing/2014/main" id="{9CDE4E57-6664-84F7-C8E9-8F4381A4D091}"/>
              </a:ext>
            </a:extLst>
          </p:cNvPr>
          <p:cNvSpPr txBox="1">
            <a:spLocks/>
          </p:cNvSpPr>
          <p:nvPr/>
        </p:nvSpPr>
        <p:spPr>
          <a:xfrm>
            <a:off x="2535882" y="918780"/>
            <a:ext cx="5559247"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endParaRPr lang="en-GB" sz="2800"/>
          </a:p>
        </p:txBody>
      </p:sp>
      <p:sp>
        <p:nvSpPr>
          <p:cNvPr id="3" name="Title 1">
            <a:extLst>
              <a:ext uri="{FF2B5EF4-FFF2-40B4-BE49-F238E27FC236}">
                <a16:creationId xmlns:a16="http://schemas.microsoft.com/office/drawing/2014/main" id="{3B86A135-C8BF-2285-F3AA-0B4C5706CE90}"/>
              </a:ext>
            </a:extLst>
          </p:cNvPr>
          <p:cNvSpPr txBox="1">
            <a:spLocks/>
          </p:cNvSpPr>
          <p:nvPr/>
        </p:nvSpPr>
        <p:spPr>
          <a:xfrm>
            <a:off x="0" y="85619"/>
            <a:ext cx="12192000" cy="1498214"/>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50000"/>
              </a:lnSpc>
            </a:pPr>
            <a:r>
              <a:rPr lang="en-GB" sz="4000"/>
              <a:t>Vocabulary Focus</a:t>
            </a:r>
          </a:p>
        </p:txBody>
      </p:sp>
      <p:sp>
        <p:nvSpPr>
          <p:cNvPr id="7" name="Title 1">
            <a:extLst>
              <a:ext uri="{FF2B5EF4-FFF2-40B4-BE49-F238E27FC236}">
                <a16:creationId xmlns:a16="http://schemas.microsoft.com/office/drawing/2014/main" id="{07FF75F1-41FF-EEA3-B802-ED64112A7D02}"/>
              </a:ext>
            </a:extLst>
          </p:cNvPr>
          <p:cNvSpPr txBox="1">
            <a:spLocks/>
          </p:cNvSpPr>
          <p:nvPr/>
        </p:nvSpPr>
        <p:spPr>
          <a:xfrm>
            <a:off x="5590032" y="604264"/>
            <a:ext cx="1873406" cy="97956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GB" sz="4000" b="1"/>
          </a:p>
        </p:txBody>
      </p:sp>
      <p:graphicFrame>
        <p:nvGraphicFramePr>
          <p:cNvPr id="9" name="Table 8">
            <a:extLst>
              <a:ext uri="{FF2B5EF4-FFF2-40B4-BE49-F238E27FC236}">
                <a16:creationId xmlns:a16="http://schemas.microsoft.com/office/drawing/2014/main" id="{98F68A2F-1F77-2878-BCF5-883045F28026}"/>
              </a:ext>
            </a:extLst>
          </p:cNvPr>
          <p:cNvGraphicFramePr>
            <a:graphicFrameLocks noGrp="1"/>
          </p:cNvGraphicFramePr>
          <p:nvPr/>
        </p:nvGraphicFramePr>
        <p:xfrm>
          <a:off x="2032000" y="1727002"/>
          <a:ext cx="8128000" cy="4922852"/>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811326830"/>
                    </a:ext>
                  </a:extLst>
                </a:gridCol>
                <a:gridCol w="4064000">
                  <a:extLst>
                    <a:ext uri="{9D8B030D-6E8A-4147-A177-3AD203B41FA5}">
                      <a16:colId xmlns:a16="http://schemas.microsoft.com/office/drawing/2014/main" val="773647625"/>
                    </a:ext>
                  </a:extLst>
                </a:gridCol>
              </a:tblGrid>
              <a:tr h="2461426">
                <a:tc>
                  <a:txBody>
                    <a:bodyPr/>
                    <a:lstStyle/>
                    <a:p>
                      <a:r>
                        <a:rPr lang="en-GB" b="0">
                          <a:solidFill>
                            <a:schemeClr val="tx1"/>
                          </a:solidFill>
                        </a:rPr>
                        <a:t>Write it 5 times</a:t>
                      </a:r>
                    </a:p>
                    <a:p>
                      <a:endParaRPr lang="en-GB" b="0">
                        <a:solidFill>
                          <a:schemeClr val="tx1"/>
                        </a:solidFill>
                      </a:endParaRPr>
                    </a:p>
                    <a:p>
                      <a:pPr algn="ctr"/>
                      <a:r>
                        <a:rPr lang="en-GB" sz="3200" b="0">
                          <a:solidFill>
                            <a:schemeClr val="tx1"/>
                          </a:solidFill>
                          <a:latin typeface="XCCW Joined 4a" panose="03050602040000000000" pitchFamily="66" charset="77"/>
                        </a:rPr>
                        <a:t>emissions</a:t>
                      </a:r>
                    </a:p>
                    <a:p>
                      <a:endParaRPr lang="en-GB" b="0">
                        <a:solidFill>
                          <a:schemeClr val="tx1"/>
                        </a:solidFill>
                        <a:latin typeface="XCCW Joined 4a" panose="03050602040000000000" pitchFamily="66" charset="77"/>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400">
                          <a:solidFill>
                            <a:schemeClr val="tx1"/>
                          </a:solidFill>
                        </a:rPr>
                        <a:t>Use it in a sentence</a:t>
                      </a:r>
                    </a:p>
                    <a:p>
                      <a:endParaRPr lang="en-GB" sz="2400" b="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64313380"/>
                  </a:ext>
                </a:extLst>
              </a:tr>
              <a:tr h="2461426">
                <a:tc gridSpan="2">
                  <a:txBody>
                    <a:bodyPr/>
                    <a:lstStyle/>
                    <a:p>
                      <a:r>
                        <a:rPr lang="en-GB">
                          <a:solidFill>
                            <a:schemeClr val="tx1"/>
                          </a:solidFill>
                        </a:rPr>
                        <a:t>Other linked words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3729397"/>
                  </a:ext>
                </a:extLst>
              </a:tr>
            </a:tbl>
          </a:graphicData>
        </a:graphic>
      </p:graphicFrame>
      <p:pic>
        <p:nvPicPr>
          <p:cNvPr id="8" name="Picture 7">
            <a:extLst>
              <a:ext uri="{FF2B5EF4-FFF2-40B4-BE49-F238E27FC236}">
                <a16:creationId xmlns:a16="http://schemas.microsoft.com/office/drawing/2014/main" id="{755B9240-8989-B9DB-0B3B-B8D062E07BC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5" name="TextBox 4">
            <a:extLst>
              <a:ext uri="{FF2B5EF4-FFF2-40B4-BE49-F238E27FC236}">
                <a16:creationId xmlns:a16="http://schemas.microsoft.com/office/drawing/2014/main" id="{7904627B-45D6-BE36-7042-C69B53AD1828}"/>
              </a:ext>
            </a:extLst>
          </p:cNvPr>
          <p:cNvSpPr txBox="1"/>
          <p:nvPr/>
        </p:nvSpPr>
        <p:spPr>
          <a:xfrm>
            <a:off x="4766154" y="5299847"/>
            <a:ext cx="2400000" cy="480000"/>
          </a:xfrm>
          <a:prstGeom prst="rect">
            <a:avLst/>
          </a:prstGeom>
          <a:noFill/>
        </p:spPr>
        <p:txBody>
          <a:bodyPr wrap="square" rtlCol="0" anchor="ctr"/>
          <a:lstStyle/>
          <a:p>
            <a:pPr algn="ctr"/>
            <a:r>
              <a:rPr lang="en-GB"/>
              <a:t>emissions</a:t>
            </a:r>
          </a:p>
        </p:txBody>
      </p:sp>
      <p:cxnSp>
        <p:nvCxnSpPr>
          <p:cNvPr id="12" name="Straight Connector 11">
            <a:extLst>
              <a:ext uri="{FF2B5EF4-FFF2-40B4-BE49-F238E27FC236}">
                <a16:creationId xmlns:a16="http://schemas.microsoft.com/office/drawing/2014/main" id="{483F9876-11CA-68D4-B5B9-503CB1452DDF}"/>
              </a:ext>
            </a:extLst>
          </p:cNvPr>
          <p:cNvCxnSpPr/>
          <p:nvPr/>
        </p:nvCxnSpPr>
        <p:spPr>
          <a:xfrm flipV="1">
            <a:off x="6391527" y="4613658"/>
            <a:ext cx="807506" cy="782198"/>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67DD069-433E-BF48-9167-8E5BCC114624}"/>
              </a:ext>
            </a:extLst>
          </p:cNvPr>
          <p:cNvCxnSpPr>
            <a:cxnSpLocks/>
          </p:cNvCxnSpPr>
          <p:nvPr/>
        </p:nvCxnSpPr>
        <p:spPr>
          <a:xfrm>
            <a:off x="6532910" y="5656722"/>
            <a:ext cx="930528" cy="216932"/>
          </a:xfrm>
          <a:prstGeom prst="line">
            <a:avLst/>
          </a:prstGeom>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D37026A-B5E7-A43B-7015-F91BED67059F}"/>
              </a:ext>
            </a:extLst>
          </p:cNvPr>
          <p:cNvCxnSpPr>
            <a:cxnSpLocks/>
          </p:cNvCxnSpPr>
          <p:nvPr/>
        </p:nvCxnSpPr>
        <p:spPr>
          <a:xfrm flipV="1">
            <a:off x="4786339" y="5656722"/>
            <a:ext cx="791952" cy="565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47576966-8817-48AF-F837-0832462F5E46}"/>
              </a:ext>
            </a:extLst>
          </p:cNvPr>
          <p:cNvCxnSpPr>
            <a:cxnSpLocks/>
          </p:cNvCxnSpPr>
          <p:nvPr/>
        </p:nvCxnSpPr>
        <p:spPr>
          <a:xfrm>
            <a:off x="4688753" y="5010683"/>
            <a:ext cx="852027" cy="382970"/>
          </a:xfrm>
          <a:prstGeom prst="line">
            <a:avLst/>
          </a:prstGeom>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6EE6038E-2E20-39E1-51AA-382FB77B2D40}"/>
              </a:ext>
            </a:extLst>
          </p:cNvPr>
          <p:cNvPicPr>
            <a:picLocks noChangeAspect="1"/>
          </p:cNvPicPr>
          <p:nvPr/>
        </p:nvPicPr>
        <p:blipFill>
          <a:blip r:embed="rId4"/>
          <a:stretch>
            <a:fillRect/>
          </a:stretch>
        </p:blipFill>
        <p:spPr>
          <a:xfrm>
            <a:off x="6502757" y="2982841"/>
            <a:ext cx="3184743" cy="794571"/>
          </a:xfrm>
          <a:prstGeom prst="rect">
            <a:avLst/>
          </a:prstGeom>
          <a:solidFill>
            <a:schemeClr val="bg1"/>
          </a:solidFill>
        </p:spPr>
      </p:pic>
    </p:spTree>
    <p:extLst>
      <p:ext uri="{BB962C8B-B14F-4D97-AF65-F5344CB8AC3E}">
        <p14:creationId xmlns:p14="http://schemas.microsoft.com/office/powerpoint/2010/main" val="39342315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7C8F1879-9C69-AABD-5D27-70A3FD61C54F}"/>
              </a:ext>
            </a:extLst>
          </p:cNvPr>
          <p:cNvGrpSpPr/>
          <p:nvPr/>
        </p:nvGrpSpPr>
        <p:grpSpPr>
          <a:xfrm>
            <a:off x="43957" y="90546"/>
            <a:ext cx="963274" cy="909579"/>
            <a:chOff x="1630613" y="1026138"/>
            <a:chExt cx="1316831" cy="1316831"/>
          </a:xfrm>
        </p:grpSpPr>
        <p:sp>
          <p:nvSpPr>
            <p:cNvPr id="4" name="Oval 3">
              <a:extLst>
                <a:ext uri="{FF2B5EF4-FFF2-40B4-BE49-F238E27FC236}">
                  <a16:creationId xmlns:a16="http://schemas.microsoft.com/office/drawing/2014/main" id="{C5A04DD0-FF30-895F-0ED9-888B47B1A02D}"/>
                </a:ext>
              </a:extLst>
            </p:cNvPr>
            <p:cNvSpPr/>
            <p:nvPr/>
          </p:nvSpPr>
          <p:spPr>
            <a:xfrm>
              <a:off x="1630613" y="1026138"/>
              <a:ext cx="1316831" cy="1316831"/>
            </a:xfrm>
            <a:prstGeom prst="ellipse">
              <a:avLst/>
            </a:prstGeom>
            <a:solidFill>
              <a:srgbClr val="A2CFFC"/>
            </a:solidFill>
            <a:ln w="38100">
              <a:solidFill>
                <a:srgbClr val="0762BA"/>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5" name="Oval 4">
              <a:extLst>
                <a:ext uri="{FF2B5EF4-FFF2-40B4-BE49-F238E27FC236}">
                  <a16:creationId xmlns:a16="http://schemas.microsoft.com/office/drawing/2014/main" id="{8EBD88F1-D64A-0A71-7434-4A250ABBD4E6}"/>
                </a:ext>
              </a:extLst>
            </p:cNvPr>
            <p:cNvSpPr txBox="1"/>
            <p:nvPr/>
          </p:nvSpPr>
          <p:spPr>
            <a:xfrm>
              <a:off x="1823458"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rmAutofit/>
            </a:bodyPr>
            <a:lstStyle/>
            <a:p>
              <a:pPr marL="0" lvl="0" indent="0" algn="ctr" defTabSz="577850">
                <a:lnSpc>
                  <a:spcPct val="90000"/>
                </a:lnSpc>
                <a:spcBef>
                  <a:spcPct val="0"/>
                </a:spcBef>
                <a:spcAft>
                  <a:spcPct val="35000"/>
                </a:spcAft>
                <a:buNone/>
              </a:pPr>
              <a:r>
                <a:rPr lang="en-GB" sz="1300" b="1" kern="1200">
                  <a:solidFill>
                    <a:srgbClr val="0762BA"/>
                  </a:solidFill>
                  <a:latin typeface="Sassoon Infant Rg" panose="02000503030000020003" pitchFamily="2" charset="0"/>
                  <a:ea typeface="Sassoon Infant Rg" panose="02000503030000020003" pitchFamily="2" charset="0"/>
                </a:rPr>
                <a:t>Decoding &amp; phonics</a:t>
              </a:r>
            </a:p>
          </p:txBody>
        </p:sp>
      </p:grpSp>
      <p:pic>
        <p:nvPicPr>
          <p:cNvPr id="11" name="Picture 10">
            <a:extLst>
              <a:ext uri="{FF2B5EF4-FFF2-40B4-BE49-F238E27FC236}">
                <a16:creationId xmlns:a16="http://schemas.microsoft.com/office/drawing/2014/main" id="{5B88EF2C-3893-9BD5-87F9-6BF0F699F9A5}"/>
              </a:ext>
            </a:extLst>
          </p:cNvPr>
          <p:cNvPicPr/>
          <p:nvPr/>
        </p:nvPicPr>
        <p:blipFill>
          <a:blip r:embed="rId3">
            <a:extLst>
              <a:ext uri="{28A0092B-C50C-407E-A947-70E740481C1C}">
                <a14:useLocalDpi xmlns:a14="http://schemas.microsoft.com/office/drawing/2010/main" val="0"/>
              </a:ext>
            </a:extLst>
          </a:blip>
          <a:stretch>
            <a:fillRect/>
          </a:stretch>
        </p:blipFill>
        <p:spPr>
          <a:xfrm>
            <a:off x="10539555" y="90546"/>
            <a:ext cx="1691129" cy="711848"/>
          </a:xfrm>
          <a:prstGeom prst="rect">
            <a:avLst/>
          </a:prstGeom>
        </p:spPr>
      </p:pic>
      <p:sp>
        <p:nvSpPr>
          <p:cNvPr id="12" name="Title 1">
            <a:extLst>
              <a:ext uri="{FF2B5EF4-FFF2-40B4-BE49-F238E27FC236}">
                <a16:creationId xmlns:a16="http://schemas.microsoft.com/office/drawing/2014/main" id="{D07968F0-1915-728F-1F6D-2CB9277677F6}"/>
              </a:ext>
            </a:extLst>
          </p:cNvPr>
          <p:cNvSpPr txBox="1">
            <a:spLocks/>
          </p:cNvSpPr>
          <p:nvPr/>
        </p:nvSpPr>
        <p:spPr>
          <a:xfrm>
            <a:off x="38684" y="-18063"/>
            <a:ext cx="12153316" cy="129968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GB"/>
              <a:t>Independent Read</a:t>
            </a:r>
          </a:p>
        </p:txBody>
      </p:sp>
      <p:sp>
        <p:nvSpPr>
          <p:cNvPr id="22" name="TextBox 21">
            <a:extLst>
              <a:ext uri="{FF2B5EF4-FFF2-40B4-BE49-F238E27FC236}">
                <a16:creationId xmlns:a16="http://schemas.microsoft.com/office/drawing/2014/main" id="{BBE494B4-E4A1-C48A-15E2-3683EA0AD086}"/>
              </a:ext>
            </a:extLst>
          </p:cNvPr>
          <p:cNvSpPr txBox="1"/>
          <p:nvPr/>
        </p:nvSpPr>
        <p:spPr>
          <a:xfrm>
            <a:off x="1" y="931322"/>
            <a:ext cx="12191999" cy="830997"/>
          </a:xfrm>
          <a:prstGeom prst="rect">
            <a:avLst/>
          </a:prstGeom>
          <a:noFill/>
        </p:spPr>
        <p:txBody>
          <a:bodyPr wrap="square">
            <a:spAutoFit/>
          </a:bodyPr>
          <a:lstStyle/>
          <a:p>
            <a:pPr algn="ctr"/>
            <a:r>
              <a:rPr lang="en-GB" sz="1800">
                <a:effectLst/>
                <a:latin typeface="Sassoon Infant Rg" panose="02000503030000020003" pitchFamily="2" charset="0"/>
                <a:ea typeface="Sassoon Infant Rg" panose="02000503030000020003" pitchFamily="2" charset="0"/>
                <a:cs typeface="Times New Roman" panose="02020603050405020304" pitchFamily="18" charset="0"/>
              </a:rPr>
              <a:t xml:space="preserve">Read the complete text – underline any words or phrases you don’t understand.  Re-read full sentences for any parts you couldn’t read smoothly on the first attempt. </a:t>
            </a:r>
            <a:endParaRPr lang="en-GB" b="1"/>
          </a:p>
        </p:txBody>
      </p:sp>
      <p:sp>
        <p:nvSpPr>
          <p:cNvPr id="6" name="TextBox 5">
            <a:extLst>
              <a:ext uri="{FF2B5EF4-FFF2-40B4-BE49-F238E27FC236}">
                <a16:creationId xmlns:a16="http://schemas.microsoft.com/office/drawing/2014/main" id="{38C25E62-7AE0-A783-1D87-77105CAB659E}"/>
              </a:ext>
            </a:extLst>
          </p:cNvPr>
          <p:cNvSpPr txBox="1"/>
          <p:nvPr/>
        </p:nvSpPr>
        <p:spPr>
          <a:xfrm>
            <a:off x="2226896" y="3673314"/>
            <a:ext cx="7629665" cy="2308324"/>
          </a:xfrm>
          <a:prstGeom prst="rect">
            <a:avLst/>
          </a:prstGeom>
          <a:noFill/>
        </p:spPr>
        <p:txBody>
          <a:bodyPr wrap="square" rtlCol="0">
            <a:spAutoFit/>
          </a:bodyPr>
          <a:lstStyle/>
          <a:p>
            <a:endParaRPr lang="en-GB"/>
          </a:p>
          <a:p>
            <a:pPr marL="342900" indent="-342900">
              <a:buFont typeface="+mj-lt"/>
              <a:buAutoNum type="arabicPeriod"/>
            </a:pPr>
            <a:r>
              <a:rPr lang="en-GB"/>
              <a:t>Read by segmenting into phonemes and syllables</a:t>
            </a:r>
          </a:p>
          <a:p>
            <a:pPr marL="342900" indent="-342900">
              <a:buFont typeface="+mj-lt"/>
              <a:buAutoNum type="arabicPeriod"/>
            </a:pPr>
            <a:r>
              <a:rPr lang="en-GB"/>
              <a:t>Make a sensible attempt, making sure you blend ALL the sounds as you read.</a:t>
            </a:r>
          </a:p>
          <a:p>
            <a:pPr marL="342900" indent="-342900">
              <a:buFont typeface="+mj-lt"/>
              <a:buAutoNum type="arabicPeriod"/>
            </a:pPr>
            <a:r>
              <a:rPr lang="en-GB"/>
              <a:t>Use the context and parts of the word to make a sensible attempt at a definition.</a:t>
            </a:r>
          </a:p>
          <a:p>
            <a:pPr marL="342900" indent="-342900">
              <a:buFont typeface="+mj-lt"/>
              <a:buAutoNum type="arabicPeriod"/>
            </a:pPr>
            <a:endParaRPr lang="en-GB"/>
          </a:p>
          <a:p>
            <a:r>
              <a:rPr lang="en-GB"/>
              <a:t>Remember to re-read the entire sentence again.</a:t>
            </a:r>
          </a:p>
        </p:txBody>
      </p:sp>
      <p:pic>
        <p:nvPicPr>
          <p:cNvPr id="2" name="Picture 1">
            <a:extLst>
              <a:ext uri="{FF2B5EF4-FFF2-40B4-BE49-F238E27FC236}">
                <a16:creationId xmlns:a16="http://schemas.microsoft.com/office/drawing/2014/main" id="{4A238304-94B7-D6B3-84C9-8D8F6CDD2BB4}"/>
              </a:ext>
            </a:extLst>
          </p:cNvPr>
          <p:cNvPicPr>
            <a:picLocks noChangeAspect="1"/>
          </p:cNvPicPr>
          <p:nvPr/>
        </p:nvPicPr>
        <p:blipFill>
          <a:blip r:embed="rId4"/>
          <a:stretch>
            <a:fillRect/>
          </a:stretch>
        </p:blipFill>
        <p:spPr>
          <a:xfrm>
            <a:off x="866163" y="2097530"/>
            <a:ext cx="10351133" cy="1434810"/>
          </a:xfrm>
          <a:prstGeom prst="rect">
            <a:avLst/>
          </a:prstGeom>
        </p:spPr>
      </p:pic>
      <p:sp>
        <p:nvSpPr>
          <p:cNvPr id="13" name="TextBox 12">
            <a:extLst>
              <a:ext uri="{FF2B5EF4-FFF2-40B4-BE49-F238E27FC236}">
                <a16:creationId xmlns:a16="http://schemas.microsoft.com/office/drawing/2014/main" id="{A473D780-1F99-6094-42B5-9820D9017C99}"/>
              </a:ext>
            </a:extLst>
          </p:cNvPr>
          <p:cNvSpPr txBox="1"/>
          <p:nvPr/>
        </p:nvSpPr>
        <p:spPr>
          <a:xfrm>
            <a:off x="-2406316" y="1524000"/>
            <a:ext cx="184731" cy="369332"/>
          </a:xfrm>
          <a:prstGeom prst="rect">
            <a:avLst/>
          </a:prstGeom>
          <a:noFill/>
        </p:spPr>
        <p:txBody>
          <a:bodyPr wrap="none" rtlCol="0">
            <a:spAutoFit/>
          </a:bodyPr>
          <a:lstStyle/>
          <a:p>
            <a:endParaRPr lang="en-GB"/>
          </a:p>
        </p:txBody>
      </p:sp>
      <p:sp>
        <p:nvSpPr>
          <p:cNvPr id="15" name="TextBox 14">
            <a:extLst>
              <a:ext uri="{FF2B5EF4-FFF2-40B4-BE49-F238E27FC236}">
                <a16:creationId xmlns:a16="http://schemas.microsoft.com/office/drawing/2014/main" id="{E15A5C10-306D-554F-EAA6-B73E5AF3D6C7}"/>
              </a:ext>
            </a:extLst>
          </p:cNvPr>
          <p:cNvSpPr txBox="1"/>
          <p:nvPr/>
        </p:nvSpPr>
        <p:spPr>
          <a:xfrm>
            <a:off x="209488" y="1865629"/>
            <a:ext cx="11861201" cy="3985274"/>
          </a:xfrm>
          <a:prstGeom prst="rect">
            <a:avLst/>
          </a:prstGeom>
          <a:solidFill>
            <a:schemeClr val="accent5">
              <a:lumMod val="20000"/>
              <a:lumOff val="80000"/>
            </a:schemeClr>
          </a:solidFill>
        </p:spPr>
        <p:txBody>
          <a:bodyPr wrap="square" anchor="ctr">
            <a:noAutofit/>
          </a:bodyPr>
          <a:lstStyle/>
          <a:p>
            <a:r>
              <a:rPr lang="en-US" sz="2200"/>
              <a:t>Climate change is already reshaping life in both Brazil and England, though in very different ways. In Brazil, rising temperatures have worsened droughts in the northeast, where communities that depend on river water for farming and drinking are finding rivers running lower than at any point in living memory. In the Amazon, scientists have found that some parts of the forest are now releasing more carbon than they absorb, a warning sign that one of the world's most important carbon stores may be approaching a tipping point. England's challenges look different but are no less serious. Winters are becoming wetter and summers hotter. Flooding has hit communities in Somerset, Yorkshire and Gloucestershire repeatedly in recent years, damaging homes and farmland. The Thames Barrier, built in 1982 to protect London from tidal surges, now closes far more frequently than its designers expected. Sea levels are rising, and low-lying coastal areas like East Anglia face an uncertain future. Both governments have made pledges. Brazil committed to ending illegal deforestation by 2030 under the Glasgow Climate Pact. The UK has set a legally binding target to reach net zero carbon emissions by 2050. But critics of both countries argue that promises on paper are not the same as action on the ground, and that for communities already feeling the effects — whether in the drought-stricken northeast of Brazil or a flooded village in Yorkshire — the pace of change is far too slow.</a:t>
            </a:r>
          </a:p>
        </p:txBody>
      </p:sp>
      <p:sp>
        <p:nvSpPr>
          <p:cNvPr id="10" name="Rounded Rectangle 9">
            <a:extLst>
              <a:ext uri="{FF2B5EF4-FFF2-40B4-BE49-F238E27FC236}">
                <a16:creationId xmlns:a16="http://schemas.microsoft.com/office/drawing/2014/main" id="{911D3733-5EF2-7482-D164-B776AE41E9CC}"/>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Tree>
    <p:extLst>
      <p:ext uri="{BB962C8B-B14F-4D97-AF65-F5344CB8AC3E}">
        <p14:creationId xmlns:p14="http://schemas.microsoft.com/office/powerpoint/2010/main" val="1979448493"/>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1" nodeType="click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nextCondLst>
                <p:cond evt="onClick" delay="0">
                  <p:tgtEl>
                    <p:spTgt spid="10"/>
                  </p:tgtEl>
                </p:cond>
              </p:nextCondLst>
            </p:seq>
          </p:childTnLst>
        </p:cTn>
      </p:par>
    </p:tnLst>
    <p:bldLst>
      <p:bldP spid="15" grpId="0" animBg="1"/>
      <p:bldP spid="15" grpId="1"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15917-BDE9-A483-7A0D-AC15BA636611}"/>
            </a:ext>
          </a:extLst>
        </p:cNvPr>
        <p:cNvGrpSpPr/>
        <p:nvPr/>
      </p:nvGrpSpPr>
      <p:grpSpPr>
        <a:xfrm>
          <a:off x="0" y="0"/>
          <a:ext cx="0" cy="0"/>
          <a:chOff x="0" y="0"/>
          <a:chExt cx="0" cy="0"/>
        </a:xfrm>
      </p:grpSpPr>
      <p:sp>
        <p:nvSpPr>
          <p:cNvPr id="6" name="Freeform: Shape 5">
            <a:extLst>
              <a:ext uri="{FF2B5EF4-FFF2-40B4-BE49-F238E27FC236}">
                <a16:creationId xmlns:a16="http://schemas.microsoft.com/office/drawing/2014/main" id="{3E3AA9AF-9E3C-B821-0C95-D4AA63DFFCBB}"/>
              </a:ext>
            </a:extLst>
          </p:cNvPr>
          <p:cNvSpPr/>
          <p:nvPr/>
        </p:nvSpPr>
        <p:spPr>
          <a:xfrm>
            <a:off x="2609369" y="1646785"/>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7" name="Oval 6">
            <a:extLst>
              <a:ext uri="{FF2B5EF4-FFF2-40B4-BE49-F238E27FC236}">
                <a16:creationId xmlns:a16="http://schemas.microsoft.com/office/drawing/2014/main" id="{BC8D8944-1BCF-D4B0-7DAF-EF76646CCF50}"/>
              </a:ext>
            </a:extLst>
          </p:cNvPr>
          <p:cNvSpPr/>
          <p:nvPr/>
        </p:nvSpPr>
        <p:spPr>
          <a:xfrm>
            <a:off x="2057663" y="2106659"/>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8" name="Group 7">
            <a:extLst>
              <a:ext uri="{FF2B5EF4-FFF2-40B4-BE49-F238E27FC236}">
                <a16:creationId xmlns:a16="http://schemas.microsoft.com/office/drawing/2014/main" id="{6EE8B722-85CC-7111-AF8B-97EEBEE9A272}"/>
              </a:ext>
            </a:extLst>
          </p:cNvPr>
          <p:cNvGrpSpPr/>
          <p:nvPr/>
        </p:nvGrpSpPr>
        <p:grpSpPr>
          <a:xfrm>
            <a:off x="3003018" y="1125085"/>
            <a:ext cx="1838188" cy="1169519"/>
            <a:chOff x="2644385" y="2866760"/>
            <a:chExt cx="1838188" cy="1384526"/>
          </a:xfrm>
        </p:grpSpPr>
        <p:sp>
          <p:nvSpPr>
            <p:cNvPr id="9" name="Freeform: Shape 8">
              <a:extLst>
                <a:ext uri="{FF2B5EF4-FFF2-40B4-BE49-F238E27FC236}">
                  <a16:creationId xmlns:a16="http://schemas.microsoft.com/office/drawing/2014/main" id="{AD3569E1-8E04-B7BA-0398-4180BE3B0EE3}"/>
                </a:ext>
              </a:extLst>
            </p:cNvPr>
            <p:cNvSpPr/>
            <p:nvPr/>
          </p:nvSpPr>
          <p:spPr>
            <a:xfrm>
              <a:off x="2644386" y="2866760"/>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b="1"/>
            </a:p>
          </p:txBody>
        </p:sp>
        <p:sp>
          <p:nvSpPr>
            <p:cNvPr id="10" name="TextBox 9">
              <a:extLst>
                <a:ext uri="{FF2B5EF4-FFF2-40B4-BE49-F238E27FC236}">
                  <a16:creationId xmlns:a16="http://schemas.microsoft.com/office/drawing/2014/main" id="{FFC19485-EC34-F070-3B3F-978F61587575}"/>
                </a:ext>
              </a:extLst>
            </p:cNvPr>
            <p:cNvSpPr txBox="1"/>
            <p:nvPr/>
          </p:nvSpPr>
          <p:spPr>
            <a:xfrm>
              <a:off x="2644385" y="3160918"/>
              <a:ext cx="1838187"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What am I learning?</a:t>
              </a:r>
            </a:p>
          </p:txBody>
        </p:sp>
      </p:grpSp>
      <p:pic>
        <p:nvPicPr>
          <p:cNvPr id="11" name="Picture 10" descr="A picture containing room  Description automatically generated">
            <a:extLst>
              <a:ext uri="{FF2B5EF4-FFF2-40B4-BE49-F238E27FC236}">
                <a16:creationId xmlns:a16="http://schemas.microsoft.com/office/drawing/2014/main" id="{3C0DDE4A-9E8B-5BE3-65C1-A3FA2705ACB2}"/>
              </a:ext>
            </a:extLst>
          </p:cNvPr>
          <p:cNvPicPr>
            <a:picLocks noChangeAspect="1"/>
          </p:cNvPicPr>
          <p:nvPr/>
        </p:nvPicPr>
        <p:blipFill>
          <a:blip r:embed="rId3" cstate="screen">
            <a:extLst>
              <a:ext uri="{28A0092B-C50C-407E-A947-70E740481C1C}">
                <a14:useLocalDpi xmlns:a14="http://schemas.microsoft.com/office/drawing/2010/main" val="0"/>
              </a:ext>
            </a:extLst>
          </a:blip>
          <a:stretch>
            <a:fillRect/>
          </a:stretch>
        </p:blipFill>
        <p:spPr>
          <a:xfrm>
            <a:off x="485896" y="2018390"/>
            <a:ext cx="1451414" cy="2106656"/>
          </a:xfrm>
          <a:prstGeom prst="rect">
            <a:avLst/>
          </a:prstGeom>
          <a:ln>
            <a:noFill/>
          </a:ln>
        </p:spPr>
      </p:pic>
      <p:sp>
        <p:nvSpPr>
          <p:cNvPr id="12" name="Freeform: Shape 11">
            <a:extLst>
              <a:ext uri="{FF2B5EF4-FFF2-40B4-BE49-F238E27FC236}">
                <a16:creationId xmlns:a16="http://schemas.microsoft.com/office/drawing/2014/main" id="{A0F1A2A6-045F-00C7-688E-E6D0A25D5652}"/>
              </a:ext>
            </a:extLst>
          </p:cNvPr>
          <p:cNvSpPr/>
          <p:nvPr/>
        </p:nvSpPr>
        <p:spPr>
          <a:xfrm>
            <a:off x="2797615" y="2918463"/>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3" name="Oval 12">
            <a:extLst>
              <a:ext uri="{FF2B5EF4-FFF2-40B4-BE49-F238E27FC236}">
                <a16:creationId xmlns:a16="http://schemas.microsoft.com/office/drawing/2014/main" id="{408A8433-A9BE-1E56-2965-99A3B5625947}"/>
              </a:ext>
            </a:extLst>
          </p:cNvPr>
          <p:cNvSpPr/>
          <p:nvPr/>
        </p:nvSpPr>
        <p:spPr>
          <a:xfrm>
            <a:off x="2458854" y="2918501"/>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grpSp>
        <p:nvGrpSpPr>
          <p:cNvPr id="14" name="Group 13">
            <a:extLst>
              <a:ext uri="{FF2B5EF4-FFF2-40B4-BE49-F238E27FC236}">
                <a16:creationId xmlns:a16="http://schemas.microsoft.com/office/drawing/2014/main" id="{27A24A2D-2408-EB9E-5F70-46F514294503}"/>
              </a:ext>
            </a:extLst>
          </p:cNvPr>
          <p:cNvGrpSpPr/>
          <p:nvPr/>
        </p:nvGrpSpPr>
        <p:grpSpPr>
          <a:xfrm>
            <a:off x="3618760" y="2676281"/>
            <a:ext cx="2097602" cy="1251349"/>
            <a:chOff x="6125888" y="3028716"/>
            <a:chExt cx="1838187" cy="1384526"/>
          </a:xfrm>
          <a:solidFill>
            <a:schemeClr val="accent6">
              <a:lumMod val="60000"/>
              <a:lumOff val="40000"/>
            </a:schemeClr>
          </a:solidFill>
        </p:grpSpPr>
        <p:sp>
          <p:nvSpPr>
            <p:cNvPr id="15" name="Freeform: Shape 14">
              <a:extLst>
                <a:ext uri="{FF2B5EF4-FFF2-40B4-BE49-F238E27FC236}">
                  <a16:creationId xmlns:a16="http://schemas.microsoft.com/office/drawing/2014/main" id="{2946C962-D08C-0F71-45B1-FA00B59721B8}"/>
                </a:ext>
              </a:extLst>
            </p:cNvPr>
            <p:cNvSpPr/>
            <p:nvPr/>
          </p:nvSpPr>
          <p:spPr>
            <a:xfrm>
              <a:off x="6125888" y="3028716"/>
              <a:ext cx="1838187" cy="1384526"/>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2400" b="1"/>
            </a:p>
          </p:txBody>
        </p:sp>
        <p:sp>
          <p:nvSpPr>
            <p:cNvPr id="16" name="TextBox 15">
              <a:extLst>
                <a:ext uri="{FF2B5EF4-FFF2-40B4-BE49-F238E27FC236}">
                  <a16:creationId xmlns:a16="http://schemas.microsoft.com/office/drawing/2014/main" id="{60E1483D-26A7-A33B-B0CD-B1044C4A76B4}"/>
                </a:ext>
              </a:extLst>
            </p:cNvPr>
            <p:cNvSpPr txBox="1"/>
            <p:nvPr/>
          </p:nvSpPr>
          <p:spPr>
            <a:xfrm>
              <a:off x="6263965" y="3326148"/>
              <a:ext cx="1595765" cy="707886"/>
            </a:xfrm>
            <a:prstGeom prst="rect">
              <a:avLst/>
            </a:prstGeom>
            <a:noFill/>
            <a:ln w="38100">
              <a:no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algn="ctr">
                <a:defRPr b="1">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GB">
                  <a:solidFill>
                    <a:schemeClr val="tx1"/>
                  </a:solidFill>
                </a:rPr>
                <a:t>Why am I learning this ?</a:t>
              </a:r>
            </a:p>
          </p:txBody>
        </p:sp>
      </p:grpSp>
      <p:sp>
        <p:nvSpPr>
          <p:cNvPr id="17" name="Freeform: Shape 16">
            <a:extLst>
              <a:ext uri="{FF2B5EF4-FFF2-40B4-BE49-F238E27FC236}">
                <a16:creationId xmlns:a16="http://schemas.microsoft.com/office/drawing/2014/main" id="{ED4713C7-97EE-A5B0-8FC6-4CE70EA350BC}"/>
              </a:ext>
            </a:extLst>
          </p:cNvPr>
          <p:cNvSpPr/>
          <p:nvPr/>
        </p:nvSpPr>
        <p:spPr>
          <a:xfrm>
            <a:off x="2490079" y="3963955"/>
            <a:ext cx="200648" cy="240777"/>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8" name="Oval 17">
            <a:extLst>
              <a:ext uri="{FF2B5EF4-FFF2-40B4-BE49-F238E27FC236}">
                <a16:creationId xmlns:a16="http://schemas.microsoft.com/office/drawing/2014/main" id="{72843B94-CA11-5143-DFB7-BE14CB303150}"/>
              </a:ext>
            </a:extLst>
          </p:cNvPr>
          <p:cNvSpPr/>
          <p:nvPr/>
        </p:nvSpPr>
        <p:spPr>
          <a:xfrm>
            <a:off x="2258697" y="3780606"/>
            <a:ext cx="79485" cy="85162"/>
          </a:xfrm>
          <a:prstGeom prst="ellipse">
            <a:avLst/>
          </a:pr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19" name="TextBox 18">
            <a:extLst>
              <a:ext uri="{FF2B5EF4-FFF2-40B4-BE49-F238E27FC236}">
                <a16:creationId xmlns:a16="http://schemas.microsoft.com/office/drawing/2014/main" id="{CDA984DD-4FC4-64A0-887A-0A817B977071}"/>
              </a:ext>
            </a:extLst>
          </p:cNvPr>
          <p:cNvSpPr txBox="1"/>
          <p:nvPr/>
        </p:nvSpPr>
        <p:spPr>
          <a:xfrm>
            <a:off x="5068949" y="1230333"/>
            <a:ext cx="5311218" cy="830997"/>
          </a:xfrm>
          <a:prstGeom prst="rect">
            <a:avLst/>
          </a:prstGeom>
          <a:noFill/>
        </p:spPr>
        <p:txBody>
          <a:bodyPr wrap="square" rtlCol="0">
            <a:spAutoFit/>
          </a:bodyPr>
          <a:lstStyle/>
          <a:p>
            <a:r>
              <a:rPr lang="en-GB" sz="2400">
                <a:latin typeface="+mj-lt"/>
              </a:rPr>
              <a:t>I  am learning to understand and take meaning from a text.</a:t>
            </a:r>
          </a:p>
        </p:txBody>
      </p:sp>
      <p:sp>
        <p:nvSpPr>
          <p:cNvPr id="20" name="Rectangle 19">
            <a:extLst>
              <a:ext uri="{FF2B5EF4-FFF2-40B4-BE49-F238E27FC236}">
                <a16:creationId xmlns:a16="http://schemas.microsoft.com/office/drawing/2014/main" id="{3A23222B-35F4-3CDC-5FEA-1C58CE4A933A}"/>
              </a:ext>
            </a:extLst>
          </p:cNvPr>
          <p:cNvSpPr/>
          <p:nvPr/>
        </p:nvSpPr>
        <p:spPr>
          <a:xfrm>
            <a:off x="5597291" y="4824722"/>
            <a:ext cx="5583685" cy="1200329"/>
          </a:xfrm>
          <a:prstGeom prst="rect">
            <a:avLst/>
          </a:prstGeom>
          <a:noFill/>
        </p:spPr>
        <p:txBody>
          <a:bodyPr wrap="square">
            <a:spAutoFit/>
          </a:bodyPr>
          <a:lstStyle/>
          <a:p>
            <a:r>
              <a:rPr lang="en-GB" sz="2400">
                <a:latin typeface="+mj-lt"/>
              </a:rPr>
              <a:t>I will show this by answering questions which relate to the vocabulary used throughout the text.</a:t>
            </a:r>
          </a:p>
        </p:txBody>
      </p:sp>
      <p:grpSp>
        <p:nvGrpSpPr>
          <p:cNvPr id="26" name="Group 25">
            <a:extLst>
              <a:ext uri="{FF2B5EF4-FFF2-40B4-BE49-F238E27FC236}">
                <a16:creationId xmlns:a16="http://schemas.microsoft.com/office/drawing/2014/main" id="{F0FA508C-6CB1-E76E-F0A8-B64E6C4CD90D}"/>
              </a:ext>
            </a:extLst>
          </p:cNvPr>
          <p:cNvGrpSpPr/>
          <p:nvPr/>
        </p:nvGrpSpPr>
        <p:grpSpPr>
          <a:xfrm>
            <a:off x="2968729" y="4615048"/>
            <a:ext cx="2401890" cy="1148058"/>
            <a:chOff x="10001131" y="2709337"/>
            <a:chExt cx="1838187" cy="1105414"/>
          </a:xfrm>
        </p:grpSpPr>
        <p:sp>
          <p:nvSpPr>
            <p:cNvPr id="27" name="Freeform: Shape 26">
              <a:extLst>
                <a:ext uri="{FF2B5EF4-FFF2-40B4-BE49-F238E27FC236}">
                  <a16:creationId xmlns:a16="http://schemas.microsoft.com/office/drawing/2014/main" id="{3F558219-13F1-436A-59AF-11B90D95ABA1}"/>
                </a:ext>
              </a:extLst>
            </p:cNvPr>
            <p:cNvSpPr/>
            <p:nvPr/>
          </p:nvSpPr>
          <p:spPr>
            <a:xfrm>
              <a:off x="10001131" y="2709337"/>
              <a:ext cx="1838187" cy="1105414"/>
            </a:xfrm>
            <a:custGeom>
              <a:avLst/>
              <a:gdLst>
                <a:gd name="connsiteX0" fmla="*/ 602901 w 5220119"/>
                <a:gd name="connsiteY0" fmla="*/ 2054888 h 5436158"/>
                <a:gd name="connsiteX1" fmla="*/ 346668 w 5220119"/>
                <a:gd name="connsiteY1" fmla="*/ 1934307 h 5436158"/>
                <a:gd name="connsiteX2" fmla="*/ 185895 w 5220119"/>
                <a:gd name="connsiteY2" fmla="*/ 1723292 h 5436158"/>
                <a:gd name="connsiteX3" fmla="*/ 50242 w 5220119"/>
                <a:gd name="connsiteY3" fmla="*/ 1421842 h 5436158"/>
                <a:gd name="connsiteX4" fmla="*/ 0 w 5220119"/>
                <a:gd name="connsiteY4" fmla="*/ 1115367 h 5436158"/>
                <a:gd name="connsiteX5" fmla="*/ 80387 w 5220119"/>
                <a:gd name="connsiteY5" fmla="*/ 828989 h 5436158"/>
                <a:gd name="connsiteX6" fmla="*/ 251209 w 5220119"/>
                <a:gd name="connsiteY6" fmla="*/ 557683 h 5436158"/>
                <a:gd name="connsiteX7" fmla="*/ 512466 w 5220119"/>
                <a:gd name="connsiteY7" fmla="*/ 386861 h 5436158"/>
                <a:gd name="connsiteX8" fmla="*/ 934497 w 5220119"/>
                <a:gd name="connsiteY8" fmla="*/ 296426 h 5436158"/>
                <a:gd name="connsiteX9" fmla="*/ 1251020 w 5220119"/>
                <a:gd name="connsiteY9" fmla="*/ 326571 h 5436158"/>
                <a:gd name="connsiteX10" fmla="*/ 1457011 w 5220119"/>
                <a:gd name="connsiteY10" fmla="*/ 401934 h 5436158"/>
                <a:gd name="connsiteX11" fmla="*/ 1688123 w 5220119"/>
                <a:gd name="connsiteY11" fmla="*/ 512466 h 5436158"/>
                <a:gd name="connsiteX12" fmla="*/ 1753438 w 5220119"/>
                <a:gd name="connsiteY12" fmla="*/ 331595 h 5436158"/>
                <a:gd name="connsiteX13" fmla="*/ 1944356 w 5220119"/>
                <a:gd name="connsiteY13" fmla="*/ 140677 h 5436158"/>
                <a:gd name="connsiteX14" fmla="*/ 2120202 w 5220119"/>
                <a:gd name="connsiteY14" fmla="*/ 50242 h 5436158"/>
                <a:gd name="connsiteX15" fmla="*/ 2336242 w 5220119"/>
                <a:gd name="connsiteY15" fmla="*/ 10048 h 5436158"/>
                <a:gd name="connsiteX16" fmla="*/ 2507064 w 5220119"/>
                <a:gd name="connsiteY16" fmla="*/ 0 h 5436158"/>
                <a:gd name="connsiteX17" fmla="*/ 2682910 w 5220119"/>
                <a:gd name="connsiteY17" fmla="*/ 55266 h 5436158"/>
                <a:gd name="connsiteX18" fmla="*/ 2808515 w 5220119"/>
                <a:gd name="connsiteY18" fmla="*/ 160773 h 5436158"/>
                <a:gd name="connsiteX19" fmla="*/ 2903974 w 5220119"/>
                <a:gd name="connsiteY19" fmla="*/ 261257 h 5436158"/>
                <a:gd name="connsiteX20" fmla="*/ 2954216 w 5220119"/>
                <a:gd name="connsiteY20" fmla="*/ 396910 h 5436158"/>
                <a:gd name="connsiteX21" fmla="*/ 2989385 w 5220119"/>
                <a:gd name="connsiteY21" fmla="*/ 482321 h 5436158"/>
                <a:gd name="connsiteX22" fmla="*/ 3235570 w 5220119"/>
                <a:gd name="connsiteY22" fmla="*/ 331595 h 5436158"/>
                <a:gd name="connsiteX23" fmla="*/ 3567165 w 5220119"/>
                <a:gd name="connsiteY23" fmla="*/ 246184 h 5436158"/>
                <a:gd name="connsiteX24" fmla="*/ 3913833 w 5220119"/>
                <a:gd name="connsiteY24" fmla="*/ 226088 h 5436158"/>
                <a:gd name="connsiteX25" fmla="*/ 4165042 w 5220119"/>
                <a:gd name="connsiteY25" fmla="*/ 291402 h 5436158"/>
                <a:gd name="connsiteX26" fmla="*/ 4431323 w 5220119"/>
                <a:gd name="connsiteY26" fmla="*/ 447151 h 5436158"/>
                <a:gd name="connsiteX27" fmla="*/ 4607170 w 5220119"/>
                <a:gd name="connsiteY27" fmla="*/ 668215 h 5436158"/>
                <a:gd name="connsiteX28" fmla="*/ 4707653 w 5220119"/>
                <a:gd name="connsiteY28" fmla="*/ 869182 h 5436158"/>
                <a:gd name="connsiteX29" fmla="*/ 4747846 w 5220119"/>
                <a:gd name="connsiteY29" fmla="*/ 1075173 h 5436158"/>
                <a:gd name="connsiteX30" fmla="*/ 4747846 w 5220119"/>
                <a:gd name="connsiteY30" fmla="*/ 1306286 h 5436158"/>
                <a:gd name="connsiteX31" fmla="*/ 4717701 w 5220119"/>
                <a:gd name="connsiteY31" fmla="*/ 1507253 h 5436158"/>
                <a:gd name="connsiteX32" fmla="*/ 4657411 w 5220119"/>
                <a:gd name="connsiteY32" fmla="*/ 1617784 h 5436158"/>
                <a:gd name="connsiteX33" fmla="*/ 4858378 w 5220119"/>
                <a:gd name="connsiteY33" fmla="*/ 1642905 h 5436158"/>
                <a:gd name="connsiteX34" fmla="*/ 5054321 w 5220119"/>
                <a:gd name="connsiteY34" fmla="*/ 1818751 h 5436158"/>
                <a:gd name="connsiteX35" fmla="*/ 5134708 w 5220119"/>
                <a:gd name="connsiteY35" fmla="*/ 1979525 h 5436158"/>
                <a:gd name="connsiteX36" fmla="*/ 5179926 w 5220119"/>
                <a:gd name="connsiteY36" fmla="*/ 2145323 h 5436158"/>
                <a:gd name="connsiteX37" fmla="*/ 5220119 w 5220119"/>
                <a:gd name="connsiteY37" fmla="*/ 2275951 h 5436158"/>
                <a:gd name="connsiteX38" fmla="*/ 5220119 w 5220119"/>
                <a:gd name="connsiteY38" fmla="*/ 2461846 h 5436158"/>
                <a:gd name="connsiteX39" fmla="*/ 5179926 w 5220119"/>
                <a:gd name="connsiteY39" fmla="*/ 2642716 h 5436158"/>
                <a:gd name="connsiteX40" fmla="*/ 5084466 w 5220119"/>
                <a:gd name="connsiteY40" fmla="*/ 2778369 h 5436158"/>
                <a:gd name="connsiteX41" fmla="*/ 5084466 w 5220119"/>
                <a:gd name="connsiteY41" fmla="*/ 2828611 h 5436158"/>
                <a:gd name="connsiteX42" fmla="*/ 5139732 w 5220119"/>
                <a:gd name="connsiteY42" fmla="*/ 2954215 h 5436158"/>
                <a:gd name="connsiteX43" fmla="*/ 5194998 w 5220119"/>
                <a:gd name="connsiteY43" fmla="*/ 3120013 h 5436158"/>
                <a:gd name="connsiteX44" fmla="*/ 5194998 w 5220119"/>
                <a:gd name="connsiteY44" fmla="*/ 3285811 h 5436158"/>
                <a:gd name="connsiteX45" fmla="*/ 5154805 w 5220119"/>
                <a:gd name="connsiteY45" fmla="*/ 3471705 h 5436158"/>
                <a:gd name="connsiteX46" fmla="*/ 5109587 w 5220119"/>
                <a:gd name="connsiteY46" fmla="*/ 3622431 h 5436158"/>
                <a:gd name="connsiteX47" fmla="*/ 5014128 w 5220119"/>
                <a:gd name="connsiteY47" fmla="*/ 3798277 h 5436158"/>
                <a:gd name="connsiteX48" fmla="*/ 4868427 w 5220119"/>
                <a:gd name="connsiteY48" fmla="*/ 3938954 h 5436158"/>
                <a:gd name="connsiteX49" fmla="*/ 4727750 w 5220119"/>
                <a:gd name="connsiteY49" fmla="*/ 4044461 h 5436158"/>
                <a:gd name="connsiteX50" fmla="*/ 4531807 w 5220119"/>
                <a:gd name="connsiteY50" fmla="*/ 4099727 h 5436158"/>
                <a:gd name="connsiteX51" fmla="*/ 4531807 w 5220119"/>
                <a:gd name="connsiteY51" fmla="*/ 4260501 h 5436158"/>
                <a:gd name="connsiteX52" fmla="*/ 4511710 w 5220119"/>
                <a:gd name="connsiteY52" fmla="*/ 4456444 h 5436158"/>
                <a:gd name="connsiteX53" fmla="*/ 4441372 w 5220119"/>
                <a:gd name="connsiteY53" fmla="*/ 4592096 h 5436158"/>
                <a:gd name="connsiteX54" fmla="*/ 4335864 w 5220119"/>
                <a:gd name="connsiteY54" fmla="*/ 4687556 h 5436158"/>
                <a:gd name="connsiteX55" fmla="*/ 4195187 w 5220119"/>
                <a:gd name="connsiteY55" fmla="*/ 4783015 h 5436158"/>
                <a:gd name="connsiteX56" fmla="*/ 3999244 w 5220119"/>
                <a:gd name="connsiteY56" fmla="*/ 4863402 h 5436158"/>
                <a:gd name="connsiteX57" fmla="*/ 3773156 w 5220119"/>
                <a:gd name="connsiteY57" fmla="*/ 4888523 h 5436158"/>
                <a:gd name="connsiteX58" fmla="*/ 3602334 w 5220119"/>
                <a:gd name="connsiteY58" fmla="*/ 4858378 h 5436158"/>
                <a:gd name="connsiteX59" fmla="*/ 3481754 w 5220119"/>
                <a:gd name="connsiteY59" fmla="*/ 4783015 h 5436158"/>
                <a:gd name="connsiteX60" fmla="*/ 3486778 w 5220119"/>
                <a:gd name="connsiteY60" fmla="*/ 4893547 h 5436158"/>
                <a:gd name="connsiteX61" fmla="*/ 3461657 w 5220119"/>
                <a:gd name="connsiteY61" fmla="*/ 5034224 h 5436158"/>
                <a:gd name="connsiteX62" fmla="*/ 3361174 w 5220119"/>
                <a:gd name="connsiteY62" fmla="*/ 5169877 h 5436158"/>
                <a:gd name="connsiteX63" fmla="*/ 3260690 w 5220119"/>
                <a:gd name="connsiteY63" fmla="*/ 5280409 h 5436158"/>
                <a:gd name="connsiteX64" fmla="*/ 3049675 w 5220119"/>
                <a:gd name="connsiteY64" fmla="*/ 5390940 h 5436158"/>
                <a:gd name="connsiteX65" fmla="*/ 2768321 w 5220119"/>
                <a:gd name="connsiteY65" fmla="*/ 5436158 h 5436158"/>
                <a:gd name="connsiteX66" fmla="*/ 2497016 w 5220119"/>
                <a:gd name="connsiteY66" fmla="*/ 5375868 h 5436158"/>
                <a:gd name="connsiteX67" fmla="*/ 2250831 w 5220119"/>
                <a:gd name="connsiteY67" fmla="*/ 5295481 h 5436158"/>
                <a:gd name="connsiteX68" fmla="*/ 2125227 w 5220119"/>
                <a:gd name="connsiteY68" fmla="*/ 5169877 h 5436158"/>
                <a:gd name="connsiteX69" fmla="*/ 2029767 w 5220119"/>
                <a:gd name="connsiteY69" fmla="*/ 5079442 h 5436158"/>
                <a:gd name="connsiteX70" fmla="*/ 2009671 w 5220119"/>
                <a:gd name="connsiteY70" fmla="*/ 4938765 h 5436158"/>
                <a:gd name="connsiteX71" fmla="*/ 1989574 w 5220119"/>
                <a:gd name="connsiteY71" fmla="*/ 4918668 h 5436158"/>
                <a:gd name="connsiteX72" fmla="*/ 1863970 w 5220119"/>
                <a:gd name="connsiteY72" fmla="*/ 4978958 h 5436158"/>
                <a:gd name="connsiteX73" fmla="*/ 1728317 w 5220119"/>
                <a:gd name="connsiteY73" fmla="*/ 5044272 h 5436158"/>
                <a:gd name="connsiteX74" fmla="*/ 1507253 w 5220119"/>
                <a:gd name="connsiteY74" fmla="*/ 5014127 h 5436158"/>
                <a:gd name="connsiteX75" fmla="*/ 1306286 w 5220119"/>
                <a:gd name="connsiteY75" fmla="*/ 4928716 h 5436158"/>
                <a:gd name="connsiteX76" fmla="*/ 1190730 w 5220119"/>
                <a:gd name="connsiteY76" fmla="*/ 4767943 h 5436158"/>
                <a:gd name="connsiteX77" fmla="*/ 1120392 w 5220119"/>
                <a:gd name="connsiteY77" fmla="*/ 4592096 h 5436158"/>
                <a:gd name="connsiteX78" fmla="*/ 1120392 w 5220119"/>
                <a:gd name="connsiteY78" fmla="*/ 4421275 h 5436158"/>
                <a:gd name="connsiteX79" fmla="*/ 1120392 w 5220119"/>
                <a:gd name="connsiteY79" fmla="*/ 4315767 h 5436158"/>
                <a:gd name="connsiteX80" fmla="*/ 974690 w 5220119"/>
                <a:gd name="connsiteY80" fmla="*/ 4386105 h 5436158"/>
                <a:gd name="connsiteX81" fmla="*/ 738554 w 5220119"/>
                <a:gd name="connsiteY81" fmla="*/ 4406202 h 5436158"/>
                <a:gd name="connsiteX82" fmla="*/ 532563 w 5220119"/>
                <a:gd name="connsiteY82" fmla="*/ 4376057 h 5436158"/>
                <a:gd name="connsiteX83" fmla="*/ 386862 w 5220119"/>
                <a:gd name="connsiteY83" fmla="*/ 4285622 h 5436158"/>
                <a:gd name="connsiteX84" fmla="*/ 281354 w 5220119"/>
                <a:gd name="connsiteY84" fmla="*/ 4119824 h 5436158"/>
                <a:gd name="connsiteX85" fmla="*/ 251209 w 5220119"/>
                <a:gd name="connsiteY85" fmla="*/ 3969099 h 5436158"/>
                <a:gd name="connsiteX86" fmla="*/ 256233 w 5220119"/>
                <a:gd name="connsiteY86" fmla="*/ 3873639 h 5436158"/>
                <a:gd name="connsiteX87" fmla="*/ 266282 w 5220119"/>
                <a:gd name="connsiteY87" fmla="*/ 3707842 h 5436158"/>
                <a:gd name="connsiteX88" fmla="*/ 306475 w 5220119"/>
                <a:gd name="connsiteY88" fmla="*/ 3567165 h 5436158"/>
                <a:gd name="connsiteX89" fmla="*/ 371789 w 5220119"/>
                <a:gd name="connsiteY89" fmla="*/ 3491802 h 5436158"/>
                <a:gd name="connsiteX90" fmla="*/ 411983 w 5220119"/>
                <a:gd name="connsiteY90" fmla="*/ 3451609 h 5436158"/>
                <a:gd name="connsiteX91" fmla="*/ 422031 w 5220119"/>
                <a:gd name="connsiteY91" fmla="*/ 3416439 h 5436158"/>
                <a:gd name="connsiteX92" fmla="*/ 261257 w 5220119"/>
                <a:gd name="connsiteY92" fmla="*/ 3315956 h 5436158"/>
                <a:gd name="connsiteX93" fmla="*/ 165798 w 5220119"/>
                <a:gd name="connsiteY93" fmla="*/ 3180303 h 5436158"/>
                <a:gd name="connsiteX94" fmla="*/ 90435 w 5220119"/>
                <a:gd name="connsiteY94" fmla="*/ 2994409 h 5436158"/>
                <a:gd name="connsiteX95" fmla="*/ 80387 w 5220119"/>
                <a:gd name="connsiteY95" fmla="*/ 2793442 h 5436158"/>
                <a:gd name="connsiteX96" fmla="*/ 115556 w 5220119"/>
                <a:gd name="connsiteY96" fmla="*/ 2642716 h 5436158"/>
                <a:gd name="connsiteX97" fmla="*/ 165798 w 5220119"/>
                <a:gd name="connsiteY97" fmla="*/ 2431701 h 5436158"/>
                <a:gd name="connsiteX98" fmla="*/ 261257 w 5220119"/>
                <a:gd name="connsiteY98" fmla="*/ 2301072 h 5436158"/>
                <a:gd name="connsiteX99" fmla="*/ 361741 w 5220119"/>
                <a:gd name="connsiteY99" fmla="*/ 2195565 h 5436158"/>
                <a:gd name="connsiteX100" fmla="*/ 442128 w 5220119"/>
                <a:gd name="connsiteY100" fmla="*/ 2140299 h 5436158"/>
                <a:gd name="connsiteX101" fmla="*/ 602901 w 5220119"/>
                <a:gd name="connsiteY101" fmla="*/ 2054888 h 5436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5220119" h="5436158">
                  <a:moveTo>
                    <a:pt x="602901" y="2054888"/>
                  </a:moveTo>
                  <a:lnTo>
                    <a:pt x="346668" y="1934307"/>
                  </a:lnTo>
                  <a:lnTo>
                    <a:pt x="185895" y="1723292"/>
                  </a:lnTo>
                  <a:lnTo>
                    <a:pt x="50242" y="1421842"/>
                  </a:lnTo>
                  <a:lnTo>
                    <a:pt x="0" y="1115367"/>
                  </a:lnTo>
                  <a:lnTo>
                    <a:pt x="80387" y="828989"/>
                  </a:lnTo>
                  <a:lnTo>
                    <a:pt x="251209" y="557683"/>
                  </a:lnTo>
                  <a:lnTo>
                    <a:pt x="512466" y="386861"/>
                  </a:lnTo>
                  <a:lnTo>
                    <a:pt x="934497" y="296426"/>
                  </a:lnTo>
                  <a:lnTo>
                    <a:pt x="1251020" y="326571"/>
                  </a:lnTo>
                  <a:lnTo>
                    <a:pt x="1457011" y="401934"/>
                  </a:lnTo>
                  <a:lnTo>
                    <a:pt x="1688123" y="512466"/>
                  </a:lnTo>
                  <a:lnTo>
                    <a:pt x="1753438" y="331595"/>
                  </a:lnTo>
                  <a:lnTo>
                    <a:pt x="1944356" y="140677"/>
                  </a:lnTo>
                  <a:lnTo>
                    <a:pt x="2120202" y="50242"/>
                  </a:lnTo>
                  <a:lnTo>
                    <a:pt x="2336242" y="10048"/>
                  </a:lnTo>
                  <a:lnTo>
                    <a:pt x="2507064" y="0"/>
                  </a:lnTo>
                  <a:lnTo>
                    <a:pt x="2682910" y="55266"/>
                  </a:lnTo>
                  <a:lnTo>
                    <a:pt x="2808515" y="160773"/>
                  </a:lnTo>
                  <a:lnTo>
                    <a:pt x="2903974" y="261257"/>
                  </a:lnTo>
                  <a:lnTo>
                    <a:pt x="2954216" y="396910"/>
                  </a:lnTo>
                  <a:lnTo>
                    <a:pt x="2989385" y="482321"/>
                  </a:lnTo>
                  <a:lnTo>
                    <a:pt x="3235570" y="331595"/>
                  </a:lnTo>
                  <a:lnTo>
                    <a:pt x="3567165" y="246184"/>
                  </a:lnTo>
                  <a:lnTo>
                    <a:pt x="3913833" y="226088"/>
                  </a:lnTo>
                  <a:lnTo>
                    <a:pt x="4165042" y="291402"/>
                  </a:lnTo>
                  <a:lnTo>
                    <a:pt x="4431323" y="447151"/>
                  </a:lnTo>
                  <a:lnTo>
                    <a:pt x="4607170" y="668215"/>
                  </a:lnTo>
                  <a:lnTo>
                    <a:pt x="4707653" y="869182"/>
                  </a:lnTo>
                  <a:lnTo>
                    <a:pt x="4747846" y="1075173"/>
                  </a:lnTo>
                  <a:lnTo>
                    <a:pt x="4747846" y="1306286"/>
                  </a:lnTo>
                  <a:lnTo>
                    <a:pt x="4717701" y="1507253"/>
                  </a:lnTo>
                  <a:lnTo>
                    <a:pt x="4657411" y="1617784"/>
                  </a:lnTo>
                  <a:lnTo>
                    <a:pt x="4858378" y="1642905"/>
                  </a:lnTo>
                  <a:lnTo>
                    <a:pt x="5054321" y="1818751"/>
                  </a:lnTo>
                  <a:lnTo>
                    <a:pt x="5134708" y="1979525"/>
                  </a:lnTo>
                  <a:lnTo>
                    <a:pt x="5179926" y="2145323"/>
                  </a:lnTo>
                  <a:lnTo>
                    <a:pt x="5220119" y="2275951"/>
                  </a:lnTo>
                  <a:lnTo>
                    <a:pt x="5220119" y="2461846"/>
                  </a:lnTo>
                  <a:lnTo>
                    <a:pt x="5179926" y="2642716"/>
                  </a:lnTo>
                  <a:lnTo>
                    <a:pt x="5084466" y="2778369"/>
                  </a:lnTo>
                  <a:lnTo>
                    <a:pt x="5084466" y="2828611"/>
                  </a:lnTo>
                  <a:lnTo>
                    <a:pt x="5139732" y="2954215"/>
                  </a:lnTo>
                  <a:lnTo>
                    <a:pt x="5194998" y="3120013"/>
                  </a:lnTo>
                  <a:lnTo>
                    <a:pt x="5194998" y="3285811"/>
                  </a:lnTo>
                  <a:lnTo>
                    <a:pt x="5154805" y="3471705"/>
                  </a:lnTo>
                  <a:lnTo>
                    <a:pt x="5109587" y="3622431"/>
                  </a:lnTo>
                  <a:lnTo>
                    <a:pt x="5014128" y="3798277"/>
                  </a:lnTo>
                  <a:lnTo>
                    <a:pt x="4868427" y="3938954"/>
                  </a:lnTo>
                  <a:lnTo>
                    <a:pt x="4727750" y="4044461"/>
                  </a:lnTo>
                  <a:lnTo>
                    <a:pt x="4531807" y="4099727"/>
                  </a:lnTo>
                  <a:lnTo>
                    <a:pt x="4531807" y="4260501"/>
                  </a:lnTo>
                  <a:lnTo>
                    <a:pt x="4511710" y="4456444"/>
                  </a:lnTo>
                  <a:lnTo>
                    <a:pt x="4441372" y="4592096"/>
                  </a:lnTo>
                  <a:lnTo>
                    <a:pt x="4335864" y="4687556"/>
                  </a:lnTo>
                  <a:lnTo>
                    <a:pt x="4195187" y="4783015"/>
                  </a:lnTo>
                  <a:lnTo>
                    <a:pt x="3999244" y="4863402"/>
                  </a:lnTo>
                  <a:lnTo>
                    <a:pt x="3773156" y="4888523"/>
                  </a:lnTo>
                  <a:lnTo>
                    <a:pt x="3602334" y="4858378"/>
                  </a:lnTo>
                  <a:lnTo>
                    <a:pt x="3481754" y="4783015"/>
                  </a:lnTo>
                  <a:lnTo>
                    <a:pt x="3486778" y="4893547"/>
                  </a:lnTo>
                  <a:lnTo>
                    <a:pt x="3461657" y="5034224"/>
                  </a:lnTo>
                  <a:lnTo>
                    <a:pt x="3361174" y="5169877"/>
                  </a:lnTo>
                  <a:lnTo>
                    <a:pt x="3260690" y="5280409"/>
                  </a:lnTo>
                  <a:lnTo>
                    <a:pt x="3049675" y="5390940"/>
                  </a:lnTo>
                  <a:lnTo>
                    <a:pt x="2768321" y="5436158"/>
                  </a:lnTo>
                  <a:lnTo>
                    <a:pt x="2497016" y="5375868"/>
                  </a:lnTo>
                  <a:lnTo>
                    <a:pt x="2250831" y="5295481"/>
                  </a:lnTo>
                  <a:lnTo>
                    <a:pt x="2125227" y="5169877"/>
                  </a:lnTo>
                  <a:lnTo>
                    <a:pt x="2029767" y="5079442"/>
                  </a:lnTo>
                  <a:lnTo>
                    <a:pt x="2009671" y="4938765"/>
                  </a:lnTo>
                  <a:lnTo>
                    <a:pt x="1989574" y="4918668"/>
                  </a:lnTo>
                  <a:lnTo>
                    <a:pt x="1863970" y="4978958"/>
                  </a:lnTo>
                  <a:lnTo>
                    <a:pt x="1728317" y="5044272"/>
                  </a:lnTo>
                  <a:lnTo>
                    <a:pt x="1507253" y="5014127"/>
                  </a:lnTo>
                  <a:lnTo>
                    <a:pt x="1306286" y="4928716"/>
                  </a:lnTo>
                  <a:lnTo>
                    <a:pt x="1190730" y="4767943"/>
                  </a:lnTo>
                  <a:lnTo>
                    <a:pt x="1120392" y="4592096"/>
                  </a:lnTo>
                  <a:lnTo>
                    <a:pt x="1120392" y="4421275"/>
                  </a:lnTo>
                  <a:lnTo>
                    <a:pt x="1120392" y="4315767"/>
                  </a:lnTo>
                  <a:lnTo>
                    <a:pt x="974690" y="4386105"/>
                  </a:lnTo>
                  <a:lnTo>
                    <a:pt x="738554" y="4406202"/>
                  </a:lnTo>
                  <a:lnTo>
                    <a:pt x="532563" y="4376057"/>
                  </a:lnTo>
                  <a:lnTo>
                    <a:pt x="386862" y="4285622"/>
                  </a:lnTo>
                  <a:lnTo>
                    <a:pt x="281354" y="4119824"/>
                  </a:lnTo>
                  <a:lnTo>
                    <a:pt x="251209" y="3969099"/>
                  </a:lnTo>
                  <a:lnTo>
                    <a:pt x="256233" y="3873639"/>
                  </a:lnTo>
                  <a:lnTo>
                    <a:pt x="266282" y="3707842"/>
                  </a:lnTo>
                  <a:lnTo>
                    <a:pt x="306475" y="3567165"/>
                  </a:lnTo>
                  <a:lnTo>
                    <a:pt x="371789" y="3491802"/>
                  </a:lnTo>
                  <a:lnTo>
                    <a:pt x="411983" y="3451609"/>
                  </a:lnTo>
                  <a:lnTo>
                    <a:pt x="422031" y="3416439"/>
                  </a:lnTo>
                  <a:lnTo>
                    <a:pt x="261257" y="3315956"/>
                  </a:lnTo>
                  <a:lnTo>
                    <a:pt x="165798" y="3180303"/>
                  </a:lnTo>
                  <a:lnTo>
                    <a:pt x="90435" y="2994409"/>
                  </a:lnTo>
                  <a:lnTo>
                    <a:pt x="80387" y="2793442"/>
                  </a:lnTo>
                  <a:lnTo>
                    <a:pt x="115556" y="2642716"/>
                  </a:lnTo>
                  <a:lnTo>
                    <a:pt x="165798" y="2431701"/>
                  </a:lnTo>
                  <a:lnTo>
                    <a:pt x="261257" y="2301072"/>
                  </a:lnTo>
                  <a:lnTo>
                    <a:pt x="361741" y="2195565"/>
                  </a:lnTo>
                  <a:lnTo>
                    <a:pt x="442128" y="2140299"/>
                  </a:lnTo>
                  <a:lnTo>
                    <a:pt x="602901" y="2054888"/>
                  </a:lnTo>
                  <a:close/>
                </a:path>
              </a:pathLst>
            </a:custGeom>
            <a:solidFill>
              <a:schemeClr val="accent6">
                <a:lumMod val="60000"/>
                <a:lumOff val="40000"/>
              </a:schemeClr>
            </a:solid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600" b="1"/>
            </a:p>
          </p:txBody>
        </p:sp>
        <p:sp>
          <p:nvSpPr>
            <p:cNvPr id="28" name="TextBox 27">
              <a:extLst>
                <a:ext uri="{FF2B5EF4-FFF2-40B4-BE49-F238E27FC236}">
                  <a16:creationId xmlns:a16="http://schemas.microsoft.com/office/drawing/2014/main" id="{33569914-364A-6AF1-85F1-0BFCF4FDB1A8}"/>
                </a:ext>
              </a:extLst>
            </p:cNvPr>
            <p:cNvSpPr txBox="1"/>
            <p:nvPr/>
          </p:nvSpPr>
          <p:spPr>
            <a:xfrm>
              <a:off x="10146498" y="2857389"/>
              <a:ext cx="1547451" cy="622324"/>
            </a:xfrm>
            <a:prstGeom prst="rect">
              <a:avLst/>
            </a:prstGeom>
            <a:noFill/>
            <a:ln w="19050">
              <a:noFill/>
            </a:ln>
          </p:spPr>
          <p:txBody>
            <a:bodyPr wrap="square" rtlCol="0">
              <a:spAutoFit/>
            </a:bodyPr>
            <a:lstStyle/>
            <a:p>
              <a:pPr algn="ctr"/>
              <a:r>
                <a:rPr lang="en-GB" b="1">
                  <a:latin typeface="Sassoon Primary Rg" panose="02000606020000020004" pitchFamily="2" charset="0"/>
                </a:rPr>
                <a:t>How will I know when I get there?</a:t>
              </a:r>
            </a:p>
          </p:txBody>
        </p:sp>
      </p:grpSp>
      <p:sp>
        <p:nvSpPr>
          <p:cNvPr id="29" name="Freeform: Shape 28">
            <a:extLst>
              <a:ext uri="{FF2B5EF4-FFF2-40B4-BE49-F238E27FC236}">
                <a16:creationId xmlns:a16="http://schemas.microsoft.com/office/drawing/2014/main" id="{B90D4CDA-08E3-0ED1-C1FB-0242710F0D9A}"/>
              </a:ext>
            </a:extLst>
          </p:cNvPr>
          <p:cNvSpPr/>
          <p:nvPr/>
        </p:nvSpPr>
        <p:spPr>
          <a:xfrm>
            <a:off x="2767911" y="4261260"/>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0" name="Freeform: Shape 29">
            <a:extLst>
              <a:ext uri="{FF2B5EF4-FFF2-40B4-BE49-F238E27FC236}">
                <a16:creationId xmlns:a16="http://schemas.microsoft.com/office/drawing/2014/main" id="{8139F2B2-DE54-7CE1-CCBE-1C4164F07AC7}"/>
              </a:ext>
            </a:extLst>
          </p:cNvPr>
          <p:cNvSpPr/>
          <p:nvPr/>
        </p:nvSpPr>
        <p:spPr>
          <a:xfrm>
            <a:off x="3206304" y="2991789"/>
            <a:ext cx="266024" cy="319228"/>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35" name="Freeform: Shape 34">
            <a:extLst>
              <a:ext uri="{FF2B5EF4-FFF2-40B4-BE49-F238E27FC236}">
                <a16:creationId xmlns:a16="http://schemas.microsoft.com/office/drawing/2014/main" id="{721B1AA3-17DD-506B-9B14-CDFF5EA0BECB}"/>
              </a:ext>
            </a:extLst>
          </p:cNvPr>
          <p:cNvSpPr/>
          <p:nvPr/>
        </p:nvSpPr>
        <p:spPr>
          <a:xfrm>
            <a:off x="2271587" y="1913146"/>
            <a:ext cx="206619" cy="247942"/>
          </a:xfrm>
          <a:custGeom>
            <a:avLst/>
            <a:gdLst>
              <a:gd name="connsiteX0" fmla="*/ 167780 w 1887523"/>
              <a:gd name="connsiteY0" fmla="*/ 1182847 h 2265027"/>
              <a:gd name="connsiteX1" fmla="*/ 58723 w 1887523"/>
              <a:gd name="connsiteY1" fmla="*/ 989900 h 2265027"/>
              <a:gd name="connsiteX2" fmla="*/ 0 w 1887523"/>
              <a:gd name="connsiteY2" fmla="*/ 788565 h 2265027"/>
              <a:gd name="connsiteX3" fmla="*/ 50334 w 1887523"/>
              <a:gd name="connsiteY3" fmla="*/ 612396 h 2265027"/>
              <a:gd name="connsiteX4" fmla="*/ 134224 w 1887523"/>
              <a:gd name="connsiteY4" fmla="*/ 402671 h 2265027"/>
              <a:gd name="connsiteX5" fmla="*/ 251669 w 1887523"/>
              <a:gd name="connsiteY5" fmla="*/ 310392 h 2265027"/>
              <a:gd name="connsiteX6" fmla="*/ 385893 w 1887523"/>
              <a:gd name="connsiteY6" fmla="*/ 243280 h 2265027"/>
              <a:gd name="connsiteX7" fmla="*/ 578840 w 1887523"/>
              <a:gd name="connsiteY7" fmla="*/ 251669 h 2265027"/>
              <a:gd name="connsiteX8" fmla="*/ 713064 w 1887523"/>
              <a:gd name="connsiteY8" fmla="*/ 100667 h 2265027"/>
              <a:gd name="connsiteX9" fmla="*/ 872455 w 1887523"/>
              <a:gd name="connsiteY9" fmla="*/ 16778 h 2265027"/>
              <a:gd name="connsiteX10" fmla="*/ 1065402 w 1887523"/>
              <a:gd name="connsiteY10" fmla="*/ 0 h 2265027"/>
              <a:gd name="connsiteX11" fmla="*/ 1191236 w 1887523"/>
              <a:gd name="connsiteY11" fmla="*/ 33555 h 2265027"/>
              <a:gd name="connsiteX12" fmla="*/ 1342238 w 1887523"/>
              <a:gd name="connsiteY12" fmla="*/ 100667 h 2265027"/>
              <a:gd name="connsiteX13" fmla="*/ 1417739 w 1887523"/>
              <a:gd name="connsiteY13" fmla="*/ 192946 h 2265027"/>
              <a:gd name="connsiteX14" fmla="*/ 1426128 w 1887523"/>
              <a:gd name="connsiteY14" fmla="*/ 260058 h 2265027"/>
              <a:gd name="connsiteX15" fmla="*/ 1426128 w 1887523"/>
              <a:gd name="connsiteY15" fmla="*/ 469783 h 2265027"/>
              <a:gd name="connsiteX16" fmla="*/ 1560352 w 1887523"/>
              <a:gd name="connsiteY16" fmla="*/ 486561 h 2265027"/>
              <a:gd name="connsiteX17" fmla="*/ 1744910 w 1887523"/>
              <a:gd name="connsiteY17" fmla="*/ 536895 h 2265027"/>
              <a:gd name="connsiteX18" fmla="*/ 1803633 w 1887523"/>
              <a:gd name="connsiteY18" fmla="*/ 604007 h 2265027"/>
              <a:gd name="connsiteX19" fmla="*/ 1887523 w 1887523"/>
              <a:gd name="connsiteY19" fmla="*/ 855677 h 2265027"/>
              <a:gd name="connsiteX20" fmla="*/ 1887523 w 1887523"/>
              <a:gd name="connsiteY20" fmla="*/ 1082179 h 2265027"/>
              <a:gd name="connsiteX21" fmla="*/ 1845578 w 1887523"/>
              <a:gd name="connsiteY21" fmla="*/ 1258348 h 2265027"/>
              <a:gd name="connsiteX22" fmla="*/ 1778466 w 1887523"/>
              <a:gd name="connsiteY22" fmla="*/ 1409350 h 2265027"/>
              <a:gd name="connsiteX23" fmla="*/ 1661020 w 1887523"/>
              <a:gd name="connsiteY23" fmla="*/ 1493240 h 2265027"/>
              <a:gd name="connsiteX24" fmla="*/ 1560352 w 1887523"/>
              <a:gd name="connsiteY24" fmla="*/ 1526796 h 2265027"/>
              <a:gd name="connsiteX25" fmla="*/ 1619075 w 1887523"/>
              <a:gd name="connsiteY25" fmla="*/ 1619075 h 2265027"/>
              <a:gd name="connsiteX26" fmla="*/ 1627464 w 1887523"/>
              <a:gd name="connsiteY26" fmla="*/ 1719743 h 2265027"/>
              <a:gd name="connsiteX27" fmla="*/ 1568741 w 1887523"/>
              <a:gd name="connsiteY27" fmla="*/ 1912689 h 2265027"/>
              <a:gd name="connsiteX28" fmla="*/ 1493240 w 1887523"/>
              <a:gd name="connsiteY28" fmla="*/ 2038524 h 2265027"/>
              <a:gd name="connsiteX29" fmla="*/ 1417739 w 1887523"/>
              <a:gd name="connsiteY29" fmla="*/ 2122414 h 2265027"/>
              <a:gd name="connsiteX30" fmla="*/ 1333849 w 1887523"/>
              <a:gd name="connsiteY30" fmla="*/ 2189526 h 2265027"/>
              <a:gd name="connsiteX31" fmla="*/ 1157680 w 1887523"/>
              <a:gd name="connsiteY31" fmla="*/ 2265027 h 2265027"/>
              <a:gd name="connsiteX32" fmla="*/ 914400 w 1887523"/>
              <a:gd name="connsiteY32" fmla="*/ 2248249 h 2265027"/>
              <a:gd name="connsiteX33" fmla="*/ 805343 w 1887523"/>
              <a:gd name="connsiteY33" fmla="*/ 2147581 h 2265027"/>
              <a:gd name="connsiteX34" fmla="*/ 696286 w 1887523"/>
              <a:gd name="connsiteY34" fmla="*/ 2004968 h 2265027"/>
              <a:gd name="connsiteX35" fmla="*/ 511728 w 1887523"/>
              <a:gd name="connsiteY35" fmla="*/ 2072080 h 2265027"/>
              <a:gd name="connsiteX36" fmla="*/ 302003 w 1887523"/>
              <a:gd name="connsiteY36" fmla="*/ 2072080 h 2265027"/>
              <a:gd name="connsiteX37" fmla="*/ 83890 w 1887523"/>
              <a:gd name="connsiteY37" fmla="*/ 1887522 h 2265027"/>
              <a:gd name="connsiteX38" fmla="*/ 16778 w 1887523"/>
              <a:gd name="connsiteY38" fmla="*/ 1702965 h 2265027"/>
              <a:gd name="connsiteX39" fmla="*/ 25167 w 1887523"/>
              <a:gd name="connsiteY39" fmla="*/ 1451295 h 2265027"/>
              <a:gd name="connsiteX40" fmla="*/ 58723 w 1887523"/>
              <a:gd name="connsiteY40" fmla="*/ 1350627 h 2265027"/>
              <a:gd name="connsiteX41" fmla="*/ 117446 w 1887523"/>
              <a:gd name="connsiteY41" fmla="*/ 1233181 h 2265027"/>
              <a:gd name="connsiteX42" fmla="*/ 167780 w 1887523"/>
              <a:gd name="connsiteY42" fmla="*/ 1182847 h 22650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887523" h="2265027">
                <a:moveTo>
                  <a:pt x="167780" y="1182847"/>
                </a:moveTo>
                <a:lnTo>
                  <a:pt x="58723" y="989900"/>
                </a:lnTo>
                <a:lnTo>
                  <a:pt x="0" y="788565"/>
                </a:lnTo>
                <a:lnTo>
                  <a:pt x="50334" y="612396"/>
                </a:lnTo>
                <a:lnTo>
                  <a:pt x="134224" y="402671"/>
                </a:lnTo>
                <a:lnTo>
                  <a:pt x="251669" y="310392"/>
                </a:lnTo>
                <a:lnTo>
                  <a:pt x="385893" y="243280"/>
                </a:lnTo>
                <a:lnTo>
                  <a:pt x="578840" y="251669"/>
                </a:lnTo>
                <a:lnTo>
                  <a:pt x="713064" y="100667"/>
                </a:lnTo>
                <a:lnTo>
                  <a:pt x="872455" y="16778"/>
                </a:lnTo>
                <a:lnTo>
                  <a:pt x="1065402" y="0"/>
                </a:lnTo>
                <a:lnTo>
                  <a:pt x="1191236" y="33555"/>
                </a:lnTo>
                <a:lnTo>
                  <a:pt x="1342238" y="100667"/>
                </a:lnTo>
                <a:lnTo>
                  <a:pt x="1417739" y="192946"/>
                </a:lnTo>
                <a:lnTo>
                  <a:pt x="1426128" y="260058"/>
                </a:lnTo>
                <a:lnTo>
                  <a:pt x="1426128" y="469783"/>
                </a:lnTo>
                <a:lnTo>
                  <a:pt x="1560352" y="486561"/>
                </a:lnTo>
                <a:lnTo>
                  <a:pt x="1744910" y="536895"/>
                </a:lnTo>
                <a:lnTo>
                  <a:pt x="1803633" y="604007"/>
                </a:lnTo>
                <a:lnTo>
                  <a:pt x="1887523" y="855677"/>
                </a:lnTo>
                <a:lnTo>
                  <a:pt x="1887523" y="1082179"/>
                </a:lnTo>
                <a:lnTo>
                  <a:pt x="1845578" y="1258348"/>
                </a:lnTo>
                <a:lnTo>
                  <a:pt x="1778466" y="1409350"/>
                </a:lnTo>
                <a:lnTo>
                  <a:pt x="1661020" y="1493240"/>
                </a:lnTo>
                <a:lnTo>
                  <a:pt x="1560352" y="1526796"/>
                </a:lnTo>
                <a:lnTo>
                  <a:pt x="1619075" y="1619075"/>
                </a:lnTo>
                <a:lnTo>
                  <a:pt x="1627464" y="1719743"/>
                </a:lnTo>
                <a:lnTo>
                  <a:pt x="1568741" y="1912689"/>
                </a:lnTo>
                <a:lnTo>
                  <a:pt x="1493240" y="2038524"/>
                </a:lnTo>
                <a:lnTo>
                  <a:pt x="1417739" y="2122414"/>
                </a:lnTo>
                <a:lnTo>
                  <a:pt x="1333849" y="2189526"/>
                </a:lnTo>
                <a:lnTo>
                  <a:pt x="1157680" y="2265027"/>
                </a:lnTo>
                <a:lnTo>
                  <a:pt x="914400" y="2248249"/>
                </a:lnTo>
                <a:lnTo>
                  <a:pt x="805343" y="2147581"/>
                </a:lnTo>
                <a:lnTo>
                  <a:pt x="696286" y="2004968"/>
                </a:lnTo>
                <a:lnTo>
                  <a:pt x="511728" y="2072080"/>
                </a:lnTo>
                <a:lnTo>
                  <a:pt x="302003" y="2072080"/>
                </a:lnTo>
                <a:lnTo>
                  <a:pt x="83890" y="1887522"/>
                </a:lnTo>
                <a:lnTo>
                  <a:pt x="16778" y="1702965"/>
                </a:lnTo>
                <a:lnTo>
                  <a:pt x="25167" y="1451295"/>
                </a:lnTo>
                <a:lnTo>
                  <a:pt x="58723" y="1350627"/>
                </a:lnTo>
                <a:lnTo>
                  <a:pt x="117446" y="1233181"/>
                </a:lnTo>
                <a:lnTo>
                  <a:pt x="167780" y="1182847"/>
                </a:lnTo>
                <a:close/>
              </a:path>
            </a:pathLst>
          </a:custGeom>
          <a:noFill/>
          <a:ln w="19050">
            <a:solidFill>
              <a:schemeClr val="tx1"/>
            </a:solidFill>
            <a:extLst>
              <a:ext uri="{C807C97D-BFC1-408E-A445-0C87EB9F89A2}">
                <ask:lineSketchStyleProps xmlns:ask="http://schemas.microsoft.com/office/drawing/2018/sketchyshapes">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a:p>
        </p:txBody>
      </p:sp>
      <p:sp>
        <p:nvSpPr>
          <p:cNvPr id="5" name="TextBox 4">
            <a:extLst>
              <a:ext uri="{FF2B5EF4-FFF2-40B4-BE49-F238E27FC236}">
                <a16:creationId xmlns:a16="http://schemas.microsoft.com/office/drawing/2014/main" id="{3A69BFB0-E1DC-E3FA-6EA3-821A27D46522}"/>
              </a:ext>
            </a:extLst>
          </p:cNvPr>
          <p:cNvSpPr txBox="1"/>
          <p:nvPr/>
        </p:nvSpPr>
        <p:spPr>
          <a:xfrm>
            <a:off x="5873925" y="2665439"/>
            <a:ext cx="5507001" cy="1200329"/>
          </a:xfrm>
          <a:prstGeom prst="rect">
            <a:avLst/>
          </a:prstGeom>
          <a:noFill/>
        </p:spPr>
        <p:txBody>
          <a:bodyPr wrap="square" rtlCol="0">
            <a:spAutoFit/>
          </a:bodyPr>
          <a:lstStyle/>
          <a:p>
            <a:r>
              <a:rPr lang="en-GB" sz="2400">
                <a:latin typeface="Sassoon Infant Rg" panose="02000503030000020003" pitchFamily="2" charset="0"/>
                <a:ea typeface="Sassoon Infant Rg" panose="02000503030000020003" pitchFamily="2" charset="0"/>
              </a:rPr>
              <a:t>I am learning this because it will help me to develop my understanding of vocabulary at a sentence and text level.</a:t>
            </a:r>
          </a:p>
        </p:txBody>
      </p:sp>
      <p:grpSp>
        <p:nvGrpSpPr>
          <p:cNvPr id="3" name="Group 2">
            <a:extLst>
              <a:ext uri="{FF2B5EF4-FFF2-40B4-BE49-F238E27FC236}">
                <a16:creationId xmlns:a16="http://schemas.microsoft.com/office/drawing/2014/main" id="{AB1D5BFC-9C6F-78FE-BB55-8A787A315711}"/>
              </a:ext>
            </a:extLst>
          </p:cNvPr>
          <p:cNvGrpSpPr/>
          <p:nvPr/>
        </p:nvGrpSpPr>
        <p:grpSpPr>
          <a:xfrm>
            <a:off x="10607910" y="233361"/>
            <a:ext cx="1316831" cy="1316831"/>
            <a:chOff x="5180554" y="1026138"/>
            <a:chExt cx="1316831" cy="1316831"/>
          </a:xfrm>
        </p:grpSpPr>
        <p:sp>
          <p:nvSpPr>
            <p:cNvPr id="4" name="Oval 3">
              <a:extLst>
                <a:ext uri="{FF2B5EF4-FFF2-40B4-BE49-F238E27FC236}">
                  <a16:creationId xmlns:a16="http://schemas.microsoft.com/office/drawing/2014/main" id="{30C90C35-E0BE-7AD4-92BC-8EFF113E4DB8}"/>
                </a:ext>
              </a:extLst>
            </p:cNvPr>
            <p:cNvSpPr/>
            <p:nvPr/>
          </p:nvSpPr>
          <p:spPr>
            <a:xfrm>
              <a:off x="5180554" y="1026138"/>
              <a:ext cx="1316831" cy="1316831"/>
            </a:xfrm>
            <a:prstGeom prst="ellipse">
              <a:avLst/>
            </a:prstGeom>
            <a:solidFill>
              <a:srgbClr val="DFF2C0"/>
            </a:solidFill>
            <a:ln w="38100">
              <a:solidFill>
                <a:srgbClr val="82BB27"/>
              </a:solidFill>
            </a:ln>
          </p:spPr>
          <p:style>
            <a:lnRef idx="2">
              <a:scrgbClr r="0" g="0" b="0"/>
            </a:lnRef>
            <a:fillRef idx="1">
              <a:scrgbClr r="0" g="0" b="0"/>
            </a:fillRef>
            <a:effectRef idx="0">
              <a:schemeClr val="accent1">
                <a:hueOff val="0"/>
                <a:satOff val="0"/>
                <a:lumOff val="0"/>
                <a:alphaOff val="0"/>
              </a:schemeClr>
            </a:effectRef>
            <a:fontRef idx="minor">
              <a:schemeClr val="lt1"/>
            </a:fontRef>
          </p:style>
          <p:txBody>
            <a:bodyPr/>
            <a:lstStyle/>
            <a:p>
              <a:endParaRPr lang="en-GB"/>
            </a:p>
          </p:txBody>
        </p:sp>
        <p:sp>
          <p:nvSpPr>
            <p:cNvPr id="21" name="Oval 4">
              <a:extLst>
                <a:ext uri="{FF2B5EF4-FFF2-40B4-BE49-F238E27FC236}">
                  <a16:creationId xmlns:a16="http://schemas.microsoft.com/office/drawing/2014/main" id="{D5E138FF-7604-1E33-555D-87C2C96CBE05}"/>
                </a:ext>
              </a:extLst>
            </p:cNvPr>
            <p:cNvSpPr txBox="1"/>
            <p:nvPr/>
          </p:nvSpPr>
          <p:spPr>
            <a:xfrm>
              <a:off x="5373399" y="1218983"/>
              <a:ext cx="931141" cy="93114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en-GB" sz="1300" b="1" kern="1200">
                  <a:solidFill>
                    <a:srgbClr val="82BB27"/>
                  </a:solidFill>
                  <a:latin typeface="Sassoon Infant Rg" panose="02000503030000020003" pitchFamily="2" charset="0"/>
                  <a:ea typeface="Sassoon Infant Rg" panose="02000503030000020003" pitchFamily="2" charset="0"/>
                </a:rPr>
                <a:t>Vocabulary</a:t>
              </a:r>
            </a:p>
          </p:txBody>
        </p:sp>
      </p:grpSp>
    </p:spTree>
    <p:extLst>
      <p:ext uri="{BB962C8B-B14F-4D97-AF65-F5344CB8AC3E}">
        <p14:creationId xmlns:p14="http://schemas.microsoft.com/office/powerpoint/2010/main" val="28426104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1F7DB-6538-E176-FE28-8F1AD256569A}"/>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14F21690-854A-3024-D098-1C56DE57443E}"/>
              </a:ext>
            </a:extLst>
          </p:cNvPr>
          <p:cNvPicPr>
            <a:picLocks noChangeAspect="1"/>
          </p:cNvPicPr>
          <p:nvPr/>
        </p:nvPicPr>
        <p:blipFill>
          <a:blip r:embed="rId3"/>
          <a:stretch>
            <a:fillRect/>
          </a:stretch>
        </p:blipFill>
        <p:spPr>
          <a:xfrm>
            <a:off x="10424916" y="134700"/>
            <a:ext cx="1616752" cy="697982"/>
          </a:xfrm>
          <a:prstGeom prst="rect">
            <a:avLst/>
          </a:prstGeom>
        </p:spPr>
      </p:pic>
      <p:sp>
        <p:nvSpPr>
          <p:cNvPr id="6" name="TextBox 5">
            <a:extLst>
              <a:ext uri="{FF2B5EF4-FFF2-40B4-BE49-F238E27FC236}">
                <a16:creationId xmlns:a16="http://schemas.microsoft.com/office/drawing/2014/main" id="{AEC30692-9C94-A8DB-4755-85FE74DE9821}"/>
              </a:ext>
            </a:extLst>
          </p:cNvPr>
          <p:cNvSpPr txBox="1"/>
          <p:nvPr/>
        </p:nvSpPr>
        <p:spPr>
          <a:xfrm>
            <a:off x="288098" y="335454"/>
            <a:ext cx="6864956" cy="707886"/>
          </a:xfrm>
          <a:prstGeom prst="rect">
            <a:avLst/>
          </a:prstGeom>
          <a:noFill/>
        </p:spPr>
        <p:txBody>
          <a:bodyPr wrap="none" rtlCol="0">
            <a:spAutoFit/>
          </a:bodyPr>
          <a:lstStyle/>
          <a:p>
            <a:r>
              <a:rPr lang="en-GB" sz="4000" b="1" u="sng"/>
              <a:t>Practice questions - Inference</a:t>
            </a:r>
          </a:p>
        </p:txBody>
      </p:sp>
      <p:pic>
        <p:nvPicPr>
          <p:cNvPr id="7" name="Picture 6">
            <a:extLst>
              <a:ext uri="{FF2B5EF4-FFF2-40B4-BE49-F238E27FC236}">
                <a16:creationId xmlns:a16="http://schemas.microsoft.com/office/drawing/2014/main" id="{E0AB4FA0-4B96-F850-DD50-18A5FD657BB8}"/>
              </a:ext>
            </a:extLst>
          </p:cNvPr>
          <p:cNvPicPr/>
          <p:nvPr/>
        </p:nvPicPr>
        <p:blipFill>
          <a:blip r:embed="rId4">
            <a:extLst>
              <a:ext uri="{28A0092B-C50C-407E-A947-70E740481C1C}">
                <a14:useLocalDpi xmlns:a14="http://schemas.microsoft.com/office/drawing/2010/main" val="0"/>
              </a:ext>
            </a:extLst>
          </a:blip>
          <a:stretch>
            <a:fillRect/>
          </a:stretch>
        </p:blipFill>
        <p:spPr>
          <a:xfrm>
            <a:off x="5250435" y="6048469"/>
            <a:ext cx="1691129" cy="711848"/>
          </a:xfrm>
          <a:prstGeom prst="rect">
            <a:avLst/>
          </a:prstGeom>
        </p:spPr>
      </p:pic>
      <p:sp>
        <p:nvSpPr>
          <p:cNvPr id="4" name="Rounded Rectangle 9">
            <a:extLst>
              <a:ext uri="{FF2B5EF4-FFF2-40B4-BE49-F238E27FC236}">
                <a16:creationId xmlns:a16="http://schemas.microsoft.com/office/drawing/2014/main" id="{2A06B04F-B021-4121-0C16-7A5BACEFBC1B}"/>
              </a:ext>
            </a:extLst>
          </p:cNvPr>
          <p:cNvSpPr/>
          <p:nvPr/>
        </p:nvSpPr>
        <p:spPr>
          <a:xfrm>
            <a:off x="8019658" y="6325456"/>
            <a:ext cx="4026568" cy="43134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Show / Hide Extract</a:t>
            </a:r>
          </a:p>
        </p:txBody>
      </p:sp>
      <p:sp>
        <p:nvSpPr>
          <p:cNvPr id="10" name="TextBox 9">
            <a:extLst>
              <a:ext uri="{FF2B5EF4-FFF2-40B4-BE49-F238E27FC236}">
                <a16:creationId xmlns:a16="http://schemas.microsoft.com/office/drawing/2014/main" id="{C064352E-4E96-13BD-C58F-5EEC5E15F4B5}"/>
              </a:ext>
            </a:extLst>
          </p:cNvPr>
          <p:cNvSpPr txBox="1"/>
          <p:nvPr/>
        </p:nvSpPr>
        <p:spPr>
          <a:xfrm>
            <a:off x="418368" y="1463046"/>
            <a:ext cx="11355262" cy="2246769"/>
          </a:xfrm>
          <a:prstGeom prst="rect">
            <a:avLst/>
          </a:prstGeom>
          <a:noFill/>
        </p:spPr>
        <p:txBody>
          <a:bodyPr wrap="square" rtlCol="0">
            <a:spAutoFit/>
          </a:bodyPr>
          <a:lstStyle/>
          <a:p>
            <a:r>
              <a:rPr lang="en-US" sz="1900"/>
              <a:t>What are scientists worried about regarding the Amazon?</a:t>
            </a:r>
          </a:p>
          <a:p>
            <a:r>
              <a:rPr lang="en-US" sz="1900"/>
              <a:t>Parts of the Amazon are now releasing more carbon than they absorb, meaning it may be losing its ability to act as a carbon store.</a:t>
            </a:r>
          </a:p>
          <a:p>
            <a:endParaRPr lang="en-US" sz="1900"/>
          </a:p>
          <a:p>
            <a:r>
              <a:rPr lang="en-US" sz="1900"/>
              <a:t>Name one way that climate change is affecting England.</a:t>
            </a:r>
          </a:p>
          <a:p>
            <a:r>
              <a:rPr lang="en-US" sz="1900"/>
              <a:t>Winters are becoming wetter, summers are hotter, and flooding has damaged homes and farmland (accept any one).</a:t>
            </a:r>
          </a:p>
        </p:txBody>
      </p:sp>
      <p:sp>
        <p:nvSpPr>
          <p:cNvPr id="3" name="TextBox 2">
            <a:extLst>
              <a:ext uri="{FF2B5EF4-FFF2-40B4-BE49-F238E27FC236}">
                <a16:creationId xmlns:a16="http://schemas.microsoft.com/office/drawing/2014/main" id="{EBAE955F-2F2B-1B4A-4719-6AB782D998C5}"/>
              </a:ext>
            </a:extLst>
          </p:cNvPr>
          <p:cNvSpPr txBox="1"/>
          <p:nvPr/>
        </p:nvSpPr>
        <p:spPr>
          <a:xfrm>
            <a:off x="145774" y="1043340"/>
            <a:ext cx="12046226" cy="4585423"/>
          </a:xfrm>
          <a:prstGeom prst="rect">
            <a:avLst/>
          </a:prstGeom>
          <a:solidFill>
            <a:schemeClr val="accent5">
              <a:lumMod val="20000"/>
              <a:lumOff val="80000"/>
            </a:schemeClr>
          </a:solidFill>
        </p:spPr>
        <p:txBody>
          <a:bodyPr wrap="square" anchor="ctr">
            <a:noAutofit/>
          </a:bodyPr>
          <a:lstStyle/>
          <a:p>
            <a:r>
              <a:rPr lang="en-US" sz="2200"/>
              <a:t>Climate change is already reshaping life in both Brazil and England, though in very different ways. In Brazil, rising temperatures have worsened droughts in the northeast, where communities that depend on river water for farming and drinking are finding rivers running lower than at any point in living memory. In the Amazon, scientists have found that some parts of the forest are now releasing more carbon than they absorb, a warning sign that one of the world's most important carbon stores may be approaching a tipping point. England's challenges look different but are no less serious. Winters are becoming wetter and summers hotter. Flooding has hit communities in Somerset, Yorkshire and Gloucestershire repeatedly in recent years, damaging homes and farmland. The Thames Barrier, built in 1982 to protect London from tidal surges, now closes far more frequently than its designers expected. Sea levels are rising, and low-lying coastal areas like East Anglia face an uncertain future. Both governments have made pledges. Brazil committed to ending illegal deforestation by 2030 under the Glasgow Climate Pact. The UK has set a legally binding target to reach net zero carbon emissions by 2050. But critics of both countries argue that promises on paper are not the same as action on the ground, and that for communities already feeling the effects — whether in the drought-stricken northeast of Brazil or a flooded village in Yorkshire — the pace of change is far too slow.</a:t>
            </a:r>
          </a:p>
        </p:txBody>
      </p:sp>
    </p:spTree>
    <p:extLst>
      <p:ext uri="{BB962C8B-B14F-4D97-AF65-F5344CB8AC3E}">
        <p14:creationId xmlns:p14="http://schemas.microsoft.com/office/powerpoint/2010/main" val="2161724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4"/>
                    </p:tgtEl>
                  </p:cond>
                </p:stCondLst>
                <p:endSync evt="end" delay="0">
                  <p:rtn val="all"/>
                </p:endSync>
                <p:childTnLst>
                  <p:par>
                    <p:cTn id="24" fill="hold">
                      <p:stCondLst>
                        <p:cond delay="indefinite"/>
                      </p:stCondLst>
                      <p:childTnLst>
                        <p:par>
                          <p:cTn id="25" fill="hold">
                            <p:stCondLst>
                              <p:cond delay="0"/>
                            </p:stCondLst>
                            <p:childTnLst>
                              <p:par>
                                <p:cTn id="26" presetID="1" presetClass="entr" presetSubtype="0" fill="hold" grpId="0" nodeType="clickEffect">
                                  <p:stCondLst>
                                    <p:cond delay="0"/>
                                  </p:stCondLst>
                                  <p:childTnLst>
                                    <p:set>
                                      <p:cBhvr>
                                        <p:cTn id="27" dur="1" fill="hold">
                                          <p:stCondLst>
                                            <p:cond delay="0"/>
                                          </p:stCondLst>
                                        </p:cTn>
                                        <p:tgtEl>
                                          <p:spTgt spid="3"/>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 presetClass="exit" presetSubtype="0" fill="hold" grpId="1" nodeType="clickEffect">
                                  <p:stCondLst>
                                    <p:cond delay="0"/>
                                  </p:stCondLst>
                                  <p:childTnLst>
                                    <p:set>
                                      <p:cBhvr>
                                        <p:cTn id="31" dur="1" fill="hold">
                                          <p:stCondLst>
                                            <p:cond delay="0"/>
                                          </p:stCondLst>
                                        </p:cTn>
                                        <p:tgtEl>
                                          <p:spTgt spid="3"/>
                                        </p:tgtEl>
                                        <p:attrNameLst>
                                          <p:attrName>style.visibility</p:attrName>
                                        </p:attrNameLst>
                                      </p:cBhvr>
                                      <p:to>
                                        <p:strVal val="hidden"/>
                                      </p:to>
                                    </p:set>
                                  </p:childTnLst>
                                </p:cTn>
                              </p:par>
                            </p:childTnLst>
                          </p:cTn>
                        </p:par>
                      </p:childTnLst>
                    </p:cTn>
                  </p:par>
                </p:childTnLst>
              </p:cTn>
              <p:nextCondLst>
                <p:cond evt="onClick" delay="0">
                  <p:tgtEl>
                    <p:spTgt spid="4"/>
                  </p:tgtEl>
                </p:cond>
              </p:nextCondLst>
            </p:seq>
          </p:childTnLst>
        </p:cTn>
      </p:par>
    </p:tnLst>
    <p:bldLst>
      <p:bldP spid="3" grpId="0" animBg="1"/>
      <p:bldP spid="3" grpId="1"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Sassoon Infant Rg"/>
        <a:ea typeface=""/>
        <a:cs typeface=""/>
      </a:majorFont>
      <a:minorFont>
        <a:latin typeface="Sassoon Infant Rg"/>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Relationships xmlns="http://schemas.openxmlformats.org/package/2006/relationships"><Relationship Id="rId1" Type="http://schemas.openxmlformats.org/officeDocument/2006/relationships/customXmlProps" Target="itemProps1.xml"/></Relationships>
</file>

<file path=customXml/_rels/item2.xml.rels><?xml version="1.0" encoding="UTF-8"?><Relationships xmlns="http://schemas.openxmlformats.org/package/2006/relationships"><Relationship Id="rId1" Type="http://schemas.openxmlformats.org/officeDocument/2006/relationships/customXmlProps" Target="itemProps2.xml"/></Relationships>
</file>

<file path=customXml/_rels/item3.xml.rels><?xml version="1.0" encoding="UTF-8"?><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848fd07-94db-4308-8950-9cb0e230b958" xsi:nil="true"/>
    <lcf76f155ced4ddcb4097134ff3c332f xmlns="9e6dd442-da5e-411e-833f-0fee7dcd7819">
      <Terms xmlns="http://schemas.microsoft.com/office/infopath/2007/PartnerControls"/>
    </lcf76f155ced4ddcb4097134ff3c332f>
    <SharedWithUsers xmlns="4848fd07-94db-4308-8950-9cb0e230b958">
      <UserInfo>
        <DisplayName>Jo Hewitt - WFA</DisplayName>
        <AccountId>40</AccountId>
        <AccountType/>
      </UserInfo>
      <UserInfo>
        <DisplayName>Jonathan Miller - WFA</DisplayName>
        <AccountId>57</AccountId>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C71695694772F44B387615DF8DED97F" ma:contentTypeVersion="16" ma:contentTypeDescription="Create a new document." ma:contentTypeScope="" ma:versionID="6b988a150421d80c99f84aa2bfb3de38">
  <xsd:schema xmlns:xsd="http://www.w3.org/2001/XMLSchema" xmlns:xs="http://www.w3.org/2001/XMLSchema" xmlns:p="http://schemas.microsoft.com/office/2006/metadata/properties" xmlns:ns2="9e6dd442-da5e-411e-833f-0fee7dcd7819" xmlns:ns3="4848fd07-94db-4308-8950-9cb0e230b958" targetNamespace="http://schemas.microsoft.com/office/2006/metadata/properties" ma:root="true" ma:fieldsID="0840e1ae8104f568f88bbc0ee80d0ce2" ns2:_="" ns3:_="">
    <xsd:import namespace="9e6dd442-da5e-411e-833f-0fee7dcd7819"/>
    <xsd:import namespace="4848fd07-94db-4308-8950-9cb0e230b95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DateTaken" minOccurs="0"/>
                <xsd:element ref="ns2:MediaLengthInSeconds" minOccurs="0"/>
                <xsd:element ref="ns2:MediaServiceLocatio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3:SharedWithUsers" minOccurs="0"/>
                <xsd:element ref="ns3:SharedWithDetail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e6dd442-da5e-411e-833f-0fee7dcd781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MediaServiceLocation" ma:index="13" nillable="true" ma:displayName="Location" ma:indexed="true"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d08261e-ebf2-489e-9cf5-3c5ddf1ef556"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848fd07-94db-4308-8950-9cb0e230b95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90903c9d-9125-4551-886d-abbd3fd64318}" ma:internalName="TaxCatchAll" ma:showField="CatchAllData" ma:web="4848fd07-94db-4308-8950-9cb0e230b958">
      <xsd:complexType>
        <xsd:complexContent>
          <xsd:extension base="dms:MultiChoiceLookup">
            <xsd:sequence>
              <xsd:element name="Value" type="dms:Lookup" maxOccurs="unbounded" minOccurs="0" nillable="true"/>
            </xsd:sequence>
          </xsd:extension>
        </xsd:complexContent>
      </xsd:complexType>
    </xsd:element>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E02CAFD-7AEC-4FCB-8049-4FEF8A0D00D8}">
  <ds:schemaRefs>
    <ds:schemaRef ds:uri="http://schemas.microsoft.com/sharepoint/v3/contenttype/forms"/>
  </ds:schemaRefs>
</ds:datastoreItem>
</file>

<file path=customXml/itemProps2.xml><?xml version="1.0" encoding="utf-8"?>
<ds:datastoreItem xmlns:ds="http://schemas.openxmlformats.org/officeDocument/2006/customXml" ds:itemID="{D45AAA2B-1185-4CA6-878D-532686679D9F}">
  <ds:schemaRefs>
    <ds:schemaRef ds:uri="4848fd07-94db-4308-8950-9cb0e230b958"/>
    <ds:schemaRef ds:uri="9e6dd442-da5e-411e-833f-0fee7dcd781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71D150B1-45AA-4FD4-8213-B2AC8AE18B93}">
  <ds:schemaRefs>
    <ds:schemaRef ds:uri="4848fd07-94db-4308-8950-9cb0e230b958"/>
    <ds:schemaRef ds:uri="9e6dd442-da5e-411e-833f-0fee7dcd781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22</Slides>
  <Notes>16</Notes>
  <HiddenSlides>2</HiddenSlides>
  <ScaleCrop>false</ScaleCrop>
  <HeadingPairs>
    <vt:vector size="4" baseType="variant">
      <vt:variant>
        <vt:lpstr>Theme</vt:lpstr>
      </vt:variant>
      <vt:variant>
        <vt:i4>1</vt:i4>
      </vt:variant>
      <vt:variant>
        <vt:lpstr>Slide Titles</vt:lpstr>
      </vt:variant>
      <vt:variant>
        <vt:i4>22</vt:i4>
      </vt:variant>
    </vt:vector>
  </HeadingPairs>
  <TitlesOfParts>
    <vt:vector size="23" baseType="lpstr">
      <vt:lpstr>Office Theme</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lpstr>Being a Reader</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Helen Rea - WFA</dc:creator>
  <cp:revision>1</cp:revision>
  <cp:lastPrinted>2024-09-12T11:50:42Z</cp:lastPrinted>
  <dcterms:created xsi:type="dcterms:W3CDTF">2024-01-22T14:53:27Z</dcterms:created>
  <dcterms:modified xsi:type="dcterms:W3CDTF">2026-06-18T10:09:40Z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0x010100AC71695694772F44B387615DF8DED97F</vt:lpwstr>
  </property>
</Properties>
</file>