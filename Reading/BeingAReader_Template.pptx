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1923" r:id="rId5"/>
    <p:sldId id="1817" r:id="rId6"/>
    <p:sldId id="1884" r:id="rId7"/>
    <p:sldId id="1912" r:id="rId8"/>
    <p:sldId id="1907" r:id="rId9"/>
    <p:sldId id="1887" r:id="rId10"/>
    <p:sldId id="1800" r:id="rId11"/>
    <p:sldId id="1904" r:id="rId12"/>
    <p:sldId id="407" r:id="rId13"/>
    <p:sldId id="1799" r:id="rId14"/>
    <p:sldId id="1885" r:id="rId15"/>
    <p:sldId id="1903" r:id="rId16"/>
    <p:sldId id="1804" r:id="rId17"/>
    <p:sldId id="1902" r:id="rId18"/>
    <p:sldId id="1924" r:id="rId19"/>
    <p:sldId id="2001" r:id="rId27"/>
    <p:sldId id="2002" r:id="rId28"/>
    <p:sldId id="2003" r:id="rId29"/>
    <p:sldId id="2004" r:id="rId30"/>
    <p:sldId id="2005" r:id="rId31"/>
    <p:sldId id="2006" r:id="rId32"/>
    <p:sldId id="2007" r:id="rId33"/>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FFF00"/>
    <a:srgbClr val="DEECF8"/>
    <a:srgbClr val="DFF2C0"/>
    <a:srgbClr val="FFDD99"/>
    <a:srgbClr val="A2CFFC"/>
    <a:srgbClr val="CD007A"/>
    <a:srgbClr val="FFD5EE"/>
    <a:srgbClr val="D463AF"/>
    <a:srgbClr val="FFAF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195C1D-3DE4-4D47-948A-4F5D6034330B}" v="2" dt="2026-05-21T16:23:02.9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nnes Mclean - WFA" userId="cffa568d-066a-4903-b028-bafd937e5ea6" providerId="ADAL" clId="{BBC503F0-0109-47F6-B1DF-E0A271B1FB53}"/>
    <pc:docChg chg="modSld">
      <pc:chgData name="Innes Mclean - WFA" userId="cffa568d-066a-4903-b028-bafd937e5ea6" providerId="ADAL" clId="{BBC503F0-0109-47F6-B1DF-E0A271B1FB53}" dt="2026-05-06T07:16:05.639" v="50" actId="403"/>
      <pc:docMkLst>
        <pc:docMk/>
      </pc:docMkLst>
      <pc:sldChg chg="modSp mod">
        <pc:chgData name="Innes Mclean - WFA" userId="cffa568d-066a-4903-b028-bafd937e5ea6" providerId="ADAL" clId="{BBC503F0-0109-47F6-B1DF-E0A271B1FB53}" dt="2026-05-06T07:16:05.639" v="50" actId="403"/>
        <pc:sldMkLst>
          <pc:docMk/>
          <pc:sldMk cId="3172617500" sldId="1817"/>
        </pc:sldMkLst>
        <pc:spChg chg="mod">
          <ac:chgData name="Innes Mclean - WFA" userId="cffa568d-066a-4903-b028-bafd937e5ea6" providerId="ADAL" clId="{BBC503F0-0109-47F6-B1DF-E0A271B1FB53}" dt="2026-05-06T07:16:05.639" v="50" actId="403"/>
          <ac:spMkLst>
            <pc:docMk/>
            <pc:sldMk cId="3172617500" sldId="1817"/>
            <ac:spMk id="8" creationId="{E3C356D1-4D69-6789-D9E9-77C69F82E055}"/>
          </ac:spMkLst>
        </pc:spChg>
      </pc:sldChg>
    </pc:docChg>
  </pc:docChgLst>
  <pc:docChgLst>
    <pc:chgData name="Innes Mclean - WFA" userId="cffa568d-066a-4903-b028-bafd937e5ea6" providerId="ADAL" clId="{BAFB47AA-30B1-57EF-A3A9-D4A2AD815BD7}"/>
    <pc:docChg chg="custSel addSld delSld modSld">
      <pc:chgData name="Innes Mclean - WFA" userId="cffa568d-066a-4903-b028-bafd937e5ea6" providerId="ADAL" clId="{BAFB47AA-30B1-57EF-A3A9-D4A2AD815BD7}" dt="2026-05-21T16:23:20.305" v="82" actId="1076"/>
      <pc:docMkLst>
        <pc:docMk/>
      </pc:docMkLst>
      <pc:sldChg chg="delSp modSp del mod modShow">
        <pc:chgData name="Innes Mclean - WFA" userId="cffa568d-066a-4903-b028-bafd937e5ea6" providerId="ADAL" clId="{BAFB47AA-30B1-57EF-A3A9-D4A2AD815BD7}" dt="2026-05-21T16:22:44.359" v="56" actId="2696"/>
        <pc:sldMkLst>
          <pc:docMk/>
          <pc:sldMk cId="1347850878" sldId="407"/>
        </pc:sldMkLst>
      </pc:sldChg>
      <pc:sldChg chg="addSp modSp add mod modShow">
        <pc:chgData name="Innes Mclean - WFA" userId="cffa568d-066a-4903-b028-bafd937e5ea6" providerId="ADAL" clId="{BAFB47AA-30B1-57EF-A3A9-D4A2AD815BD7}" dt="2026-05-21T16:23:12.533" v="81" actId="1076"/>
        <pc:sldMkLst>
          <pc:docMk/>
          <pc:sldMk cId="3303693540" sldId="407"/>
        </pc:sldMkLst>
        <pc:spChg chg="mod">
          <ac:chgData name="Innes Mclean - WFA" userId="cffa568d-066a-4903-b028-bafd937e5ea6" providerId="ADAL" clId="{BAFB47AA-30B1-57EF-A3A9-D4A2AD815BD7}" dt="2026-05-21T16:22:57.742" v="60" actId="20577"/>
          <ac:spMkLst>
            <pc:docMk/>
            <pc:sldMk cId="3303693540" sldId="407"/>
            <ac:spMk id="3" creationId="{9AA1DE16-8C7B-4868-2DE3-9C9C7D7D4324}"/>
          </ac:spMkLst>
        </pc:spChg>
        <pc:spChg chg="add mod">
          <ac:chgData name="Innes Mclean - WFA" userId="cffa568d-066a-4903-b028-bafd937e5ea6" providerId="ADAL" clId="{BAFB47AA-30B1-57EF-A3A9-D4A2AD815BD7}" dt="2026-05-21T16:23:12.533" v="81" actId="1076"/>
          <ac:spMkLst>
            <pc:docMk/>
            <pc:sldMk cId="3303693540" sldId="407"/>
            <ac:spMk id="6" creationId="{2B18F8C8-4B63-E425-87CE-D13C91BCA056}"/>
          </ac:spMkLst>
        </pc:spChg>
      </pc:sldChg>
      <pc:sldChg chg="add mod modShow">
        <pc:chgData name="Innes Mclean - WFA" userId="cffa568d-066a-4903-b028-bafd937e5ea6" providerId="ADAL" clId="{BAFB47AA-30B1-57EF-A3A9-D4A2AD815BD7}" dt="2026-05-21T16:22:52.831" v="59" actId="34476"/>
        <pc:sldMkLst>
          <pc:docMk/>
          <pc:sldMk cId="2855788608" sldId="1799"/>
        </pc:sldMkLst>
      </pc:sldChg>
      <pc:sldChg chg="del mod modShow">
        <pc:chgData name="Innes Mclean - WFA" userId="cffa568d-066a-4903-b028-bafd937e5ea6" providerId="ADAL" clId="{BAFB47AA-30B1-57EF-A3A9-D4A2AD815BD7}" dt="2026-05-21T16:22:44.359" v="56" actId="2696"/>
        <pc:sldMkLst>
          <pc:docMk/>
          <pc:sldMk cId="3068266800" sldId="1799"/>
        </pc:sldMkLst>
      </pc:sldChg>
      <pc:sldChg chg="del mod modShow">
        <pc:chgData name="Innes Mclean - WFA" userId="cffa568d-066a-4903-b028-bafd937e5ea6" providerId="ADAL" clId="{BAFB47AA-30B1-57EF-A3A9-D4A2AD815BD7}" dt="2026-05-21T16:22:44.359" v="56" actId="2696"/>
        <pc:sldMkLst>
          <pc:docMk/>
          <pc:sldMk cId="923010346" sldId="1804"/>
        </pc:sldMkLst>
      </pc:sldChg>
      <pc:sldChg chg="modSp add mod modShow">
        <pc:chgData name="Innes Mclean - WFA" userId="cffa568d-066a-4903-b028-bafd937e5ea6" providerId="ADAL" clId="{BAFB47AA-30B1-57EF-A3A9-D4A2AD815BD7}" dt="2026-05-21T16:23:20.305" v="82" actId="1076"/>
        <pc:sldMkLst>
          <pc:docMk/>
          <pc:sldMk cId="1979448493" sldId="1804"/>
        </pc:sldMkLst>
        <pc:spChg chg="mod">
          <ac:chgData name="Innes Mclean - WFA" userId="cffa568d-066a-4903-b028-bafd937e5ea6" providerId="ADAL" clId="{BAFB47AA-30B1-57EF-A3A9-D4A2AD815BD7}" dt="2026-05-21T16:23:20.305" v="82" actId="1076"/>
          <ac:spMkLst>
            <pc:docMk/>
            <pc:sldMk cId="1979448493" sldId="1804"/>
            <ac:spMk id="22" creationId="{BBE494B4-E4A1-C48A-15E2-3683EA0AD086}"/>
          </ac:spMkLst>
        </pc:spChg>
      </pc:sldChg>
      <pc:sldChg chg="modSp mod">
        <pc:chgData name="Innes Mclean - WFA" userId="cffa568d-066a-4903-b028-bafd937e5ea6" providerId="ADAL" clId="{BAFB47AA-30B1-57EF-A3A9-D4A2AD815BD7}" dt="2026-05-18T15:47:23.455" v="55" actId="20577"/>
        <pc:sldMkLst>
          <pc:docMk/>
          <pc:sldMk cId="3172617500" sldId="1817"/>
        </pc:sldMkLst>
        <pc:spChg chg="mod">
          <ac:chgData name="Innes Mclean - WFA" userId="cffa568d-066a-4903-b028-bafd937e5ea6" providerId="ADAL" clId="{BAFB47AA-30B1-57EF-A3A9-D4A2AD815BD7}" dt="2026-05-18T15:47:23.455" v="55" actId="20577"/>
          <ac:spMkLst>
            <pc:docMk/>
            <pc:sldMk cId="3172617500" sldId="1817"/>
            <ac:spMk id="6" creationId="{BB00753D-C189-01CA-44B1-B484F954D600}"/>
          </ac:spMkLst>
        </pc:spChg>
        <pc:grpChg chg="mod">
          <ac:chgData name="Innes Mclean - WFA" userId="cffa568d-066a-4903-b028-bafd937e5ea6" providerId="ADAL" clId="{BAFB47AA-30B1-57EF-A3A9-D4A2AD815BD7}" dt="2026-05-09T18:39:05.256" v="26" actId="1076"/>
          <ac:grpSpMkLst>
            <pc:docMk/>
            <pc:sldMk cId="3172617500" sldId="1817"/>
            <ac:grpSpMk id="4" creationId="{5F3F8467-5724-D86C-FDA4-D49533DEC4F0}"/>
          </ac:grpSpMkLst>
        </pc:grpChg>
        <pc:picChg chg="mod">
          <ac:chgData name="Innes Mclean - WFA" userId="cffa568d-066a-4903-b028-bafd937e5ea6" providerId="ADAL" clId="{BAFB47AA-30B1-57EF-A3A9-D4A2AD815BD7}" dt="2026-05-09T18:39:05.256" v="26" actId="1076"/>
          <ac:picMkLst>
            <pc:docMk/>
            <pc:sldMk cId="3172617500" sldId="1817"/>
            <ac:picMk id="5" creationId="{2B1C2540-38D6-7D21-7288-1F3B603531FB}"/>
          </ac:picMkLst>
        </pc:picChg>
        <pc:picChg chg="mod">
          <ac:chgData name="Innes Mclean - WFA" userId="cffa568d-066a-4903-b028-bafd937e5ea6" providerId="ADAL" clId="{BAFB47AA-30B1-57EF-A3A9-D4A2AD815BD7}" dt="2026-05-09T18:39:05.256" v="26" actId="1076"/>
          <ac:picMkLst>
            <pc:docMk/>
            <pc:sldMk cId="3172617500" sldId="1817"/>
            <ac:picMk id="7" creationId="{8F3344A5-4924-D3BC-68C4-52E2EB3B6D65}"/>
          </ac:picMkLst>
        </pc:picChg>
      </pc:sldChg>
      <pc:sldChg chg="add mod modShow">
        <pc:chgData name="Innes Mclean - WFA" userId="cffa568d-066a-4903-b028-bafd937e5ea6" providerId="ADAL" clId="{BAFB47AA-30B1-57EF-A3A9-D4A2AD815BD7}" dt="2026-05-21T16:22:52.831" v="59" actId="34476"/>
        <pc:sldMkLst>
          <pc:docMk/>
          <pc:sldMk cId="3287233457" sldId="1885"/>
        </pc:sldMkLst>
      </pc:sldChg>
      <pc:sldChg chg="del mod modShow">
        <pc:chgData name="Innes Mclean - WFA" userId="cffa568d-066a-4903-b028-bafd937e5ea6" providerId="ADAL" clId="{BAFB47AA-30B1-57EF-A3A9-D4A2AD815BD7}" dt="2026-05-21T16:22:44.359" v="56" actId="2696"/>
        <pc:sldMkLst>
          <pc:docMk/>
          <pc:sldMk cId="4267943230" sldId="1885"/>
        </pc:sldMkLst>
      </pc:sldChg>
      <pc:sldChg chg="modSp mod">
        <pc:chgData name="Innes Mclean - WFA" userId="cffa568d-066a-4903-b028-bafd937e5ea6" providerId="ADAL" clId="{BAFB47AA-30B1-57EF-A3A9-D4A2AD815BD7}" dt="2026-05-09T18:38:17.522" v="20" actId="1076"/>
        <pc:sldMkLst>
          <pc:docMk/>
          <pc:sldMk cId="303222904" sldId="1887"/>
        </pc:sldMkLst>
        <pc:spChg chg="mod">
          <ac:chgData name="Innes Mclean - WFA" userId="cffa568d-066a-4903-b028-bafd937e5ea6" providerId="ADAL" clId="{BAFB47AA-30B1-57EF-A3A9-D4A2AD815BD7}" dt="2026-05-09T18:38:17.522" v="20" actId="1076"/>
          <ac:spMkLst>
            <pc:docMk/>
            <pc:sldMk cId="303222904" sldId="1887"/>
            <ac:spMk id="15" creationId="{DB1CFDC9-8812-2D57-F259-9934E0E81FC7}"/>
          </ac:spMkLst>
        </pc:spChg>
      </pc:sldChg>
      <pc:sldChg chg="add mod modShow">
        <pc:chgData name="Innes Mclean - WFA" userId="cffa568d-066a-4903-b028-bafd937e5ea6" providerId="ADAL" clId="{BAFB47AA-30B1-57EF-A3A9-D4A2AD815BD7}" dt="2026-05-21T16:22:52.831" v="59" actId="34476"/>
        <pc:sldMkLst>
          <pc:docMk/>
          <pc:sldMk cId="2842610468" sldId="1902"/>
        </pc:sldMkLst>
      </pc:sldChg>
      <pc:sldChg chg="del mod modShow">
        <pc:chgData name="Innes Mclean - WFA" userId="cffa568d-066a-4903-b028-bafd937e5ea6" providerId="ADAL" clId="{BAFB47AA-30B1-57EF-A3A9-D4A2AD815BD7}" dt="2026-05-21T16:22:44.359" v="56" actId="2696"/>
        <pc:sldMkLst>
          <pc:docMk/>
          <pc:sldMk cId="4048027688" sldId="1902"/>
        </pc:sldMkLst>
      </pc:sldChg>
      <pc:sldChg chg="del mod modShow">
        <pc:chgData name="Innes Mclean - WFA" userId="cffa568d-066a-4903-b028-bafd937e5ea6" providerId="ADAL" clId="{BAFB47AA-30B1-57EF-A3A9-D4A2AD815BD7}" dt="2026-05-21T16:22:44.359" v="56" actId="2696"/>
        <pc:sldMkLst>
          <pc:docMk/>
          <pc:sldMk cId="2949455189" sldId="1903"/>
        </pc:sldMkLst>
      </pc:sldChg>
      <pc:sldChg chg="add mod modShow">
        <pc:chgData name="Innes Mclean - WFA" userId="cffa568d-066a-4903-b028-bafd937e5ea6" providerId="ADAL" clId="{BAFB47AA-30B1-57EF-A3A9-D4A2AD815BD7}" dt="2026-05-21T16:22:52.831" v="59" actId="34476"/>
        <pc:sldMkLst>
          <pc:docMk/>
          <pc:sldMk cId="3934231579" sldId="1903"/>
        </pc:sldMkLst>
      </pc:sldChg>
      <pc:sldChg chg="modSp mod">
        <pc:chgData name="Innes Mclean - WFA" userId="cffa568d-066a-4903-b028-bafd937e5ea6" providerId="ADAL" clId="{BAFB47AA-30B1-57EF-A3A9-D4A2AD815BD7}" dt="2026-05-21T16:22:48.227" v="58" actId="27636"/>
        <pc:sldMkLst>
          <pc:docMk/>
          <pc:sldMk cId="4127022080" sldId="1904"/>
        </pc:sldMkLst>
        <pc:spChg chg="mod">
          <ac:chgData name="Innes Mclean - WFA" userId="cffa568d-066a-4903-b028-bafd937e5ea6" providerId="ADAL" clId="{BAFB47AA-30B1-57EF-A3A9-D4A2AD815BD7}" dt="2026-05-21T16:22:48.227" v="58" actId="27636"/>
          <ac:spMkLst>
            <pc:docMk/>
            <pc:sldMk cId="4127022080" sldId="1904"/>
            <ac:spMk id="9" creationId="{C39F0976-7660-64BA-E055-E6E60B65E8BB}"/>
          </ac:spMkLst>
        </pc:spChg>
      </pc:sldChg>
      <pc:sldChg chg="add mod modShow">
        <pc:chgData name="Innes Mclean - WFA" userId="cffa568d-066a-4903-b028-bafd937e5ea6" providerId="ADAL" clId="{BAFB47AA-30B1-57EF-A3A9-D4A2AD815BD7}" dt="2026-05-21T16:22:52.831" v="59" actId="34476"/>
        <pc:sldMkLst>
          <pc:docMk/>
          <pc:sldMk cId="2161724486" sldId="1924"/>
        </pc:sldMkLst>
      </pc:sldChg>
      <pc:sldChg chg="del mod modShow">
        <pc:chgData name="Innes Mclean - WFA" userId="cffa568d-066a-4903-b028-bafd937e5ea6" providerId="ADAL" clId="{BAFB47AA-30B1-57EF-A3A9-D4A2AD815BD7}" dt="2026-05-21T16:22:44.359" v="56" actId="2696"/>
        <pc:sldMkLst>
          <pc:docMk/>
          <pc:sldMk cId="3615942781" sldId="1924"/>
        </pc:sldMkLst>
      </pc:sldChg>
    </pc:docChg>
  </pc:docChgLst>
</pc:chgInfo>
</file>

<file path=ppt/ink/ink1.xml><?xml version="1.0" encoding="utf-8"?>
<inkml:ink xmlns:inkml="http://www.w3.org/2003/InkML">
  <inkml:definitions>
    <inkml:context xml:id="ctx0">
      <inkml:inkSource xml:id="inkSrc0">
        <inkml:traceFormat>
          <inkml:channel name="X" type="integer" max="26395" units="cm"/>
          <inkml:channel name="Y" type="integer" max="14847" units="cm"/>
          <inkml:channel name="T" type="integer" max="2.14748E9" units="dev"/>
        </inkml:traceFormat>
        <inkml:channelProperties>
          <inkml:channelProperty channel="X" name="resolution" value="159.99879" units="1/cm"/>
          <inkml:channelProperty channel="Y" name="resolution" value="160.00647" units="1/cm"/>
          <inkml:channelProperty channel="T" name="resolution" value="1" units="1/dev"/>
        </inkml:channelProperties>
      </inkml:inkSource>
      <inkml:timestamp xml:id="ts0" timeString="2025-09-17T12:45:34.864"/>
    </inkml:context>
    <inkml:brush xml:id="br0">
      <inkml:brushProperty name="width" value="0.05292" units="cm"/>
      <inkml:brushProperty name="height" value="0.05292" units="cm"/>
      <inkml:brushProperty name="color" value="#FF0000"/>
    </inkml:brush>
  </inkml:definitions>
  <inkml:trace contextRef="#ctx0" brushRef="#br0">27383 10603 0,'0'0'0</inkml:trace>
</inkml:ink>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D225DB60-C16B-446D-B5DB-6D7125925E95}" type="datetimeFigureOut">
              <a:rPr lang="en-GB" smtClean="0"/>
              <a:t>21/05/2026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B7E8E8B9-ADA3-45E0-8420-BE5E8FCCF1F7}" type="slidenum">
              <a:rPr lang="en-GB" smtClean="0"/>
              <a:t>‹#›</a:t>
            </a:fld>
            <a:endParaRPr lang="en-GB"/>
          </a:p>
        </p:txBody>
      </p:sp>
    </p:spTree>
    <p:extLst>
      <p:ext uri="{BB962C8B-B14F-4D97-AF65-F5344CB8AC3E}">
        <p14:creationId xmlns:p14="http://schemas.microsoft.com/office/powerpoint/2010/main" val="857138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11416-2BF0-1BF0-993C-D7EDF44CEA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AD52C-A15F-345E-DEC9-153A113F16DD}"/>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3F11A5D-2009-B729-C92B-9C76C84A13B9}"/>
              </a:ext>
            </a:extLst>
          </p:cNvPr>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a:extLst>
              <a:ext uri="{FF2B5EF4-FFF2-40B4-BE49-F238E27FC236}">
                <a16:creationId xmlns:a16="http://schemas.microsoft.com/office/drawing/2014/main" id="{19A8A58E-928C-8E71-2814-F5DCBF204BB4}"/>
              </a:ext>
            </a:extLst>
          </p:cNvPr>
          <p:cNvSpPr>
            <a:spLocks noGrp="1"/>
          </p:cNvSpPr>
          <p:nvPr>
            <p:ph type="sldNum" sz="quarter" idx="5"/>
          </p:nvPr>
        </p:nvSpPr>
        <p:spPr/>
        <p:txBody>
          <a:bodyPr/>
          <a:lstStyle/>
          <a:p>
            <a:fld id="{B7E8E8B9-ADA3-45E0-8420-BE5E8FCCF1F7}" type="slidenum">
              <a:rPr lang="en-GB" smtClean="0"/>
              <a:t>3</a:t>
            </a:fld>
            <a:endParaRPr lang="en-GB"/>
          </a:p>
        </p:txBody>
      </p:sp>
    </p:spTree>
    <p:extLst>
      <p:ext uri="{BB962C8B-B14F-4D97-AF65-F5344CB8AC3E}">
        <p14:creationId xmlns:p14="http://schemas.microsoft.com/office/powerpoint/2010/main" val="3293585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93071-2F46-9644-A2D0-B7A516A87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F26A4-4C33-FD41-8664-9FFE0D68577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023575B-F319-685A-F4EB-043ABE52686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6D2E282-AD31-3D4D-FFE7-ECB14224B778}"/>
              </a:ext>
            </a:extLst>
          </p:cNvPr>
          <p:cNvSpPr>
            <a:spLocks noGrp="1"/>
          </p:cNvSpPr>
          <p:nvPr>
            <p:ph type="sldNum" sz="quarter" idx="5"/>
          </p:nvPr>
        </p:nvSpPr>
        <p:spPr/>
        <p:txBody>
          <a:bodyPr/>
          <a:lstStyle/>
          <a:p>
            <a:fld id="{B7E8E8B9-ADA3-45E0-8420-BE5E8FCCF1F7}" type="slidenum">
              <a:rPr lang="en-GB" smtClean="0"/>
              <a:t>4</a:t>
            </a:fld>
            <a:endParaRPr lang="en-GB"/>
          </a:p>
        </p:txBody>
      </p:sp>
    </p:spTree>
    <p:extLst>
      <p:ext uri="{BB962C8B-B14F-4D97-AF65-F5344CB8AC3E}">
        <p14:creationId xmlns:p14="http://schemas.microsoft.com/office/powerpoint/2010/main" val="2304213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9E6B0-A6BD-A747-E971-48B8368E97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60842B-70A3-6A87-DE71-DC5CDBBC8C2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F84E4DBC-5075-4DA5-C90B-BB7261D9738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90E457-613E-E4B9-F2D4-8EB91F55A8B1}"/>
              </a:ext>
            </a:extLst>
          </p:cNvPr>
          <p:cNvSpPr>
            <a:spLocks noGrp="1"/>
          </p:cNvSpPr>
          <p:nvPr>
            <p:ph type="sldNum" sz="quarter" idx="5"/>
          </p:nvPr>
        </p:nvSpPr>
        <p:spPr/>
        <p:txBody>
          <a:bodyPr/>
          <a:lstStyle/>
          <a:p>
            <a:fld id="{B7E8E8B9-ADA3-45E0-8420-BE5E8FCCF1F7}" type="slidenum">
              <a:rPr lang="en-GB" smtClean="0"/>
              <a:t>5</a:t>
            </a:fld>
            <a:endParaRPr lang="en-GB"/>
          </a:p>
        </p:txBody>
      </p:sp>
    </p:spTree>
    <p:extLst>
      <p:ext uri="{BB962C8B-B14F-4D97-AF65-F5344CB8AC3E}">
        <p14:creationId xmlns:p14="http://schemas.microsoft.com/office/powerpoint/2010/main" val="732070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BE0DF-E15F-5B7F-F1A7-97D7767E08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CDCBFC-DD36-F38E-02CE-18E5BFA080A5}"/>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DCBA88D1-8153-ACA0-4EC1-0560A2F1293A}"/>
              </a:ext>
            </a:extLst>
          </p:cNvPr>
          <p:cNvSpPr>
            <a:spLocks noGrp="1"/>
          </p:cNvSpPr>
          <p:nvPr>
            <p:ph type="body" idx="1"/>
          </p:nvPr>
        </p:nvSpPr>
        <p:spPr/>
        <p:txBody>
          <a:bodyPr/>
          <a:lstStyle/>
          <a:p>
            <a:r>
              <a:rPr lang="en-GB"/>
              <a:t>OH ES &amp; KW reading phonically decodable version with TP</a:t>
            </a:r>
          </a:p>
        </p:txBody>
      </p:sp>
      <p:sp>
        <p:nvSpPr>
          <p:cNvPr id="4" name="Slide Number Placeholder 3">
            <a:extLst>
              <a:ext uri="{FF2B5EF4-FFF2-40B4-BE49-F238E27FC236}">
                <a16:creationId xmlns:a16="http://schemas.microsoft.com/office/drawing/2014/main" id="{AEDBB03C-83C0-8406-0E5B-977918F0DAB0}"/>
              </a:ext>
            </a:extLst>
          </p:cNvPr>
          <p:cNvSpPr>
            <a:spLocks noGrp="1"/>
          </p:cNvSpPr>
          <p:nvPr>
            <p:ph type="sldNum" sz="quarter" idx="5"/>
          </p:nvPr>
        </p:nvSpPr>
        <p:spPr/>
        <p:txBody>
          <a:bodyPr/>
          <a:lstStyle/>
          <a:p>
            <a:fld id="{B7E8E8B9-ADA3-45E0-8420-BE5E8FCCF1F7}" type="slidenum">
              <a:rPr lang="en-GB" smtClean="0"/>
              <a:t>6</a:t>
            </a:fld>
            <a:endParaRPr lang="en-GB"/>
          </a:p>
        </p:txBody>
      </p:sp>
    </p:spTree>
    <p:extLst>
      <p:ext uri="{BB962C8B-B14F-4D97-AF65-F5344CB8AC3E}">
        <p14:creationId xmlns:p14="http://schemas.microsoft.com/office/powerpoint/2010/main" val="4012600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9</a:t>
            </a:fld>
            <a:endParaRPr lang="en-GB"/>
          </a:p>
        </p:txBody>
      </p:sp>
    </p:spTree>
    <p:extLst>
      <p:ext uri="{BB962C8B-B14F-4D97-AF65-F5344CB8AC3E}">
        <p14:creationId xmlns:p14="http://schemas.microsoft.com/office/powerpoint/2010/main" val="1911006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10</a:t>
            </a:fld>
            <a:endParaRPr lang="en-GB"/>
          </a:p>
        </p:txBody>
      </p:sp>
    </p:spTree>
    <p:extLst>
      <p:ext uri="{BB962C8B-B14F-4D97-AF65-F5344CB8AC3E}">
        <p14:creationId xmlns:p14="http://schemas.microsoft.com/office/powerpoint/2010/main" val="36244987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90C4-3F63-5CE3-40C0-37C3972A6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53583-2126-636C-06E9-AC409DB6976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94D933-7CA1-A8E0-3C7B-D224B67232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BF62738-39F3-90E4-2B16-74770B32C315}"/>
              </a:ext>
            </a:extLst>
          </p:cNvPr>
          <p:cNvSpPr>
            <a:spLocks noGrp="1"/>
          </p:cNvSpPr>
          <p:nvPr>
            <p:ph type="sldNum" sz="quarter" idx="5"/>
          </p:nvPr>
        </p:nvSpPr>
        <p:spPr/>
        <p:txBody>
          <a:bodyPr/>
          <a:lstStyle/>
          <a:p>
            <a:fld id="{B7E8E8B9-ADA3-45E0-8420-BE5E8FCCF1F7}" type="slidenum">
              <a:rPr lang="en-GB" smtClean="0"/>
              <a:t>11</a:t>
            </a:fld>
            <a:endParaRPr lang="en-GB"/>
          </a:p>
        </p:txBody>
      </p:sp>
    </p:spTree>
    <p:extLst>
      <p:ext uri="{BB962C8B-B14F-4D97-AF65-F5344CB8AC3E}">
        <p14:creationId xmlns:p14="http://schemas.microsoft.com/office/powerpoint/2010/main" val="24800050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1006-C5AD-CE9A-768D-97FEB0FA1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318E-FA05-39EA-68AF-6B9E723A00D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AEEA19-065F-0F91-7D7E-3BF88230403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651696-B6F4-AA2A-3057-6BD30C08333F}"/>
              </a:ext>
            </a:extLst>
          </p:cNvPr>
          <p:cNvSpPr>
            <a:spLocks noGrp="1"/>
          </p:cNvSpPr>
          <p:nvPr>
            <p:ph type="sldNum" sz="quarter" idx="5"/>
          </p:nvPr>
        </p:nvSpPr>
        <p:spPr/>
        <p:txBody>
          <a:bodyPr/>
          <a:lstStyle/>
          <a:p>
            <a:fld id="{B7E8E8B9-ADA3-45E0-8420-BE5E8FCCF1F7}" type="slidenum">
              <a:rPr lang="en-GB" smtClean="0"/>
              <a:t>12</a:t>
            </a:fld>
            <a:endParaRPr lang="en-GB"/>
          </a:p>
        </p:txBody>
      </p:sp>
    </p:spTree>
    <p:extLst>
      <p:ext uri="{BB962C8B-B14F-4D97-AF65-F5344CB8AC3E}">
        <p14:creationId xmlns:p14="http://schemas.microsoft.com/office/powerpoint/2010/main" val="18949657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OH ES &amp; KW reading phonically decodable version with TP</a:t>
            </a:r>
          </a:p>
        </p:txBody>
      </p:sp>
      <p:sp>
        <p:nvSpPr>
          <p:cNvPr id="4" name="Slide Number Placeholder 3"/>
          <p:cNvSpPr>
            <a:spLocks noGrp="1"/>
          </p:cNvSpPr>
          <p:nvPr>
            <p:ph type="sldNum" sz="quarter" idx="5"/>
          </p:nvPr>
        </p:nvSpPr>
        <p:spPr/>
        <p:txBody>
          <a:bodyPr/>
          <a:lstStyle/>
          <a:p>
            <a:fld id="{B7E8E8B9-ADA3-45E0-8420-BE5E8FCCF1F7}" type="slidenum">
              <a:rPr lang="en-GB" smtClean="0"/>
              <a:t>13</a:t>
            </a:fld>
            <a:endParaRPr lang="en-GB"/>
          </a:p>
        </p:txBody>
      </p:sp>
    </p:spTree>
    <p:extLst>
      <p:ext uri="{BB962C8B-B14F-4D97-AF65-F5344CB8AC3E}">
        <p14:creationId xmlns:p14="http://schemas.microsoft.com/office/powerpoint/2010/main" val="26816728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9</a:t>
            </a:fld>
            <a:endParaRPr lang="en-GB"/>
          </a:p>
        </p:txBody>
      </p:sp>
    </p:spTree>
    <p:extLst>
      <p:ext uri="{BB962C8B-B14F-4D97-AF65-F5344CB8AC3E}">
        <p14:creationId xmlns:p14="http://schemas.microsoft.com/office/powerpoint/2010/main" val="1911006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10</a:t>
            </a:fld>
            <a:endParaRPr lang="en-GB"/>
          </a:p>
        </p:txBody>
      </p:sp>
    </p:spTree>
    <p:extLst>
      <p:ext uri="{BB962C8B-B14F-4D97-AF65-F5344CB8AC3E}">
        <p14:creationId xmlns:p14="http://schemas.microsoft.com/office/powerpoint/2010/main" val="36244987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990C4-3F63-5CE3-40C0-37C3972A60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E53583-2126-636C-06E9-AC409DB69760}"/>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094D933-7CA1-A8E0-3C7B-D224B672327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BF62738-39F3-90E4-2B16-74770B32C315}"/>
              </a:ext>
            </a:extLst>
          </p:cNvPr>
          <p:cNvSpPr>
            <a:spLocks noGrp="1"/>
          </p:cNvSpPr>
          <p:nvPr>
            <p:ph type="sldNum" sz="quarter" idx="5"/>
          </p:nvPr>
        </p:nvSpPr>
        <p:spPr/>
        <p:txBody>
          <a:bodyPr/>
          <a:lstStyle/>
          <a:p>
            <a:fld id="{B7E8E8B9-ADA3-45E0-8420-BE5E8FCCF1F7}" type="slidenum">
              <a:rPr lang="en-GB" smtClean="0"/>
              <a:t>11</a:t>
            </a:fld>
            <a:endParaRPr lang="en-GB"/>
          </a:p>
        </p:txBody>
      </p:sp>
    </p:spTree>
    <p:extLst>
      <p:ext uri="{BB962C8B-B14F-4D97-AF65-F5344CB8AC3E}">
        <p14:creationId xmlns:p14="http://schemas.microsoft.com/office/powerpoint/2010/main" val="24800050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91006-C5AD-CE9A-768D-97FEB0FA1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2B318E-FA05-39EA-68AF-6B9E723A00D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4CAEEA19-065F-0F91-7D7E-3BF88230403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651696-B6F4-AA2A-3057-6BD30C08333F}"/>
              </a:ext>
            </a:extLst>
          </p:cNvPr>
          <p:cNvSpPr>
            <a:spLocks noGrp="1"/>
          </p:cNvSpPr>
          <p:nvPr>
            <p:ph type="sldNum" sz="quarter" idx="5"/>
          </p:nvPr>
        </p:nvSpPr>
        <p:spPr/>
        <p:txBody>
          <a:bodyPr/>
          <a:lstStyle/>
          <a:p>
            <a:fld id="{B7E8E8B9-ADA3-45E0-8420-BE5E8FCCF1F7}" type="slidenum">
              <a:rPr lang="en-GB" smtClean="0"/>
              <a:t>12</a:t>
            </a:fld>
            <a:endParaRPr lang="en-GB"/>
          </a:p>
        </p:txBody>
      </p:sp>
    </p:spTree>
    <p:extLst>
      <p:ext uri="{BB962C8B-B14F-4D97-AF65-F5344CB8AC3E}">
        <p14:creationId xmlns:p14="http://schemas.microsoft.com/office/powerpoint/2010/main" val="1894965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OH ES &amp; KW reading phonically decodable version with TP</a:t>
            </a:r>
          </a:p>
        </p:txBody>
      </p:sp>
      <p:sp>
        <p:nvSpPr>
          <p:cNvPr id="4" name="Slide Number Placeholder 3"/>
          <p:cNvSpPr>
            <a:spLocks noGrp="1"/>
          </p:cNvSpPr>
          <p:nvPr>
            <p:ph type="sldNum" sz="quarter" idx="5"/>
          </p:nvPr>
        </p:nvSpPr>
        <p:spPr/>
        <p:txBody>
          <a:bodyPr/>
          <a:lstStyle/>
          <a:p>
            <a:fld id="{B7E8E8B9-ADA3-45E0-8420-BE5E8FCCF1F7}" type="slidenum">
              <a:rPr lang="en-GB" smtClean="0"/>
              <a:t>13</a:t>
            </a:fld>
            <a:endParaRPr lang="en-GB"/>
          </a:p>
        </p:txBody>
      </p:sp>
    </p:spTree>
    <p:extLst>
      <p:ext uri="{BB962C8B-B14F-4D97-AF65-F5344CB8AC3E}">
        <p14:creationId xmlns:p14="http://schemas.microsoft.com/office/powerpoint/2010/main" val="26816728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9</a:t>
            </a:fld>
            <a:endParaRPr lang="en-GB"/>
          </a:p>
        </p:txBody>
      </p:sp>
    </p:spTree>
    <p:extLst>
      <p:ext uri="{BB962C8B-B14F-4D97-AF65-F5344CB8AC3E}">
        <p14:creationId xmlns:p14="http://schemas.microsoft.com/office/powerpoint/2010/main" val="19110069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a:t>Background knowledge – We use our background knowledge and experiences to help us with our reading</a:t>
            </a:r>
          </a:p>
          <a:p>
            <a:r>
              <a:rPr lang="en-GB"/>
              <a:t>Vocabulary – we use new vocabulary when reading</a:t>
            </a:r>
          </a:p>
          <a:p>
            <a:r>
              <a:rPr lang="en-GB"/>
              <a:t>Fluency &amp; Expression – We read fluently and with expression to make our reading exciting</a:t>
            </a:r>
          </a:p>
          <a:p>
            <a:r>
              <a:rPr lang="en-GB"/>
              <a:t>Discuss &amp; explain thinking – We discuss and explain our thinking and understanding of our reading</a:t>
            </a:r>
          </a:p>
          <a:p>
            <a:r>
              <a:rPr lang="en-GB"/>
              <a:t>Read a wide range of texts – We read a wide range of texts at WFA</a:t>
            </a:r>
          </a:p>
          <a:p>
            <a:r>
              <a:rPr lang="en-GB"/>
              <a:t>Decoding and phonics – We use our phonics to help us decode and learn new words when we are reading</a:t>
            </a:r>
          </a:p>
          <a:p>
            <a:endParaRPr lang="en-GB"/>
          </a:p>
        </p:txBody>
      </p:sp>
      <p:sp>
        <p:nvSpPr>
          <p:cNvPr id="4" name="Slide Number Placeholder 3"/>
          <p:cNvSpPr>
            <a:spLocks noGrp="1"/>
          </p:cNvSpPr>
          <p:nvPr>
            <p:ph type="sldNum" sz="quarter" idx="5"/>
          </p:nvPr>
        </p:nvSpPr>
        <p:spPr/>
        <p:txBody>
          <a:bodyPr/>
          <a:lstStyle/>
          <a:p>
            <a:fld id="{B7E8E8B9-ADA3-45E0-8420-BE5E8FCCF1F7}" type="slidenum">
              <a:rPr lang="en-GB" smtClean="0"/>
              <a:t>10</a:t>
            </a:fld>
            <a:endParaRPr lang="en-GB"/>
          </a:p>
        </p:txBody>
      </p:sp>
    </p:spTree>
    <p:extLst>
      <p:ext uri="{BB962C8B-B14F-4D97-AF65-F5344CB8AC3E}">
        <p14:creationId xmlns:p14="http://schemas.microsoft.com/office/powerpoint/2010/main" val="3624498783"/>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5A21D-2FCA-5103-944C-97A33EAB499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451915-D313-134F-3B39-E2202692B0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0492851-C45E-2C62-1686-35F05261BF4A}"/>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5" name="Footer Placeholder 4">
            <a:extLst>
              <a:ext uri="{FF2B5EF4-FFF2-40B4-BE49-F238E27FC236}">
                <a16:creationId xmlns:a16="http://schemas.microsoft.com/office/drawing/2014/main" id="{5565C8CD-ED83-6186-0E09-D60B801105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01FC3CD-1629-3981-C514-EA809A6DA1BC}"/>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17367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BF554-C9DF-1E20-73BD-9BEBF65F853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C7DEC16-6EFE-8F98-D786-F7FA33F73DA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F50926-EAE1-8CBC-B944-95606793B845}"/>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5" name="Footer Placeholder 4">
            <a:extLst>
              <a:ext uri="{FF2B5EF4-FFF2-40B4-BE49-F238E27FC236}">
                <a16:creationId xmlns:a16="http://schemas.microsoft.com/office/drawing/2014/main" id="{80EDD0ED-4188-0860-8E6D-81E93458E3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AE27D8-31F7-1112-ED89-AD6BFC9E010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48879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DCD8-D0E7-C7D8-C221-D51F0B6814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B84F57CA-859A-366E-BD81-B51EB9F3F1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816810-0B04-441A-BDC2-5334A4ED6B8F}"/>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5" name="Footer Placeholder 4">
            <a:extLst>
              <a:ext uri="{FF2B5EF4-FFF2-40B4-BE49-F238E27FC236}">
                <a16:creationId xmlns:a16="http://schemas.microsoft.com/office/drawing/2014/main" id="{967743A6-7DF3-3A54-9EA1-0818278D5B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C0B308D-ED7A-41CA-CE45-BFD4B52EE3FF}"/>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5695795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6C61B-06CA-A5BD-FF28-522B3C1C5EC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6A4604E-C7F9-DE00-FC0E-9D0430CBD1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2FC8481-8445-D097-8868-FEBEF36308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7EAA810B-D0B6-055B-A7B2-A91D9312431E}"/>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6" name="Footer Placeholder 5">
            <a:extLst>
              <a:ext uri="{FF2B5EF4-FFF2-40B4-BE49-F238E27FC236}">
                <a16:creationId xmlns:a16="http://schemas.microsoft.com/office/drawing/2014/main" id="{A3AD80D6-ABB1-0B43-2EF6-728A9BF7FF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A1F566E-8C59-14B0-1B4A-013D19195555}"/>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1311204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FD8B9-6D91-0488-0B6B-D8925368CB7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93EC770-FFE0-0BCE-D25B-ED842005CA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ACAE04-0440-4429-84C8-7BB448E0612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9013C1A-78C5-C6A1-01F4-1F918414BE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5F05FB-98EA-3A71-20AF-C01DB3BD78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A7D365-8161-72FD-ABB1-1B60E1F31FF2}"/>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8" name="Footer Placeholder 7">
            <a:extLst>
              <a:ext uri="{FF2B5EF4-FFF2-40B4-BE49-F238E27FC236}">
                <a16:creationId xmlns:a16="http://schemas.microsoft.com/office/drawing/2014/main" id="{DD4C5E40-7DE8-3AB1-5251-3786AB7A839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28ECA8F-EE24-6FAE-06B6-EAB0AA8C899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117855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966A-38F6-03A2-7850-CBC3564D366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AC653EE-AB8C-20D9-EBAD-D2C658811A8D}"/>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4" name="Footer Placeholder 3">
            <a:extLst>
              <a:ext uri="{FF2B5EF4-FFF2-40B4-BE49-F238E27FC236}">
                <a16:creationId xmlns:a16="http://schemas.microsoft.com/office/drawing/2014/main" id="{4B8671EA-7A81-2488-CC64-F7AA1FA5BC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D3FA76E-F712-5B71-1F05-B2754EBC1D19}"/>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21796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97460A9-9D13-270B-29A4-50F492C07A7C}"/>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3" name="Footer Placeholder 2">
            <a:extLst>
              <a:ext uri="{FF2B5EF4-FFF2-40B4-BE49-F238E27FC236}">
                <a16:creationId xmlns:a16="http://schemas.microsoft.com/office/drawing/2014/main" id="{3A1BD67B-379B-C75C-2673-E3D7E240730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727B918-0F9C-09A3-037D-B8A188A3028B}"/>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375554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DC67F-FB8D-658E-598C-C851430A8D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BFDB75E-8915-32DA-B58D-D893D67450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52C66A0-5168-1295-9EEA-6F4269952D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462D3-A952-91CB-DCE0-30ED606AE43C}"/>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6" name="Footer Placeholder 5">
            <a:extLst>
              <a:ext uri="{FF2B5EF4-FFF2-40B4-BE49-F238E27FC236}">
                <a16:creationId xmlns:a16="http://schemas.microsoft.com/office/drawing/2014/main" id="{7AECD06D-C0FC-9664-2ACD-9DF3C518ABE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F2D1BB-BAD7-3C27-EF7C-8769CDC6FC62}"/>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349846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3220F-DE75-7293-BA54-A820732EB0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5A7D88C-152E-EE3F-9132-C786827FA5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4B973C0-9031-5A51-8DC0-CD8C2DBD6F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C7FE28-2AB1-A1AE-1DC1-2891CD211974}"/>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6" name="Footer Placeholder 5">
            <a:extLst>
              <a:ext uri="{FF2B5EF4-FFF2-40B4-BE49-F238E27FC236}">
                <a16:creationId xmlns:a16="http://schemas.microsoft.com/office/drawing/2014/main" id="{4CFC7DF7-EE0C-A96A-0A71-4A20704DA6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3F354D7-FA08-FBD4-1D6D-7C0D0115C50D}"/>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364942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6DE38-C159-DD3F-3419-061EC2706C5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E4A78D7-9DB6-9FE7-D6A5-0D8C511397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838ECF6-30BD-892C-0F30-CDFA8424ACF6}"/>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5" name="Footer Placeholder 4">
            <a:extLst>
              <a:ext uri="{FF2B5EF4-FFF2-40B4-BE49-F238E27FC236}">
                <a16:creationId xmlns:a16="http://schemas.microsoft.com/office/drawing/2014/main" id="{A79E0C5A-96D4-3102-5A52-240B1FD840F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5C3AA66-3D0D-0085-C81D-088B396324C7}"/>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1953395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868FC3-86B3-8BF7-3C43-D7286B46EA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DEA911C-6657-35D6-8679-F5861CAE8D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07097C1-61F4-5117-4F0F-D1B0C168769E}"/>
              </a:ext>
            </a:extLst>
          </p:cNvPr>
          <p:cNvSpPr>
            <a:spLocks noGrp="1"/>
          </p:cNvSpPr>
          <p:nvPr>
            <p:ph type="dt" sz="half" idx="10"/>
          </p:nvPr>
        </p:nvSpPr>
        <p:spPr/>
        <p:txBody>
          <a:bodyPr/>
          <a:lstStyle/>
          <a:p>
            <a:fld id="{8B72D5E0-039A-4068-97A9-A3C4BF080BAA}" type="datetimeFigureOut">
              <a:rPr lang="en-GB" smtClean="0"/>
              <a:t>21/05/2026</a:t>
            </a:fld>
            <a:endParaRPr lang="en-GB"/>
          </a:p>
        </p:txBody>
      </p:sp>
      <p:sp>
        <p:nvSpPr>
          <p:cNvPr id="5" name="Footer Placeholder 4">
            <a:extLst>
              <a:ext uri="{FF2B5EF4-FFF2-40B4-BE49-F238E27FC236}">
                <a16:creationId xmlns:a16="http://schemas.microsoft.com/office/drawing/2014/main" id="{B2F7DD80-E551-6693-517F-57C80BD89A7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FC51674-A2E1-4818-8900-91FBB812AB3E}"/>
              </a:ext>
            </a:extLst>
          </p:cNvPr>
          <p:cNvSpPr>
            <a:spLocks noGrp="1"/>
          </p:cNvSpPr>
          <p:nvPr>
            <p:ph type="sldNum" sz="quarter" idx="12"/>
          </p:nvPr>
        </p:nvSpPr>
        <p:spPr/>
        <p:txBody>
          <a:bodyPr/>
          <a:lstStyle/>
          <a:p>
            <a:fld id="{6AD7094B-D2BC-452F-93E3-9C4A8FC9449E}" type="slidenum">
              <a:rPr lang="en-GB" smtClean="0"/>
              <a:t>‹#›</a:t>
            </a:fld>
            <a:endParaRPr lang="en-GB"/>
          </a:p>
        </p:txBody>
      </p:sp>
    </p:spTree>
    <p:extLst>
      <p:ext uri="{BB962C8B-B14F-4D97-AF65-F5344CB8AC3E}">
        <p14:creationId xmlns:p14="http://schemas.microsoft.com/office/powerpoint/2010/main" val="2747567405"/>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5C16C3-8E98-21FD-43ED-3AA697B77A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9AA3022-3424-75B4-F2EC-7CEB8FA07C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EC25384-14A1-0395-EDE6-D2A60BCE49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72D5E0-039A-4068-97A9-A3C4BF080BAA}" type="datetimeFigureOut">
              <a:rPr lang="en-GB" smtClean="0"/>
              <a:t>21/05/2026</a:t>
            </a:fld>
            <a:endParaRPr lang="en-GB"/>
          </a:p>
        </p:txBody>
      </p:sp>
      <p:sp>
        <p:nvSpPr>
          <p:cNvPr id="5" name="Footer Placeholder 4">
            <a:extLst>
              <a:ext uri="{FF2B5EF4-FFF2-40B4-BE49-F238E27FC236}">
                <a16:creationId xmlns:a16="http://schemas.microsoft.com/office/drawing/2014/main" id="{09290F1D-4E4C-69C6-26A7-CE1716791C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634093-083B-3EA6-BBB8-95BE7409B0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D7094B-D2BC-452F-93E3-9C4A8FC9449E}" type="slidenum">
              <a:rPr lang="en-GB" smtClean="0"/>
              <a:t>‹#›</a:t>
            </a:fld>
            <a:endParaRPr lang="en-GB"/>
          </a:p>
        </p:txBody>
      </p:sp>
    </p:spTree>
    <p:extLst>
      <p:ext uri="{BB962C8B-B14F-4D97-AF65-F5344CB8AC3E}">
        <p14:creationId xmlns:p14="http://schemas.microsoft.com/office/powerpoint/2010/main" val="6997227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microsoft.com/office/2007/relationships/hdphoto" Target="../media/hdphoto1.wdp"/></Relationships>
</file>

<file path=ppt/slides/_rels/slide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4.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7.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11.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customXml" Target="../ink/ink1.xml"/></Relationships>
</file>

<file path=ppt/slides/_rels/slide12.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17.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18.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80.png"/><Relationship Id="rId4" Type="http://schemas.openxmlformats.org/officeDocument/2006/relationships/customXml" Target="../ink/ink1.xml"/></Relationships>
</file>

<file path=ppt/slides/_rels/slide19.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0.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1.xml.rels><?xml version="1.0" encoding="UTF-8"?><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 Id="rId99" Type="http://schemas.openxmlformats.org/officeDocument/2006/relationships/notesSlide" Target="../notesSlides/notesSlide15.xml"/></Relationships>
</file>

<file path=ppt/slides/_rels/slide22.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7.xml"/><Relationship Id="rId9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white grid with black text  Description automatically generated">
            <a:extLst>
              <a:ext uri="{FF2B5EF4-FFF2-40B4-BE49-F238E27FC236}">
                <a16:creationId xmlns:a16="http://schemas.microsoft.com/office/drawing/2014/main" id="{1B42834E-5B1E-8CE4-BEEE-8784E10AE2DF}"/>
              </a:ext>
            </a:extLst>
          </p:cNvPr>
          <p:cNvPicPr>
            <a:picLocks noChangeAspect="1"/>
          </p:cNvPicPr>
          <p:nvPr/>
        </p:nvPicPr>
        <p:blipFill>
          <a:blip r:embed="rId2"/>
          <a:stretch>
            <a:fillRect/>
          </a:stretch>
        </p:blipFill>
        <p:spPr>
          <a:xfrm>
            <a:off x="343349" y="169879"/>
            <a:ext cx="10272264" cy="6455163"/>
          </a:xfrm>
          <a:prstGeom prst="rect">
            <a:avLst/>
          </a:prstGeom>
        </p:spPr>
      </p:pic>
    </p:spTree>
    <p:extLst>
      <p:ext uri="{BB962C8B-B14F-4D97-AF65-F5344CB8AC3E}">
        <p14:creationId xmlns:p14="http://schemas.microsoft.com/office/powerpoint/2010/main" val="1269628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810699" y="542637"/>
            <a:ext cx="2570602" cy="2802616"/>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6" name="TextBox 5">
            <a:extLst>
              <a:ext uri="{FF2B5EF4-FFF2-40B4-BE49-F238E27FC236}">
                <a16:creationId xmlns:a16="http://schemas.microsoft.com/office/drawing/2014/main" id="{BB00753D-C189-01CA-44B1-B484F954D600}"/>
              </a:ext>
            </a:extLst>
          </p:cNvPr>
          <p:cNvSpPr txBox="1"/>
          <p:nvPr/>
        </p:nvSpPr>
        <p:spPr>
          <a:xfrm>
            <a:off x="0" y="4552141"/>
            <a:ext cx="12192000" cy="584775"/>
          </a:xfrm>
          <a:prstGeom prst="rect">
            <a:avLst/>
          </a:prstGeom>
          <a:noFill/>
        </p:spPr>
        <p:txBody>
          <a:bodyPr wrap="square">
            <a:spAutoFit/>
          </a:bodyPr>
          <a:lstStyle/>
          <a:p>
            <a:pPr algn="ctr"/>
            <a:r>
              <a:rPr lang="en-GB" sz="3200" dirty="0"/>
              <a:t>Vocabulary</a:t>
            </a:r>
          </a:p>
        </p:txBody>
      </p:sp>
      <p:sp>
        <p:nvSpPr>
          <p:cNvPr id="8" name="TextBox 7">
            <a:extLst>
              <a:ext uri="{FF2B5EF4-FFF2-40B4-BE49-F238E27FC236}">
                <a16:creationId xmlns:a16="http://schemas.microsoft.com/office/drawing/2014/main" id="{E3C356D1-4D69-6789-D9E9-77C69F82E055}"/>
              </a:ext>
            </a:extLst>
          </p:cNvPr>
          <p:cNvSpPr txBox="1"/>
          <p:nvPr/>
        </p:nvSpPr>
        <p:spPr>
          <a:xfrm>
            <a:off x="4423577" y="5199610"/>
            <a:ext cx="3329758" cy="1446550"/>
          </a:xfrm>
          <a:prstGeom prst="rect">
            <a:avLst/>
          </a:prstGeom>
          <a:noFill/>
        </p:spPr>
        <p:txBody>
          <a:bodyPr wrap="none" rtlCol="0" anchor="ctr">
            <a:spAutoFit/>
          </a:bodyPr>
          <a:lstStyle/>
          <a:p>
            <a:pPr algn="ctr"/>
            <a:r>
              <a:rPr lang="en-GB" sz="8800" dirty="0"/>
              <a:t>Tuesday</a:t>
            </a:r>
          </a:p>
        </p:txBody>
      </p:sp>
    </p:spTree>
    <p:extLst>
      <p:ext uri="{BB962C8B-B14F-4D97-AF65-F5344CB8AC3E}">
        <p14:creationId xmlns:p14="http://schemas.microsoft.com/office/powerpoint/2010/main" val="3172617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DFFE-43F9-9789-7910-83BEEE3A3818}"/>
            </a:ext>
          </a:extLst>
        </p:cNvPr>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93E87004-6E1A-D1FF-FF85-9A712A9BB7B3}"/>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081EF958-1030-773B-A7D6-6CEB89A8F58A}"/>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CB992496-7EDE-333E-5CB0-3C40245FED5D}"/>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 xml:space="preserve">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xml:space="preserve">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xml:space="preserve"> the world around me.</a:t>
            </a:r>
          </a:p>
        </p:txBody>
      </p:sp>
      <p:pic>
        <p:nvPicPr>
          <p:cNvPr id="7" name="Picture 6">
            <a:extLst>
              <a:ext uri="{FF2B5EF4-FFF2-40B4-BE49-F238E27FC236}">
                <a16:creationId xmlns:a16="http://schemas.microsoft.com/office/drawing/2014/main" id="{79FB5223-15E3-4844-7748-101D3E2F6D73}"/>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5594475F-C636-A29B-742C-0F17DB69B1FF}"/>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C934D238-3C31-683C-09D6-F097B09592C0}"/>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 xml:space="preserve">We love to read, learn to read and read to learn! </a:t>
            </a:r>
          </a:p>
        </p:txBody>
      </p:sp>
      <p:pic>
        <p:nvPicPr>
          <p:cNvPr id="3" name="Picture 2">
            <a:extLst>
              <a:ext uri="{FF2B5EF4-FFF2-40B4-BE49-F238E27FC236}">
                <a16:creationId xmlns:a16="http://schemas.microsoft.com/office/drawing/2014/main" id="{4C8634C0-C6DD-1B8E-85A5-094729686CE0}"/>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4200216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EC2FE-E3EF-97C8-F7DC-C0A25E1D163D}"/>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5AA7E159-E28C-77BB-73A2-F381C7A90837}"/>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91C39609-0D86-A5B7-4D8A-1F527D92392F}"/>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84199F61-4B0B-8E0F-2DB2-ED5EBBDF58E5}"/>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FC3196E5-5551-D86F-2179-6878DD23429F}"/>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BDA4AF79-C1C4-8EFA-F1F6-B418570C55CC}"/>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DB2EAE7E-9AF9-75F2-CFE5-9905D0F16B0E}"/>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p:graphicFrame>
        <p:nvGraphicFramePr>
          <p:cNvPr id="13" name="Table 12">
            <a:extLst>
              <a:ext uri="{FF2B5EF4-FFF2-40B4-BE49-F238E27FC236}">
                <a16:creationId xmlns:a16="http://schemas.microsoft.com/office/drawing/2014/main" id="{9464E341-C007-5632-B326-45797112EDA2}"/>
              </a:ext>
            </a:extLst>
          </p:cNvPr>
          <p:cNvGraphicFramePr>
            <a:graphicFrameLocks noGrp="1"/>
          </p:cNvGraphicFramePr>
          <p:nvPr>
            <p:extLst>
              <p:ext uri="{D42A27DB-BD31-4B8C-83A1-F6EECF244321}">
                <p14:modId xmlns:p14="http://schemas.microsoft.com/office/powerpoint/2010/main" val="3344407260"/>
              </p:ext>
            </p:extLst>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navigate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1800" b="0" i="0" u="none" strike="noStrike">
                          <a:solidFill>
                            <a:srgbClr val="000000"/>
                          </a:solidFill>
                          <a:effectLst/>
                          <a:latin typeface="Calibri" panose="020F0502020204030204" pitchFamily="34" charset="0"/>
                        </a:rPr>
                        <a:t>to find your way through an area; to plan and follow a route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territory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an area of land that an animal claims and guards as its own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perceive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notice or become aware of something using your senses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acute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very sharp or highly developed; much stronger than usual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detect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notice or discover something, especially something hidden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E459C5E2-5BCA-E6D1-3FA2-4EE65FF057B2}"/>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7" name="Rectangle 16">
            <a:extLst>
              <a:ext uri="{FF2B5EF4-FFF2-40B4-BE49-F238E27FC236}">
                <a16:creationId xmlns:a16="http://schemas.microsoft.com/office/drawing/2014/main" id="{8378AAAA-9509-6BC5-9C3F-9C67043451B7}"/>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8" name="Rectangle 17">
            <a:extLst>
              <a:ext uri="{FF2B5EF4-FFF2-40B4-BE49-F238E27FC236}">
                <a16:creationId xmlns:a16="http://schemas.microsoft.com/office/drawing/2014/main" id="{483E4D50-B122-CB47-766E-B5E7AC2451E9}"/>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19" name="Rectangle 18">
            <a:extLst>
              <a:ext uri="{FF2B5EF4-FFF2-40B4-BE49-F238E27FC236}">
                <a16:creationId xmlns:a16="http://schemas.microsoft.com/office/drawing/2014/main" id="{4F499D47-C8D0-1D00-07CE-6BF9DF183DEF}"/>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
        <p:nvSpPr>
          <p:cNvPr id="20" name="Rectangle 19">
            <a:extLst>
              <a:ext uri="{FF2B5EF4-FFF2-40B4-BE49-F238E27FC236}">
                <a16:creationId xmlns:a16="http://schemas.microsoft.com/office/drawing/2014/main" id="{FB71A36C-7A6A-7242-D64C-17151302D893}"/>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200"/>
              <a:t>?</a:t>
            </a:r>
          </a:p>
        </p:txBody>
      </p:sp>
    </p:spTree>
    <p:extLst>
      <p:ext uri="{BB962C8B-B14F-4D97-AF65-F5344CB8AC3E}">
        <p14:creationId xmlns:p14="http://schemas.microsoft.com/office/powerpoint/2010/main" val="405517483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7"/>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2" restart="whenNotActive" fill="hold" evtFilter="cancelBubble" nodeType="interactiveSeq">
                <p:stCondLst>
                  <p:cond evt="onClick" delay="0">
                    <p:tgtEl>
                      <p:spTgt spid="18"/>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7" restart="whenNotActive" fill="hold" evtFilter="cancelBubble" nodeType="interactiveSeq">
                <p:stCondLst>
                  <p:cond evt="onClick" delay="0">
                    <p:tgtEl>
                      <p:spTgt spid="19"/>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2" restart="whenNotActive" fill="hold" evtFilter="cancelBubble" nodeType="interactiveSeq">
                <p:stCondLst>
                  <p:cond evt="onClick" delay="0">
                    <p:tgtEl>
                      <p:spTgt spid="20"/>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childTnLst>
        </p:cTn>
      </p:par>
    </p:tnLst>
    <p:bldLst>
      <p:bldP spid="16" grpId="0" animBg="1"/>
      <p:bldP spid="17" grpId="0" animBg="1"/>
      <p:bldP spid="18" grpId="0" animBg="1"/>
      <p:bldP spid="19" grpId="0" animBg="1"/>
      <p:bldP spid="2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5D4AD-39BF-E719-97C7-B9FE8F2F1D2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51EC62D8-35F3-692D-E010-0DC4232EB396}"/>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F8888C4F-1616-8D90-191F-5F1D6A12B17C}"/>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A3B5DDCC-932B-F66F-471E-38658DC395B0}"/>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733E3EE1-243D-DB63-04F2-FFCC4E6120EC}"/>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2DCF07E4-FAD7-AFAB-73D7-E54C6A426087}"/>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532B7159-F539-A363-45FE-8B91401BE68F}"/>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1BDE9717-27F4-D48A-5961-BBB082A50FA4}"/>
              </a:ext>
            </a:extLst>
          </p:cNvPr>
          <p:cNvGraphicFramePr>
            <a:graphicFrameLocks noGrp="1"/>
          </p:cNvGraphicFramePr>
          <p:nvPr>
            <p:extLst>
              <p:ext uri="{D42A27DB-BD31-4B8C-83A1-F6EECF244321}">
                <p14:modId xmlns:p14="http://schemas.microsoft.com/office/powerpoint/2010/main" val="394122683"/>
              </p:ext>
            </p:extLst>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sz="3200" b="0">
                        <a:solidFill>
                          <a:schemeClr val="tx1"/>
                        </a:solidFill>
                        <a:latin typeface="Twinkl Cursive Looped Light" panose="02000000000000000000" pitchFamily="2" charset="77"/>
                      </a:endParaRPr>
                    </a:p>
                    <a:p>
                      <a:pPr algn="ctr"/>
                      <a:r>
                        <a:rPr lang="en-GB" sz="3200" b="0">
                          <a:solidFill>
                            <a:schemeClr val="tx1"/>
                          </a:solidFill>
                          <a:latin typeface="Twinkl Cursive Looped Light" panose="02000000000000000000" pitchFamily="2" charset="77"/>
                        </a:rPr>
                        <a:t>navigate</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DCA91193-1537-0657-E11E-503EF19A61E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D4A4253D-E3B5-EFA7-4B1C-50AA791A86AA}"/>
              </a:ext>
            </a:extLst>
          </p:cNvPr>
          <p:cNvSpPr txBox="1"/>
          <p:nvPr/>
        </p:nvSpPr>
        <p:spPr>
          <a:xfrm>
            <a:off x="4788984" y="5296822"/>
            <a:ext cx="2400000" cy="480000"/>
          </a:xfrm>
          <a:prstGeom prst="rect">
            <a:avLst/>
          </a:prstGeom>
          <a:noFill/>
        </p:spPr>
        <p:txBody>
          <a:bodyPr wrap="square" rtlCol="0" anchor="ctr"/>
          <a:lstStyle/>
          <a:p>
            <a:pPr algn="ctr"/>
            <a:r>
              <a:rPr lang="en-GB"/>
              <a:t>navigate</a:t>
            </a:r>
          </a:p>
        </p:txBody>
      </p:sp>
      <p:cxnSp>
        <p:nvCxnSpPr>
          <p:cNvPr id="12" name="Straight Connector 11">
            <a:extLst>
              <a:ext uri="{FF2B5EF4-FFF2-40B4-BE49-F238E27FC236}">
                <a16:creationId xmlns:a16="http://schemas.microsoft.com/office/drawing/2014/main" id="{7C8845E9-B967-EA4D-1D1A-9AF3DDA85380}"/>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EB3BFB0-1A1A-2A77-4CC9-C8E227413B3E}"/>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EF585B9-9A59-4AD6-3B99-DB66AC0BC1C7}"/>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8E2FC65-99A3-B206-BA2E-B45AABD7E835}"/>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EF0396BA-9A50-9215-C8CB-0B99470EF9F5}"/>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43437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40D69-2A3E-AC4D-476F-E48DC49AB519}"/>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9D004C-6476-A163-CC76-9EB710752DEA}"/>
              </a:ext>
            </a:extLst>
          </p:cNvPr>
          <p:cNvPicPr>
            <a:picLocks noChangeAspect="1"/>
          </p:cNvPicPr>
          <p:nvPr/>
        </p:nvPicPr>
        <p:blipFill>
          <a:blip r:embed="rId3"/>
          <a:stretch>
            <a:fillRect/>
          </a:stretch>
        </p:blipFill>
        <p:spPr>
          <a:xfrm>
            <a:off x="525593" y="1980987"/>
            <a:ext cx="9243932" cy="1349566"/>
          </a:xfrm>
          <a:prstGeom prst="rect">
            <a:avLst/>
          </a:prstGeom>
        </p:spPr>
      </p:pic>
      <p:pic>
        <p:nvPicPr>
          <p:cNvPr id="11" name="Picture 10">
            <a:extLst>
              <a:ext uri="{FF2B5EF4-FFF2-40B4-BE49-F238E27FC236}">
                <a16:creationId xmlns:a16="http://schemas.microsoft.com/office/drawing/2014/main" id="{6B7C83CA-03D0-7626-308E-7CE111534218}"/>
              </a:ext>
            </a:extLst>
          </p:cNvPr>
          <p:cNvPicPr/>
          <p:nvPr/>
        </p:nvPicPr>
        <p:blipFill>
          <a:blip r:embed="rId4">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F0092A21-3382-F255-270E-BE0BDE056D4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sz="1800" b="1">
                <a:effectLst/>
                <a:latin typeface="Sassoon Infant Rg" panose="02000503030000020003" pitchFamily="2" charset="0"/>
                <a:ea typeface="Sassoon Infant Rg" panose="02000503030000020003" pitchFamily="2" charset="0"/>
                <a:cs typeface="Times New Roman" panose="02020603050405020304" pitchFamily="18" charset="0"/>
              </a:rPr>
              <a:t>Paired reading</a:t>
            </a:r>
            <a:r>
              <a:rPr lang="en-GB" sz="1800">
                <a:effectLst/>
                <a:latin typeface="Sassoon Infant Rg" panose="02000503030000020003" pitchFamily="2" charset="0"/>
                <a:ea typeface="Sassoon Infant Rg" panose="02000503030000020003" pitchFamily="2" charset="0"/>
                <a:cs typeface="Times New Roman" panose="02020603050405020304" pitchFamily="18" charset="0"/>
              </a:rPr>
              <a:t xml:space="preserve">.  </a:t>
            </a:r>
            <a:r>
              <a:rPr lang="en-GB" sz="1800">
                <a:latin typeface="Sassoon Infant Rg" panose="02000503030000020003" pitchFamily="2" charset="0"/>
                <a:ea typeface="Sassoon Infant Rg" panose="02000503030000020003" pitchFamily="2" charset="0"/>
                <a:cs typeface="Times New Roman" panose="02020603050405020304" pitchFamily="18" charset="0"/>
              </a:rPr>
              <a:t>Read the text with a partner, taking turns sentence by sentence. Focus on reading smoothly and clearly, matching your pace to the punctuation.</a:t>
            </a:r>
            <a:endParaRPr lang="en-GB" b="1"/>
          </a:p>
        </p:txBody>
      </p:sp>
      <p:grpSp>
        <p:nvGrpSpPr>
          <p:cNvPr id="7" name="Group 6">
            <a:extLst>
              <a:ext uri="{FF2B5EF4-FFF2-40B4-BE49-F238E27FC236}">
                <a16:creationId xmlns:a16="http://schemas.microsoft.com/office/drawing/2014/main" id="{2F4A7F38-FB96-EA15-05EC-03CFFB5CBE42}"/>
              </a:ext>
            </a:extLst>
          </p:cNvPr>
          <p:cNvGrpSpPr/>
          <p:nvPr/>
        </p:nvGrpSpPr>
        <p:grpSpPr>
          <a:xfrm>
            <a:off x="10349575" y="2457302"/>
            <a:ext cx="1316831" cy="1316831"/>
            <a:chOff x="5180554" y="3075697"/>
            <a:chExt cx="1316831" cy="1316831"/>
          </a:xfrm>
        </p:grpSpPr>
        <p:sp>
          <p:nvSpPr>
            <p:cNvPr id="9" name="Oval 8">
              <a:extLst>
                <a:ext uri="{FF2B5EF4-FFF2-40B4-BE49-F238E27FC236}">
                  <a16:creationId xmlns:a16="http://schemas.microsoft.com/office/drawing/2014/main" id="{230C30F1-14D6-3E62-897A-05259DF04DDD}"/>
                </a:ext>
              </a:extLst>
            </p:cNvPr>
            <p:cNvSpPr/>
            <p:nvPr/>
          </p:nvSpPr>
          <p:spPr>
            <a:xfrm>
              <a:off x="5180554" y="3075697"/>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0" name="Oval 4">
              <a:extLst>
                <a:ext uri="{FF2B5EF4-FFF2-40B4-BE49-F238E27FC236}">
                  <a16:creationId xmlns:a16="http://schemas.microsoft.com/office/drawing/2014/main" id="{94AC7F2E-0C00-B939-4106-51835EB2A269}"/>
                </a:ext>
              </a:extLst>
            </p:cNvPr>
            <p:cNvSpPr txBox="1"/>
            <p:nvPr/>
          </p:nvSpPr>
          <p:spPr>
            <a:xfrm>
              <a:off x="5373399" y="326854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effectLst/>
                  <a:latin typeface="Sassoon Infant Rg" panose="02000503030000020003" pitchFamily="2" charset="0"/>
                  <a:ea typeface="Sassoon Infant Rg" panose="02000503030000020003" pitchFamily="2" charset="0"/>
                </a:rPr>
                <a:t>Fluency &amp; Expression</a:t>
              </a:r>
            </a:p>
          </p:txBody>
        </p:sp>
      </p:grpSp>
      <p:sp>
        <p:nvSpPr>
          <p:cNvPr id="6" name="Rounded Rectangle 5">
            <a:extLst>
              <a:ext uri="{FF2B5EF4-FFF2-40B4-BE49-F238E27FC236}">
                <a16:creationId xmlns:a16="http://schemas.microsoft.com/office/drawing/2014/main" id="{D7466D49-4660-7227-B771-06F3B6102B62}"/>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5" name="TextBox 14">
            <a:extLst>
              <a:ext uri="{FF2B5EF4-FFF2-40B4-BE49-F238E27FC236}">
                <a16:creationId xmlns:a16="http://schemas.microsoft.com/office/drawing/2014/main" id="{DB1CFDC9-8812-2D57-F259-9934E0E81FC7}"/>
              </a:ext>
            </a:extLst>
          </p:cNvPr>
          <p:cNvSpPr txBox="1"/>
          <p:nvPr/>
        </p:nvSpPr>
        <p:spPr>
          <a:xfrm>
            <a:off x="183063" y="1034693"/>
            <a:ext cx="11864557" cy="5093190"/>
          </a:xfrm>
          <a:prstGeom prst="rect">
            <a:avLst/>
          </a:prstGeom>
          <a:solidFill>
            <a:schemeClr val="accent5">
              <a:lumMod val="20000"/>
              <a:lumOff val="80000"/>
            </a:schemeClr>
          </a:solidFill>
          <a:ln>
            <a:noFill/>
          </a:ln>
        </p:spPr>
        <p:txBody>
          <a:bodyPr wrap="square" anchor="ctr">
            <a:normAutofit lnSpcReduction="10000"/>
          </a:bodyPr>
          <a:lstStyle/>
          <a:p>
            <a:r>
              <a:rPr lang="en-GB" sz="2200"/>
              <a:t>Cats are extraordinary animals with senses that allow them to navigate the world in ways that humans cannot. A cat’s eyes are particularly well suited to detecting movement in low light. The pupils can expand to an enormous size, letting in as much light as possible, which is why cats can see so clearly at night while humans must rely on artificial lighting. Their hearing is equally acute, allowing them to perceive sounds at much higher frequencies than we can. This means a cat can detect the tiny rustle of a mouse beneath a floorboard, or the distant call of another cat several streets away. Cats also use their whiskers as highly sensitive instruments for measuring space. The whiskers are exactly as wide as the cat’s body, which allows the animal to judge whether a gap is large enough to pass through. This is not something the cat has to learn; it is built into its nervous system from birth. Finally, a cat’s sense of smell is many times stronger than our own. Cats use this to map their territory, leaving chemical signals that tell other cats where they have been. Together, these extraordinary senses allow the cat to move through the world with a precision and confidence that, in many ways, puts human perception to shame.</a:t>
            </a:r>
            <a:endParaRPr lang="en-GB" sz="2200" noProof="0"/>
          </a:p>
        </p:txBody>
      </p:sp>
    </p:spTree>
    <p:extLst>
      <p:ext uri="{BB962C8B-B14F-4D97-AF65-F5344CB8AC3E}">
        <p14:creationId xmlns:p14="http://schemas.microsoft.com/office/powerpoint/2010/main" val="303222904"/>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6"/>
                  </p:tgtEl>
                </p:cond>
              </p:nextCondLst>
            </p:seq>
          </p:childTnLst>
        </p:cTn>
      </p:par>
    </p:tnLst>
    <p:bldLst>
      <p:bldP spid="15" grpId="0" animBg="1"/>
      <p:bldP spid="15"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7023D4CD-427D-4829-87ED-E2CC3EF8D760}"/>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A35914BD-597C-4EC9-A8CC-64938F558A31}"/>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FE91008D-524B-4E64-AED8-DADBF402F1F1}"/>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3B1F94B5-AE2B-4839-8A01-9D2FC48647A0}"/>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01F4601C-78F0-408A-BFB4-D2C386D5BE41}"/>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0F52BAE7-58D2-4ABA-B083-76155F063DF0}"/>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2308B9F9-02B7-4539-8FBF-46AC5DCEA9AA}"/>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6A1CB78E-9D4B-4986-8879-83568C225091}"/>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CF45870B-7F74-4D54-8596-BFA710ED989D}"/>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EA65950C-D815-47D7-8502-EDD27BCB7185}"/>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9616B4D3-C46F-48F5-8695-1B7F3A82ADA3}"/>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03BB604F-2FA6-4611-A323-4B2AD52B72FE}"/>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198215EB-E5DE-4419-AF3E-61B06E6ECF56}"/>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5002CF86-309B-4BC1-AAB4-D91F81D726FF}"/>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find and extract information from within a text.</a:t>
            </a:r>
          </a:p>
        </p:txBody>
      </p:sp>
      <p:sp>
        <p:nvSpPr>
          <p:cNvPr id="20" name="Rectangle 19">
            <a:extLst>
              <a:ext uri="{FF2B5EF4-FFF2-40B4-BE49-F238E27FC236}">
                <a16:creationId xmlns:a16="http://schemas.microsoft.com/office/drawing/2014/main" id="{06F95318-6BA1-4E64-BFC4-CA399BC0C6E8}"/>
              </a:ext>
            </a:extLst>
          </p:cNvPr>
          <p:cNvSpPr/>
          <p:nvPr/>
        </p:nvSpPr>
        <p:spPr>
          <a:xfrm>
            <a:off x="5597291" y="4824722"/>
            <a:ext cx="5583685" cy="830997"/>
          </a:xfrm>
          <a:prstGeom prst="rect">
            <a:avLst/>
          </a:prstGeom>
          <a:noFill/>
        </p:spPr>
        <p:txBody>
          <a:bodyPr wrap="square">
            <a:spAutoFit/>
          </a:bodyPr>
          <a:lstStyle/>
          <a:p>
            <a:r>
              <a:rPr lang="en-GB" sz="2400">
                <a:latin typeface="+mj-lt"/>
              </a:rPr>
              <a:t>I will show this by answering questions, making reference to the text.</a:t>
            </a:r>
          </a:p>
        </p:txBody>
      </p:sp>
      <p:grpSp>
        <p:nvGrpSpPr>
          <p:cNvPr id="26" name="Group 25">
            <a:extLst>
              <a:ext uri="{FF2B5EF4-FFF2-40B4-BE49-F238E27FC236}">
                <a16:creationId xmlns:a16="http://schemas.microsoft.com/office/drawing/2014/main" id="{2B08C31D-ED97-4B43-811F-A2D5B7EC5D3F}"/>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4A04811F-4042-449A-B9D1-E2A88F2EF32C}"/>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4CFC6DFC-1FF7-406B-91CA-DEF258FBDA0F}"/>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5B068E6C-5697-4CD7-B539-8E733F24A280}"/>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D8ECF509-D074-4A96-BD14-1B7F8C9EF352}"/>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E3884F2F-92E8-4449-B9C6-4BB79443B2D3}"/>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54230F3D-A112-7284-873F-C56C8ED18544}"/>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a clear understanding of what I am reading.</a:t>
            </a:r>
          </a:p>
        </p:txBody>
      </p:sp>
      <p:grpSp>
        <p:nvGrpSpPr>
          <p:cNvPr id="2" name="Group 1">
            <a:extLst>
              <a:ext uri="{FF2B5EF4-FFF2-40B4-BE49-F238E27FC236}">
                <a16:creationId xmlns:a16="http://schemas.microsoft.com/office/drawing/2014/main" id="{63BCCA52-B2F9-1150-2EC2-A8A910DE6CDF}"/>
              </a:ext>
            </a:extLst>
          </p:cNvPr>
          <p:cNvGrpSpPr/>
          <p:nvPr/>
        </p:nvGrpSpPr>
        <p:grpSpPr>
          <a:xfrm>
            <a:off x="10604358" y="118545"/>
            <a:ext cx="1530874" cy="2012378"/>
            <a:chOff x="8657485" y="829505"/>
            <a:chExt cx="1316831" cy="1668805"/>
          </a:xfrm>
        </p:grpSpPr>
        <p:grpSp>
          <p:nvGrpSpPr>
            <p:cNvPr id="24" name="Group 23">
              <a:extLst>
                <a:ext uri="{FF2B5EF4-FFF2-40B4-BE49-F238E27FC236}">
                  <a16:creationId xmlns:a16="http://schemas.microsoft.com/office/drawing/2014/main" id="{9DF1F7D1-5BF2-255E-1221-DF66584F31C4}"/>
                </a:ext>
              </a:extLst>
            </p:cNvPr>
            <p:cNvGrpSpPr/>
            <p:nvPr/>
          </p:nvGrpSpPr>
          <p:grpSpPr>
            <a:xfrm>
              <a:off x="8657485" y="829505"/>
              <a:ext cx="1316831" cy="1316831"/>
              <a:chOff x="3405584" y="4100477"/>
              <a:chExt cx="1316831" cy="1316831"/>
            </a:xfrm>
          </p:grpSpPr>
          <p:sp>
            <p:nvSpPr>
              <p:cNvPr id="31" name="Oval 30">
                <a:extLst>
                  <a:ext uri="{FF2B5EF4-FFF2-40B4-BE49-F238E27FC236}">
                    <a16:creationId xmlns:a16="http://schemas.microsoft.com/office/drawing/2014/main" id="{36527B03-E8B0-B308-5625-5D60701BABC9}"/>
                  </a:ext>
                </a:extLst>
              </p:cNvPr>
              <p:cNvSpPr/>
              <p:nvPr/>
            </p:nvSpPr>
            <p:spPr>
              <a:xfrm>
                <a:off x="3405584" y="4100477"/>
                <a:ext cx="1316831" cy="1316831"/>
              </a:xfrm>
              <a:prstGeom prst="ellipse">
                <a:avLst/>
              </a:prstGeom>
              <a:solidFill>
                <a:srgbClr val="FFD5EE"/>
              </a:solidFill>
              <a:ln w="38100">
                <a:solidFill>
                  <a:srgbClr val="CD007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2" name="Oval 4">
                <a:extLst>
                  <a:ext uri="{FF2B5EF4-FFF2-40B4-BE49-F238E27FC236}">
                    <a16:creationId xmlns:a16="http://schemas.microsoft.com/office/drawing/2014/main" id="{311692BE-7960-B1C4-FAA2-65AA32C03A40}"/>
                  </a:ext>
                </a:extLst>
              </p:cNvPr>
              <p:cNvSpPr txBox="1"/>
              <p:nvPr/>
            </p:nvSpPr>
            <p:spPr>
              <a:xfrm>
                <a:off x="3598429" y="4293322"/>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GB" sz="1200" b="1" kern="1200">
                    <a:solidFill>
                      <a:srgbClr val="CD007A"/>
                    </a:solidFill>
                    <a:latin typeface="Sassoon Infant Rg" panose="02000503030000020003" pitchFamily="2" charset="0"/>
                    <a:ea typeface="Sassoon Infant Rg" panose="02000503030000020003" pitchFamily="2" charset="0"/>
                  </a:rPr>
                  <a:t>Discuss &amp; explain thinking &amp; understanding</a:t>
                </a:r>
              </a:p>
            </p:txBody>
          </p:sp>
        </p:grpSp>
        <p:sp>
          <p:nvSpPr>
            <p:cNvPr id="25" name="TextBox 24">
              <a:extLst>
                <a:ext uri="{FF2B5EF4-FFF2-40B4-BE49-F238E27FC236}">
                  <a16:creationId xmlns:a16="http://schemas.microsoft.com/office/drawing/2014/main" id="{0E3DBC74-DEF3-15BE-F488-6929DEE9B83C}"/>
                </a:ext>
              </a:extLst>
            </p:cNvPr>
            <p:cNvSpPr txBox="1"/>
            <p:nvPr/>
          </p:nvSpPr>
          <p:spPr>
            <a:xfrm>
              <a:off x="8826392" y="2243080"/>
              <a:ext cx="979015" cy="255230"/>
            </a:xfrm>
            <a:prstGeom prst="rect">
              <a:avLst/>
            </a:prstGeom>
            <a:noFill/>
          </p:spPr>
          <p:txBody>
            <a:bodyPr wrap="square" rtlCol="0">
              <a:spAutoFit/>
            </a:bodyPr>
            <a:lstStyle/>
            <a:p>
              <a:pPr algn="ctr"/>
              <a:r>
                <a:rPr lang="en-GB" sz="1400" b="1">
                  <a:solidFill>
                    <a:srgbClr val="CD007A"/>
                  </a:solidFill>
                </a:rPr>
                <a:t>retrieve</a:t>
              </a:r>
            </a:p>
          </p:txBody>
        </p:sp>
      </p:grpSp>
    </p:spTree>
    <p:extLst>
      <p:ext uri="{BB962C8B-B14F-4D97-AF65-F5344CB8AC3E}">
        <p14:creationId xmlns:p14="http://schemas.microsoft.com/office/powerpoint/2010/main" val="19171547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DB52-DA63-044E-52E1-B8873C55D66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CA83BB0C-F58E-DA56-564A-0BADE2422FC9}"/>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2" name="TextBox 1">
            <a:extLst>
              <a:ext uri="{FF2B5EF4-FFF2-40B4-BE49-F238E27FC236}">
                <a16:creationId xmlns:a16="http://schemas.microsoft.com/office/drawing/2014/main" id="{640BB64A-1496-7976-37EB-DCEEC8FBF17F}"/>
              </a:ext>
            </a:extLst>
          </p:cNvPr>
          <p:cNvSpPr txBox="1"/>
          <p:nvPr/>
        </p:nvSpPr>
        <p:spPr>
          <a:xfrm>
            <a:off x="378830" y="1843059"/>
            <a:ext cx="11713854" cy="3429144"/>
          </a:xfrm>
          <a:prstGeom prst="rect">
            <a:avLst/>
          </a:prstGeom>
          <a:noFill/>
        </p:spPr>
        <p:txBody>
          <a:bodyPr wrap="square" rtlCol="0">
            <a:spAutoFit/>
          </a:bodyPr>
          <a:lstStyle/>
          <a:p>
            <a:pPr lvl="1">
              <a:spcAft>
                <a:spcPts val="500"/>
              </a:spcAft>
            </a:pPr>
            <a:r>
              <a:rPr lang="en-GB" sz="2200"/>
              <a:t>What is this text mainly about?</a:t>
            </a:r>
          </a:p>
          <a:p>
            <a:pPr lvl="1">
              <a:spcAft>
                <a:spcPts val="500"/>
              </a:spcAft>
            </a:pPr>
            <a:r>
              <a:rPr lang="en-GB" sz="2200"/>
              <a:t>It explains the senses that cats use to navigate and survive — including eyesight, hearing, whiskers and sense of smell.</a:t>
            </a:r>
          </a:p>
          <a:p>
            <a:pPr lvl="1">
              <a:spcAft>
                <a:spcPts val="500"/>
              </a:spcAft>
            </a:pPr>
            <a:endParaRPr lang="en-GB" sz="2200"/>
          </a:p>
          <a:p>
            <a:pPr lvl="1">
              <a:spcAft>
                <a:spcPts val="500"/>
              </a:spcAft>
            </a:pPr>
            <a:r>
              <a:rPr lang="en-GB" sz="2200"/>
              <a:t>Find a word in the text that means ‘to find your way through an area’.</a:t>
            </a:r>
          </a:p>
          <a:p>
            <a:pPr lvl="1">
              <a:spcAft>
                <a:spcPts val="500"/>
              </a:spcAft>
            </a:pPr>
            <a:r>
              <a:rPr lang="en-GB" sz="2200"/>
              <a:t>navigate</a:t>
            </a:r>
          </a:p>
          <a:p>
            <a:pPr lvl="1">
              <a:spcAft>
                <a:spcPts val="500"/>
              </a:spcAft>
            </a:pPr>
            <a:endParaRPr lang="en-GB" sz="2200"/>
          </a:p>
        </p:txBody>
      </p:sp>
      <p:sp>
        <p:nvSpPr>
          <p:cNvPr id="6" name="TextBox 5">
            <a:extLst>
              <a:ext uri="{FF2B5EF4-FFF2-40B4-BE49-F238E27FC236}">
                <a16:creationId xmlns:a16="http://schemas.microsoft.com/office/drawing/2014/main" id="{5BDAB0E7-50E0-A284-5814-9D1241C67513}"/>
              </a:ext>
            </a:extLst>
          </p:cNvPr>
          <p:cNvSpPr txBox="1"/>
          <p:nvPr/>
        </p:nvSpPr>
        <p:spPr>
          <a:xfrm>
            <a:off x="288098" y="335454"/>
            <a:ext cx="6329618" cy="707886"/>
          </a:xfrm>
          <a:prstGeom prst="rect">
            <a:avLst/>
          </a:prstGeom>
          <a:noFill/>
        </p:spPr>
        <p:txBody>
          <a:bodyPr wrap="none" rtlCol="0">
            <a:spAutoFit/>
          </a:bodyPr>
          <a:lstStyle/>
          <a:p>
            <a:r>
              <a:rPr lang="en-GB" sz="4000" b="1" u="sng"/>
              <a:t>Practice questions - Vocabulary</a:t>
            </a:r>
          </a:p>
        </p:txBody>
      </p:sp>
      <p:sp>
        <p:nvSpPr>
          <p:cNvPr id="3" name="TextBox 2">
            <a:extLst>
              <a:ext uri="{FF2B5EF4-FFF2-40B4-BE49-F238E27FC236}">
                <a16:creationId xmlns:a16="http://schemas.microsoft.com/office/drawing/2014/main" id="{68036728-B080-EA83-ECF1-479482CB4A6C}"/>
              </a:ext>
            </a:extLst>
          </p:cNvPr>
          <p:cNvSpPr txBox="1"/>
          <p:nvPr/>
        </p:nvSpPr>
        <p:spPr>
          <a:xfrm>
            <a:off x="288098" y="937015"/>
            <a:ext cx="10156370" cy="369332"/>
          </a:xfrm>
          <a:prstGeom prst="rect">
            <a:avLst/>
          </a:prstGeom>
          <a:noFill/>
        </p:spPr>
        <p:txBody>
          <a:bodyPr wrap="none" rtlCol="0">
            <a:spAutoFit/>
          </a:bodyPr>
          <a:lstStyle/>
          <a:p>
            <a:r>
              <a:rPr lang="en-GB"/>
              <a:t>Scanning the text – I am trying to find the parts in the text where I will retrieve the answer to the question.</a:t>
            </a:r>
          </a:p>
        </p:txBody>
      </p:sp>
      <p:sp>
        <p:nvSpPr>
          <p:cNvPr id="7" name="TextBox 6">
            <a:extLst>
              <a:ext uri="{FF2B5EF4-FFF2-40B4-BE49-F238E27FC236}">
                <a16:creationId xmlns:a16="http://schemas.microsoft.com/office/drawing/2014/main" id="{62ABBBA0-AF7C-8A47-0810-0E93014D5573}"/>
              </a:ext>
            </a:extLst>
          </p:cNvPr>
          <p:cNvSpPr txBox="1"/>
          <p:nvPr/>
        </p:nvSpPr>
        <p:spPr>
          <a:xfrm>
            <a:off x="739293" y="5447777"/>
            <a:ext cx="10292816" cy="830997"/>
          </a:xfrm>
          <a:prstGeom prst="rect">
            <a:avLst/>
          </a:prstGeom>
          <a:noFill/>
        </p:spPr>
        <p:txBody>
          <a:bodyPr wrap="square" rtlCol="0">
            <a:spAutoFit/>
          </a:bodyPr>
          <a:lstStyle/>
          <a:p>
            <a:r>
              <a:rPr lang="en-GB" sz="2400"/>
              <a:t>Checking my answers – does my answer match the question and use information from the text?</a:t>
            </a:r>
          </a:p>
        </p:txBody>
      </p:sp>
      <p:sp>
        <p:nvSpPr>
          <p:cNvPr id="9" name="TextBox 8">
            <a:extLst>
              <a:ext uri="{FF2B5EF4-FFF2-40B4-BE49-F238E27FC236}">
                <a16:creationId xmlns:a16="http://schemas.microsoft.com/office/drawing/2014/main" id="{C39F0976-7660-64BA-E055-E6E60B65E8BB}"/>
              </a:ext>
            </a:extLst>
          </p:cNvPr>
          <p:cNvSpPr txBox="1"/>
          <p:nvPr/>
        </p:nvSpPr>
        <p:spPr>
          <a:xfrm>
            <a:off x="378830" y="1512948"/>
            <a:ext cx="11434340" cy="3853893"/>
          </a:xfrm>
          <a:prstGeom prst="rect">
            <a:avLst/>
          </a:prstGeom>
          <a:solidFill>
            <a:schemeClr val="accent5">
              <a:lumMod val="20000"/>
              <a:lumOff val="80000"/>
            </a:schemeClr>
          </a:solidFill>
        </p:spPr>
        <p:txBody>
          <a:bodyPr wrap="square" anchor="ctr">
            <a:normAutofit fontScale="92500"/>
          </a:bodyPr>
          <a:lstStyle/>
          <a:p>
            <a:r>
              <a:rPr lang="en-GB" sz="2200"/>
              <a:t>Cats are extraordinary animals with senses that allow them to navigate the world in ways that humans cannot. A cat’s eyes are particularly well suited to detecting movement in low light. The pupils can expand to an enormous size, letting in as much light as possible, which is why cats can see so clearly at night while humans must rely on artificial lighting. Their hearing is equally acute, allowing them to perceive sounds at much higher frequencies than we can. This means a cat can detect the tiny rustle of a mouse beneath a floorboard, or the distant call of another cat several streets away. Cats also use their whiskers as highly sensitive instruments for measuring space. The whiskers are exactly as wide as the cat’s body, which allows the animal to judge whether a gap is large enough to pass through. This is not something the cat has to learn; it is built into its nervous system from birth. Finally, a cat’s sense of smell is many times stronger than our own. Cats use this to map their territory, leaving chemical signals that tell other cats where they have been. Together, these extraordinary senses allow the cat to move through the world with a precision and confidence that, in many ways, puts human perception to shame.</a:t>
            </a:r>
          </a:p>
        </p:txBody>
      </p:sp>
      <p:sp>
        <p:nvSpPr>
          <p:cNvPr id="8" name="Rounded Rectangle 7">
            <a:extLst>
              <a:ext uri="{FF2B5EF4-FFF2-40B4-BE49-F238E27FC236}">
                <a16:creationId xmlns:a16="http://schemas.microsoft.com/office/drawing/2014/main" id="{1F9C4591-5FD6-13A6-965E-8E77A5CE3342}"/>
              </a:ext>
            </a:extLst>
          </p:cNvPr>
          <p:cNvSpPr/>
          <p:nvPr/>
        </p:nvSpPr>
        <p:spPr>
          <a:xfrm>
            <a:off x="8019658" y="624524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pic>
        <p:nvPicPr>
          <p:cNvPr id="4" name="Picture 3">
            <a:extLst>
              <a:ext uri="{FF2B5EF4-FFF2-40B4-BE49-F238E27FC236}">
                <a16:creationId xmlns:a16="http://schemas.microsoft.com/office/drawing/2014/main" id="{98C313D4-3635-57FE-CBB6-13AFE64BC9F7}"/>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Tree>
    <p:extLst>
      <p:ext uri="{BB962C8B-B14F-4D97-AF65-F5344CB8AC3E}">
        <p14:creationId xmlns:p14="http://schemas.microsoft.com/office/powerpoint/2010/main" val="412702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7" restart="whenNotActive" fill="hold" evtFilter="cancelBubble" nodeType="interactiveSeq">
                <p:stCondLst>
                  <p:cond evt="onClick" delay="0">
                    <p:tgtEl>
                      <p:spTgt spid="8"/>
                    </p:tgtEl>
                  </p:cond>
                </p:stCondLst>
                <p:endSync evt="end" delay="0">
                  <p:rtn val="all"/>
                </p:endSync>
                <p:childTnLst>
                  <p:par>
                    <p:cTn id="28" fill="hold">
                      <p:stCondLst>
                        <p:cond delay="0"/>
                      </p:stCondLst>
                      <p:childTnLst>
                        <p:par>
                          <p:cTn id="29" fill="hold">
                            <p:stCondLst>
                              <p:cond delay="0"/>
                            </p:stCondLst>
                            <p:childTnLst>
                              <p:par>
                                <p:cTn id="30" presetID="1"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xit" presetSubtype="0" fill="hold" grpId="1" nodeType="clickEffect">
                                  <p:stCondLst>
                                    <p:cond delay="0"/>
                                  </p:stCondLst>
                                  <p:childTnLst>
                                    <p:set>
                                      <p:cBhvr>
                                        <p:cTn id="35" dur="1" fill="hold">
                                          <p:stCondLst>
                                            <p:cond delay="0"/>
                                          </p:stCondLst>
                                        </p:cTn>
                                        <p:tgtEl>
                                          <p:spTgt spid="9"/>
                                        </p:tgtEl>
                                        <p:attrNameLst>
                                          <p:attrName>style.visibility</p:attrName>
                                        </p:attrNameLst>
                                      </p:cBhvr>
                                      <p:to>
                                        <p:strVal val="hidden"/>
                                      </p:to>
                                    </p:set>
                                  </p:childTnLst>
                                </p:cTn>
                              </p:par>
                            </p:childTnLst>
                          </p:cTn>
                        </p:par>
                      </p:childTnLst>
                    </p:cTn>
                  </p:par>
                </p:childTnLst>
              </p:cTn>
              <p:nextCondLst>
                <p:cond evt="onClick" delay="0">
                  <p:tgtEl>
                    <p:spTgt spid="8"/>
                  </p:tgtEl>
                </p:cond>
              </p:nextCondLst>
            </p:seq>
          </p:childTnLst>
        </p:cTn>
      </p:par>
    </p:tnLst>
    <p:bldLst>
      <p:bldP spid="7" grpId="0"/>
      <p:bldP spid="9" grpId="0" animBg="1"/>
      <p:bldP spid="9"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dirty="0">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568895" y="211840"/>
            <a:ext cx="3039122" cy="3522775"/>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3" name="TextBox 2">
            <a:extLst>
              <a:ext uri="{FF2B5EF4-FFF2-40B4-BE49-F238E27FC236}">
                <a16:creationId xmlns:a16="http://schemas.microsoft.com/office/drawing/2014/main" id="{9AA1DE16-8C7B-4868-2DE3-9C9C7D7D4324}"/>
              </a:ext>
            </a:extLst>
          </p:cNvPr>
          <p:cNvSpPr txBox="1"/>
          <p:nvPr/>
        </p:nvSpPr>
        <p:spPr>
          <a:xfrm>
            <a:off x="0" y="4552141"/>
            <a:ext cx="12192000" cy="707886"/>
          </a:xfrm>
          <a:prstGeom prst="rect">
            <a:avLst/>
          </a:prstGeom>
          <a:noFill/>
        </p:spPr>
        <p:txBody>
          <a:bodyPr wrap="square" rtlCol="0">
            <a:spAutoFit/>
          </a:bodyPr>
          <a:lstStyle/>
          <a:p>
            <a:pPr algn="ctr"/>
            <a:r>
              <a:rPr lang="en-GB" sz="4000" dirty="0"/>
              <a:t>Retrieval</a:t>
            </a:r>
            <a:endParaRPr lang="en-GB" dirty="0"/>
          </a:p>
        </p:txBody>
      </p:sp>
      <p:sp>
        <p:nvSpPr>
          <p:cNvPr id="6" name="TextBox 5">
            <a:extLst>
              <a:ext uri="{FF2B5EF4-FFF2-40B4-BE49-F238E27FC236}">
                <a16:creationId xmlns:a16="http://schemas.microsoft.com/office/drawing/2014/main" id="{2B18F8C8-4B63-E425-87CE-D13C91BCA056}"/>
              </a:ext>
            </a:extLst>
          </p:cNvPr>
          <p:cNvSpPr txBox="1"/>
          <p:nvPr/>
        </p:nvSpPr>
        <p:spPr>
          <a:xfrm>
            <a:off x="4423577" y="5199610"/>
            <a:ext cx="3329758" cy="1446550"/>
          </a:xfrm>
          <a:prstGeom prst="rect">
            <a:avLst/>
          </a:prstGeom>
          <a:noFill/>
        </p:spPr>
        <p:txBody>
          <a:bodyPr wrap="none" rtlCol="0" anchor="ctr">
            <a:spAutoFit/>
          </a:bodyPr>
          <a:lstStyle/>
          <a:p>
            <a:pPr algn="ctr"/>
            <a:r>
              <a:rPr lang="en-GB" sz="8800" dirty="0"/>
              <a:t>Thursday</a:t>
            </a:r>
          </a:p>
        </p:txBody>
      </p:sp>
    </p:spTree>
    <p:extLst>
      <p:ext uri="{BB962C8B-B14F-4D97-AF65-F5344CB8AC3E}">
        <p14:creationId xmlns:p14="http://schemas.microsoft.com/office/powerpoint/2010/main" val="3303693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ACEAB2A-6943-1061-22CF-9EC0847829D7}"/>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9DEE78A-07A9-5FF3-9D78-C0D9D21EEFB2}"/>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16D2B17F-CF26-33D2-B6F6-70299CA1A763}"/>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 xml:space="preserve">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xml:space="preserve">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xml:space="preserve"> the world around me.</a:t>
            </a:r>
          </a:p>
        </p:txBody>
      </p:sp>
      <p:pic>
        <p:nvPicPr>
          <p:cNvPr id="7" name="Picture 6">
            <a:extLst>
              <a:ext uri="{FF2B5EF4-FFF2-40B4-BE49-F238E27FC236}">
                <a16:creationId xmlns:a16="http://schemas.microsoft.com/office/drawing/2014/main" id="{3DF6A32D-163D-40C2-BACF-C964E0035D2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A25D9A8A-09E0-BBBE-0C18-2E1880E52773}"/>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950C5C2B-42CC-39EC-6847-EE394E29BB3C}"/>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 xml:space="preserve">We love to read, learn to read and read to learn! </a:t>
            </a:r>
          </a:p>
        </p:txBody>
      </p:sp>
      <p:pic>
        <p:nvPicPr>
          <p:cNvPr id="3" name="Picture 2">
            <a:extLst>
              <a:ext uri="{FF2B5EF4-FFF2-40B4-BE49-F238E27FC236}">
                <a16:creationId xmlns:a16="http://schemas.microsoft.com/office/drawing/2014/main" id="{121AB0E8-B43D-DFDE-C896-2046E6E618BA}"/>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85578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3C5AD-3309-A9A5-F848-B93CB7BC5FD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B9D8A55-04E7-0528-A165-9FB98DB89054}"/>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2E1FDC99-0FE5-B42D-815D-42276802132E}"/>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1E5DC868-7EB8-4F7D-7DAE-A2A8DBE0A20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DACB8AB4-1258-EA30-31A5-77EEA5A000F2}"/>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659AE26C-55EC-A139-FEFB-5E8B79ECFD3A}"/>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086FA3C6-53FE-7451-6D4F-7009D38010D4}"/>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F75FCCA-8003-024B-2B29-0EDF6D801F3D}"/>
                  </a:ext>
                </a:extLst>
              </p14:cNvPr>
              <p14:cNvContentPartPr/>
              <p14:nvPr/>
            </p14:nvContentPartPr>
            <p14:xfrm>
              <a:off x="9034477" y="550400"/>
              <a:ext cx="360" cy="360"/>
            </p14:xfrm>
          </p:contentPart>
        </mc:Choice>
        <mc:Fallback xmlns="">
          <p:pic>
            <p:nvPicPr>
              <p:cNvPr id="3" name="Ink 2">
                <a:extLst>
                  <a:ext uri="{FF2B5EF4-FFF2-40B4-BE49-F238E27FC236}">
                    <a16:creationId xmlns:a16="http://schemas.microsoft.com/office/drawing/2014/main" id="{9F75FCCA-8003-024B-2B29-0EDF6D801F3D}"/>
                  </a:ext>
                </a:extLst>
              </p:cNvPr>
              <p:cNvPicPr/>
              <p:nvPr/>
            </p:nvPicPr>
            <p:blipFill>
              <a:blip r:embed="rId5"/>
              <a:stretch>
                <a:fillRect/>
              </a:stretch>
            </p:blipFill>
            <p:spPr>
              <a:xfrm>
                <a:off x="9025117" y="541040"/>
                <a:ext cx="19080" cy="19080"/>
              </a:xfrm>
              <a:prstGeom prst="rect">
                <a:avLst/>
              </a:prstGeom>
            </p:spPr>
          </p:pic>
        </mc:Fallback>
      </mc:AlternateContent>
      <p:graphicFrame>
        <p:nvGraphicFramePr>
          <p:cNvPr id="7" name="Table 6">
            <a:extLst>
              <a:ext uri="{FF2B5EF4-FFF2-40B4-BE49-F238E27FC236}">
                <a16:creationId xmlns:a16="http://schemas.microsoft.com/office/drawing/2014/main" id="{AD7A6C68-D614-2377-056B-781707D2F236}"/>
              </a:ext>
            </a:extLst>
          </p:cNvPr>
          <p:cNvGraphicFramePr>
            <a:graphicFrameLocks noGrp="1"/>
          </p:cNvGraphicFramePr>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sequence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 set of events or actions that happen in a particular order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process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 series of actions or steps taken to achieve a result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adapt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change in order to suit a different situation or environment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nocturnal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active mainly at night rather than during the day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predator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an animal that hunts and kills other animals for food</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114E80EC-EDEA-A9B8-0AA7-BDF4DBA738D9}"/>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3" name="Rectangle 12">
            <a:extLst>
              <a:ext uri="{FF2B5EF4-FFF2-40B4-BE49-F238E27FC236}">
                <a16:creationId xmlns:a16="http://schemas.microsoft.com/office/drawing/2014/main" id="{2CF9C0CB-B38A-8B6C-0680-46BD300AE1DC}"/>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7" name="Rectangle 16">
            <a:extLst>
              <a:ext uri="{FF2B5EF4-FFF2-40B4-BE49-F238E27FC236}">
                <a16:creationId xmlns:a16="http://schemas.microsoft.com/office/drawing/2014/main" id="{4BF34747-0A22-7E80-CA39-94571BB7D672}"/>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8" name="Rectangle 17">
            <a:extLst>
              <a:ext uri="{FF2B5EF4-FFF2-40B4-BE49-F238E27FC236}">
                <a16:creationId xmlns:a16="http://schemas.microsoft.com/office/drawing/2014/main" id="{FB910803-A54A-5B45-8345-8FFD7AC1C67C}"/>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9" name="Rectangle 18">
            <a:extLst>
              <a:ext uri="{FF2B5EF4-FFF2-40B4-BE49-F238E27FC236}">
                <a16:creationId xmlns:a16="http://schemas.microsoft.com/office/drawing/2014/main" id="{DB05B3E1-CB09-5A78-B03C-31610DE59A67}"/>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Tree>
    <p:extLst>
      <p:ext uri="{BB962C8B-B14F-4D97-AF65-F5344CB8AC3E}">
        <p14:creationId xmlns:p14="http://schemas.microsoft.com/office/powerpoint/2010/main" val="3287233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2" restart="whenNotActive" fill="hold" evtFilter="cancelBubble" nodeType="interactiveSeq">
                <p:stCondLst>
                  <p:cond evt="onClick" delay="0">
                    <p:tgtEl>
                      <p:spTgt spid="1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3" grpId="0" animBg="1"/>
      <p:bldP spid="17" grpId="0" animBg="1"/>
      <p:bldP spid="18" grpId="0" animBg="1"/>
      <p:bldP spid="1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C497C-5676-F0CE-9C15-81908FA1F34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DCBDDC3-E8B4-5DB7-95EB-E4EB767438DF}"/>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4D7EC211-6C19-B85F-7D0D-25A8FEEA3637}"/>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6358CBDE-7D41-F226-3072-41F208B4D98A}"/>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9CDE4E57-6664-84F7-C8E9-8F4381A4D091}"/>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3B86A135-C8BF-2285-F3AA-0B4C5706CE90}"/>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07FF75F1-41FF-EEA3-B802-ED64112A7D02}"/>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98F68A2F-1F77-2878-BCF5-883045F28026}"/>
              </a:ext>
            </a:extLst>
          </p:cNvPr>
          <p:cNvGraphicFramePr>
            <a:graphicFrameLocks noGrp="1"/>
          </p:cNvGraphicFramePr>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b="0">
                        <a:solidFill>
                          <a:schemeClr val="tx1"/>
                        </a:solidFill>
                      </a:endParaRPr>
                    </a:p>
                    <a:p>
                      <a:pPr algn="ctr"/>
                      <a:r>
                        <a:rPr lang="en-GB" sz="3200" b="0">
                          <a:solidFill>
                            <a:schemeClr val="tx1"/>
                          </a:solidFill>
                          <a:latin typeface="XCCW Joined 4a" panose="03050602040000000000" pitchFamily="66" charset="77"/>
                        </a:rPr>
                        <a:t>adapt</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755B9240-8989-B9DB-0B3B-B8D062E07BC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7904627B-45D6-BE36-7042-C69B53AD1828}"/>
              </a:ext>
            </a:extLst>
          </p:cNvPr>
          <p:cNvSpPr txBox="1"/>
          <p:nvPr/>
        </p:nvSpPr>
        <p:spPr>
          <a:xfrm>
            <a:off x="4766154" y="5299847"/>
            <a:ext cx="2400000" cy="480000"/>
          </a:xfrm>
          <a:prstGeom prst="rect">
            <a:avLst/>
          </a:prstGeom>
          <a:noFill/>
        </p:spPr>
        <p:txBody>
          <a:bodyPr wrap="square" rtlCol="0" anchor="ctr"/>
          <a:lstStyle/>
          <a:p>
            <a:pPr algn="ctr"/>
            <a:r>
              <a:rPr lang="en-GB"/>
              <a:t>adapt</a:t>
            </a:r>
          </a:p>
        </p:txBody>
      </p:sp>
      <p:cxnSp>
        <p:nvCxnSpPr>
          <p:cNvPr id="12" name="Straight Connector 11">
            <a:extLst>
              <a:ext uri="{FF2B5EF4-FFF2-40B4-BE49-F238E27FC236}">
                <a16:creationId xmlns:a16="http://schemas.microsoft.com/office/drawing/2014/main" id="{483F9876-11CA-68D4-B5B9-503CB1452DDF}"/>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7DD069-433E-BF48-9167-8E5BCC114624}"/>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37026A-B5E7-A43B-7015-F91BED67059F}"/>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7576966-8817-48AF-F837-0832462F5E46}"/>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EE6038E-2E20-39E1-51AA-382FB77B2D40}"/>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342315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C8F1879-9C69-AABD-5D27-70A3FD61C54F}"/>
              </a:ext>
            </a:extLst>
          </p:cNvPr>
          <p:cNvGrpSpPr/>
          <p:nvPr/>
        </p:nvGrpSpPr>
        <p:grpSpPr>
          <a:xfrm>
            <a:off x="43957" y="90546"/>
            <a:ext cx="963274" cy="909579"/>
            <a:chOff x="1630613" y="1026138"/>
            <a:chExt cx="1316831" cy="1316831"/>
          </a:xfrm>
        </p:grpSpPr>
        <p:sp>
          <p:nvSpPr>
            <p:cNvPr id="4" name="Oval 3">
              <a:extLst>
                <a:ext uri="{FF2B5EF4-FFF2-40B4-BE49-F238E27FC236}">
                  <a16:creationId xmlns:a16="http://schemas.microsoft.com/office/drawing/2014/main" id="{C5A04DD0-FF30-895F-0ED9-888B47B1A02D}"/>
                </a:ext>
              </a:extLst>
            </p:cNvPr>
            <p:cNvSpPr/>
            <p:nvPr/>
          </p:nvSpPr>
          <p:spPr>
            <a:xfrm>
              <a:off x="1630613" y="1026138"/>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5" name="Oval 4">
              <a:extLst>
                <a:ext uri="{FF2B5EF4-FFF2-40B4-BE49-F238E27FC236}">
                  <a16:creationId xmlns:a16="http://schemas.microsoft.com/office/drawing/2014/main" id="{8EBD88F1-D64A-0A71-7434-4A250ABBD4E6}"/>
                </a:ext>
              </a:extLst>
            </p:cNvPr>
            <p:cNvSpPr txBox="1"/>
            <p:nvPr/>
          </p:nvSpPr>
          <p:spPr>
            <a:xfrm>
              <a:off x="1823458"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latin typeface="Sassoon Infant Rg" panose="02000503030000020003" pitchFamily="2" charset="0"/>
                  <a:ea typeface="Sassoon Infant Rg" panose="02000503030000020003" pitchFamily="2" charset="0"/>
                </a:rPr>
                <a:t>Decoding &amp; phonics</a:t>
              </a:r>
            </a:p>
          </p:txBody>
        </p:sp>
      </p:grpSp>
      <p:pic>
        <p:nvPicPr>
          <p:cNvPr id="11" name="Picture 10">
            <a:extLst>
              <a:ext uri="{FF2B5EF4-FFF2-40B4-BE49-F238E27FC236}">
                <a16:creationId xmlns:a16="http://schemas.microsoft.com/office/drawing/2014/main" id="{5B88EF2C-3893-9BD5-87F9-6BF0F699F9A5}"/>
              </a:ext>
            </a:extLst>
          </p:cNvPr>
          <p:cNvPicPr/>
          <p:nvPr/>
        </p:nvPicPr>
        <p:blipFill>
          <a:blip r:embed="rId3">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D07968F0-1915-728F-1F6D-2CB9277677F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Independent Read</a:t>
            </a:r>
          </a:p>
        </p:txBody>
      </p:sp>
      <p:sp>
        <p:nvSpPr>
          <p:cNvPr id="22" name="TextBox 21">
            <a:extLst>
              <a:ext uri="{FF2B5EF4-FFF2-40B4-BE49-F238E27FC236}">
                <a16:creationId xmlns:a16="http://schemas.microsoft.com/office/drawing/2014/main" id="{BBE494B4-E4A1-C48A-15E2-3683EA0AD086}"/>
              </a:ext>
            </a:extLst>
          </p:cNvPr>
          <p:cNvSpPr txBox="1"/>
          <p:nvPr/>
        </p:nvSpPr>
        <p:spPr>
          <a:xfrm>
            <a:off x="1" y="931322"/>
            <a:ext cx="12191999" cy="830997"/>
          </a:xfrm>
          <a:prstGeom prst="rect">
            <a:avLst/>
          </a:prstGeom>
          <a:noFill/>
        </p:spPr>
        <p:txBody>
          <a:bodyPr wrap="square">
            <a:spAutoFit/>
          </a:bodyPr>
          <a:lstStyle/>
          <a:p>
            <a:pPr algn="ctr"/>
            <a:r>
              <a:rPr lang="en-GB" sz="1800" dirty="0">
                <a:effectLst/>
                <a:latin typeface="Sassoon Infant Rg" panose="02000503030000020003" pitchFamily="2" charset="0"/>
                <a:ea typeface="Sassoon Infant Rg" panose="02000503030000020003" pitchFamily="2" charset="0"/>
                <a:cs typeface="Times New Roman" panose="02020603050405020304" pitchFamily="18" charset="0"/>
              </a:rPr>
              <a:t xml:space="preserve">Read the complete text – underline any words or phrases you don’t understand.  Re-read full sentences for any parts you couldn’t read smoothly on the first attempt. </a:t>
            </a:r>
            <a:endParaRPr lang="en-GB" b="1" dirty="0"/>
          </a:p>
        </p:txBody>
      </p:sp>
      <p:sp>
        <p:nvSpPr>
          <p:cNvPr id="6" name="TextBox 5">
            <a:extLst>
              <a:ext uri="{FF2B5EF4-FFF2-40B4-BE49-F238E27FC236}">
                <a16:creationId xmlns:a16="http://schemas.microsoft.com/office/drawing/2014/main" id="{38C25E62-7AE0-A783-1D87-77105CAB659E}"/>
              </a:ext>
            </a:extLst>
          </p:cNvPr>
          <p:cNvSpPr txBox="1"/>
          <p:nvPr/>
        </p:nvSpPr>
        <p:spPr>
          <a:xfrm>
            <a:off x="2226896" y="3673314"/>
            <a:ext cx="7629665" cy="2308324"/>
          </a:xfrm>
          <a:prstGeom prst="rect">
            <a:avLst/>
          </a:prstGeom>
          <a:noFill/>
        </p:spPr>
        <p:txBody>
          <a:bodyPr wrap="square" rtlCol="0">
            <a:spAutoFit/>
          </a:bodyPr>
          <a:lstStyle/>
          <a:p>
            <a:endParaRPr lang="en-GB"/>
          </a:p>
          <a:p>
            <a:pPr marL="342900" indent="-342900">
              <a:buFont typeface="+mj-lt"/>
              <a:buAutoNum type="arabicPeriod"/>
            </a:pPr>
            <a:r>
              <a:rPr lang="en-GB"/>
              <a:t>Read by segmenting into phonemes and syllables</a:t>
            </a:r>
          </a:p>
          <a:p>
            <a:pPr marL="342900" indent="-342900">
              <a:buFont typeface="+mj-lt"/>
              <a:buAutoNum type="arabicPeriod"/>
            </a:pPr>
            <a:r>
              <a:rPr lang="en-GB"/>
              <a:t>Make a sensible attempt, making sure you blend ALL the sounds as you read.</a:t>
            </a:r>
          </a:p>
          <a:p>
            <a:pPr marL="342900" indent="-342900">
              <a:buFont typeface="+mj-lt"/>
              <a:buAutoNum type="arabicPeriod"/>
            </a:pPr>
            <a:r>
              <a:rPr lang="en-GB"/>
              <a:t>Use the context and parts of the word to make a sensible attempt at a definition.</a:t>
            </a:r>
          </a:p>
          <a:p>
            <a:pPr marL="342900" indent="-342900">
              <a:buFont typeface="+mj-lt"/>
              <a:buAutoNum type="arabicPeriod"/>
            </a:pPr>
            <a:endParaRPr lang="en-GB"/>
          </a:p>
          <a:p>
            <a:r>
              <a:rPr lang="en-GB"/>
              <a:t>Remember to re-read the entire sentence again.</a:t>
            </a:r>
          </a:p>
        </p:txBody>
      </p:sp>
      <p:pic>
        <p:nvPicPr>
          <p:cNvPr id="2" name="Picture 1">
            <a:extLst>
              <a:ext uri="{FF2B5EF4-FFF2-40B4-BE49-F238E27FC236}">
                <a16:creationId xmlns:a16="http://schemas.microsoft.com/office/drawing/2014/main" id="{4A238304-94B7-D6B3-84C9-8D8F6CDD2BB4}"/>
              </a:ext>
            </a:extLst>
          </p:cNvPr>
          <p:cNvPicPr>
            <a:picLocks noChangeAspect="1"/>
          </p:cNvPicPr>
          <p:nvPr/>
        </p:nvPicPr>
        <p:blipFill>
          <a:blip r:embed="rId4"/>
          <a:stretch>
            <a:fillRect/>
          </a:stretch>
        </p:blipFill>
        <p:spPr>
          <a:xfrm>
            <a:off x="866163" y="2097530"/>
            <a:ext cx="10351133" cy="1434810"/>
          </a:xfrm>
          <a:prstGeom prst="rect">
            <a:avLst/>
          </a:prstGeom>
        </p:spPr>
      </p:pic>
      <p:sp>
        <p:nvSpPr>
          <p:cNvPr id="13" name="TextBox 12">
            <a:extLst>
              <a:ext uri="{FF2B5EF4-FFF2-40B4-BE49-F238E27FC236}">
                <a16:creationId xmlns:a16="http://schemas.microsoft.com/office/drawing/2014/main" id="{A473D780-1F99-6094-42B5-9820D9017C99}"/>
              </a:ext>
            </a:extLst>
          </p:cNvPr>
          <p:cNvSpPr txBox="1"/>
          <p:nvPr/>
        </p:nvSpPr>
        <p:spPr>
          <a:xfrm>
            <a:off x="-2406316" y="1524000"/>
            <a:ext cx="184731" cy="369332"/>
          </a:xfrm>
          <a:prstGeom prst="rect">
            <a:avLst/>
          </a:prstGeom>
          <a:noFill/>
        </p:spPr>
        <p:txBody>
          <a:bodyPr wrap="none" rtlCol="0">
            <a:spAutoFit/>
          </a:bodyPr>
          <a:lstStyle/>
          <a:p>
            <a:endParaRPr lang="en-GB"/>
          </a:p>
        </p:txBody>
      </p:sp>
      <p:sp>
        <p:nvSpPr>
          <p:cNvPr id="15" name="TextBox 14">
            <a:extLst>
              <a:ext uri="{FF2B5EF4-FFF2-40B4-BE49-F238E27FC236}">
                <a16:creationId xmlns:a16="http://schemas.microsoft.com/office/drawing/2014/main" id="{E15A5C10-306D-554F-EAA6-B73E5AF3D6C7}"/>
              </a:ext>
            </a:extLst>
          </p:cNvPr>
          <p:cNvSpPr txBox="1"/>
          <p:nvPr/>
        </p:nvSpPr>
        <p:spPr>
          <a:xfrm>
            <a:off x="209488" y="1865629"/>
            <a:ext cx="11861201" cy="3985274"/>
          </a:xfrm>
          <a:prstGeom prst="rect">
            <a:avLst/>
          </a:prstGeom>
          <a:solidFill>
            <a:schemeClr val="accent5">
              <a:lumMod val="20000"/>
              <a:lumOff val="80000"/>
            </a:schemeClr>
          </a:solidFill>
        </p:spPr>
        <p:txBody>
          <a:bodyPr wrap="square" anchor="ctr">
            <a:noAutofit/>
          </a:bodyPr>
          <a:lstStyle/>
          <a:p>
            <a:r>
              <a:rPr lang="en-US" sz="2200" dirty="0"/>
              <a:t>Unlike many animals, cats do not need to be taught most of their behaviours. A kitten is born with many responses already in place. For example, the instinct to crouch and stalk before pouncing is present almost from birth, even in kittens that have never seen prey. However, learning does play an important role in a cat’s development. A mother cat will teach her kittens how to hunt by first bringing them injured prey, then later taking them to observe while she hunts. This sequence of learning — moving from watching to copying to independent action — is a pattern found across many animal species. Cats also adapt their behaviour based on experience. A cat that has learned that a particular sound means food will respond to that sound reliably, even years later. This process of learning through repeated experience is called conditioning. Nocturnal by preference, cats are most active at dawn and dusk, when their prey is also on the move. During the day, cats conserve energy by sleeping, sometimes for up to sixteen hours. When night falls, the same cat becomes an efficient, focused predator, moving through its territory with purpose and precision. Understanding how cats learn and adapt helps us to appreciate why they behave as they do, and why domestic cats retain so many of the instincts of their wild ancestors.</a:t>
            </a:r>
          </a:p>
        </p:txBody>
      </p:sp>
      <p:sp>
        <p:nvSpPr>
          <p:cNvPr id="10" name="Rounded Rectangle 9">
            <a:extLst>
              <a:ext uri="{FF2B5EF4-FFF2-40B4-BE49-F238E27FC236}">
                <a16:creationId xmlns:a16="http://schemas.microsoft.com/office/drawing/2014/main" id="{911D3733-5EF2-7482-D164-B776AE41E9CC}"/>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Show / Hide Extract</a:t>
            </a:r>
          </a:p>
        </p:txBody>
      </p:sp>
    </p:spTree>
    <p:extLst>
      <p:ext uri="{BB962C8B-B14F-4D97-AF65-F5344CB8AC3E}">
        <p14:creationId xmlns:p14="http://schemas.microsoft.com/office/powerpoint/2010/main" val="19794484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5" grpId="0" animBg="1"/>
      <p:bldP spid="15"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5917-BDE9-A483-7A0D-AC15BA636611}"/>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3E3AA9AF-9E3C-B821-0C95-D4AA63DFFCBB}"/>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BC8D8944-1BCF-D4B0-7DAF-EF76646CCF50}"/>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6EE8B722-85CC-7111-AF8B-97EEBEE9A272}"/>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AD3569E1-8E04-B7BA-0398-4180BE3B0EE3}"/>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FFC19485-EC34-F070-3B3F-978F61587575}"/>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3C0DDE4A-9E8B-5BE3-65C1-A3FA2705ACB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A0F1A2A6-045F-00C7-688E-E6D0A25D5652}"/>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408A8433-A9BE-1E56-2965-99A3B5625947}"/>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27A24A2D-2408-EB9E-5F70-46F514294503}"/>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2946C962-D08C-0F71-45B1-FA00B59721B8}"/>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60E1483D-26A7-A33B-B0CD-B1044C4A76B4}"/>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ED4713C7-97EE-A5B0-8FC6-4CE70EA350BC}"/>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72843B94-CA11-5143-DFB7-BE14CB303150}"/>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CDA984DD-4FC4-64A0-887A-0A817B977071}"/>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understand and take meaning from a text.</a:t>
            </a:r>
          </a:p>
        </p:txBody>
      </p:sp>
      <p:sp>
        <p:nvSpPr>
          <p:cNvPr id="20" name="Rectangle 19">
            <a:extLst>
              <a:ext uri="{FF2B5EF4-FFF2-40B4-BE49-F238E27FC236}">
                <a16:creationId xmlns:a16="http://schemas.microsoft.com/office/drawing/2014/main" id="{3A23222B-35F4-3CDC-5FEA-1C58CE4A933A}"/>
              </a:ext>
            </a:extLst>
          </p:cNvPr>
          <p:cNvSpPr/>
          <p:nvPr/>
        </p:nvSpPr>
        <p:spPr>
          <a:xfrm>
            <a:off x="5597291" y="4824722"/>
            <a:ext cx="5583685" cy="1200329"/>
          </a:xfrm>
          <a:prstGeom prst="rect">
            <a:avLst/>
          </a:prstGeom>
          <a:noFill/>
        </p:spPr>
        <p:txBody>
          <a:bodyPr wrap="square">
            <a:spAutoFit/>
          </a:bodyPr>
          <a:lstStyle/>
          <a:p>
            <a:r>
              <a:rPr lang="en-GB" sz="2400">
                <a:latin typeface="+mj-lt"/>
              </a:rPr>
              <a:t>I will show this by answering questions which relate to the vocabulary used throughout the text.</a:t>
            </a:r>
          </a:p>
        </p:txBody>
      </p:sp>
      <p:grpSp>
        <p:nvGrpSpPr>
          <p:cNvPr id="26" name="Group 25">
            <a:extLst>
              <a:ext uri="{FF2B5EF4-FFF2-40B4-BE49-F238E27FC236}">
                <a16:creationId xmlns:a16="http://schemas.microsoft.com/office/drawing/2014/main" id="{F0FA508C-6CB1-E76E-F0A8-B64E6C4CD90D}"/>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3F558219-13F1-436A-59AF-11B90D95ABA1}"/>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33569914-364A-6AF1-85F1-0BFCF4FDB1A8}"/>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B90D4CDA-08E3-0ED1-C1FB-0242710F0D9A}"/>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8139F2B2-DE54-7CE1-CCBE-1C4164F07AC7}"/>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721B1AA3-17DD-506B-9B14-CDFF5EA0BECB}"/>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3A69BFB0-E1DC-E3FA-6EA3-821A27D46522}"/>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my understanding of vocabulary at a sentence and text level.</a:t>
            </a:r>
          </a:p>
        </p:txBody>
      </p:sp>
      <p:grpSp>
        <p:nvGrpSpPr>
          <p:cNvPr id="3" name="Group 2">
            <a:extLst>
              <a:ext uri="{FF2B5EF4-FFF2-40B4-BE49-F238E27FC236}">
                <a16:creationId xmlns:a16="http://schemas.microsoft.com/office/drawing/2014/main" id="{AB1D5BFC-9C6F-78FE-BB55-8A787A315711}"/>
              </a:ext>
            </a:extLst>
          </p:cNvPr>
          <p:cNvGrpSpPr/>
          <p:nvPr/>
        </p:nvGrpSpPr>
        <p:grpSpPr>
          <a:xfrm>
            <a:off x="10607910" y="233361"/>
            <a:ext cx="1316831" cy="1316831"/>
            <a:chOff x="5180554" y="1026138"/>
            <a:chExt cx="1316831" cy="1316831"/>
          </a:xfrm>
        </p:grpSpPr>
        <p:sp>
          <p:nvSpPr>
            <p:cNvPr id="4" name="Oval 3">
              <a:extLst>
                <a:ext uri="{FF2B5EF4-FFF2-40B4-BE49-F238E27FC236}">
                  <a16:creationId xmlns:a16="http://schemas.microsoft.com/office/drawing/2014/main" id="{30C90C35-E0BE-7AD4-92BC-8EFF113E4DB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1" name="Oval 4">
              <a:extLst>
                <a:ext uri="{FF2B5EF4-FFF2-40B4-BE49-F238E27FC236}">
                  <a16:creationId xmlns:a16="http://schemas.microsoft.com/office/drawing/2014/main" id="{D5E138FF-7604-1E33-555D-87C2C96CBE05}"/>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Tree>
    <p:extLst>
      <p:ext uri="{BB962C8B-B14F-4D97-AF65-F5344CB8AC3E}">
        <p14:creationId xmlns:p14="http://schemas.microsoft.com/office/powerpoint/2010/main" val="2842610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F7DB-6538-E176-FE28-8F1AD25656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21690-854A-3024-D098-1C56DE57443E}"/>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6" name="TextBox 5">
            <a:extLst>
              <a:ext uri="{FF2B5EF4-FFF2-40B4-BE49-F238E27FC236}">
                <a16:creationId xmlns:a16="http://schemas.microsoft.com/office/drawing/2014/main" id="{AEC30692-9C94-A8DB-4755-85FE74DE9821}"/>
              </a:ext>
            </a:extLst>
          </p:cNvPr>
          <p:cNvSpPr txBox="1"/>
          <p:nvPr/>
        </p:nvSpPr>
        <p:spPr>
          <a:xfrm>
            <a:off x="288098" y="335454"/>
            <a:ext cx="6864956" cy="707886"/>
          </a:xfrm>
          <a:prstGeom prst="rect">
            <a:avLst/>
          </a:prstGeom>
          <a:noFill/>
        </p:spPr>
        <p:txBody>
          <a:bodyPr wrap="none" rtlCol="0">
            <a:spAutoFit/>
          </a:bodyPr>
          <a:lstStyle/>
          <a:p>
            <a:r>
              <a:rPr lang="en-GB" sz="4000" b="1" u="sng"/>
              <a:t>Practice questions - Retrieval</a:t>
            </a:r>
          </a:p>
        </p:txBody>
      </p:sp>
      <p:pic>
        <p:nvPicPr>
          <p:cNvPr id="7" name="Picture 6">
            <a:extLst>
              <a:ext uri="{FF2B5EF4-FFF2-40B4-BE49-F238E27FC236}">
                <a16:creationId xmlns:a16="http://schemas.microsoft.com/office/drawing/2014/main" id="{E0AB4FA0-4B96-F850-DD50-18A5FD657BB8}"/>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
        <p:nvSpPr>
          <p:cNvPr id="4" name="Rounded Rectangle 9">
            <a:extLst>
              <a:ext uri="{FF2B5EF4-FFF2-40B4-BE49-F238E27FC236}">
                <a16:creationId xmlns:a16="http://schemas.microsoft.com/office/drawing/2014/main" id="{2A06B04F-B021-4121-0C16-7A5BACEFBC1B}"/>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0" name="TextBox 9">
            <a:extLst>
              <a:ext uri="{FF2B5EF4-FFF2-40B4-BE49-F238E27FC236}">
                <a16:creationId xmlns:a16="http://schemas.microsoft.com/office/drawing/2014/main" id="{C064352E-4E96-13BD-C58F-5EEC5E15F4B5}"/>
              </a:ext>
            </a:extLst>
          </p:cNvPr>
          <p:cNvSpPr txBox="1"/>
          <p:nvPr/>
        </p:nvSpPr>
        <p:spPr>
          <a:xfrm>
            <a:off x="418368" y="1463046"/>
            <a:ext cx="11355262" cy="2246769"/>
          </a:xfrm>
          <a:prstGeom prst="rect">
            <a:avLst/>
          </a:prstGeom>
          <a:noFill/>
        </p:spPr>
        <p:txBody>
          <a:bodyPr wrap="square" rtlCol="0">
            <a:spAutoFit/>
          </a:bodyPr>
          <a:lstStyle/>
          <a:p>
            <a:r>
              <a:rPr lang="en-US" sz="1900"/>
              <a:t>What do kittens learn from their mother, according to the text?</a:t>
            </a:r>
          </a:p>
          <a:p>
            <a:r>
              <a:rPr lang="en-US" sz="1900"/>
              <a:t>Kittens learn to hunt. Their mother first brings them injured prey, then lets them watch her, and finally encourages them to try alone.</a:t>
            </a:r>
          </a:p>
          <a:p>
            <a:endParaRPr lang="en-US" sz="1900"/>
          </a:p>
          <a:p>
            <a:r>
              <a:rPr lang="en-US" sz="1900"/>
              <a:t>Find two facts from the text about how cats spend their time during the day.</a:t>
            </a:r>
          </a:p>
          <a:p>
            <a:r>
              <a:rPr lang="en-US" sz="1900"/>
              <a:t>Cats sleep to conserve energy — sometimes up to sixteen hours. They are most active at dawn and dusk, not during the day.</a:t>
            </a:r>
          </a:p>
        </p:txBody>
      </p:sp>
      <p:sp>
        <p:nvSpPr>
          <p:cNvPr id="3" name="TextBox 2">
            <a:extLst>
              <a:ext uri="{FF2B5EF4-FFF2-40B4-BE49-F238E27FC236}">
                <a16:creationId xmlns:a16="http://schemas.microsoft.com/office/drawing/2014/main" id="{EBAE955F-2F2B-1B4A-4719-6AB782D998C5}"/>
              </a:ext>
            </a:extLst>
          </p:cNvPr>
          <p:cNvSpPr txBox="1"/>
          <p:nvPr/>
        </p:nvSpPr>
        <p:spPr>
          <a:xfrm>
            <a:off x="145774" y="1043340"/>
            <a:ext cx="12046226" cy="4585423"/>
          </a:xfrm>
          <a:prstGeom prst="rect">
            <a:avLst/>
          </a:prstGeom>
          <a:solidFill>
            <a:schemeClr val="accent5">
              <a:lumMod val="20000"/>
              <a:lumOff val="80000"/>
            </a:schemeClr>
          </a:solidFill>
        </p:spPr>
        <p:txBody>
          <a:bodyPr wrap="square" anchor="ctr">
            <a:noAutofit/>
          </a:bodyPr>
          <a:lstStyle/>
          <a:p>
            <a:r>
              <a:rPr lang="en-US" sz="2200"/>
              <a:t>Unlike many animals, cats do not need to be taught most of their behaviours. A kitten is born with many responses already in place. For example, the instinct to crouch and stalk before pouncing is present almost from birth, even in kittens that have never seen prey. However, learning does play an important role in a cat’s development. A mother cat will teach her kittens how to hunt by first bringing them injured prey, then later taking them to observe while she hunts. This sequence of learning — moving from watching to copying to independent action — is a pattern found across many animal species. Cats also adapt their behaviour based on experience. A cat that has learned that a particular sound means food will respond to that sound reliably, even years later. This process of learning through repeated experience is called conditioning. Nocturnal by preference, cats are most active at dawn and dusk, when their prey is also on the move. During the day, cats conserve energy by sleeping, sometimes for up to sixteen hours. When night falls, the same cat becomes an efficient, focused predator, moving through its territory with purpose and precision. Understanding how cats learn and adapt helps us to appreciate why they behave as they do, and why domestic cats retain so many of the instincts of their wild ancestors.</a:t>
            </a:r>
          </a:p>
        </p:txBody>
      </p:sp>
    </p:spTree>
    <p:extLst>
      <p:ext uri="{BB962C8B-B14F-4D97-AF65-F5344CB8AC3E}">
        <p14:creationId xmlns:p14="http://schemas.microsoft.com/office/powerpoint/2010/main" val="216172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4"/>
                    </p:tgtEl>
                  </p:cond>
                </p:stCondLst>
                <p:endSync evt="end" delay="0">
                  <p:rtn val="all"/>
                </p:endSync>
                <p:childTnLst>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3" grpId="0" animBg="1"/>
      <p:bldP spid="3"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8150-E2BB-D124-E558-AC8A265F32E2}"/>
              </a:ext>
            </a:extLst>
          </p:cNvPr>
          <p:cNvSpPr>
            <a:spLocks noGrp="1"/>
          </p:cNvSpPr>
          <p:nvPr>
            <p:ph type="ctrTitle"/>
          </p:nvPr>
        </p:nvSpPr>
        <p:spPr>
          <a:xfrm>
            <a:off x="0" y="2017477"/>
            <a:ext cx="12192000" cy="2387600"/>
          </a:xfrm>
        </p:spPr>
        <p:txBody>
          <a:bodyPr/>
          <a:lstStyle/>
          <a:p>
            <a:r>
              <a:rPr lang="en-GB" dirty="0">
                <a:latin typeface="Sassoon Infant Rg" panose="02000503030000020003" pitchFamily="2" charset="0"/>
              </a:rPr>
              <a:t>Being a Reader</a:t>
            </a:r>
          </a:p>
        </p:txBody>
      </p:sp>
      <p:grpSp>
        <p:nvGrpSpPr>
          <p:cNvPr id="4" name="Group 3">
            <a:extLst>
              <a:ext uri="{FF2B5EF4-FFF2-40B4-BE49-F238E27FC236}">
                <a16:creationId xmlns:a16="http://schemas.microsoft.com/office/drawing/2014/main" id="{5F3F8467-5724-D86C-FDA4-D49533DEC4F0}"/>
              </a:ext>
            </a:extLst>
          </p:cNvPr>
          <p:cNvGrpSpPr/>
          <p:nvPr/>
        </p:nvGrpSpPr>
        <p:grpSpPr>
          <a:xfrm>
            <a:off x="4568895" y="211840"/>
            <a:ext cx="3039122" cy="3522775"/>
            <a:chOff x="7629233" y="677174"/>
            <a:chExt cx="2090136" cy="2455590"/>
          </a:xfrm>
        </p:grpSpPr>
        <p:pic>
          <p:nvPicPr>
            <p:cNvPr id="5" name="Picture 8" descr="Reading Icon 2954745">
              <a:extLst>
                <a:ext uri="{FF2B5EF4-FFF2-40B4-BE49-F238E27FC236}">
                  <a16:creationId xmlns:a16="http://schemas.microsoft.com/office/drawing/2014/main" id="{2B1C2540-38D6-7D21-7288-1F3B603531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9233" y="1184735"/>
              <a:ext cx="2090136" cy="19480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F3344A5-4924-D3BC-68C4-52E2EB3B6D6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6627" b="95181" l="4969" r="92547">
                          <a14:foregroundMark x1="43478" y1="94578" x2="43478" y2="94578"/>
                          <a14:foregroundMark x1="4969" y1="50602" x2="4969" y2="50602"/>
                          <a14:foregroundMark x1="16770" y1="19277" x2="16770" y2="19277"/>
                          <a14:foregroundMark x1="49689" y1="8434" x2="49689" y2="8434"/>
                          <a14:foregroundMark x1="80124" y1="19277" x2="80124" y2="19277"/>
                          <a14:foregroundMark x1="56522" y1="95783" x2="56522" y2="95783"/>
                          <a14:foregroundMark x1="89441" y1="49398" x2="89441" y2="49398"/>
                          <a14:foregroundMark x1="49689" y1="6627" x2="49689" y2="6627"/>
                          <a14:foregroundMark x1="92547" y1="49398" x2="92547" y2="49398"/>
                        </a14:backgroundRemoval>
                      </a14:imgEffect>
                    </a14:imgLayer>
                  </a14:imgProps>
                </a:ext>
              </a:extLst>
            </a:blip>
            <a:stretch>
              <a:fillRect/>
            </a:stretch>
          </p:blipFill>
          <p:spPr>
            <a:xfrm>
              <a:off x="8856582" y="677174"/>
              <a:ext cx="716760" cy="688774"/>
            </a:xfrm>
            <a:prstGeom prst="rect">
              <a:avLst/>
            </a:prstGeom>
          </p:spPr>
        </p:pic>
      </p:grpSp>
      <p:sp>
        <p:nvSpPr>
          <p:cNvPr id="3" name="TextBox 2">
            <a:extLst>
              <a:ext uri="{FF2B5EF4-FFF2-40B4-BE49-F238E27FC236}">
                <a16:creationId xmlns:a16="http://schemas.microsoft.com/office/drawing/2014/main" id="{9AA1DE16-8C7B-4868-2DE3-9C9C7D7D4324}"/>
              </a:ext>
            </a:extLst>
          </p:cNvPr>
          <p:cNvSpPr txBox="1"/>
          <p:nvPr/>
        </p:nvSpPr>
        <p:spPr>
          <a:xfrm>
            <a:off x="0" y="4552141"/>
            <a:ext cx="12192000" cy="707886"/>
          </a:xfrm>
          <a:prstGeom prst="rect">
            <a:avLst/>
          </a:prstGeom>
          <a:noFill/>
        </p:spPr>
        <p:txBody>
          <a:bodyPr wrap="square" rtlCol="0">
            <a:spAutoFit/>
          </a:bodyPr>
          <a:lstStyle/>
          <a:p>
            <a:pPr algn="ctr"/>
            <a:r>
              <a:rPr lang="en-GB" sz="4000" dirty="0"/>
              <a:t>Inference</a:t>
            </a:r>
            <a:endParaRPr lang="en-GB" dirty="0"/>
          </a:p>
        </p:txBody>
      </p:sp>
      <p:sp>
        <p:nvSpPr>
          <p:cNvPr id="6" name="TextBox 5">
            <a:extLst>
              <a:ext uri="{FF2B5EF4-FFF2-40B4-BE49-F238E27FC236}">
                <a16:creationId xmlns:a16="http://schemas.microsoft.com/office/drawing/2014/main" id="{2B18F8C8-4B63-E425-87CE-D13C91BCA056}"/>
              </a:ext>
            </a:extLst>
          </p:cNvPr>
          <p:cNvSpPr txBox="1"/>
          <p:nvPr/>
        </p:nvSpPr>
        <p:spPr>
          <a:xfrm>
            <a:off x="4423577" y="5199610"/>
            <a:ext cx="3329758" cy="1446550"/>
          </a:xfrm>
          <a:prstGeom prst="rect">
            <a:avLst/>
          </a:prstGeom>
          <a:noFill/>
        </p:spPr>
        <p:txBody>
          <a:bodyPr wrap="none" rtlCol="0" anchor="ctr">
            <a:spAutoFit/>
          </a:bodyPr>
          <a:lstStyle/>
          <a:p>
            <a:pPr algn="ctr"/>
            <a:r>
              <a:rPr lang="en-GB" sz="8800" dirty="0"/>
              <a:t>Friday</a:t>
            </a:r>
          </a:p>
        </p:txBody>
      </p:sp>
    </p:spTree>
    <p:extLst>
      <p:ext uri="{BB962C8B-B14F-4D97-AF65-F5344CB8AC3E}">
        <p14:creationId xmlns:p14="http://schemas.microsoft.com/office/powerpoint/2010/main" val="33036935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4ACEAB2A-6943-1061-22CF-9EC0847829D7}"/>
              </a:ext>
            </a:extLst>
          </p:cNvPr>
          <p:cNvSpPr/>
          <p:nvPr/>
        </p:nvSpPr>
        <p:spPr>
          <a:xfrm>
            <a:off x="6476397" y="19821"/>
            <a:ext cx="5576138" cy="6818358"/>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D9DEE78A-07A9-5FF3-9D78-C0D9D21EEFB2}"/>
              </a:ext>
            </a:extLst>
          </p:cNvPr>
          <p:cNvSpPr txBox="1"/>
          <p:nvPr/>
        </p:nvSpPr>
        <p:spPr>
          <a:xfrm>
            <a:off x="6786658" y="-9273"/>
            <a:ext cx="4833400" cy="684803"/>
          </a:xfrm>
          <a:prstGeom prst="rect">
            <a:avLst/>
          </a:prstGeom>
          <a:noFill/>
        </p:spPr>
        <p:txBody>
          <a:bodyPr wrap="square" rtlCol="0">
            <a:spAutoFit/>
          </a:bodyPr>
          <a:lstStyle/>
          <a:p>
            <a:pPr algn="ctr">
              <a:lnSpc>
                <a:spcPct val="150000"/>
              </a:lnSpc>
            </a:pPr>
            <a:r>
              <a:rPr lang="en-GB" sz="2800" b="1" u="sng">
                <a:solidFill>
                  <a:schemeClr val="tx1"/>
                </a:solidFill>
                <a:latin typeface="Sassoon Infant Rg" panose="02000503030000020003" pitchFamily="2" charset="0"/>
                <a:ea typeface="Sassoon Infant Rg" panose="02000503030000020003" pitchFamily="2" charset="0"/>
              </a:rPr>
              <a:t>Why do we learn to read?</a:t>
            </a:r>
          </a:p>
        </p:txBody>
      </p:sp>
      <p:sp>
        <p:nvSpPr>
          <p:cNvPr id="11" name="TextBox 10">
            <a:extLst>
              <a:ext uri="{FF2B5EF4-FFF2-40B4-BE49-F238E27FC236}">
                <a16:creationId xmlns:a16="http://schemas.microsoft.com/office/drawing/2014/main" id="{16D2B17F-CF26-33D2-B6F6-70299CA1A763}"/>
              </a:ext>
            </a:extLst>
          </p:cNvPr>
          <p:cNvSpPr txBox="1"/>
          <p:nvPr/>
        </p:nvSpPr>
        <p:spPr>
          <a:xfrm>
            <a:off x="8246543" y="848912"/>
            <a:ext cx="3654961" cy="263149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 xml:space="preserve">Reading makes me </a:t>
            </a:r>
            <a:r>
              <a:rPr lang="en-GB" sz="3200" b="1">
                <a:solidFill>
                  <a:schemeClr val="tx1"/>
                </a:solidFill>
                <a:latin typeface="Sassoon Infant Rg" panose="02000503030000020003" pitchFamily="2" charset="0"/>
                <a:ea typeface="Sassoon Infant Rg" panose="02000503030000020003" pitchFamily="2" charset="0"/>
              </a:rPr>
              <a:t>powerful</a:t>
            </a:r>
            <a:r>
              <a:rPr lang="en-GB" sz="2400">
                <a:solidFill>
                  <a:schemeClr val="tx1"/>
                </a:solidFill>
                <a:latin typeface="Sassoon Infant Rg" panose="02000503030000020003" pitchFamily="2" charset="0"/>
                <a:ea typeface="Sassoon Infant Rg" panose="02000503030000020003" pitchFamily="2" charset="0"/>
              </a:rPr>
              <a:t xml:space="preserve"> because it helps me to </a:t>
            </a:r>
            <a:r>
              <a:rPr lang="en-GB" sz="3200" b="1">
                <a:solidFill>
                  <a:schemeClr val="tx1"/>
                </a:solidFill>
                <a:latin typeface="Sassoon Infant Rg" panose="02000503030000020003" pitchFamily="2" charset="0"/>
                <a:ea typeface="Sassoon Infant Rg" panose="02000503030000020003" pitchFamily="2" charset="0"/>
              </a:rPr>
              <a:t>understand</a:t>
            </a:r>
            <a:r>
              <a:rPr lang="en-GB" sz="2400">
                <a:solidFill>
                  <a:schemeClr val="tx1"/>
                </a:solidFill>
                <a:latin typeface="Sassoon Infant Rg" panose="02000503030000020003" pitchFamily="2" charset="0"/>
                <a:ea typeface="Sassoon Infant Rg" panose="02000503030000020003" pitchFamily="2" charset="0"/>
              </a:rPr>
              <a:t xml:space="preserve"> the world around me.</a:t>
            </a:r>
          </a:p>
        </p:txBody>
      </p:sp>
      <p:pic>
        <p:nvPicPr>
          <p:cNvPr id="7" name="Picture 6">
            <a:extLst>
              <a:ext uri="{FF2B5EF4-FFF2-40B4-BE49-F238E27FC236}">
                <a16:creationId xmlns:a16="http://schemas.microsoft.com/office/drawing/2014/main" id="{3DF6A32D-163D-40C2-BACF-C964E0035D2E}"/>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6896058" y="1151805"/>
            <a:ext cx="1350486" cy="1656373"/>
          </a:xfrm>
          <a:prstGeom prst="rect">
            <a:avLst/>
          </a:prstGeom>
        </p:spPr>
      </p:pic>
      <p:pic>
        <p:nvPicPr>
          <p:cNvPr id="12" name="Picture 11">
            <a:extLst>
              <a:ext uri="{FF2B5EF4-FFF2-40B4-BE49-F238E27FC236}">
                <a16:creationId xmlns:a16="http://schemas.microsoft.com/office/drawing/2014/main" id="{A25D9A8A-09E0-BBBE-0C18-2E1880E52773}"/>
              </a:ext>
            </a:extLst>
          </p:cNvPr>
          <p:cNvPicPr>
            <a:picLocks noChangeAspect="1"/>
          </p:cNvPicPr>
          <p:nvPr/>
        </p:nvPicPr>
        <p:blipFill rotWithShape="1">
          <a:blip r:embed="rId5">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650071" y="4324983"/>
            <a:ext cx="1251434" cy="1786987"/>
          </a:xfrm>
          <a:prstGeom prst="rect">
            <a:avLst/>
          </a:prstGeom>
        </p:spPr>
      </p:pic>
      <p:sp>
        <p:nvSpPr>
          <p:cNvPr id="14" name="TextBox 13">
            <a:extLst>
              <a:ext uri="{FF2B5EF4-FFF2-40B4-BE49-F238E27FC236}">
                <a16:creationId xmlns:a16="http://schemas.microsoft.com/office/drawing/2014/main" id="{950C5C2B-42CC-39EC-6847-EE394E29BB3C}"/>
              </a:ext>
            </a:extLst>
          </p:cNvPr>
          <p:cNvSpPr txBox="1"/>
          <p:nvPr/>
        </p:nvSpPr>
        <p:spPr>
          <a:xfrm>
            <a:off x="6786658" y="4022091"/>
            <a:ext cx="3863413" cy="1708160"/>
          </a:xfrm>
          <a:prstGeom prst="rect">
            <a:avLst/>
          </a:prstGeom>
          <a:noFill/>
        </p:spPr>
        <p:txBody>
          <a:bodyPr wrap="square">
            <a:spAutoFit/>
          </a:bodyPr>
          <a:lstStyle/>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At Wallscourt Farm Academy:</a:t>
            </a:r>
          </a:p>
          <a:p>
            <a:pPr algn="ctr">
              <a:lnSpc>
                <a:spcPct val="150000"/>
              </a:lnSpc>
            </a:pPr>
            <a:r>
              <a:rPr lang="en-GB" sz="2400">
                <a:solidFill>
                  <a:schemeClr val="tx1"/>
                </a:solidFill>
                <a:latin typeface="Sassoon Infant Rg" panose="02000503030000020003" pitchFamily="2" charset="0"/>
                <a:ea typeface="Sassoon Infant Rg" panose="02000503030000020003" pitchFamily="2" charset="0"/>
              </a:rPr>
              <a:t xml:space="preserve">We love to read, learn to read and read to learn! </a:t>
            </a:r>
          </a:p>
        </p:txBody>
      </p:sp>
      <p:pic>
        <p:nvPicPr>
          <p:cNvPr id="3" name="Picture 2">
            <a:extLst>
              <a:ext uri="{FF2B5EF4-FFF2-40B4-BE49-F238E27FC236}">
                <a16:creationId xmlns:a16="http://schemas.microsoft.com/office/drawing/2014/main" id="{121AB0E8-B43D-DFDE-C896-2046E6E618BA}"/>
              </a:ext>
            </a:extLst>
          </p:cNvPr>
          <p:cNvPicPr>
            <a:picLocks noChangeAspect="1"/>
          </p:cNvPicPr>
          <p:nvPr/>
        </p:nvPicPr>
        <p:blipFill>
          <a:blip r:embed="rId6"/>
          <a:stretch>
            <a:fillRect/>
          </a:stretch>
        </p:blipFill>
        <p:spPr>
          <a:xfrm>
            <a:off x="631179" y="568742"/>
            <a:ext cx="5645882" cy="5654149"/>
          </a:xfrm>
          <a:prstGeom prst="roundRect">
            <a:avLst>
              <a:gd name="adj" fmla="val 8594"/>
            </a:avLst>
          </a:prstGeom>
          <a:solidFill>
            <a:srgbClr val="FFFFFF">
              <a:shade val="85000"/>
            </a:srgbClr>
          </a:solidFill>
          <a:ln>
            <a:noFill/>
          </a:ln>
          <a:effectLst/>
        </p:spPr>
      </p:pic>
    </p:spTree>
    <p:extLst>
      <p:ext uri="{BB962C8B-B14F-4D97-AF65-F5344CB8AC3E}">
        <p14:creationId xmlns:p14="http://schemas.microsoft.com/office/powerpoint/2010/main" val="285578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3C5AD-3309-A9A5-F848-B93CB7BC5FD5}"/>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B9D8A55-04E7-0528-A165-9FB98DB89054}"/>
              </a:ext>
            </a:extLst>
          </p:cNvPr>
          <p:cNvPicPr>
            <a:picLocks noChangeAspect="1"/>
          </p:cNvPicPr>
          <p:nvPr/>
        </p:nvPicPr>
        <p:blipFill>
          <a:blip r:embed="rId3"/>
          <a:stretch>
            <a:fillRect/>
          </a:stretch>
        </p:blipFill>
        <p:spPr>
          <a:xfrm>
            <a:off x="10424916" y="134700"/>
            <a:ext cx="1616752" cy="697982"/>
          </a:xfrm>
          <a:prstGeom prst="rect">
            <a:avLst/>
          </a:prstGeom>
        </p:spPr>
      </p:pic>
      <p:grpSp>
        <p:nvGrpSpPr>
          <p:cNvPr id="9" name="Group 8">
            <a:extLst>
              <a:ext uri="{FF2B5EF4-FFF2-40B4-BE49-F238E27FC236}">
                <a16:creationId xmlns:a16="http://schemas.microsoft.com/office/drawing/2014/main" id="{2E1FDC99-0FE5-B42D-815D-42276802132E}"/>
              </a:ext>
            </a:extLst>
          </p:cNvPr>
          <p:cNvGrpSpPr/>
          <p:nvPr/>
        </p:nvGrpSpPr>
        <p:grpSpPr>
          <a:xfrm>
            <a:off x="292072" y="239667"/>
            <a:ext cx="1145637" cy="1145637"/>
            <a:chOff x="5180554" y="1026138"/>
            <a:chExt cx="1316831" cy="1316831"/>
          </a:xfrm>
        </p:grpSpPr>
        <p:sp>
          <p:nvSpPr>
            <p:cNvPr id="10" name="Oval 9">
              <a:extLst>
                <a:ext uri="{FF2B5EF4-FFF2-40B4-BE49-F238E27FC236}">
                  <a16:creationId xmlns:a16="http://schemas.microsoft.com/office/drawing/2014/main" id="{1E5DC868-7EB8-4F7D-7DAE-A2A8DBE0A20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2" name="Oval 4">
              <a:extLst>
                <a:ext uri="{FF2B5EF4-FFF2-40B4-BE49-F238E27FC236}">
                  <a16:creationId xmlns:a16="http://schemas.microsoft.com/office/drawing/2014/main" id="{DACB8AB4-1258-EA30-31A5-77EEA5A000F2}"/>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4" name="Title 1">
            <a:extLst>
              <a:ext uri="{FF2B5EF4-FFF2-40B4-BE49-F238E27FC236}">
                <a16:creationId xmlns:a16="http://schemas.microsoft.com/office/drawing/2014/main" id="{659AE26C-55EC-A139-FEFB-5E8B79ECFD3A}"/>
              </a:ext>
            </a:extLst>
          </p:cNvPr>
          <p:cNvSpPr txBox="1">
            <a:spLocks/>
          </p:cNvSpPr>
          <p:nvPr/>
        </p:nvSpPr>
        <p:spPr>
          <a:xfrm>
            <a:off x="-253388" y="85619"/>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Vocabulary Focus</a:t>
            </a:r>
          </a:p>
        </p:txBody>
      </p:sp>
      <p:sp>
        <p:nvSpPr>
          <p:cNvPr id="15" name="TextBox 14">
            <a:extLst>
              <a:ext uri="{FF2B5EF4-FFF2-40B4-BE49-F238E27FC236}">
                <a16:creationId xmlns:a16="http://schemas.microsoft.com/office/drawing/2014/main" id="{086FA3C6-53FE-7451-6D4F-7009D38010D4}"/>
              </a:ext>
            </a:extLst>
          </p:cNvPr>
          <p:cNvSpPr txBox="1"/>
          <p:nvPr/>
        </p:nvSpPr>
        <p:spPr>
          <a:xfrm>
            <a:off x="2442576" y="1217529"/>
            <a:ext cx="7503292" cy="646331"/>
          </a:xfrm>
          <a:prstGeom prst="rect">
            <a:avLst/>
          </a:prstGeom>
          <a:noFill/>
        </p:spPr>
        <p:txBody>
          <a:bodyPr wrap="square" rtlCol="0">
            <a:spAutoFit/>
          </a:bodyPr>
          <a:lstStyle/>
          <a:p>
            <a:r>
              <a:rPr lang="en-GB"/>
              <a:t>Are there any words you feel confident to explain the meaning of (definition)? Are there any where you are less confident?</a:t>
            </a:r>
          </a:p>
        </p:txBody>
      </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9F75FCCA-8003-024B-2B29-0EDF6D801F3D}"/>
                  </a:ext>
                </a:extLst>
              </p14:cNvPr>
              <p14:cNvContentPartPr/>
              <p14:nvPr/>
            </p14:nvContentPartPr>
            <p14:xfrm>
              <a:off x="9034477" y="550400"/>
              <a:ext cx="360" cy="360"/>
            </p14:xfrm>
          </p:contentPart>
        </mc:Choice>
        <mc:Fallback xmlns="">
          <p:pic>
            <p:nvPicPr>
              <p:cNvPr id="3" name="Ink 2">
                <a:extLst>
                  <a:ext uri="{FF2B5EF4-FFF2-40B4-BE49-F238E27FC236}">
                    <a16:creationId xmlns:a16="http://schemas.microsoft.com/office/drawing/2014/main" id="{9F75FCCA-8003-024B-2B29-0EDF6D801F3D}"/>
                  </a:ext>
                </a:extLst>
              </p:cNvPr>
              <p:cNvPicPr/>
              <p:nvPr/>
            </p:nvPicPr>
            <p:blipFill>
              <a:blip r:embed="rId5"/>
              <a:stretch>
                <a:fillRect/>
              </a:stretch>
            </p:blipFill>
            <p:spPr>
              <a:xfrm>
                <a:off x="9025117" y="541040"/>
                <a:ext cx="19080" cy="19080"/>
              </a:xfrm>
              <a:prstGeom prst="rect">
                <a:avLst/>
              </a:prstGeom>
            </p:spPr>
          </p:pic>
        </mc:Fallback>
      </mc:AlternateContent>
      <p:graphicFrame>
        <p:nvGraphicFramePr>
          <p:cNvPr id="7" name="Table 6">
            <a:extLst>
              <a:ext uri="{FF2B5EF4-FFF2-40B4-BE49-F238E27FC236}">
                <a16:creationId xmlns:a16="http://schemas.microsoft.com/office/drawing/2014/main" id="{AD7A6C68-D614-2377-056B-781707D2F236}"/>
              </a:ext>
            </a:extLst>
          </p:cNvPr>
          <p:cNvGraphicFramePr>
            <a:graphicFrameLocks noGrp="1"/>
          </p:cNvGraphicFramePr>
          <p:nvPr/>
        </p:nvGraphicFramePr>
        <p:xfrm>
          <a:off x="647700" y="2173922"/>
          <a:ext cx="10663199" cy="3429000"/>
        </p:xfrm>
        <a:graphic>
          <a:graphicData uri="http://schemas.openxmlformats.org/drawingml/2006/table">
            <a:tbl>
              <a:tblPr>
                <a:tableStyleId>{5C22544A-7EE6-4342-B048-85BDC9FD1C3A}</a:tableStyleId>
              </a:tblPr>
              <a:tblGrid>
                <a:gridCol w="1638300">
                  <a:extLst>
                    <a:ext uri="{9D8B030D-6E8A-4147-A177-3AD203B41FA5}">
                      <a16:colId xmlns:a16="http://schemas.microsoft.com/office/drawing/2014/main" val="4160592141"/>
                    </a:ext>
                  </a:extLst>
                </a:gridCol>
                <a:gridCol w="9024899">
                  <a:extLst>
                    <a:ext uri="{9D8B030D-6E8A-4147-A177-3AD203B41FA5}">
                      <a16:colId xmlns:a16="http://schemas.microsoft.com/office/drawing/2014/main" val="3033414289"/>
                    </a:ext>
                  </a:extLst>
                </a:gridCol>
              </a:tblGrid>
              <a:tr h="685800">
                <a:tc>
                  <a:txBody>
                    <a:bodyPr/>
                    <a:lstStyle/>
                    <a:p>
                      <a:pPr algn="l" fontAlgn="b">
                        <a:buNone/>
                      </a:pPr>
                      <a:r>
                        <a:rPr lang="en-GB" sz="2000" b="0" i="0" u="none" strike="noStrike">
                          <a:solidFill>
                            <a:srgbClr val="000000"/>
                          </a:solidFill>
                          <a:effectLst/>
                          <a:latin typeface="Calibri" panose="020F0502020204030204" pitchFamily="34" charset="0"/>
                        </a:rPr>
                        <a:t>formal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following a fixed, serious style; not casual or conversational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441562"/>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technical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relating to the specific knowledge or language of a subject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4187290"/>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causal</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relating to or describing a cause; explaining why something happens</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7381064"/>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convey</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to communicate an idea or meaning clearly to someone else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0434475"/>
                  </a:ext>
                </a:extLst>
              </a:tr>
              <a:tr h="685800">
                <a:tc>
                  <a:txBody>
                    <a:bodyPr/>
                    <a:lstStyle/>
                    <a:p>
                      <a:pPr algn="l" fontAlgn="b">
                        <a:buNone/>
                      </a:pPr>
                      <a:r>
                        <a:rPr lang="en-GB" sz="2000" b="0" i="0" u="none" strike="noStrike">
                          <a:solidFill>
                            <a:srgbClr val="000000"/>
                          </a:solidFill>
                          <a:effectLst/>
                          <a:latin typeface="Calibri" panose="020F0502020204030204" pitchFamily="34" charset="0"/>
                        </a:rPr>
                        <a:t>purpose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GB" sz="2000" b="0" i="0" u="none" strike="noStrike">
                          <a:solidFill>
                            <a:srgbClr val="000000"/>
                          </a:solidFill>
                          <a:effectLst/>
                          <a:latin typeface="Calibri" panose="020F0502020204030204" pitchFamily="34" charset="0"/>
                        </a:rPr>
                        <a:t>the reason for doing something; the aim or intention behind it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865700"/>
                  </a:ext>
                </a:extLst>
              </a:tr>
            </a:tbl>
          </a:graphicData>
        </a:graphic>
      </p:graphicFrame>
      <p:sp>
        <p:nvSpPr>
          <p:cNvPr id="16" name="Rectangle 15">
            <a:extLst>
              <a:ext uri="{FF2B5EF4-FFF2-40B4-BE49-F238E27FC236}">
                <a16:creationId xmlns:a16="http://schemas.microsoft.com/office/drawing/2014/main" id="{114E80EC-EDEA-A9B8-0AA7-BDF4DBA738D9}"/>
              </a:ext>
            </a:extLst>
          </p:cNvPr>
          <p:cNvSpPr/>
          <p:nvPr/>
        </p:nvSpPr>
        <p:spPr>
          <a:xfrm>
            <a:off x="2312410" y="21739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3" name="Rectangle 12">
            <a:extLst>
              <a:ext uri="{FF2B5EF4-FFF2-40B4-BE49-F238E27FC236}">
                <a16:creationId xmlns:a16="http://schemas.microsoft.com/office/drawing/2014/main" id="{2CF9C0CB-B38A-8B6C-0680-46BD300AE1DC}"/>
              </a:ext>
            </a:extLst>
          </p:cNvPr>
          <p:cNvSpPr/>
          <p:nvPr/>
        </p:nvSpPr>
        <p:spPr>
          <a:xfrm>
            <a:off x="2312410" y="28597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7" name="Rectangle 16">
            <a:extLst>
              <a:ext uri="{FF2B5EF4-FFF2-40B4-BE49-F238E27FC236}">
                <a16:creationId xmlns:a16="http://schemas.microsoft.com/office/drawing/2014/main" id="{4BF34747-0A22-7E80-CA39-94571BB7D672}"/>
              </a:ext>
            </a:extLst>
          </p:cNvPr>
          <p:cNvSpPr/>
          <p:nvPr/>
        </p:nvSpPr>
        <p:spPr>
          <a:xfrm>
            <a:off x="2312410" y="35455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8" name="Rectangle 17">
            <a:extLst>
              <a:ext uri="{FF2B5EF4-FFF2-40B4-BE49-F238E27FC236}">
                <a16:creationId xmlns:a16="http://schemas.microsoft.com/office/drawing/2014/main" id="{FB910803-A54A-5B45-8345-8FFD7AC1C67C}"/>
              </a:ext>
            </a:extLst>
          </p:cNvPr>
          <p:cNvSpPr/>
          <p:nvPr/>
        </p:nvSpPr>
        <p:spPr>
          <a:xfrm>
            <a:off x="2312410" y="42313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
        <p:nvSpPr>
          <p:cNvPr id="19" name="Rectangle 18">
            <a:extLst>
              <a:ext uri="{FF2B5EF4-FFF2-40B4-BE49-F238E27FC236}">
                <a16:creationId xmlns:a16="http://schemas.microsoft.com/office/drawing/2014/main" id="{DB05B3E1-CB09-5A78-B03C-31610DE59A67}"/>
              </a:ext>
            </a:extLst>
          </p:cNvPr>
          <p:cNvSpPr/>
          <p:nvPr/>
        </p:nvSpPr>
        <p:spPr>
          <a:xfrm>
            <a:off x="2312410" y="4917122"/>
            <a:ext cx="8985789" cy="68580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a:t>?</a:t>
            </a:r>
          </a:p>
        </p:txBody>
      </p:sp>
    </p:spTree>
    <p:extLst>
      <p:ext uri="{BB962C8B-B14F-4D97-AF65-F5344CB8AC3E}">
        <p14:creationId xmlns:p14="http://schemas.microsoft.com/office/powerpoint/2010/main" val="328723345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hidden"/>
                                      </p:to>
                                    </p:set>
                                  </p:childTnLst>
                                </p:cTn>
                              </p:par>
                            </p:childTnLst>
                          </p:cTn>
                        </p:par>
                      </p:childTnLst>
                    </p:cTn>
                  </p:par>
                </p:childTnLst>
              </p:cTn>
              <p:nextCondLst>
                <p:cond evt="onClick" delay="0">
                  <p:tgtEl>
                    <p:spTgt spid="16"/>
                  </p:tgtEl>
                </p:cond>
              </p:nextCondLst>
            </p:seq>
            <p:seq concurrent="1" nextAc="seek">
              <p:cTn id="7" restart="whenNotActive" fill="hold" evtFilter="cancelBubble" nodeType="interactiveSeq">
                <p:stCondLst>
                  <p:cond evt="onClick" delay="0">
                    <p:tgtEl>
                      <p:spTgt spid="13"/>
                    </p:tgtEl>
                  </p:cond>
                </p:stCondLst>
                <p:endSync evt="end" delay="0">
                  <p:rtn val="all"/>
                </p:endSync>
                <p:childTnLst>
                  <p:par>
                    <p:cTn id="8" fill="hold">
                      <p:stCondLst>
                        <p:cond delay="0"/>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hidden"/>
                                      </p:to>
                                    </p:set>
                                  </p:childTnLst>
                                </p:cTn>
                              </p:par>
                            </p:childTnLst>
                          </p:cTn>
                        </p:par>
                      </p:childTnLst>
                    </p:cTn>
                  </p:par>
                </p:childTnLst>
              </p:cTn>
              <p:nextCondLst>
                <p:cond evt="onClick" delay="0">
                  <p:tgtEl>
                    <p:spTgt spid="13"/>
                  </p:tgtEl>
                </p:cond>
              </p:nextCondLst>
            </p:seq>
            <p:seq concurrent="1" nextAc="seek">
              <p:cTn id="12" restart="whenNotActive" fill="hold" evtFilter="cancelBubble" nodeType="interactiveSeq">
                <p:stCondLst>
                  <p:cond evt="onClick" delay="0">
                    <p:tgtEl>
                      <p:spTgt spid="17"/>
                    </p:tgtEl>
                  </p:cond>
                </p:stCondLst>
                <p:endSync evt="end" delay="0">
                  <p:rtn val="all"/>
                </p:endSync>
                <p:childTnLst>
                  <p:par>
                    <p:cTn id="13" fill="hold">
                      <p:stCondLst>
                        <p:cond delay="0"/>
                      </p:stCondLst>
                      <p:childTnLst>
                        <p:par>
                          <p:cTn id="14" fill="hold">
                            <p:stCondLst>
                              <p:cond delay="0"/>
                            </p:stCondLst>
                            <p:childTnLst>
                              <p:par>
                                <p:cTn id="15" presetID="1" presetClass="exit"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17" restart="whenNotActive" fill="hold" evtFilter="cancelBubble" nodeType="interactiveSeq">
                <p:stCondLst>
                  <p:cond evt="onClick" delay="0">
                    <p:tgtEl>
                      <p:spTgt spid="18"/>
                    </p:tgtEl>
                  </p:cond>
                </p:stCondLst>
                <p:endSync evt="end" delay="0">
                  <p:rtn val="all"/>
                </p:endSync>
                <p:childTnLst>
                  <p:par>
                    <p:cTn id="18" fill="hold">
                      <p:stCondLst>
                        <p:cond delay="0"/>
                      </p:stCondLst>
                      <p:childTnLst>
                        <p:par>
                          <p:cTn id="19" fill="hold">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22" restart="whenNotActive" fill="hold" evtFilter="cancelBubble" nodeType="interactiveSeq">
                <p:stCondLst>
                  <p:cond evt="onClick" delay="0">
                    <p:tgtEl>
                      <p:spTgt spid="19"/>
                    </p:tgtEl>
                  </p:cond>
                </p:stCondLst>
                <p:endSync evt="end" delay="0">
                  <p:rtn val="all"/>
                </p:endSync>
                <p:childTnLst>
                  <p:par>
                    <p:cTn id="23" fill="hold">
                      <p:stCondLst>
                        <p:cond delay="0"/>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childTnLst>
        </p:cTn>
      </p:par>
    </p:tnLst>
    <p:bldLst>
      <p:bldP spid="16" grpId="0" animBg="1"/>
      <p:bldP spid="13" grpId="0" animBg="1"/>
      <p:bldP spid="17" grpId="0" animBg="1"/>
      <p:bldP spid="18" grpId="0" animBg="1"/>
      <p:bldP spid="1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C497C-5676-F0CE-9C15-81908FA1F348}"/>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7DCBDDC3-E8B4-5DB7-95EB-E4EB767438DF}"/>
              </a:ext>
            </a:extLst>
          </p:cNvPr>
          <p:cNvGrpSpPr/>
          <p:nvPr/>
        </p:nvGrpSpPr>
        <p:grpSpPr>
          <a:xfrm>
            <a:off x="38684" y="68473"/>
            <a:ext cx="1316831" cy="1316831"/>
            <a:chOff x="5180554" y="1026138"/>
            <a:chExt cx="1316831" cy="1316831"/>
          </a:xfrm>
        </p:grpSpPr>
        <p:sp>
          <p:nvSpPr>
            <p:cNvPr id="4" name="Oval 3">
              <a:extLst>
                <a:ext uri="{FF2B5EF4-FFF2-40B4-BE49-F238E27FC236}">
                  <a16:creationId xmlns:a16="http://schemas.microsoft.com/office/drawing/2014/main" id="{4D7EC211-6C19-B85F-7D0D-25A8FEEA3637}"/>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6" name="Oval 4">
              <a:extLst>
                <a:ext uri="{FF2B5EF4-FFF2-40B4-BE49-F238E27FC236}">
                  <a16:creationId xmlns:a16="http://schemas.microsoft.com/office/drawing/2014/main" id="{6358CBDE-7D41-F226-3072-41F208B4D98A}"/>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
        <p:nvSpPr>
          <p:cNvPr id="13" name="Title 1">
            <a:extLst>
              <a:ext uri="{FF2B5EF4-FFF2-40B4-BE49-F238E27FC236}">
                <a16:creationId xmlns:a16="http://schemas.microsoft.com/office/drawing/2014/main" id="{9CDE4E57-6664-84F7-C8E9-8F4381A4D091}"/>
              </a:ext>
            </a:extLst>
          </p:cNvPr>
          <p:cNvSpPr txBox="1">
            <a:spLocks/>
          </p:cNvSpPr>
          <p:nvPr/>
        </p:nvSpPr>
        <p:spPr>
          <a:xfrm>
            <a:off x="2535882" y="918780"/>
            <a:ext cx="55592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GB" sz="2800"/>
          </a:p>
        </p:txBody>
      </p:sp>
      <p:sp>
        <p:nvSpPr>
          <p:cNvPr id="3" name="Title 1">
            <a:extLst>
              <a:ext uri="{FF2B5EF4-FFF2-40B4-BE49-F238E27FC236}">
                <a16:creationId xmlns:a16="http://schemas.microsoft.com/office/drawing/2014/main" id="{3B86A135-C8BF-2285-F3AA-0B4C5706CE90}"/>
              </a:ext>
            </a:extLst>
          </p:cNvPr>
          <p:cNvSpPr txBox="1">
            <a:spLocks/>
          </p:cNvSpPr>
          <p:nvPr/>
        </p:nvSpPr>
        <p:spPr>
          <a:xfrm>
            <a:off x="0" y="85619"/>
            <a:ext cx="12192000" cy="1498214"/>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50000"/>
              </a:lnSpc>
            </a:pPr>
            <a:r>
              <a:rPr lang="en-GB" sz="4000"/>
              <a:t>Vocabulary Focus</a:t>
            </a:r>
          </a:p>
        </p:txBody>
      </p:sp>
      <p:sp>
        <p:nvSpPr>
          <p:cNvPr id="7" name="Title 1">
            <a:extLst>
              <a:ext uri="{FF2B5EF4-FFF2-40B4-BE49-F238E27FC236}">
                <a16:creationId xmlns:a16="http://schemas.microsoft.com/office/drawing/2014/main" id="{07FF75F1-41FF-EEA3-B802-ED64112A7D02}"/>
              </a:ext>
            </a:extLst>
          </p:cNvPr>
          <p:cNvSpPr txBox="1">
            <a:spLocks/>
          </p:cNvSpPr>
          <p:nvPr/>
        </p:nvSpPr>
        <p:spPr>
          <a:xfrm>
            <a:off x="5590032" y="604264"/>
            <a:ext cx="1873406" cy="9795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GB" sz="4000" b="1"/>
          </a:p>
        </p:txBody>
      </p:sp>
      <p:graphicFrame>
        <p:nvGraphicFramePr>
          <p:cNvPr id="9" name="Table 8">
            <a:extLst>
              <a:ext uri="{FF2B5EF4-FFF2-40B4-BE49-F238E27FC236}">
                <a16:creationId xmlns:a16="http://schemas.microsoft.com/office/drawing/2014/main" id="{98F68A2F-1F77-2878-BCF5-883045F28026}"/>
              </a:ext>
            </a:extLst>
          </p:cNvPr>
          <p:cNvGraphicFramePr>
            <a:graphicFrameLocks noGrp="1"/>
          </p:cNvGraphicFramePr>
          <p:nvPr/>
        </p:nvGraphicFramePr>
        <p:xfrm>
          <a:off x="2032000" y="1727002"/>
          <a:ext cx="8128000" cy="4922852"/>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811326830"/>
                    </a:ext>
                  </a:extLst>
                </a:gridCol>
                <a:gridCol w="4064000">
                  <a:extLst>
                    <a:ext uri="{9D8B030D-6E8A-4147-A177-3AD203B41FA5}">
                      <a16:colId xmlns:a16="http://schemas.microsoft.com/office/drawing/2014/main" val="773647625"/>
                    </a:ext>
                  </a:extLst>
                </a:gridCol>
              </a:tblGrid>
              <a:tr h="2461426">
                <a:tc>
                  <a:txBody>
                    <a:bodyPr/>
                    <a:lstStyle/>
                    <a:p>
                      <a:r>
                        <a:rPr lang="en-GB" b="0">
                          <a:solidFill>
                            <a:schemeClr val="tx1"/>
                          </a:solidFill>
                        </a:rPr>
                        <a:t>Write it 5 times</a:t>
                      </a:r>
                    </a:p>
                    <a:p>
                      <a:endParaRPr lang="en-GB" b="0">
                        <a:solidFill>
                          <a:schemeClr val="tx1"/>
                        </a:solidFill>
                      </a:endParaRPr>
                    </a:p>
                    <a:p>
                      <a:pPr algn="ctr"/>
                      <a:r>
                        <a:rPr lang="en-GB" sz="3200" b="0">
                          <a:solidFill>
                            <a:schemeClr val="tx1"/>
                          </a:solidFill>
                          <a:latin typeface="XCCW Joined 4a" panose="03050602040000000000" pitchFamily="66" charset="77"/>
                        </a:rPr>
                        <a:t>formal</a:t>
                      </a:r>
                    </a:p>
                    <a:p>
                      <a:endParaRPr lang="en-GB" b="0">
                        <a:solidFill>
                          <a:schemeClr val="tx1"/>
                        </a:solidFill>
                        <a:latin typeface="XCCW Joined 4a" panose="03050602040000000000" pitchFamily="66" charset="77"/>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2400">
                          <a:solidFill>
                            <a:schemeClr val="tx1"/>
                          </a:solidFill>
                        </a:rPr>
                        <a:t>Use it in a sentence</a:t>
                      </a:r>
                    </a:p>
                    <a:p>
                      <a:endParaRPr lang="en-GB" sz="2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64313380"/>
                  </a:ext>
                </a:extLst>
              </a:tr>
              <a:tr h="2461426">
                <a:tc gridSpan="2">
                  <a:txBody>
                    <a:bodyPr/>
                    <a:lstStyle/>
                    <a:p>
                      <a:r>
                        <a:rPr lang="en-GB">
                          <a:solidFill>
                            <a:schemeClr val="tx1"/>
                          </a:solidFill>
                        </a:rPr>
                        <a:t>Other linked words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3729397"/>
                  </a:ext>
                </a:extLst>
              </a:tr>
            </a:tbl>
          </a:graphicData>
        </a:graphic>
      </p:graphicFrame>
      <p:pic>
        <p:nvPicPr>
          <p:cNvPr id="8" name="Picture 7">
            <a:extLst>
              <a:ext uri="{FF2B5EF4-FFF2-40B4-BE49-F238E27FC236}">
                <a16:creationId xmlns:a16="http://schemas.microsoft.com/office/drawing/2014/main" id="{755B9240-8989-B9DB-0B3B-B8D062E07BCE}"/>
              </a:ext>
            </a:extLst>
          </p:cNvPr>
          <p:cNvPicPr>
            <a:picLocks noChangeAspect="1"/>
          </p:cNvPicPr>
          <p:nvPr/>
        </p:nvPicPr>
        <p:blipFill>
          <a:blip r:embed="rId3"/>
          <a:stretch>
            <a:fillRect/>
          </a:stretch>
        </p:blipFill>
        <p:spPr>
          <a:xfrm>
            <a:off x="10424916" y="134700"/>
            <a:ext cx="1616752" cy="697982"/>
          </a:xfrm>
          <a:prstGeom prst="rect">
            <a:avLst/>
          </a:prstGeom>
        </p:spPr>
      </p:pic>
      <p:sp>
        <p:nvSpPr>
          <p:cNvPr id="5" name="TextBox 4">
            <a:extLst>
              <a:ext uri="{FF2B5EF4-FFF2-40B4-BE49-F238E27FC236}">
                <a16:creationId xmlns:a16="http://schemas.microsoft.com/office/drawing/2014/main" id="{7904627B-45D6-BE36-7042-C69B53AD1828}"/>
              </a:ext>
            </a:extLst>
          </p:cNvPr>
          <p:cNvSpPr txBox="1"/>
          <p:nvPr/>
        </p:nvSpPr>
        <p:spPr>
          <a:xfrm>
            <a:off x="4766154" y="5299847"/>
            <a:ext cx="2400000" cy="480000"/>
          </a:xfrm>
          <a:prstGeom prst="rect">
            <a:avLst/>
          </a:prstGeom>
          <a:noFill/>
        </p:spPr>
        <p:txBody>
          <a:bodyPr wrap="square" rtlCol="0" anchor="ctr"/>
          <a:lstStyle/>
          <a:p>
            <a:pPr algn="ctr"/>
            <a:r>
              <a:rPr lang="en-GB"/>
              <a:t>formal</a:t>
            </a:r>
          </a:p>
        </p:txBody>
      </p:sp>
      <p:cxnSp>
        <p:nvCxnSpPr>
          <p:cNvPr id="12" name="Straight Connector 11">
            <a:extLst>
              <a:ext uri="{FF2B5EF4-FFF2-40B4-BE49-F238E27FC236}">
                <a16:creationId xmlns:a16="http://schemas.microsoft.com/office/drawing/2014/main" id="{483F9876-11CA-68D4-B5B9-503CB1452DDF}"/>
              </a:ext>
            </a:extLst>
          </p:cNvPr>
          <p:cNvCxnSpPr/>
          <p:nvPr/>
        </p:nvCxnSpPr>
        <p:spPr>
          <a:xfrm flipV="1">
            <a:off x="6391527" y="4613658"/>
            <a:ext cx="807506" cy="7821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67DD069-433E-BF48-9167-8E5BCC114624}"/>
              </a:ext>
            </a:extLst>
          </p:cNvPr>
          <p:cNvCxnSpPr>
            <a:cxnSpLocks/>
          </p:cNvCxnSpPr>
          <p:nvPr/>
        </p:nvCxnSpPr>
        <p:spPr>
          <a:xfrm>
            <a:off x="6532910" y="5656722"/>
            <a:ext cx="930528" cy="2169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D37026A-B5E7-A43B-7015-F91BED67059F}"/>
              </a:ext>
            </a:extLst>
          </p:cNvPr>
          <p:cNvCxnSpPr>
            <a:cxnSpLocks/>
          </p:cNvCxnSpPr>
          <p:nvPr/>
        </p:nvCxnSpPr>
        <p:spPr>
          <a:xfrm flipV="1">
            <a:off x="4786339" y="5656722"/>
            <a:ext cx="791952" cy="56539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7576966-8817-48AF-F837-0832462F5E46}"/>
              </a:ext>
            </a:extLst>
          </p:cNvPr>
          <p:cNvCxnSpPr>
            <a:cxnSpLocks/>
          </p:cNvCxnSpPr>
          <p:nvPr/>
        </p:nvCxnSpPr>
        <p:spPr>
          <a:xfrm>
            <a:off x="4688753" y="5010683"/>
            <a:ext cx="852027" cy="38297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EE6038E-2E20-39E1-51AA-382FB77B2D40}"/>
              </a:ext>
            </a:extLst>
          </p:cNvPr>
          <p:cNvPicPr>
            <a:picLocks noChangeAspect="1"/>
          </p:cNvPicPr>
          <p:nvPr/>
        </p:nvPicPr>
        <p:blipFill>
          <a:blip r:embed="rId4"/>
          <a:stretch>
            <a:fillRect/>
          </a:stretch>
        </p:blipFill>
        <p:spPr>
          <a:xfrm>
            <a:off x="6502757" y="2982841"/>
            <a:ext cx="3184743" cy="794571"/>
          </a:xfrm>
          <a:prstGeom prst="rect">
            <a:avLst/>
          </a:prstGeom>
          <a:solidFill>
            <a:schemeClr val="bg1"/>
          </a:solidFill>
        </p:spPr>
      </p:pic>
    </p:spTree>
    <p:extLst>
      <p:ext uri="{BB962C8B-B14F-4D97-AF65-F5344CB8AC3E}">
        <p14:creationId xmlns:p14="http://schemas.microsoft.com/office/powerpoint/2010/main" val="3934231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7C8F1879-9C69-AABD-5D27-70A3FD61C54F}"/>
              </a:ext>
            </a:extLst>
          </p:cNvPr>
          <p:cNvGrpSpPr/>
          <p:nvPr/>
        </p:nvGrpSpPr>
        <p:grpSpPr>
          <a:xfrm>
            <a:off x="43957" y="90546"/>
            <a:ext cx="963274" cy="909579"/>
            <a:chOff x="1630613" y="1026138"/>
            <a:chExt cx="1316831" cy="1316831"/>
          </a:xfrm>
        </p:grpSpPr>
        <p:sp>
          <p:nvSpPr>
            <p:cNvPr id="4" name="Oval 3">
              <a:extLst>
                <a:ext uri="{FF2B5EF4-FFF2-40B4-BE49-F238E27FC236}">
                  <a16:creationId xmlns:a16="http://schemas.microsoft.com/office/drawing/2014/main" id="{C5A04DD0-FF30-895F-0ED9-888B47B1A02D}"/>
                </a:ext>
              </a:extLst>
            </p:cNvPr>
            <p:cNvSpPr/>
            <p:nvPr/>
          </p:nvSpPr>
          <p:spPr>
            <a:xfrm>
              <a:off x="1630613" y="1026138"/>
              <a:ext cx="1316831" cy="1316831"/>
            </a:xfrm>
            <a:prstGeom prst="ellipse">
              <a:avLst/>
            </a:prstGeom>
            <a:solidFill>
              <a:srgbClr val="A2CFFC"/>
            </a:solidFill>
            <a:ln w="38100">
              <a:solidFill>
                <a:srgbClr val="0762BA"/>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5" name="Oval 4">
              <a:extLst>
                <a:ext uri="{FF2B5EF4-FFF2-40B4-BE49-F238E27FC236}">
                  <a16:creationId xmlns:a16="http://schemas.microsoft.com/office/drawing/2014/main" id="{8EBD88F1-D64A-0A71-7434-4A250ABBD4E6}"/>
                </a:ext>
              </a:extLst>
            </p:cNvPr>
            <p:cNvSpPr txBox="1"/>
            <p:nvPr/>
          </p:nvSpPr>
          <p:spPr>
            <a:xfrm>
              <a:off x="1823458"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rmAutofit/>
            </a:bodyPr>
            <a:lstStyle/>
            <a:p>
              <a:pPr marL="0" lvl="0" indent="0" algn="ctr" defTabSz="577850">
                <a:lnSpc>
                  <a:spcPct val="90000"/>
                </a:lnSpc>
                <a:spcBef>
                  <a:spcPct val="0"/>
                </a:spcBef>
                <a:spcAft>
                  <a:spcPct val="35000"/>
                </a:spcAft>
                <a:buNone/>
              </a:pPr>
              <a:r>
                <a:rPr lang="en-GB" sz="1300" b="1" kern="1200">
                  <a:solidFill>
                    <a:srgbClr val="0762BA"/>
                  </a:solidFill>
                  <a:latin typeface="Sassoon Infant Rg" panose="02000503030000020003" pitchFamily="2" charset="0"/>
                  <a:ea typeface="Sassoon Infant Rg" panose="02000503030000020003" pitchFamily="2" charset="0"/>
                </a:rPr>
                <a:t>Decoding &amp; phonics</a:t>
              </a:r>
            </a:p>
          </p:txBody>
        </p:sp>
      </p:grpSp>
      <p:pic>
        <p:nvPicPr>
          <p:cNvPr id="11" name="Picture 10">
            <a:extLst>
              <a:ext uri="{FF2B5EF4-FFF2-40B4-BE49-F238E27FC236}">
                <a16:creationId xmlns:a16="http://schemas.microsoft.com/office/drawing/2014/main" id="{5B88EF2C-3893-9BD5-87F9-6BF0F699F9A5}"/>
              </a:ext>
            </a:extLst>
          </p:cNvPr>
          <p:cNvPicPr/>
          <p:nvPr/>
        </p:nvPicPr>
        <p:blipFill>
          <a:blip r:embed="rId3">
            <a:extLst>
              <a:ext uri="{28A0092B-C50C-407E-A947-70E740481C1C}">
                <a14:useLocalDpi xmlns:a14="http://schemas.microsoft.com/office/drawing/2010/main" val="0"/>
              </a:ext>
            </a:extLst>
          </a:blip>
          <a:stretch>
            <a:fillRect/>
          </a:stretch>
        </p:blipFill>
        <p:spPr>
          <a:xfrm>
            <a:off x="10539555" y="90546"/>
            <a:ext cx="1691129" cy="711848"/>
          </a:xfrm>
          <a:prstGeom prst="rect">
            <a:avLst/>
          </a:prstGeom>
        </p:spPr>
      </p:pic>
      <p:sp>
        <p:nvSpPr>
          <p:cNvPr id="12" name="Title 1">
            <a:extLst>
              <a:ext uri="{FF2B5EF4-FFF2-40B4-BE49-F238E27FC236}">
                <a16:creationId xmlns:a16="http://schemas.microsoft.com/office/drawing/2014/main" id="{D07968F0-1915-728F-1F6D-2CB9277677F6}"/>
              </a:ext>
            </a:extLst>
          </p:cNvPr>
          <p:cNvSpPr txBox="1">
            <a:spLocks/>
          </p:cNvSpPr>
          <p:nvPr/>
        </p:nvSpPr>
        <p:spPr>
          <a:xfrm>
            <a:off x="38684" y="-18063"/>
            <a:ext cx="12153316" cy="1299685"/>
          </a:xfrm>
          <a:prstGeom prst="rect">
            <a:avLst/>
          </a:prstGeom>
        </p:spPr>
        <p:txBody>
          <a:bodyPr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a:t>Independent Read</a:t>
            </a:r>
          </a:p>
        </p:txBody>
      </p:sp>
      <p:sp>
        <p:nvSpPr>
          <p:cNvPr id="22" name="TextBox 21">
            <a:extLst>
              <a:ext uri="{FF2B5EF4-FFF2-40B4-BE49-F238E27FC236}">
                <a16:creationId xmlns:a16="http://schemas.microsoft.com/office/drawing/2014/main" id="{BBE494B4-E4A1-C48A-15E2-3683EA0AD086}"/>
              </a:ext>
            </a:extLst>
          </p:cNvPr>
          <p:cNvSpPr txBox="1"/>
          <p:nvPr/>
        </p:nvSpPr>
        <p:spPr>
          <a:xfrm>
            <a:off x="1" y="931322"/>
            <a:ext cx="12191999" cy="830997"/>
          </a:xfrm>
          <a:prstGeom prst="rect">
            <a:avLst/>
          </a:prstGeom>
          <a:noFill/>
        </p:spPr>
        <p:txBody>
          <a:bodyPr wrap="square">
            <a:spAutoFit/>
          </a:bodyPr>
          <a:lstStyle/>
          <a:p>
            <a:pPr algn="ctr"/>
            <a:r>
              <a:rPr lang="en-GB" sz="1800" dirty="0">
                <a:effectLst/>
                <a:latin typeface="Sassoon Infant Rg" panose="02000503030000020003" pitchFamily="2" charset="0"/>
                <a:ea typeface="Sassoon Infant Rg" panose="02000503030000020003" pitchFamily="2" charset="0"/>
                <a:cs typeface="Times New Roman" panose="02020603050405020304" pitchFamily="18" charset="0"/>
              </a:rPr>
              <a:t xml:space="preserve">Read the complete text – underline any words or phrases you don’t understand.  Re-read full sentences for any parts you couldn’t read smoothly on the first attempt. </a:t>
            </a:r>
            <a:endParaRPr lang="en-GB" b="1" dirty="0"/>
          </a:p>
        </p:txBody>
      </p:sp>
      <p:sp>
        <p:nvSpPr>
          <p:cNvPr id="6" name="TextBox 5">
            <a:extLst>
              <a:ext uri="{FF2B5EF4-FFF2-40B4-BE49-F238E27FC236}">
                <a16:creationId xmlns:a16="http://schemas.microsoft.com/office/drawing/2014/main" id="{38C25E62-7AE0-A783-1D87-77105CAB659E}"/>
              </a:ext>
            </a:extLst>
          </p:cNvPr>
          <p:cNvSpPr txBox="1"/>
          <p:nvPr/>
        </p:nvSpPr>
        <p:spPr>
          <a:xfrm>
            <a:off x="2226896" y="3673314"/>
            <a:ext cx="7629665" cy="2308324"/>
          </a:xfrm>
          <a:prstGeom prst="rect">
            <a:avLst/>
          </a:prstGeom>
          <a:noFill/>
        </p:spPr>
        <p:txBody>
          <a:bodyPr wrap="square" rtlCol="0">
            <a:spAutoFit/>
          </a:bodyPr>
          <a:lstStyle/>
          <a:p>
            <a:endParaRPr lang="en-GB"/>
          </a:p>
          <a:p>
            <a:pPr marL="342900" indent="-342900">
              <a:buFont typeface="+mj-lt"/>
              <a:buAutoNum type="arabicPeriod"/>
            </a:pPr>
            <a:r>
              <a:rPr lang="en-GB"/>
              <a:t>Read by segmenting into phonemes and syllables</a:t>
            </a:r>
          </a:p>
          <a:p>
            <a:pPr marL="342900" indent="-342900">
              <a:buFont typeface="+mj-lt"/>
              <a:buAutoNum type="arabicPeriod"/>
            </a:pPr>
            <a:r>
              <a:rPr lang="en-GB"/>
              <a:t>Make a sensible attempt, making sure you blend ALL the sounds as you read.</a:t>
            </a:r>
          </a:p>
          <a:p>
            <a:pPr marL="342900" indent="-342900">
              <a:buFont typeface="+mj-lt"/>
              <a:buAutoNum type="arabicPeriod"/>
            </a:pPr>
            <a:r>
              <a:rPr lang="en-GB"/>
              <a:t>Use the context and parts of the word to make a sensible attempt at a definition.</a:t>
            </a:r>
          </a:p>
          <a:p>
            <a:pPr marL="342900" indent="-342900">
              <a:buFont typeface="+mj-lt"/>
              <a:buAutoNum type="arabicPeriod"/>
            </a:pPr>
            <a:endParaRPr lang="en-GB"/>
          </a:p>
          <a:p>
            <a:r>
              <a:rPr lang="en-GB"/>
              <a:t>Remember to re-read the entire sentence again.</a:t>
            </a:r>
          </a:p>
        </p:txBody>
      </p:sp>
      <p:pic>
        <p:nvPicPr>
          <p:cNvPr id="2" name="Picture 1">
            <a:extLst>
              <a:ext uri="{FF2B5EF4-FFF2-40B4-BE49-F238E27FC236}">
                <a16:creationId xmlns:a16="http://schemas.microsoft.com/office/drawing/2014/main" id="{4A238304-94B7-D6B3-84C9-8D8F6CDD2BB4}"/>
              </a:ext>
            </a:extLst>
          </p:cNvPr>
          <p:cNvPicPr>
            <a:picLocks noChangeAspect="1"/>
          </p:cNvPicPr>
          <p:nvPr/>
        </p:nvPicPr>
        <p:blipFill>
          <a:blip r:embed="rId4"/>
          <a:stretch>
            <a:fillRect/>
          </a:stretch>
        </p:blipFill>
        <p:spPr>
          <a:xfrm>
            <a:off x="866163" y="2097530"/>
            <a:ext cx="10351133" cy="1434810"/>
          </a:xfrm>
          <a:prstGeom prst="rect">
            <a:avLst/>
          </a:prstGeom>
        </p:spPr>
      </p:pic>
      <p:sp>
        <p:nvSpPr>
          <p:cNvPr id="13" name="TextBox 12">
            <a:extLst>
              <a:ext uri="{FF2B5EF4-FFF2-40B4-BE49-F238E27FC236}">
                <a16:creationId xmlns:a16="http://schemas.microsoft.com/office/drawing/2014/main" id="{A473D780-1F99-6094-42B5-9820D9017C99}"/>
              </a:ext>
            </a:extLst>
          </p:cNvPr>
          <p:cNvSpPr txBox="1"/>
          <p:nvPr/>
        </p:nvSpPr>
        <p:spPr>
          <a:xfrm>
            <a:off x="-2406316" y="1524000"/>
            <a:ext cx="184731" cy="369332"/>
          </a:xfrm>
          <a:prstGeom prst="rect">
            <a:avLst/>
          </a:prstGeom>
          <a:noFill/>
        </p:spPr>
        <p:txBody>
          <a:bodyPr wrap="none" rtlCol="0">
            <a:spAutoFit/>
          </a:bodyPr>
          <a:lstStyle/>
          <a:p>
            <a:endParaRPr lang="en-GB"/>
          </a:p>
        </p:txBody>
      </p:sp>
      <p:sp>
        <p:nvSpPr>
          <p:cNvPr id="15" name="TextBox 14">
            <a:extLst>
              <a:ext uri="{FF2B5EF4-FFF2-40B4-BE49-F238E27FC236}">
                <a16:creationId xmlns:a16="http://schemas.microsoft.com/office/drawing/2014/main" id="{E15A5C10-306D-554F-EAA6-B73E5AF3D6C7}"/>
              </a:ext>
            </a:extLst>
          </p:cNvPr>
          <p:cNvSpPr txBox="1"/>
          <p:nvPr/>
        </p:nvSpPr>
        <p:spPr>
          <a:xfrm>
            <a:off x="209488" y="1865629"/>
            <a:ext cx="11861201" cy="3985274"/>
          </a:xfrm>
          <a:prstGeom prst="rect">
            <a:avLst/>
          </a:prstGeom>
          <a:solidFill>
            <a:schemeClr val="accent5">
              <a:lumMod val="20000"/>
              <a:lumOff val="80000"/>
            </a:schemeClr>
          </a:solidFill>
        </p:spPr>
        <p:txBody>
          <a:bodyPr wrap="square" anchor="ctr">
            <a:noAutofit/>
          </a:bodyPr>
          <a:lstStyle/>
          <a:p>
            <a:r>
              <a:rPr lang="en-US" sz="2200" dirty="0"/>
              <a:t>Explanation texts are written to make complex processes clear to the reader. Unlike narratives, which tell a story from one moment to the next, explanation texts are organised around ideas rather than events. A writer of an explanation text must therefore make careful choices about how to structure what they want to convey. One of the most important tools available is the causal connective. Words and phrases such as ‘because’, ‘as a result’ and ‘this means that’ allow the writer to show how one thing causes or leads to another. Without these connections, the reader would be left with a list of facts that do not obviously relate to each other. Technical vocabulary is also central to the explanation text. Using precise, subject-specific words gives the writing authority and allows the writer to convey meaning efficiently. A formal tone signals to the reader that the purpose of the text is informational rather than expressive. When a writer uses the present tense and third person throughout, it creates a sense of objective, reliable fact. These features work together to serve the text’s purpose: to explain something clearly, logically and accurately. A skilled reader of explanation texts learns to recognise these features and use them to navigate the content more effectively, extracting the information they need with greater confidence.</a:t>
            </a:r>
          </a:p>
        </p:txBody>
      </p:sp>
      <p:sp>
        <p:nvSpPr>
          <p:cNvPr id="10" name="Rounded Rectangle 9">
            <a:extLst>
              <a:ext uri="{FF2B5EF4-FFF2-40B4-BE49-F238E27FC236}">
                <a16:creationId xmlns:a16="http://schemas.microsoft.com/office/drawing/2014/main" id="{911D3733-5EF2-7482-D164-B776AE41E9CC}"/>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Show / Hide Extract</a:t>
            </a:r>
          </a:p>
        </p:txBody>
      </p:sp>
    </p:spTree>
    <p:extLst>
      <p:ext uri="{BB962C8B-B14F-4D97-AF65-F5344CB8AC3E}">
        <p14:creationId xmlns:p14="http://schemas.microsoft.com/office/powerpoint/2010/main" val="197944849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childTnLst>
                          </p:cTn>
                        </p:par>
                      </p:childTnLst>
                    </p:cTn>
                  </p:par>
                </p:childTnLst>
              </p:cTn>
              <p:nextCondLst>
                <p:cond evt="onClick" delay="0">
                  <p:tgtEl>
                    <p:spTgt spid="10"/>
                  </p:tgtEl>
                </p:cond>
              </p:nextCondLst>
            </p:seq>
          </p:childTnLst>
        </p:cTn>
      </p:par>
    </p:tnLst>
    <p:bldLst>
      <p:bldP spid="15" grpId="0" animBg="1"/>
      <p:bldP spid="15"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5917-BDE9-A483-7A0D-AC15BA636611}"/>
            </a:ext>
          </a:extLst>
        </p:cNvPr>
        <p:cNvGrpSpPr/>
        <p:nvPr/>
      </p:nvGrpSpPr>
      <p:grpSpPr>
        <a:xfrm>
          <a:off x="0" y="0"/>
          <a:ext cx="0" cy="0"/>
          <a:chOff x="0" y="0"/>
          <a:chExt cx="0" cy="0"/>
        </a:xfrm>
      </p:grpSpPr>
      <p:sp>
        <p:nvSpPr>
          <p:cNvPr id="6" name="Freeform: Shape 5">
            <a:extLst>
              <a:ext uri="{FF2B5EF4-FFF2-40B4-BE49-F238E27FC236}">
                <a16:creationId xmlns:a16="http://schemas.microsoft.com/office/drawing/2014/main" id="{3E3AA9AF-9E3C-B821-0C95-D4AA63DFFCBB}"/>
              </a:ext>
            </a:extLst>
          </p:cNvPr>
          <p:cNvSpPr/>
          <p:nvPr/>
        </p:nvSpPr>
        <p:spPr>
          <a:xfrm>
            <a:off x="2609369" y="1646785"/>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7" name="Oval 6">
            <a:extLst>
              <a:ext uri="{FF2B5EF4-FFF2-40B4-BE49-F238E27FC236}">
                <a16:creationId xmlns:a16="http://schemas.microsoft.com/office/drawing/2014/main" id="{BC8D8944-1BCF-D4B0-7DAF-EF76646CCF50}"/>
              </a:ext>
            </a:extLst>
          </p:cNvPr>
          <p:cNvSpPr/>
          <p:nvPr/>
        </p:nvSpPr>
        <p:spPr>
          <a:xfrm>
            <a:off x="2057663" y="2106659"/>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8" name="Group 7">
            <a:extLst>
              <a:ext uri="{FF2B5EF4-FFF2-40B4-BE49-F238E27FC236}">
                <a16:creationId xmlns:a16="http://schemas.microsoft.com/office/drawing/2014/main" id="{6EE8B722-85CC-7111-AF8B-97EEBEE9A272}"/>
              </a:ext>
            </a:extLst>
          </p:cNvPr>
          <p:cNvGrpSpPr/>
          <p:nvPr/>
        </p:nvGrpSpPr>
        <p:grpSpPr>
          <a:xfrm>
            <a:off x="3003018" y="1125085"/>
            <a:ext cx="1838188" cy="1169519"/>
            <a:chOff x="2644385" y="2866760"/>
            <a:chExt cx="1838188" cy="1384526"/>
          </a:xfrm>
        </p:grpSpPr>
        <p:sp>
          <p:nvSpPr>
            <p:cNvPr id="9" name="Freeform: Shape 8">
              <a:extLst>
                <a:ext uri="{FF2B5EF4-FFF2-40B4-BE49-F238E27FC236}">
                  <a16:creationId xmlns:a16="http://schemas.microsoft.com/office/drawing/2014/main" id="{AD3569E1-8E04-B7BA-0398-4180BE3B0EE3}"/>
                </a:ext>
              </a:extLst>
            </p:cNvPr>
            <p:cNvSpPr/>
            <p:nvPr/>
          </p:nvSpPr>
          <p:spPr>
            <a:xfrm>
              <a:off x="2644386" y="2866760"/>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b="1"/>
            </a:p>
          </p:txBody>
        </p:sp>
        <p:sp>
          <p:nvSpPr>
            <p:cNvPr id="10" name="TextBox 9">
              <a:extLst>
                <a:ext uri="{FF2B5EF4-FFF2-40B4-BE49-F238E27FC236}">
                  <a16:creationId xmlns:a16="http://schemas.microsoft.com/office/drawing/2014/main" id="{FFC19485-EC34-F070-3B3F-978F61587575}"/>
                </a:ext>
              </a:extLst>
            </p:cNvPr>
            <p:cNvSpPr txBox="1"/>
            <p:nvPr/>
          </p:nvSpPr>
          <p:spPr>
            <a:xfrm>
              <a:off x="2644385" y="3160918"/>
              <a:ext cx="1838187"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What am I learning?</a:t>
              </a:r>
            </a:p>
          </p:txBody>
        </p:sp>
      </p:grpSp>
      <p:pic>
        <p:nvPicPr>
          <p:cNvPr id="11" name="Picture 10" descr="A picture containing room  Description automatically generated">
            <a:extLst>
              <a:ext uri="{FF2B5EF4-FFF2-40B4-BE49-F238E27FC236}">
                <a16:creationId xmlns:a16="http://schemas.microsoft.com/office/drawing/2014/main" id="{3C0DDE4A-9E8B-5BE3-65C1-A3FA2705ACB2}"/>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485896" y="2018390"/>
            <a:ext cx="1451414" cy="2106656"/>
          </a:xfrm>
          <a:prstGeom prst="rect">
            <a:avLst/>
          </a:prstGeom>
          <a:ln>
            <a:noFill/>
          </a:ln>
        </p:spPr>
      </p:pic>
      <p:sp>
        <p:nvSpPr>
          <p:cNvPr id="12" name="Freeform: Shape 11">
            <a:extLst>
              <a:ext uri="{FF2B5EF4-FFF2-40B4-BE49-F238E27FC236}">
                <a16:creationId xmlns:a16="http://schemas.microsoft.com/office/drawing/2014/main" id="{A0F1A2A6-045F-00C7-688E-E6D0A25D5652}"/>
              </a:ext>
            </a:extLst>
          </p:cNvPr>
          <p:cNvSpPr/>
          <p:nvPr/>
        </p:nvSpPr>
        <p:spPr>
          <a:xfrm>
            <a:off x="2797615" y="2918463"/>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3" name="Oval 12">
            <a:extLst>
              <a:ext uri="{FF2B5EF4-FFF2-40B4-BE49-F238E27FC236}">
                <a16:creationId xmlns:a16="http://schemas.microsoft.com/office/drawing/2014/main" id="{408A8433-A9BE-1E56-2965-99A3B5625947}"/>
              </a:ext>
            </a:extLst>
          </p:cNvPr>
          <p:cNvSpPr/>
          <p:nvPr/>
        </p:nvSpPr>
        <p:spPr>
          <a:xfrm>
            <a:off x="2458854" y="2918501"/>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grpSp>
        <p:nvGrpSpPr>
          <p:cNvPr id="14" name="Group 13">
            <a:extLst>
              <a:ext uri="{FF2B5EF4-FFF2-40B4-BE49-F238E27FC236}">
                <a16:creationId xmlns:a16="http://schemas.microsoft.com/office/drawing/2014/main" id="{27A24A2D-2408-EB9E-5F70-46F514294503}"/>
              </a:ext>
            </a:extLst>
          </p:cNvPr>
          <p:cNvGrpSpPr/>
          <p:nvPr/>
        </p:nvGrpSpPr>
        <p:grpSpPr>
          <a:xfrm>
            <a:off x="3618760" y="2676281"/>
            <a:ext cx="2097602" cy="1251349"/>
            <a:chOff x="6125888" y="3028716"/>
            <a:chExt cx="1838187" cy="1384526"/>
          </a:xfrm>
          <a:solidFill>
            <a:schemeClr val="accent6">
              <a:lumMod val="60000"/>
              <a:lumOff val="40000"/>
            </a:schemeClr>
          </a:solidFill>
        </p:grpSpPr>
        <p:sp>
          <p:nvSpPr>
            <p:cNvPr id="15" name="Freeform: Shape 14">
              <a:extLst>
                <a:ext uri="{FF2B5EF4-FFF2-40B4-BE49-F238E27FC236}">
                  <a16:creationId xmlns:a16="http://schemas.microsoft.com/office/drawing/2014/main" id="{2946C962-D08C-0F71-45B1-FA00B59721B8}"/>
                </a:ext>
              </a:extLst>
            </p:cNvPr>
            <p:cNvSpPr/>
            <p:nvPr/>
          </p:nvSpPr>
          <p:spPr>
            <a:xfrm>
              <a:off x="6125888" y="3028716"/>
              <a:ext cx="1838187" cy="1384526"/>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2400" b="1"/>
            </a:p>
          </p:txBody>
        </p:sp>
        <p:sp>
          <p:nvSpPr>
            <p:cNvPr id="16" name="TextBox 15">
              <a:extLst>
                <a:ext uri="{FF2B5EF4-FFF2-40B4-BE49-F238E27FC236}">
                  <a16:creationId xmlns:a16="http://schemas.microsoft.com/office/drawing/2014/main" id="{60E1483D-26A7-A33B-B0CD-B1044C4A76B4}"/>
                </a:ext>
              </a:extLst>
            </p:cNvPr>
            <p:cNvSpPr txBox="1"/>
            <p:nvPr/>
          </p:nvSpPr>
          <p:spPr>
            <a:xfrm>
              <a:off x="6263965" y="3326148"/>
              <a:ext cx="1595765" cy="707886"/>
            </a:xfrm>
            <a:prstGeom prst="rect">
              <a:avLst/>
            </a:prstGeom>
            <a:noFill/>
            <a:ln w="38100">
              <a:no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en-US"/>
              </a:defPPr>
              <a:lvl1pPr algn="ctr">
                <a:defRPr b="1">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a:solidFill>
                    <a:schemeClr val="tx1"/>
                  </a:solidFill>
                </a:rPr>
                <a:t>Why am I learning this ?</a:t>
              </a:r>
            </a:p>
          </p:txBody>
        </p:sp>
      </p:grpSp>
      <p:sp>
        <p:nvSpPr>
          <p:cNvPr id="17" name="Freeform: Shape 16">
            <a:extLst>
              <a:ext uri="{FF2B5EF4-FFF2-40B4-BE49-F238E27FC236}">
                <a16:creationId xmlns:a16="http://schemas.microsoft.com/office/drawing/2014/main" id="{ED4713C7-97EE-A5B0-8FC6-4CE70EA350BC}"/>
              </a:ext>
            </a:extLst>
          </p:cNvPr>
          <p:cNvSpPr/>
          <p:nvPr/>
        </p:nvSpPr>
        <p:spPr>
          <a:xfrm>
            <a:off x="2490079" y="3963955"/>
            <a:ext cx="200648" cy="240777"/>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8" name="Oval 17">
            <a:extLst>
              <a:ext uri="{FF2B5EF4-FFF2-40B4-BE49-F238E27FC236}">
                <a16:creationId xmlns:a16="http://schemas.microsoft.com/office/drawing/2014/main" id="{72843B94-CA11-5143-DFB7-BE14CB303150}"/>
              </a:ext>
            </a:extLst>
          </p:cNvPr>
          <p:cNvSpPr/>
          <p:nvPr/>
        </p:nvSpPr>
        <p:spPr>
          <a:xfrm>
            <a:off x="2258697" y="3780606"/>
            <a:ext cx="79485" cy="85162"/>
          </a:xfrm>
          <a:prstGeom prst="ellipse">
            <a:avLst/>
          </a:pr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19" name="TextBox 18">
            <a:extLst>
              <a:ext uri="{FF2B5EF4-FFF2-40B4-BE49-F238E27FC236}">
                <a16:creationId xmlns:a16="http://schemas.microsoft.com/office/drawing/2014/main" id="{CDA984DD-4FC4-64A0-887A-0A817B977071}"/>
              </a:ext>
            </a:extLst>
          </p:cNvPr>
          <p:cNvSpPr txBox="1"/>
          <p:nvPr/>
        </p:nvSpPr>
        <p:spPr>
          <a:xfrm>
            <a:off x="5068949" y="1230333"/>
            <a:ext cx="5311218" cy="830997"/>
          </a:xfrm>
          <a:prstGeom prst="rect">
            <a:avLst/>
          </a:prstGeom>
          <a:noFill/>
        </p:spPr>
        <p:txBody>
          <a:bodyPr wrap="square" rtlCol="0">
            <a:spAutoFit/>
          </a:bodyPr>
          <a:lstStyle/>
          <a:p>
            <a:r>
              <a:rPr lang="en-GB" sz="2400">
                <a:latin typeface="+mj-lt"/>
              </a:rPr>
              <a:t>I  am learning to understand and take meaning from a text.</a:t>
            </a:r>
          </a:p>
        </p:txBody>
      </p:sp>
      <p:sp>
        <p:nvSpPr>
          <p:cNvPr id="20" name="Rectangle 19">
            <a:extLst>
              <a:ext uri="{FF2B5EF4-FFF2-40B4-BE49-F238E27FC236}">
                <a16:creationId xmlns:a16="http://schemas.microsoft.com/office/drawing/2014/main" id="{3A23222B-35F4-3CDC-5FEA-1C58CE4A933A}"/>
              </a:ext>
            </a:extLst>
          </p:cNvPr>
          <p:cNvSpPr/>
          <p:nvPr/>
        </p:nvSpPr>
        <p:spPr>
          <a:xfrm>
            <a:off x="5597291" y="4824722"/>
            <a:ext cx="5583685" cy="1200329"/>
          </a:xfrm>
          <a:prstGeom prst="rect">
            <a:avLst/>
          </a:prstGeom>
          <a:noFill/>
        </p:spPr>
        <p:txBody>
          <a:bodyPr wrap="square">
            <a:spAutoFit/>
          </a:bodyPr>
          <a:lstStyle/>
          <a:p>
            <a:r>
              <a:rPr lang="en-GB" sz="2400">
                <a:latin typeface="+mj-lt"/>
              </a:rPr>
              <a:t>I will show this by answering questions which relate to the vocabulary used throughout the text.</a:t>
            </a:r>
          </a:p>
        </p:txBody>
      </p:sp>
      <p:grpSp>
        <p:nvGrpSpPr>
          <p:cNvPr id="26" name="Group 25">
            <a:extLst>
              <a:ext uri="{FF2B5EF4-FFF2-40B4-BE49-F238E27FC236}">
                <a16:creationId xmlns:a16="http://schemas.microsoft.com/office/drawing/2014/main" id="{F0FA508C-6CB1-E76E-F0A8-B64E6C4CD90D}"/>
              </a:ext>
            </a:extLst>
          </p:cNvPr>
          <p:cNvGrpSpPr/>
          <p:nvPr/>
        </p:nvGrpSpPr>
        <p:grpSpPr>
          <a:xfrm>
            <a:off x="2968729" y="4615048"/>
            <a:ext cx="2401890" cy="1148058"/>
            <a:chOff x="10001131" y="2709337"/>
            <a:chExt cx="1838187" cy="1105414"/>
          </a:xfrm>
        </p:grpSpPr>
        <p:sp>
          <p:nvSpPr>
            <p:cNvPr id="27" name="Freeform: Shape 26">
              <a:extLst>
                <a:ext uri="{FF2B5EF4-FFF2-40B4-BE49-F238E27FC236}">
                  <a16:creationId xmlns:a16="http://schemas.microsoft.com/office/drawing/2014/main" id="{3F558219-13F1-436A-59AF-11B90D95ABA1}"/>
                </a:ext>
              </a:extLst>
            </p:cNvPr>
            <p:cNvSpPr/>
            <p:nvPr/>
          </p:nvSpPr>
          <p:spPr>
            <a:xfrm>
              <a:off x="10001131" y="2709337"/>
              <a:ext cx="1838187" cy="1105414"/>
            </a:xfrm>
            <a:custGeom>
              <a:avLst/>
              <a:gdLst>
                <a:gd name="connsiteX0" fmla="*/ 602901 w 5220119"/>
                <a:gd name="connsiteY0" fmla="*/ 2054888 h 5436158"/>
                <a:gd name="connsiteX1" fmla="*/ 346668 w 5220119"/>
                <a:gd name="connsiteY1" fmla="*/ 1934307 h 5436158"/>
                <a:gd name="connsiteX2" fmla="*/ 185895 w 5220119"/>
                <a:gd name="connsiteY2" fmla="*/ 1723292 h 5436158"/>
                <a:gd name="connsiteX3" fmla="*/ 50242 w 5220119"/>
                <a:gd name="connsiteY3" fmla="*/ 1421842 h 5436158"/>
                <a:gd name="connsiteX4" fmla="*/ 0 w 5220119"/>
                <a:gd name="connsiteY4" fmla="*/ 1115367 h 5436158"/>
                <a:gd name="connsiteX5" fmla="*/ 80387 w 5220119"/>
                <a:gd name="connsiteY5" fmla="*/ 828989 h 5436158"/>
                <a:gd name="connsiteX6" fmla="*/ 251209 w 5220119"/>
                <a:gd name="connsiteY6" fmla="*/ 557683 h 5436158"/>
                <a:gd name="connsiteX7" fmla="*/ 512466 w 5220119"/>
                <a:gd name="connsiteY7" fmla="*/ 386861 h 5436158"/>
                <a:gd name="connsiteX8" fmla="*/ 934497 w 5220119"/>
                <a:gd name="connsiteY8" fmla="*/ 296426 h 5436158"/>
                <a:gd name="connsiteX9" fmla="*/ 1251020 w 5220119"/>
                <a:gd name="connsiteY9" fmla="*/ 326571 h 5436158"/>
                <a:gd name="connsiteX10" fmla="*/ 1457011 w 5220119"/>
                <a:gd name="connsiteY10" fmla="*/ 401934 h 5436158"/>
                <a:gd name="connsiteX11" fmla="*/ 1688123 w 5220119"/>
                <a:gd name="connsiteY11" fmla="*/ 512466 h 5436158"/>
                <a:gd name="connsiteX12" fmla="*/ 1753438 w 5220119"/>
                <a:gd name="connsiteY12" fmla="*/ 331595 h 5436158"/>
                <a:gd name="connsiteX13" fmla="*/ 1944356 w 5220119"/>
                <a:gd name="connsiteY13" fmla="*/ 140677 h 5436158"/>
                <a:gd name="connsiteX14" fmla="*/ 2120202 w 5220119"/>
                <a:gd name="connsiteY14" fmla="*/ 50242 h 5436158"/>
                <a:gd name="connsiteX15" fmla="*/ 2336242 w 5220119"/>
                <a:gd name="connsiteY15" fmla="*/ 10048 h 5436158"/>
                <a:gd name="connsiteX16" fmla="*/ 2507064 w 5220119"/>
                <a:gd name="connsiteY16" fmla="*/ 0 h 5436158"/>
                <a:gd name="connsiteX17" fmla="*/ 2682910 w 5220119"/>
                <a:gd name="connsiteY17" fmla="*/ 55266 h 5436158"/>
                <a:gd name="connsiteX18" fmla="*/ 2808515 w 5220119"/>
                <a:gd name="connsiteY18" fmla="*/ 160773 h 5436158"/>
                <a:gd name="connsiteX19" fmla="*/ 2903974 w 5220119"/>
                <a:gd name="connsiteY19" fmla="*/ 261257 h 5436158"/>
                <a:gd name="connsiteX20" fmla="*/ 2954216 w 5220119"/>
                <a:gd name="connsiteY20" fmla="*/ 396910 h 5436158"/>
                <a:gd name="connsiteX21" fmla="*/ 2989385 w 5220119"/>
                <a:gd name="connsiteY21" fmla="*/ 482321 h 5436158"/>
                <a:gd name="connsiteX22" fmla="*/ 3235570 w 5220119"/>
                <a:gd name="connsiteY22" fmla="*/ 331595 h 5436158"/>
                <a:gd name="connsiteX23" fmla="*/ 3567165 w 5220119"/>
                <a:gd name="connsiteY23" fmla="*/ 246184 h 5436158"/>
                <a:gd name="connsiteX24" fmla="*/ 3913833 w 5220119"/>
                <a:gd name="connsiteY24" fmla="*/ 226088 h 5436158"/>
                <a:gd name="connsiteX25" fmla="*/ 4165042 w 5220119"/>
                <a:gd name="connsiteY25" fmla="*/ 291402 h 5436158"/>
                <a:gd name="connsiteX26" fmla="*/ 4431323 w 5220119"/>
                <a:gd name="connsiteY26" fmla="*/ 447151 h 5436158"/>
                <a:gd name="connsiteX27" fmla="*/ 4607170 w 5220119"/>
                <a:gd name="connsiteY27" fmla="*/ 668215 h 5436158"/>
                <a:gd name="connsiteX28" fmla="*/ 4707653 w 5220119"/>
                <a:gd name="connsiteY28" fmla="*/ 869182 h 5436158"/>
                <a:gd name="connsiteX29" fmla="*/ 4747846 w 5220119"/>
                <a:gd name="connsiteY29" fmla="*/ 1075173 h 5436158"/>
                <a:gd name="connsiteX30" fmla="*/ 4747846 w 5220119"/>
                <a:gd name="connsiteY30" fmla="*/ 1306286 h 5436158"/>
                <a:gd name="connsiteX31" fmla="*/ 4717701 w 5220119"/>
                <a:gd name="connsiteY31" fmla="*/ 1507253 h 5436158"/>
                <a:gd name="connsiteX32" fmla="*/ 4657411 w 5220119"/>
                <a:gd name="connsiteY32" fmla="*/ 1617784 h 5436158"/>
                <a:gd name="connsiteX33" fmla="*/ 4858378 w 5220119"/>
                <a:gd name="connsiteY33" fmla="*/ 1642905 h 5436158"/>
                <a:gd name="connsiteX34" fmla="*/ 5054321 w 5220119"/>
                <a:gd name="connsiteY34" fmla="*/ 1818751 h 5436158"/>
                <a:gd name="connsiteX35" fmla="*/ 5134708 w 5220119"/>
                <a:gd name="connsiteY35" fmla="*/ 1979525 h 5436158"/>
                <a:gd name="connsiteX36" fmla="*/ 5179926 w 5220119"/>
                <a:gd name="connsiteY36" fmla="*/ 2145323 h 5436158"/>
                <a:gd name="connsiteX37" fmla="*/ 5220119 w 5220119"/>
                <a:gd name="connsiteY37" fmla="*/ 2275951 h 5436158"/>
                <a:gd name="connsiteX38" fmla="*/ 5220119 w 5220119"/>
                <a:gd name="connsiteY38" fmla="*/ 2461846 h 5436158"/>
                <a:gd name="connsiteX39" fmla="*/ 5179926 w 5220119"/>
                <a:gd name="connsiteY39" fmla="*/ 2642716 h 5436158"/>
                <a:gd name="connsiteX40" fmla="*/ 5084466 w 5220119"/>
                <a:gd name="connsiteY40" fmla="*/ 2778369 h 5436158"/>
                <a:gd name="connsiteX41" fmla="*/ 5084466 w 5220119"/>
                <a:gd name="connsiteY41" fmla="*/ 2828611 h 5436158"/>
                <a:gd name="connsiteX42" fmla="*/ 5139732 w 5220119"/>
                <a:gd name="connsiteY42" fmla="*/ 2954215 h 5436158"/>
                <a:gd name="connsiteX43" fmla="*/ 5194998 w 5220119"/>
                <a:gd name="connsiteY43" fmla="*/ 3120013 h 5436158"/>
                <a:gd name="connsiteX44" fmla="*/ 5194998 w 5220119"/>
                <a:gd name="connsiteY44" fmla="*/ 3285811 h 5436158"/>
                <a:gd name="connsiteX45" fmla="*/ 5154805 w 5220119"/>
                <a:gd name="connsiteY45" fmla="*/ 3471705 h 5436158"/>
                <a:gd name="connsiteX46" fmla="*/ 5109587 w 5220119"/>
                <a:gd name="connsiteY46" fmla="*/ 3622431 h 5436158"/>
                <a:gd name="connsiteX47" fmla="*/ 5014128 w 5220119"/>
                <a:gd name="connsiteY47" fmla="*/ 3798277 h 5436158"/>
                <a:gd name="connsiteX48" fmla="*/ 4868427 w 5220119"/>
                <a:gd name="connsiteY48" fmla="*/ 3938954 h 5436158"/>
                <a:gd name="connsiteX49" fmla="*/ 4727750 w 5220119"/>
                <a:gd name="connsiteY49" fmla="*/ 4044461 h 5436158"/>
                <a:gd name="connsiteX50" fmla="*/ 4531807 w 5220119"/>
                <a:gd name="connsiteY50" fmla="*/ 4099727 h 5436158"/>
                <a:gd name="connsiteX51" fmla="*/ 4531807 w 5220119"/>
                <a:gd name="connsiteY51" fmla="*/ 4260501 h 5436158"/>
                <a:gd name="connsiteX52" fmla="*/ 4511710 w 5220119"/>
                <a:gd name="connsiteY52" fmla="*/ 4456444 h 5436158"/>
                <a:gd name="connsiteX53" fmla="*/ 4441372 w 5220119"/>
                <a:gd name="connsiteY53" fmla="*/ 4592096 h 5436158"/>
                <a:gd name="connsiteX54" fmla="*/ 4335864 w 5220119"/>
                <a:gd name="connsiteY54" fmla="*/ 4687556 h 5436158"/>
                <a:gd name="connsiteX55" fmla="*/ 4195187 w 5220119"/>
                <a:gd name="connsiteY55" fmla="*/ 4783015 h 5436158"/>
                <a:gd name="connsiteX56" fmla="*/ 3999244 w 5220119"/>
                <a:gd name="connsiteY56" fmla="*/ 4863402 h 5436158"/>
                <a:gd name="connsiteX57" fmla="*/ 3773156 w 5220119"/>
                <a:gd name="connsiteY57" fmla="*/ 4888523 h 5436158"/>
                <a:gd name="connsiteX58" fmla="*/ 3602334 w 5220119"/>
                <a:gd name="connsiteY58" fmla="*/ 4858378 h 5436158"/>
                <a:gd name="connsiteX59" fmla="*/ 3481754 w 5220119"/>
                <a:gd name="connsiteY59" fmla="*/ 4783015 h 5436158"/>
                <a:gd name="connsiteX60" fmla="*/ 3486778 w 5220119"/>
                <a:gd name="connsiteY60" fmla="*/ 4893547 h 5436158"/>
                <a:gd name="connsiteX61" fmla="*/ 3461657 w 5220119"/>
                <a:gd name="connsiteY61" fmla="*/ 5034224 h 5436158"/>
                <a:gd name="connsiteX62" fmla="*/ 3361174 w 5220119"/>
                <a:gd name="connsiteY62" fmla="*/ 5169877 h 5436158"/>
                <a:gd name="connsiteX63" fmla="*/ 3260690 w 5220119"/>
                <a:gd name="connsiteY63" fmla="*/ 5280409 h 5436158"/>
                <a:gd name="connsiteX64" fmla="*/ 3049675 w 5220119"/>
                <a:gd name="connsiteY64" fmla="*/ 5390940 h 5436158"/>
                <a:gd name="connsiteX65" fmla="*/ 2768321 w 5220119"/>
                <a:gd name="connsiteY65" fmla="*/ 5436158 h 5436158"/>
                <a:gd name="connsiteX66" fmla="*/ 2497016 w 5220119"/>
                <a:gd name="connsiteY66" fmla="*/ 5375868 h 5436158"/>
                <a:gd name="connsiteX67" fmla="*/ 2250831 w 5220119"/>
                <a:gd name="connsiteY67" fmla="*/ 5295481 h 5436158"/>
                <a:gd name="connsiteX68" fmla="*/ 2125227 w 5220119"/>
                <a:gd name="connsiteY68" fmla="*/ 5169877 h 5436158"/>
                <a:gd name="connsiteX69" fmla="*/ 2029767 w 5220119"/>
                <a:gd name="connsiteY69" fmla="*/ 5079442 h 5436158"/>
                <a:gd name="connsiteX70" fmla="*/ 2009671 w 5220119"/>
                <a:gd name="connsiteY70" fmla="*/ 4938765 h 5436158"/>
                <a:gd name="connsiteX71" fmla="*/ 1989574 w 5220119"/>
                <a:gd name="connsiteY71" fmla="*/ 4918668 h 5436158"/>
                <a:gd name="connsiteX72" fmla="*/ 1863970 w 5220119"/>
                <a:gd name="connsiteY72" fmla="*/ 4978958 h 5436158"/>
                <a:gd name="connsiteX73" fmla="*/ 1728317 w 5220119"/>
                <a:gd name="connsiteY73" fmla="*/ 5044272 h 5436158"/>
                <a:gd name="connsiteX74" fmla="*/ 1507253 w 5220119"/>
                <a:gd name="connsiteY74" fmla="*/ 5014127 h 5436158"/>
                <a:gd name="connsiteX75" fmla="*/ 1306286 w 5220119"/>
                <a:gd name="connsiteY75" fmla="*/ 4928716 h 5436158"/>
                <a:gd name="connsiteX76" fmla="*/ 1190730 w 5220119"/>
                <a:gd name="connsiteY76" fmla="*/ 4767943 h 5436158"/>
                <a:gd name="connsiteX77" fmla="*/ 1120392 w 5220119"/>
                <a:gd name="connsiteY77" fmla="*/ 4592096 h 5436158"/>
                <a:gd name="connsiteX78" fmla="*/ 1120392 w 5220119"/>
                <a:gd name="connsiteY78" fmla="*/ 4421275 h 5436158"/>
                <a:gd name="connsiteX79" fmla="*/ 1120392 w 5220119"/>
                <a:gd name="connsiteY79" fmla="*/ 4315767 h 5436158"/>
                <a:gd name="connsiteX80" fmla="*/ 974690 w 5220119"/>
                <a:gd name="connsiteY80" fmla="*/ 4386105 h 5436158"/>
                <a:gd name="connsiteX81" fmla="*/ 738554 w 5220119"/>
                <a:gd name="connsiteY81" fmla="*/ 4406202 h 5436158"/>
                <a:gd name="connsiteX82" fmla="*/ 532563 w 5220119"/>
                <a:gd name="connsiteY82" fmla="*/ 4376057 h 5436158"/>
                <a:gd name="connsiteX83" fmla="*/ 386862 w 5220119"/>
                <a:gd name="connsiteY83" fmla="*/ 4285622 h 5436158"/>
                <a:gd name="connsiteX84" fmla="*/ 281354 w 5220119"/>
                <a:gd name="connsiteY84" fmla="*/ 4119824 h 5436158"/>
                <a:gd name="connsiteX85" fmla="*/ 251209 w 5220119"/>
                <a:gd name="connsiteY85" fmla="*/ 3969099 h 5436158"/>
                <a:gd name="connsiteX86" fmla="*/ 256233 w 5220119"/>
                <a:gd name="connsiteY86" fmla="*/ 3873639 h 5436158"/>
                <a:gd name="connsiteX87" fmla="*/ 266282 w 5220119"/>
                <a:gd name="connsiteY87" fmla="*/ 3707842 h 5436158"/>
                <a:gd name="connsiteX88" fmla="*/ 306475 w 5220119"/>
                <a:gd name="connsiteY88" fmla="*/ 3567165 h 5436158"/>
                <a:gd name="connsiteX89" fmla="*/ 371789 w 5220119"/>
                <a:gd name="connsiteY89" fmla="*/ 3491802 h 5436158"/>
                <a:gd name="connsiteX90" fmla="*/ 411983 w 5220119"/>
                <a:gd name="connsiteY90" fmla="*/ 3451609 h 5436158"/>
                <a:gd name="connsiteX91" fmla="*/ 422031 w 5220119"/>
                <a:gd name="connsiteY91" fmla="*/ 3416439 h 5436158"/>
                <a:gd name="connsiteX92" fmla="*/ 261257 w 5220119"/>
                <a:gd name="connsiteY92" fmla="*/ 3315956 h 5436158"/>
                <a:gd name="connsiteX93" fmla="*/ 165798 w 5220119"/>
                <a:gd name="connsiteY93" fmla="*/ 3180303 h 5436158"/>
                <a:gd name="connsiteX94" fmla="*/ 90435 w 5220119"/>
                <a:gd name="connsiteY94" fmla="*/ 2994409 h 5436158"/>
                <a:gd name="connsiteX95" fmla="*/ 80387 w 5220119"/>
                <a:gd name="connsiteY95" fmla="*/ 2793442 h 5436158"/>
                <a:gd name="connsiteX96" fmla="*/ 115556 w 5220119"/>
                <a:gd name="connsiteY96" fmla="*/ 2642716 h 5436158"/>
                <a:gd name="connsiteX97" fmla="*/ 165798 w 5220119"/>
                <a:gd name="connsiteY97" fmla="*/ 2431701 h 5436158"/>
                <a:gd name="connsiteX98" fmla="*/ 261257 w 5220119"/>
                <a:gd name="connsiteY98" fmla="*/ 2301072 h 5436158"/>
                <a:gd name="connsiteX99" fmla="*/ 361741 w 5220119"/>
                <a:gd name="connsiteY99" fmla="*/ 2195565 h 5436158"/>
                <a:gd name="connsiteX100" fmla="*/ 442128 w 5220119"/>
                <a:gd name="connsiteY100" fmla="*/ 2140299 h 5436158"/>
                <a:gd name="connsiteX101" fmla="*/ 602901 w 5220119"/>
                <a:gd name="connsiteY101" fmla="*/ 2054888 h 5436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220119" h="5436158">
                  <a:moveTo>
                    <a:pt x="602901" y="2054888"/>
                  </a:moveTo>
                  <a:lnTo>
                    <a:pt x="346668" y="1934307"/>
                  </a:lnTo>
                  <a:lnTo>
                    <a:pt x="185895" y="1723292"/>
                  </a:lnTo>
                  <a:lnTo>
                    <a:pt x="50242" y="1421842"/>
                  </a:lnTo>
                  <a:lnTo>
                    <a:pt x="0" y="1115367"/>
                  </a:lnTo>
                  <a:lnTo>
                    <a:pt x="80387" y="828989"/>
                  </a:lnTo>
                  <a:lnTo>
                    <a:pt x="251209" y="557683"/>
                  </a:lnTo>
                  <a:lnTo>
                    <a:pt x="512466" y="386861"/>
                  </a:lnTo>
                  <a:lnTo>
                    <a:pt x="934497" y="296426"/>
                  </a:lnTo>
                  <a:lnTo>
                    <a:pt x="1251020" y="326571"/>
                  </a:lnTo>
                  <a:lnTo>
                    <a:pt x="1457011" y="401934"/>
                  </a:lnTo>
                  <a:lnTo>
                    <a:pt x="1688123" y="512466"/>
                  </a:lnTo>
                  <a:lnTo>
                    <a:pt x="1753438" y="331595"/>
                  </a:lnTo>
                  <a:lnTo>
                    <a:pt x="1944356" y="140677"/>
                  </a:lnTo>
                  <a:lnTo>
                    <a:pt x="2120202" y="50242"/>
                  </a:lnTo>
                  <a:lnTo>
                    <a:pt x="2336242" y="10048"/>
                  </a:lnTo>
                  <a:lnTo>
                    <a:pt x="2507064" y="0"/>
                  </a:lnTo>
                  <a:lnTo>
                    <a:pt x="2682910" y="55266"/>
                  </a:lnTo>
                  <a:lnTo>
                    <a:pt x="2808515" y="160773"/>
                  </a:lnTo>
                  <a:lnTo>
                    <a:pt x="2903974" y="261257"/>
                  </a:lnTo>
                  <a:lnTo>
                    <a:pt x="2954216" y="396910"/>
                  </a:lnTo>
                  <a:lnTo>
                    <a:pt x="2989385" y="482321"/>
                  </a:lnTo>
                  <a:lnTo>
                    <a:pt x="3235570" y="331595"/>
                  </a:lnTo>
                  <a:lnTo>
                    <a:pt x="3567165" y="246184"/>
                  </a:lnTo>
                  <a:lnTo>
                    <a:pt x="3913833" y="226088"/>
                  </a:lnTo>
                  <a:lnTo>
                    <a:pt x="4165042" y="291402"/>
                  </a:lnTo>
                  <a:lnTo>
                    <a:pt x="4431323" y="447151"/>
                  </a:lnTo>
                  <a:lnTo>
                    <a:pt x="4607170" y="668215"/>
                  </a:lnTo>
                  <a:lnTo>
                    <a:pt x="4707653" y="869182"/>
                  </a:lnTo>
                  <a:lnTo>
                    <a:pt x="4747846" y="1075173"/>
                  </a:lnTo>
                  <a:lnTo>
                    <a:pt x="4747846" y="1306286"/>
                  </a:lnTo>
                  <a:lnTo>
                    <a:pt x="4717701" y="1507253"/>
                  </a:lnTo>
                  <a:lnTo>
                    <a:pt x="4657411" y="1617784"/>
                  </a:lnTo>
                  <a:lnTo>
                    <a:pt x="4858378" y="1642905"/>
                  </a:lnTo>
                  <a:lnTo>
                    <a:pt x="5054321" y="1818751"/>
                  </a:lnTo>
                  <a:lnTo>
                    <a:pt x="5134708" y="1979525"/>
                  </a:lnTo>
                  <a:lnTo>
                    <a:pt x="5179926" y="2145323"/>
                  </a:lnTo>
                  <a:lnTo>
                    <a:pt x="5220119" y="2275951"/>
                  </a:lnTo>
                  <a:lnTo>
                    <a:pt x="5220119" y="2461846"/>
                  </a:lnTo>
                  <a:lnTo>
                    <a:pt x="5179926" y="2642716"/>
                  </a:lnTo>
                  <a:lnTo>
                    <a:pt x="5084466" y="2778369"/>
                  </a:lnTo>
                  <a:lnTo>
                    <a:pt x="5084466" y="2828611"/>
                  </a:lnTo>
                  <a:lnTo>
                    <a:pt x="5139732" y="2954215"/>
                  </a:lnTo>
                  <a:lnTo>
                    <a:pt x="5194998" y="3120013"/>
                  </a:lnTo>
                  <a:lnTo>
                    <a:pt x="5194998" y="3285811"/>
                  </a:lnTo>
                  <a:lnTo>
                    <a:pt x="5154805" y="3471705"/>
                  </a:lnTo>
                  <a:lnTo>
                    <a:pt x="5109587" y="3622431"/>
                  </a:lnTo>
                  <a:lnTo>
                    <a:pt x="5014128" y="3798277"/>
                  </a:lnTo>
                  <a:lnTo>
                    <a:pt x="4868427" y="3938954"/>
                  </a:lnTo>
                  <a:lnTo>
                    <a:pt x="4727750" y="4044461"/>
                  </a:lnTo>
                  <a:lnTo>
                    <a:pt x="4531807" y="4099727"/>
                  </a:lnTo>
                  <a:lnTo>
                    <a:pt x="4531807" y="4260501"/>
                  </a:lnTo>
                  <a:lnTo>
                    <a:pt x="4511710" y="4456444"/>
                  </a:lnTo>
                  <a:lnTo>
                    <a:pt x="4441372" y="4592096"/>
                  </a:lnTo>
                  <a:lnTo>
                    <a:pt x="4335864" y="4687556"/>
                  </a:lnTo>
                  <a:lnTo>
                    <a:pt x="4195187" y="4783015"/>
                  </a:lnTo>
                  <a:lnTo>
                    <a:pt x="3999244" y="4863402"/>
                  </a:lnTo>
                  <a:lnTo>
                    <a:pt x="3773156" y="4888523"/>
                  </a:lnTo>
                  <a:lnTo>
                    <a:pt x="3602334" y="4858378"/>
                  </a:lnTo>
                  <a:lnTo>
                    <a:pt x="3481754" y="4783015"/>
                  </a:lnTo>
                  <a:lnTo>
                    <a:pt x="3486778" y="4893547"/>
                  </a:lnTo>
                  <a:lnTo>
                    <a:pt x="3461657" y="5034224"/>
                  </a:lnTo>
                  <a:lnTo>
                    <a:pt x="3361174" y="5169877"/>
                  </a:lnTo>
                  <a:lnTo>
                    <a:pt x="3260690" y="5280409"/>
                  </a:lnTo>
                  <a:lnTo>
                    <a:pt x="3049675" y="5390940"/>
                  </a:lnTo>
                  <a:lnTo>
                    <a:pt x="2768321" y="5436158"/>
                  </a:lnTo>
                  <a:lnTo>
                    <a:pt x="2497016" y="5375868"/>
                  </a:lnTo>
                  <a:lnTo>
                    <a:pt x="2250831" y="5295481"/>
                  </a:lnTo>
                  <a:lnTo>
                    <a:pt x="2125227" y="5169877"/>
                  </a:lnTo>
                  <a:lnTo>
                    <a:pt x="2029767" y="5079442"/>
                  </a:lnTo>
                  <a:lnTo>
                    <a:pt x="2009671" y="4938765"/>
                  </a:lnTo>
                  <a:lnTo>
                    <a:pt x="1989574" y="4918668"/>
                  </a:lnTo>
                  <a:lnTo>
                    <a:pt x="1863970" y="4978958"/>
                  </a:lnTo>
                  <a:lnTo>
                    <a:pt x="1728317" y="5044272"/>
                  </a:lnTo>
                  <a:lnTo>
                    <a:pt x="1507253" y="5014127"/>
                  </a:lnTo>
                  <a:lnTo>
                    <a:pt x="1306286" y="4928716"/>
                  </a:lnTo>
                  <a:lnTo>
                    <a:pt x="1190730" y="4767943"/>
                  </a:lnTo>
                  <a:lnTo>
                    <a:pt x="1120392" y="4592096"/>
                  </a:lnTo>
                  <a:lnTo>
                    <a:pt x="1120392" y="4421275"/>
                  </a:lnTo>
                  <a:lnTo>
                    <a:pt x="1120392" y="4315767"/>
                  </a:lnTo>
                  <a:lnTo>
                    <a:pt x="974690" y="4386105"/>
                  </a:lnTo>
                  <a:lnTo>
                    <a:pt x="738554" y="4406202"/>
                  </a:lnTo>
                  <a:lnTo>
                    <a:pt x="532563" y="4376057"/>
                  </a:lnTo>
                  <a:lnTo>
                    <a:pt x="386862" y="4285622"/>
                  </a:lnTo>
                  <a:lnTo>
                    <a:pt x="281354" y="4119824"/>
                  </a:lnTo>
                  <a:lnTo>
                    <a:pt x="251209" y="3969099"/>
                  </a:lnTo>
                  <a:lnTo>
                    <a:pt x="256233" y="3873639"/>
                  </a:lnTo>
                  <a:lnTo>
                    <a:pt x="266282" y="3707842"/>
                  </a:lnTo>
                  <a:lnTo>
                    <a:pt x="306475" y="3567165"/>
                  </a:lnTo>
                  <a:lnTo>
                    <a:pt x="371789" y="3491802"/>
                  </a:lnTo>
                  <a:lnTo>
                    <a:pt x="411983" y="3451609"/>
                  </a:lnTo>
                  <a:lnTo>
                    <a:pt x="422031" y="3416439"/>
                  </a:lnTo>
                  <a:lnTo>
                    <a:pt x="261257" y="3315956"/>
                  </a:lnTo>
                  <a:lnTo>
                    <a:pt x="165798" y="3180303"/>
                  </a:lnTo>
                  <a:lnTo>
                    <a:pt x="90435" y="2994409"/>
                  </a:lnTo>
                  <a:lnTo>
                    <a:pt x="80387" y="2793442"/>
                  </a:lnTo>
                  <a:lnTo>
                    <a:pt x="115556" y="2642716"/>
                  </a:lnTo>
                  <a:lnTo>
                    <a:pt x="165798" y="2431701"/>
                  </a:lnTo>
                  <a:lnTo>
                    <a:pt x="261257" y="2301072"/>
                  </a:lnTo>
                  <a:lnTo>
                    <a:pt x="361741" y="2195565"/>
                  </a:lnTo>
                  <a:lnTo>
                    <a:pt x="442128" y="2140299"/>
                  </a:lnTo>
                  <a:lnTo>
                    <a:pt x="602901" y="2054888"/>
                  </a:lnTo>
                  <a:close/>
                </a:path>
              </a:pathLst>
            </a:custGeom>
            <a:solidFill>
              <a:schemeClr val="accent6">
                <a:lumMod val="60000"/>
                <a:lumOff val="40000"/>
              </a:schemeClr>
            </a:solid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b="1"/>
            </a:p>
          </p:txBody>
        </p:sp>
        <p:sp>
          <p:nvSpPr>
            <p:cNvPr id="28" name="TextBox 27">
              <a:extLst>
                <a:ext uri="{FF2B5EF4-FFF2-40B4-BE49-F238E27FC236}">
                  <a16:creationId xmlns:a16="http://schemas.microsoft.com/office/drawing/2014/main" id="{33569914-364A-6AF1-85F1-0BFCF4FDB1A8}"/>
                </a:ext>
              </a:extLst>
            </p:cNvPr>
            <p:cNvSpPr txBox="1"/>
            <p:nvPr/>
          </p:nvSpPr>
          <p:spPr>
            <a:xfrm>
              <a:off x="10146498" y="2857389"/>
              <a:ext cx="1547451" cy="622324"/>
            </a:xfrm>
            <a:prstGeom prst="rect">
              <a:avLst/>
            </a:prstGeom>
            <a:noFill/>
            <a:ln w="19050">
              <a:noFill/>
            </a:ln>
          </p:spPr>
          <p:txBody>
            <a:bodyPr wrap="square" rtlCol="0">
              <a:spAutoFit/>
            </a:bodyPr>
            <a:lstStyle/>
            <a:p>
              <a:pPr algn="ctr"/>
              <a:r>
                <a:rPr lang="en-GB" b="1">
                  <a:latin typeface="Sassoon Primary Rg" panose="02000606020000020004" pitchFamily="2" charset="0"/>
                </a:rPr>
                <a:t>How will I know when I get there?</a:t>
              </a:r>
            </a:p>
          </p:txBody>
        </p:sp>
      </p:grpSp>
      <p:sp>
        <p:nvSpPr>
          <p:cNvPr id="29" name="Freeform: Shape 28">
            <a:extLst>
              <a:ext uri="{FF2B5EF4-FFF2-40B4-BE49-F238E27FC236}">
                <a16:creationId xmlns:a16="http://schemas.microsoft.com/office/drawing/2014/main" id="{B90D4CDA-08E3-0ED1-C1FB-0242710F0D9A}"/>
              </a:ext>
            </a:extLst>
          </p:cNvPr>
          <p:cNvSpPr/>
          <p:nvPr/>
        </p:nvSpPr>
        <p:spPr>
          <a:xfrm>
            <a:off x="2767911" y="4261260"/>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0" name="Freeform: Shape 29">
            <a:extLst>
              <a:ext uri="{FF2B5EF4-FFF2-40B4-BE49-F238E27FC236}">
                <a16:creationId xmlns:a16="http://schemas.microsoft.com/office/drawing/2014/main" id="{8139F2B2-DE54-7CE1-CCBE-1C4164F07AC7}"/>
              </a:ext>
            </a:extLst>
          </p:cNvPr>
          <p:cNvSpPr/>
          <p:nvPr/>
        </p:nvSpPr>
        <p:spPr>
          <a:xfrm>
            <a:off x="3206304" y="2991789"/>
            <a:ext cx="266024" cy="319228"/>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35" name="Freeform: Shape 34">
            <a:extLst>
              <a:ext uri="{FF2B5EF4-FFF2-40B4-BE49-F238E27FC236}">
                <a16:creationId xmlns:a16="http://schemas.microsoft.com/office/drawing/2014/main" id="{721B1AA3-17DD-506B-9B14-CDFF5EA0BECB}"/>
              </a:ext>
            </a:extLst>
          </p:cNvPr>
          <p:cNvSpPr/>
          <p:nvPr/>
        </p:nvSpPr>
        <p:spPr>
          <a:xfrm>
            <a:off x="2271587" y="1913146"/>
            <a:ext cx="206619" cy="247942"/>
          </a:xfrm>
          <a:custGeom>
            <a:avLst/>
            <a:gdLst>
              <a:gd name="connsiteX0" fmla="*/ 167780 w 1887523"/>
              <a:gd name="connsiteY0" fmla="*/ 1182847 h 2265027"/>
              <a:gd name="connsiteX1" fmla="*/ 58723 w 1887523"/>
              <a:gd name="connsiteY1" fmla="*/ 989900 h 2265027"/>
              <a:gd name="connsiteX2" fmla="*/ 0 w 1887523"/>
              <a:gd name="connsiteY2" fmla="*/ 788565 h 2265027"/>
              <a:gd name="connsiteX3" fmla="*/ 50334 w 1887523"/>
              <a:gd name="connsiteY3" fmla="*/ 612396 h 2265027"/>
              <a:gd name="connsiteX4" fmla="*/ 134224 w 1887523"/>
              <a:gd name="connsiteY4" fmla="*/ 402671 h 2265027"/>
              <a:gd name="connsiteX5" fmla="*/ 251669 w 1887523"/>
              <a:gd name="connsiteY5" fmla="*/ 310392 h 2265027"/>
              <a:gd name="connsiteX6" fmla="*/ 385893 w 1887523"/>
              <a:gd name="connsiteY6" fmla="*/ 243280 h 2265027"/>
              <a:gd name="connsiteX7" fmla="*/ 578840 w 1887523"/>
              <a:gd name="connsiteY7" fmla="*/ 251669 h 2265027"/>
              <a:gd name="connsiteX8" fmla="*/ 713064 w 1887523"/>
              <a:gd name="connsiteY8" fmla="*/ 100667 h 2265027"/>
              <a:gd name="connsiteX9" fmla="*/ 872455 w 1887523"/>
              <a:gd name="connsiteY9" fmla="*/ 16778 h 2265027"/>
              <a:gd name="connsiteX10" fmla="*/ 1065402 w 1887523"/>
              <a:gd name="connsiteY10" fmla="*/ 0 h 2265027"/>
              <a:gd name="connsiteX11" fmla="*/ 1191236 w 1887523"/>
              <a:gd name="connsiteY11" fmla="*/ 33555 h 2265027"/>
              <a:gd name="connsiteX12" fmla="*/ 1342238 w 1887523"/>
              <a:gd name="connsiteY12" fmla="*/ 100667 h 2265027"/>
              <a:gd name="connsiteX13" fmla="*/ 1417739 w 1887523"/>
              <a:gd name="connsiteY13" fmla="*/ 192946 h 2265027"/>
              <a:gd name="connsiteX14" fmla="*/ 1426128 w 1887523"/>
              <a:gd name="connsiteY14" fmla="*/ 260058 h 2265027"/>
              <a:gd name="connsiteX15" fmla="*/ 1426128 w 1887523"/>
              <a:gd name="connsiteY15" fmla="*/ 469783 h 2265027"/>
              <a:gd name="connsiteX16" fmla="*/ 1560352 w 1887523"/>
              <a:gd name="connsiteY16" fmla="*/ 486561 h 2265027"/>
              <a:gd name="connsiteX17" fmla="*/ 1744910 w 1887523"/>
              <a:gd name="connsiteY17" fmla="*/ 536895 h 2265027"/>
              <a:gd name="connsiteX18" fmla="*/ 1803633 w 1887523"/>
              <a:gd name="connsiteY18" fmla="*/ 604007 h 2265027"/>
              <a:gd name="connsiteX19" fmla="*/ 1887523 w 1887523"/>
              <a:gd name="connsiteY19" fmla="*/ 855677 h 2265027"/>
              <a:gd name="connsiteX20" fmla="*/ 1887523 w 1887523"/>
              <a:gd name="connsiteY20" fmla="*/ 1082179 h 2265027"/>
              <a:gd name="connsiteX21" fmla="*/ 1845578 w 1887523"/>
              <a:gd name="connsiteY21" fmla="*/ 1258348 h 2265027"/>
              <a:gd name="connsiteX22" fmla="*/ 1778466 w 1887523"/>
              <a:gd name="connsiteY22" fmla="*/ 1409350 h 2265027"/>
              <a:gd name="connsiteX23" fmla="*/ 1661020 w 1887523"/>
              <a:gd name="connsiteY23" fmla="*/ 1493240 h 2265027"/>
              <a:gd name="connsiteX24" fmla="*/ 1560352 w 1887523"/>
              <a:gd name="connsiteY24" fmla="*/ 1526796 h 2265027"/>
              <a:gd name="connsiteX25" fmla="*/ 1619075 w 1887523"/>
              <a:gd name="connsiteY25" fmla="*/ 1619075 h 2265027"/>
              <a:gd name="connsiteX26" fmla="*/ 1627464 w 1887523"/>
              <a:gd name="connsiteY26" fmla="*/ 1719743 h 2265027"/>
              <a:gd name="connsiteX27" fmla="*/ 1568741 w 1887523"/>
              <a:gd name="connsiteY27" fmla="*/ 1912689 h 2265027"/>
              <a:gd name="connsiteX28" fmla="*/ 1493240 w 1887523"/>
              <a:gd name="connsiteY28" fmla="*/ 2038524 h 2265027"/>
              <a:gd name="connsiteX29" fmla="*/ 1417739 w 1887523"/>
              <a:gd name="connsiteY29" fmla="*/ 2122414 h 2265027"/>
              <a:gd name="connsiteX30" fmla="*/ 1333849 w 1887523"/>
              <a:gd name="connsiteY30" fmla="*/ 2189526 h 2265027"/>
              <a:gd name="connsiteX31" fmla="*/ 1157680 w 1887523"/>
              <a:gd name="connsiteY31" fmla="*/ 2265027 h 2265027"/>
              <a:gd name="connsiteX32" fmla="*/ 914400 w 1887523"/>
              <a:gd name="connsiteY32" fmla="*/ 2248249 h 2265027"/>
              <a:gd name="connsiteX33" fmla="*/ 805343 w 1887523"/>
              <a:gd name="connsiteY33" fmla="*/ 2147581 h 2265027"/>
              <a:gd name="connsiteX34" fmla="*/ 696286 w 1887523"/>
              <a:gd name="connsiteY34" fmla="*/ 2004968 h 2265027"/>
              <a:gd name="connsiteX35" fmla="*/ 511728 w 1887523"/>
              <a:gd name="connsiteY35" fmla="*/ 2072080 h 2265027"/>
              <a:gd name="connsiteX36" fmla="*/ 302003 w 1887523"/>
              <a:gd name="connsiteY36" fmla="*/ 2072080 h 2265027"/>
              <a:gd name="connsiteX37" fmla="*/ 83890 w 1887523"/>
              <a:gd name="connsiteY37" fmla="*/ 1887522 h 2265027"/>
              <a:gd name="connsiteX38" fmla="*/ 16778 w 1887523"/>
              <a:gd name="connsiteY38" fmla="*/ 1702965 h 2265027"/>
              <a:gd name="connsiteX39" fmla="*/ 25167 w 1887523"/>
              <a:gd name="connsiteY39" fmla="*/ 1451295 h 2265027"/>
              <a:gd name="connsiteX40" fmla="*/ 58723 w 1887523"/>
              <a:gd name="connsiteY40" fmla="*/ 1350627 h 2265027"/>
              <a:gd name="connsiteX41" fmla="*/ 117446 w 1887523"/>
              <a:gd name="connsiteY41" fmla="*/ 1233181 h 2265027"/>
              <a:gd name="connsiteX42" fmla="*/ 167780 w 1887523"/>
              <a:gd name="connsiteY42" fmla="*/ 1182847 h 226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887523" h="2265027">
                <a:moveTo>
                  <a:pt x="167780" y="1182847"/>
                </a:moveTo>
                <a:lnTo>
                  <a:pt x="58723" y="989900"/>
                </a:lnTo>
                <a:lnTo>
                  <a:pt x="0" y="788565"/>
                </a:lnTo>
                <a:lnTo>
                  <a:pt x="50334" y="612396"/>
                </a:lnTo>
                <a:lnTo>
                  <a:pt x="134224" y="402671"/>
                </a:lnTo>
                <a:lnTo>
                  <a:pt x="251669" y="310392"/>
                </a:lnTo>
                <a:lnTo>
                  <a:pt x="385893" y="243280"/>
                </a:lnTo>
                <a:lnTo>
                  <a:pt x="578840" y="251669"/>
                </a:lnTo>
                <a:lnTo>
                  <a:pt x="713064" y="100667"/>
                </a:lnTo>
                <a:lnTo>
                  <a:pt x="872455" y="16778"/>
                </a:lnTo>
                <a:lnTo>
                  <a:pt x="1065402" y="0"/>
                </a:lnTo>
                <a:lnTo>
                  <a:pt x="1191236" y="33555"/>
                </a:lnTo>
                <a:lnTo>
                  <a:pt x="1342238" y="100667"/>
                </a:lnTo>
                <a:lnTo>
                  <a:pt x="1417739" y="192946"/>
                </a:lnTo>
                <a:lnTo>
                  <a:pt x="1426128" y="260058"/>
                </a:lnTo>
                <a:lnTo>
                  <a:pt x="1426128" y="469783"/>
                </a:lnTo>
                <a:lnTo>
                  <a:pt x="1560352" y="486561"/>
                </a:lnTo>
                <a:lnTo>
                  <a:pt x="1744910" y="536895"/>
                </a:lnTo>
                <a:lnTo>
                  <a:pt x="1803633" y="604007"/>
                </a:lnTo>
                <a:lnTo>
                  <a:pt x="1887523" y="855677"/>
                </a:lnTo>
                <a:lnTo>
                  <a:pt x="1887523" y="1082179"/>
                </a:lnTo>
                <a:lnTo>
                  <a:pt x="1845578" y="1258348"/>
                </a:lnTo>
                <a:lnTo>
                  <a:pt x="1778466" y="1409350"/>
                </a:lnTo>
                <a:lnTo>
                  <a:pt x="1661020" y="1493240"/>
                </a:lnTo>
                <a:lnTo>
                  <a:pt x="1560352" y="1526796"/>
                </a:lnTo>
                <a:lnTo>
                  <a:pt x="1619075" y="1619075"/>
                </a:lnTo>
                <a:lnTo>
                  <a:pt x="1627464" y="1719743"/>
                </a:lnTo>
                <a:lnTo>
                  <a:pt x="1568741" y="1912689"/>
                </a:lnTo>
                <a:lnTo>
                  <a:pt x="1493240" y="2038524"/>
                </a:lnTo>
                <a:lnTo>
                  <a:pt x="1417739" y="2122414"/>
                </a:lnTo>
                <a:lnTo>
                  <a:pt x="1333849" y="2189526"/>
                </a:lnTo>
                <a:lnTo>
                  <a:pt x="1157680" y="2265027"/>
                </a:lnTo>
                <a:lnTo>
                  <a:pt x="914400" y="2248249"/>
                </a:lnTo>
                <a:lnTo>
                  <a:pt x="805343" y="2147581"/>
                </a:lnTo>
                <a:lnTo>
                  <a:pt x="696286" y="2004968"/>
                </a:lnTo>
                <a:lnTo>
                  <a:pt x="511728" y="2072080"/>
                </a:lnTo>
                <a:lnTo>
                  <a:pt x="302003" y="2072080"/>
                </a:lnTo>
                <a:lnTo>
                  <a:pt x="83890" y="1887522"/>
                </a:lnTo>
                <a:lnTo>
                  <a:pt x="16778" y="1702965"/>
                </a:lnTo>
                <a:lnTo>
                  <a:pt x="25167" y="1451295"/>
                </a:lnTo>
                <a:lnTo>
                  <a:pt x="58723" y="1350627"/>
                </a:lnTo>
                <a:lnTo>
                  <a:pt x="117446" y="1233181"/>
                </a:lnTo>
                <a:lnTo>
                  <a:pt x="167780" y="1182847"/>
                </a:lnTo>
                <a:close/>
              </a:path>
            </a:pathLst>
          </a:custGeom>
          <a:noFill/>
          <a:ln w="19050">
            <a:solidFill>
              <a:schemeClr val="tx1"/>
            </a:solidFill>
            <a:extLst>
              <a:ext uri="{C807C97D-BFC1-408E-A445-0C87EB9F89A2}">
                <ask:lineSketchStyleProps xmlns:ask="http://schemas.microsoft.com/office/drawing/2018/sketchyshapes">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a:p>
        </p:txBody>
      </p:sp>
      <p:sp>
        <p:nvSpPr>
          <p:cNvPr id="5" name="TextBox 4">
            <a:extLst>
              <a:ext uri="{FF2B5EF4-FFF2-40B4-BE49-F238E27FC236}">
                <a16:creationId xmlns:a16="http://schemas.microsoft.com/office/drawing/2014/main" id="{3A69BFB0-E1DC-E3FA-6EA3-821A27D46522}"/>
              </a:ext>
            </a:extLst>
          </p:cNvPr>
          <p:cNvSpPr txBox="1"/>
          <p:nvPr/>
        </p:nvSpPr>
        <p:spPr>
          <a:xfrm>
            <a:off x="5873925" y="2665439"/>
            <a:ext cx="5507001" cy="1200329"/>
          </a:xfrm>
          <a:prstGeom prst="rect">
            <a:avLst/>
          </a:prstGeom>
          <a:noFill/>
        </p:spPr>
        <p:txBody>
          <a:bodyPr wrap="square" rtlCol="0">
            <a:spAutoFit/>
          </a:bodyPr>
          <a:lstStyle/>
          <a:p>
            <a:r>
              <a:rPr lang="en-GB" sz="2400">
                <a:latin typeface="Sassoon Infant Rg" panose="02000503030000020003" pitchFamily="2" charset="0"/>
                <a:ea typeface="Sassoon Infant Rg" panose="02000503030000020003" pitchFamily="2" charset="0"/>
              </a:rPr>
              <a:t>I am learning this because it will help me to develop my understanding of vocabulary at a sentence and text level.</a:t>
            </a:r>
          </a:p>
        </p:txBody>
      </p:sp>
      <p:grpSp>
        <p:nvGrpSpPr>
          <p:cNvPr id="3" name="Group 2">
            <a:extLst>
              <a:ext uri="{FF2B5EF4-FFF2-40B4-BE49-F238E27FC236}">
                <a16:creationId xmlns:a16="http://schemas.microsoft.com/office/drawing/2014/main" id="{AB1D5BFC-9C6F-78FE-BB55-8A787A315711}"/>
              </a:ext>
            </a:extLst>
          </p:cNvPr>
          <p:cNvGrpSpPr/>
          <p:nvPr/>
        </p:nvGrpSpPr>
        <p:grpSpPr>
          <a:xfrm>
            <a:off x="10607910" y="233361"/>
            <a:ext cx="1316831" cy="1316831"/>
            <a:chOff x="5180554" y="1026138"/>
            <a:chExt cx="1316831" cy="1316831"/>
          </a:xfrm>
        </p:grpSpPr>
        <p:sp>
          <p:nvSpPr>
            <p:cNvPr id="4" name="Oval 3">
              <a:extLst>
                <a:ext uri="{FF2B5EF4-FFF2-40B4-BE49-F238E27FC236}">
                  <a16:creationId xmlns:a16="http://schemas.microsoft.com/office/drawing/2014/main" id="{30C90C35-E0BE-7AD4-92BC-8EFF113E4DB8}"/>
                </a:ext>
              </a:extLst>
            </p:cNvPr>
            <p:cNvSpPr/>
            <p:nvPr/>
          </p:nvSpPr>
          <p:spPr>
            <a:xfrm>
              <a:off x="5180554" y="1026138"/>
              <a:ext cx="1316831" cy="1316831"/>
            </a:xfrm>
            <a:prstGeom prst="ellipse">
              <a:avLst/>
            </a:prstGeom>
            <a:solidFill>
              <a:srgbClr val="DFF2C0"/>
            </a:solidFill>
            <a:ln w="38100">
              <a:solidFill>
                <a:srgbClr val="82BB27"/>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1" name="Oval 4">
              <a:extLst>
                <a:ext uri="{FF2B5EF4-FFF2-40B4-BE49-F238E27FC236}">
                  <a16:creationId xmlns:a16="http://schemas.microsoft.com/office/drawing/2014/main" id="{D5E138FF-7604-1E33-555D-87C2C96CBE05}"/>
                </a:ext>
              </a:extLst>
            </p:cNvPr>
            <p:cNvSpPr txBox="1"/>
            <p:nvPr/>
          </p:nvSpPr>
          <p:spPr>
            <a:xfrm>
              <a:off x="5373399" y="1218983"/>
              <a:ext cx="931141" cy="93114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6510" tIns="16510" rIns="16510" bIns="16510" numCol="1" spcCol="1270" anchor="ctr" anchorCtr="0">
              <a:noAutofit/>
            </a:bodyPr>
            <a:lstStyle/>
            <a:p>
              <a:pPr marL="0" lvl="0" indent="0" algn="ctr" defTabSz="577850">
                <a:lnSpc>
                  <a:spcPct val="90000"/>
                </a:lnSpc>
                <a:spcBef>
                  <a:spcPct val="0"/>
                </a:spcBef>
                <a:spcAft>
                  <a:spcPct val="35000"/>
                </a:spcAft>
                <a:buNone/>
              </a:pPr>
              <a:r>
                <a:rPr lang="en-GB" sz="1300" b="1" kern="1200">
                  <a:solidFill>
                    <a:srgbClr val="82BB27"/>
                  </a:solidFill>
                  <a:latin typeface="Sassoon Infant Rg" panose="02000503030000020003" pitchFamily="2" charset="0"/>
                  <a:ea typeface="Sassoon Infant Rg" panose="02000503030000020003" pitchFamily="2" charset="0"/>
                </a:rPr>
                <a:t>Vocabulary</a:t>
              </a:r>
            </a:p>
          </p:txBody>
        </p:sp>
      </p:grpSp>
    </p:spTree>
    <p:extLst>
      <p:ext uri="{BB962C8B-B14F-4D97-AF65-F5344CB8AC3E}">
        <p14:creationId xmlns:p14="http://schemas.microsoft.com/office/powerpoint/2010/main" val="2842610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F7DB-6538-E176-FE28-8F1AD256569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4F21690-854A-3024-D098-1C56DE57443E}"/>
              </a:ext>
            </a:extLst>
          </p:cNvPr>
          <p:cNvPicPr>
            <a:picLocks noChangeAspect="1"/>
          </p:cNvPicPr>
          <p:nvPr/>
        </p:nvPicPr>
        <p:blipFill>
          <a:blip r:embed="rId2"/>
          <a:stretch>
            <a:fillRect/>
          </a:stretch>
        </p:blipFill>
        <p:spPr>
          <a:xfrm>
            <a:off x="10424916" y="134700"/>
            <a:ext cx="1616752" cy="697982"/>
          </a:xfrm>
          <a:prstGeom prst="rect">
            <a:avLst/>
          </a:prstGeom>
        </p:spPr>
      </p:pic>
      <p:sp>
        <p:nvSpPr>
          <p:cNvPr id="6" name="TextBox 5">
            <a:extLst>
              <a:ext uri="{FF2B5EF4-FFF2-40B4-BE49-F238E27FC236}">
                <a16:creationId xmlns:a16="http://schemas.microsoft.com/office/drawing/2014/main" id="{AEC30692-9C94-A8DB-4755-85FE74DE9821}"/>
              </a:ext>
            </a:extLst>
          </p:cNvPr>
          <p:cNvSpPr txBox="1"/>
          <p:nvPr/>
        </p:nvSpPr>
        <p:spPr>
          <a:xfrm>
            <a:off x="288098" y="335454"/>
            <a:ext cx="6864956" cy="707886"/>
          </a:xfrm>
          <a:prstGeom prst="rect">
            <a:avLst/>
          </a:prstGeom>
          <a:noFill/>
        </p:spPr>
        <p:txBody>
          <a:bodyPr wrap="none" rtlCol="0">
            <a:spAutoFit/>
          </a:bodyPr>
          <a:lstStyle/>
          <a:p>
            <a:r>
              <a:rPr lang="en-GB" sz="4000" b="1" u="sng"/>
              <a:t>Practice questions - Inference</a:t>
            </a:r>
          </a:p>
        </p:txBody>
      </p:sp>
      <p:pic>
        <p:nvPicPr>
          <p:cNvPr id="7" name="Picture 6">
            <a:extLst>
              <a:ext uri="{FF2B5EF4-FFF2-40B4-BE49-F238E27FC236}">
                <a16:creationId xmlns:a16="http://schemas.microsoft.com/office/drawing/2014/main" id="{E0AB4FA0-4B96-F850-DD50-18A5FD657BB8}"/>
              </a:ext>
            </a:extLst>
          </p:cNvPr>
          <p:cNvPicPr/>
          <p:nvPr/>
        </p:nvPicPr>
        <p:blipFill>
          <a:blip r:embed="rId3">
            <a:extLst>
              <a:ext uri="{28A0092B-C50C-407E-A947-70E740481C1C}">
                <a14:useLocalDpi xmlns:a14="http://schemas.microsoft.com/office/drawing/2010/main" val="0"/>
              </a:ext>
            </a:extLst>
          </a:blip>
          <a:stretch>
            <a:fillRect/>
          </a:stretch>
        </p:blipFill>
        <p:spPr>
          <a:xfrm>
            <a:off x="5250435" y="6048469"/>
            <a:ext cx="1691129" cy="711848"/>
          </a:xfrm>
          <a:prstGeom prst="rect">
            <a:avLst/>
          </a:prstGeom>
        </p:spPr>
      </p:pic>
      <p:sp>
        <p:nvSpPr>
          <p:cNvPr id="4" name="Rounded Rectangle 9">
            <a:extLst>
              <a:ext uri="{FF2B5EF4-FFF2-40B4-BE49-F238E27FC236}">
                <a16:creationId xmlns:a16="http://schemas.microsoft.com/office/drawing/2014/main" id="{2A06B04F-B021-4121-0C16-7A5BACEFBC1B}"/>
              </a:ext>
            </a:extLst>
          </p:cNvPr>
          <p:cNvSpPr/>
          <p:nvPr/>
        </p:nvSpPr>
        <p:spPr>
          <a:xfrm>
            <a:off x="8019658" y="6325456"/>
            <a:ext cx="4026568" cy="43134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Show / Hide Extract</a:t>
            </a:r>
          </a:p>
        </p:txBody>
      </p:sp>
      <p:sp>
        <p:nvSpPr>
          <p:cNvPr id="10" name="TextBox 9">
            <a:extLst>
              <a:ext uri="{FF2B5EF4-FFF2-40B4-BE49-F238E27FC236}">
                <a16:creationId xmlns:a16="http://schemas.microsoft.com/office/drawing/2014/main" id="{C064352E-4E96-13BD-C58F-5EEC5E15F4B5}"/>
              </a:ext>
            </a:extLst>
          </p:cNvPr>
          <p:cNvSpPr txBox="1"/>
          <p:nvPr/>
        </p:nvSpPr>
        <p:spPr>
          <a:xfrm>
            <a:off x="418368" y="1463046"/>
            <a:ext cx="11355262" cy="2246769"/>
          </a:xfrm>
          <a:prstGeom prst="rect">
            <a:avLst/>
          </a:prstGeom>
          <a:noFill/>
        </p:spPr>
        <p:txBody>
          <a:bodyPr wrap="square" rtlCol="0">
            <a:spAutoFit/>
          </a:bodyPr>
          <a:lstStyle/>
          <a:p>
            <a:r>
              <a:rPr lang="en-US" sz="1900"/>
              <a:t>Why do explanation writers use causal connectives, according to this extract?</a:t>
            </a:r>
          </a:p>
          <a:p>
            <a:r>
              <a:rPr lang="en-US" sz="1900"/>
              <a:t>To show how one thing causes or leads to another, so the reader can follow the reasoning clearly rather than being left with unconnected facts.</a:t>
            </a:r>
          </a:p>
          <a:p>
            <a:endParaRPr lang="en-US" sz="1900"/>
          </a:p>
          <a:p>
            <a:r>
              <a:rPr lang="en-US" sz="1900"/>
              <a:t>Find a phrase from the text that suggests explanation texts use a factual tone.</a:t>
            </a:r>
          </a:p>
          <a:p>
            <a:r>
              <a:rPr lang="en-US" sz="1900"/>
              <a:t>‘Objective, reliable fact’ — this shows the writing aims to sound trustworthy and informational rather than personal or expressive.</a:t>
            </a:r>
          </a:p>
        </p:txBody>
      </p:sp>
      <p:sp>
        <p:nvSpPr>
          <p:cNvPr id="3" name="TextBox 2">
            <a:extLst>
              <a:ext uri="{FF2B5EF4-FFF2-40B4-BE49-F238E27FC236}">
                <a16:creationId xmlns:a16="http://schemas.microsoft.com/office/drawing/2014/main" id="{EBAE955F-2F2B-1B4A-4719-6AB782D998C5}"/>
              </a:ext>
            </a:extLst>
          </p:cNvPr>
          <p:cNvSpPr txBox="1"/>
          <p:nvPr/>
        </p:nvSpPr>
        <p:spPr>
          <a:xfrm>
            <a:off x="145774" y="1043340"/>
            <a:ext cx="12046226" cy="4585423"/>
          </a:xfrm>
          <a:prstGeom prst="rect">
            <a:avLst/>
          </a:prstGeom>
          <a:solidFill>
            <a:schemeClr val="accent5">
              <a:lumMod val="20000"/>
              <a:lumOff val="80000"/>
            </a:schemeClr>
          </a:solidFill>
        </p:spPr>
        <p:txBody>
          <a:bodyPr wrap="square" anchor="ctr">
            <a:noAutofit/>
          </a:bodyPr>
          <a:lstStyle/>
          <a:p>
            <a:r>
              <a:rPr lang="en-US" sz="2200"/>
              <a:t>Explanation texts are written to make complex processes clear to the reader. Unlike narratives, which tell a story from one moment to the next, explanation texts are organised around ideas rather than events. A writer of an explanation text must therefore make careful choices about how to structure what they want to convey. One of the most important tools available is the causal connective. Words and phrases such as ‘because’, ‘as a result’ and ‘this means that’ allow the writer to show how one thing causes or leads to another. Without these connections, the reader would be left with a list of facts that do not obviously relate to each other. Technical vocabulary is also central to the explanation text. Using precise, subject-specific words gives the writing authority and allows the writer to convey meaning efficiently. A formal tone signals to the reader that the purpose of the text is informational rather than expressive. When a writer uses the present tense and third person throughout, it creates a sense of objective, reliable fact. These features work together to serve the text’s purpose: to explain something clearly, logically and accurately. A skilled reader of explanation texts learns to recognise these features and use them to navigate the content more effectively, extracting the information they need with greater confidence.</a:t>
            </a:r>
          </a:p>
        </p:txBody>
      </p:sp>
    </p:spTree>
    <p:extLst>
      <p:ext uri="{BB962C8B-B14F-4D97-AF65-F5344CB8AC3E}">
        <p14:creationId xmlns:p14="http://schemas.microsoft.com/office/powerpoint/2010/main" val="2161724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4"/>
                    </p:tgtEl>
                  </p:cond>
                </p:stCondLst>
                <p:endSync evt="end" delay="0">
                  <p:rtn val="all"/>
                </p:endSync>
                <p:childTnLst>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xit" presetSubtype="0" fill="hold" grpId="1" nodeType="clickEffect">
                                  <p:stCondLst>
                                    <p:cond delay="0"/>
                                  </p:stCondLst>
                                  <p:childTnLst>
                                    <p:set>
                                      <p:cBhvr>
                                        <p:cTn id="31" dur="1" fill="hold">
                                          <p:stCondLst>
                                            <p:cond delay="0"/>
                                          </p:stCondLst>
                                        </p:cTn>
                                        <p:tgtEl>
                                          <p:spTgt spid="3"/>
                                        </p:tgtEl>
                                        <p:attrNameLst>
                                          <p:attrName>style.visibility</p:attrName>
                                        </p:attrNameLst>
                                      </p:cBhvr>
                                      <p:to>
                                        <p:strVal val="hidden"/>
                                      </p:to>
                                    </p:set>
                                  </p:childTnLst>
                                </p:cTn>
                              </p:par>
                            </p:childTnLst>
                          </p:cTn>
                        </p:par>
                      </p:childTnLst>
                    </p:cTn>
                  </p:par>
                </p:childTnLst>
              </p:cTn>
              <p:nextCondLst>
                <p:cond evt="onClick" delay="0">
                  <p:tgtEl>
                    <p:spTgt spid="4"/>
                  </p:tgtEl>
                </p:cond>
              </p:nextCondLst>
            </p:seq>
          </p:childTnLst>
        </p:cTn>
      </p:par>
    </p:tnLst>
    <p:bldLst>
      <p:bldP spid="3" grpId="0" animBg="1"/>
      <p:bldP spid="3"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Sassoon Infant Rg"/>
        <a:ea typeface=""/>
        <a:cs typeface=""/>
      </a:majorFont>
      <a:minorFont>
        <a:latin typeface="Sassoon Infant Rg"/>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Relationships xmlns="http://schemas.openxmlformats.org/package/2006/relationships"><Relationship Id="rId1" Type="http://schemas.openxmlformats.org/officeDocument/2006/relationships/customXmlProps" Target="itemProps1.xml"/></Relationships>
</file>

<file path=customXml/_rels/item2.xml.rels><?xml version="1.0" encoding="UTF-8"?><Relationships xmlns="http://schemas.openxmlformats.org/package/2006/relationships"><Relationship Id="rId1" Type="http://schemas.openxmlformats.org/officeDocument/2006/relationships/customXmlProps" Target="itemProps2.xml"/></Relationships>
</file>

<file path=customXml/_rels/item3.xml.rels><?xml version="1.0" encoding="UTF-8"?><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848fd07-94db-4308-8950-9cb0e230b958" xsi:nil="true"/>
    <lcf76f155ced4ddcb4097134ff3c332f xmlns="9e6dd442-da5e-411e-833f-0fee7dcd7819">
      <Terms xmlns="http://schemas.microsoft.com/office/infopath/2007/PartnerControls"/>
    </lcf76f155ced4ddcb4097134ff3c332f>
    <SharedWithUsers xmlns="4848fd07-94db-4308-8950-9cb0e230b958">
      <UserInfo>
        <DisplayName>Jo Hewitt - WFA</DisplayName>
        <AccountId>40</AccountId>
        <AccountType/>
      </UserInfo>
      <UserInfo>
        <DisplayName>Jonathan Miller - WFA</DisplayName>
        <AccountId>57</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C71695694772F44B387615DF8DED97F" ma:contentTypeVersion="16" ma:contentTypeDescription="Create a new document." ma:contentTypeScope="" ma:versionID="6b988a150421d80c99f84aa2bfb3de38">
  <xsd:schema xmlns:xsd="http://www.w3.org/2001/XMLSchema" xmlns:xs="http://www.w3.org/2001/XMLSchema" xmlns:p="http://schemas.microsoft.com/office/2006/metadata/properties" xmlns:ns2="9e6dd442-da5e-411e-833f-0fee7dcd7819" xmlns:ns3="4848fd07-94db-4308-8950-9cb0e230b958" targetNamespace="http://schemas.microsoft.com/office/2006/metadata/properties" ma:root="true" ma:fieldsID="0840e1ae8104f568f88bbc0ee80d0ce2" ns2:_="" ns3:_="">
    <xsd:import namespace="9e6dd442-da5e-411e-833f-0fee7dcd7819"/>
    <xsd:import namespace="4848fd07-94db-4308-8950-9cb0e230b9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6dd442-da5e-411e-833f-0fee7dcd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08261e-ebf2-489e-9cf5-3c5ddf1ef55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48fd07-94db-4308-8950-9cb0e230b95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0903c9d-9125-4551-886d-abbd3fd64318}" ma:internalName="TaxCatchAll" ma:showField="CatchAllData" ma:web="4848fd07-94db-4308-8950-9cb0e230b95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5AAA2B-1185-4CA6-878D-532686679D9F}">
  <ds:schemaRefs>
    <ds:schemaRef ds:uri="http://purl.org/dc/elements/1.1/"/>
    <ds:schemaRef ds:uri="http://schemas.microsoft.com/office/infopath/2007/PartnerControls"/>
    <ds:schemaRef ds:uri="http://schemas.openxmlformats.org/package/2006/metadata/core-properties"/>
    <ds:schemaRef ds:uri="4848fd07-94db-4308-8950-9cb0e230b958"/>
    <ds:schemaRef ds:uri="http://schemas.microsoft.com/office/2006/documentManagement/types"/>
    <ds:schemaRef ds:uri="http://purl.org/dc/dcmitype/"/>
    <ds:schemaRef ds:uri="http://www.w3.org/XML/1998/namespace"/>
    <ds:schemaRef ds:uri="http://purl.org/dc/terms/"/>
    <ds:schemaRef ds:uri="9e6dd442-da5e-411e-833f-0fee7dcd7819"/>
    <ds:schemaRef ds:uri="http://schemas.microsoft.com/office/2006/metadata/properties"/>
  </ds:schemaRefs>
</ds:datastoreItem>
</file>

<file path=customXml/itemProps2.xml><?xml version="1.0" encoding="utf-8"?>
<ds:datastoreItem xmlns:ds="http://schemas.openxmlformats.org/officeDocument/2006/customXml" ds:itemID="{DE02CAFD-7AEC-4FCB-8049-4FEF8A0D00D8}">
  <ds:schemaRefs>
    <ds:schemaRef ds:uri="http://schemas.microsoft.com/sharepoint/v3/contenttype/forms"/>
  </ds:schemaRefs>
</ds:datastoreItem>
</file>

<file path=customXml/itemProps3.xml><?xml version="1.0" encoding="utf-8"?>
<ds:datastoreItem xmlns:ds="http://schemas.openxmlformats.org/officeDocument/2006/customXml" ds:itemID="{71D150B1-45AA-4FD4-8213-B2AC8AE18B9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e6dd442-da5e-411e-833f-0fee7dcd7819"/>
    <ds:schemaRef ds:uri="4848fd07-94db-4308-8950-9cb0e230b95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2690</TotalTime>
  <Words>2015</Words>
  <Application>Microsoft Macintosh PowerPoint</Application>
  <PresentationFormat>Widescreen</PresentationFormat>
  <Paragraphs>137</Paragraphs>
  <Slides>15</Slides>
  <Notes>9</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Sassoon Infant Rg</vt:lpstr>
      <vt:lpstr>Sassoon Primary Rg</vt:lpstr>
      <vt:lpstr>Twinkl Cursive Looped Light</vt:lpstr>
      <vt:lpstr>XCCW Joined 4a</vt:lpstr>
      <vt:lpstr>Office Theme</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lpstr>Being a Reader</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Helen Rea - WFA</dc:creator>
  <cp:lastModifiedBy>innes mclean</cp:lastModifiedBy>
  <cp:revision>2</cp:revision>
  <cp:lastPrinted>2024-09-12T11:50:42Z</cp:lastPrinted>
  <dcterms:created xsi:type="dcterms:W3CDTF">2024-01-22T14:53:27Z</dcterms:created>
  <dcterms:modified xsi:type="dcterms:W3CDTF">2026-05-21T16:23:28Z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0x010100AC71695694772F44B387615DF8DED97F</vt:lpwstr>
  </property>
</Properties>
</file>