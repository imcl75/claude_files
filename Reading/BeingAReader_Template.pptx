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ink/ink1.xml" ContentType="application/inkml+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0"/>
  </p:notesMasterIdLst>
  <p:sldIdLst>
    <p:sldId id="1923" r:id="rId5"/>
    <p:sldId id="1817" r:id="rId6"/>
    <p:sldId id="1884" r:id="rId7"/>
    <p:sldId id="1912" r:id="rId8"/>
    <p:sldId id="1907" r:id="rId9"/>
    <p:sldId id="1887" r:id="rId10"/>
    <p:sldId id="1800" r:id="rId11"/>
    <p:sldId id="1904" r:id="rId12"/>
    <p:sldId id="407" r:id="rId13"/>
    <p:sldId id="1799" r:id="rId14"/>
    <p:sldId id="1885" r:id="rId15"/>
    <p:sldId id="1903" r:id="rId16"/>
    <p:sldId id="1804" r:id="rId17"/>
    <p:sldId id="1902" r:id="rId18"/>
    <p:sldId id="1924" r:id="rId19"/>
    <p:sldId id="2001" r:id="rId27"/>
    <p:sldId id="2002" r:id="rId28"/>
    <p:sldId id="2003" r:id="rId29"/>
    <p:sldId id="2004" r:id="rId30"/>
    <p:sldId id="2005" r:id="rId31"/>
    <p:sldId id="2006" r:id="rId32"/>
    <p:sldId id="2007" r:id="rId33"/>
  </p:sldIdLst>
  <p:sldSz cx="12192000" cy="6858000"/>
  <p:notesSz cx="6797675" cy="9926638"/>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B0F0"/>
    <a:srgbClr val="FFFF00"/>
    <a:srgbClr val="DEECF8"/>
    <a:srgbClr val="DFF2C0"/>
    <a:srgbClr val="FFDD99"/>
    <a:srgbClr val="A2CFFC"/>
    <a:srgbClr val="CD007A"/>
    <a:srgbClr val="FFD5EE"/>
    <a:srgbClr val="D463AF"/>
    <a:srgbClr val="FFAFD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7195C1D-3DE4-4D47-948A-4F5D6034330B}" v="2" dt="2026-05-21T16:23:02.90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varScale="1">
        <p:scale>
          <a:sx n="116" d="100"/>
          <a:sy n="116" d="100"/>
        </p:scale>
        <p:origin x="864" y="176"/>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6/11/relationships/changesInfo" Target="changesInfos/changesInfo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1.xml"/><Relationship Id="rId33" Type="http://schemas.openxmlformats.org/officeDocument/2006/relationships/slide" Target="slides/slide2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Innes Mclean - WFA" userId="cffa568d-066a-4903-b028-bafd937e5ea6" providerId="ADAL" clId="{BBC503F0-0109-47F6-B1DF-E0A271B1FB53}"/>
    <pc:docChg chg="modSld">
      <pc:chgData name="Innes Mclean - WFA" userId="cffa568d-066a-4903-b028-bafd937e5ea6" providerId="ADAL" clId="{BBC503F0-0109-47F6-B1DF-E0A271B1FB53}" dt="2026-05-06T07:16:05.639" v="50" actId="403"/>
      <pc:docMkLst>
        <pc:docMk/>
      </pc:docMkLst>
      <pc:sldChg chg="modSp mod">
        <pc:chgData name="Innes Mclean - WFA" userId="cffa568d-066a-4903-b028-bafd937e5ea6" providerId="ADAL" clId="{BBC503F0-0109-47F6-B1DF-E0A271B1FB53}" dt="2026-05-06T07:16:05.639" v="50" actId="403"/>
        <pc:sldMkLst>
          <pc:docMk/>
          <pc:sldMk cId="3172617500" sldId="1817"/>
        </pc:sldMkLst>
        <pc:spChg chg="mod">
          <ac:chgData name="Innes Mclean - WFA" userId="cffa568d-066a-4903-b028-bafd937e5ea6" providerId="ADAL" clId="{BBC503F0-0109-47F6-B1DF-E0A271B1FB53}" dt="2026-05-06T07:16:05.639" v="50" actId="403"/>
          <ac:spMkLst>
            <pc:docMk/>
            <pc:sldMk cId="3172617500" sldId="1817"/>
            <ac:spMk id="8" creationId="{E3C356D1-4D69-6789-D9E9-77C69F82E055}"/>
          </ac:spMkLst>
        </pc:spChg>
      </pc:sldChg>
    </pc:docChg>
  </pc:docChgLst>
  <pc:docChgLst>
    <pc:chgData name="Innes Mclean - WFA" userId="cffa568d-066a-4903-b028-bafd937e5ea6" providerId="ADAL" clId="{BAFB47AA-30B1-57EF-A3A9-D4A2AD815BD7}"/>
    <pc:docChg chg="custSel addSld delSld modSld">
      <pc:chgData name="Innes Mclean - WFA" userId="cffa568d-066a-4903-b028-bafd937e5ea6" providerId="ADAL" clId="{BAFB47AA-30B1-57EF-A3A9-D4A2AD815BD7}" dt="2026-05-21T16:23:20.305" v="82" actId="1076"/>
      <pc:docMkLst>
        <pc:docMk/>
      </pc:docMkLst>
      <pc:sldChg chg="delSp modSp del mod modShow">
        <pc:chgData name="Innes Mclean - WFA" userId="cffa568d-066a-4903-b028-bafd937e5ea6" providerId="ADAL" clId="{BAFB47AA-30B1-57EF-A3A9-D4A2AD815BD7}" dt="2026-05-21T16:22:44.359" v="56" actId="2696"/>
        <pc:sldMkLst>
          <pc:docMk/>
          <pc:sldMk cId="1347850878" sldId="407"/>
        </pc:sldMkLst>
      </pc:sldChg>
      <pc:sldChg chg="addSp modSp add mod modShow">
        <pc:chgData name="Innes Mclean - WFA" userId="cffa568d-066a-4903-b028-bafd937e5ea6" providerId="ADAL" clId="{BAFB47AA-30B1-57EF-A3A9-D4A2AD815BD7}" dt="2026-05-21T16:23:12.533" v="81" actId="1076"/>
        <pc:sldMkLst>
          <pc:docMk/>
          <pc:sldMk cId="3303693540" sldId="407"/>
        </pc:sldMkLst>
        <pc:spChg chg="mod">
          <ac:chgData name="Innes Mclean - WFA" userId="cffa568d-066a-4903-b028-bafd937e5ea6" providerId="ADAL" clId="{BAFB47AA-30B1-57EF-A3A9-D4A2AD815BD7}" dt="2026-05-21T16:22:57.742" v="60" actId="20577"/>
          <ac:spMkLst>
            <pc:docMk/>
            <pc:sldMk cId="3303693540" sldId="407"/>
            <ac:spMk id="3" creationId="{9AA1DE16-8C7B-4868-2DE3-9C9C7D7D4324}"/>
          </ac:spMkLst>
        </pc:spChg>
        <pc:spChg chg="add mod">
          <ac:chgData name="Innes Mclean - WFA" userId="cffa568d-066a-4903-b028-bafd937e5ea6" providerId="ADAL" clId="{BAFB47AA-30B1-57EF-A3A9-D4A2AD815BD7}" dt="2026-05-21T16:23:12.533" v="81" actId="1076"/>
          <ac:spMkLst>
            <pc:docMk/>
            <pc:sldMk cId="3303693540" sldId="407"/>
            <ac:spMk id="6" creationId="{2B18F8C8-4B63-E425-87CE-D13C91BCA056}"/>
          </ac:spMkLst>
        </pc:spChg>
      </pc:sldChg>
      <pc:sldChg chg="add mod modShow">
        <pc:chgData name="Innes Mclean - WFA" userId="cffa568d-066a-4903-b028-bafd937e5ea6" providerId="ADAL" clId="{BAFB47AA-30B1-57EF-A3A9-D4A2AD815BD7}" dt="2026-05-21T16:22:52.831" v="59" actId="34476"/>
        <pc:sldMkLst>
          <pc:docMk/>
          <pc:sldMk cId="2855788608" sldId="1799"/>
        </pc:sldMkLst>
      </pc:sldChg>
      <pc:sldChg chg="del mod modShow">
        <pc:chgData name="Innes Mclean - WFA" userId="cffa568d-066a-4903-b028-bafd937e5ea6" providerId="ADAL" clId="{BAFB47AA-30B1-57EF-A3A9-D4A2AD815BD7}" dt="2026-05-21T16:22:44.359" v="56" actId="2696"/>
        <pc:sldMkLst>
          <pc:docMk/>
          <pc:sldMk cId="3068266800" sldId="1799"/>
        </pc:sldMkLst>
      </pc:sldChg>
      <pc:sldChg chg="del mod modShow">
        <pc:chgData name="Innes Mclean - WFA" userId="cffa568d-066a-4903-b028-bafd937e5ea6" providerId="ADAL" clId="{BAFB47AA-30B1-57EF-A3A9-D4A2AD815BD7}" dt="2026-05-21T16:22:44.359" v="56" actId="2696"/>
        <pc:sldMkLst>
          <pc:docMk/>
          <pc:sldMk cId="923010346" sldId="1804"/>
        </pc:sldMkLst>
      </pc:sldChg>
      <pc:sldChg chg="modSp add mod modShow">
        <pc:chgData name="Innes Mclean - WFA" userId="cffa568d-066a-4903-b028-bafd937e5ea6" providerId="ADAL" clId="{BAFB47AA-30B1-57EF-A3A9-D4A2AD815BD7}" dt="2026-05-21T16:23:20.305" v="82" actId="1076"/>
        <pc:sldMkLst>
          <pc:docMk/>
          <pc:sldMk cId="1979448493" sldId="1804"/>
        </pc:sldMkLst>
        <pc:spChg chg="mod">
          <ac:chgData name="Innes Mclean - WFA" userId="cffa568d-066a-4903-b028-bafd937e5ea6" providerId="ADAL" clId="{BAFB47AA-30B1-57EF-A3A9-D4A2AD815BD7}" dt="2026-05-21T16:23:20.305" v="82" actId="1076"/>
          <ac:spMkLst>
            <pc:docMk/>
            <pc:sldMk cId="1979448493" sldId="1804"/>
            <ac:spMk id="22" creationId="{BBE494B4-E4A1-C48A-15E2-3683EA0AD086}"/>
          </ac:spMkLst>
        </pc:spChg>
      </pc:sldChg>
      <pc:sldChg chg="modSp mod">
        <pc:chgData name="Innes Mclean - WFA" userId="cffa568d-066a-4903-b028-bafd937e5ea6" providerId="ADAL" clId="{BAFB47AA-30B1-57EF-A3A9-D4A2AD815BD7}" dt="2026-05-18T15:47:23.455" v="55" actId="20577"/>
        <pc:sldMkLst>
          <pc:docMk/>
          <pc:sldMk cId="3172617500" sldId="1817"/>
        </pc:sldMkLst>
        <pc:spChg chg="mod">
          <ac:chgData name="Innes Mclean - WFA" userId="cffa568d-066a-4903-b028-bafd937e5ea6" providerId="ADAL" clId="{BAFB47AA-30B1-57EF-A3A9-D4A2AD815BD7}" dt="2026-05-18T15:47:23.455" v="55" actId="20577"/>
          <ac:spMkLst>
            <pc:docMk/>
            <pc:sldMk cId="3172617500" sldId="1817"/>
            <ac:spMk id="6" creationId="{BB00753D-C189-01CA-44B1-B484F954D600}"/>
          </ac:spMkLst>
        </pc:spChg>
        <pc:grpChg chg="mod">
          <ac:chgData name="Innes Mclean - WFA" userId="cffa568d-066a-4903-b028-bafd937e5ea6" providerId="ADAL" clId="{BAFB47AA-30B1-57EF-A3A9-D4A2AD815BD7}" dt="2026-05-09T18:39:05.256" v="26" actId="1076"/>
          <ac:grpSpMkLst>
            <pc:docMk/>
            <pc:sldMk cId="3172617500" sldId="1817"/>
            <ac:grpSpMk id="4" creationId="{5F3F8467-5724-D86C-FDA4-D49533DEC4F0}"/>
          </ac:grpSpMkLst>
        </pc:grpChg>
        <pc:picChg chg="mod">
          <ac:chgData name="Innes Mclean - WFA" userId="cffa568d-066a-4903-b028-bafd937e5ea6" providerId="ADAL" clId="{BAFB47AA-30B1-57EF-A3A9-D4A2AD815BD7}" dt="2026-05-09T18:39:05.256" v="26" actId="1076"/>
          <ac:picMkLst>
            <pc:docMk/>
            <pc:sldMk cId="3172617500" sldId="1817"/>
            <ac:picMk id="5" creationId="{2B1C2540-38D6-7D21-7288-1F3B603531FB}"/>
          </ac:picMkLst>
        </pc:picChg>
        <pc:picChg chg="mod">
          <ac:chgData name="Innes Mclean - WFA" userId="cffa568d-066a-4903-b028-bafd937e5ea6" providerId="ADAL" clId="{BAFB47AA-30B1-57EF-A3A9-D4A2AD815BD7}" dt="2026-05-09T18:39:05.256" v="26" actId="1076"/>
          <ac:picMkLst>
            <pc:docMk/>
            <pc:sldMk cId="3172617500" sldId="1817"/>
            <ac:picMk id="7" creationId="{8F3344A5-4924-D3BC-68C4-52E2EB3B6D65}"/>
          </ac:picMkLst>
        </pc:picChg>
      </pc:sldChg>
      <pc:sldChg chg="add mod modShow">
        <pc:chgData name="Innes Mclean - WFA" userId="cffa568d-066a-4903-b028-bafd937e5ea6" providerId="ADAL" clId="{BAFB47AA-30B1-57EF-A3A9-D4A2AD815BD7}" dt="2026-05-21T16:22:52.831" v="59" actId="34476"/>
        <pc:sldMkLst>
          <pc:docMk/>
          <pc:sldMk cId="3287233457" sldId="1885"/>
        </pc:sldMkLst>
      </pc:sldChg>
      <pc:sldChg chg="del mod modShow">
        <pc:chgData name="Innes Mclean - WFA" userId="cffa568d-066a-4903-b028-bafd937e5ea6" providerId="ADAL" clId="{BAFB47AA-30B1-57EF-A3A9-D4A2AD815BD7}" dt="2026-05-21T16:22:44.359" v="56" actId="2696"/>
        <pc:sldMkLst>
          <pc:docMk/>
          <pc:sldMk cId="4267943230" sldId="1885"/>
        </pc:sldMkLst>
      </pc:sldChg>
      <pc:sldChg chg="modSp mod">
        <pc:chgData name="Innes Mclean - WFA" userId="cffa568d-066a-4903-b028-bafd937e5ea6" providerId="ADAL" clId="{BAFB47AA-30B1-57EF-A3A9-D4A2AD815BD7}" dt="2026-05-09T18:38:17.522" v="20" actId="1076"/>
        <pc:sldMkLst>
          <pc:docMk/>
          <pc:sldMk cId="303222904" sldId="1887"/>
        </pc:sldMkLst>
        <pc:spChg chg="mod">
          <ac:chgData name="Innes Mclean - WFA" userId="cffa568d-066a-4903-b028-bafd937e5ea6" providerId="ADAL" clId="{BAFB47AA-30B1-57EF-A3A9-D4A2AD815BD7}" dt="2026-05-09T18:38:17.522" v="20" actId="1076"/>
          <ac:spMkLst>
            <pc:docMk/>
            <pc:sldMk cId="303222904" sldId="1887"/>
            <ac:spMk id="15" creationId="{DB1CFDC9-8812-2D57-F259-9934E0E81FC7}"/>
          </ac:spMkLst>
        </pc:spChg>
      </pc:sldChg>
      <pc:sldChg chg="add mod modShow">
        <pc:chgData name="Innes Mclean - WFA" userId="cffa568d-066a-4903-b028-bafd937e5ea6" providerId="ADAL" clId="{BAFB47AA-30B1-57EF-A3A9-D4A2AD815BD7}" dt="2026-05-21T16:22:52.831" v="59" actId="34476"/>
        <pc:sldMkLst>
          <pc:docMk/>
          <pc:sldMk cId="2842610468" sldId="1902"/>
        </pc:sldMkLst>
      </pc:sldChg>
      <pc:sldChg chg="del mod modShow">
        <pc:chgData name="Innes Mclean - WFA" userId="cffa568d-066a-4903-b028-bafd937e5ea6" providerId="ADAL" clId="{BAFB47AA-30B1-57EF-A3A9-D4A2AD815BD7}" dt="2026-05-21T16:22:44.359" v="56" actId="2696"/>
        <pc:sldMkLst>
          <pc:docMk/>
          <pc:sldMk cId="4048027688" sldId="1902"/>
        </pc:sldMkLst>
      </pc:sldChg>
      <pc:sldChg chg="del mod modShow">
        <pc:chgData name="Innes Mclean - WFA" userId="cffa568d-066a-4903-b028-bafd937e5ea6" providerId="ADAL" clId="{BAFB47AA-30B1-57EF-A3A9-D4A2AD815BD7}" dt="2026-05-21T16:22:44.359" v="56" actId="2696"/>
        <pc:sldMkLst>
          <pc:docMk/>
          <pc:sldMk cId="2949455189" sldId="1903"/>
        </pc:sldMkLst>
      </pc:sldChg>
      <pc:sldChg chg="add mod modShow">
        <pc:chgData name="Innes Mclean - WFA" userId="cffa568d-066a-4903-b028-bafd937e5ea6" providerId="ADAL" clId="{BAFB47AA-30B1-57EF-A3A9-D4A2AD815BD7}" dt="2026-05-21T16:22:52.831" v="59" actId="34476"/>
        <pc:sldMkLst>
          <pc:docMk/>
          <pc:sldMk cId="3934231579" sldId="1903"/>
        </pc:sldMkLst>
      </pc:sldChg>
      <pc:sldChg chg="modSp mod">
        <pc:chgData name="Innes Mclean - WFA" userId="cffa568d-066a-4903-b028-bafd937e5ea6" providerId="ADAL" clId="{BAFB47AA-30B1-57EF-A3A9-D4A2AD815BD7}" dt="2026-05-21T16:22:48.227" v="58" actId="27636"/>
        <pc:sldMkLst>
          <pc:docMk/>
          <pc:sldMk cId="4127022080" sldId="1904"/>
        </pc:sldMkLst>
        <pc:spChg chg="mod">
          <ac:chgData name="Innes Mclean - WFA" userId="cffa568d-066a-4903-b028-bafd937e5ea6" providerId="ADAL" clId="{BAFB47AA-30B1-57EF-A3A9-D4A2AD815BD7}" dt="2026-05-21T16:22:48.227" v="58" actId="27636"/>
          <ac:spMkLst>
            <pc:docMk/>
            <pc:sldMk cId="4127022080" sldId="1904"/>
            <ac:spMk id="9" creationId="{C39F0976-7660-64BA-E055-E6E60B65E8BB}"/>
          </ac:spMkLst>
        </pc:spChg>
      </pc:sldChg>
      <pc:sldChg chg="add mod modShow">
        <pc:chgData name="Innes Mclean - WFA" userId="cffa568d-066a-4903-b028-bafd937e5ea6" providerId="ADAL" clId="{BAFB47AA-30B1-57EF-A3A9-D4A2AD815BD7}" dt="2026-05-21T16:22:52.831" v="59" actId="34476"/>
        <pc:sldMkLst>
          <pc:docMk/>
          <pc:sldMk cId="2161724486" sldId="1924"/>
        </pc:sldMkLst>
      </pc:sldChg>
      <pc:sldChg chg="del mod modShow">
        <pc:chgData name="Innes Mclean - WFA" userId="cffa568d-066a-4903-b028-bafd937e5ea6" providerId="ADAL" clId="{BAFB47AA-30B1-57EF-A3A9-D4A2AD815BD7}" dt="2026-05-21T16:22:44.359" v="56" actId="2696"/>
        <pc:sldMkLst>
          <pc:docMk/>
          <pc:sldMk cId="3615942781" sldId="1924"/>
        </pc:sldMkLst>
      </pc:sldChg>
    </pc:docChg>
  </pc:docChgLst>
</pc:chgInfo>
</file>

<file path=ppt/ink/ink1.xml><?xml version="1.0" encoding="utf-8"?>
<inkml:ink xmlns:inkml="http://www.w3.org/2003/InkML">
  <inkml:definitions>
    <inkml:context xml:id="ctx0">
      <inkml:inkSource xml:id="inkSrc0">
        <inkml:traceFormat>
          <inkml:channel name="X" type="integer" max="26395" units="cm"/>
          <inkml:channel name="Y" type="integer" max="14847" units="cm"/>
          <inkml:channel name="T" type="integer" max="2.14748E9" units="dev"/>
        </inkml:traceFormat>
        <inkml:channelProperties>
          <inkml:channelProperty channel="X" name="resolution" value="159.99879" units="1/cm"/>
          <inkml:channelProperty channel="Y" name="resolution" value="160.00647" units="1/cm"/>
          <inkml:channelProperty channel="T" name="resolution" value="1" units="1/dev"/>
        </inkml:channelProperties>
      </inkml:inkSource>
      <inkml:timestamp xml:id="ts0" timeString="2025-09-17T12:45:34.864"/>
    </inkml:context>
    <inkml:brush xml:id="br0">
      <inkml:brushProperty name="width" value="0.05292" units="cm"/>
      <inkml:brushProperty name="height" value="0.05292" units="cm"/>
      <inkml:brushProperty name="color" value="#FF0000"/>
    </inkml:brush>
  </inkml:definitions>
  <inkml:trace contextRef="#ctx0" brushRef="#br0">27383 10603 0,'0'0'0</inkml:trace>
</inkml:ink>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5659" cy="498056"/>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50443" y="0"/>
            <a:ext cx="2945659" cy="498056"/>
          </a:xfrm>
          <a:prstGeom prst="rect">
            <a:avLst/>
          </a:prstGeom>
        </p:spPr>
        <p:txBody>
          <a:bodyPr vert="horz" lIns="91440" tIns="45720" rIns="91440" bIns="45720" rtlCol="0"/>
          <a:lstStyle>
            <a:lvl1pPr algn="r">
              <a:defRPr sz="1200"/>
            </a:lvl1pPr>
          </a:lstStyle>
          <a:p>
            <a:fld id="{D225DB60-C16B-446D-B5DB-6D7125925E95}" type="datetimeFigureOut">
              <a:rPr lang="en-GB" smtClean="0"/>
              <a:t>21/05/2026</a:t>
            </a:fld>
            <a:endParaRPr lang="en-GB"/>
          </a:p>
        </p:txBody>
      </p:sp>
      <p:sp>
        <p:nvSpPr>
          <p:cNvPr id="4" name="Slide Image Placeholder 3"/>
          <p:cNvSpPr>
            <a:spLocks noGrp="1" noRot="1" noChangeAspect="1"/>
          </p:cNvSpPr>
          <p:nvPr>
            <p:ph type="sldImg" idx="2"/>
          </p:nvPr>
        </p:nvSpPr>
        <p:spPr>
          <a:xfrm>
            <a:off x="422275" y="1241425"/>
            <a:ext cx="5953125" cy="3349625"/>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428584"/>
            <a:ext cx="2945659" cy="498055"/>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50443" y="9428584"/>
            <a:ext cx="2945659" cy="498055"/>
          </a:xfrm>
          <a:prstGeom prst="rect">
            <a:avLst/>
          </a:prstGeom>
        </p:spPr>
        <p:txBody>
          <a:bodyPr vert="horz" lIns="91440" tIns="45720" rIns="91440" bIns="45720" rtlCol="0" anchor="b"/>
          <a:lstStyle>
            <a:lvl1pPr algn="r">
              <a:defRPr sz="1200"/>
            </a:lvl1pPr>
          </a:lstStyle>
          <a:p>
            <a:fld id="{B7E8E8B9-ADA3-45E0-8420-BE5E8FCCF1F7}" type="slidenum">
              <a:rPr lang="en-GB" smtClean="0"/>
              <a:t>‹#›</a:t>
            </a:fld>
            <a:endParaRPr lang="en-GB"/>
          </a:p>
        </p:txBody>
      </p:sp>
    </p:spTree>
    <p:extLst>
      <p:ext uri="{BB962C8B-B14F-4D97-AF65-F5344CB8AC3E}">
        <p14:creationId xmlns:p14="http://schemas.microsoft.com/office/powerpoint/2010/main" val="8571382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11416-2BF0-1BF0-993C-D7EDF44CEA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CAD52C-A15F-345E-DEC9-153A113F16DD}"/>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C3F11A5D-2009-B729-C92B-9C76C84A13B9}"/>
              </a:ext>
            </a:extLst>
          </p:cNvPr>
          <p:cNvSpPr>
            <a:spLocks noGrp="1"/>
          </p:cNvSpPr>
          <p:nvPr>
            <p:ph type="body" idx="1"/>
          </p:nvPr>
        </p:nvSpPr>
        <p:spPr/>
        <p:txBody>
          <a:bodyPr/>
          <a:lstStyle/>
          <a:p>
            <a:r>
              <a:rPr lang="en-GB"/>
              <a:t>Background knowledge – We use our background knowledge and experiences to help us with our reading</a:t>
            </a:r>
          </a:p>
          <a:p>
            <a:r>
              <a:rPr lang="en-GB"/>
              <a:t>Vocabulary – we use new vocabulary when reading</a:t>
            </a:r>
          </a:p>
          <a:p>
            <a:r>
              <a:rPr lang="en-GB"/>
              <a:t>Fluency &amp; Expression – We read fluently and with expression to make our reading exciting</a:t>
            </a:r>
          </a:p>
          <a:p>
            <a:r>
              <a:rPr lang="en-GB"/>
              <a:t>Discuss &amp; explain thinking – We discuss and explain our thinking and understanding of our reading</a:t>
            </a:r>
          </a:p>
          <a:p>
            <a:r>
              <a:rPr lang="en-GB"/>
              <a:t>Read a wide range of texts – We read a wide range of texts at WFA</a:t>
            </a:r>
          </a:p>
          <a:p>
            <a:r>
              <a:rPr lang="en-GB"/>
              <a:t>Decoding and phonics – We use our phonics to help us decode and learn new words when we are reading</a:t>
            </a:r>
          </a:p>
          <a:p>
            <a:endParaRPr lang="en-GB"/>
          </a:p>
        </p:txBody>
      </p:sp>
      <p:sp>
        <p:nvSpPr>
          <p:cNvPr id="4" name="Slide Number Placeholder 3">
            <a:extLst>
              <a:ext uri="{FF2B5EF4-FFF2-40B4-BE49-F238E27FC236}">
                <a16:creationId xmlns:a16="http://schemas.microsoft.com/office/drawing/2014/main" id="{19A8A58E-928C-8E71-2814-F5DCBF204BB4}"/>
              </a:ext>
            </a:extLst>
          </p:cNvPr>
          <p:cNvSpPr>
            <a:spLocks noGrp="1"/>
          </p:cNvSpPr>
          <p:nvPr>
            <p:ph type="sldNum" sz="quarter" idx="5"/>
          </p:nvPr>
        </p:nvSpPr>
        <p:spPr/>
        <p:txBody>
          <a:bodyPr/>
          <a:lstStyle/>
          <a:p>
            <a:fld id="{B7E8E8B9-ADA3-45E0-8420-BE5E8FCCF1F7}" type="slidenum">
              <a:rPr lang="en-GB" smtClean="0"/>
              <a:t>3</a:t>
            </a:fld>
            <a:endParaRPr lang="en-GB"/>
          </a:p>
        </p:txBody>
      </p:sp>
    </p:spTree>
    <p:extLst>
      <p:ext uri="{BB962C8B-B14F-4D97-AF65-F5344CB8AC3E}">
        <p14:creationId xmlns:p14="http://schemas.microsoft.com/office/powerpoint/2010/main" val="329358526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93071-2F46-9644-A2D0-B7A516A87A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6F26A4-4C33-FD41-8664-9FFE0D685774}"/>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B023575B-F319-685A-F4EB-043ABE52686C}"/>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86D2E282-AD31-3D4D-FFE7-ECB14224B778}"/>
              </a:ext>
            </a:extLst>
          </p:cNvPr>
          <p:cNvSpPr>
            <a:spLocks noGrp="1"/>
          </p:cNvSpPr>
          <p:nvPr>
            <p:ph type="sldNum" sz="quarter" idx="5"/>
          </p:nvPr>
        </p:nvSpPr>
        <p:spPr/>
        <p:txBody>
          <a:bodyPr/>
          <a:lstStyle/>
          <a:p>
            <a:fld id="{B7E8E8B9-ADA3-45E0-8420-BE5E8FCCF1F7}" type="slidenum">
              <a:rPr lang="en-GB" smtClean="0"/>
              <a:t>4</a:t>
            </a:fld>
            <a:endParaRPr lang="en-GB"/>
          </a:p>
        </p:txBody>
      </p:sp>
    </p:spTree>
    <p:extLst>
      <p:ext uri="{BB962C8B-B14F-4D97-AF65-F5344CB8AC3E}">
        <p14:creationId xmlns:p14="http://schemas.microsoft.com/office/powerpoint/2010/main" val="23042133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C9E6B0-A6BD-A747-E971-48B8368E97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60842B-70A3-6A87-DE71-DC5CDBBC8C28}"/>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F84E4DBC-5075-4DA5-C90B-BB7261D97387}"/>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3A90E457-613E-E4B9-F2D4-8EB91F55A8B1}"/>
              </a:ext>
            </a:extLst>
          </p:cNvPr>
          <p:cNvSpPr>
            <a:spLocks noGrp="1"/>
          </p:cNvSpPr>
          <p:nvPr>
            <p:ph type="sldNum" sz="quarter" idx="5"/>
          </p:nvPr>
        </p:nvSpPr>
        <p:spPr/>
        <p:txBody>
          <a:bodyPr/>
          <a:lstStyle/>
          <a:p>
            <a:fld id="{B7E8E8B9-ADA3-45E0-8420-BE5E8FCCF1F7}" type="slidenum">
              <a:rPr lang="en-GB" smtClean="0"/>
              <a:t>5</a:t>
            </a:fld>
            <a:endParaRPr lang="en-GB"/>
          </a:p>
        </p:txBody>
      </p:sp>
    </p:spTree>
    <p:extLst>
      <p:ext uri="{BB962C8B-B14F-4D97-AF65-F5344CB8AC3E}">
        <p14:creationId xmlns:p14="http://schemas.microsoft.com/office/powerpoint/2010/main" val="7320701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BE0DF-E15F-5B7F-F1A7-97D7767E08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CDCBFC-DD36-F38E-02CE-18E5BFA080A5}"/>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DCBA88D1-8153-ACA0-4EC1-0560A2F1293A}"/>
              </a:ext>
            </a:extLst>
          </p:cNvPr>
          <p:cNvSpPr>
            <a:spLocks noGrp="1"/>
          </p:cNvSpPr>
          <p:nvPr>
            <p:ph type="body" idx="1"/>
          </p:nvPr>
        </p:nvSpPr>
        <p:spPr/>
        <p:txBody>
          <a:bodyPr/>
          <a:lstStyle/>
          <a:p>
            <a:r>
              <a:rPr lang="en-GB"/>
              <a:t>OH ES &amp; KW reading phonically decodable version with TP</a:t>
            </a:r>
          </a:p>
        </p:txBody>
      </p:sp>
      <p:sp>
        <p:nvSpPr>
          <p:cNvPr id="4" name="Slide Number Placeholder 3">
            <a:extLst>
              <a:ext uri="{FF2B5EF4-FFF2-40B4-BE49-F238E27FC236}">
                <a16:creationId xmlns:a16="http://schemas.microsoft.com/office/drawing/2014/main" id="{AEDBB03C-83C0-8406-0E5B-977918F0DAB0}"/>
              </a:ext>
            </a:extLst>
          </p:cNvPr>
          <p:cNvSpPr>
            <a:spLocks noGrp="1"/>
          </p:cNvSpPr>
          <p:nvPr>
            <p:ph type="sldNum" sz="quarter" idx="5"/>
          </p:nvPr>
        </p:nvSpPr>
        <p:spPr/>
        <p:txBody>
          <a:bodyPr/>
          <a:lstStyle/>
          <a:p>
            <a:fld id="{B7E8E8B9-ADA3-45E0-8420-BE5E8FCCF1F7}" type="slidenum">
              <a:rPr lang="en-GB" smtClean="0"/>
              <a:t>6</a:t>
            </a:fld>
            <a:endParaRPr lang="en-GB"/>
          </a:p>
        </p:txBody>
      </p:sp>
    </p:spTree>
    <p:extLst>
      <p:ext uri="{BB962C8B-B14F-4D97-AF65-F5344CB8AC3E}">
        <p14:creationId xmlns:p14="http://schemas.microsoft.com/office/powerpoint/2010/main" val="401260066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B7E8E8B9-ADA3-45E0-8420-BE5E8FCCF1F7}" type="slidenum">
              <a:rPr lang="en-GB" smtClean="0"/>
              <a:t>9</a:t>
            </a:fld>
            <a:endParaRPr lang="en-GB"/>
          </a:p>
        </p:txBody>
      </p:sp>
    </p:spTree>
    <p:extLst>
      <p:ext uri="{BB962C8B-B14F-4D97-AF65-F5344CB8AC3E}">
        <p14:creationId xmlns:p14="http://schemas.microsoft.com/office/powerpoint/2010/main" val="19110069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GB"/>
              <a:t>Background knowledge – We use our background knowledge and experiences to help us with our reading</a:t>
            </a:r>
          </a:p>
          <a:p>
            <a:r>
              <a:rPr lang="en-GB"/>
              <a:t>Vocabulary – we use new vocabulary when reading</a:t>
            </a:r>
          </a:p>
          <a:p>
            <a:r>
              <a:rPr lang="en-GB"/>
              <a:t>Fluency &amp; Expression – We read fluently and with expression to make our reading exciting</a:t>
            </a:r>
          </a:p>
          <a:p>
            <a:r>
              <a:rPr lang="en-GB"/>
              <a:t>Discuss &amp; explain thinking – We discuss and explain our thinking and understanding of our reading</a:t>
            </a:r>
          </a:p>
          <a:p>
            <a:r>
              <a:rPr lang="en-GB"/>
              <a:t>Read a wide range of texts – We read a wide range of texts at WFA</a:t>
            </a:r>
          </a:p>
          <a:p>
            <a:r>
              <a:rPr lang="en-GB"/>
              <a:t>Decoding and phonics – We use our phonics to help us decode and learn new words when we are reading</a:t>
            </a:r>
          </a:p>
          <a:p>
            <a:endParaRPr lang="en-GB"/>
          </a:p>
        </p:txBody>
      </p:sp>
      <p:sp>
        <p:nvSpPr>
          <p:cNvPr id="4" name="Slide Number Placeholder 3"/>
          <p:cNvSpPr>
            <a:spLocks noGrp="1"/>
          </p:cNvSpPr>
          <p:nvPr>
            <p:ph type="sldNum" sz="quarter" idx="5"/>
          </p:nvPr>
        </p:nvSpPr>
        <p:spPr/>
        <p:txBody>
          <a:bodyPr/>
          <a:lstStyle/>
          <a:p>
            <a:fld id="{B7E8E8B9-ADA3-45E0-8420-BE5E8FCCF1F7}" type="slidenum">
              <a:rPr lang="en-GB" smtClean="0"/>
              <a:t>10</a:t>
            </a:fld>
            <a:endParaRPr lang="en-GB"/>
          </a:p>
        </p:txBody>
      </p:sp>
    </p:spTree>
    <p:extLst>
      <p:ext uri="{BB962C8B-B14F-4D97-AF65-F5344CB8AC3E}">
        <p14:creationId xmlns:p14="http://schemas.microsoft.com/office/powerpoint/2010/main" val="36244987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990C4-3F63-5CE3-40C0-37C3972A60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E53583-2126-636C-06E9-AC409DB69760}"/>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2094D933-7CA1-A8E0-3C7B-D224B6723271}"/>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CBF62738-39F3-90E4-2B16-74770B32C315}"/>
              </a:ext>
            </a:extLst>
          </p:cNvPr>
          <p:cNvSpPr>
            <a:spLocks noGrp="1"/>
          </p:cNvSpPr>
          <p:nvPr>
            <p:ph type="sldNum" sz="quarter" idx="5"/>
          </p:nvPr>
        </p:nvSpPr>
        <p:spPr/>
        <p:txBody>
          <a:bodyPr/>
          <a:lstStyle/>
          <a:p>
            <a:fld id="{B7E8E8B9-ADA3-45E0-8420-BE5E8FCCF1F7}" type="slidenum">
              <a:rPr lang="en-GB" smtClean="0"/>
              <a:t>11</a:t>
            </a:fld>
            <a:endParaRPr lang="en-GB"/>
          </a:p>
        </p:txBody>
      </p:sp>
    </p:spTree>
    <p:extLst>
      <p:ext uri="{BB962C8B-B14F-4D97-AF65-F5344CB8AC3E}">
        <p14:creationId xmlns:p14="http://schemas.microsoft.com/office/powerpoint/2010/main" val="248000502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791006-C5AD-CE9A-768D-97FEB0FA18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2B318E-FA05-39EA-68AF-6B9E723A00DA}"/>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4CAEEA19-065F-0F91-7D7E-3BF882304030}"/>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3A651696-B6F4-AA2A-3057-6BD30C08333F}"/>
              </a:ext>
            </a:extLst>
          </p:cNvPr>
          <p:cNvSpPr>
            <a:spLocks noGrp="1"/>
          </p:cNvSpPr>
          <p:nvPr>
            <p:ph type="sldNum" sz="quarter" idx="5"/>
          </p:nvPr>
        </p:nvSpPr>
        <p:spPr/>
        <p:txBody>
          <a:bodyPr/>
          <a:lstStyle/>
          <a:p>
            <a:fld id="{B7E8E8B9-ADA3-45E0-8420-BE5E8FCCF1F7}" type="slidenum">
              <a:rPr lang="en-GB" smtClean="0"/>
              <a:t>12</a:t>
            </a:fld>
            <a:endParaRPr lang="en-GB"/>
          </a:p>
        </p:txBody>
      </p:sp>
    </p:spTree>
    <p:extLst>
      <p:ext uri="{BB962C8B-B14F-4D97-AF65-F5344CB8AC3E}">
        <p14:creationId xmlns:p14="http://schemas.microsoft.com/office/powerpoint/2010/main" val="18949657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GB"/>
              <a:t>OH ES &amp; KW reading phonically decodable version with TP</a:t>
            </a:r>
          </a:p>
        </p:txBody>
      </p:sp>
      <p:sp>
        <p:nvSpPr>
          <p:cNvPr id="4" name="Slide Number Placeholder 3"/>
          <p:cNvSpPr>
            <a:spLocks noGrp="1"/>
          </p:cNvSpPr>
          <p:nvPr>
            <p:ph type="sldNum" sz="quarter" idx="5"/>
          </p:nvPr>
        </p:nvSpPr>
        <p:spPr/>
        <p:txBody>
          <a:bodyPr/>
          <a:lstStyle/>
          <a:p>
            <a:fld id="{B7E8E8B9-ADA3-45E0-8420-BE5E8FCCF1F7}" type="slidenum">
              <a:rPr lang="en-GB" smtClean="0"/>
              <a:t>13</a:t>
            </a:fld>
            <a:endParaRPr lang="en-GB"/>
          </a:p>
        </p:txBody>
      </p:sp>
    </p:spTree>
    <p:extLst>
      <p:ext uri="{BB962C8B-B14F-4D97-AF65-F5344CB8AC3E}">
        <p14:creationId xmlns:p14="http://schemas.microsoft.com/office/powerpoint/2010/main" val="26816728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B7E8E8B9-ADA3-45E0-8420-BE5E8FCCF1F7}" type="slidenum">
              <a:rPr lang="en-GB" smtClean="0"/>
              <a:t>9</a:t>
            </a:fld>
            <a:endParaRPr lang="en-GB"/>
          </a:p>
        </p:txBody>
      </p:sp>
    </p:spTree>
    <p:extLst>
      <p:ext uri="{BB962C8B-B14F-4D97-AF65-F5344CB8AC3E}">
        <p14:creationId xmlns:p14="http://schemas.microsoft.com/office/powerpoint/2010/main" val="191100692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GB"/>
              <a:t>Background knowledge – We use our background knowledge and experiences to help us with our reading</a:t>
            </a:r>
          </a:p>
          <a:p>
            <a:r>
              <a:rPr lang="en-GB"/>
              <a:t>Vocabulary – we use new vocabulary when reading</a:t>
            </a:r>
          </a:p>
          <a:p>
            <a:r>
              <a:rPr lang="en-GB"/>
              <a:t>Fluency &amp; Expression – We read fluently and with expression to make our reading exciting</a:t>
            </a:r>
          </a:p>
          <a:p>
            <a:r>
              <a:rPr lang="en-GB"/>
              <a:t>Discuss &amp; explain thinking – We discuss and explain our thinking and understanding of our reading</a:t>
            </a:r>
          </a:p>
          <a:p>
            <a:r>
              <a:rPr lang="en-GB"/>
              <a:t>Read a wide range of texts – We read a wide range of texts at WFA</a:t>
            </a:r>
          </a:p>
          <a:p>
            <a:r>
              <a:rPr lang="en-GB"/>
              <a:t>Decoding and phonics – We use our phonics to help us decode and learn new words when we are reading</a:t>
            </a:r>
          </a:p>
          <a:p>
            <a:endParaRPr lang="en-GB"/>
          </a:p>
        </p:txBody>
      </p:sp>
      <p:sp>
        <p:nvSpPr>
          <p:cNvPr id="4" name="Slide Number Placeholder 3"/>
          <p:cNvSpPr>
            <a:spLocks noGrp="1"/>
          </p:cNvSpPr>
          <p:nvPr>
            <p:ph type="sldNum" sz="quarter" idx="5"/>
          </p:nvPr>
        </p:nvSpPr>
        <p:spPr/>
        <p:txBody>
          <a:bodyPr/>
          <a:lstStyle/>
          <a:p>
            <a:fld id="{B7E8E8B9-ADA3-45E0-8420-BE5E8FCCF1F7}" type="slidenum">
              <a:rPr lang="en-GB" smtClean="0"/>
              <a:t>10</a:t>
            </a:fld>
            <a:endParaRPr lang="en-GB"/>
          </a:p>
        </p:txBody>
      </p:sp>
    </p:spTree>
    <p:extLst>
      <p:ext uri="{BB962C8B-B14F-4D97-AF65-F5344CB8AC3E}">
        <p14:creationId xmlns:p14="http://schemas.microsoft.com/office/powerpoint/2010/main" val="362449878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990C4-3F63-5CE3-40C0-37C3972A60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E53583-2126-636C-06E9-AC409DB69760}"/>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2094D933-7CA1-A8E0-3C7B-D224B6723271}"/>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CBF62738-39F3-90E4-2B16-74770B32C315}"/>
              </a:ext>
            </a:extLst>
          </p:cNvPr>
          <p:cNvSpPr>
            <a:spLocks noGrp="1"/>
          </p:cNvSpPr>
          <p:nvPr>
            <p:ph type="sldNum" sz="quarter" idx="5"/>
          </p:nvPr>
        </p:nvSpPr>
        <p:spPr/>
        <p:txBody>
          <a:bodyPr/>
          <a:lstStyle/>
          <a:p>
            <a:fld id="{B7E8E8B9-ADA3-45E0-8420-BE5E8FCCF1F7}" type="slidenum">
              <a:rPr lang="en-GB" smtClean="0"/>
              <a:t>11</a:t>
            </a:fld>
            <a:endParaRPr lang="en-GB"/>
          </a:p>
        </p:txBody>
      </p:sp>
    </p:spTree>
    <p:extLst>
      <p:ext uri="{BB962C8B-B14F-4D97-AF65-F5344CB8AC3E}">
        <p14:creationId xmlns:p14="http://schemas.microsoft.com/office/powerpoint/2010/main" val="248000502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791006-C5AD-CE9A-768D-97FEB0FA18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2B318E-FA05-39EA-68AF-6B9E723A00DA}"/>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4CAEEA19-065F-0F91-7D7E-3BF882304030}"/>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3A651696-B6F4-AA2A-3057-6BD30C08333F}"/>
              </a:ext>
            </a:extLst>
          </p:cNvPr>
          <p:cNvSpPr>
            <a:spLocks noGrp="1"/>
          </p:cNvSpPr>
          <p:nvPr>
            <p:ph type="sldNum" sz="quarter" idx="5"/>
          </p:nvPr>
        </p:nvSpPr>
        <p:spPr/>
        <p:txBody>
          <a:bodyPr/>
          <a:lstStyle/>
          <a:p>
            <a:fld id="{B7E8E8B9-ADA3-45E0-8420-BE5E8FCCF1F7}" type="slidenum">
              <a:rPr lang="en-GB" smtClean="0"/>
              <a:t>12</a:t>
            </a:fld>
            <a:endParaRPr lang="en-GB"/>
          </a:p>
        </p:txBody>
      </p:sp>
    </p:spTree>
    <p:extLst>
      <p:ext uri="{BB962C8B-B14F-4D97-AF65-F5344CB8AC3E}">
        <p14:creationId xmlns:p14="http://schemas.microsoft.com/office/powerpoint/2010/main" val="189496573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GB"/>
              <a:t>OH ES &amp; KW reading phonically decodable version with TP</a:t>
            </a:r>
          </a:p>
        </p:txBody>
      </p:sp>
      <p:sp>
        <p:nvSpPr>
          <p:cNvPr id="4" name="Slide Number Placeholder 3"/>
          <p:cNvSpPr>
            <a:spLocks noGrp="1"/>
          </p:cNvSpPr>
          <p:nvPr>
            <p:ph type="sldNum" sz="quarter" idx="5"/>
          </p:nvPr>
        </p:nvSpPr>
        <p:spPr/>
        <p:txBody>
          <a:bodyPr/>
          <a:lstStyle/>
          <a:p>
            <a:fld id="{B7E8E8B9-ADA3-45E0-8420-BE5E8FCCF1F7}" type="slidenum">
              <a:rPr lang="en-GB" smtClean="0"/>
              <a:t>13</a:t>
            </a:fld>
            <a:endParaRPr lang="en-GB"/>
          </a:p>
        </p:txBody>
      </p:sp>
    </p:spTree>
    <p:extLst>
      <p:ext uri="{BB962C8B-B14F-4D97-AF65-F5344CB8AC3E}">
        <p14:creationId xmlns:p14="http://schemas.microsoft.com/office/powerpoint/2010/main" val="268167286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B7E8E8B9-ADA3-45E0-8420-BE5E8FCCF1F7}" type="slidenum">
              <a:rPr lang="en-GB" smtClean="0"/>
              <a:t>9</a:t>
            </a:fld>
            <a:endParaRPr lang="en-GB"/>
          </a:p>
        </p:txBody>
      </p:sp>
    </p:spTree>
    <p:extLst>
      <p:ext uri="{BB962C8B-B14F-4D97-AF65-F5344CB8AC3E}">
        <p14:creationId xmlns:p14="http://schemas.microsoft.com/office/powerpoint/2010/main" val="19110069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GB"/>
              <a:t>Background knowledge – We use our background knowledge and experiences to help us with our reading</a:t>
            </a:r>
          </a:p>
          <a:p>
            <a:r>
              <a:rPr lang="en-GB"/>
              <a:t>Vocabulary – we use new vocabulary when reading</a:t>
            </a:r>
          </a:p>
          <a:p>
            <a:r>
              <a:rPr lang="en-GB"/>
              <a:t>Fluency &amp; Expression – We read fluently and with expression to make our reading exciting</a:t>
            </a:r>
          </a:p>
          <a:p>
            <a:r>
              <a:rPr lang="en-GB"/>
              <a:t>Discuss &amp; explain thinking – We discuss and explain our thinking and understanding of our reading</a:t>
            </a:r>
          </a:p>
          <a:p>
            <a:r>
              <a:rPr lang="en-GB"/>
              <a:t>Read a wide range of texts – We read a wide range of texts at WFA</a:t>
            </a:r>
          </a:p>
          <a:p>
            <a:r>
              <a:rPr lang="en-GB"/>
              <a:t>Decoding and phonics – We use our phonics to help us decode and learn new words when we are reading</a:t>
            </a:r>
          </a:p>
          <a:p>
            <a:endParaRPr lang="en-GB"/>
          </a:p>
        </p:txBody>
      </p:sp>
      <p:sp>
        <p:nvSpPr>
          <p:cNvPr id="4" name="Slide Number Placeholder 3"/>
          <p:cNvSpPr>
            <a:spLocks noGrp="1"/>
          </p:cNvSpPr>
          <p:nvPr>
            <p:ph type="sldNum" sz="quarter" idx="5"/>
          </p:nvPr>
        </p:nvSpPr>
        <p:spPr/>
        <p:txBody>
          <a:bodyPr/>
          <a:lstStyle/>
          <a:p>
            <a:fld id="{B7E8E8B9-ADA3-45E0-8420-BE5E8FCCF1F7}" type="slidenum">
              <a:rPr lang="en-GB" smtClean="0"/>
              <a:t>10</a:t>
            </a:fld>
            <a:endParaRPr lang="en-GB"/>
          </a:p>
        </p:txBody>
      </p:sp>
    </p:spTree>
    <p:extLst>
      <p:ext uri="{BB962C8B-B14F-4D97-AF65-F5344CB8AC3E}">
        <p14:creationId xmlns:p14="http://schemas.microsoft.com/office/powerpoint/2010/main" val="3624498783"/>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65A21D-2FCA-5103-944C-97A33EAB499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4E451915-D313-134F-3B39-E2202692B0C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0492851-C45E-2C62-1686-35F05261BF4A}"/>
              </a:ext>
            </a:extLst>
          </p:cNvPr>
          <p:cNvSpPr>
            <a:spLocks noGrp="1"/>
          </p:cNvSpPr>
          <p:nvPr>
            <p:ph type="dt" sz="half" idx="10"/>
          </p:nvPr>
        </p:nvSpPr>
        <p:spPr/>
        <p:txBody>
          <a:bodyPr/>
          <a:lstStyle/>
          <a:p>
            <a:fld id="{8B72D5E0-039A-4068-97A9-A3C4BF080BAA}" type="datetimeFigureOut">
              <a:rPr lang="en-GB" smtClean="0"/>
              <a:t>21/05/2026</a:t>
            </a:fld>
            <a:endParaRPr lang="en-GB"/>
          </a:p>
        </p:txBody>
      </p:sp>
      <p:sp>
        <p:nvSpPr>
          <p:cNvPr id="5" name="Footer Placeholder 4">
            <a:extLst>
              <a:ext uri="{FF2B5EF4-FFF2-40B4-BE49-F238E27FC236}">
                <a16:creationId xmlns:a16="http://schemas.microsoft.com/office/drawing/2014/main" id="{5565C8CD-ED83-6186-0E09-D60B801105B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01FC3CD-1629-3981-C514-EA809A6DA1BC}"/>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3173673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7BF554-C9DF-1E20-73BD-9BEBF65F853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C7DEC16-6EFE-8F98-D786-F7FA33F73DA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C0F50926-EAE1-8CBC-B944-95606793B845}"/>
              </a:ext>
            </a:extLst>
          </p:cNvPr>
          <p:cNvSpPr>
            <a:spLocks noGrp="1"/>
          </p:cNvSpPr>
          <p:nvPr>
            <p:ph type="dt" sz="half" idx="10"/>
          </p:nvPr>
        </p:nvSpPr>
        <p:spPr/>
        <p:txBody>
          <a:bodyPr/>
          <a:lstStyle/>
          <a:p>
            <a:fld id="{8B72D5E0-039A-4068-97A9-A3C4BF080BAA}" type="datetimeFigureOut">
              <a:rPr lang="en-GB" smtClean="0"/>
              <a:t>21/05/2026</a:t>
            </a:fld>
            <a:endParaRPr lang="en-GB"/>
          </a:p>
        </p:txBody>
      </p:sp>
      <p:sp>
        <p:nvSpPr>
          <p:cNvPr id="5" name="Footer Placeholder 4">
            <a:extLst>
              <a:ext uri="{FF2B5EF4-FFF2-40B4-BE49-F238E27FC236}">
                <a16:creationId xmlns:a16="http://schemas.microsoft.com/office/drawing/2014/main" id="{80EDD0ED-4188-0860-8E6D-81E93458E37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AAE27D8-31F7-1112-ED89-AD6BFC9E0107}"/>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34887929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85DCD8-D0E7-C7D8-C221-D51F0B68147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B84F57CA-859A-366E-BD81-B51EB9F3F1B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816810-0B04-441A-BDC2-5334A4ED6B8F}"/>
              </a:ext>
            </a:extLst>
          </p:cNvPr>
          <p:cNvSpPr>
            <a:spLocks noGrp="1"/>
          </p:cNvSpPr>
          <p:nvPr>
            <p:ph type="dt" sz="half" idx="10"/>
          </p:nvPr>
        </p:nvSpPr>
        <p:spPr/>
        <p:txBody>
          <a:bodyPr/>
          <a:lstStyle/>
          <a:p>
            <a:fld id="{8B72D5E0-039A-4068-97A9-A3C4BF080BAA}" type="datetimeFigureOut">
              <a:rPr lang="en-GB" smtClean="0"/>
              <a:t>21/05/2026</a:t>
            </a:fld>
            <a:endParaRPr lang="en-GB"/>
          </a:p>
        </p:txBody>
      </p:sp>
      <p:sp>
        <p:nvSpPr>
          <p:cNvPr id="5" name="Footer Placeholder 4">
            <a:extLst>
              <a:ext uri="{FF2B5EF4-FFF2-40B4-BE49-F238E27FC236}">
                <a16:creationId xmlns:a16="http://schemas.microsoft.com/office/drawing/2014/main" id="{967743A6-7DF3-3A54-9EA1-0818278D5BF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C0B308D-ED7A-41CA-CE45-BFD4B52EE3FF}"/>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35695795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36C61B-06CA-A5BD-FF28-522B3C1C5EC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56A4604E-C7F9-DE00-FC0E-9D0430CBD17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02FC8481-8445-D097-8868-FEBEF363086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7EAA810B-D0B6-055B-A7B2-A91D9312431E}"/>
              </a:ext>
            </a:extLst>
          </p:cNvPr>
          <p:cNvSpPr>
            <a:spLocks noGrp="1"/>
          </p:cNvSpPr>
          <p:nvPr>
            <p:ph type="dt" sz="half" idx="10"/>
          </p:nvPr>
        </p:nvSpPr>
        <p:spPr/>
        <p:txBody>
          <a:bodyPr/>
          <a:lstStyle/>
          <a:p>
            <a:fld id="{8B72D5E0-039A-4068-97A9-A3C4BF080BAA}" type="datetimeFigureOut">
              <a:rPr lang="en-GB" smtClean="0"/>
              <a:t>21/05/2026</a:t>
            </a:fld>
            <a:endParaRPr lang="en-GB"/>
          </a:p>
        </p:txBody>
      </p:sp>
      <p:sp>
        <p:nvSpPr>
          <p:cNvPr id="6" name="Footer Placeholder 5">
            <a:extLst>
              <a:ext uri="{FF2B5EF4-FFF2-40B4-BE49-F238E27FC236}">
                <a16:creationId xmlns:a16="http://schemas.microsoft.com/office/drawing/2014/main" id="{A3AD80D6-ABB1-0B43-2EF6-728A9BF7FFBD}"/>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A1F566E-8C59-14B0-1B4A-013D19195555}"/>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13112049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DFD8B9-6D91-0488-0B6B-D8925368CB77}"/>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93EC770-FFE0-0BCE-D25B-ED842005CA3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0ACAE04-0440-4429-84C8-7BB448E0612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79013C1A-78C5-C6A1-01F4-1F918414BE2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D5F05FB-98EA-3A71-20AF-C01DB3BD785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93A7D365-8161-72FD-ABB1-1B60E1F31FF2}"/>
              </a:ext>
            </a:extLst>
          </p:cNvPr>
          <p:cNvSpPr>
            <a:spLocks noGrp="1"/>
          </p:cNvSpPr>
          <p:nvPr>
            <p:ph type="dt" sz="half" idx="10"/>
          </p:nvPr>
        </p:nvSpPr>
        <p:spPr/>
        <p:txBody>
          <a:bodyPr/>
          <a:lstStyle/>
          <a:p>
            <a:fld id="{8B72D5E0-039A-4068-97A9-A3C4BF080BAA}" type="datetimeFigureOut">
              <a:rPr lang="en-GB" smtClean="0"/>
              <a:t>21/05/2026</a:t>
            </a:fld>
            <a:endParaRPr lang="en-GB"/>
          </a:p>
        </p:txBody>
      </p:sp>
      <p:sp>
        <p:nvSpPr>
          <p:cNvPr id="8" name="Footer Placeholder 7">
            <a:extLst>
              <a:ext uri="{FF2B5EF4-FFF2-40B4-BE49-F238E27FC236}">
                <a16:creationId xmlns:a16="http://schemas.microsoft.com/office/drawing/2014/main" id="{DD4C5E40-7DE8-3AB1-5251-3786AB7A8391}"/>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328ECA8F-EE24-6FAE-06B6-EAB0AA8C8997}"/>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21178559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21966A-38F6-03A2-7850-CBC3564D366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2AC653EE-AB8C-20D9-EBAD-D2C658811A8D}"/>
              </a:ext>
            </a:extLst>
          </p:cNvPr>
          <p:cNvSpPr>
            <a:spLocks noGrp="1"/>
          </p:cNvSpPr>
          <p:nvPr>
            <p:ph type="dt" sz="half" idx="10"/>
          </p:nvPr>
        </p:nvSpPr>
        <p:spPr/>
        <p:txBody>
          <a:bodyPr/>
          <a:lstStyle/>
          <a:p>
            <a:fld id="{8B72D5E0-039A-4068-97A9-A3C4BF080BAA}" type="datetimeFigureOut">
              <a:rPr lang="en-GB" smtClean="0"/>
              <a:t>21/05/2026</a:t>
            </a:fld>
            <a:endParaRPr lang="en-GB"/>
          </a:p>
        </p:txBody>
      </p:sp>
      <p:sp>
        <p:nvSpPr>
          <p:cNvPr id="4" name="Footer Placeholder 3">
            <a:extLst>
              <a:ext uri="{FF2B5EF4-FFF2-40B4-BE49-F238E27FC236}">
                <a16:creationId xmlns:a16="http://schemas.microsoft.com/office/drawing/2014/main" id="{4B8671EA-7A81-2488-CC64-F7AA1FA5BC52}"/>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1D3FA76E-F712-5B71-1F05-B2754EBC1D19}"/>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22179631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97460A9-9D13-270B-29A4-50F492C07A7C}"/>
              </a:ext>
            </a:extLst>
          </p:cNvPr>
          <p:cNvSpPr>
            <a:spLocks noGrp="1"/>
          </p:cNvSpPr>
          <p:nvPr>
            <p:ph type="dt" sz="half" idx="10"/>
          </p:nvPr>
        </p:nvSpPr>
        <p:spPr/>
        <p:txBody>
          <a:bodyPr/>
          <a:lstStyle/>
          <a:p>
            <a:fld id="{8B72D5E0-039A-4068-97A9-A3C4BF080BAA}" type="datetimeFigureOut">
              <a:rPr lang="en-GB" smtClean="0"/>
              <a:t>21/05/2026</a:t>
            </a:fld>
            <a:endParaRPr lang="en-GB"/>
          </a:p>
        </p:txBody>
      </p:sp>
      <p:sp>
        <p:nvSpPr>
          <p:cNvPr id="3" name="Footer Placeholder 2">
            <a:extLst>
              <a:ext uri="{FF2B5EF4-FFF2-40B4-BE49-F238E27FC236}">
                <a16:creationId xmlns:a16="http://schemas.microsoft.com/office/drawing/2014/main" id="{3A1BD67B-379B-C75C-2673-E3D7E240730B}"/>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C727B918-0F9C-09A3-037D-B8A188A3028B}"/>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37555423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6DC67F-FB8D-658E-598C-C851430A8DE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2BFDB75E-8915-32DA-B58D-D893D674504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852C66A0-5168-1295-9EEA-6F4269952DD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3C462D3-A952-91CB-DCE0-30ED606AE43C}"/>
              </a:ext>
            </a:extLst>
          </p:cNvPr>
          <p:cNvSpPr>
            <a:spLocks noGrp="1"/>
          </p:cNvSpPr>
          <p:nvPr>
            <p:ph type="dt" sz="half" idx="10"/>
          </p:nvPr>
        </p:nvSpPr>
        <p:spPr/>
        <p:txBody>
          <a:bodyPr/>
          <a:lstStyle/>
          <a:p>
            <a:fld id="{8B72D5E0-039A-4068-97A9-A3C4BF080BAA}" type="datetimeFigureOut">
              <a:rPr lang="en-GB" smtClean="0"/>
              <a:t>21/05/2026</a:t>
            </a:fld>
            <a:endParaRPr lang="en-GB"/>
          </a:p>
        </p:txBody>
      </p:sp>
      <p:sp>
        <p:nvSpPr>
          <p:cNvPr id="6" name="Footer Placeholder 5">
            <a:extLst>
              <a:ext uri="{FF2B5EF4-FFF2-40B4-BE49-F238E27FC236}">
                <a16:creationId xmlns:a16="http://schemas.microsoft.com/office/drawing/2014/main" id="{7AECD06D-C0FC-9664-2ACD-9DF3C518ABE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A4F2D1BB-BAD7-3C27-EF7C-8769CDC6FC62}"/>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23498460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E3220F-DE75-7293-BA54-A820732EB02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E5A7D88C-152E-EE3F-9132-C786827FA58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D4B973C0-9031-5A51-8DC0-CD8C2DBD6F2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EC7FE28-2AB1-A1AE-1DC1-2891CD211974}"/>
              </a:ext>
            </a:extLst>
          </p:cNvPr>
          <p:cNvSpPr>
            <a:spLocks noGrp="1"/>
          </p:cNvSpPr>
          <p:nvPr>
            <p:ph type="dt" sz="half" idx="10"/>
          </p:nvPr>
        </p:nvSpPr>
        <p:spPr/>
        <p:txBody>
          <a:bodyPr/>
          <a:lstStyle/>
          <a:p>
            <a:fld id="{8B72D5E0-039A-4068-97A9-A3C4BF080BAA}" type="datetimeFigureOut">
              <a:rPr lang="en-GB" smtClean="0"/>
              <a:t>21/05/2026</a:t>
            </a:fld>
            <a:endParaRPr lang="en-GB"/>
          </a:p>
        </p:txBody>
      </p:sp>
      <p:sp>
        <p:nvSpPr>
          <p:cNvPr id="6" name="Footer Placeholder 5">
            <a:extLst>
              <a:ext uri="{FF2B5EF4-FFF2-40B4-BE49-F238E27FC236}">
                <a16:creationId xmlns:a16="http://schemas.microsoft.com/office/drawing/2014/main" id="{4CFC7DF7-EE0C-A96A-0A71-4A20704DA62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B3F354D7-FA08-FBD4-1D6D-7C0D0115C50D}"/>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23649426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D6DE38-C159-DD3F-3419-061EC2706C5B}"/>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E4A78D7-9DB6-9FE7-D6A5-0D8C5113970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838ECF6-30BD-892C-0F30-CDFA8424ACF6}"/>
              </a:ext>
            </a:extLst>
          </p:cNvPr>
          <p:cNvSpPr>
            <a:spLocks noGrp="1"/>
          </p:cNvSpPr>
          <p:nvPr>
            <p:ph type="dt" sz="half" idx="10"/>
          </p:nvPr>
        </p:nvSpPr>
        <p:spPr/>
        <p:txBody>
          <a:bodyPr/>
          <a:lstStyle/>
          <a:p>
            <a:fld id="{8B72D5E0-039A-4068-97A9-A3C4BF080BAA}" type="datetimeFigureOut">
              <a:rPr lang="en-GB" smtClean="0"/>
              <a:t>21/05/2026</a:t>
            </a:fld>
            <a:endParaRPr lang="en-GB"/>
          </a:p>
        </p:txBody>
      </p:sp>
      <p:sp>
        <p:nvSpPr>
          <p:cNvPr id="5" name="Footer Placeholder 4">
            <a:extLst>
              <a:ext uri="{FF2B5EF4-FFF2-40B4-BE49-F238E27FC236}">
                <a16:creationId xmlns:a16="http://schemas.microsoft.com/office/drawing/2014/main" id="{A79E0C5A-96D4-3102-5A52-240B1FD840F8}"/>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5C3AA66-3D0D-0085-C81D-088B396324C7}"/>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19533953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C868FC3-86B3-8BF7-3C43-D7286B46EAF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BDEA911C-6657-35D6-8679-F5861CAE8D1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07097C1-61F4-5117-4F0F-D1B0C168769E}"/>
              </a:ext>
            </a:extLst>
          </p:cNvPr>
          <p:cNvSpPr>
            <a:spLocks noGrp="1"/>
          </p:cNvSpPr>
          <p:nvPr>
            <p:ph type="dt" sz="half" idx="10"/>
          </p:nvPr>
        </p:nvSpPr>
        <p:spPr/>
        <p:txBody>
          <a:bodyPr/>
          <a:lstStyle/>
          <a:p>
            <a:fld id="{8B72D5E0-039A-4068-97A9-A3C4BF080BAA}" type="datetimeFigureOut">
              <a:rPr lang="en-GB" smtClean="0"/>
              <a:t>21/05/2026</a:t>
            </a:fld>
            <a:endParaRPr lang="en-GB"/>
          </a:p>
        </p:txBody>
      </p:sp>
      <p:sp>
        <p:nvSpPr>
          <p:cNvPr id="5" name="Footer Placeholder 4">
            <a:extLst>
              <a:ext uri="{FF2B5EF4-FFF2-40B4-BE49-F238E27FC236}">
                <a16:creationId xmlns:a16="http://schemas.microsoft.com/office/drawing/2014/main" id="{B2F7DD80-E551-6693-517F-57C80BD89A7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FC51674-A2E1-4818-8900-91FBB812AB3E}"/>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2747567405"/>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45C16C3-8E98-21FD-43ED-3AA697B77AE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9AA3022-3424-75B4-F2EC-7CEB8FA07C5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9EC25384-14A1-0395-EDE6-D2A60BCE492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B72D5E0-039A-4068-97A9-A3C4BF080BAA}" type="datetimeFigureOut">
              <a:rPr lang="en-GB" smtClean="0"/>
              <a:t>21/05/2026</a:t>
            </a:fld>
            <a:endParaRPr lang="en-GB"/>
          </a:p>
        </p:txBody>
      </p:sp>
      <p:sp>
        <p:nvSpPr>
          <p:cNvPr id="5" name="Footer Placeholder 4">
            <a:extLst>
              <a:ext uri="{FF2B5EF4-FFF2-40B4-BE49-F238E27FC236}">
                <a16:creationId xmlns:a16="http://schemas.microsoft.com/office/drawing/2014/main" id="{09290F1D-4E4C-69C6-26A7-CE1716791C6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B634093-083B-3EA6-BBB8-95BE7409B04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AD7094B-D2BC-452F-93E3-9C4A8FC9449E}" type="slidenum">
              <a:rPr lang="en-GB" smtClean="0"/>
              <a:t>‹#›</a:t>
            </a:fld>
            <a:endParaRPr lang="en-GB"/>
          </a:p>
        </p:txBody>
      </p:sp>
    </p:spTree>
    <p:extLst>
      <p:ext uri="{BB962C8B-B14F-4D97-AF65-F5344CB8AC3E}">
        <p14:creationId xmlns:p14="http://schemas.microsoft.com/office/powerpoint/2010/main" val="6997227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4" Type="http://schemas.microsoft.com/office/2007/relationships/hdphoto" Target="../media/hdphoto1.wdp"/></Relationships>
</file>

<file path=ppt/slides/_rels/slide3.xml.rels><?xml version="1.0" encoding="UTF-8"?><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microsoft.com/office/2007/relationships/hdphoto" Target="../media/hdphoto2.wdp"/></Relationships>
</file>

<file path=ppt/slides/_rels/slide4.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5.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6.xml.rels><?xml version="1.0" encoding="UTF-8"?><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7.xml.rels><?xml version="1.0" encoding="UTF-8"?><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8.xml.rels><?xml version="1.0" encoding="UTF-8"?><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9.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microsoft.com/office/2007/relationships/hdphoto" Target="../media/hdphoto1.wdp"/><Relationship Id="rId4" Type="http://schemas.openxmlformats.org/officeDocument/2006/relationships/image" Target="../media/image3.png"/></Relationships>
</file>

<file path=ppt/slides/_rels/slide10.xml.rels><?xml version="1.0" encoding="UTF-8"?><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microsoft.com/office/2007/relationships/hdphoto" Target="../media/hdphoto2.wdp"/></Relationships>
</file>

<file path=ppt/slides/_rels/slide11.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customXml" Target="../ink/ink1.xml"/></Relationships>
</file>

<file path=ppt/slides/_rels/slide12.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13.xml.rels><?xml version="1.0" encoding="UTF-8"?><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4.xml.rels><?xml version="1.0" encoding="UTF-8"?><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6.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microsoft.com/office/2007/relationships/hdphoto" Target="../media/hdphoto1.wdp"/><Relationship Id="rId4" Type="http://schemas.openxmlformats.org/officeDocument/2006/relationships/image" Target="../media/image3.png"/></Relationships>
</file>

<file path=ppt/slides/_rels/slide17.xml.rels><?xml version="1.0" encoding="UTF-8"?><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microsoft.com/office/2007/relationships/hdphoto" Target="../media/hdphoto2.wdp"/></Relationships>
</file>

<file path=ppt/slides/_rels/slide18.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customXml" Target="../ink/ink1.xml"/></Relationships>
</file>

<file path=ppt/slides/_rels/slide19.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20.xml.rels><?xml version="1.0" encoding="UTF-8"?><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1.xml.rels><?xml version="1.0" encoding="UTF-8"?><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 Id="rId99" Type="http://schemas.openxmlformats.org/officeDocument/2006/relationships/notesSlide" Target="../notesSlides/notesSlide15.xml"/></Relationships>
</file>

<file path=ppt/slides/_rels/slide22.xml.rels><?xml version="1.0" encoding="UTF-8"?><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7.png"/><Relationship Id="rId1" Type="http://schemas.openxmlformats.org/officeDocument/2006/relationships/slideLayout" Target="../slideLayouts/slideLayout7.xml"/><Relationship Id="rId99"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3" descr="A white grid with black text  Description automatically generated">
            <a:extLst>
              <a:ext uri="{FF2B5EF4-FFF2-40B4-BE49-F238E27FC236}">
                <a16:creationId xmlns:a16="http://schemas.microsoft.com/office/drawing/2014/main" id="{1B42834E-5B1E-8CE4-BEEE-8784E10AE2DF}"/>
              </a:ext>
            </a:extLst>
          </p:cNvPr>
          <p:cNvPicPr>
            <a:picLocks noChangeAspect="1"/>
          </p:cNvPicPr>
          <p:nvPr/>
        </p:nvPicPr>
        <p:blipFill>
          <a:blip r:embed="rId2"/>
          <a:stretch>
            <a:fillRect/>
          </a:stretch>
        </p:blipFill>
        <p:spPr>
          <a:xfrm>
            <a:off x="343349" y="169879"/>
            <a:ext cx="10272264" cy="6455163"/>
          </a:xfrm>
          <a:prstGeom prst="rect">
            <a:avLst/>
          </a:prstGeom>
        </p:spPr>
      </p:pic>
    </p:spTree>
    <p:extLst>
      <p:ext uri="{BB962C8B-B14F-4D97-AF65-F5344CB8AC3E}">
        <p14:creationId xmlns:p14="http://schemas.microsoft.com/office/powerpoint/2010/main" val="1269628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D28150-E2BB-D124-E558-AC8A265F32E2}"/>
              </a:ext>
            </a:extLst>
          </p:cNvPr>
          <p:cNvSpPr>
            <a:spLocks noGrp="1"/>
          </p:cNvSpPr>
          <p:nvPr>
            <p:ph type="ctrTitle"/>
          </p:nvPr>
        </p:nvSpPr>
        <p:spPr>
          <a:xfrm>
            <a:off x="0" y="2017477"/>
            <a:ext cx="12192000" cy="2387600"/>
          </a:xfrm>
        </p:spPr>
        <p:txBody>
          <a:bodyPr/>
          <a:lstStyle/>
          <a:p>
            <a:r>
              <a:rPr lang="en-GB">
                <a:latin typeface="Sassoon Infant Rg" panose="02000503030000020003" pitchFamily="2" charset="0"/>
              </a:rPr>
              <a:t>Being a Reader</a:t>
            </a:r>
          </a:p>
        </p:txBody>
      </p:sp>
      <p:grpSp>
        <p:nvGrpSpPr>
          <p:cNvPr id="4" name="Group 3">
            <a:extLst>
              <a:ext uri="{FF2B5EF4-FFF2-40B4-BE49-F238E27FC236}">
                <a16:creationId xmlns:a16="http://schemas.microsoft.com/office/drawing/2014/main" id="{5F3F8467-5724-D86C-FDA4-D49533DEC4F0}"/>
              </a:ext>
            </a:extLst>
          </p:cNvPr>
          <p:cNvGrpSpPr/>
          <p:nvPr/>
        </p:nvGrpSpPr>
        <p:grpSpPr>
          <a:xfrm>
            <a:off x="4810699" y="542637"/>
            <a:ext cx="2570602" cy="2802616"/>
            <a:chOff x="7629233" y="677174"/>
            <a:chExt cx="2090136" cy="2455590"/>
          </a:xfrm>
        </p:grpSpPr>
        <p:pic>
          <p:nvPicPr>
            <p:cNvPr id="5" name="Picture 8" descr="Reading Icon 2954745">
              <a:extLst>
                <a:ext uri="{FF2B5EF4-FFF2-40B4-BE49-F238E27FC236}">
                  <a16:creationId xmlns:a16="http://schemas.microsoft.com/office/drawing/2014/main" id="{2B1C2540-38D6-7D21-7288-1F3B603531F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29233" y="1184735"/>
              <a:ext cx="2090136" cy="194802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8F3344A5-4924-D3BC-68C4-52E2EB3B6D65}"/>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6627" b="95181" l="4969" r="92547">
                          <a14:foregroundMark x1="43478" y1="94578" x2="43478" y2="94578"/>
                          <a14:foregroundMark x1="4969" y1="50602" x2="4969" y2="50602"/>
                          <a14:foregroundMark x1="16770" y1="19277" x2="16770" y2="19277"/>
                          <a14:foregroundMark x1="49689" y1="8434" x2="49689" y2="8434"/>
                          <a14:foregroundMark x1="80124" y1="19277" x2="80124" y2="19277"/>
                          <a14:foregroundMark x1="56522" y1="95783" x2="56522" y2="95783"/>
                          <a14:foregroundMark x1="89441" y1="49398" x2="89441" y2="49398"/>
                          <a14:foregroundMark x1="49689" y1="6627" x2="49689" y2="6627"/>
                          <a14:foregroundMark x1="92547" y1="49398" x2="92547" y2="49398"/>
                        </a14:backgroundRemoval>
                      </a14:imgEffect>
                    </a14:imgLayer>
                  </a14:imgProps>
                </a:ext>
              </a:extLst>
            </a:blip>
            <a:stretch>
              <a:fillRect/>
            </a:stretch>
          </p:blipFill>
          <p:spPr>
            <a:xfrm>
              <a:off x="8856582" y="677174"/>
              <a:ext cx="716760" cy="688774"/>
            </a:xfrm>
            <a:prstGeom prst="rect">
              <a:avLst/>
            </a:prstGeom>
          </p:spPr>
        </p:pic>
      </p:grpSp>
      <p:sp>
        <p:nvSpPr>
          <p:cNvPr id="6" name="TextBox 5">
            <a:extLst>
              <a:ext uri="{FF2B5EF4-FFF2-40B4-BE49-F238E27FC236}">
                <a16:creationId xmlns:a16="http://schemas.microsoft.com/office/drawing/2014/main" id="{BB00753D-C189-01CA-44B1-B484F954D600}"/>
              </a:ext>
            </a:extLst>
          </p:cNvPr>
          <p:cNvSpPr txBox="1"/>
          <p:nvPr/>
        </p:nvSpPr>
        <p:spPr>
          <a:xfrm>
            <a:off x="0" y="4552141"/>
            <a:ext cx="12192000" cy="584775"/>
          </a:xfrm>
          <a:prstGeom prst="rect">
            <a:avLst/>
          </a:prstGeom>
          <a:noFill/>
        </p:spPr>
        <p:txBody>
          <a:bodyPr wrap="square">
            <a:spAutoFit/>
          </a:bodyPr>
          <a:lstStyle/>
          <a:p>
            <a:pPr algn="ctr"/>
            <a:r>
              <a:rPr lang="en-GB" sz="3200" dirty="0"/>
              <a:t>Vocabulary</a:t>
            </a:r>
          </a:p>
        </p:txBody>
      </p:sp>
      <p:sp>
        <p:nvSpPr>
          <p:cNvPr id="8" name="TextBox 7">
            <a:extLst>
              <a:ext uri="{FF2B5EF4-FFF2-40B4-BE49-F238E27FC236}">
                <a16:creationId xmlns:a16="http://schemas.microsoft.com/office/drawing/2014/main" id="{E3C356D1-4D69-6789-D9E9-77C69F82E055}"/>
              </a:ext>
            </a:extLst>
          </p:cNvPr>
          <p:cNvSpPr txBox="1"/>
          <p:nvPr/>
        </p:nvSpPr>
        <p:spPr>
          <a:xfrm>
            <a:off x="4423577" y="5199610"/>
            <a:ext cx="3329758" cy="1446550"/>
          </a:xfrm>
          <a:prstGeom prst="rect">
            <a:avLst/>
          </a:prstGeom>
          <a:noFill/>
        </p:spPr>
        <p:txBody>
          <a:bodyPr wrap="none" rtlCol="0" anchor="ctr">
            <a:spAutoFit/>
          </a:bodyPr>
          <a:lstStyle/>
          <a:p>
            <a:pPr algn="ctr"/>
            <a:r>
              <a:rPr lang="en-GB" sz="8800" dirty="0"/>
              <a:t>Tuesday</a:t>
            </a:r>
          </a:p>
        </p:txBody>
      </p:sp>
    </p:spTree>
    <p:extLst>
      <p:ext uri="{BB962C8B-B14F-4D97-AF65-F5344CB8AC3E}">
        <p14:creationId xmlns:p14="http://schemas.microsoft.com/office/powerpoint/2010/main" val="31726175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37DFFE-43F9-9789-7910-83BEEE3A3818}"/>
            </a:ext>
          </a:extLst>
        </p:cNvPr>
        <p:cNvGrpSpPr/>
        <p:nvPr/>
      </p:nvGrpSpPr>
      <p:grpSpPr>
        <a:xfrm>
          <a:off x="0" y="0"/>
          <a:ext cx="0" cy="0"/>
          <a:chOff x="0" y="0"/>
          <a:chExt cx="0" cy="0"/>
        </a:xfrm>
      </p:grpSpPr>
      <p:sp>
        <p:nvSpPr>
          <p:cNvPr id="8" name="Rectangle: Rounded Corners 7">
            <a:extLst>
              <a:ext uri="{FF2B5EF4-FFF2-40B4-BE49-F238E27FC236}">
                <a16:creationId xmlns:a16="http://schemas.microsoft.com/office/drawing/2014/main" id="{93E87004-6E1A-D1FF-FF85-9A712A9BB7B3}"/>
              </a:ext>
            </a:extLst>
          </p:cNvPr>
          <p:cNvSpPr/>
          <p:nvPr/>
        </p:nvSpPr>
        <p:spPr>
          <a:xfrm>
            <a:off x="6476397" y="19821"/>
            <a:ext cx="5576138" cy="6818358"/>
          </a:xfrm>
          <a:prstGeom prst="roundRect">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081EF958-1030-773B-A7D6-6CEB89A8F58A}"/>
              </a:ext>
            </a:extLst>
          </p:cNvPr>
          <p:cNvSpPr txBox="1"/>
          <p:nvPr/>
        </p:nvSpPr>
        <p:spPr>
          <a:xfrm>
            <a:off x="6786658" y="-9273"/>
            <a:ext cx="4833400" cy="684803"/>
          </a:xfrm>
          <a:prstGeom prst="rect">
            <a:avLst/>
          </a:prstGeom>
          <a:noFill/>
        </p:spPr>
        <p:txBody>
          <a:bodyPr wrap="square" rtlCol="0">
            <a:spAutoFit/>
          </a:bodyPr>
          <a:lstStyle/>
          <a:p>
            <a:pPr algn="ctr">
              <a:lnSpc>
                <a:spcPct val="150000"/>
              </a:lnSpc>
            </a:pPr>
            <a:r>
              <a:rPr lang="en-GB" sz="2800" b="1" u="sng">
                <a:solidFill>
                  <a:schemeClr val="tx1"/>
                </a:solidFill>
                <a:latin typeface="Sassoon Infant Rg" panose="02000503030000020003" pitchFamily="2" charset="0"/>
                <a:ea typeface="Sassoon Infant Rg" panose="02000503030000020003" pitchFamily="2" charset="0"/>
              </a:rPr>
              <a:t>Why do we learn to read?</a:t>
            </a:r>
          </a:p>
        </p:txBody>
      </p:sp>
      <p:sp>
        <p:nvSpPr>
          <p:cNvPr id="11" name="TextBox 10">
            <a:extLst>
              <a:ext uri="{FF2B5EF4-FFF2-40B4-BE49-F238E27FC236}">
                <a16:creationId xmlns:a16="http://schemas.microsoft.com/office/drawing/2014/main" id="{CB992496-7EDE-333E-5CB0-3C40245FED5D}"/>
              </a:ext>
            </a:extLst>
          </p:cNvPr>
          <p:cNvSpPr txBox="1"/>
          <p:nvPr/>
        </p:nvSpPr>
        <p:spPr>
          <a:xfrm>
            <a:off x="8246543" y="848912"/>
            <a:ext cx="3654961" cy="2631490"/>
          </a:xfrm>
          <a:prstGeom prst="rect">
            <a:avLst/>
          </a:prstGeom>
          <a:noFill/>
        </p:spPr>
        <p:txBody>
          <a:bodyPr wrap="square">
            <a:spAutoFit/>
          </a:bodyPr>
          <a:lstStyle/>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 xml:space="preserve">Reading makes me </a:t>
            </a:r>
            <a:r>
              <a:rPr lang="en-GB" sz="3200" b="1">
                <a:solidFill>
                  <a:schemeClr val="tx1"/>
                </a:solidFill>
                <a:latin typeface="Sassoon Infant Rg" panose="02000503030000020003" pitchFamily="2" charset="0"/>
                <a:ea typeface="Sassoon Infant Rg" panose="02000503030000020003" pitchFamily="2" charset="0"/>
              </a:rPr>
              <a:t>powerful</a:t>
            </a:r>
            <a:r>
              <a:rPr lang="en-GB" sz="2400">
                <a:solidFill>
                  <a:schemeClr val="tx1"/>
                </a:solidFill>
                <a:latin typeface="Sassoon Infant Rg" panose="02000503030000020003" pitchFamily="2" charset="0"/>
                <a:ea typeface="Sassoon Infant Rg" panose="02000503030000020003" pitchFamily="2" charset="0"/>
              </a:rPr>
              <a:t xml:space="preserve"> because it helps me to </a:t>
            </a:r>
            <a:r>
              <a:rPr lang="en-GB" sz="3200" b="1">
                <a:solidFill>
                  <a:schemeClr val="tx1"/>
                </a:solidFill>
                <a:latin typeface="Sassoon Infant Rg" panose="02000503030000020003" pitchFamily="2" charset="0"/>
                <a:ea typeface="Sassoon Infant Rg" panose="02000503030000020003" pitchFamily="2" charset="0"/>
              </a:rPr>
              <a:t>understand</a:t>
            </a:r>
            <a:r>
              <a:rPr lang="en-GB" sz="2400">
                <a:solidFill>
                  <a:schemeClr val="tx1"/>
                </a:solidFill>
                <a:latin typeface="Sassoon Infant Rg" panose="02000503030000020003" pitchFamily="2" charset="0"/>
                <a:ea typeface="Sassoon Infant Rg" panose="02000503030000020003" pitchFamily="2" charset="0"/>
              </a:rPr>
              <a:t xml:space="preserve"> the world around me.</a:t>
            </a:r>
          </a:p>
        </p:txBody>
      </p:sp>
      <p:pic>
        <p:nvPicPr>
          <p:cNvPr id="7" name="Picture 6">
            <a:extLst>
              <a:ext uri="{FF2B5EF4-FFF2-40B4-BE49-F238E27FC236}">
                <a16:creationId xmlns:a16="http://schemas.microsoft.com/office/drawing/2014/main" id="{79FB5223-15E3-4844-7748-101D3E2F6D73}"/>
              </a:ext>
            </a:extLst>
          </p:cNvPr>
          <p:cNvPicPr>
            <a:picLocks noChangeAspect="1"/>
          </p:cNvPicPr>
          <p:nvPr/>
        </p:nvPicPr>
        <p:blipFill rotWithShape="1">
          <a:blip r:embed="rId3">
            <a:extLst>
              <a:ext uri="{BEBA8EAE-BF5A-486C-A8C5-ECC9F3942E4B}">
                <a14:imgProps xmlns:a14="http://schemas.microsoft.com/office/drawing/2010/main">
                  <a14:imgLayer r:embed="rId4">
                    <a14:imgEffect>
                      <a14:backgroundRemoval t="61376" b="80317" l="20847" r="34709">
                        <a14:foregroundMark x1="24656" y1="80000" x2="24656" y2="80000"/>
                        <a14:foregroundMark x1="29312" y1="80317" x2="29312" y2="80317"/>
                      </a14:backgroundRemoval>
                    </a14:imgEffect>
                  </a14:imgLayer>
                </a14:imgProps>
              </a:ext>
            </a:extLst>
          </a:blip>
          <a:srcRect l="19127" t="59276" r="63462" b="18202"/>
          <a:stretch/>
        </p:blipFill>
        <p:spPr>
          <a:xfrm>
            <a:off x="6896058" y="1151805"/>
            <a:ext cx="1350486" cy="1656373"/>
          </a:xfrm>
          <a:prstGeom prst="rect">
            <a:avLst/>
          </a:prstGeom>
        </p:spPr>
      </p:pic>
      <p:pic>
        <p:nvPicPr>
          <p:cNvPr id="12" name="Picture 11">
            <a:extLst>
              <a:ext uri="{FF2B5EF4-FFF2-40B4-BE49-F238E27FC236}">
                <a16:creationId xmlns:a16="http://schemas.microsoft.com/office/drawing/2014/main" id="{5594475F-C636-A29B-742C-0F17DB69B1FF}"/>
              </a:ext>
            </a:extLst>
          </p:cNvPr>
          <p:cNvPicPr>
            <a:picLocks noChangeAspect="1"/>
          </p:cNvPicPr>
          <p:nvPr/>
        </p:nvPicPr>
        <p:blipFill rotWithShape="1">
          <a:blip r:embed="rId5">
            <a:extLst>
              <a:ext uri="{BEBA8EAE-BF5A-486C-A8C5-ECC9F3942E4B}">
                <a14:imgProps xmlns:a14="http://schemas.microsoft.com/office/drawing/2010/main">
                  <a14:imgLayer r:embed="rId4">
                    <a14:imgEffect>
                      <a14:backgroundRemoval t="61793" b="81925" l="64809" r="78176">
                        <a14:foregroundMark x1="75238" y1="61799" x2="75238" y2="61799"/>
                      </a14:backgroundRemoval>
                    </a14:imgEffect>
                  </a14:imgLayer>
                </a14:imgProps>
              </a:ext>
            </a:extLst>
          </a:blip>
          <a:srcRect l="63138" t="59276" r="20153" b="15559"/>
          <a:stretch/>
        </p:blipFill>
        <p:spPr>
          <a:xfrm>
            <a:off x="10650071" y="4324983"/>
            <a:ext cx="1251434" cy="1786987"/>
          </a:xfrm>
          <a:prstGeom prst="rect">
            <a:avLst/>
          </a:prstGeom>
        </p:spPr>
      </p:pic>
      <p:sp>
        <p:nvSpPr>
          <p:cNvPr id="14" name="TextBox 13">
            <a:extLst>
              <a:ext uri="{FF2B5EF4-FFF2-40B4-BE49-F238E27FC236}">
                <a16:creationId xmlns:a16="http://schemas.microsoft.com/office/drawing/2014/main" id="{C934D238-3C31-683C-09D6-F097B09592C0}"/>
              </a:ext>
            </a:extLst>
          </p:cNvPr>
          <p:cNvSpPr txBox="1"/>
          <p:nvPr/>
        </p:nvSpPr>
        <p:spPr>
          <a:xfrm>
            <a:off x="6786658" y="4022091"/>
            <a:ext cx="3863413" cy="1708160"/>
          </a:xfrm>
          <a:prstGeom prst="rect">
            <a:avLst/>
          </a:prstGeom>
          <a:noFill/>
        </p:spPr>
        <p:txBody>
          <a:bodyPr wrap="square">
            <a:spAutoFit/>
          </a:bodyPr>
          <a:lstStyle/>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At Wallscourt Farm Academy:</a:t>
            </a:r>
          </a:p>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 xml:space="preserve">We love to read, learn to read and read to learn! </a:t>
            </a:r>
          </a:p>
        </p:txBody>
      </p:sp>
      <p:pic>
        <p:nvPicPr>
          <p:cNvPr id="3" name="Picture 2">
            <a:extLst>
              <a:ext uri="{FF2B5EF4-FFF2-40B4-BE49-F238E27FC236}">
                <a16:creationId xmlns:a16="http://schemas.microsoft.com/office/drawing/2014/main" id="{4C8634C0-C6DD-1B8E-85A5-094729686CE0}"/>
              </a:ext>
            </a:extLst>
          </p:cNvPr>
          <p:cNvPicPr>
            <a:picLocks noChangeAspect="1"/>
          </p:cNvPicPr>
          <p:nvPr/>
        </p:nvPicPr>
        <p:blipFill>
          <a:blip r:embed="rId6"/>
          <a:stretch>
            <a:fillRect/>
          </a:stretch>
        </p:blipFill>
        <p:spPr>
          <a:xfrm>
            <a:off x="631179" y="568742"/>
            <a:ext cx="5645882" cy="5654149"/>
          </a:xfrm>
          <a:prstGeom prst="roundRect">
            <a:avLst>
              <a:gd name="adj" fmla="val 8594"/>
            </a:avLst>
          </a:prstGeom>
          <a:solidFill>
            <a:srgbClr val="FFFFFF">
              <a:shade val="85000"/>
            </a:srgbClr>
          </a:solidFill>
          <a:ln>
            <a:noFill/>
          </a:ln>
          <a:effectLst/>
        </p:spPr>
      </p:pic>
    </p:spTree>
    <p:extLst>
      <p:ext uri="{BB962C8B-B14F-4D97-AF65-F5344CB8AC3E}">
        <p14:creationId xmlns:p14="http://schemas.microsoft.com/office/powerpoint/2010/main" val="4200216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9EC2FE-E3EF-97C8-F7DC-C0A25E1D163D}"/>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5AA7E159-E28C-77BB-73A2-F381C7A90837}"/>
              </a:ext>
            </a:extLst>
          </p:cNvPr>
          <p:cNvPicPr>
            <a:picLocks noChangeAspect="1"/>
          </p:cNvPicPr>
          <p:nvPr/>
        </p:nvPicPr>
        <p:blipFill>
          <a:blip r:embed="rId3"/>
          <a:stretch>
            <a:fillRect/>
          </a:stretch>
        </p:blipFill>
        <p:spPr>
          <a:xfrm>
            <a:off x="10424916" y="134700"/>
            <a:ext cx="1616752" cy="697982"/>
          </a:xfrm>
          <a:prstGeom prst="rect">
            <a:avLst/>
          </a:prstGeom>
        </p:spPr>
      </p:pic>
      <p:grpSp>
        <p:nvGrpSpPr>
          <p:cNvPr id="9" name="Group 8">
            <a:extLst>
              <a:ext uri="{FF2B5EF4-FFF2-40B4-BE49-F238E27FC236}">
                <a16:creationId xmlns:a16="http://schemas.microsoft.com/office/drawing/2014/main" id="{91C39609-0D86-A5B7-4D8A-1F527D92392F}"/>
              </a:ext>
            </a:extLst>
          </p:cNvPr>
          <p:cNvGrpSpPr/>
          <p:nvPr/>
        </p:nvGrpSpPr>
        <p:grpSpPr>
          <a:xfrm>
            <a:off x="292072" y="239667"/>
            <a:ext cx="1145637" cy="1145637"/>
            <a:chOff x="5180554" y="1026138"/>
            <a:chExt cx="1316831" cy="1316831"/>
          </a:xfrm>
        </p:grpSpPr>
        <p:sp>
          <p:nvSpPr>
            <p:cNvPr id="10" name="Oval 9">
              <a:extLst>
                <a:ext uri="{FF2B5EF4-FFF2-40B4-BE49-F238E27FC236}">
                  <a16:creationId xmlns:a16="http://schemas.microsoft.com/office/drawing/2014/main" id="{84199F61-4B0B-8E0F-2DB2-ED5EBBDF58E5}"/>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12" name="Oval 4">
              <a:extLst>
                <a:ext uri="{FF2B5EF4-FFF2-40B4-BE49-F238E27FC236}">
                  <a16:creationId xmlns:a16="http://schemas.microsoft.com/office/drawing/2014/main" id="{FC3196E5-5551-D86F-2179-6878DD23429F}"/>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
        <p:nvSpPr>
          <p:cNvPr id="14" name="Title 1">
            <a:extLst>
              <a:ext uri="{FF2B5EF4-FFF2-40B4-BE49-F238E27FC236}">
                <a16:creationId xmlns:a16="http://schemas.microsoft.com/office/drawing/2014/main" id="{BDA4AF79-C1C4-8EFA-F1F6-B418570C55CC}"/>
              </a:ext>
            </a:extLst>
          </p:cNvPr>
          <p:cNvSpPr txBox="1">
            <a:spLocks/>
          </p:cNvSpPr>
          <p:nvPr/>
        </p:nvSpPr>
        <p:spPr>
          <a:xfrm>
            <a:off x="-253388" y="85619"/>
            <a:ext cx="12153316" cy="1299685"/>
          </a:xfrm>
          <a:prstGeom prst="rect">
            <a:avLst/>
          </a:prstGeom>
        </p:spPr>
        <p:txBody>
          <a:bodyPr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a:t>Vocabulary Focus</a:t>
            </a:r>
          </a:p>
        </p:txBody>
      </p:sp>
      <p:sp>
        <p:nvSpPr>
          <p:cNvPr id="15" name="TextBox 14">
            <a:extLst>
              <a:ext uri="{FF2B5EF4-FFF2-40B4-BE49-F238E27FC236}">
                <a16:creationId xmlns:a16="http://schemas.microsoft.com/office/drawing/2014/main" id="{DB2EAE7E-9AF9-75F2-CFE5-9905D0F16B0E}"/>
              </a:ext>
            </a:extLst>
          </p:cNvPr>
          <p:cNvSpPr txBox="1"/>
          <p:nvPr/>
        </p:nvSpPr>
        <p:spPr>
          <a:xfrm>
            <a:off x="2442576" y="1217529"/>
            <a:ext cx="7503292" cy="646331"/>
          </a:xfrm>
          <a:prstGeom prst="rect">
            <a:avLst/>
          </a:prstGeom>
          <a:noFill/>
        </p:spPr>
        <p:txBody>
          <a:bodyPr wrap="square" rtlCol="0">
            <a:spAutoFit/>
          </a:bodyPr>
          <a:lstStyle/>
          <a:p>
            <a:r>
              <a:rPr lang="en-GB"/>
              <a:t>Are there any words you feel confident to explain the meaning of (definition)? Are there any where you are less confident?</a:t>
            </a:r>
          </a:p>
        </p:txBody>
      </p:sp>
      <p:graphicFrame>
        <p:nvGraphicFramePr>
          <p:cNvPr id="13" name="Table 12">
            <a:extLst>
              <a:ext uri="{FF2B5EF4-FFF2-40B4-BE49-F238E27FC236}">
                <a16:creationId xmlns:a16="http://schemas.microsoft.com/office/drawing/2014/main" id="{9464E341-C007-5632-B326-45797112EDA2}"/>
              </a:ext>
            </a:extLst>
          </p:cNvPr>
          <p:cNvGraphicFramePr>
            <a:graphicFrameLocks noGrp="1"/>
          </p:cNvGraphicFramePr>
          <p:nvPr>
            <p:extLst>
              <p:ext uri="{D42A27DB-BD31-4B8C-83A1-F6EECF244321}">
                <p14:modId xmlns:p14="http://schemas.microsoft.com/office/powerpoint/2010/main" val="3344407260"/>
              </p:ext>
            </p:extLst>
          </p:nvPr>
        </p:nvGraphicFramePr>
        <p:xfrm>
          <a:off x="647700" y="2173922"/>
          <a:ext cx="10663199" cy="3429000"/>
        </p:xfrm>
        <a:graphic>
          <a:graphicData uri="http://schemas.openxmlformats.org/drawingml/2006/table">
            <a:tbl>
              <a:tblPr>
                <a:tableStyleId>{5C22544A-7EE6-4342-B048-85BDC9FD1C3A}</a:tableStyleId>
              </a:tblPr>
              <a:tblGrid>
                <a:gridCol w="1638300">
                  <a:extLst>
                    <a:ext uri="{9D8B030D-6E8A-4147-A177-3AD203B41FA5}">
                      <a16:colId xmlns:a16="http://schemas.microsoft.com/office/drawing/2014/main" val="4160592141"/>
                    </a:ext>
                  </a:extLst>
                </a:gridCol>
                <a:gridCol w="9024899">
                  <a:extLst>
                    <a:ext uri="{9D8B030D-6E8A-4147-A177-3AD203B41FA5}">
                      <a16:colId xmlns:a16="http://schemas.microsoft.com/office/drawing/2014/main" val="3033414289"/>
                    </a:ext>
                  </a:extLst>
                </a:gridCol>
              </a:tblGrid>
              <a:tr h="685800">
                <a:tc>
                  <a:txBody>
                    <a:bodyPr/>
                    <a:lstStyle/>
                    <a:p>
                      <a:pPr algn="l" fontAlgn="b">
                        <a:buNone/>
                      </a:pPr>
                      <a:r>
                        <a:rPr lang="en-GB" sz="2000" b="0" i="0" u="none" strike="noStrike">
                          <a:solidFill>
                            <a:srgbClr val="000000"/>
                          </a:solidFill>
                          <a:effectLst/>
                          <a:latin typeface="Calibri" panose="020F0502020204030204" pitchFamily="34" charset="0"/>
                        </a:rPr>
                        <a:t>ancient</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1800" b="0" i="0" u="none" strike="noStrike">
                          <a:solidFill>
                            <a:srgbClr val="000000"/>
                          </a:solidFill>
                          <a:effectLst/>
                          <a:latin typeface="Calibri" panose="020F0502020204030204" pitchFamily="34" charset="0"/>
                        </a:rPr>
                        <a:t>very old; having existed for a very long time</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53441562"/>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trembling</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shaking slightly because of fear, cold or strong feelings</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24187290"/>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persistent</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continuing to try even when something is difficult</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47381064"/>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glimpse</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a very quick, brief look at something</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10434475"/>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stirring</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beginning to move or become active; starting to feel something</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21865700"/>
                  </a:ext>
                </a:extLst>
              </a:tr>
            </a:tbl>
          </a:graphicData>
        </a:graphic>
      </p:graphicFrame>
      <p:sp>
        <p:nvSpPr>
          <p:cNvPr id="16" name="Rectangle 15">
            <a:extLst>
              <a:ext uri="{FF2B5EF4-FFF2-40B4-BE49-F238E27FC236}">
                <a16:creationId xmlns:a16="http://schemas.microsoft.com/office/drawing/2014/main" id="{E459C5E2-5BCA-E6D1-3FA2-4EE65FF057B2}"/>
              </a:ext>
            </a:extLst>
          </p:cNvPr>
          <p:cNvSpPr/>
          <p:nvPr/>
        </p:nvSpPr>
        <p:spPr>
          <a:xfrm>
            <a:off x="2312410" y="21739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a:t>?</a:t>
            </a:r>
          </a:p>
        </p:txBody>
      </p:sp>
      <p:sp>
        <p:nvSpPr>
          <p:cNvPr id="17" name="Rectangle 16">
            <a:extLst>
              <a:ext uri="{FF2B5EF4-FFF2-40B4-BE49-F238E27FC236}">
                <a16:creationId xmlns:a16="http://schemas.microsoft.com/office/drawing/2014/main" id="{8378AAAA-9509-6BC5-9C3F-9C67043451B7}"/>
              </a:ext>
            </a:extLst>
          </p:cNvPr>
          <p:cNvSpPr/>
          <p:nvPr/>
        </p:nvSpPr>
        <p:spPr>
          <a:xfrm>
            <a:off x="2312410" y="28597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a:t>?</a:t>
            </a:r>
          </a:p>
        </p:txBody>
      </p:sp>
      <p:sp>
        <p:nvSpPr>
          <p:cNvPr id="18" name="Rectangle 17">
            <a:extLst>
              <a:ext uri="{FF2B5EF4-FFF2-40B4-BE49-F238E27FC236}">
                <a16:creationId xmlns:a16="http://schemas.microsoft.com/office/drawing/2014/main" id="{483E4D50-B122-CB47-766E-B5E7AC2451E9}"/>
              </a:ext>
            </a:extLst>
          </p:cNvPr>
          <p:cNvSpPr/>
          <p:nvPr/>
        </p:nvSpPr>
        <p:spPr>
          <a:xfrm>
            <a:off x="2312410" y="35455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a:t>?</a:t>
            </a:r>
          </a:p>
        </p:txBody>
      </p:sp>
      <p:sp>
        <p:nvSpPr>
          <p:cNvPr id="19" name="Rectangle 18">
            <a:extLst>
              <a:ext uri="{FF2B5EF4-FFF2-40B4-BE49-F238E27FC236}">
                <a16:creationId xmlns:a16="http://schemas.microsoft.com/office/drawing/2014/main" id="{4F499D47-C8D0-1D00-07CE-6BF9DF183DEF}"/>
              </a:ext>
            </a:extLst>
          </p:cNvPr>
          <p:cNvSpPr/>
          <p:nvPr/>
        </p:nvSpPr>
        <p:spPr>
          <a:xfrm>
            <a:off x="2312410" y="42313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a:t>?</a:t>
            </a:r>
          </a:p>
        </p:txBody>
      </p:sp>
      <p:sp>
        <p:nvSpPr>
          <p:cNvPr id="20" name="Rectangle 19">
            <a:extLst>
              <a:ext uri="{FF2B5EF4-FFF2-40B4-BE49-F238E27FC236}">
                <a16:creationId xmlns:a16="http://schemas.microsoft.com/office/drawing/2014/main" id="{FB71A36C-7A6A-7242-D64C-17151302D893}"/>
              </a:ext>
            </a:extLst>
          </p:cNvPr>
          <p:cNvSpPr/>
          <p:nvPr/>
        </p:nvSpPr>
        <p:spPr>
          <a:xfrm>
            <a:off x="2312410" y="49171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a:t>?</a:t>
            </a:r>
          </a:p>
        </p:txBody>
      </p:sp>
    </p:spTree>
    <p:extLst>
      <p:ext uri="{BB962C8B-B14F-4D97-AF65-F5344CB8AC3E}">
        <p14:creationId xmlns:p14="http://schemas.microsoft.com/office/powerpoint/2010/main" val="4055174833"/>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6"/>
                    </p:tgtEl>
                  </p:cond>
                </p:stCondLst>
                <p:endSync evt="end" delay="0">
                  <p:rtn val="all"/>
                </p:endSync>
                <p:childTnLst>
                  <p:par>
                    <p:cTn id="3" fill="hold">
                      <p:stCondLst>
                        <p:cond delay="0"/>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hidden"/>
                                      </p:to>
                                    </p:set>
                                  </p:childTnLst>
                                </p:cTn>
                              </p:par>
                            </p:childTnLst>
                          </p:cTn>
                        </p:par>
                      </p:childTnLst>
                    </p:cTn>
                  </p:par>
                </p:childTnLst>
              </p:cTn>
              <p:nextCondLst>
                <p:cond evt="onClick" delay="0">
                  <p:tgtEl>
                    <p:spTgt spid="16"/>
                  </p:tgtEl>
                </p:cond>
              </p:nextCondLst>
            </p:seq>
            <p:seq concurrent="1" nextAc="seek">
              <p:cTn id="7" restart="whenNotActive" fill="hold" evtFilter="cancelBubble" nodeType="interactiveSeq">
                <p:stCondLst>
                  <p:cond evt="onClick" delay="0">
                    <p:tgtEl>
                      <p:spTgt spid="17"/>
                    </p:tgtEl>
                  </p:cond>
                </p:stCondLst>
                <p:endSync evt="end" delay="0">
                  <p:rtn val="all"/>
                </p:endSync>
                <p:childTnLst>
                  <p:par>
                    <p:cTn id="8" fill="hold">
                      <p:stCondLst>
                        <p:cond delay="0"/>
                      </p:stCondLst>
                      <p:childTnLst>
                        <p:par>
                          <p:cTn id="9" fill="hold">
                            <p:stCondLst>
                              <p:cond delay="0"/>
                            </p:stCondLst>
                            <p:childTnLst>
                              <p:par>
                                <p:cTn id="10" presetID="1" presetClass="exit"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hidden"/>
                                      </p:to>
                                    </p:set>
                                  </p:childTnLst>
                                </p:cTn>
                              </p:par>
                            </p:childTnLst>
                          </p:cTn>
                        </p:par>
                      </p:childTnLst>
                    </p:cTn>
                  </p:par>
                </p:childTnLst>
              </p:cTn>
              <p:nextCondLst>
                <p:cond evt="onClick" delay="0">
                  <p:tgtEl>
                    <p:spTgt spid="17"/>
                  </p:tgtEl>
                </p:cond>
              </p:nextCondLst>
            </p:seq>
            <p:seq concurrent="1" nextAc="seek">
              <p:cTn id="12" restart="whenNotActive" fill="hold" evtFilter="cancelBubble" nodeType="interactiveSeq">
                <p:stCondLst>
                  <p:cond evt="onClick" delay="0">
                    <p:tgtEl>
                      <p:spTgt spid="18"/>
                    </p:tgtEl>
                  </p:cond>
                </p:stCondLst>
                <p:endSync evt="end" delay="0">
                  <p:rtn val="all"/>
                </p:endSync>
                <p:childTnLst>
                  <p:par>
                    <p:cTn id="13" fill="hold">
                      <p:stCondLst>
                        <p:cond delay="0"/>
                      </p:stCondLst>
                      <p:childTnLst>
                        <p:par>
                          <p:cTn id="14" fill="hold">
                            <p:stCondLst>
                              <p:cond delay="0"/>
                            </p:stCondLst>
                            <p:childTnLst>
                              <p:par>
                                <p:cTn id="15" presetID="1" presetClass="exit" presetSubtype="0" fill="hold" grpId="0" nodeType="clickEffect">
                                  <p:stCondLst>
                                    <p:cond delay="0"/>
                                  </p:stCondLst>
                                  <p:childTnLst>
                                    <p:set>
                                      <p:cBhvr>
                                        <p:cTn id="16" dur="1" fill="hold">
                                          <p:stCondLst>
                                            <p:cond delay="0"/>
                                          </p:stCondLst>
                                        </p:cTn>
                                        <p:tgtEl>
                                          <p:spTgt spid="18"/>
                                        </p:tgtEl>
                                        <p:attrNameLst>
                                          <p:attrName>style.visibility</p:attrName>
                                        </p:attrNameLst>
                                      </p:cBhvr>
                                      <p:to>
                                        <p:strVal val="hidden"/>
                                      </p:to>
                                    </p:set>
                                  </p:childTnLst>
                                </p:cTn>
                              </p:par>
                            </p:childTnLst>
                          </p:cTn>
                        </p:par>
                      </p:childTnLst>
                    </p:cTn>
                  </p:par>
                </p:childTnLst>
              </p:cTn>
              <p:nextCondLst>
                <p:cond evt="onClick" delay="0">
                  <p:tgtEl>
                    <p:spTgt spid="18"/>
                  </p:tgtEl>
                </p:cond>
              </p:nextCondLst>
            </p:seq>
            <p:seq concurrent="1" nextAc="seek">
              <p:cTn id="17" restart="whenNotActive" fill="hold" evtFilter="cancelBubble" nodeType="interactiveSeq">
                <p:stCondLst>
                  <p:cond evt="onClick" delay="0">
                    <p:tgtEl>
                      <p:spTgt spid="19"/>
                    </p:tgtEl>
                  </p:cond>
                </p:stCondLst>
                <p:endSync evt="end" delay="0">
                  <p:rtn val="all"/>
                </p:endSync>
                <p:childTnLst>
                  <p:par>
                    <p:cTn id="18" fill="hold">
                      <p:stCondLst>
                        <p:cond delay="0"/>
                      </p:stCondLst>
                      <p:childTnLst>
                        <p:par>
                          <p:cTn id="19" fill="hold">
                            <p:stCondLst>
                              <p:cond delay="0"/>
                            </p:stCondLst>
                            <p:childTnLst>
                              <p:par>
                                <p:cTn id="20" presetID="1" presetClass="exit" presetSubtype="0" fill="hold" grpId="0" nodeType="clickEffect">
                                  <p:stCondLst>
                                    <p:cond delay="0"/>
                                  </p:stCondLst>
                                  <p:childTnLst>
                                    <p:set>
                                      <p:cBhvr>
                                        <p:cTn id="21" dur="1" fill="hold">
                                          <p:stCondLst>
                                            <p:cond delay="0"/>
                                          </p:stCondLst>
                                        </p:cTn>
                                        <p:tgtEl>
                                          <p:spTgt spid="19"/>
                                        </p:tgtEl>
                                        <p:attrNameLst>
                                          <p:attrName>style.visibility</p:attrName>
                                        </p:attrNameLst>
                                      </p:cBhvr>
                                      <p:to>
                                        <p:strVal val="hidden"/>
                                      </p:to>
                                    </p:set>
                                  </p:childTnLst>
                                </p:cTn>
                              </p:par>
                            </p:childTnLst>
                          </p:cTn>
                        </p:par>
                      </p:childTnLst>
                    </p:cTn>
                  </p:par>
                </p:childTnLst>
              </p:cTn>
              <p:nextCondLst>
                <p:cond evt="onClick" delay="0">
                  <p:tgtEl>
                    <p:spTgt spid="19"/>
                  </p:tgtEl>
                </p:cond>
              </p:nextCondLst>
            </p:seq>
            <p:seq concurrent="1" nextAc="seek">
              <p:cTn id="22" restart="whenNotActive" fill="hold" evtFilter="cancelBubble" nodeType="interactiveSeq">
                <p:stCondLst>
                  <p:cond evt="onClick" delay="0">
                    <p:tgtEl>
                      <p:spTgt spid="20"/>
                    </p:tgtEl>
                  </p:cond>
                </p:stCondLst>
                <p:endSync evt="end" delay="0">
                  <p:rtn val="all"/>
                </p:endSync>
                <p:childTnLst>
                  <p:par>
                    <p:cTn id="23" fill="hold">
                      <p:stCondLst>
                        <p:cond delay="0"/>
                      </p:stCondLst>
                      <p:childTnLst>
                        <p:par>
                          <p:cTn id="24" fill="hold">
                            <p:stCondLst>
                              <p:cond delay="0"/>
                            </p:stCondLst>
                            <p:childTnLst>
                              <p:par>
                                <p:cTn id="25" presetID="1" presetClass="exit" presetSubtype="0" fill="hold" grpId="0" nodeType="clickEffect">
                                  <p:stCondLst>
                                    <p:cond delay="0"/>
                                  </p:stCondLst>
                                  <p:childTnLst>
                                    <p:set>
                                      <p:cBhvr>
                                        <p:cTn id="26" dur="1" fill="hold">
                                          <p:stCondLst>
                                            <p:cond delay="0"/>
                                          </p:stCondLst>
                                        </p:cTn>
                                        <p:tgtEl>
                                          <p:spTgt spid="20"/>
                                        </p:tgtEl>
                                        <p:attrNameLst>
                                          <p:attrName>style.visibility</p:attrName>
                                        </p:attrNameLst>
                                      </p:cBhvr>
                                      <p:to>
                                        <p:strVal val="hidden"/>
                                      </p:to>
                                    </p:set>
                                  </p:childTnLst>
                                </p:cTn>
                              </p:par>
                            </p:childTnLst>
                          </p:cTn>
                        </p:par>
                      </p:childTnLst>
                    </p:cTn>
                  </p:par>
                </p:childTnLst>
              </p:cTn>
              <p:nextCondLst>
                <p:cond evt="onClick" delay="0">
                  <p:tgtEl>
                    <p:spTgt spid="20"/>
                  </p:tgtEl>
                </p:cond>
              </p:nextCondLst>
            </p:seq>
          </p:childTnLst>
        </p:cTn>
      </p:par>
    </p:tnLst>
    <p:bldLst>
      <p:bldP spid="16" grpId="0" animBg="1"/>
      <p:bldP spid="17" grpId="0" animBg="1"/>
      <p:bldP spid="18" grpId="0" animBg="1"/>
      <p:bldP spid="19" grpId="0" animBg="1"/>
      <p:bldP spid="2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E5D4AD-39BF-E719-97C7-B9FE8F2F1D23}"/>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51EC62D8-35F3-692D-E010-0DC4232EB396}"/>
              </a:ext>
            </a:extLst>
          </p:cNvPr>
          <p:cNvGrpSpPr/>
          <p:nvPr/>
        </p:nvGrpSpPr>
        <p:grpSpPr>
          <a:xfrm>
            <a:off x="38684" y="68473"/>
            <a:ext cx="1316831" cy="1316831"/>
            <a:chOff x="5180554" y="1026138"/>
            <a:chExt cx="1316831" cy="1316831"/>
          </a:xfrm>
        </p:grpSpPr>
        <p:sp>
          <p:nvSpPr>
            <p:cNvPr id="4" name="Oval 3">
              <a:extLst>
                <a:ext uri="{FF2B5EF4-FFF2-40B4-BE49-F238E27FC236}">
                  <a16:creationId xmlns:a16="http://schemas.microsoft.com/office/drawing/2014/main" id="{F8888C4F-1616-8D90-191F-5F1D6A12B17C}"/>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6" name="Oval 4">
              <a:extLst>
                <a:ext uri="{FF2B5EF4-FFF2-40B4-BE49-F238E27FC236}">
                  <a16:creationId xmlns:a16="http://schemas.microsoft.com/office/drawing/2014/main" id="{A3B5DDCC-932B-F66F-471E-38658DC395B0}"/>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
        <p:nvSpPr>
          <p:cNvPr id="13" name="Title 1">
            <a:extLst>
              <a:ext uri="{FF2B5EF4-FFF2-40B4-BE49-F238E27FC236}">
                <a16:creationId xmlns:a16="http://schemas.microsoft.com/office/drawing/2014/main" id="{733E3EE1-243D-DB63-04F2-FFCC4E6120EC}"/>
              </a:ext>
            </a:extLst>
          </p:cNvPr>
          <p:cNvSpPr txBox="1">
            <a:spLocks/>
          </p:cNvSpPr>
          <p:nvPr/>
        </p:nvSpPr>
        <p:spPr>
          <a:xfrm>
            <a:off x="2535882" y="918780"/>
            <a:ext cx="5559247"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endParaRPr lang="en-GB" sz="2800"/>
          </a:p>
        </p:txBody>
      </p:sp>
      <p:sp>
        <p:nvSpPr>
          <p:cNvPr id="3" name="Title 1">
            <a:extLst>
              <a:ext uri="{FF2B5EF4-FFF2-40B4-BE49-F238E27FC236}">
                <a16:creationId xmlns:a16="http://schemas.microsoft.com/office/drawing/2014/main" id="{2DCF07E4-FAD7-AFAB-73D7-E54C6A426087}"/>
              </a:ext>
            </a:extLst>
          </p:cNvPr>
          <p:cNvSpPr txBox="1">
            <a:spLocks/>
          </p:cNvSpPr>
          <p:nvPr/>
        </p:nvSpPr>
        <p:spPr>
          <a:xfrm>
            <a:off x="0" y="85619"/>
            <a:ext cx="12192000" cy="1498214"/>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50000"/>
              </a:lnSpc>
            </a:pPr>
            <a:r>
              <a:rPr lang="en-GB" sz="4000"/>
              <a:t>Vocabulary Focus</a:t>
            </a:r>
          </a:p>
        </p:txBody>
      </p:sp>
      <p:sp>
        <p:nvSpPr>
          <p:cNvPr id="7" name="Title 1">
            <a:extLst>
              <a:ext uri="{FF2B5EF4-FFF2-40B4-BE49-F238E27FC236}">
                <a16:creationId xmlns:a16="http://schemas.microsoft.com/office/drawing/2014/main" id="{532B7159-F539-A363-45FE-8B91401BE68F}"/>
              </a:ext>
            </a:extLst>
          </p:cNvPr>
          <p:cNvSpPr txBox="1">
            <a:spLocks/>
          </p:cNvSpPr>
          <p:nvPr/>
        </p:nvSpPr>
        <p:spPr>
          <a:xfrm>
            <a:off x="5590032" y="604264"/>
            <a:ext cx="1873406" cy="97956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GB" sz="4000" b="1"/>
          </a:p>
        </p:txBody>
      </p:sp>
      <p:graphicFrame>
        <p:nvGraphicFramePr>
          <p:cNvPr id="9" name="Table 8">
            <a:extLst>
              <a:ext uri="{FF2B5EF4-FFF2-40B4-BE49-F238E27FC236}">
                <a16:creationId xmlns:a16="http://schemas.microsoft.com/office/drawing/2014/main" id="{1BDE9717-27F4-D48A-5961-BBB082A50FA4}"/>
              </a:ext>
            </a:extLst>
          </p:cNvPr>
          <p:cNvGraphicFramePr>
            <a:graphicFrameLocks noGrp="1"/>
          </p:cNvGraphicFramePr>
          <p:nvPr>
            <p:extLst>
              <p:ext uri="{D42A27DB-BD31-4B8C-83A1-F6EECF244321}">
                <p14:modId xmlns:p14="http://schemas.microsoft.com/office/powerpoint/2010/main" val="394122683"/>
              </p:ext>
            </p:extLst>
          </p:nvPr>
        </p:nvGraphicFramePr>
        <p:xfrm>
          <a:off x="2032000" y="1727002"/>
          <a:ext cx="8128000" cy="4922852"/>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811326830"/>
                    </a:ext>
                  </a:extLst>
                </a:gridCol>
                <a:gridCol w="4064000">
                  <a:extLst>
                    <a:ext uri="{9D8B030D-6E8A-4147-A177-3AD203B41FA5}">
                      <a16:colId xmlns:a16="http://schemas.microsoft.com/office/drawing/2014/main" val="773647625"/>
                    </a:ext>
                  </a:extLst>
                </a:gridCol>
              </a:tblGrid>
              <a:tr h="2461426">
                <a:tc>
                  <a:txBody>
                    <a:bodyPr/>
                    <a:lstStyle/>
                    <a:p>
                      <a:r>
                        <a:rPr lang="en-GB" b="0">
                          <a:solidFill>
                            <a:schemeClr val="tx1"/>
                          </a:solidFill>
                        </a:rPr>
                        <a:t>Write it 5 times</a:t>
                      </a:r>
                    </a:p>
                    <a:p>
                      <a:endParaRPr lang="en-GB" sz="3200" b="0">
                        <a:solidFill>
                          <a:schemeClr val="tx1"/>
                        </a:solidFill>
                        <a:latin typeface="Twinkl Cursive Looped Light" panose="02000000000000000000" pitchFamily="2" charset="77"/>
                      </a:endParaRPr>
                    </a:p>
                    <a:p>
                      <a:pPr algn="ctr"/>
                      <a:r>
                        <a:rPr lang="en-GB" sz="3200" b="0">
                          <a:solidFill>
                            <a:schemeClr val="tx1"/>
                          </a:solidFill>
                          <a:latin typeface="Twinkl Cursive Looped Light" panose="02000000000000000000" pitchFamily="2" charset="77"/>
                        </a:rPr>
                        <a:t>persistent</a:t>
                      </a:r>
                    </a:p>
                    <a:p>
                      <a:endParaRPr lang="en-GB" b="0">
                        <a:solidFill>
                          <a:schemeClr val="tx1"/>
                        </a:solidFill>
                        <a:latin typeface="XCCW Joined 4a" panose="03050602040000000000" pitchFamily="66" charset="77"/>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400">
                          <a:solidFill>
                            <a:schemeClr val="tx1"/>
                          </a:solidFill>
                        </a:rPr>
                        <a:t>Use it in a sentence</a:t>
                      </a:r>
                    </a:p>
                    <a:p>
                      <a:endParaRPr lang="en-GB" sz="2400" b="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64313380"/>
                  </a:ext>
                </a:extLst>
              </a:tr>
              <a:tr h="2461426">
                <a:tc gridSpan="2">
                  <a:txBody>
                    <a:bodyPr/>
                    <a:lstStyle/>
                    <a:p>
                      <a:r>
                        <a:rPr lang="en-GB">
                          <a:solidFill>
                            <a:schemeClr val="tx1"/>
                          </a:solidFill>
                        </a:rPr>
                        <a:t>Other linked words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3729397"/>
                  </a:ext>
                </a:extLst>
              </a:tr>
            </a:tbl>
          </a:graphicData>
        </a:graphic>
      </p:graphicFrame>
      <p:pic>
        <p:nvPicPr>
          <p:cNvPr id="8" name="Picture 7">
            <a:extLst>
              <a:ext uri="{FF2B5EF4-FFF2-40B4-BE49-F238E27FC236}">
                <a16:creationId xmlns:a16="http://schemas.microsoft.com/office/drawing/2014/main" id="{DCA91193-1537-0657-E11E-503EF19A61EE}"/>
              </a:ext>
            </a:extLst>
          </p:cNvPr>
          <p:cNvPicPr>
            <a:picLocks noChangeAspect="1"/>
          </p:cNvPicPr>
          <p:nvPr/>
        </p:nvPicPr>
        <p:blipFill>
          <a:blip r:embed="rId3"/>
          <a:stretch>
            <a:fillRect/>
          </a:stretch>
        </p:blipFill>
        <p:spPr>
          <a:xfrm>
            <a:off x="10424916" y="134700"/>
            <a:ext cx="1616752" cy="697982"/>
          </a:xfrm>
          <a:prstGeom prst="rect">
            <a:avLst/>
          </a:prstGeom>
        </p:spPr>
      </p:pic>
      <p:sp>
        <p:nvSpPr>
          <p:cNvPr id="5" name="TextBox 4">
            <a:extLst>
              <a:ext uri="{FF2B5EF4-FFF2-40B4-BE49-F238E27FC236}">
                <a16:creationId xmlns:a16="http://schemas.microsoft.com/office/drawing/2014/main" id="{D4A4253D-E3B5-EFA7-4B1C-50AA791A86AA}"/>
              </a:ext>
            </a:extLst>
          </p:cNvPr>
          <p:cNvSpPr txBox="1"/>
          <p:nvPr/>
        </p:nvSpPr>
        <p:spPr>
          <a:xfrm>
            <a:off x="4788984" y="5296822"/>
            <a:ext cx="2400000" cy="480000"/>
          </a:xfrm>
          <a:prstGeom prst="rect">
            <a:avLst/>
          </a:prstGeom>
          <a:noFill/>
        </p:spPr>
        <p:txBody>
          <a:bodyPr wrap="square" rtlCol="0" anchor="ctr"/>
          <a:lstStyle/>
          <a:p>
            <a:pPr algn="ctr"/>
            <a:r>
              <a:rPr lang="en-GB"/>
              <a:t>persistent</a:t>
            </a:r>
          </a:p>
        </p:txBody>
      </p:sp>
      <p:cxnSp>
        <p:nvCxnSpPr>
          <p:cNvPr id="12" name="Straight Connector 11">
            <a:extLst>
              <a:ext uri="{FF2B5EF4-FFF2-40B4-BE49-F238E27FC236}">
                <a16:creationId xmlns:a16="http://schemas.microsoft.com/office/drawing/2014/main" id="{7C8845E9-B967-EA4D-1D1A-9AF3DDA85380}"/>
              </a:ext>
            </a:extLst>
          </p:cNvPr>
          <p:cNvCxnSpPr/>
          <p:nvPr/>
        </p:nvCxnSpPr>
        <p:spPr>
          <a:xfrm flipV="1">
            <a:off x="6391527" y="4613658"/>
            <a:ext cx="807506" cy="782198"/>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EB3BFB0-1A1A-2A77-4CC9-C8E227413B3E}"/>
              </a:ext>
            </a:extLst>
          </p:cNvPr>
          <p:cNvCxnSpPr>
            <a:cxnSpLocks/>
          </p:cNvCxnSpPr>
          <p:nvPr/>
        </p:nvCxnSpPr>
        <p:spPr>
          <a:xfrm>
            <a:off x="6532910" y="5656722"/>
            <a:ext cx="930528" cy="2169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EF585B9-9A59-4AD6-3B99-DB66AC0BC1C7}"/>
              </a:ext>
            </a:extLst>
          </p:cNvPr>
          <p:cNvCxnSpPr>
            <a:cxnSpLocks/>
          </p:cNvCxnSpPr>
          <p:nvPr/>
        </p:nvCxnSpPr>
        <p:spPr>
          <a:xfrm flipV="1">
            <a:off x="4786339" y="5656722"/>
            <a:ext cx="791952" cy="565398"/>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8E2FC65-99A3-B206-BA2E-B45AABD7E835}"/>
              </a:ext>
            </a:extLst>
          </p:cNvPr>
          <p:cNvCxnSpPr>
            <a:cxnSpLocks/>
          </p:cNvCxnSpPr>
          <p:nvPr/>
        </p:nvCxnSpPr>
        <p:spPr>
          <a:xfrm>
            <a:off x="4688753" y="5010683"/>
            <a:ext cx="852027" cy="382970"/>
          </a:xfrm>
          <a:prstGeom prst="line">
            <a:avLst/>
          </a:prstGeom>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EF0396BA-9A50-9215-C8CB-0B99470EF9F5}"/>
              </a:ext>
            </a:extLst>
          </p:cNvPr>
          <p:cNvPicPr>
            <a:picLocks noChangeAspect="1"/>
          </p:cNvPicPr>
          <p:nvPr/>
        </p:nvPicPr>
        <p:blipFill>
          <a:blip r:embed="rId4"/>
          <a:stretch>
            <a:fillRect/>
          </a:stretch>
        </p:blipFill>
        <p:spPr>
          <a:xfrm>
            <a:off x="6502757" y="2982841"/>
            <a:ext cx="3184743" cy="794571"/>
          </a:xfrm>
          <a:prstGeom prst="rect">
            <a:avLst/>
          </a:prstGeom>
          <a:solidFill>
            <a:schemeClr val="bg1"/>
          </a:solidFill>
        </p:spPr>
      </p:pic>
    </p:spTree>
    <p:extLst>
      <p:ext uri="{BB962C8B-B14F-4D97-AF65-F5344CB8AC3E}">
        <p14:creationId xmlns:p14="http://schemas.microsoft.com/office/powerpoint/2010/main" val="39434379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040D69-2A3E-AC4D-476F-E48DC49AB519}"/>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39D004C-6476-A163-CC76-9EB710752DEA}"/>
              </a:ext>
            </a:extLst>
          </p:cNvPr>
          <p:cNvPicPr>
            <a:picLocks noChangeAspect="1"/>
          </p:cNvPicPr>
          <p:nvPr/>
        </p:nvPicPr>
        <p:blipFill>
          <a:blip r:embed="rId3"/>
          <a:stretch>
            <a:fillRect/>
          </a:stretch>
        </p:blipFill>
        <p:spPr>
          <a:xfrm>
            <a:off x="525593" y="1980987"/>
            <a:ext cx="9243932" cy="1349566"/>
          </a:xfrm>
          <a:prstGeom prst="rect">
            <a:avLst/>
          </a:prstGeom>
        </p:spPr>
      </p:pic>
      <p:pic>
        <p:nvPicPr>
          <p:cNvPr id="11" name="Picture 10">
            <a:extLst>
              <a:ext uri="{FF2B5EF4-FFF2-40B4-BE49-F238E27FC236}">
                <a16:creationId xmlns:a16="http://schemas.microsoft.com/office/drawing/2014/main" id="{6B7C83CA-03D0-7626-308E-7CE111534218}"/>
              </a:ext>
            </a:extLst>
          </p:cNvPr>
          <p:cNvPicPr/>
          <p:nvPr/>
        </p:nvPicPr>
        <p:blipFill>
          <a:blip r:embed="rId4">
            <a:extLst>
              <a:ext uri="{28A0092B-C50C-407E-A947-70E740481C1C}">
                <a14:useLocalDpi xmlns:a14="http://schemas.microsoft.com/office/drawing/2010/main" val="0"/>
              </a:ext>
            </a:extLst>
          </a:blip>
          <a:stretch>
            <a:fillRect/>
          </a:stretch>
        </p:blipFill>
        <p:spPr>
          <a:xfrm>
            <a:off x="10539555" y="90546"/>
            <a:ext cx="1691129" cy="711848"/>
          </a:xfrm>
          <a:prstGeom prst="rect">
            <a:avLst/>
          </a:prstGeom>
        </p:spPr>
      </p:pic>
      <p:sp>
        <p:nvSpPr>
          <p:cNvPr id="12" name="Title 1">
            <a:extLst>
              <a:ext uri="{FF2B5EF4-FFF2-40B4-BE49-F238E27FC236}">
                <a16:creationId xmlns:a16="http://schemas.microsoft.com/office/drawing/2014/main" id="{F0092A21-3382-F255-270E-BE0BDE056D46}"/>
              </a:ext>
            </a:extLst>
          </p:cNvPr>
          <p:cNvSpPr txBox="1">
            <a:spLocks/>
          </p:cNvSpPr>
          <p:nvPr/>
        </p:nvSpPr>
        <p:spPr>
          <a:xfrm>
            <a:off x="38684" y="-18063"/>
            <a:ext cx="12153316" cy="1299685"/>
          </a:xfrm>
          <a:prstGeom prst="rect">
            <a:avLst/>
          </a:prstGeom>
        </p:spPr>
        <p:txBody>
          <a:bodyPr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1800" b="1">
                <a:effectLst/>
                <a:latin typeface="Sassoon Infant Rg" panose="02000503030000020003" pitchFamily="2" charset="0"/>
                <a:ea typeface="Sassoon Infant Rg" panose="02000503030000020003" pitchFamily="2" charset="0"/>
                <a:cs typeface="Times New Roman" panose="02020603050405020304" pitchFamily="18" charset="0"/>
              </a:rPr>
              <a:t>Paired reading</a:t>
            </a:r>
            <a:r>
              <a:rPr lang="en-GB" sz="1800">
                <a:effectLst/>
                <a:latin typeface="Sassoon Infant Rg" panose="02000503030000020003" pitchFamily="2" charset="0"/>
                <a:ea typeface="Sassoon Infant Rg" panose="02000503030000020003" pitchFamily="2" charset="0"/>
                <a:cs typeface="Times New Roman" panose="02020603050405020304" pitchFamily="18" charset="0"/>
              </a:rPr>
              <a:t xml:space="preserve">.  </a:t>
            </a:r>
            <a:r>
              <a:rPr lang="en-GB" sz="1800">
                <a:latin typeface="Sassoon Infant Rg" panose="02000503030000020003" pitchFamily="2" charset="0"/>
                <a:ea typeface="Sassoon Infant Rg" panose="02000503030000020003" pitchFamily="2" charset="0"/>
                <a:cs typeface="Times New Roman" panose="02020603050405020304" pitchFamily="18" charset="0"/>
              </a:rPr>
              <a:t>Read the text with a partner, taking turns sentence by sentence. Focus on reading smoothly and clearly, matching your pace to the punctuation.</a:t>
            </a:r>
            <a:endParaRPr lang="en-GB" b="1"/>
          </a:p>
        </p:txBody>
      </p:sp>
      <p:grpSp>
        <p:nvGrpSpPr>
          <p:cNvPr id="7" name="Group 6">
            <a:extLst>
              <a:ext uri="{FF2B5EF4-FFF2-40B4-BE49-F238E27FC236}">
                <a16:creationId xmlns:a16="http://schemas.microsoft.com/office/drawing/2014/main" id="{2F4A7F38-FB96-EA15-05EC-03CFFB5CBE42}"/>
              </a:ext>
            </a:extLst>
          </p:cNvPr>
          <p:cNvGrpSpPr/>
          <p:nvPr/>
        </p:nvGrpSpPr>
        <p:grpSpPr>
          <a:xfrm>
            <a:off x="10349575" y="2457302"/>
            <a:ext cx="1316831" cy="1316831"/>
            <a:chOff x="5180554" y="3075697"/>
            <a:chExt cx="1316831" cy="1316831"/>
          </a:xfrm>
        </p:grpSpPr>
        <p:sp>
          <p:nvSpPr>
            <p:cNvPr id="9" name="Oval 8">
              <a:extLst>
                <a:ext uri="{FF2B5EF4-FFF2-40B4-BE49-F238E27FC236}">
                  <a16:creationId xmlns:a16="http://schemas.microsoft.com/office/drawing/2014/main" id="{230C30F1-14D6-3E62-897A-05259DF04DDD}"/>
                </a:ext>
              </a:extLst>
            </p:cNvPr>
            <p:cNvSpPr/>
            <p:nvPr/>
          </p:nvSpPr>
          <p:spPr>
            <a:xfrm>
              <a:off x="5180554" y="3075697"/>
              <a:ext cx="1316831" cy="1316831"/>
            </a:xfrm>
            <a:prstGeom prst="ellipse">
              <a:avLst/>
            </a:prstGeom>
            <a:solidFill>
              <a:srgbClr val="A2CFFC"/>
            </a:solidFill>
            <a:ln w="38100">
              <a:solidFill>
                <a:srgbClr val="0762BA"/>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10" name="Oval 4">
              <a:extLst>
                <a:ext uri="{FF2B5EF4-FFF2-40B4-BE49-F238E27FC236}">
                  <a16:creationId xmlns:a16="http://schemas.microsoft.com/office/drawing/2014/main" id="{94AC7F2E-0C00-B939-4106-51835EB2A269}"/>
                </a:ext>
              </a:extLst>
            </p:cNvPr>
            <p:cNvSpPr txBox="1"/>
            <p:nvPr/>
          </p:nvSpPr>
          <p:spPr>
            <a:xfrm>
              <a:off x="5373399" y="3268542"/>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rmAutofit/>
            </a:bodyPr>
            <a:lstStyle/>
            <a:p>
              <a:pPr marL="0" lvl="0" indent="0" algn="ctr" defTabSz="577850">
                <a:lnSpc>
                  <a:spcPct val="90000"/>
                </a:lnSpc>
                <a:spcBef>
                  <a:spcPct val="0"/>
                </a:spcBef>
                <a:spcAft>
                  <a:spcPct val="35000"/>
                </a:spcAft>
                <a:buNone/>
              </a:pPr>
              <a:r>
                <a:rPr lang="en-GB" sz="1300" b="1" kern="1200">
                  <a:solidFill>
                    <a:srgbClr val="0762BA"/>
                  </a:solidFill>
                  <a:effectLst/>
                  <a:latin typeface="Sassoon Infant Rg" panose="02000503030000020003" pitchFamily="2" charset="0"/>
                  <a:ea typeface="Sassoon Infant Rg" panose="02000503030000020003" pitchFamily="2" charset="0"/>
                </a:rPr>
                <a:t>Fluency &amp; Expression</a:t>
              </a:r>
            </a:p>
          </p:txBody>
        </p:sp>
      </p:grpSp>
      <p:sp>
        <p:nvSpPr>
          <p:cNvPr id="6" name="Rounded Rectangle 5">
            <a:extLst>
              <a:ext uri="{FF2B5EF4-FFF2-40B4-BE49-F238E27FC236}">
                <a16:creationId xmlns:a16="http://schemas.microsoft.com/office/drawing/2014/main" id="{D7466D49-4660-7227-B771-06F3B6102B62}"/>
              </a:ext>
            </a:extLst>
          </p:cNvPr>
          <p:cNvSpPr/>
          <p:nvPr/>
        </p:nvSpPr>
        <p:spPr>
          <a:xfrm>
            <a:off x="8019658" y="6245246"/>
            <a:ext cx="4026568" cy="43134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a:t>Show / Hide Extract</a:t>
            </a:r>
          </a:p>
        </p:txBody>
      </p:sp>
      <p:sp>
        <p:nvSpPr>
          <p:cNvPr id="15" name="TextBox 14">
            <a:extLst>
              <a:ext uri="{FF2B5EF4-FFF2-40B4-BE49-F238E27FC236}">
                <a16:creationId xmlns:a16="http://schemas.microsoft.com/office/drawing/2014/main" id="{DB1CFDC9-8812-2D57-F259-9934E0E81FC7}"/>
              </a:ext>
            </a:extLst>
          </p:cNvPr>
          <p:cNvSpPr txBox="1"/>
          <p:nvPr/>
        </p:nvSpPr>
        <p:spPr>
          <a:xfrm>
            <a:off x="183063" y="1034693"/>
            <a:ext cx="11864557" cy="5093190"/>
          </a:xfrm>
          <a:prstGeom prst="rect">
            <a:avLst/>
          </a:prstGeom>
          <a:solidFill>
            <a:schemeClr val="accent5">
              <a:lumMod val="20000"/>
              <a:lumOff val="80000"/>
            </a:schemeClr>
          </a:solidFill>
          <a:ln>
            <a:noFill/>
          </a:ln>
        </p:spPr>
        <p:txBody>
          <a:bodyPr wrap="square" anchor="ctr">
            <a:normAutofit lnSpcReduction="10000"/>
          </a:bodyPr>
          <a:lstStyle/>
          <a:p>
            <a:r>
              <a:rPr lang="en-GB" sz="2200"/>
              <a:t>In the silence of the mountain, Varjak crouched low on the cold stone and tried once again to still his mind. The Way of Jalal was ancient — older than anything his family could remember — and Varjak had always believed it was just a story that Elder Paw whispered on quiet evenings. But now, as he closed his eyes and reached inside himself for something he could not yet name, he understood that it was far more than a tale. His legs were trembling with the effort of holding the same position for so long, and sweat dampened the fine fur beneath his chin. He tried to shut out the sounds of the world: the wind moving through the grass, his grandmother’s distant voice calling across the hillside. A persistent voice in his head told him he was doing it wrong, that he was too young, too small, too ordinary to learn what the great Jalal had taught. Yet somewhere deep in his chest, something was stirring — a tiny flicker of warmth that refused to go out no matter how many times doubt tried to smother it. When he opened his eyes, he caught a glimpse of a world that looked exactly as it always had, and yet somehow felt entirely different. Whatever the Way was, it was waking up inside him, and Varjak was just beginning to understand why that mattered.</a:t>
            </a:r>
            <a:endParaRPr lang="en-GB" sz="2200" noProof="0"/>
          </a:p>
        </p:txBody>
      </p:sp>
    </p:spTree>
    <p:extLst>
      <p:ext uri="{BB962C8B-B14F-4D97-AF65-F5344CB8AC3E}">
        <p14:creationId xmlns:p14="http://schemas.microsoft.com/office/powerpoint/2010/main" val="303222904"/>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6"/>
                    </p:tgtEl>
                  </p:cond>
                </p:stCondLst>
                <p:endSync evt="end" delay="0">
                  <p:rtn val="all"/>
                </p:endSync>
                <p:childTnLst>
                  <p:par>
                    <p:cTn id="3" fill="hold">
                      <p:stCondLst>
                        <p:cond delay="0"/>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15"/>
                                        </p:tgtEl>
                                        <p:attrNameLst>
                                          <p:attrName>style.visibility</p:attrName>
                                        </p:attrNameLst>
                                      </p:cBhvr>
                                      <p:to>
                                        <p:strVal val="hidden"/>
                                      </p:to>
                                    </p:set>
                                  </p:childTnLst>
                                </p:cTn>
                              </p:par>
                            </p:childTnLst>
                          </p:cTn>
                        </p:par>
                      </p:childTnLst>
                    </p:cTn>
                  </p:par>
                </p:childTnLst>
              </p:cTn>
              <p:nextCondLst>
                <p:cond evt="onClick" delay="0">
                  <p:tgtEl>
                    <p:spTgt spid="6"/>
                  </p:tgtEl>
                </p:cond>
              </p:nextCondLst>
            </p:seq>
          </p:childTnLst>
        </p:cTn>
      </p:par>
    </p:tnLst>
    <p:bldLst>
      <p:bldP spid="15" grpId="0" animBg="1"/>
      <p:bldP spid="15" grpId="1"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Shape 5">
            <a:extLst>
              <a:ext uri="{FF2B5EF4-FFF2-40B4-BE49-F238E27FC236}">
                <a16:creationId xmlns:a16="http://schemas.microsoft.com/office/drawing/2014/main" id="{7023D4CD-427D-4829-87ED-E2CC3EF8D760}"/>
              </a:ext>
            </a:extLst>
          </p:cNvPr>
          <p:cNvSpPr/>
          <p:nvPr/>
        </p:nvSpPr>
        <p:spPr>
          <a:xfrm>
            <a:off x="2609369" y="1646785"/>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7" name="Oval 6">
            <a:extLst>
              <a:ext uri="{FF2B5EF4-FFF2-40B4-BE49-F238E27FC236}">
                <a16:creationId xmlns:a16="http://schemas.microsoft.com/office/drawing/2014/main" id="{A35914BD-597C-4EC9-A8CC-64938F558A31}"/>
              </a:ext>
            </a:extLst>
          </p:cNvPr>
          <p:cNvSpPr/>
          <p:nvPr/>
        </p:nvSpPr>
        <p:spPr>
          <a:xfrm>
            <a:off x="2057663" y="2106659"/>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grpSp>
        <p:nvGrpSpPr>
          <p:cNvPr id="8" name="Group 7">
            <a:extLst>
              <a:ext uri="{FF2B5EF4-FFF2-40B4-BE49-F238E27FC236}">
                <a16:creationId xmlns:a16="http://schemas.microsoft.com/office/drawing/2014/main" id="{FE91008D-524B-4E64-AED8-DADBF402F1F1}"/>
              </a:ext>
            </a:extLst>
          </p:cNvPr>
          <p:cNvGrpSpPr/>
          <p:nvPr/>
        </p:nvGrpSpPr>
        <p:grpSpPr>
          <a:xfrm>
            <a:off x="3003018" y="1125085"/>
            <a:ext cx="1838188" cy="1169519"/>
            <a:chOff x="2644385" y="2866760"/>
            <a:chExt cx="1838188" cy="1384526"/>
          </a:xfrm>
        </p:grpSpPr>
        <p:sp>
          <p:nvSpPr>
            <p:cNvPr id="9" name="Freeform: Shape 8">
              <a:extLst>
                <a:ext uri="{FF2B5EF4-FFF2-40B4-BE49-F238E27FC236}">
                  <a16:creationId xmlns:a16="http://schemas.microsoft.com/office/drawing/2014/main" id="{3B1F94B5-AE2B-4839-8A01-9D2FC48647A0}"/>
                </a:ext>
              </a:extLst>
            </p:cNvPr>
            <p:cNvSpPr/>
            <p:nvPr/>
          </p:nvSpPr>
          <p:spPr>
            <a:xfrm>
              <a:off x="2644386" y="2866760"/>
              <a:ext cx="1838187" cy="1384526"/>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b="1"/>
            </a:p>
          </p:txBody>
        </p:sp>
        <p:sp>
          <p:nvSpPr>
            <p:cNvPr id="10" name="TextBox 9">
              <a:extLst>
                <a:ext uri="{FF2B5EF4-FFF2-40B4-BE49-F238E27FC236}">
                  <a16:creationId xmlns:a16="http://schemas.microsoft.com/office/drawing/2014/main" id="{01F4601C-78F0-408A-BFB4-D2C386D5BE41}"/>
                </a:ext>
              </a:extLst>
            </p:cNvPr>
            <p:cNvSpPr txBox="1"/>
            <p:nvPr/>
          </p:nvSpPr>
          <p:spPr>
            <a:xfrm>
              <a:off x="2644385" y="3160918"/>
              <a:ext cx="1838187" cy="707886"/>
            </a:xfrm>
            <a:prstGeom prst="rect">
              <a:avLst/>
            </a:prstGeom>
            <a:noFill/>
            <a:ln w="38100">
              <a:no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b="1">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GB">
                  <a:solidFill>
                    <a:schemeClr val="tx1"/>
                  </a:solidFill>
                </a:rPr>
                <a:t>What am I learning?</a:t>
              </a:r>
            </a:p>
          </p:txBody>
        </p:sp>
      </p:grpSp>
      <p:pic>
        <p:nvPicPr>
          <p:cNvPr id="11" name="Picture 10" descr="A picture containing room  Description automatically generated">
            <a:extLst>
              <a:ext uri="{FF2B5EF4-FFF2-40B4-BE49-F238E27FC236}">
                <a16:creationId xmlns:a16="http://schemas.microsoft.com/office/drawing/2014/main" id="{0F52BAE7-58D2-4ABA-B083-76155F063DF0}"/>
              </a:ext>
            </a:extLst>
          </p:cNvPr>
          <p:cNvPicPr>
            <a:picLocks noChangeAspect="1"/>
          </p:cNvPicPr>
          <p:nvPr/>
        </p:nvPicPr>
        <p:blipFill>
          <a:blip r:embed="rId2" cstate="screen">
            <a:extLst>
              <a:ext uri="{28A0092B-C50C-407E-A947-70E740481C1C}">
                <a14:useLocalDpi xmlns:a14="http://schemas.microsoft.com/office/drawing/2010/main" val="0"/>
              </a:ext>
            </a:extLst>
          </a:blip>
          <a:stretch>
            <a:fillRect/>
          </a:stretch>
        </p:blipFill>
        <p:spPr>
          <a:xfrm>
            <a:off x="485896" y="2018390"/>
            <a:ext cx="1451414" cy="2106656"/>
          </a:xfrm>
          <a:prstGeom prst="rect">
            <a:avLst/>
          </a:prstGeom>
          <a:ln>
            <a:noFill/>
          </a:ln>
        </p:spPr>
      </p:pic>
      <p:sp>
        <p:nvSpPr>
          <p:cNvPr id="12" name="Freeform: Shape 11">
            <a:extLst>
              <a:ext uri="{FF2B5EF4-FFF2-40B4-BE49-F238E27FC236}">
                <a16:creationId xmlns:a16="http://schemas.microsoft.com/office/drawing/2014/main" id="{2308B9F9-02B7-4539-8FBF-46AC5DCEA9AA}"/>
              </a:ext>
            </a:extLst>
          </p:cNvPr>
          <p:cNvSpPr/>
          <p:nvPr/>
        </p:nvSpPr>
        <p:spPr>
          <a:xfrm>
            <a:off x="2797615" y="2918463"/>
            <a:ext cx="206619" cy="247942"/>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3" name="Oval 12">
            <a:extLst>
              <a:ext uri="{FF2B5EF4-FFF2-40B4-BE49-F238E27FC236}">
                <a16:creationId xmlns:a16="http://schemas.microsoft.com/office/drawing/2014/main" id="{6A1CB78E-9D4B-4986-8879-83568C225091}"/>
              </a:ext>
            </a:extLst>
          </p:cNvPr>
          <p:cNvSpPr/>
          <p:nvPr/>
        </p:nvSpPr>
        <p:spPr>
          <a:xfrm>
            <a:off x="2458854" y="2918501"/>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grpSp>
        <p:nvGrpSpPr>
          <p:cNvPr id="14" name="Group 13">
            <a:extLst>
              <a:ext uri="{FF2B5EF4-FFF2-40B4-BE49-F238E27FC236}">
                <a16:creationId xmlns:a16="http://schemas.microsoft.com/office/drawing/2014/main" id="{CF45870B-7F74-4D54-8596-BFA710ED989D}"/>
              </a:ext>
            </a:extLst>
          </p:cNvPr>
          <p:cNvGrpSpPr/>
          <p:nvPr/>
        </p:nvGrpSpPr>
        <p:grpSpPr>
          <a:xfrm>
            <a:off x="3618760" y="2676281"/>
            <a:ext cx="2097602" cy="1251349"/>
            <a:chOff x="6125888" y="3028716"/>
            <a:chExt cx="1838187" cy="1384526"/>
          </a:xfrm>
          <a:solidFill>
            <a:schemeClr val="accent6">
              <a:lumMod val="60000"/>
              <a:lumOff val="40000"/>
            </a:schemeClr>
          </a:solidFill>
        </p:grpSpPr>
        <p:sp>
          <p:nvSpPr>
            <p:cNvPr id="15" name="Freeform: Shape 14">
              <a:extLst>
                <a:ext uri="{FF2B5EF4-FFF2-40B4-BE49-F238E27FC236}">
                  <a16:creationId xmlns:a16="http://schemas.microsoft.com/office/drawing/2014/main" id="{EA65950C-D815-47D7-8502-EDD27BCB7185}"/>
                </a:ext>
              </a:extLst>
            </p:cNvPr>
            <p:cNvSpPr/>
            <p:nvPr/>
          </p:nvSpPr>
          <p:spPr>
            <a:xfrm>
              <a:off x="6125888" y="3028716"/>
              <a:ext cx="1838187" cy="1384526"/>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2400" b="1"/>
            </a:p>
          </p:txBody>
        </p:sp>
        <p:sp>
          <p:nvSpPr>
            <p:cNvPr id="16" name="TextBox 15">
              <a:extLst>
                <a:ext uri="{FF2B5EF4-FFF2-40B4-BE49-F238E27FC236}">
                  <a16:creationId xmlns:a16="http://schemas.microsoft.com/office/drawing/2014/main" id="{9616B4D3-C46F-48F5-8695-1B7F3A82ADA3}"/>
                </a:ext>
              </a:extLst>
            </p:cNvPr>
            <p:cNvSpPr txBox="1"/>
            <p:nvPr/>
          </p:nvSpPr>
          <p:spPr>
            <a:xfrm>
              <a:off x="6263965" y="3326148"/>
              <a:ext cx="1595765" cy="707886"/>
            </a:xfrm>
            <a:prstGeom prst="rect">
              <a:avLst/>
            </a:prstGeom>
            <a:noFill/>
            <a:ln w="38100">
              <a:no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b="1">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GB">
                  <a:solidFill>
                    <a:schemeClr val="tx1"/>
                  </a:solidFill>
                </a:rPr>
                <a:t>Why am I learning this ?</a:t>
              </a:r>
            </a:p>
          </p:txBody>
        </p:sp>
      </p:grpSp>
      <p:sp>
        <p:nvSpPr>
          <p:cNvPr id="17" name="Freeform: Shape 16">
            <a:extLst>
              <a:ext uri="{FF2B5EF4-FFF2-40B4-BE49-F238E27FC236}">
                <a16:creationId xmlns:a16="http://schemas.microsoft.com/office/drawing/2014/main" id="{03BB604F-2FA6-4611-A323-4B2AD52B72FE}"/>
              </a:ext>
            </a:extLst>
          </p:cNvPr>
          <p:cNvSpPr/>
          <p:nvPr/>
        </p:nvSpPr>
        <p:spPr>
          <a:xfrm>
            <a:off x="2490079" y="3963955"/>
            <a:ext cx="200648" cy="240777"/>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8" name="Oval 17">
            <a:extLst>
              <a:ext uri="{FF2B5EF4-FFF2-40B4-BE49-F238E27FC236}">
                <a16:creationId xmlns:a16="http://schemas.microsoft.com/office/drawing/2014/main" id="{198215EB-E5DE-4419-AF3E-61B06E6ECF56}"/>
              </a:ext>
            </a:extLst>
          </p:cNvPr>
          <p:cNvSpPr/>
          <p:nvPr/>
        </p:nvSpPr>
        <p:spPr>
          <a:xfrm>
            <a:off x="2258697" y="3780606"/>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9" name="TextBox 18">
            <a:extLst>
              <a:ext uri="{FF2B5EF4-FFF2-40B4-BE49-F238E27FC236}">
                <a16:creationId xmlns:a16="http://schemas.microsoft.com/office/drawing/2014/main" id="{5002CF86-309B-4BC1-AAB4-D91F81D726FF}"/>
              </a:ext>
            </a:extLst>
          </p:cNvPr>
          <p:cNvSpPr txBox="1"/>
          <p:nvPr/>
        </p:nvSpPr>
        <p:spPr>
          <a:xfrm>
            <a:off x="5068949" y="1230333"/>
            <a:ext cx="5311218" cy="830997"/>
          </a:xfrm>
          <a:prstGeom prst="rect">
            <a:avLst/>
          </a:prstGeom>
          <a:noFill/>
        </p:spPr>
        <p:txBody>
          <a:bodyPr wrap="square" rtlCol="0">
            <a:spAutoFit/>
          </a:bodyPr>
          <a:lstStyle/>
          <a:p>
            <a:r>
              <a:rPr lang="en-GB" sz="2400">
                <a:latin typeface="+mj-lt"/>
              </a:rPr>
              <a:t>I  am learning to find and extract information from within a text.</a:t>
            </a:r>
          </a:p>
        </p:txBody>
      </p:sp>
      <p:sp>
        <p:nvSpPr>
          <p:cNvPr id="20" name="Rectangle 19">
            <a:extLst>
              <a:ext uri="{FF2B5EF4-FFF2-40B4-BE49-F238E27FC236}">
                <a16:creationId xmlns:a16="http://schemas.microsoft.com/office/drawing/2014/main" id="{06F95318-6BA1-4E64-BFC4-CA399BC0C6E8}"/>
              </a:ext>
            </a:extLst>
          </p:cNvPr>
          <p:cNvSpPr/>
          <p:nvPr/>
        </p:nvSpPr>
        <p:spPr>
          <a:xfrm>
            <a:off x="5597291" y="4824722"/>
            <a:ext cx="5583685" cy="830997"/>
          </a:xfrm>
          <a:prstGeom prst="rect">
            <a:avLst/>
          </a:prstGeom>
          <a:noFill/>
        </p:spPr>
        <p:txBody>
          <a:bodyPr wrap="square">
            <a:spAutoFit/>
          </a:bodyPr>
          <a:lstStyle/>
          <a:p>
            <a:r>
              <a:rPr lang="en-GB" sz="2400">
                <a:latin typeface="+mj-lt"/>
              </a:rPr>
              <a:t>I will show this by answering questions, making reference to the text.</a:t>
            </a:r>
          </a:p>
        </p:txBody>
      </p:sp>
      <p:grpSp>
        <p:nvGrpSpPr>
          <p:cNvPr id="26" name="Group 25">
            <a:extLst>
              <a:ext uri="{FF2B5EF4-FFF2-40B4-BE49-F238E27FC236}">
                <a16:creationId xmlns:a16="http://schemas.microsoft.com/office/drawing/2014/main" id="{2B08C31D-ED97-4B43-811F-A2D5B7EC5D3F}"/>
              </a:ext>
            </a:extLst>
          </p:cNvPr>
          <p:cNvGrpSpPr/>
          <p:nvPr/>
        </p:nvGrpSpPr>
        <p:grpSpPr>
          <a:xfrm>
            <a:off x="2968729" y="4615048"/>
            <a:ext cx="2401890" cy="1148058"/>
            <a:chOff x="10001131" y="2709337"/>
            <a:chExt cx="1838187" cy="1105414"/>
          </a:xfrm>
        </p:grpSpPr>
        <p:sp>
          <p:nvSpPr>
            <p:cNvPr id="27" name="Freeform: Shape 26">
              <a:extLst>
                <a:ext uri="{FF2B5EF4-FFF2-40B4-BE49-F238E27FC236}">
                  <a16:creationId xmlns:a16="http://schemas.microsoft.com/office/drawing/2014/main" id="{4A04811F-4042-449A-B9D1-E2A88F2EF32C}"/>
                </a:ext>
              </a:extLst>
            </p:cNvPr>
            <p:cNvSpPr/>
            <p:nvPr/>
          </p:nvSpPr>
          <p:spPr>
            <a:xfrm>
              <a:off x="10001131" y="2709337"/>
              <a:ext cx="1838187" cy="1105414"/>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600" b="1"/>
            </a:p>
          </p:txBody>
        </p:sp>
        <p:sp>
          <p:nvSpPr>
            <p:cNvPr id="28" name="TextBox 27">
              <a:extLst>
                <a:ext uri="{FF2B5EF4-FFF2-40B4-BE49-F238E27FC236}">
                  <a16:creationId xmlns:a16="http://schemas.microsoft.com/office/drawing/2014/main" id="{4CFC6DFC-1FF7-406B-91CA-DEF258FBDA0F}"/>
                </a:ext>
              </a:extLst>
            </p:cNvPr>
            <p:cNvSpPr txBox="1"/>
            <p:nvPr/>
          </p:nvSpPr>
          <p:spPr>
            <a:xfrm>
              <a:off x="10146498" y="2857389"/>
              <a:ext cx="1547451" cy="622324"/>
            </a:xfrm>
            <a:prstGeom prst="rect">
              <a:avLst/>
            </a:prstGeom>
            <a:noFill/>
            <a:ln w="19050">
              <a:noFill/>
            </a:ln>
          </p:spPr>
          <p:txBody>
            <a:bodyPr wrap="square" rtlCol="0">
              <a:spAutoFit/>
            </a:bodyPr>
            <a:lstStyle/>
            <a:p>
              <a:pPr algn="ctr"/>
              <a:r>
                <a:rPr lang="en-GB" b="1">
                  <a:latin typeface="Sassoon Primary Rg" panose="02000606020000020004" pitchFamily="2" charset="0"/>
                </a:rPr>
                <a:t>How will I know when I get there?</a:t>
              </a:r>
            </a:p>
          </p:txBody>
        </p:sp>
      </p:grpSp>
      <p:sp>
        <p:nvSpPr>
          <p:cNvPr id="29" name="Freeform: Shape 28">
            <a:extLst>
              <a:ext uri="{FF2B5EF4-FFF2-40B4-BE49-F238E27FC236}">
                <a16:creationId xmlns:a16="http://schemas.microsoft.com/office/drawing/2014/main" id="{5B068E6C-5697-4CD7-B539-8E733F24A280}"/>
              </a:ext>
            </a:extLst>
          </p:cNvPr>
          <p:cNvSpPr/>
          <p:nvPr/>
        </p:nvSpPr>
        <p:spPr>
          <a:xfrm>
            <a:off x="2767911" y="4261260"/>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30" name="Freeform: Shape 29">
            <a:extLst>
              <a:ext uri="{FF2B5EF4-FFF2-40B4-BE49-F238E27FC236}">
                <a16:creationId xmlns:a16="http://schemas.microsoft.com/office/drawing/2014/main" id="{D8ECF509-D074-4A96-BD14-1B7F8C9EF352}"/>
              </a:ext>
            </a:extLst>
          </p:cNvPr>
          <p:cNvSpPr/>
          <p:nvPr/>
        </p:nvSpPr>
        <p:spPr>
          <a:xfrm>
            <a:off x="3206304" y="2991789"/>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35" name="Freeform: Shape 34">
            <a:extLst>
              <a:ext uri="{FF2B5EF4-FFF2-40B4-BE49-F238E27FC236}">
                <a16:creationId xmlns:a16="http://schemas.microsoft.com/office/drawing/2014/main" id="{E3884F2F-92E8-4449-B9C6-4BB79443B2D3}"/>
              </a:ext>
            </a:extLst>
          </p:cNvPr>
          <p:cNvSpPr/>
          <p:nvPr/>
        </p:nvSpPr>
        <p:spPr>
          <a:xfrm>
            <a:off x="2271587" y="1913146"/>
            <a:ext cx="206619" cy="247942"/>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5" name="TextBox 4">
            <a:extLst>
              <a:ext uri="{FF2B5EF4-FFF2-40B4-BE49-F238E27FC236}">
                <a16:creationId xmlns:a16="http://schemas.microsoft.com/office/drawing/2014/main" id="{54230F3D-A112-7284-873F-C56C8ED18544}"/>
              </a:ext>
            </a:extLst>
          </p:cNvPr>
          <p:cNvSpPr txBox="1"/>
          <p:nvPr/>
        </p:nvSpPr>
        <p:spPr>
          <a:xfrm>
            <a:off x="5873925" y="2665439"/>
            <a:ext cx="5507001" cy="1200329"/>
          </a:xfrm>
          <a:prstGeom prst="rect">
            <a:avLst/>
          </a:prstGeom>
          <a:noFill/>
        </p:spPr>
        <p:txBody>
          <a:bodyPr wrap="square" rtlCol="0">
            <a:spAutoFit/>
          </a:bodyPr>
          <a:lstStyle/>
          <a:p>
            <a:r>
              <a:rPr lang="en-GB" sz="2400">
                <a:latin typeface="Sassoon Infant Rg" panose="02000503030000020003" pitchFamily="2" charset="0"/>
                <a:ea typeface="Sassoon Infant Rg" panose="02000503030000020003" pitchFamily="2" charset="0"/>
              </a:rPr>
              <a:t>I am learning this because it will help me to develop a clear understanding of what I am reading.</a:t>
            </a:r>
          </a:p>
        </p:txBody>
      </p:sp>
      <p:grpSp>
        <p:nvGrpSpPr>
          <p:cNvPr id="2" name="Group 1">
            <a:extLst>
              <a:ext uri="{FF2B5EF4-FFF2-40B4-BE49-F238E27FC236}">
                <a16:creationId xmlns:a16="http://schemas.microsoft.com/office/drawing/2014/main" id="{63BCCA52-B2F9-1150-2EC2-A8A910DE6CDF}"/>
              </a:ext>
            </a:extLst>
          </p:cNvPr>
          <p:cNvGrpSpPr/>
          <p:nvPr/>
        </p:nvGrpSpPr>
        <p:grpSpPr>
          <a:xfrm>
            <a:off x="10604358" y="118545"/>
            <a:ext cx="1530874" cy="2012378"/>
            <a:chOff x="8657485" y="829505"/>
            <a:chExt cx="1316831" cy="1668805"/>
          </a:xfrm>
        </p:grpSpPr>
        <p:grpSp>
          <p:nvGrpSpPr>
            <p:cNvPr id="24" name="Group 23">
              <a:extLst>
                <a:ext uri="{FF2B5EF4-FFF2-40B4-BE49-F238E27FC236}">
                  <a16:creationId xmlns:a16="http://schemas.microsoft.com/office/drawing/2014/main" id="{9DF1F7D1-5BF2-255E-1221-DF66584F31C4}"/>
                </a:ext>
              </a:extLst>
            </p:cNvPr>
            <p:cNvGrpSpPr/>
            <p:nvPr/>
          </p:nvGrpSpPr>
          <p:grpSpPr>
            <a:xfrm>
              <a:off x="8657485" y="829505"/>
              <a:ext cx="1316831" cy="1316831"/>
              <a:chOff x="3405584" y="4100477"/>
              <a:chExt cx="1316831" cy="1316831"/>
            </a:xfrm>
          </p:grpSpPr>
          <p:sp>
            <p:nvSpPr>
              <p:cNvPr id="31" name="Oval 30">
                <a:extLst>
                  <a:ext uri="{FF2B5EF4-FFF2-40B4-BE49-F238E27FC236}">
                    <a16:creationId xmlns:a16="http://schemas.microsoft.com/office/drawing/2014/main" id="{36527B03-E8B0-B308-5625-5D60701BABC9}"/>
                  </a:ext>
                </a:extLst>
              </p:cNvPr>
              <p:cNvSpPr/>
              <p:nvPr/>
            </p:nvSpPr>
            <p:spPr>
              <a:xfrm>
                <a:off x="3405584" y="4100477"/>
                <a:ext cx="1316831" cy="1316831"/>
              </a:xfrm>
              <a:prstGeom prst="ellipse">
                <a:avLst/>
              </a:prstGeom>
              <a:solidFill>
                <a:srgbClr val="FFD5EE"/>
              </a:solidFill>
              <a:ln w="38100">
                <a:solidFill>
                  <a:srgbClr val="CD007A"/>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32" name="Oval 4">
                <a:extLst>
                  <a:ext uri="{FF2B5EF4-FFF2-40B4-BE49-F238E27FC236}">
                    <a16:creationId xmlns:a16="http://schemas.microsoft.com/office/drawing/2014/main" id="{311692BE-7960-B1C4-FAA2-65AA32C03A40}"/>
                  </a:ext>
                </a:extLst>
              </p:cNvPr>
              <p:cNvSpPr txBox="1"/>
              <p:nvPr/>
            </p:nvSpPr>
            <p:spPr>
              <a:xfrm>
                <a:off x="3598429" y="4293322"/>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GB" sz="1200" b="1" kern="1200">
                    <a:solidFill>
                      <a:srgbClr val="CD007A"/>
                    </a:solidFill>
                    <a:latin typeface="Sassoon Infant Rg" panose="02000503030000020003" pitchFamily="2" charset="0"/>
                    <a:ea typeface="Sassoon Infant Rg" panose="02000503030000020003" pitchFamily="2" charset="0"/>
                  </a:rPr>
                  <a:t>Discuss &amp; explain thinking &amp; understanding</a:t>
                </a:r>
              </a:p>
            </p:txBody>
          </p:sp>
        </p:grpSp>
        <p:sp>
          <p:nvSpPr>
            <p:cNvPr id="25" name="TextBox 24">
              <a:extLst>
                <a:ext uri="{FF2B5EF4-FFF2-40B4-BE49-F238E27FC236}">
                  <a16:creationId xmlns:a16="http://schemas.microsoft.com/office/drawing/2014/main" id="{0E3DBC74-DEF3-15BE-F488-6929DEE9B83C}"/>
                </a:ext>
              </a:extLst>
            </p:cNvPr>
            <p:cNvSpPr txBox="1"/>
            <p:nvPr/>
          </p:nvSpPr>
          <p:spPr>
            <a:xfrm>
              <a:off x="8826392" y="2243080"/>
              <a:ext cx="979015" cy="255230"/>
            </a:xfrm>
            <a:prstGeom prst="rect">
              <a:avLst/>
            </a:prstGeom>
            <a:noFill/>
          </p:spPr>
          <p:txBody>
            <a:bodyPr wrap="square" rtlCol="0">
              <a:spAutoFit/>
            </a:bodyPr>
            <a:lstStyle/>
            <a:p>
              <a:pPr algn="ctr"/>
              <a:r>
                <a:rPr lang="en-GB" sz="1400" b="1">
                  <a:solidFill>
                    <a:srgbClr val="CD007A"/>
                  </a:solidFill>
                </a:rPr>
                <a:t>retrieve</a:t>
              </a:r>
            </a:p>
          </p:txBody>
        </p:sp>
      </p:grpSp>
    </p:spTree>
    <p:extLst>
      <p:ext uri="{BB962C8B-B14F-4D97-AF65-F5344CB8AC3E}">
        <p14:creationId xmlns:p14="http://schemas.microsoft.com/office/powerpoint/2010/main" val="19171547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5DDB52-DA63-044E-52E1-B8873C55D66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CA83BB0C-F58E-DA56-564A-0BADE2422FC9}"/>
              </a:ext>
            </a:extLst>
          </p:cNvPr>
          <p:cNvPicPr>
            <a:picLocks noChangeAspect="1"/>
          </p:cNvPicPr>
          <p:nvPr/>
        </p:nvPicPr>
        <p:blipFill>
          <a:blip r:embed="rId2"/>
          <a:stretch>
            <a:fillRect/>
          </a:stretch>
        </p:blipFill>
        <p:spPr>
          <a:xfrm>
            <a:off x="10424916" y="134700"/>
            <a:ext cx="1616752" cy="697982"/>
          </a:xfrm>
          <a:prstGeom prst="rect">
            <a:avLst/>
          </a:prstGeom>
        </p:spPr>
      </p:pic>
      <p:sp>
        <p:nvSpPr>
          <p:cNvPr id="2" name="TextBox 1">
            <a:extLst>
              <a:ext uri="{FF2B5EF4-FFF2-40B4-BE49-F238E27FC236}">
                <a16:creationId xmlns:a16="http://schemas.microsoft.com/office/drawing/2014/main" id="{640BB64A-1496-7976-37EB-DCEEC8FBF17F}"/>
              </a:ext>
            </a:extLst>
          </p:cNvPr>
          <p:cNvSpPr txBox="1"/>
          <p:nvPr/>
        </p:nvSpPr>
        <p:spPr>
          <a:xfrm>
            <a:off x="378830" y="1843059"/>
            <a:ext cx="11713854" cy="3429144"/>
          </a:xfrm>
          <a:prstGeom prst="rect">
            <a:avLst/>
          </a:prstGeom>
          <a:noFill/>
        </p:spPr>
        <p:txBody>
          <a:bodyPr wrap="square" rtlCol="0">
            <a:spAutoFit/>
          </a:bodyPr>
          <a:lstStyle/>
          <a:p>
            <a:pPr lvl="1">
              <a:spcAft>
                <a:spcPts val="500"/>
              </a:spcAft>
            </a:pPr>
            <a:r>
              <a:rPr lang="en-GB" sz="2200"/>
              <a:t>What is Varjak trying to do in this extract?</a:t>
            </a:r>
          </a:p>
          <a:p>
            <a:pPr lvl="1">
              <a:spcAft>
                <a:spcPts val="500"/>
              </a:spcAft>
            </a:pPr>
            <a:r>
              <a:rPr lang="en-GB" sz="2200"/>
              <a:t>He is trying to learn the Way of Jalal, an ancient skill, by staying still and focusing his mind.</a:t>
            </a:r>
          </a:p>
          <a:p>
            <a:pPr lvl="1">
              <a:spcAft>
                <a:spcPts val="500"/>
              </a:spcAft>
            </a:pPr>
            <a:endParaRPr lang="en-GB" sz="2200"/>
          </a:p>
          <a:p>
            <a:pPr lvl="1">
              <a:spcAft>
                <a:spcPts val="500"/>
              </a:spcAft>
            </a:pPr>
            <a:r>
              <a:rPr lang="en-GB" sz="2200"/>
              <a:t>Find a word in the text that means ‘continuing to try even when something is difficult’.</a:t>
            </a:r>
          </a:p>
          <a:p>
            <a:pPr lvl="1">
              <a:spcAft>
                <a:spcPts val="500"/>
              </a:spcAft>
            </a:pPr>
            <a:r>
              <a:rPr lang="en-GB" sz="2200"/>
              <a:t>persistent</a:t>
            </a:r>
          </a:p>
          <a:p>
            <a:pPr lvl="1">
              <a:spcAft>
                <a:spcPts val="500"/>
              </a:spcAft>
            </a:pPr>
            <a:endParaRPr lang="en-GB" sz="2200"/>
          </a:p>
        </p:txBody>
      </p:sp>
      <p:sp>
        <p:nvSpPr>
          <p:cNvPr id="6" name="TextBox 5">
            <a:extLst>
              <a:ext uri="{FF2B5EF4-FFF2-40B4-BE49-F238E27FC236}">
                <a16:creationId xmlns:a16="http://schemas.microsoft.com/office/drawing/2014/main" id="{5BDAB0E7-50E0-A284-5814-9D1241C67513}"/>
              </a:ext>
            </a:extLst>
          </p:cNvPr>
          <p:cNvSpPr txBox="1"/>
          <p:nvPr/>
        </p:nvSpPr>
        <p:spPr>
          <a:xfrm>
            <a:off x="288098" y="335454"/>
            <a:ext cx="6329618" cy="707886"/>
          </a:xfrm>
          <a:prstGeom prst="rect">
            <a:avLst/>
          </a:prstGeom>
          <a:noFill/>
        </p:spPr>
        <p:txBody>
          <a:bodyPr wrap="none" rtlCol="0">
            <a:spAutoFit/>
          </a:bodyPr>
          <a:lstStyle/>
          <a:p>
            <a:r>
              <a:rPr lang="en-GB" sz="4000" b="1" u="sng"/>
              <a:t>Practice questions - Vocabulary</a:t>
            </a:r>
          </a:p>
        </p:txBody>
      </p:sp>
      <p:sp>
        <p:nvSpPr>
          <p:cNvPr id="3" name="TextBox 2">
            <a:extLst>
              <a:ext uri="{FF2B5EF4-FFF2-40B4-BE49-F238E27FC236}">
                <a16:creationId xmlns:a16="http://schemas.microsoft.com/office/drawing/2014/main" id="{68036728-B080-EA83-ECF1-479482CB4A6C}"/>
              </a:ext>
            </a:extLst>
          </p:cNvPr>
          <p:cNvSpPr txBox="1"/>
          <p:nvPr/>
        </p:nvSpPr>
        <p:spPr>
          <a:xfrm>
            <a:off x="288098" y="937015"/>
            <a:ext cx="10156370" cy="369332"/>
          </a:xfrm>
          <a:prstGeom prst="rect">
            <a:avLst/>
          </a:prstGeom>
          <a:noFill/>
        </p:spPr>
        <p:txBody>
          <a:bodyPr wrap="none" rtlCol="0">
            <a:spAutoFit/>
          </a:bodyPr>
          <a:lstStyle/>
          <a:p>
            <a:r>
              <a:rPr lang="en-GB"/>
              <a:t>Scanning the text – I am trying to find the parts in the text where I will retrieve the answer to the question.</a:t>
            </a:r>
          </a:p>
        </p:txBody>
      </p:sp>
      <p:sp>
        <p:nvSpPr>
          <p:cNvPr id="7" name="TextBox 6">
            <a:extLst>
              <a:ext uri="{FF2B5EF4-FFF2-40B4-BE49-F238E27FC236}">
                <a16:creationId xmlns:a16="http://schemas.microsoft.com/office/drawing/2014/main" id="{62ABBBA0-AF7C-8A47-0810-0E93014D5573}"/>
              </a:ext>
            </a:extLst>
          </p:cNvPr>
          <p:cNvSpPr txBox="1"/>
          <p:nvPr/>
        </p:nvSpPr>
        <p:spPr>
          <a:xfrm>
            <a:off x="739293" y="5447777"/>
            <a:ext cx="10292816" cy="830997"/>
          </a:xfrm>
          <a:prstGeom prst="rect">
            <a:avLst/>
          </a:prstGeom>
          <a:noFill/>
        </p:spPr>
        <p:txBody>
          <a:bodyPr wrap="square" rtlCol="0">
            <a:spAutoFit/>
          </a:bodyPr>
          <a:lstStyle/>
          <a:p>
            <a:r>
              <a:rPr lang="en-GB" sz="2400"/>
              <a:t>Checking my answers – does my answer match the question and use information from the text?</a:t>
            </a:r>
          </a:p>
        </p:txBody>
      </p:sp>
      <p:sp>
        <p:nvSpPr>
          <p:cNvPr id="9" name="TextBox 8">
            <a:extLst>
              <a:ext uri="{FF2B5EF4-FFF2-40B4-BE49-F238E27FC236}">
                <a16:creationId xmlns:a16="http://schemas.microsoft.com/office/drawing/2014/main" id="{C39F0976-7660-64BA-E055-E6E60B65E8BB}"/>
              </a:ext>
            </a:extLst>
          </p:cNvPr>
          <p:cNvSpPr txBox="1"/>
          <p:nvPr/>
        </p:nvSpPr>
        <p:spPr>
          <a:xfrm>
            <a:off x="378830" y="1512948"/>
            <a:ext cx="11434340" cy="3853893"/>
          </a:xfrm>
          <a:prstGeom prst="rect">
            <a:avLst/>
          </a:prstGeom>
          <a:solidFill>
            <a:schemeClr val="accent5">
              <a:lumMod val="20000"/>
              <a:lumOff val="80000"/>
            </a:schemeClr>
          </a:solidFill>
        </p:spPr>
        <p:txBody>
          <a:bodyPr wrap="square" anchor="ctr">
            <a:normAutofit fontScale="92500"/>
          </a:bodyPr>
          <a:lstStyle/>
          <a:p>
            <a:r>
              <a:rPr lang="en-GB" sz="2200"/>
              <a:t>In the silence of the mountain, Varjak crouched low on the cold stone and tried once again to still his mind. The Way of Jalal was ancient — older than anything his family could remember — and Varjak had always believed it was just a story that Elder Paw whispered on quiet evenings. But now, as he closed his eyes and reached inside himself for something he could not yet name, he understood that it was far more than a tale. His legs were trembling with the effort of holding the same position for so long, and sweat dampened the fine fur beneath his chin. He tried to shut out the sounds of the world: the wind moving through the grass, his grandmother’s distant voice calling across the hillside. A persistent voice in his head told him he was doing it wrong, that he was too young, too small, too ordinary to learn what the great Jalal had taught. Yet somewhere deep in his chest, something was stirring — a tiny flicker of warmth that refused to go out no matter how many times doubt tried to smother it. When he opened his eyes, he caught a glimpse of a world that looked exactly as it always had, and yet somehow felt entirely different. Whatever the Way was, it was waking up inside him, and Varjak was just beginning to understand why that mattered.</a:t>
            </a:r>
          </a:p>
        </p:txBody>
      </p:sp>
      <p:sp>
        <p:nvSpPr>
          <p:cNvPr id="8" name="Rounded Rectangle 7">
            <a:extLst>
              <a:ext uri="{FF2B5EF4-FFF2-40B4-BE49-F238E27FC236}">
                <a16:creationId xmlns:a16="http://schemas.microsoft.com/office/drawing/2014/main" id="{1F9C4591-5FD6-13A6-965E-8E77A5CE3342}"/>
              </a:ext>
            </a:extLst>
          </p:cNvPr>
          <p:cNvSpPr/>
          <p:nvPr/>
        </p:nvSpPr>
        <p:spPr>
          <a:xfrm>
            <a:off x="8019658" y="6245246"/>
            <a:ext cx="4026568" cy="43134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a:t>Show / Hide Extract</a:t>
            </a:r>
          </a:p>
        </p:txBody>
      </p:sp>
      <p:pic>
        <p:nvPicPr>
          <p:cNvPr id="4" name="Picture 3">
            <a:extLst>
              <a:ext uri="{FF2B5EF4-FFF2-40B4-BE49-F238E27FC236}">
                <a16:creationId xmlns:a16="http://schemas.microsoft.com/office/drawing/2014/main" id="{98C313D4-3635-57FE-CBB6-13AFE64BC9F7}"/>
              </a:ext>
            </a:extLst>
          </p:cNvPr>
          <p:cNvPicPr/>
          <p:nvPr/>
        </p:nvPicPr>
        <p:blipFill>
          <a:blip r:embed="rId3">
            <a:extLst>
              <a:ext uri="{28A0092B-C50C-407E-A947-70E740481C1C}">
                <a14:useLocalDpi xmlns:a14="http://schemas.microsoft.com/office/drawing/2010/main" val="0"/>
              </a:ext>
            </a:extLst>
          </a:blip>
          <a:stretch>
            <a:fillRect/>
          </a:stretch>
        </p:blipFill>
        <p:spPr>
          <a:xfrm>
            <a:off x="5250435" y="6048469"/>
            <a:ext cx="1691129" cy="711848"/>
          </a:xfrm>
          <a:prstGeom prst="rect">
            <a:avLst/>
          </a:prstGeom>
        </p:spPr>
      </p:pic>
    </p:spTree>
    <p:extLst>
      <p:ext uri="{BB962C8B-B14F-4D97-AF65-F5344CB8AC3E}">
        <p14:creationId xmlns:p14="http://schemas.microsoft.com/office/powerpoint/2010/main" val="4127022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7" restart="whenNotActive" fill="hold" evtFilter="cancelBubble" nodeType="interactiveSeq">
                <p:stCondLst>
                  <p:cond evt="onClick" delay="0">
                    <p:tgtEl>
                      <p:spTgt spid="8"/>
                    </p:tgtEl>
                  </p:cond>
                </p:stCondLst>
                <p:endSync evt="end" delay="0">
                  <p:rtn val="all"/>
                </p:endSync>
                <p:childTnLst>
                  <p:par>
                    <p:cTn id="28" fill="hold">
                      <p:stCondLst>
                        <p:cond delay="0"/>
                      </p:stCondLst>
                      <p:childTnLst>
                        <p:par>
                          <p:cTn id="29" fill="hold">
                            <p:stCondLst>
                              <p:cond delay="0"/>
                            </p:stCondLst>
                            <p:childTnLst>
                              <p:par>
                                <p:cTn id="30" presetID="1"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childTnLst>
                                </p:cTn>
                              </p:par>
                            </p:childTnLst>
                          </p:cTn>
                        </p:par>
                      </p:childTnLst>
                    </p:cTn>
                  </p:par>
                  <p:par>
                    <p:cTn id="32" fill="hold">
                      <p:stCondLst>
                        <p:cond delay="indefinite"/>
                      </p:stCondLst>
                      <p:childTnLst>
                        <p:par>
                          <p:cTn id="33" fill="hold">
                            <p:stCondLst>
                              <p:cond delay="0"/>
                            </p:stCondLst>
                            <p:childTnLst>
                              <p:par>
                                <p:cTn id="34" presetID="1" presetClass="exit" presetSubtype="0" fill="hold" grpId="1" nodeType="clickEffect">
                                  <p:stCondLst>
                                    <p:cond delay="0"/>
                                  </p:stCondLst>
                                  <p:childTnLst>
                                    <p:set>
                                      <p:cBhvr>
                                        <p:cTn id="35" dur="1" fill="hold">
                                          <p:stCondLst>
                                            <p:cond delay="0"/>
                                          </p:stCondLst>
                                        </p:cTn>
                                        <p:tgtEl>
                                          <p:spTgt spid="9"/>
                                        </p:tgtEl>
                                        <p:attrNameLst>
                                          <p:attrName>style.visibility</p:attrName>
                                        </p:attrNameLst>
                                      </p:cBhvr>
                                      <p:to>
                                        <p:strVal val="hidden"/>
                                      </p:to>
                                    </p:set>
                                  </p:childTnLst>
                                </p:cTn>
                              </p:par>
                            </p:childTnLst>
                          </p:cTn>
                        </p:par>
                      </p:childTnLst>
                    </p:cTn>
                  </p:par>
                </p:childTnLst>
              </p:cTn>
              <p:nextCondLst>
                <p:cond evt="onClick" delay="0">
                  <p:tgtEl>
                    <p:spTgt spid="8"/>
                  </p:tgtEl>
                </p:cond>
              </p:nextCondLst>
            </p:seq>
          </p:childTnLst>
        </p:cTn>
      </p:par>
    </p:tnLst>
    <p:bldLst>
      <p:bldP spid="7" grpId="0"/>
      <p:bldP spid="9" grpId="0" animBg="1"/>
      <p:bldP spid="9" grpId="1"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D28150-E2BB-D124-E558-AC8A265F32E2}"/>
              </a:ext>
            </a:extLst>
          </p:cNvPr>
          <p:cNvSpPr>
            <a:spLocks noGrp="1"/>
          </p:cNvSpPr>
          <p:nvPr>
            <p:ph type="ctrTitle"/>
          </p:nvPr>
        </p:nvSpPr>
        <p:spPr>
          <a:xfrm>
            <a:off x="0" y="2017477"/>
            <a:ext cx="12192000" cy="2387600"/>
          </a:xfrm>
        </p:spPr>
        <p:txBody>
          <a:bodyPr/>
          <a:lstStyle/>
          <a:p>
            <a:r>
              <a:rPr lang="en-GB" dirty="0">
                <a:latin typeface="Sassoon Infant Rg" panose="02000503030000020003" pitchFamily="2" charset="0"/>
              </a:rPr>
              <a:t>Being a Reader</a:t>
            </a:r>
          </a:p>
        </p:txBody>
      </p:sp>
      <p:grpSp>
        <p:nvGrpSpPr>
          <p:cNvPr id="4" name="Group 3">
            <a:extLst>
              <a:ext uri="{FF2B5EF4-FFF2-40B4-BE49-F238E27FC236}">
                <a16:creationId xmlns:a16="http://schemas.microsoft.com/office/drawing/2014/main" id="{5F3F8467-5724-D86C-FDA4-D49533DEC4F0}"/>
              </a:ext>
            </a:extLst>
          </p:cNvPr>
          <p:cNvGrpSpPr/>
          <p:nvPr/>
        </p:nvGrpSpPr>
        <p:grpSpPr>
          <a:xfrm>
            <a:off x="4568895" y="211840"/>
            <a:ext cx="3039122" cy="3522775"/>
            <a:chOff x="7629233" y="677174"/>
            <a:chExt cx="2090136" cy="2455590"/>
          </a:xfrm>
        </p:grpSpPr>
        <p:pic>
          <p:nvPicPr>
            <p:cNvPr id="5" name="Picture 8" descr="Reading Icon 2954745">
              <a:extLst>
                <a:ext uri="{FF2B5EF4-FFF2-40B4-BE49-F238E27FC236}">
                  <a16:creationId xmlns:a16="http://schemas.microsoft.com/office/drawing/2014/main" id="{2B1C2540-38D6-7D21-7288-1F3B603531F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29233" y="1184735"/>
              <a:ext cx="2090136" cy="194802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8F3344A5-4924-D3BC-68C4-52E2EB3B6D65}"/>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6627" b="95181" l="4969" r="92547">
                          <a14:foregroundMark x1="43478" y1="94578" x2="43478" y2="94578"/>
                          <a14:foregroundMark x1="4969" y1="50602" x2="4969" y2="50602"/>
                          <a14:foregroundMark x1="16770" y1="19277" x2="16770" y2="19277"/>
                          <a14:foregroundMark x1="49689" y1="8434" x2="49689" y2="8434"/>
                          <a14:foregroundMark x1="80124" y1="19277" x2="80124" y2="19277"/>
                          <a14:foregroundMark x1="56522" y1="95783" x2="56522" y2="95783"/>
                          <a14:foregroundMark x1="89441" y1="49398" x2="89441" y2="49398"/>
                          <a14:foregroundMark x1="49689" y1="6627" x2="49689" y2="6627"/>
                          <a14:foregroundMark x1="92547" y1="49398" x2="92547" y2="49398"/>
                        </a14:backgroundRemoval>
                      </a14:imgEffect>
                    </a14:imgLayer>
                  </a14:imgProps>
                </a:ext>
              </a:extLst>
            </a:blip>
            <a:stretch>
              <a:fillRect/>
            </a:stretch>
          </p:blipFill>
          <p:spPr>
            <a:xfrm>
              <a:off x="8856582" y="677174"/>
              <a:ext cx="716760" cy="688774"/>
            </a:xfrm>
            <a:prstGeom prst="rect">
              <a:avLst/>
            </a:prstGeom>
          </p:spPr>
        </p:pic>
      </p:grpSp>
      <p:sp>
        <p:nvSpPr>
          <p:cNvPr id="3" name="TextBox 2">
            <a:extLst>
              <a:ext uri="{FF2B5EF4-FFF2-40B4-BE49-F238E27FC236}">
                <a16:creationId xmlns:a16="http://schemas.microsoft.com/office/drawing/2014/main" id="{9AA1DE16-8C7B-4868-2DE3-9C9C7D7D4324}"/>
              </a:ext>
            </a:extLst>
          </p:cNvPr>
          <p:cNvSpPr txBox="1"/>
          <p:nvPr/>
        </p:nvSpPr>
        <p:spPr>
          <a:xfrm>
            <a:off x="0" y="4552141"/>
            <a:ext cx="12192000" cy="707886"/>
          </a:xfrm>
          <a:prstGeom prst="rect">
            <a:avLst/>
          </a:prstGeom>
          <a:noFill/>
        </p:spPr>
        <p:txBody>
          <a:bodyPr wrap="square" rtlCol="0">
            <a:spAutoFit/>
          </a:bodyPr>
          <a:lstStyle/>
          <a:p>
            <a:pPr algn="ctr"/>
            <a:r>
              <a:rPr lang="en-GB" sz="4000" dirty="0"/>
              <a:t>Retrieval</a:t>
            </a:r>
            <a:endParaRPr lang="en-GB" dirty="0"/>
          </a:p>
        </p:txBody>
      </p:sp>
      <p:sp>
        <p:nvSpPr>
          <p:cNvPr id="6" name="TextBox 5">
            <a:extLst>
              <a:ext uri="{FF2B5EF4-FFF2-40B4-BE49-F238E27FC236}">
                <a16:creationId xmlns:a16="http://schemas.microsoft.com/office/drawing/2014/main" id="{2B18F8C8-4B63-E425-87CE-D13C91BCA056}"/>
              </a:ext>
            </a:extLst>
          </p:cNvPr>
          <p:cNvSpPr txBox="1"/>
          <p:nvPr/>
        </p:nvSpPr>
        <p:spPr>
          <a:xfrm>
            <a:off x="4423577" y="5199610"/>
            <a:ext cx="3329758" cy="1446550"/>
          </a:xfrm>
          <a:prstGeom prst="rect">
            <a:avLst/>
          </a:prstGeom>
          <a:noFill/>
        </p:spPr>
        <p:txBody>
          <a:bodyPr wrap="none" rtlCol="0" anchor="ctr">
            <a:spAutoFit/>
          </a:bodyPr>
          <a:lstStyle/>
          <a:p>
            <a:pPr algn="ctr"/>
            <a:r>
              <a:rPr lang="en-GB" sz="8800" dirty="0"/>
              <a:t>Wednesday</a:t>
            </a:r>
          </a:p>
        </p:txBody>
      </p:sp>
    </p:spTree>
    <p:extLst>
      <p:ext uri="{BB962C8B-B14F-4D97-AF65-F5344CB8AC3E}">
        <p14:creationId xmlns:p14="http://schemas.microsoft.com/office/powerpoint/2010/main" val="33036935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Rounded Corners 7">
            <a:extLst>
              <a:ext uri="{FF2B5EF4-FFF2-40B4-BE49-F238E27FC236}">
                <a16:creationId xmlns:a16="http://schemas.microsoft.com/office/drawing/2014/main" id="{4ACEAB2A-6943-1061-22CF-9EC0847829D7}"/>
              </a:ext>
            </a:extLst>
          </p:cNvPr>
          <p:cNvSpPr/>
          <p:nvPr/>
        </p:nvSpPr>
        <p:spPr>
          <a:xfrm>
            <a:off x="6476397" y="19821"/>
            <a:ext cx="5576138" cy="6818358"/>
          </a:xfrm>
          <a:prstGeom prst="roundRect">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D9DEE78A-07A9-5FF3-9D78-C0D9D21EEFB2}"/>
              </a:ext>
            </a:extLst>
          </p:cNvPr>
          <p:cNvSpPr txBox="1"/>
          <p:nvPr/>
        </p:nvSpPr>
        <p:spPr>
          <a:xfrm>
            <a:off x="6786658" y="-9273"/>
            <a:ext cx="4833400" cy="684803"/>
          </a:xfrm>
          <a:prstGeom prst="rect">
            <a:avLst/>
          </a:prstGeom>
          <a:noFill/>
        </p:spPr>
        <p:txBody>
          <a:bodyPr wrap="square" rtlCol="0">
            <a:spAutoFit/>
          </a:bodyPr>
          <a:lstStyle/>
          <a:p>
            <a:pPr algn="ctr">
              <a:lnSpc>
                <a:spcPct val="150000"/>
              </a:lnSpc>
            </a:pPr>
            <a:r>
              <a:rPr lang="en-GB" sz="2800" b="1" u="sng">
                <a:solidFill>
                  <a:schemeClr val="tx1"/>
                </a:solidFill>
                <a:latin typeface="Sassoon Infant Rg" panose="02000503030000020003" pitchFamily="2" charset="0"/>
                <a:ea typeface="Sassoon Infant Rg" panose="02000503030000020003" pitchFamily="2" charset="0"/>
              </a:rPr>
              <a:t>Why do we learn to read?</a:t>
            </a:r>
          </a:p>
        </p:txBody>
      </p:sp>
      <p:sp>
        <p:nvSpPr>
          <p:cNvPr id="11" name="TextBox 10">
            <a:extLst>
              <a:ext uri="{FF2B5EF4-FFF2-40B4-BE49-F238E27FC236}">
                <a16:creationId xmlns:a16="http://schemas.microsoft.com/office/drawing/2014/main" id="{16D2B17F-CF26-33D2-B6F6-70299CA1A763}"/>
              </a:ext>
            </a:extLst>
          </p:cNvPr>
          <p:cNvSpPr txBox="1"/>
          <p:nvPr/>
        </p:nvSpPr>
        <p:spPr>
          <a:xfrm>
            <a:off x="8246543" y="848912"/>
            <a:ext cx="3654961" cy="2631490"/>
          </a:xfrm>
          <a:prstGeom prst="rect">
            <a:avLst/>
          </a:prstGeom>
          <a:noFill/>
        </p:spPr>
        <p:txBody>
          <a:bodyPr wrap="square">
            <a:spAutoFit/>
          </a:bodyPr>
          <a:lstStyle/>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 xml:space="preserve">Reading makes me </a:t>
            </a:r>
            <a:r>
              <a:rPr lang="en-GB" sz="3200" b="1">
                <a:solidFill>
                  <a:schemeClr val="tx1"/>
                </a:solidFill>
                <a:latin typeface="Sassoon Infant Rg" panose="02000503030000020003" pitchFamily="2" charset="0"/>
                <a:ea typeface="Sassoon Infant Rg" panose="02000503030000020003" pitchFamily="2" charset="0"/>
              </a:rPr>
              <a:t>powerful</a:t>
            </a:r>
            <a:r>
              <a:rPr lang="en-GB" sz="2400">
                <a:solidFill>
                  <a:schemeClr val="tx1"/>
                </a:solidFill>
                <a:latin typeface="Sassoon Infant Rg" panose="02000503030000020003" pitchFamily="2" charset="0"/>
                <a:ea typeface="Sassoon Infant Rg" panose="02000503030000020003" pitchFamily="2" charset="0"/>
              </a:rPr>
              <a:t xml:space="preserve"> because it helps me to </a:t>
            </a:r>
            <a:r>
              <a:rPr lang="en-GB" sz="3200" b="1">
                <a:solidFill>
                  <a:schemeClr val="tx1"/>
                </a:solidFill>
                <a:latin typeface="Sassoon Infant Rg" panose="02000503030000020003" pitchFamily="2" charset="0"/>
                <a:ea typeface="Sassoon Infant Rg" panose="02000503030000020003" pitchFamily="2" charset="0"/>
              </a:rPr>
              <a:t>understand</a:t>
            </a:r>
            <a:r>
              <a:rPr lang="en-GB" sz="2400">
                <a:solidFill>
                  <a:schemeClr val="tx1"/>
                </a:solidFill>
                <a:latin typeface="Sassoon Infant Rg" panose="02000503030000020003" pitchFamily="2" charset="0"/>
                <a:ea typeface="Sassoon Infant Rg" panose="02000503030000020003" pitchFamily="2" charset="0"/>
              </a:rPr>
              <a:t xml:space="preserve"> the world around me.</a:t>
            </a:r>
          </a:p>
        </p:txBody>
      </p:sp>
      <p:pic>
        <p:nvPicPr>
          <p:cNvPr id="7" name="Picture 6">
            <a:extLst>
              <a:ext uri="{FF2B5EF4-FFF2-40B4-BE49-F238E27FC236}">
                <a16:creationId xmlns:a16="http://schemas.microsoft.com/office/drawing/2014/main" id="{3DF6A32D-163D-40C2-BACF-C964E0035D2E}"/>
              </a:ext>
            </a:extLst>
          </p:cNvPr>
          <p:cNvPicPr>
            <a:picLocks noChangeAspect="1"/>
          </p:cNvPicPr>
          <p:nvPr/>
        </p:nvPicPr>
        <p:blipFill rotWithShape="1">
          <a:blip r:embed="rId3">
            <a:extLst>
              <a:ext uri="{BEBA8EAE-BF5A-486C-A8C5-ECC9F3942E4B}">
                <a14:imgProps xmlns:a14="http://schemas.microsoft.com/office/drawing/2010/main">
                  <a14:imgLayer r:embed="rId4">
                    <a14:imgEffect>
                      <a14:backgroundRemoval t="61376" b="80317" l="20847" r="34709">
                        <a14:foregroundMark x1="24656" y1="80000" x2="24656" y2="80000"/>
                        <a14:foregroundMark x1="29312" y1="80317" x2="29312" y2="80317"/>
                      </a14:backgroundRemoval>
                    </a14:imgEffect>
                  </a14:imgLayer>
                </a14:imgProps>
              </a:ext>
            </a:extLst>
          </a:blip>
          <a:srcRect l="19127" t="59276" r="63462" b="18202"/>
          <a:stretch/>
        </p:blipFill>
        <p:spPr>
          <a:xfrm>
            <a:off x="6896058" y="1151805"/>
            <a:ext cx="1350486" cy="1656373"/>
          </a:xfrm>
          <a:prstGeom prst="rect">
            <a:avLst/>
          </a:prstGeom>
        </p:spPr>
      </p:pic>
      <p:pic>
        <p:nvPicPr>
          <p:cNvPr id="12" name="Picture 11">
            <a:extLst>
              <a:ext uri="{FF2B5EF4-FFF2-40B4-BE49-F238E27FC236}">
                <a16:creationId xmlns:a16="http://schemas.microsoft.com/office/drawing/2014/main" id="{A25D9A8A-09E0-BBBE-0C18-2E1880E52773}"/>
              </a:ext>
            </a:extLst>
          </p:cNvPr>
          <p:cNvPicPr>
            <a:picLocks noChangeAspect="1"/>
          </p:cNvPicPr>
          <p:nvPr/>
        </p:nvPicPr>
        <p:blipFill rotWithShape="1">
          <a:blip r:embed="rId5">
            <a:extLst>
              <a:ext uri="{BEBA8EAE-BF5A-486C-A8C5-ECC9F3942E4B}">
                <a14:imgProps xmlns:a14="http://schemas.microsoft.com/office/drawing/2010/main">
                  <a14:imgLayer r:embed="rId4">
                    <a14:imgEffect>
                      <a14:backgroundRemoval t="61793" b="81925" l="64809" r="78176">
                        <a14:foregroundMark x1="75238" y1="61799" x2="75238" y2="61799"/>
                      </a14:backgroundRemoval>
                    </a14:imgEffect>
                  </a14:imgLayer>
                </a14:imgProps>
              </a:ext>
            </a:extLst>
          </a:blip>
          <a:srcRect l="63138" t="59276" r="20153" b="15559"/>
          <a:stretch/>
        </p:blipFill>
        <p:spPr>
          <a:xfrm>
            <a:off x="10650071" y="4324983"/>
            <a:ext cx="1251434" cy="1786987"/>
          </a:xfrm>
          <a:prstGeom prst="rect">
            <a:avLst/>
          </a:prstGeom>
        </p:spPr>
      </p:pic>
      <p:sp>
        <p:nvSpPr>
          <p:cNvPr id="14" name="TextBox 13">
            <a:extLst>
              <a:ext uri="{FF2B5EF4-FFF2-40B4-BE49-F238E27FC236}">
                <a16:creationId xmlns:a16="http://schemas.microsoft.com/office/drawing/2014/main" id="{950C5C2B-42CC-39EC-6847-EE394E29BB3C}"/>
              </a:ext>
            </a:extLst>
          </p:cNvPr>
          <p:cNvSpPr txBox="1"/>
          <p:nvPr/>
        </p:nvSpPr>
        <p:spPr>
          <a:xfrm>
            <a:off x="6786658" y="4022091"/>
            <a:ext cx="3863413" cy="1708160"/>
          </a:xfrm>
          <a:prstGeom prst="rect">
            <a:avLst/>
          </a:prstGeom>
          <a:noFill/>
        </p:spPr>
        <p:txBody>
          <a:bodyPr wrap="square">
            <a:spAutoFit/>
          </a:bodyPr>
          <a:lstStyle/>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At Wallscourt Farm Academy:</a:t>
            </a:r>
          </a:p>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 xml:space="preserve">We love to read, learn to read and read to learn! </a:t>
            </a:r>
          </a:p>
        </p:txBody>
      </p:sp>
      <p:pic>
        <p:nvPicPr>
          <p:cNvPr id="3" name="Picture 2">
            <a:extLst>
              <a:ext uri="{FF2B5EF4-FFF2-40B4-BE49-F238E27FC236}">
                <a16:creationId xmlns:a16="http://schemas.microsoft.com/office/drawing/2014/main" id="{121AB0E8-B43D-DFDE-C896-2046E6E618BA}"/>
              </a:ext>
            </a:extLst>
          </p:cNvPr>
          <p:cNvPicPr>
            <a:picLocks noChangeAspect="1"/>
          </p:cNvPicPr>
          <p:nvPr/>
        </p:nvPicPr>
        <p:blipFill>
          <a:blip r:embed="rId6"/>
          <a:stretch>
            <a:fillRect/>
          </a:stretch>
        </p:blipFill>
        <p:spPr>
          <a:xfrm>
            <a:off x="631179" y="568742"/>
            <a:ext cx="5645882" cy="5654149"/>
          </a:xfrm>
          <a:prstGeom prst="roundRect">
            <a:avLst>
              <a:gd name="adj" fmla="val 8594"/>
            </a:avLst>
          </a:prstGeom>
          <a:solidFill>
            <a:srgbClr val="FFFFFF">
              <a:shade val="85000"/>
            </a:srgbClr>
          </a:solidFill>
          <a:ln>
            <a:noFill/>
          </a:ln>
          <a:effectLst/>
        </p:spPr>
      </p:pic>
    </p:spTree>
    <p:extLst>
      <p:ext uri="{BB962C8B-B14F-4D97-AF65-F5344CB8AC3E}">
        <p14:creationId xmlns:p14="http://schemas.microsoft.com/office/powerpoint/2010/main" val="28557886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4"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43C5AD-3309-A9A5-F848-B93CB7BC5FD5}"/>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3B9D8A55-04E7-0528-A165-9FB98DB89054}"/>
              </a:ext>
            </a:extLst>
          </p:cNvPr>
          <p:cNvPicPr>
            <a:picLocks noChangeAspect="1"/>
          </p:cNvPicPr>
          <p:nvPr/>
        </p:nvPicPr>
        <p:blipFill>
          <a:blip r:embed="rId3"/>
          <a:stretch>
            <a:fillRect/>
          </a:stretch>
        </p:blipFill>
        <p:spPr>
          <a:xfrm>
            <a:off x="10424916" y="134700"/>
            <a:ext cx="1616752" cy="697982"/>
          </a:xfrm>
          <a:prstGeom prst="rect">
            <a:avLst/>
          </a:prstGeom>
        </p:spPr>
      </p:pic>
      <p:grpSp>
        <p:nvGrpSpPr>
          <p:cNvPr id="9" name="Group 8">
            <a:extLst>
              <a:ext uri="{FF2B5EF4-FFF2-40B4-BE49-F238E27FC236}">
                <a16:creationId xmlns:a16="http://schemas.microsoft.com/office/drawing/2014/main" id="{2E1FDC99-0FE5-B42D-815D-42276802132E}"/>
              </a:ext>
            </a:extLst>
          </p:cNvPr>
          <p:cNvGrpSpPr/>
          <p:nvPr/>
        </p:nvGrpSpPr>
        <p:grpSpPr>
          <a:xfrm>
            <a:off x="292072" y="239667"/>
            <a:ext cx="1145637" cy="1145637"/>
            <a:chOff x="5180554" y="1026138"/>
            <a:chExt cx="1316831" cy="1316831"/>
          </a:xfrm>
        </p:grpSpPr>
        <p:sp>
          <p:nvSpPr>
            <p:cNvPr id="10" name="Oval 9">
              <a:extLst>
                <a:ext uri="{FF2B5EF4-FFF2-40B4-BE49-F238E27FC236}">
                  <a16:creationId xmlns:a16="http://schemas.microsoft.com/office/drawing/2014/main" id="{1E5DC868-7EB8-4F7D-7DAE-A2A8DBE0A208}"/>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12" name="Oval 4">
              <a:extLst>
                <a:ext uri="{FF2B5EF4-FFF2-40B4-BE49-F238E27FC236}">
                  <a16:creationId xmlns:a16="http://schemas.microsoft.com/office/drawing/2014/main" id="{DACB8AB4-1258-EA30-31A5-77EEA5A000F2}"/>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
        <p:nvSpPr>
          <p:cNvPr id="14" name="Title 1">
            <a:extLst>
              <a:ext uri="{FF2B5EF4-FFF2-40B4-BE49-F238E27FC236}">
                <a16:creationId xmlns:a16="http://schemas.microsoft.com/office/drawing/2014/main" id="{659AE26C-55EC-A139-FEFB-5E8B79ECFD3A}"/>
              </a:ext>
            </a:extLst>
          </p:cNvPr>
          <p:cNvSpPr txBox="1">
            <a:spLocks/>
          </p:cNvSpPr>
          <p:nvPr/>
        </p:nvSpPr>
        <p:spPr>
          <a:xfrm>
            <a:off x="-253388" y="85619"/>
            <a:ext cx="12153316" cy="1299685"/>
          </a:xfrm>
          <a:prstGeom prst="rect">
            <a:avLst/>
          </a:prstGeom>
        </p:spPr>
        <p:txBody>
          <a:bodyPr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a:t>Vocabulary Focus</a:t>
            </a:r>
          </a:p>
        </p:txBody>
      </p:sp>
      <p:sp>
        <p:nvSpPr>
          <p:cNvPr id="15" name="TextBox 14">
            <a:extLst>
              <a:ext uri="{FF2B5EF4-FFF2-40B4-BE49-F238E27FC236}">
                <a16:creationId xmlns:a16="http://schemas.microsoft.com/office/drawing/2014/main" id="{086FA3C6-53FE-7451-6D4F-7009D38010D4}"/>
              </a:ext>
            </a:extLst>
          </p:cNvPr>
          <p:cNvSpPr txBox="1"/>
          <p:nvPr/>
        </p:nvSpPr>
        <p:spPr>
          <a:xfrm>
            <a:off x="2442576" y="1217529"/>
            <a:ext cx="7503292" cy="646331"/>
          </a:xfrm>
          <a:prstGeom prst="rect">
            <a:avLst/>
          </a:prstGeom>
          <a:noFill/>
        </p:spPr>
        <p:txBody>
          <a:bodyPr wrap="square" rtlCol="0">
            <a:spAutoFit/>
          </a:bodyPr>
          <a:lstStyle/>
          <a:p>
            <a:r>
              <a:rPr lang="en-GB"/>
              <a:t>Are there any words you feel confident to explain the meaning of (definition)? Are there any where you are less confident?</a:t>
            </a:r>
          </a:p>
        </p:txBody>
      </p:sp>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9F75FCCA-8003-024B-2B29-0EDF6D801F3D}"/>
                  </a:ext>
                </a:extLst>
              </p14:cNvPr>
              <p14:cNvContentPartPr/>
              <p14:nvPr/>
            </p14:nvContentPartPr>
            <p14:xfrm>
              <a:off x="9034477" y="550400"/>
              <a:ext cx="360" cy="360"/>
            </p14:xfrm>
          </p:contentPart>
        </mc:Choice>
        <mc:Fallback xmlns="">
          <p:pic>
            <p:nvPicPr>
              <p:cNvPr id="3" name="Ink 2">
                <a:extLst>
                  <a:ext uri="{FF2B5EF4-FFF2-40B4-BE49-F238E27FC236}">
                    <a16:creationId xmlns:a16="http://schemas.microsoft.com/office/drawing/2014/main" id="{9F75FCCA-8003-024B-2B29-0EDF6D801F3D}"/>
                  </a:ext>
                </a:extLst>
              </p:cNvPr>
              <p:cNvPicPr/>
              <p:nvPr/>
            </p:nvPicPr>
            <p:blipFill>
              <a:blip r:embed="rId5"/>
              <a:stretch>
                <a:fillRect/>
              </a:stretch>
            </p:blipFill>
            <p:spPr>
              <a:xfrm>
                <a:off x="9025117" y="541040"/>
                <a:ext cx="19080" cy="19080"/>
              </a:xfrm>
              <a:prstGeom prst="rect">
                <a:avLst/>
              </a:prstGeom>
            </p:spPr>
          </p:pic>
        </mc:Fallback>
      </mc:AlternateContent>
      <p:graphicFrame>
        <p:nvGraphicFramePr>
          <p:cNvPr id="7" name="Table 6">
            <a:extLst>
              <a:ext uri="{FF2B5EF4-FFF2-40B4-BE49-F238E27FC236}">
                <a16:creationId xmlns:a16="http://schemas.microsoft.com/office/drawing/2014/main" id="{AD7A6C68-D614-2377-056B-781707D2F236}"/>
              </a:ext>
            </a:extLst>
          </p:cNvPr>
          <p:cNvGraphicFramePr>
            <a:graphicFrameLocks noGrp="1"/>
          </p:cNvGraphicFramePr>
          <p:nvPr/>
        </p:nvGraphicFramePr>
        <p:xfrm>
          <a:off x="647700" y="2173922"/>
          <a:ext cx="10663199" cy="3429000"/>
        </p:xfrm>
        <a:graphic>
          <a:graphicData uri="http://schemas.openxmlformats.org/drawingml/2006/table">
            <a:tbl>
              <a:tblPr>
                <a:tableStyleId>{5C22544A-7EE6-4342-B048-85BDC9FD1C3A}</a:tableStyleId>
              </a:tblPr>
              <a:tblGrid>
                <a:gridCol w="1638300">
                  <a:extLst>
                    <a:ext uri="{9D8B030D-6E8A-4147-A177-3AD203B41FA5}">
                      <a16:colId xmlns:a16="http://schemas.microsoft.com/office/drawing/2014/main" val="4160592141"/>
                    </a:ext>
                  </a:extLst>
                </a:gridCol>
                <a:gridCol w="9024899">
                  <a:extLst>
                    <a:ext uri="{9D8B030D-6E8A-4147-A177-3AD203B41FA5}">
                      <a16:colId xmlns:a16="http://schemas.microsoft.com/office/drawing/2014/main" val="3033414289"/>
                    </a:ext>
                  </a:extLst>
                </a:gridCol>
              </a:tblGrid>
              <a:tr h="685800">
                <a:tc>
                  <a:txBody>
                    <a:bodyPr/>
                    <a:lstStyle/>
                    <a:p>
                      <a:pPr algn="l" fontAlgn="b">
                        <a:buNone/>
                      </a:pPr>
                      <a:r>
                        <a:rPr lang="en-GB" sz="2000" b="0" i="0" u="none" strike="noStrike">
                          <a:solidFill>
                            <a:srgbClr val="000000"/>
                          </a:solidFill>
                          <a:effectLst/>
                          <a:latin typeface="Calibri" panose="020F0502020204030204" pitchFamily="34" charset="0"/>
                        </a:rPr>
                        <a:t>overwhelming</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so strong or large that it is very hard to deal with</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53441562"/>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looming</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appearing large and threatening, especially in a shadowy or unclear way</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24187290"/>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hesitating</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pausing before doing something because you are unsure</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47381064"/>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unfamiliar</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not known or recognised; something you have not experienced before</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10434475"/>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chaos</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a state of complete confusion and disorder</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21865700"/>
                  </a:ext>
                </a:extLst>
              </a:tr>
            </a:tbl>
          </a:graphicData>
        </a:graphic>
      </p:graphicFrame>
      <p:sp>
        <p:nvSpPr>
          <p:cNvPr id="16" name="Rectangle 15">
            <a:extLst>
              <a:ext uri="{FF2B5EF4-FFF2-40B4-BE49-F238E27FC236}">
                <a16:creationId xmlns:a16="http://schemas.microsoft.com/office/drawing/2014/main" id="{114E80EC-EDEA-A9B8-0AA7-BDF4DBA738D9}"/>
              </a:ext>
            </a:extLst>
          </p:cNvPr>
          <p:cNvSpPr/>
          <p:nvPr/>
        </p:nvSpPr>
        <p:spPr>
          <a:xfrm>
            <a:off x="2312410" y="21739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3" name="Rectangle 12">
            <a:extLst>
              <a:ext uri="{FF2B5EF4-FFF2-40B4-BE49-F238E27FC236}">
                <a16:creationId xmlns:a16="http://schemas.microsoft.com/office/drawing/2014/main" id="{2CF9C0CB-B38A-8B6C-0680-46BD300AE1DC}"/>
              </a:ext>
            </a:extLst>
          </p:cNvPr>
          <p:cNvSpPr/>
          <p:nvPr/>
        </p:nvSpPr>
        <p:spPr>
          <a:xfrm>
            <a:off x="2312410" y="28597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7" name="Rectangle 16">
            <a:extLst>
              <a:ext uri="{FF2B5EF4-FFF2-40B4-BE49-F238E27FC236}">
                <a16:creationId xmlns:a16="http://schemas.microsoft.com/office/drawing/2014/main" id="{4BF34747-0A22-7E80-CA39-94571BB7D672}"/>
              </a:ext>
            </a:extLst>
          </p:cNvPr>
          <p:cNvSpPr/>
          <p:nvPr/>
        </p:nvSpPr>
        <p:spPr>
          <a:xfrm>
            <a:off x="2312410" y="35455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8" name="Rectangle 17">
            <a:extLst>
              <a:ext uri="{FF2B5EF4-FFF2-40B4-BE49-F238E27FC236}">
                <a16:creationId xmlns:a16="http://schemas.microsoft.com/office/drawing/2014/main" id="{FB910803-A54A-5B45-8345-8FFD7AC1C67C}"/>
              </a:ext>
            </a:extLst>
          </p:cNvPr>
          <p:cNvSpPr/>
          <p:nvPr/>
        </p:nvSpPr>
        <p:spPr>
          <a:xfrm>
            <a:off x="2312410" y="42313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9" name="Rectangle 18">
            <a:extLst>
              <a:ext uri="{FF2B5EF4-FFF2-40B4-BE49-F238E27FC236}">
                <a16:creationId xmlns:a16="http://schemas.microsoft.com/office/drawing/2014/main" id="{DB05B3E1-CB09-5A78-B03C-31610DE59A67}"/>
              </a:ext>
            </a:extLst>
          </p:cNvPr>
          <p:cNvSpPr/>
          <p:nvPr/>
        </p:nvSpPr>
        <p:spPr>
          <a:xfrm>
            <a:off x="2312410" y="49171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Tree>
    <p:extLst>
      <p:ext uri="{BB962C8B-B14F-4D97-AF65-F5344CB8AC3E}">
        <p14:creationId xmlns:p14="http://schemas.microsoft.com/office/powerpoint/2010/main" val="3287233457"/>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6"/>
                    </p:tgtEl>
                  </p:cond>
                </p:stCondLst>
                <p:endSync evt="end" delay="0">
                  <p:rtn val="all"/>
                </p:endSync>
                <p:childTnLst>
                  <p:par>
                    <p:cTn id="3" fill="hold">
                      <p:stCondLst>
                        <p:cond delay="0"/>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hidden"/>
                                      </p:to>
                                    </p:set>
                                  </p:childTnLst>
                                </p:cTn>
                              </p:par>
                            </p:childTnLst>
                          </p:cTn>
                        </p:par>
                      </p:childTnLst>
                    </p:cTn>
                  </p:par>
                </p:childTnLst>
              </p:cTn>
              <p:nextCondLst>
                <p:cond evt="onClick" delay="0">
                  <p:tgtEl>
                    <p:spTgt spid="16"/>
                  </p:tgtEl>
                </p:cond>
              </p:nextCondLst>
            </p:seq>
            <p:seq concurrent="1" nextAc="seek">
              <p:cTn id="7" restart="whenNotActive" fill="hold" evtFilter="cancelBubble" nodeType="interactiveSeq">
                <p:stCondLst>
                  <p:cond evt="onClick" delay="0">
                    <p:tgtEl>
                      <p:spTgt spid="13"/>
                    </p:tgtEl>
                  </p:cond>
                </p:stCondLst>
                <p:endSync evt="end" delay="0">
                  <p:rtn val="all"/>
                </p:endSync>
                <p:childTnLst>
                  <p:par>
                    <p:cTn id="8" fill="hold">
                      <p:stCondLst>
                        <p:cond delay="0"/>
                      </p:stCondLst>
                      <p:childTnLst>
                        <p:par>
                          <p:cTn id="9" fill="hold">
                            <p:stCondLst>
                              <p:cond delay="0"/>
                            </p:stCondLst>
                            <p:childTnLst>
                              <p:par>
                                <p:cTn id="10" presetID="1" presetClass="exit" presetSubtype="0" fill="hold" grpId="0" nodeType="clickEffect">
                                  <p:stCondLst>
                                    <p:cond delay="0"/>
                                  </p:stCondLst>
                                  <p:childTnLst>
                                    <p:set>
                                      <p:cBhvr>
                                        <p:cTn id="11" dur="1" fill="hold">
                                          <p:stCondLst>
                                            <p:cond delay="0"/>
                                          </p:stCondLst>
                                        </p:cTn>
                                        <p:tgtEl>
                                          <p:spTgt spid="13"/>
                                        </p:tgtEl>
                                        <p:attrNameLst>
                                          <p:attrName>style.visibility</p:attrName>
                                        </p:attrNameLst>
                                      </p:cBhvr>
                                      <p:to>
                                        <p:strVal val="hidden"/>
                                      </p:to>
                                    </p:set>
                                  </p:childTnLst>
                                </p:cTn>
                              </p:par>
                            </p:childTnLst>
                          </p:cTn>
                        </p:par>
                      </p:childTnLst>
                    </p:cTn>
                  </p:par>
                </p:childTnLst>
              </p:cTn>
              <p:nextCondLst>
                <p:cond evt="onClick" delay="0">
                  <p:tgtEl>
                    <p:spTgt spid="13"/>
                  </p:tgtEl>
                </p:cond>
              </p:nextCondLst>
            </p:seq>
            <p:seq concurrent="1" nextAc="seek">
              <p:cTn id="12" restart="whenNotActive" fill="hold" evtFilter="cancelBubble" nodeType="interactiveSeq">
                <p:stCondLst>
                  <p:cond evt="onClick" delay="0">
                    <p:tgtEl>
                      <p:spTgt spid="17"/>
                    </p:tgtEl>
                  </p:cond>
                </p:stCondLst>
                <p:endSync evt="end" delay="0">
                  <p:rtn val="all"/>
                </p:endSync>
                <p:childTnLst>
                  <p:par>
                    <p:cTn id="13" fill="hold">
                      <p:stCondLst>
                        <p:cond delay="0"/>
                      </p:stCondLst>
                      <p:childTnLst>
                        <p:par>
                          <p:cTn id="14" fill="hold">
                            <p:stCondLst>
                              <p:cond delay="0"/>
                            </p:stCondLst>
                            <p:childTnLst>
                              <p:par>
                                <p:cTn id="15" presetID="1" presetClass="exit"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hidden"/>
                                      </p:to>
                                    </p:set>
                                  </p:childTnLst>
                                </p:cTn>
                              </p:par>
                            </p:childTnLst>
                          </p:cTn>
                        </p:par>
                      </p:childTnLst>
                    </p:cTn>
                  </p:par>
                </p:childTnLst>
              </p:cTn>
              <p:nextCondLst>
                <p:cond evt="onClick" delay="0">
                  <p:tgtEl>
                    <p:spTgt spid="17"/>
                  </p:tgtEl>
                </p:cond>
              </p:nextCondLst>
            </p:seq>
            <p:seq concurrent="1" nextAc="seek">
              <p:cTn id="17" restart="whenNotActive" fill="hold" evtFilter="cancelBubble" nodeType="interactiveSeq">
                <p:stCondLst>
                  <p:cond evt="onClick" delay="0">
                    <p:tgtEl>
                      <p:spTgt spid="18"/>
                    </p:tgtEl>
                  </p:cond>
                </p:stCondLst>
                <p:endSync evt="end" delay="0">
                  <p:rtn val="all"/>
                </p:endSync>
                <p:childTnLst>
                  <p:par>
                    <p:cTn id="18" fill="hold">
                      <p:stCondLst>
                        <p:cond delay="0"/>
                      </p:stCondLst>
                      <p:childTnLst>
                        <p:par>
                          <p:cTn id="19" fill="hold">
                            <p:stCondLst>
                              <p:cond delay="0"/>
                            </p:stCondLst>
                            <p:childTnLst>
                              <p:par>
                                <p:cTn id="20" presetID="1" presetClass="exit" presetSubtype="0" fill="hold" grpId="0" nodeType="clickEffect">
                                  <p:stCondLst>
                                    <p:cond delay="0"/>
                                  </p:stCondLst>
                                  <p:childTnLst>
                                    <p:set>
                                      <p:cBhvr>
                                        <p:cTn id="21" dur="1" fill="hold">
                                          <p:stCondLst>
                                            <p:cond delay="0"/>
                                          </p:stCondLst>
                                        </p:cTn>
                                        <p:tgtEl>
                                          <p:spTgt spid="18"/>
                                        </p:tgtEl>
                                        <p:attrNameLst>
                                          <p:attrName>style.visibility</p:attrName>
                                        </p:attrNameLst>
                                      </p:cBhvr>
                                      <p:to>
                                        <p:strVal val="hidden"/>
                                      </p:to>
                                    </p:set>
                                  </p:childTnLst>
                                </p:cTn>
                              </p:par>
                            </p:childTnLst>
                          </p:cTn>
                        </p:par>
                      </p:childTnLst>
                    </p:cTn>
                  </p:par>
                </p:childTnLst>
              </p:cTn>
              <p:nextCondLst>
                <p:cond evt="onClick" delay="0">
                  <p:tgtEl>
                    <p:spTgt spid="18"/>
                  </p:tgtEl>
                </p:cond>
              </p:nextCondLst>
            </p:seq>
            <p:seq concurrent="1" nextAc="seek">
              <p:cTn id="22" restart="whenNotActive" fill="hold" evtFilter="cancelBubble" nodeType="interactiveSeq">
                <p:stCondLst>
                  <p:cond evt="onClick" delay="0">
                    <p:tgtEl>
                      <p:spTgt spid="19"/>
                    </p:tgtEl>
                  </p:cond>
                </p:stCondLst>
                <p:endSync evt="end" delay="0">
                  <p:rtn val="all"/>
                </p:endSync>
                <p:childTnLst>
                  <p:par>
                    <p:cTn id="23" fill="hold">
                      <p:stCondLst>
                        <p:cond delay="0"/>
                      </p:stCondLst>
                      <p:childTnLst>
                        <p:par>
                          <p:cTn id="24" fill="hold">
                            <p:stCondLst>
                              <p:cond delay="0"/>
                            </p:stCondLst>
                            <p:childTnLst>
                              <p:par>
                                <p:cTn id="25" presetID="1" presetClass="exit" presetSubtype="0" fill="hold" grpId="0" nodeType="clickEffect">
                                  <p:stCondLst>
                                    <p:cond delay="0"/>
                                  </p:stCondLst>
                                  <p:childTnLst>
                                    <p:set>
                                      <p:cBhvr>
                                        <p:cTn id="26" dur="1" fill="hold">
                                          <p:stCondLst>
                                            <p:cond delay="0"/>
                                          </p:stCondLst>
                                        </p:cTn>
                                        <p:tgtEl>
                                          <p:spTgt spid="19"/>
                                        </p:tgtEl>
                                        <p:attrNameLst>
                                          <p:attrName>style.visibility</p:attrName>
                                        </p:attrNameLst>
                                      </p:cBhvr>
                                      <p:to>
                                        <p:strVal val="hidden"/>
                                      </p:to>
                                    </p:set>
                                  </p:childTnLst>
                                </p:cTn>
                              </p:par>
                            </p:childTnLst>
                          </p:cTn>
                        </p:par>
                      </p:childTnLst>
                    </p:cTn>
                  </p:par>
                </p:childTnLst>
              </p:cTn>
              <p:nextCondLst>
                <p:cond evt="onClick" delay="0">
                  <p:tgtEl>
                    <p:spTgt spid="19"/>
                  </p:tgtEl>
                </p:cond>
              </p:nextCondLst>
            </p:seq>
          </p:childTnLst>
        </p:cTn>
      </p:par>
    </p:tnLst>
    <p:bldLst>
      <p:bldP spid="16" grpId="0" animBg="1"/>
      <p:bldP spid="13" grpId="0" animBg="1"/>
      <p:bldP spid="17" grpId="0" animBg="1"/>
      <p:bldP spid="18" grpId="0" animBg="1"/>
      <p:bldP spid="1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2C497C-5676-F0CE-9C15-81908FA1F34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7DCBDDC3-E8B4-5DB7-95EB-E4EB767438DF}"/>
              </a:ext>
            </a:extLst>
          </p:cNvPr>
          <p:cNvGrpSpPr/>
          <p:nvPr/>
        </p:nvGrpSpPr>
        <p:grpSpPr>
          <a:xfrm>
            <a:off x="38684" y="68473"/>
            <a:ext cx="1316831" cy="1316831"/>
            <a:chOff x="5180554" y="1026138"/>
            <a:chExt cx="1316831" cy="1316831"/>
          </a:xfrm>
        </p:grpSpPr>
        <p:sp>
          <p:nvSpPr>
            <p:cNvPr id="4" name="Oval 3">
              <a:extLst>
                <a:ext uri="{FF2B5EF4-FFF2-40B4-BE49-F238E27FC236}">
                  <a16:creationId xmlns:a16="http://schemas.microsoft.com/office/drawing/2014/main" id="{4D7EC211-6C19-B85F-7D0D-25A8FEEA3637}"/>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6" name="Oval 4">
              <a:extLst>
                <a:ext uri="{FF2B5EF4-FFF2-40B4-BE49-F238E27FC236}">
                  <a16:creationId xmlns:a16="http://schemas.microsoft.com/office/drawing/2014/main" id="{6358CBDE-7D41-F226-3072-41F208B4D98A}"/>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
        <p:nvSpPr>
          <p:cNvPr id="13" name="Title 1">
            <a:extLst>
              <a:ext uri="{FF2B5EF4-FFF2-40B4-BE49-F238E27FC236}">
                <a16:creationId xmlns:a16="http://schemas.microsoft.com/office/drawing/2014/main" id="{9CDE4E57-6664-84F7-C8E9-8F4381A4D091}"/>
              </a:ext>
            </a:extLst>
          </p:cNvPr>
          <p:cNvSpPr txBox="1">
            <a:spLocks/>
          </p:cNvSpPr>
          <p:nvPr/>
        </p:nvSpPr>
        <p:spPr>
          <a:xfrm>
            <a:off x="2535882" y="918780"/>
            <a:ext cx="5559247"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endParaRPr lang="en-GB" sz="2800"/>
          </a:p>
        </p:txBody>
      </p:sp>
      <p:sp>
        <p:nvSpPr>
          <p:cNvPr id="3" name="Title 1">
            <a:extLst>
              <a:ext uri="{FF2B5EF4-FFF2-40B4-BE49-F238E27FC236}">
                <a16:creationId xmlns:a16="http://schemas.microsoft.com/office/drawing/2014/main" id="{3B86A135-C8BF-2285-F3AA-0B4C5706CE90}"/>
              </a:ext>
            </a:extLst>
          </p:cNvPr>
          <p:cNvSpPr txBox="1">
            <a:spLocks/>
          </p:cNvSpPr>
          <p:nvPr/>
        </p:nvSpPr>
        <p:spPr>
          <a:xfrm>
            <a:off x="0" y="85619"/>
            <a:ext cx="12192000" cy="1498214"/>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50000"/>
              </a:lnSpc>
            </a:pPr>
            <a:r>
              <a:rPr lang="en-GB" sz="4000"/>
              <a:t>Vocabulary Focus</a:t>
            </a:r>
          </a:p>
        </p:txBody>
      </p:sp>
      <p:sp>
        <p:nvSpPr>
          <p:cNvPr id="7" name="Title 1">
            <a:extLst>
              <a:ext uri="{FF2B5EF4-FFF2-40B4-BE49-F238E27FC236}">
                <a16:creationId xmlns:a16="http://schemas.microsoft.com/office/drawing/2014/main" id="{07FF75F1-41FF-EEA3-B802-ED64112A7D02}"/>
              </a:ext>
            </a:extLst>
          </p:cNvPr>
          <p:cNvSpPr txBox="1">
            <a:spLocks/>
          </p:cNvSpPr>
          <p:nvPr/>
        </p:nvSpPr>
        <p:spPr>
          <a:xfrm>
            <a:off x="5590032" y="604264"/>
            <a:ext cx="1873406" cy="97956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GB" sz="4000" b="1"/>
          </a:p>
        </p:txBody>
      </p:sp>
      <p:graphicFrame>
        <p:nvGraphicFramePr>
          <p:cNvPr id="9" name="Table 8">
            <a:extLst>
              <a:ext uri="{FF2B5EF4-FFF2-40B4-BE49-F238E27FC236}">
                <a16:creationId xmlns:a16="http://schemas.microsoft.com/office/drawing/2014/main" id="{98F68A2F-1F77-2878-BCF5-883045F28026}"/>
              </a:ext>
            </a:extLst>
          </p:cNvPr>
          <p:cNvGraphicFramePr>
            <a:graphicFrameLocks noGrp="1"/>
          </p:cNvGraphicFramePr>
          <p:nvPr/>
        </p:nvGraphicFramePr>
        <p:xfrm>
          <a:off x="2032000" y="1727002"/>
          <a:ext cx="8128000" cy="4922852"/>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811326830"/>
                    </a:ext>
                  </a:extLst>
                </a:gridCol>
                <a:gridCol w="4064000">
                  <a:extLst>
                    <a:ext uri="{9D8B030D-6E8A-4147-A177-3AD203B41FA5}">
                      <a16:colId xmlns:a16="http://schemas.microsoft.com/office/drawing/2014/main" val="773647625"/>
                    </a:ext>
                  </a:extLst>
                </a:gridCol>
              </a:tblGrid>
              <a:tr h="2461426">
                <a:tc>
                  <a:txBody>
                    <a:bodyPr/>
                    <a:lstStyle/>
                    <a:p>
                      <a:r>
                        <a:rPr lang="en-GB" b="0">
                          <a:solidFill>
                            <a:schemeClr val="tx1"/>
                          </a:solidFill>
                        </a:rPr>
                        <a:t>Write it 5 times</a:t>
                      </a:r>
                    </a:p>
                    <a:p>
                      <a:endParaRPr lang="en-GB" b="0">
                        <a:solidFill>
                          <a:schemeClr val="tx1"/>
                        </a:solidFill>
                      </a:endParaRPr>
                    </a:p>
                    <a:p>
                      <a:pPr algn="ctr"/>
                      <a:r>
                        <a:rPr lang="en-GB" sz="3200" b="0">
                          <a:solidFill>
                            <a:schemeClr val="tx1"/>
                          </a:solidFill>
                          <a:latin typeface="XCCW Joined 4a" panose="03050602040000000000" pitchFamily="66" charset="77"/>
                        </a:rPr>
                        <a:t>unfamiliar</a:t>
                      </a:r>
                    </a:p>
                    <a:p>
                      <a:endParaRPr lang="en-GB" b="0">
                        <a:solidFill>
                          <a:schemeClr val="tx1"/>
                        </a:solidFill>
                        <a:latin typeface="XCCW Joined 4a" panose="03050602040000000000" pitchFamily="66" charset="77"/>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400">
                          <a:solidFill>
                            <a:schemeClr val="tx1"/>
                          </a:solidFill>
                        </a:rPr>
                        <a:t>Use it in a sentence</a:t>
                      </a:r>
                    </a:p>
                    <a:p>
                      <a:endParaRPr lang="en-GB" sz="2400" b="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64313380"/>
                  </a:ext>
                </a:extLst>
              </a:tr>
              <a:tr h="2461426">
                <a:tc gridSpan="2">
                  <a:txBody>
                    <a:bodyPr/>
                    <a:lstStyle/>
                    <a:p>
                      <a:r>
                        <a:rPr lang="en-GB">
                          <a:solidFill>
                            <a:schemeClr val="tx1"/>
                          </a:solidFill>
                        </a:rPr>
                        <a:t>Other linked words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3729397"/>
                  </a:ext>
                </a:extLst>
              </a:tr>
            </a:tbl>
          </a:graphicData>
        </a:graphic>
      </p:graphicFrame>
      <p:pic>
        <p:nvPicPr>
          <p:cNvPr id="8" name="Picture 7">
            <a:extLst>
              <a:ext uri="{FF2B5EF4-FFF2-40B4-BE49-F238E27FC236}">
                <a16:creationId xmlns:a16="http://schemas.microsoft.com/office/drawing/2014/main" id="{755B9240-8989-B9DB-0B3B-B8D062E07BCE}"/>
              </a:ext>
            </a:extLst>
          </p:cNvPr>
          <p:cNvPicPr>
            <a:picLocks noChangeAspect="1"/>
          </p:cNvPicPr>
          <p:nvPr/>
        </p:nvPicPr>
        <p:blipFill>
          <a:blip r:embed="rId3"/>
          <a:stretch>
            <a:fillRect/>
          </a:stretch>
        </p:blipFill>
        <p:spPr>
          <a:xfrm>
            <a:off x="10424916" y="134700"/>
            <a:ext cx="1616752" cy="697982"/>
          </a:xfrm>
          <a:prstGeom prst="rect">
            <a:avLst/>
          </a:prstGeom>
        </p:spPr>
      </p:pic>
      <p:sp>
        <p:nvSpPr>
          <p:cNvPr id="5" name="TextBox 4">
            <a:extLst>
              <a:ext uri="{FF2B5EF4-FFF2-40B4-BE49-F238E27FC236}">
                <a16:creationId xmlns:a16="http://schemas.microsoft.com/office/drawing/2014/main" id="{7904627B-45D6-BE36-7042-C69B53AD1828}"/>
              </a:ext>
            </a:extLst>
          </p:cNvPr>
          <p:cNvSpPr txBox="1"/>
          <p:nvPr/>
        </p:nvSpPr>
        <p:spPr>
          <a:xfrm>
            <a:off x="4766154" y="5299847"/>
            <a:ext cx="2400000" cy="480000"/>
          </a:xfrm>
          <a:prstGeom prst="rect">
            <a:avLst/>
          </a:prstGeom>
          <a:noFill/>
        </p:spPr>
        <p:txBody>
          <a:bodyPr wrap="square" rtlCol="0" anchor="ctr"/>
          <a:lstStyle/>
          <a:p>
            <a:pPr algn="ctr"/>
            <a:r>
              <a:rPr lang="en-GB"/>
              <a:t>unfamiliar</a:t>
            </a:r>
          </a:p>
        </p:txBody>
      </p:sp>
      <p:cxnSp>
        <p:nvCxnSpPr>
          <p:cNvPr id="12" name="Straight Connector 11">
            <a:extLst>
              <a:ext uri="{FF2B5EF4-FFF2-40B4-BE49-F238E27FC236}">
                <a16:creationId xmlns:a16="http://schemas.microsoft.com/office/drawing/2014/main" id="{483F9876-11CA-68D4-B5B9-503CB1452DDF}"/>
              </a:ext>
            </a:extLst>
          </p:cNvPr>
          <p:cNvCxnSpPr/>
          <p:nvPr/>
        </p:nvCxnSpPr>
        <p:spPr>
          <a:xfrm flipV="1">
            <a:off x="6391527" y="4613658"/>
            <a:ext cx="807506" cy="782198"/>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167DD069-433E-BF48-9167-8E5BCC114624}"/>
              </a:ext>
            </a:extLst>
          </p:cNvPr>
          <p:cNvCxnSpPr>
            <a:cxnSpLocks/>
          </p:cNvCxnSpPr>
          <p:nvPr/>
        </p:nvCxnSpPr>
        <p:spPr>
          <a:xfrm>
            <a:off x="6532910" y="5656722"/>
            <a:ext cx="930528" cy="2169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D37026A-B5E7-A43B-7015-F91BED67059F}"/>
              </a:ext>
            </a:extLst>
          </p:cNvPr>
          <p:cNvCxnSpPr>
            <a:cxnSpLocks/>
          </p:cNvCxnSpPr>
          <p:nvPr/>
        </p:nvCxnSpPr>
        <p:spPr>
          <a:xfrm flipV="1">
            <a:off x="4786339" y="5656722"/>
            <a:ext cx="791952" cy="565398"/>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47576966-8817-48AF-F837-0832462F5E46}"/>
              </a:ext>
            </a:extLst>
          </p:cNvPr>
          <p:cNvCxnSpPr>
            <a:cxnSpLocks/>
          </p:cNvCxnSpPr>
          <p:nvPr/>
        </p:nvCxnSpPr>
        <p:spPr>
          <a:xfrm>
            <a:off x="4688753" y="5010683"/>
            <a:ext cx="852027" cy="382970"/>
          </a:xfrm>
          <a:prstGeom prst="line">
            <a:avLst/>
          </a:prstGeom>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6EE6038E-2E20-39E1-51AA-382FB77B2D40}"/>
              </a:ext>
            </a:extLst>
          </p:cNvPr>
          <p:cNvPicPr>
            <a:picLocks noChangeAspect="1"/>
          </p:cNvPicPr>
          <p:nvPr/>
        </p:nvPicPr>
        <p:blipFill>
          <a:blip r:embed="rId4"/>
          <a:stretch>
            <a:fillRect/>
          </a:stretch>
        </p:blipFill>
        <p:spPr>
          <a:xfrm>
            <a:off x="6502757" y="2982841"/>
            <a:ext cx="3184743" cy="794571"/>
          </a:xfrm>
          <a:prstGeom prst="rect">
            <a:avLst/>
          </a:prstGeom>
          <a:solidFill>
            <a:schemeClr val="bg1"/>
          </a:solidFill>
        </p:spPr>
      </p:pic>
    </p:spTree>
    <p:extLst>
      <p:ext uri="{BB962C8B-B14F-4D97-AF65-F5344CB8AC3E}">
        <p14:creationId xmlns:p14="http://schemas.microsoft.com/office/powerpoint/2010/main" val="39342315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7C8F1879-9C69-AABD-5D27-70A3FD61C54F}"/>
              </a:ext>
            </a:extLst>
          </p:cNvPr>
          <p:cNvGrpSpPr/>
          <p:nvPr/>
        </p:nvGrpSpPr>
        <p:grpSpPr>
          <a:xfrm>
            <a:off x="43957" y="90546"/>
            <a:ext cx="963274" cy="909579"/>
            <a:chOff x="1630613" y="1026138"/>
            <a:chExt cx="1316831" cy="1316831"/>
          </a:xfrm>
        </p:grpSpPr>
        <p:sp>
          <p:nvSpPr>
            <p:cNvPr id="4" name="Oval 3">
              <a:extLst>
                <a:ext uri="{FF2B5EF4-FFF2-40B4-BE49-F238E27FC236}">
                  <a16:creationId xmlns:a16="http://schemas.microsoft.com/office/drawing/2014/main" id="{C5A04DD0-FF30-895F-0ED9-888B47B1A02D}"/>
                </a:ext>
              </a:extLst>
            </p:cNvPr>
            <p:cNvSpPr/>
            <p:nvPr/>
          </p:nvSpPr>
          <p:spPr>
            <a:xfrm>
              <a:off x="1630613" y="1026138"/>
              <a:ext cx="1316831" cy="1316831"/>
            </a:xfrm>
            <a:prstGeom prst="ellipse">
              <a:avLst/>
            </a:prstGeom>
            <a:solidFill>
              <a:srgbClr val="A2CFFC"/>
            </a:solidFill>
            <a:ln w="38100">
              <a:solidFill>
                <a:srgbClr val="0762BA"/>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5" name="Oval 4">
              <a:extLst>
                <a:ext uri="{FF2B5EF4-FFF2-40B4-BE49-F238E27FC236}">
                  <a16:creationId xmlns:a16="http://schemas.microsoft.com/office/drawing/2014/main" id="{8EBD88F1-D64A-0A71-7434-4A250ABBD4E6}"/>
                </a:ext>
              </a:extLst>
            </p:cNvPr>
            <p:cNvSpPr txBox="1"/>
            <p:nvPr/>
          </p:nvSpPr>
          <p:spPr>
            <a:xfrm>
              <a:off x="1823458"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rmAutofit/>
            </a:bodyPr>
            <a:lstStyle/>
            <a:p>
              <a:pPr marL="0" lvl="0" indent="0" algn="ctr" defTabSz="577850">
                <a:lnSpc>
                  <a:spcPct val="90000"/>
                </a:lnSpc>
                <a:spcBef>
                  <a:spcPct val="0"/>
                </a:spcBef>
                <a:spcAft>
                  <a:spcPct val="35000"/>
                </a:spcAft>
                <a:buNone/>
              </a:pPr>
              <a:r>
                <a:rPr lang="en-GB" sz="1300" b="1" kern="1200">
                  <a:solidFill>
                    <a:srgbClr val="0762BA"/>
                  </a:solidFill>
                  <a:latin typeface="Sassoon Infant Rg" panose="02000503030000020003" pitchFamily="2" charset="0"/>
                  <a:ea typeface="Sassoon Infant Rg" panose="02000503030000020003" pitchFamily="2" charset="0"/>
                </a:rPr>
                <a:t>Decoding &amp; phonics</a:t>
              </a:r>
            </a:p>
          </p:txBody>
        </p:sp>
      </p:grpSp>
      <p:pic>
        <p:nvPicPr>
          <p:cNvPr id="11" name="Picture 10">
            <a:extLst>
              <a:ext uri="{FF2B5EF4-FFF2-40B4-BE49-F238E27FC236}">
                <a16:creationId xmlns:a16="http://schemas.microsoft.com/office/drawing/2014/main" id="{5B88EF2C-3893-9BD5-87F9-6BF0F699F9A5}"/>
              </a:ext>
            </a:extLst>
          </p:cNvPr>
          <p:cNvPicPr/>
          <p:nvPr/>
        </p:nvPicPr>
        <p:blipFill>
          <a:blip r:embed="rId3">
            <a:extLst>
              <a:ext uri="{28A0092B-C50C-407E-A947-70E740481C1C}">
                <a14:useLocalDpi xmlns:a14="http://schemas.microsoft.com/office/drawing/2010/main" val="0"/>
              </a:ext>
            </a:extLst>
          </a:blip>
          <a:stretch>
            <a:fillRect/>
          </a:stretch>
        </p:blipFill>
        <p:spPr>
          <a:xfrm>
            <a:off x="10539555" y="90546"/>
            <a:ext cx="1691129" cy="711848"/>
          </a:xfrm>
          <a:prstGeom prst="rect">
            <a:avLst/>
          </a:prstGeom>
        </p:spPr>
      </p:pic>
      <p:sp>
        <p:nvSpPr>
          <p:cNvPr id="12" name="Title 1">
            <a:extLst>
              <a:ext uri="{FF2B5EF4-FFF2-40B4-BE49-F238E27FC236}">
                <a16:creationId xmlns:a16="http://schemas.microsoft.com/office/drawing/2014/main" id="{D07968F0-1915-728F-1F6D-2CB9277677F6}"/>
              </a:ext>
            </a:extLst>
          </p:cNvPr>
          <p:cNvSpPr txBox="1">
            <a:spLocks/>
          </p:cNvSpPr>
          <p:nvPr/>
        </p:nvSpPr>
        <p:spPr>
          <a:xfrm>
            <a:off x="38684" y="-18063"/>
            <a:ext cx="12153316" cy="1299685"/>
          </a:xfrm>
          <a:prstGeom prst="rect">
            <a:avLst/>
          </a:prstGeom>
        </p:spPr>
        <p:txBody>
          <a:bodyPr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a:t>Independent Read</a:t>
            </a:r>
          </a:p>
        </p:txBody>
      </p:sp>
      <p:sp>
        <p:nvSpPr>
          <p:cNvPr id="22" name="TextBox 21">
            <a:extLst>
              <a:ext uri="{FF2B5EF4-FFF2-40B4-BE49-F238E27FC236}">
                <a16:creationId xmlns:a16="http://schemas.microsoft.com/office/drawing/2014/main" id="{BBE494B4-E4A1-C48A-15E2-3683EA0AD086}"/>
              </a:ext>
            </a:extLst>
          </p:cNvPr>
          <p:cNvSpPr txBox="1"/>
          <p:nvPr/>
        </p:nvSpPr>
        <p:spPr>
          <a:xfrm>
            <a:off x="1" y="931322"/>
            <a:ext cx="12191999" cy="830997"/>
          </a:xfrm>
          <a:prstGeom prst="rect">
            <a:avLst/>
          </a:prstGeom>
          <a:noFill/>
        </p:spPr>
        <p:txBody>
          <a:bodyPr wrap="square">
            <a:spAutoFit/>
          </a:bodyPr>
          <a:lstStyle/>
          <a:p>
            <a:pPr algn="ctr"/>
            <a:r>
              <a:rPr lang="en-GB" sz="1800" dirty="0">
                <a:effectLst/>
                <a:latin typeface="Sassoon Infant Rg" panose="02000503030000020003" pitchFamily="2" charset="0"/>
                <a:ea typeface="Sassoon Infant Rg" panose="02000503030000020003" pitchFamily="2" charset="0"/>
                <a:cs typeface="Times New Roman" panose="02020603050405020304" pitchFamily="18" charset="0"/>
              </a:rPr>
              <a:t xml:space="preserve">Read the complete text – underline any words or phrases you don’t understand.  Re-read full sentences for any parts you couldn’t read smoothly on the first attempt. </a:t>
            </a:r>
            <a:endParaRPr lang="en-GB" b="1" dirty="0"/>
          </a:p>
        </p:txBody>
      </p:sp>
      <p:sp>
        <p:nvSpPr>
          <p:cNvPr id="6" name="TextBox 5">
            <a:extLst>
              <a:ext uri="{FF2B5EF4-FFF2-40B4-BE49-F238E27FC236}">
                <a16:creationId xmlns:a16="http://schemas.microsoft.com/office/drawing/2014/main" id="{38C25E62-7AE0-A783-1D87-77105CAB659E}"/>
              </a:ext>
            </a:extLst>
          </p:cNvPr>
          <p:cNvSpPr txBox="1"/>
          <p:nvPr/>
        </p:nvSpPr>
        <p:spPr>
          <a:xfrm>
            <a:off x="2226896" y="3673314"/>
            <a:ext cx="7629665" cy="2308324"/>
          </a:xfrm>
          <a:prstGeom prst="rect">
            <a:avLst/>
          </a:prstGeom>
          <a:noFill/>
        </p:spPr>
        <p:txBody>
          <a:bodyPr wrap="square" rtlCol="0">
            <a:spAutoFit/>
          </a:bodyPr>
          <a:lstStyle/>
          <a:p>
            <a:endParaRPr lang="en-GB"/>
          </a:p>
          <a:p>
            <a:pPr marL="342900" indent="-342900">
              <a:buFont typeface="+mj-lt"/>
              <a:buAutoNum type="arabicPeriod"/>
            </a:pPr>
            <a:r>
              <a:rPr lang="en-GB"/>
              <a:t>Read by segmenting into phonemes and syllables</a:t>
            </a:r>
          </a:p>
          <a:p>
            <a:pPr marL="342900" indent="-342900">
              <a:buFont typeface="+mj-lt"/>
              <a:buAutoNum type="arabicPeriod"/>
            </a:pPr>
            <a:r>
              <a:rPr lang="en-GB"/>
              <a:t>Make a sensible attempt, making sure you blend ALL the sounds as you read.</a:t>
            </a:r>
          </a:p>
          <a:p>
            <a:pPr marL="342900" indent="-342900">
              <a:buFont typeface="+mj-lt"/>
              <a:buAutoNum type="arabicPeriod"/>
            </a:pPr>
            <a:r>
              <a:rPr lang="en-GB"/>
              <a:t>Use the context and parts of the word to make a sensible attempt at a definition.</a:t>
            </a:r>
          </a:p>
          <a:p>
            <a:pPr marL="342900" indent="-342900">
              <a:buFont typeface="+mj-lt"/>
              <a:buAutoNum type="arabicPeriod"/>
            </a:pPr>
            <a:endParaRPr lang="en-GB"/>
          </a:p>
          <a:p>
            <a:r>
              <a:rPr lang="en-GB"/>
              <a:t>Remember to re-read the entire sentence again.</a:t>
            </a:r>
          </a:p>
        </p:txBody>
      </p:sp>
      <p:pic>
        <p:nvPicPr>
          <p:cNvPr id="2" name="Picture 1">
            <a:extLst>
              <a:ext uri="{FF2B5EF4-FFF2-40B4-BE49-F238E27FC236}">
                <a16:creationId xmlns:a16="http://schemas.microsoft.com/office/drawing/2014/main" id="{4A238304-94B7-D6B3-84C9-8D8F6CDD2BB4}"/>
              </a:ext>
            </a:extLst>
          </p:cNvPr>
          <p:cNvPicPr>
            <a:picLocks noChangeAspect="1"/>
          </p:cNvPicPr>
          <p:nvPr/>
        </p:nvPicPr>
        <p:blipFill>
          <a:blip r:embed="rId4"/>
          <a:stretch>
            <a:fillRect/>
          </a:stretch>
        </p:blipFill>
        <p:spPr>
          <a:xfrm>
            <a:off x="866163" y="2097530"/>
            <a:ext cx="10351133" cy="1434810"/>
          </a:xfrm>
          <a:prstGeom prst="rect">
            <a:avLst/>
          </a:prstGeom>
        </p:spPr>
      </p:pic>
      <p:sp>
        <p:nvSpPr>
          <p:cNvPr id="13" name="TextBox 12">
            <a:extLst>
              <a:ext uri="{FF2B5EF4-FFF2-40B4-BE49-F238E27FC236}">
                <a16:creationId xmlns:a16="http://schemas.microsoft.com/office/drawing/2014/main" id="{A473D780-1F99-6094-42B5-9820D9017C99}"/>
              </a:ext>
            </a:extLst>
          </p:cNvPr>
          <p:cNvSpPr txBox="1"/>
          <p:nvPr/>
        </p:nvSpPr>
        <p:spPr>
          <a:xfrm>
            <a:off x="-2406316" y="1524000"/>
            <a:ext cx="184731" cy="369332"/>
          </a:xfrm>
          <a:prstGeom prst="rect">
            <a:avLst/>
          </a:prstGeom>
          <a:noFill/>
        </p:spPr>
        <p:txBody>
          <a:bodyPr wrap="none" rtlCol="0">
            <a:spAutoFit/>
          </a:bodyPr>
          <a:lstStyle/>
          <a:p>
            <a:endParaRPr lang="en-GB"/>
          </a:p>
        </p:txBody>
      </p:sp>
      <p:sp>
        <p:nvSpPr>
          <p:cNvPr id="15" name="TextBox 14">
            <a:extLst>
              <a:ext uri="{FF2B5EF4-FFF2-40B4-BE49-F238E27FC236}">
                <a16:creationId xmlns:a16="http://schemas.microsoft.com/office/drawing/2014/main" id="{E15A5C10-306D-554F-EAA6-B73E5AF3D6C7}"/>
              </a:ext>
            </a:extLst>
          </p:cNvPr>
          <p:cNvSpPr txBox="1"/>
          <p:nvPr/>
        </p:nvSpPr>
        <p:spPr>
          <a:xfrm>
            <a:off x="209488" y="1865629"/>
            <a:ext cx="11861201" cy="3985274"/>
          </a:xfrm>
          <a:prstGeom prst="rect">
            <a:avLst/>
          </a:prstGeom>
          <a:solidFill>
            <a:schemeClr val="accent5">
              <a:lumMod val="20000"/>
              <a:lumOff val="80000"/>
            </a:schemeClr>
          </a:solidFill>
        </p:spPr>
        <p:txBody>
          <a:bodyPr wrap="square" anchor="ctr">
            <a:noAutofit/>
          </a:bodyPr>
          <a:lstStyle/>
          <a:p>
            <a:r>
              <a:rPr lang="en-US" sz="2200" dirty="0"/>
              <a:t>Nothing had prepared Varjak for the city. As he picked his way along the edge of the pavement, everything around him seemed to shift and shout at once — the overwhelming noise of engines, voices, horns, and the constant rush of feet slamming against the ground. Buildings loomed over him on all sides, enormous and grey, their windows like blank and unseeing eyes staring down at him without interest. The smells were unlike anything he had ever known: petrol and fried food and damp concrete and something metallic that caught at the back of his throat and made him want to cough. He kept hesitating at the edge of roads, watching the cars surge past in a terrifying stream of metal and light, unsure how any creature could cross without being destroyed. Everything was unfamiliar — the sounds, the smells, even the quality of the light felt different here, thinner somehow, dirtier. Back on the mountain, he had always known exactly where he was; the land had felt like a part of him. Here, he was a stranger to every surface and every shadow. The chaos pressed in around him from all sides, and more than once he had to remind himself why he had come — to find help for his family, to do what no Mesopotamian Blue had ever done before. He took a shaky breath, pressed himself flat against a wall, and made himself keep going.</a:t>
            </a:r>
          </a:p>
        </p:txBody>
      </p:sp>
      <p:sp>
        <p:nvSpPr>
          <p:cNvPr id="10" name="Rounded Rectangle 9">
            <a:extLst>
              <a:ext uri="{FF2B5EF4-FFF2-40B4-BE49-F238E27FC236}">
                <a16:creationId xmlns:a16="http://schemas.microsoft.com/office/drawing/2014/main" id="{911D3733-5EF2-7482-D164-B776AE41E9CC}"/>
              </a:ext>
            </a:extLst>
          </p:cNvPr>
          <p:cNvSpPr/>
          <p:nvPr/>
        </p:nvSpPr>
        <p:spPr>
          <a:xfrm>
            <a:off x="8019658" y="6325456"/>
            <a:ext cx="4026568" cy="43134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Show / Hide Extract</a:t>
            </a:r>
          </a:p>
        </p:txBody>
      </p:sp>
    </p:spTree>
    <p:extLst>
      <p:ext uri="{BB962C8B-B14F-4D97-AF65-F5344CB8AC3E}">
        <p14:creationId xmlns:p14="http://schemas.microsoft.com/office/powerpoint/2010/main" val="1979448493"/>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0"/>
                    </p:tgtEl>
                  </p:cond>
                </p:stCondLst>
                <p:endSync evt="end" delay="0">
                  <p:rtn val="all"/>
                </p:endSync>
                <p:childTnLst>
                  <p:par>
                    <p:cTn id="3" fill="hold">
                      <p:stCondLst>
                        <p:cond delay="0"/>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15"/>
                                        </p:tgtEl>
                                        <p:attrNameLst>
                                          <p:attrName>style.visibility</p:attrName>
                                        </p:attrNameLst>
                                      </p:cBhvr>
                                      <p:to>
                                        <p:strVal val="hidden"/>
                                      </p:to>
                                    </p:set>
                                  </p:childTnLst>
                                </p:cTn>
                              </p:par>
                            </p:childTnLst>
                          </p:cTn>
                        </p:par>
                      </p:childTnLst>
                    </p:cTn>
                  </p:par>
                </p:childTnLst>
              </p:cTn>
              <p:nextCondLst>
                <p:cond evt="onClick" delay="0">
                  <p:tgtEl>
                    <p:spTgt spid="10"/>
                  </p:tgtEl>
                </p:cond>
              </p:nextCondLst>
            </p:seq>
          </p:childTnLst>
        </p:cTn>
      </p:par>
    </p:tnLst>
    <p:bldLst>
      <p:bldP spid="15" grpId="0" animBg="1"/>
      <p:bldP spid="15"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215917-BDE9-A483-7A0D-AC15BA636611}"/>
            </a:ext>
          </a:extLst>
        </p:cNvPr>
        <p:cNvGrpSpPr/>
        <p:nvPr/>
      </p:nvGrpSpPr>
      <p:grpSpPr>
        <a:xfrm>
          <a:off x="0" y="0"/>
          <a:ext cx="0" cy="0"/>
          <a:chOff x="0" y="0"/>
          <a:chExt cx="0" cy="0"/>
        </a:xfrm>
      </p:grpSpPr>
      <p:sp>
        <p:nvSpPr>
          <p:cNvPr id="6" name="Freeform: Shape 5">
            <a:extLst>
              <a:ext uri="{FF2B5EF4-FFF2-40B4-BE49-F238E27FC236}">
                <a16:creationId xmlns:a16="http://schemas.microsoft.com/office/drawing/2014/main" id="{3E3AA9AF-9E3C-B821-0C95-D4AA63DFFCBB}"/>
              </a:ext>
            </a:extLst>
          </p:cNvPr>
          <p:cNvSpPr/>
          <p:nvPr/>
        </p:nvSpPr>
        <p:spPr>
          <a:xfrm>
            <a:off x="2609369" y="1646785"/>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7" name="Oval 6">
            <a:extLst>
              <a:ext uri="{FF2B5EF4-FFF2-40B4-BE49-F238E27FC236}">
                <a16:creationId xmlns:a16="http://schemas.microsoft.com/office/drawing/2014/main" id="{BC8D8944-1BCF-D4B0-7DAF-EF76646CCF50}"/>
              </a:ext>
            </a:extLst>
          </p:cNvPr>
          <p:cNvSpPr/>
          <p:nvPr/>
        </p:nvSpPr>
        <p:spPr>
          <a:xfrm>
            <a:off x="2057663" y="2106659"/>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grpSp>
        <p:nvGrpSpPr>
          <p:cNvPr id="8" name="Group 7">
            <a:extLst>
              <a:ext uri="{FF2B5EF4-FFF2-40B4-BE49-F238E27FC236}">
                <a16:creationId xmlns:a16="http://schemas.microsoft.com/office/drawing/2014/main" id="{6EE8B722-85CC-7111-AF8B-97EEBEE9A272}"/>
              </a:ext>
            </a:extLst>
          </p:cNvPr>
          <p:cNvGrpSpPr/>
          <p:nvPr/>
        </p:nvGrpSpPr>
        <p:grpSpPr>
          <a:xfrm>
            <a:off x="3003018" y="1125085"/>
            <a:ext cx="1838188" cy="1169519"/>
            <a:chOff x="2644385" y="2866760"/>
            <a:chExt cx="1838188" cy="1384526"/>
          </a:xfrm>
        </p:grpSpPr>
        <p:sp>
          <p:nvSpPr>
            <p:cNvPr id="9" name="Freeform: Shape 8">
              <a:extLst>
                <a:ext uri="{FF2B5EF4-FFF2-40B4-BE49-F238E27FC236}">
                  <a16:creationId xmlns:a16="http://schemas.microsoft.com/office/drawing/2014/main" id="{AD3569E1-8E04-B7BA-0398-4180BE3B0EE3}"/>
                </a:ext>
              </a:extLst>
            </p:cNvPr>
            <p:cNvSpPr/>
            <p:nvPr/>
          </p:nvSpPr>
          <p:spPr>
            <a:xfrm>
              <a:off x="2644386" y="2866760"/>
              <a:ext cx="1838187" cy="1384526"/>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b="1"/>
            </a:p>
          </p:txBody>
        </p:sp>
        <p:sp>
          <p:nvSpPr>
            <p:cNvPr id="10" name="TextBox 9">
              <a:extLst>
                <a:ext uri="{FF2B5EF4-FFF2-40B4-BE49-F238E27FC236}">
                  <a16:creationId xmlns:a16="http://schemas.microsoft.com/office/drawing/2014/main" id="{FFC19485-EC34-F070-3B3F-978F61587575}"/>
                </a:ext>
              </a:extLst>
            </p:cNvPr>
            <p:cNvSpPr txBox="1"/>
            <p:nvPr/>
          </p:nvSpPr>
          <p:spPr>
            <a:xfrm>
              <a:off x="2644385" y="3160918"/>
              <a:ext cx="1838187" cy="707886"/>
            </a:xfrm>
            <a:prstGeom prst="rect">
              <a:avLst/>
            </a:prstGeom>
            <a:noFill/>
            <a:ln w="38100">
              <a:no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b="1">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GB">
                  <a:solidFill>
                    <a:schemeClr val="tx1"/>
                  </a:solidFill>
                </a:rPr>
                <a:t>What am I learning?</a:t>
              </a:r>
            </a:p>
          </p:txBody>
        </p:sp>
      </p:grpSp>
      <p:pic>
        <p:nvPicPr>
          <p:cNvPr id="11" name="Picture 10" descr="A picture containing room  Description automatically generated">
            <a:extLst>
              <a:ext uri="{FF2B5EF4-FFF2-40B4-BE49-F238E27FC236}">
                <a16:creationId xmlns:a16="http://schemas.microsoft.com/office/drawing/2014/main" id="{3C0DDE4A-9E8B-5BE3-65C1-A3FA2705ACB2}"/>
              </a:ext>
            </a:extLst>
          </p:cNvPr>
          <p:cNvPicPr>
            <a:picLocks noChangeAspect="1"/>
          </p:cNvPicPr>
          <p:nvPr/>
        </p:nvPicPr>
        <p:blipFill>
          <a:blip r:embed="rId2" cstate="screen">
            <a:extLst>
              <a:ext uri="{28A0092B-C50C-407E-A947-70E740481C1C}">
                <a14:useLocalDpi xmlns:a14="http://schemas.microsoft.com/office/drawing/2010/main" val="0"/>
              </a:ext>
            </a:extLst>
          </a:blip>
          <a:stretch>
            <a:fillRect/>
          </a:stretch>
        </p:blipFill>
        <p:spPr>
          <a:xfrm>
            <a:off x="485896" y="2018390"/>
            <a:ext cx="1451414" cy="2106656"/>
          </a:xfrm>
          <a:prstGeom prst="rect">
            <a:avLst/>
          </a:prstGeom>
          <a:ln>
            <a:noFill/>
          </a:ln>
        </p:spPr>
      </p:pic>
      <p:sp>
        <p:nvSpPr>
          <p:cNvPr id="12" name="Freeform: Shape 11">
            <a:extLst>
              <a:ext uri="{FF2B5EF4-FFF2-40B4-BE49-F238E27FC236}">
                <a16:creationId xmlns:a16="http://schemas.microsoft.com/office/drawing/2014/main" id="{A0F1A2A6-045F-00C7-688E-E6D0A25D5652}"/>
              </a:ext>
            </a:extLst>
          </p:cNvPr>
          <p:cNvSpPr/>
          <p:nvPr/>
        </p:nvSpPr>
        <p:spPr>
          <a:xfrm>
            <a:off x="2797615" y="2918463"/>
            <a:ext cx="206619" cy="247942"/>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3" name="Oval 12">
            <a:extLst>
              <a:ext uri="{FF2B5EF4-FFF2-40B4-BE49-F238E27FC236}">
                <a16:creationId xmlns:a16="http://schemas.microsoft.com/office/drawing/2014/main" id="{408A8433-A9BE-1E56-2965-99A3B5625947}"/>
              </a:ext>
            </a:extLst>
          </p:cNvPr>
          <p:cNvSpPr/>
          <p:nvPr/>
        </p:nvSpPr>
        <p:spPr>
          <a:xfrm>
            <a:off x="2458854" y="2918501"/>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grpSp>
        <p:nvGrpSpPr>
          <p:cNvPr id="14" name="Group 13">
            <a:extLst>
              <a:ext uri="{FF2B5EF4-FFF2-40B4-BE49-F238E27FC236}">
                <a16:creationId xmlns:a16="http://schemas.microsoft.com/office/drawing/2014/main" id="{27A24A2D-2408-EB9E-5F70-46F514294503}"/>
              </a:ext>
            </a:extLst>
          </p:cNvPr>
          <p:cNvGrpSpPr/>
          <p:nvPr/>
        </p:nvGrpSpPr>
        <p:grpSpPr>
          <a:xfrm>
            <a:off x="3618760" y="2676281"/>
            <a:ext cx="2097602" cy="1251349"/>
            <a:chOff x="6125888" y="3028716"/>
            <a:chExt cx="1838187" cy="1384526"/>
          </a:xfrm>
          <a:solidFill>
            <a:schemeClr val="accent6">
              <a:lumMod val="60000"/>
              <a:lumOff val="40000"/>
            </a:schemeClr>
          </a:solidFill>
        </p:grpSpPr>
        <p:sp>
          <p:nvSpPr>
            <p:cNvPr id="15" name="Freeform: Shape 14">
              <a:extLst>
                <a:ext uri="{FF2B5EF4-FFF2-40B4-BE49-F238E27FC236}">
                  <a16:creationId xmlns:a16="http://schemas.microsoft.com/office/drawing/2014/main" id="{2946C962-D08C-0F71-45B1-FA00B59721B8}"/>
                </a:ext>
              </a:extLst>
            </p:cNvPr>
            <p:cNvSpPr/>
            <p:nvPr/>
          </p:nvSpPr>
          <p:spPr>
            <a:xfrm>
              <a:off x="6125888" y="3028716"/>
              <a:ext cx="1838187" cy="1384526"/>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2400" b="1"/>
            </a:p>
          </p:txBody>
        </p:sp>
        <p:sp>
          <p:nvSpPr>
            <p:cNvPr id="16" name="TextBox 15">
              <a:extLst>
                <a:ext uri="{FF2B5EF4-FFF2-40B4-BE49-F238E27FC236}">
                  <a16:creationId xmlns:a16="http://schemas.microsoft.com/office/drawing/2014/main" id="{60E1483D-26A7-A33B-B0CD-B1044C4A76B4}"/>
                </a:ext>
              </a:extLst>
            </p:cNvPr>
            <p:cNvSpPr txBox="1"/>
            <p:nvPr/>
          </p:nvSpPr>
          <p:spPr>
            <a:xfrm>
              <a:off x="6263965" y="3326148"/>
              <a:ext cx="1595765" cy="707886"/>
            </a:xfrm>
            <a:prstGeom prst="rect">
              <a:avLst/>
            </a:prstGeom>
            <a:noFill/>
            <a:ln w="38100">
              <a:no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b="1">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GB">
                  <a:solidFill>
                    <a:schemeClr val="tx1"/>
                  </a:solidFill>
                </a:rPr>
                <a:t>Why am I learning this ?</a:t>
              </a:r>
            </a:p>
          </p:txBody>
        </p:sp>
      </p:grpSp>
      <p:sp>
        <p:nvSpPr>
          <p:cNvPr id="17" name="Freeform: Shape 16">
            <a:extLst>
              <a:ext uri="{FF2B5EF4-FFF2-40B4-BE49-F238E27FC236}">
                <a16:creationId xmlns:a16="http://schemas.microsoft.com/office/drawing/2014/main" id="{ED4713C7-97EE-A5B0-8FC6-4CE70EA350BC}"/>
              </a:ext>
            </a:extLst>
          </p:cNvPr>
          <p:cNvSpPr/>
          <p:nvPr/>
        </p:nvSpPr>
        <p:spPr>
          <a:xfrm>
            <a:off x="2490079" y="3963955"/>
            <a:ext cx="200648" cy="240777"/>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8" name="Oval 17">
            <a:extLst>
              <a:ext uri="{FF2B5EF4-FFF2-40B4-BE49-F238E27FC236}">
                <a16:creationId xmlns:a16="http://schemas.microsoft.com/office/drawing/2014/main" id="{72843B94-CA11-5143-DFB7-BE14CB303150}"/>
              </a:ext>
            </a:extLst>
          </p:cNvPr>
          <p:cNvSpPr/>
          <p:nvPr/>
        </p:nvSpPr>
        <p:spPr>
          <a:xfrm>
            <a:off x="2258697" y="3780606"/>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9" name="TextBox 18">
            <a:extLst>
              <a:ext uri="{FF2B5EF4-FFF2-40B4-BE49-F238E27FC236}">
                <a16:creationId xmlns:a16="http://schemas.microsoft.com/office/drawing/2014/main" id="{CDA984DD-4FC4-64A0-887A-0A817B977071}"/>
              </a:ext>
            </a:extLst>
          </p:cNvPr>
          <p:cNvSpPr txBox="1"/>
          <p:nvPr/>
        </p:nvSpPr>
        <p:spPr>
          <a:xfrm>
            <a:off x="5068949" y="1230333"/>
            <a:ext cx="5311218" cy="830997"/>
          </a:xfrm>
          <a:prstGeom prst="rect">
            <a:avLst/>
          </a:prstGeom>
          <a:noFill/>
        </p:spPr>
        <p:txBody>
          <a:bodyPr wrap="square" rtlCol="0">
            <a:spAutoFit/>
          </a:bodyPr>
          <a:lstStyle/>
          <a:p>
            <a:r>
              <a:rPr lang="en-GB" sz="2400">
                <a:latin typeface="+mj-lt"/>
              </a:rPr>
              <a:t>I  am learning to understand and take meaning from a text.</a:t>
            </a:r>
          </a:p>
        </p:txBody>
      </p:sp>
      <p:sp>
        <p:nvSpPr>
          <p:cNvPr id="20" name="Rectangle 19">
            <a:extLst>
              <a:ext uri="{FF2B5EF4-FFF2-40B4-BE49-F238E27FC236}">
                <a16:creationId xmlns:a16="http://schemas.microsoft.com/office/drawing/2014/main" id="{3A23222B-35F4-3CDC-5FEA-1C58CE4A933A}"/>
              </a:ext>
            </a:extLst>
          </p:cNvPr>
          <p:cNvSpPr/>
          <p:nvPr/>
        </p:nvSpPr>
        <p:spPr>
          <a:xfrm>
            <a:off x="5597291" y="4824722"/>
            <a:ext cx="5583685" cy="1200329"/>
          </a:xfrm>
          <a:prstGeom prst="rect">
            <a:avLst/>
          </a:prstGeom>
          <a:noFill/>
        </p:spPr>
        <p:txBody>
          <a:bodyPr wrap="square">
            <a:spAutoFit/>
          </a:bodyPr>
          <a:lstStyle/>
          <a:p>
            <a:r>
              <a:rPr lang="en-GB" sz="2400">
                <a:latin typeface="+mj-lt"/>
              </a:rPr>
              <a:t>I will show this by answering questions which relate to the vocabulary used throughout the text.</a:t>
            </a:r>
          </a:p>
        </p:txBody>
      </p:sp>
      <p:grpSp>
        <p:nvGrpSpPr>
          <p:cNvPr id="26" name="Group 25">
            <a:extLst>
              <a:ext uri="{FF2B5EF4-FFF2-40B4-BE49-F238E27FC236}">
                <a16:creationId xmlns:a16="http://schemas.microsoft.com/office/drawing/2014/main" id="{F0FA508C-6CB1-E76E-F0A8-B64E6C4CD90D}"/>
              </a:ext>
            </a:extLst>
          </p:cNvPr>
          <p:cNvGrpSpPr/>
          <p:nvPr/>
        </p:nvGrpSpPr>
        <p:grpSpPr>
          <a:xfrm>
            <a:off x="2968729" y="4615048"/>
            <a:ext cx="2401890" cy="1148058"/>
            <a:chOff x="10001131" y="2709337"/>
            <a:chExt cx="1838187" cy="1105414"/>
          </a:xfrm>
        </p:grpSpPr>
        <p:sp>
          <p:nvSpPr>
            <p:cNvPr id="27" name="Freeform: Shape 26">
              <a:extLst>
                <a:ext uri="{FF2B5EF4-FFF2-40B4-BE49-F238E27FC236}">
                  <a16:creationId xmlns:a16="http://schemas.microsoft.com/office/drawing/2014/main" id="{3F558219-13F1-436A-59AF-11B90D95ABA1}"/>
                </a:ext>
              </a:extLst>
            </p:cNvPr>
            <p:cNvSpPr/>
            <p:nvPr/>
          </p:nvSpPr>
          <p:spPr>
            <a:xfrm>
              <a:off x="10001131" y="2709337"/>
              <a:ext cx="1838187" cy="1105414"/>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600" b="1"/>
            </a:p>
          </p:txBody>
        </p:sp>
        <p:sp>
          <p:nvSpPr>
            <p:cNvPr id="28" name="TextBox 27">
              <a:extLst>
                <a:ext uri="{FF2B5EF4-FFF2-40B4-BE49-F238E27FC236}">
                  <a16:creationId xmlns:a16="http://schemas.microsoft.com/office/drawing/2014/main" id="{33569914-364A-6AF1-85F1-0BFCF4FDB1A8}"/>
                </a:ext>
              </a:extLst>
            </p:cNvPr>
            <p:cNvSpPr txBox="1"/>
            <p:nvPr/>
          </p:nvSpPr>
          <p:spPr>
            <a:xfrm>
              <a:off x="10146498" y="2857389"/>
              <a:ext cx="1547451" cy="622324"/>
            </a:xfrm>
            <a:prstGeom prst="rect">
              <a:avLst/>
            </a:prstGeom>
            <a:noFill/>
            <a:ln w="19050">
              <a:noFill/>
            </a:ln>
          </p:spPr>
          <p:txBody>
            <a:bodyPr wrap="square" rtlCol="0">
              <a:spAutoFit/>
            </a:bodyPr>
            <a:lstStyle/>
            <a:p>
              <a:pPr algn="ctr"/>
              <a:r>
                <a:rPr lang="en-GB" b="1">
                  <a:latin typeface="Sassoon Primary Rg" panose="02000606020000020004" pitchFamily="2" charset="0"/>
                </a:rPr>
                <a:t>How will I know when I get there?</a:t>
              </a:r>
            </a:p>
          </p:txBody>
        </p:sp>
      </p:grpSp>
      <p:sp>
        <p:nvSpPr>
          <p:cNvPr id="29" name="Freeform: Shape 28">
            <a:extLst>
              <a:ext uri="{FF2B5EF4-FFF2-40B4-BE49-F238E27FC236}">
                <a16:creationId xmlns:a16="http://schemas.microsoft.com/office/drawing/2014/main" id="{B90D4CDA-08E3-0ED1-C1FB-0242710F0D9A}"/>
              </a:ext>
            </a:extLst>
          </p:cNvPr>
          <p:cNvSpPr/>
          <p:nvPr/>
        </p:nvSpPr>
        <p:spPr>
          <a:xfrm>
            <a:off x="2767911" y="4261260"/>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30" name="Freeform: Shape 29">
            <a:extLst>
              <a:ext uri="{FF2B5EF4-FFF2-40B4-BE49-F238E27FC236}">
                <a16:creationId xmlns:a16="http://schemas.microsoft.com/office/drawing/2014/main" id="{8139F2B2-DE54-7CE1-CCBE-1C4164F07AC7}"/>
              </a:ext>
            </a:extLst>
          </p:cNvPr>
          <p:cNvSpPr/>
          <p:nvPr/>
        </p:nvSpPr>
        <p:spPr>
          <a:xfrm>
            <a:off x="3206304" y="2991789"/>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35" name="Freeform: Shape 34">
            <a:extLst>
              <a:ext uri="{FF2B5EF4-FFF2-40B4-BE49-F238E27FC236}">
                <a16:creationId xmlns:a16="http://schemas.microsoft.com/office/drawing/2014/main" id="{721B1AA3-17DD-506B-9B14-CDFF5EA0BECB}"/>
              </a:ext>
            </a:extLst>
          </p:cNvPr>
          <p:cNvSpPr/>
          <p:nvPr/>
        </p:nvSpPr>
        <p:spPr>
          <a:xfrm>
            <a:off x="2271587" y="1913146"/>
            <a:ext cx="206619" cy="247942"/>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5" name="TextBox 4">
            <a:extLst>
              <a:ext uri="{FF2B5EF4-FFF2-40B4-BE49-F238E27FC236}">
                <a16:creationId xmlns:a16="http://schemas.microsoft.com/office/drawing/2014/main" id="{3A69BFB0-E1DC-E3FA-6EA3-821A27D46522}"/>
              </a:ext>
            </a:extLst>
          </p:cNvPr>
          <p:cNvSpPr txBox="1"/>
          <p:nvPr/>
        </p:nvSpPr>
        <p:spPr>
          <a:xfrm>
            <a:off x="5873925" y="2665439"/>
            <a:ext cx="5507001" cy="1200329"/>
          </a:xfrm>
          <a:prstGeom prst="rect">
            <a:avLst/>
          </a:prstGeom>
          <a:noFill/>
        </p:spPr>
        <p:txBody>
          <a:bodyPr wrap="square" rtlCol="0">
            <a:spAutoFit/>
          </a:bodyPr>
          <a:lstStyle/>
          <a:p>
            <a:r>
              <a:rPr lang="en-GB" sz="2400">
                <a:latin typeface="Sassoon Infant Rg" panose="02000503030000020003" pitchFamily="2" charset="0"/>
                <a:ea typeface="Sassoon Infant Rg" panose="02000503030000020003" pitchFamily="2" charset="0"/>
              </a:rPr>
              <a:t>I am learning this because it will help me to develop my understanding of vocabulary at a sentence and text level.</a:t>
            </a:r>
          </a:p>
        </p:txBody>
      </p:sp>
      <p:grpSp>
        <p:nvGrpSpPr>
          <p:cNvPr id="3" name="Group 2">
            <a:extLst>
              <a:ext uri="{FF2B5EF4-FFF2-40B4-BE49-F238E27FC236}">
                <a16:creationId xmlns:a16="http://schemas.microsoft.com/office/drawing/2014/main" id="{AB1D5BFC-9C6F-78FE-BB55-8A787A315711}"/>
              </a:ext>
            </a:extLst>
          </p:cNvPr>
          <p:cNvGrpSpPr/>
          <p:nvPr/>
        </p:nvGrpSpPr>
        <p:grpSpPr>
          <a:xfrm>
            <a:off x="10607910" y="233361"/>
            <a:ext cx="1316831" cy="1316831"/>
            <a:chOff x="5180554" y="1026138"/>
            <a:chExt cx="1316831" cy="1316831"/>
          </a:xfrm>
        </p:grpSpPr>
        <p:sp>
          <p:nvSpPr>
            <p:cNvPr id="4" name="Oval 3">
              <a:extLst>
                <a:ext uri="{FF2B5EF4-FFF2-40B4-BE49-F238E27FC236}">
                  <a16:creationId xmlns:a16="http://schemas.microsoft.com/office/drawing/2014/main" id="{30C90C35-E0BE-7AD4-92BC-8EFF113E4DB8}"/>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21" name="Oval 4">
              <a:extLst>
                <a:ext uri="{FF2B5EF4-FFF2-40B4-BE49-F238E27FC236}">
                  <a16:creationId xmlns:a16="http://schemas.microsoft.com/office/drawing/2014/main" id="{D5E138FF-7604-1E33-555D-87C2C96CBE05}"/>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Tree>
    <p:extLst>
      <p:ext uri="{BB962C8B-B14F-4D97-AF65-F5344CB8AC3E}">
        <p14:creationId xmlns:p14="http://schemas.microsoft.com/office/powerpoint/2010/main" val="28426104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1F7DB-6538-E176-FE28-8F1AD256569A}"/>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14F21690-854A-3024-D098-1C56DE57443E}"/>
              </a:ext>
            </a:extLst>
          </p:cNvPr>
          <p:cNvPicPr>
            <a:picLocks noChangeAspect="1"/>
          </p:cNvPicPr>
          <p:nvPr/>
        </p:nvPicPr>
        <p:blipFill>
          <a:blip r:embed="rId2"/>
          <a:stretch>
            <a:fillRect/>
          </a:stretch>
        </p:blipFill>
        <p:spPr>
          <a:xfrm>
            <a:off x="10424916" y="134700"/>
            <a:ext cx="1616752" cy="697982"/>
          </a:xfrm>
          <a:prstGeom prst="rect">
            <a:avLst/>
          </a:prstGeom>
        </p:spPr>
      </p:pic>
      <p:sp>
        <p:nvSpPr>
          <p:cNvPr id="6" name="TextBox 5">
            <a:extLst>
              <a:ext uri="{FF2B5EF4-FFF2-40B4-BE49-F238E27FC236}">
                <a16:creationId xmlns:a16="http://schemas.microsoft.com/office/drawing/2014/main" id="{AEC30692-9C94-A8DB-4755-85FE74DE9821}"/>
              </a:ext>
            </a:extLst>
          </p:cNvPr>
          <p:cNvSpPr txBox="1"/>
          <p:nvPr/>
        </p:nvSpPr>
        <p:spPr>
          <a:xfrm>
            <a:off x="288098" y="335454"/>
            <a:ext cx="6864956" cy="707886"/>
          </a:xfrm>
          <a:prstGeom prst="rect">
            <a:avLst/>
          </a:prstGeom>
          <a:noFill/>
        </p:spPr>
        <p:txBody>
          <a:bodyPr wrap="none" rtlCol="0">
            <a:spAutoFit/>
          </a:bodyPr>
          <a:lstStyle/>
          <a:p>
            <a:r>
              <a:rPr lang="en-GB" sz="4000" b="1" u="sng"/>
              <a:t>Practice questions - Retrieval</a:t>
            </a:r>
          </a:p>
        </p:txBody>
      </p:sp>
      <p:pic>
        <p:nvPicPr>
          <p:cNvPr id="7" name="Picture 6">
            <a:extLst>
              <a:ext uri="{FF2B5EF4-FFF2-40B4-BE49-F238E27FC236}">
                <a16:creationId xmlns:a16="http://schemas.microsoft.com/office/drawing/2014/main" id="{E0AB4FA0-4B96-F850-DD50-18A5FD657BB8}"/>
              </a:ext>
            </a:extLst>
          </p:cNvPr>
          <p:cNvPicPr/>
          <p:nvPr/>
        </p:nvPicPr>
        <p:blipFill>
          <a:blip r:embed="rId3">
            <a:extLst>
              <a:ext uri="{28A0092B-C50C-407E-A947-70E740481C1C}">
                <a14:useLocalDpi xmlns:a14="http://schemas.microsoft.com/office/drawing/2010/main" val="0"/>
              </a:ext>
            </a:extLst>
          </a:blip>
          <a:stretch>
            <a:fillRect/>
          </a:stretch>
        </p:blipFill>
        <p:spPr>
          <a:xfrm>
            <a:off x="5250435" y="6048469"/>
            <a:ext cx="1691129" cy="711848"/>
          </a:xfrm>
          <a:prstGeom prst="rect">
            <a:avLst/>
          </a:prstGeom>
        </p:spPr>
      </p:pic>
      <p:sp>
        <p:nvSpPr>
          <p:cNvPr id="4" name="Rounded Rectangle 9">
            <a:extLst>
              <a:ext uri="{FF2B5EF4-FFF2-40B4-BE49-F238E27FC236}">
                <a16:creationId xmlns:a16="http://schemas.microsoft.com/office/drawing/2014/main" id="{2A06B04F-B021-4121-0C16-7A5BACEFBC1B}"/>
              </a:ext>
            </a:extLst>
          </p:cNvPr>
          <p:cNvSpPr/>
          <p:nvPr/>
        </p:nvSpPr>
        <p:spPr>
          <a:xfrm>
            <a:off x="8019658" y="6325456"/>
            <a:ext cx="4026568" cy="43134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a:t>Show / Hide Extract</a:t>
            </a:r>
          </a:p>
        </p:txBody>
      </p:sp>
      <p:sp>
        <p:nvSpPr>
          <p:cNvPr id="10" name="TextBox 9">
            <a:extLst>
              <a:ext uri="{FF2B5EF4-FFF2-40B4-BE49-F238E27FC236}">
                <a16:creationId xmlns:a16="http://schemas.microsoft.com/office/drawing/2014/main" id="{C064352E-4E96-13BD-C58F-5EEC5E15F4B5}"/>
              </a:ext>
            </a:extLst>
          </p:cNvPr>
          <p:cNvSpPr txBox="1"/>
          <p:nvPr/>
        </p:nvSpPr>
        <p:spPr>
          <a:xfrm>
            <a:off x="418368" y="1463046"/>
            <a:ext cx="11355262" cy="2246769"/>
          </a:xfrm>
          <a:prstGeom prst="rect">
            <a:avLst/>
          </a:prstGeom>
          <a:noFill/>
        </p:spPr>
        <p:txBody>
          <a:bodyPr wrap="square" rtlCol="0">
            <a:spAutoFit/>
          </a:bodyPr>
          <a:lstStyle/>
          <a:p>
            <a:r>
              <a:rPr lang="en-US" sz="1900"/>
              <a:t>Name two things Varjak can hear in the city.</a:t>
            </a:r>
          </a:p>
          <a:p>
            <a:r>
              <a:rPr lang="en-US" sz="1900"/>
              <a:t>He can hear engines, voices, horns and the rush of feet — any two are correct.</a:t>
            </a:r>
          </a:p>
          <a:p>
            <a:endParaRPr lang="en-US" sz="1900"/>
          </a:p>
          <a:p>
            <a:r>
              <a:rPr lang="en-US" sz="1900"/>
              <a:t>How do the buildings make Varjak feel? Use evidence from the text.</a:t>
            </a:r>
          </a:p>
          <a:p>
            <a:r>
              <a:rPr lang="en-US" sz="1900"/>
              <a:t>They have ‘blank and unseeing eyes’ — they make him feel watched but also ignored, as though the city does not care about him.</a:t>
            </a:r>
          </a:p>
        </p:txBody>
      </p:sp>
      <p:sp>
        <p:nvSpPr>
          <p:cNvPr id="3" name="TextBox 2">
            <a:extLst>
              <a:ext uri="{FF2B5EF4-FFF2-40B4-BE49-F238E27FC236}">
                <a16:creationId xmlns:a16="http://schemas.microsoft.com/office/drawing/2014/main" id="{EBAE955F-2F2B-1B4A-4719-6AB782D998C5}"/>
              </a:ext>
            </a:extLst>
          </p:cNvPr>
          <p:cNvSpPr txBox="1"/>
          <p:nvPr/>
        </p:nvSpPr>
        <p:spPr>
          <a:xfrm>
            <a:off x="145774" y="1043340"/>
            <a:ext cx="12046226" cy="4585423"/>
          </a:xfrm>
          <a:prstGeom prst="rect">
            <a:avLst/>
          </a:prstGeom>
          <a:solidFill>
            <a:schemeClr val="accent5">
              <a:lumMod val="20000"/>
              <a:lumOff val="80000"/>
            </a:schemeClr>
          </a:solidFill>
        </p:spPr>
        <p:txBody>
          <a:bodyPr wrap="square" anchor="ctr">
            <a:noAutofit/>
          </a:bodyPr>
          <a:lstStyle/>
          <a:p>
            <a:r>
              <a:rPr lang="en-US" sz="2200"/>
              <a:t>Nothing had prepared Varjak for the city. As he picked his way along the edge of the pavement, everything around him seemed to shift and shout at once — the overwhelming noise of engines, voices, horns, and the constant rush of feet slamming against the ground. Buildings loomed over him on all sides, enormous and grey, their windows like blank and unseeing eyes staring down at him without interest. The smells were unlike anything he had ever known: petrol and fried food and damp concrete and something metallic that caught at the back of his throat and made him want to cough. He kept hesitating at the edge of roads, watching the cars surge past in a terrifying stream of metal and light, unsure how any creature could cross without being destroyed. Everything was unfamiliar — the sounds, the smells, even the quality of the light felt different here, thinner somehow, dirtier. Back on the mountain, he had always known exactly where he was; the land had felt like a part of him. Here, he was a stranger to every surface and every shadow. The chaos pressed in around him from all sides, and more than once he had to remind himself why he had come — to find help for his family, to do what no Mesopotamian Blue had ever done before. He took a shaky breath, pressed himself flat against a wall, and made himself keep going.</a:t>
            </a:r>
          </a:p>
        </p:txBody>
      </p:sp>
    </p:spTree>
    <p:extLst>
      <p:ext uri="{BB962C8B-B14F-4D97-AF65-F5344CB8AC3E}">
        <p14:creationId xmlns:p14="http://schemas.microsoft.com/office/powerpoint/2010/main" val="21617244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4"/>
                    </p:tgtEl>
                  </p:cond>
                </p:stCondLst>
                <p:endSync evt="end" delay="0">
                  <p:rtn val="all"/>
                </p:endSync>
                <p:childTnLst>
                  <p:par>
                    <p:cTn id="24" fill="hold">
                      <p:stCondLst>
                        <p:cond delay="indefinite"/>
                      </p:stCondLst>
                      <p:childTnLst>
                        <p:par>
                          <p:cTn id="25" fill="hold">
                            <p:stCondLst>
                              <p:cond delay="0"/>
                            </p:stCondLst>
                            <p:childTnLst>
                              <p:par>
                                <p:cTn id="26" presetID="1" presetClass="entr" presetSubtype="0" fill="hold" grpId="0" nodeType="clickEffect">
                                  <p:stCondLst>
                                    <p:cond delay="0"/>
                                  </p:stCondLst>
                                  <p:childTnLst>
                                    <p:set>
                                      <p:cBhvr>
                                        <p:cTn id="27" dur="1" fill="hold">
                                          <p:stCondLst>
                                            <p:cond delay="0"/>
                                          </p:stCondLst>
                                        </p:cTn>
                                        <p:tgtEl>
                                          <p:spTgt spid="3"/>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 presetClass="exit" presetSubtype="0" fill="hold" grpId="1" nodeType="clickEffect">
                                  <p:stCondLst>
                                    <p:cond delay="0"/>
                                  </p:stCondLst>
                                  <p:childTnLst>
                                    <p:set>
                                      <p:cBhvr>
                                        <p:cTn id="31" dur="1" fill="hold">
                                          <p:stCondLst>
                                            <p:cond delay="0"/>
                                          </p:stCondLst>
                                        </p:cTn>
                                        <p:tgtEl>
                                          <p:spTgt spid="3"/>
                                        </p:tgtEl>
                                        <p:attrNameLst>
                                          <p:attrName>style.visibility</p:attrName>
                                        </p:attrNameLst>
                                      </p:cBhvr>
                                      <p:to>
                                        <p:strVal val="hidden"/>
                                      </p:to>
                                    </p:set>
                                  </p:childTnLst>
                                </p:cTn>
                              </p:par>
                            </p:childTnLst>
                          </p:cTn>
                        </p:par>
                      </p:childTnLst>
                    </p:cTn>
                  </p:par>
                </p:childTnLst>
              </p:cTn>
              <p:nextCondLst>
                <p:cond evt="onClick" delay="0">
                  <p:tgtEl>
                    <p:spTgt spid="4"/>
                  </p:tgtEl>
                </p:cond>
              </p:nextCondLst>
            </p:seq>
          </p:childTnLst>
        </p:cTn>
      </p:par>
    </p:tnLst>
    <p:bldLst>
      <p:bldP spid="3" grpId="0" animBg="1"/>
      <p:bldP spid="3"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D28150-E2BB-D124-E558-AC8A265F32E2}"/>
              </a:ext>
            </a:extLst>
          </p:cNvPr>
          <p:cNvSpPr>
            <a:spLocks noGrp="1"/>
          </p:cNvSpPr>
          <p:nvPr>
            <p:ph type="ctrTitle"/>
          </p:nvPr>
        </p:nvSpPr>
        <p:spPr>
          <a:xfrm>
            <a:off x="0" y="2017477"/>
            <a:ext cx="12192000" cy="2387600"/>
          </a:xfrm>
        </p:spPr>
        <p:txBody>
          <a:bodyPr/>
          <a:lstStyle/>
          <a:p>
            <a:r>
              <a:rPr lang="en-GB" dirty="0">
                <a:latin typeface="Sassoon Infant Rg" panose="02000503030000020003" pitchFamily="2" charset="0"/>
              </a:rPr>
              <a:t>Being a Reader</a:t>
            </a:r>
          </a:p>
        </p:txBody>
      </p:sp>
      <p:grpSp>
        <p:nvGrpSpPr>
          <p:cNvPr id="4" name="Group 3">
            <a:extLst>
              <a:ext uri="{FF2B5EF4-FFF2-40B4-BE49-F238E27FC236}">
                <a16:creationId xmlns:a16="http://schemas.microsoft.com/office/drawing/2014/main" id="{5F3F8467-5724-D86C-FDA4-D49533DEC4F0}"/>
              </a:ext>
            </a:extLst>
          </p:cNvPr>
          <p:cNvGrpSpPr/>
          <p:nvPr/>
        </p:nvGrpSpPr>
        <p:grpSpPr>
          <a:xfrm>
            <a:off x="4568895" y="211840"/>
            <a:ext cx="3039122" cy="3522775"/>
            <a:chOff x="7629233" y="677174"/>
            <a:chExt cx="2090136" cy="2455590"/>
          </a:xfrm>
        </p:grpSpPr>
        <p:pic>
          <p:nvPicPr>
            <p:cNvPr id="5" name="Picture 8" descr="Reading Icon 2954745">
              <a:extLst>
                <a:ext uri="{FF2B5EF4-FFF2-40B4-BE49-F238E27FC236}">
                  <a16:creationId xmlns:a16="http://schemas.microsoft.com/office/drawing/2014/main" id="{2B1C2540-38D6-7D21-7288-1F3B603531F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29233" y="1184735"/>
              <a:ext cx="2090136" cy="194802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8F3344A5-4924-D3BC-68C4-52E2EB3B6D65}"/>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6627" b="95181" l="4969" r="92547">
                          <a14:foregroundMark x1="43478" y1="94578" x2="43478" y2="94578"/>
                          <a14:foregroundMark x1="4969" y1="50602" x2="4969" y2="50602"/>
                          <a14:foregroundMark x1="16770" y1="19277" x2="16770" y2="19277"/>
                          <a14:foregroundMark x1="49689" y1="8434" x2="49689" y2="8434"/>
                          <a14:foregroundMark x1="80124" y1="19277" x2="80124" y2="19277"/>
                          <a14:foregroundMark x1="56522" y1="95783" x2="56522" y2="95783"/>
                          <a14:foregroundMark x1="89441" y1="49398" x2="89441" y2="49398"/>
                          <a14:foregroundMark x1="49689" y1="6627" x2="49689" y2="6627"/>
                          <a14:foregroundMark x1="92547" y1="49398" x2="92547" y2="49398"/>
                        </a14:backgroundRemoval>
                      </a14:imgEffect>
                    </a14:imgLayer>
                  </a14:imgProps>
                </a:ext>
              </a:extLst>
            </a:blip>
            <a:stretch>
              <a:fillRect/>
            </a:stretch>
          </p:blipFill>
          <p:spPr>
            <a:xfrm>
              <a:off x="8856582" y="677174"/>
              <a:ext cx="716760" cy="688774"/>
            </a:xfrm>
            <a:prstGeom prst="rect">
              <a:avLst/>
            </a:prstGeom>
          </p:spPr>
        </p:pic>
      </p:grpSp>
      <p:sp>
        <p:nvSpPr>
          <p:cNvPr id="3" name="TextBox 2">
            <a:extLst>
              <a:ext uri="{FF2B5EF4-FFF2-40B4-BE49-F238E27FC236}">
                <a16:creationId xmlns:a16="http://schemas.microsoft.com/office/drawing/2014/main" id="{9AA1DE16-8C7B-4868-2DE3-9C9C7D7D4324}"/>
              </a:ext>
            </a:extLst>
          </p:cNvPr>
          <p:cNvSpPr txBox="1"/>
          <p:nvPr/>
        </p:nvSpPr>
        <p:spPr>
          <a:xfrm>
            <a:off x="0" y="4552141"/>
            <a:ext cx="12192000" cy="707886"/>
          </a:xfrm>
          <a:prstGeom prst="rect">
            <a:avLst/>
          </a:prstGeom>
          <a:noFill/>
        </p:spPr>
        <p:txBody>
          <a:bodyPr wrap="square" rtlCol="0">
            <a:spAutoFit/>
          </a:bodyPr>
          <a:lstStyle/>
          <a:p>
            <a:pPr algn="ctr"/>
            <a:r>
              <a:rPr lang="en-GB" sz="4000" dirty="0"/>
              <a:t>Inference</a:t>
            </a:r>
            <a:endParaRPr lang="en-GB" dirty="0"/>
          </a:p>
        </p:txBody>
      </p:sp>
      <p:sp>
        <p:nvSpPr>
          <p:cNvPr id="6" name="TextBox 5">
            <a:extLst>
              <a:ext uri="{FF2B5EF4-FFF2-40B4-BE49-F238E27FC236}">
                <a16:creationId xmlns:a16="http://schemas.microsoft.com/office/drawing/2014/main" id="{2B18F8C8-4B63-E425-87CE-D13C91BCA056}"/>
              </a:ext>
            </a:extLst>
          </p:cNvPr>
          <p:cNvSpPr txBox="1"/>
          <p:nvPr/>
        </p:nvSpPr>
        <p:spPr>
          <a:xfrm>
            <a:off x="4423577" y="5199610"/>
            <a:ext cx="3329758" cy="1446550"/>
          </a:xfrm>
          <a:prstGeom prst="rect">
            <a:avLst/>
          </a:prstGeom>
          <a:noFill/>
        </p:spPr>
        <p:txBody>
          <a:bodyPr wrap="none" rtlCol="0" anchor="ctr">
            <a:spAutoFit/>
          </a:bodyPr>
          <a:lstStyle/>
          <a:p>
            <a:pPr algn="ctr"/>
            <a:r>
              <a:rPr lang="en-GB" sz="8800" dirty="0"/>
              <a:t>Thursday</a:t>
            </a:r>
          </a:p>
        </p:txBody>
      </p:sp>
    </p:spTree>
    <p:extLst>
      <p:ext uri="{BB962C8B-B14F-4D97-AF65-F5344CB8AC3E}">
        <p14:creationId xmlns:p14="http://schemas.microsoft.com/office/powerpoint/2010/main" val="33036935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Rounded Corners 7">
            <a:extLst>
              <a:ext uri="{FF2B5EF4-FFF2-40B4-BE49-F238E27FC236}">
                <a16:creationId xmlns:a16="http://schemas.microsoft.com/office/drawing/2014/main" id="{4ACEAB2A-6943-1061-22CF-9EC0847829D7}"/>
              </a:ext>
            </a:extLst>
          </p:cNvPr>
          <p:cNvSpPr/>
          <p:nvPr/>
        </p:nvSpPr>
        <p:spPr>
          <a:xfrm>
            <a:off x="6476397" y="19821"/>
            <a:ext cx="5576138" cy="6818358"/>
          </a:xfrm>
          <a:prstGeom prst="roundRect">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D9DEE78A-07A9-5FF3-9D78-C0D9D21EEFB2}"/>
              </a:ext>
            </a:extLst>
          </p:cNvPr>
          <p:cNvSpPr txBox="1"/>
          <p:nvPr/>
        </p:nvSpPr>
        <p:spPr>
          <a:xfrm>
            <a:off x="6786658" y="-9273"/>
            <a:ext cx="4833400" cy="684803"/>
          </a:xfrm>
          <a:prstGeom prst="rect">
            <a:avLst/>
          </a:prstGeom>
          <a:noFill/>
        </p:spPr>
        <p:txBody>
          <a:bodyPr wrap="square" rtlCol="0">
            <a:spAutoFit/>
          </a:bodyPr>
          <a:lstStyle/>
          <a:p>
            <a:pPr algn="ctr">
              <a:lnSpc>
                <a:spcPct val="150000"/>
              </a:lnSpc>
            </a:pPr>
            <a:r>
              <a:rPr lang="en-GB" sz="2800" b="1" u="sng">
                <a:solidFill>
                  <a:schemeClr val="tx1"/>
                </a:solidFill>
                <a:latin typeface="Sassoon Infant Rg" panose="02000503030000020003" pitchFamily="2" charset="0"/>
                <a:ea typeface="Sassoon Infant Rg" panose="02000503030000020003" pitchFamily="2" charset="0"/>
              </a:rPr>
              <a:t>Why do we learn to read?</a:t>
            </a:r>
          </a:p>
        </p:txBody>
      </p:sp>
      <p:sp>
        <p:nvSpPr>
          <p:cNvPr id="11" name="TextBox 10">
            <a:extLst>
              <a:ext uri="{FF2B5EF4-FFF2-40B4-BE49-F238E27FC236}">
                <a16:creationId xmlns:a16="http://schemas.microsoft.com/office/drawing/2014/main" id="{16D2B17F-CF26-33D2-B6F6-70299CA1A763}"/>
              </a:ext>
            </a:extLst>
          </p:cNvPr>
          <p:cNvSpPr txBox="1"/>
          <p:nvPr/>
        </p:nvSpPr>
        <p:spPr>
          <a:xfrm>
            <a:off x="8246543" y="848912"/>
            <a:ext cx="3654961" cy="2631490"/>
          </a:xfrm>
          <a:prstGeom prst="rect">
            <a:avLst/>
          </a:prstGeom>
          <a:noFill/>
        </p:spPr>
        <p:txBody>
          <a:bodyPr wrap="square">
            <a:spAutoFit/>
          </a:bodyPr>
          <a:lstStyle/>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 xml:space="preserve">Reading makes me </a:t>
            </a:r>
            <a:r>
              <a:rPr lang="en-GB" sz="3200" b="1">
                <a:solidFill>
                  <a:schemeClr val="tx1"/>
                </a:solidFill>
                <a:latin typeface="Sassoon Infant Rg" panose="02000503030000020003" pitchFamily="2" charset="0"/>
                <a:ea typeface="Sassoon Infant Rg" panose="02000503030000020003" pitchFamily="2" charset="0"/>
              </a:rPr>
              <a:t>powerful</a:t>
            </a:r>
            <a:r>
              <a:rPr lang="en-GB" sz="2400">
                <a:solidFill>
                  <a:schemeClr val="tx1"/>
                </a:solidFill>
                <a:latin typeface="Sassoon Infant Rg" panose="02000503030000020003" pitchFamily="2" charset="0"/>
                <a:ea typeface="Sassoon Infant Rg" panose="02000503030000020003" pitchFamily="2" charset="0"/>
              </a:rPr>
              <a:t xml:space="preserve"> because it helps me to </a:t>
            </a:r>
            <a:r>
              <a:rPr lang="en-GB" sz="3200" b="1">
                <a:solidFill>
                  <a:schemeClr val="tx1"/>
                </a:solidFill>
                <a:latin typeface="Sassoon Infant Rg" panose="02000503030000020003" pitchFamily="2" charset="0"/>
                <a:ea typeface="Sassoon Infant Rg" panose="02000503030000020003" pitchFamily="2" charset="0"/>
              </a:rPr>
              <a:t>understand</a:t>
            </a:r>
            <a:r>
              <a:rPr lang="en-GB" sz="2400">
                <a:solidFill>
                  <a:schemeClr val="tx1"/>
                </a:solidFill>
                <a:latin typeface="Sassoon Infant Rg" panose="02000503030000020003" pitchFamily="2" charset="0"/>
                <a:ea typeface="Sassoon Infant Rg" panose="02000503030000020003" pitchFamily="2" charset="0"/>
              </a:rPr>
              <a:t xml:space="preserve"> the world around me.</a:t>
            </a:r>
          </a:p>
        </p:txBody>
      </p:sp>
      <p:pic>
        <p:nvPicPr>
          <p:cNvPr id="7" name="Picture 6">
            <a:extLst>
              <a:ext uri="{FF2B5EF4-FFF2-40B4-BE49-F238E27FC236}">
                <a16:creationId xmlns:a16="http://schemas.microsoft.com/office/drawing/2014/main" id="{3DF6A32D-163D-40C2-BACF-C964E0035D2E}"/>
              </a:ext>
            </a:extLst>
          </p:cNvPr>
          <p:cNvPicPr>
            <a:picLocks noChangeAspect="1"/>
          </p:cNvPicPr>
          <p:nvPr/>
        </p:nvPicPr>
        <p:blipFill rotWithShape="1">
          <a:blip r:embed="rId3">
            <a:extLst>
              <a:ext uri="{BEBA8EAE-BF5A-486C-A8C5-ECC9F3942E4B}">
                <a14:imgProps xmlns:a14="http://schemas.microsoft.com/office/drawing/2010/main">
                  <a14:imgLayer r:embed="rId4">
                    <a14:imgEffect>
                      <a14:backgroundRemoval t="61376" b="80317" l="20847" r="34709">
                        <a14:foregroundMark x1="24656" y1="80000" x2="24656" y2="80000"/>
                        <a14:foregroundMark x1="29312" y1="80317" x2="29312" y2="80317"/>
                      </a14:backgroundRemoval>
                    </a14:imgEffect>
                  </a14:imgLayer>
                </a14:imgProps>
              </a:ext>
            </a:extLst>
          </a:blip>
          <a:srcRect l="19127" t="59276" r="63462" b="18202"/>
          <a:stretch/>
        </p:blipFill>
        <p:spPr>
          <a:xfrm>
            <a:off x="6896058" y="1151805"/>
            <a:ext cx="1350486" cy="1656373"/>
          </a:xfrm>
          <a:prstGeom prst="rect">
            <a:avLst/>
          </a:prstGeom>
        </p:spPr>
      </p:pic>
      <p:pic>
        <p:nvPicPr>
          <p:cNvPr id="12" name="Picture 11">
            <a:extLst>
              <a:ext uri="{FF2B5EF4-FFF2-40B4-BE49-F238E27FC236}">
                <a16:creationId xmlns:a16="http://schemas.microsoft.com/office/drawing/2014/main" id="{A25D9A8A-09E0-BBBE-0C18-2E1880E52773}"/>
              </a:ext>
            </a:extLst>
          </p:cNvPr>
          <p:cNvPicPr>
            <a:picLocks noChangeAspect="1"/>
          </p:cNvPicPr>
          <p:nvPr/>
        </p:nvPicPr>
        <p:blipFill rotWithShape="1">
          <a:blip r:embed="rId5">
            <a:extLst>
              <a:ext uri="{BEBA8EAE-BF5A-486C-A8C5-ECC9F3942E4B}">
                <a14:imgProps xmlns:a14="http://schemas.microsoft.com/office/drawing/2010/main">
                  <a14:imgLayer r:embed="rId4">
                    <a14:imgEffect>
                      <a14:backgroundRemoval t="61793" b="81925" l="64809" r="78176">
                        <a14:foregroundMark x1="75238" y1="61799" x2="75238" y2="61799"/>
                      </a14:backgroundRemoval>
                    </a14:imgEffect>
                  </a14:imgLayer>
                </a14:imgProps>
              </a:ext>
            </a:extLst>
          </a:blip>
          <a:srcRect l="63138" t="59276" r="20153" b="15559"/>
          <a:stretch/>
        </p:blipFill>
        <p:spPr>
          <a:xfrm>
            <a:off x="10650071" y="4324983"/>
            <a:ext cx="1251434" cy="1786987"/>
          </a:xfrm>
          <a:prstGeom prst="rect">
            <a:avLst/>
          </a:prstGeom>
        </p:spPr>
      </p:pic>
      <p:sp>
        <p:nvSpPr>
          <p:cNvPr id="14" name="TextBox 13">
            <a:extLst>
              <a:ext uri="{FF2B5EF4-FFF2-40B4-BE49-F238E27FC236}">
                <a16:creationId xmlns:a16="http://schemas.microsoft.com/office/drawing/2014/main" id="{950C5C2B-42CC-39EC-6847-EE394E29BB3C}"/>
              </a:ext>
            </a:extLst>
          </p:cNvPr>
          <p:cNvSpPr txBox="1"/>
          <p:nvPr/>
        </p:nvSpPr>
        <p:spPr>
          <a:xfrm>
            <a:off x="6786658" y="4022091"/>
            <a:ext cx="3863413" cy="1708160"/>
          </a:xfrm>
          <a:prstGeom prst="rect">
            <a:avLst/>
          </a:prstGeom>
          <a:noFill/>
        </p:spPr>
        <p:txBody>
          <a:bodyPr wrap="square">
            <a:spAutoFit/>
          </a:bodyPr>
          <a:lstStyle/>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At Wallscourt Farm Academy:</a:t>
            </a:r>
          </a:p>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 xml:space="preserve">We love to read, learn to read and read to learn! </a:t>
            </a:r>
          </a:p>
        </p:txBody>
      </p:sp>
      <p:pic>
        <p:nvPicPr>
          <p:cNvPr id="3" name="Picture 2">
            <a:extLst>
              <a:ext uri="{FF2B5EF4-FFF2-40B4-BE49-F238E27FC236}">
                <a16:creationId xmlns:a16="http://schemas.microsoft.com/office/drawing/2014/main" id="{121AB0E8-B43D-DFDE-C896-2046E6E618BA}"/>
              </a:ext>
            </a:extLst>
          </p:cNvPr>
          <p:cNvPicPr>
            <a:picLocks noChangeAspect="1"/>
          </p:cNvPicPr>
          <p:nvPr/>
        </p:nvPicPr>
        <p:blipFill>
          <a:blip r:embed="rId6"/>
          <a:stretch>
            <a:fillRect/>
          </a:stretch>
        </p:blipFill>
        <p:spPr>
          <a:xfrm>
            <a:off x="631179" y="568742"/>
            <a:ext cx="5645882" cy="5654149"/>
          </a:xfrm>
          <a:prstGeom prst="roundRect">
            <a:avLst>
              <a:gd name="adj" fmla="val 8594"/>
            </a:avLst>
          </a:prstGeom>
          <a:solidFill>
            <a:srgbClr val="FFFFFF">
              <a:shade val="85000"/>
            </a:srgbClr>
          </a:solidFill>
          <a:ln>
            <a:noFill/>
          </a:ln>
          <a:effectLst/>
        </p:spPr>
      </p:pic>
    </p:spTree>
    <p:extLst>
      <p:ext uri="{BB962C8B-B14F-4D97-AF65-F5344CB8AC3E}">
        <p14:creationId xmlns:p14="http://schemas.microsoft.com/office/powerpoint/2010/main" val="28557886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43C5AD-3309-A9A5-F848-B93CB7BC5FD5}"/>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3B9D8A55-04E7-0528-A165-9FB98DB89054}"/>
              </a:ext>
            </a:extLst>
          </p:cNvPr>
          <p:cNvPicPr>
            <a:picLocks noChangeAspect="1"/>
          </p:cNvPicPr>
          <p:nvPr/>
        </p:nvPicPr>
        <p:blipFill>
          <a:blip r:embed="rId3"/>
          <a:stretch>
            <a:fillRect/>
          </a:stretch>
        </p:blipFill>
        <p:spPr>
          <a:xfrm>
            <a:off x="10424916" y="134700"/>
            <a:ext cx="1616752" cy="697982"/>
          </a:xfrm>
          <a:prstGeom prst="rect">
            <a:avLst/>
          </a:prstGeom>
        </p:spPr>
      </p:pic>
      <p:grpSp>
        <p:nvGrpSpPr>
          <p:cNvPr id="9" name="Group 8">
            <a:extLst>
              <a:ext uri="{FF2B5EF4-FFF2-40B4-BE49-F238E27FC236}">
                <a16:creationId xmlns:a16="http://schemas.microsoft.com/office/drawing/2014/main" id="{2E1FDC99-0FE5-B42D-815D-42276802132E}"/>
              </a:ext>
            </a:extLst>
          </p:cNvPr>
          <p:cNvGrpSpPr/>
          <p:nvPr/>
        </p:nvGrpSpPr>
        <p:grpSpPr>
          <a:xfrm>
            <a:off x="292072" y="239667"/>
            <a:ext cx="1145637" cy="1145637"/>
            <a:chOff x="5180554" y="1026138"/>
            <a:chExt cx="1316831" cy="1316831"/>
          </a:xfrm>
        </p:grpSpPr>
        <p:sp>
          <p:nvSpPr>
            <p:cNvPr id="10" name="Oval 9">
              <a:extLst>
                <a:ext uri="{FF2B5EF4-FFF2-40B4-BE49-F238E27FC236}">
                  <a16:creationId xmlns:a16="http://schemas.microsoft.com/office/drawing/2014/main" id="{1E5DC868-7EB8-4F7D-7DAE-A2A8DBE0A208}"/>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12" name="Oval 4">
              <a:extLst>
                <a:ext uri="{FF2B5EF4-FFF2-40B4-BE49-F238E27FC236}">
                  <a16:creationId xmlns:a16="http://schemas.microsoft.com/office/drawing/2014/main" id="{DACB8AB4-1258-EA30-31A5-77EEA5A000F2}"/>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
        <p:nvSpPr>
          <p:cNvPr id="14" name="Title 1">
            <a:extLst>
              <a:ext uri="{FF2B5EF4-FFF2-40B4-BE49-F238E27FC236}">
                <a16:creationId xmlns:a16="http://schemas.microsoft.com/office/drawing/2014/main" id="{659AE26C-55EC-A139-FEFB-5E8B79ECFD3A}"/>
              </a:ext>
            </a:extLst>
          </p:cNvPr>
          <p:cNvSpPr txBox="1">
            <a:spLocks/>
          </p:cNvSpPr>
          <p:nvPr/>
        </p:nvSpPr>
        <p:spPr>
          <a:xfrm>
            <a:off x="-253388" y="85619"/>
            <a:ext cx="12153316" cy="1299685"/>
          </a:xfrm>
          <a:prstGeom prst="rect">
            <a:avLst/>
          </a:prstGeom>
        </p:spPr>
        <p:txBody>
          <a:bodyPr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a:t>Vocabulary Focus</a:t>
            </a:r>
          </a:p>
        </p:txBody>
      </p:sp>
      <p:sp>
        <p:nvSpPr>
          <p:cNvPr id="15" name="TextBox 14">
            <a:extLst>
              <a:ext uri="{FF2B5EF4-FFF2-40B4-BE49-F238E27FC236}">
                <a16:creationId xmlns:a16="http://schemas.microsoft.com/office/drawing/2014/main" id="{086FA3C6-53FE-7451-6D4F-7009D38010D4}"/>
              </a:ext>
            </a:extLst>
          </p:cNvPr>
          <p:cNvSpPr txBox="1"/>
          <p:nvPr/>
        </p:nvSpPr>
        <p:spPr>
          <a:xfrm>
            <a:off x="2442576" y="1217529"/>
            <a:ext cx="7503292" cy="646331"/>
          </a:xfrm>
          <a:prstGeom prst="rect">
            <a:avLst/>
          </a:prstGeom>
          <a:noFill/>
        </p:spPr>
        <p:txBody>
          <a:bodyPr wrap="square" rtlCol="0">
            <a:spAutoFit/>
          </a:bodyPr>
          <a:lstStyle/>
          <a:p>
            <a:r>
              <a:rPr lang="en-GB"/>
              <a:t>Are there any words you feel confident to explain the meaning of (definition)? Are there any where you are less confident?</a:t>
            </a:r>
          </a:p>
        </p:txBody>
      </p:sp>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9F75FCCA-8003-024B-2B29-0EDF6D801F3D}"/>
                  </a:ext>
                </a:extLst>
              </p14:cNvPr>
              <p14:cNvContentPartPr/>
              <p14:nvPr/>
            </p14:nvContentPartPr>
            <p14:xfrm>
              <a:off x="9034477" y="550400"/>
              <a:ext cx="360" cy="360"/>
            </p14:xfrm>
          </p:contentPart>
        </mc:Choice>
        <mc:Fallback xmlns="">
          <p:pic>
            <p:nvPicPr>
              <p:cNvPr id="3" name="Ink 2">
                <a:extLst>
                  <a:ext uri="{FF2B5EF4-FFF2-40B4-BE49-F238E27FC236}">
                    <a16:creationId xmlns:a16="http://schemas.microsoft.com/office/drawing/2014/main" id="{9F75FCCA-8003-024B-2B29-0EDF6D801F3D}"/>
                  </a:ext>
                </a:extLst>
              </p:cNvPr>
              <p:cNvPicPr/>
              <p:nvPr/>
            </p:nvPicPr>
            <p:blipFill>
              <a:blip r:embed="rId5"/>
              <a:stretch>
                <a:fillRect/>
              </a:stretch>
            </p:blipFill>
            <p:spPr>
              <a:xfrm>
                <a:off x="9025117" y="541040"/>
                <a:ext cx="19080" cy="19080"/>
              </a:xfrm>
              <a:prstGeom prst="rect">
                <a:avLst/>
              </a:prstGeom>
            </p:spPr>
          </p:pic>
        </mc:Fallback>
      </mc:AlternateContent>
      <p:graphicFrame>
        <p:nvGraphicFramePr>
          <p:cNvPr id="7" name="Table 6">
            <a:extLst>
              <a:ext uri="{FF2B5EF4-FFF2-40B4-BE49-F238E27FC236}">
                <a16:creationId xmlns:a16="http://schemas.microsoft.com/office/drawing/2014/main" id="{AD7A6C68-D614-2377-056B-781707D2F236}"/>
              </a:ext>
            </a:extLst>
          </p:cNvPr>
          <p:cNvGraphicFramePr>
            <a:graphicFrameLocks noGrp="1"/>
          </p:cNvGraphicFramePr>
          <p:nvPr/>
        </p:nvGraphicFramePr>
        <p:xfrm>
          <a:off x="647700" y="2173922"/>
          <a:ext cx="10663199" cy="3429000"/>
        </p:xfrm>
        <a:graphic>
          <a:graphicData uri="http://schemas.openxmlformats.org/drawingml/2006/table">
            <a:tbl>
              <a:tblPr>
                <a:tableStyleId>{5C22544A-7EE6-4342-B048-85BDC9FD1C3A}</a:tableStyleId>
              </a:tblPr>
              <a:tblGrid>
                <a:gridCol w="1638300">
                  <a:extLst>
                    <a:ext uri="{9D8B030D-6E8A-4147-A177-3AD203B41FA5}">
                      <a16:colId xmlns:a16="http://schemas.microsoft.com/office/drawing/2014/main" val="4160592141"/>
                    </a:ext>
                  </a:extLst>
                </a:gridCol>
                <a:gridCol w="9024899">
                  <a:extLst>
                    <a:ext uri="{9D8B030D-6E8A-4147-A177-3AD203B41FA5}">
                      <a16:colId xmlns:a16="http://schemas.microsoft.com/office/drawing/2014/main" val="3033414289"/>
                    </a:ext>
                  </a:extLst>
                </a:gridCol>
              </a:tblGrid>
              <a:tr h="685800">
                <a:tc>
                  <a:txBody>
                    <a:bodyPr/>
                    <a:lstStyle/>
                    <a:p>
                      <a:pPr algn="l" fontAlgn="b">
                        <a:buNone/>
                      </a:pPr>
                      <a:r>
                        <a:rPr lang="en-GB" sz="2000" b="0" i="0" u="none" strike="noStrike">
                          <a:solidFill>
                            <a:srgbClr val="000000"/>
                          </a:solidFill>
                          <a:effectLst/>
                          <a:latin typeface="Calibri" panose="020F0502020204030204" pitchFamily="34" charset="0"/>
                        </a:rPr>
                        <a:t>instinct</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a natural feeling that makes you behave in a particular way without thinking</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53441562"/>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cautious</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careful to avoid danger; not taking risks</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24187290"/>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unlikely</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not expected to happen; surprising or improbable</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47381064"/>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vulnerable</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in a position where you could easily be hurt or harmed</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10434475"/>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loyal</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remaining faithful and supportive to someone even when things are difficult</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21865700"/>
                  </a:ext>
                </a:extLst>
              </a:tr>
            </a:tbl>
          </a:graphicData>
        </a:graphic>
      </p:graphicFrame>
      <p:sp>
        <p:nvSpPr>
          <p:cNvPr id="16" name="Rectangle 15">
            <a:extLst>
              <a:ext uri="{FF2B5EF4-FFF2-40B4-BE49-F238E27FC236}">
                <a16:creationId xmlns:a16="http://schemas.microsoft.com/office/drawing/2014/main" id="{114E80EC-EDEA-A9B8-0AA7-BDF4DBA738D9}"/>
              </a:ext>
            </a:extLst>
          </p:cNvPr>
          <p:cNvSpPr/>
          <p:nvPr/>
        </p:nvSpPr>
        <p:spPr>
          <a:xfrm>
            <a:off x="2312410" y="21739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3" name="Rectangle 12">
            <a:extLst>
              <a:ext uri="{FF2B5EF4-FFF2-40B4-BE49-F238E27FC236}">
                <a16:creationId xmlns:a16="http://schemas.microsoft.com/office/drawing/2014/main" id="{2CF9C0CB-B38A-8B6C-0680-46BD300AE1DC}"/>
              </a:ext>
            </a:extLst>
          </p:cNvPr>
          <p:cNvSpPr/>
          <p:nvPr/>
        </p:nvSpPr>
        <p:spPr>
          <a:xfrm>
            <a:off x="2312410" y="28597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7" name="Rectangle 16">
            <a:extLst>
              <a:ext uri="{FF2B5EF4-FFF2-40B4-BE49-F238E27FC236}">
                <a16:creationId xmlns:a16="http://schemas.microsoft.com/office/drawing/2014/main" id="{4BF34747-0A22-7E80-CA39-94571BB7D672}"/>
              </a:ext>
            </a:extLst>
          </p:cNvPr>
          <p:cNvSpPr/>
          <p:nvPr/>
        </p:nvSpPr>
        <p:spPr>
          <a:xfrm>
            <a:off x="2312410" y="35455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8" name="Rectangle 17">
            <a:extLst>
              <a:ext uri="{FF2B5EF4-FFF2-40B4-BE49-F238E27FC236}">
                <a16:creationId xmlns:a16="http://schemas.microsoft.com/office/drawing/2014/main" id="{FB910803-A54A-5B45-8345-8FFD7AC1C67C}"/>
              </a:ext>
            </a:extLst>
          </p:cNvPr>
          <p:cNvSpPr/>
          <p:nvPr/>
        </p:nvSpPr>
        <p:spPr>
          <a:xfrm>
            <a:off x="2312410" y="42313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9" name="Rectangle 18">
            <a:extLst>
              <a:ext uri="{FF2B5EF4-FFF2-40B4-BE49-F238E27FC236}">
                <a16:creationId xmlns:a16="http://schemas.microsoft.com/office/drawing/2014/main" id="{DB05B3E1-CB09-5A78-B03C-31610DE59A67}"/>
              </a:ext>
            </a:extLst>
          </p:cNvPr>
          <p:cNvSpPr/>
          <p:nvPr/>
        </p:nvSpPr>
        <p:spPr>
          <a:xfrm>
            <a:off x="2312410" y="49171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Tree>
    <p:extLst>
      <p:ext uri="{BB962C8B-B14F-4D97-AF65-F5344CB8AC3E}">
        <p14:creationId xmlns:p14="http://schemas.microsoft.com/office/powerpoint/2010/main" val="3287233457"/>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6"/>
                    </p:tgtEl>
                  </p:cond>
                </p:stCondLst>
                <p:endSync evt="end" delay="0">
                  <p:rtn val="all"/>
                </p:endSync>
                <p:childTnLst>
                  <p:par>
                    <p:cTn id="3" fill="hold">
                      <p:stCondLst>
                        <p:cond delay="0"/>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hidden"/>
                                      </p:to>
                                    </p:set>
                                  </p:childTnLst>
                                </p:cTn>
                              </p:par>
                            </p:childTnLst>
                          </p:cTn>
                        </p:par>
                      </p:childTnLst>
                    </p:cTn>
                  </p:par>
                </p:childTnLst>
              </p:cTn>
              <p:nextCondLst>
                <p:cond evt="onClick" delay="0">
                  <p:tgtEl>
                    <p:spTgt spid="16"/>
                  </p:tgtEl>
                </p:cond>
              </p:nextCondLst>
            </p:seq>
            <p:seq concurrent="1" nextAc="seek">
              <p:cTn id="7" restart="whenNotActive" fill="hold" evtFilter="cancelBubble" nodeType="interactiveSeq">
                <p:stCondLst>
                  <p:cond evt="onClick" delay="0">
                    <p:tgtEl>
                      <p:spTgt spid="13"/>
                    </p:tgtEl>
                  </p:cond>
                </p:stCondLst>
                <p:endSync evt="end" delay="0">
                  <p:rtn val="all"/>
                </p:endSync>
                <p:childTnLst>
                  <p:par>
                    <p:cTn id="8" fill="hold">
                      <p:stCondLst>
                        <p:cond delay="0"/>
                      </p:stCondLst>
                      <p:childTnLst>
                        <p:par>
                          <p:cTn id="9" fill="hold">
                            <p:stCondLst>
                              <p:cond delay="0"/>
                            </p:stCondLst>
                            <p:childTnLst>
                              <p:par>
                                <p:cTn id="10" presetID="1" presetClass="exit" presetSubtype="0" fill="hold" grpId="0" nodeType="clickEffect">
                                  <p:stCondLst>
                                    <p:cond delay="0"/>
                                  </p:stCondLst>
                                  <p:childTnLst>
                                    <p:set>
                                      <p:cBhvr>
                                        <p:cTn id="11" dur="1" fill="hold">
                                          <p:stCondLst>
                                            <p:cond delay="0"/>
                                          </p:stCondLst>
                                        </p:cTn>
                                        <p:tgtEl>
                                          <p:spTgt spid="13"/>
                                        </p:tgtEl>
                                        <p:attrNameLst>
                                          <p:attrName>style.visibility</p:attrName>
                                        </p:attrNameLst>
                                      </p:cBhvr>
                                      <p:to>
                                        <p:strVal val="hidden"/>
                                      </p:to>
                                    </p:set>
                                  </p:childTnLst>
                                </p:cTn>
                              </p:par>
                            </p:childTnLst>
                          </p:cTn>
                        </p:par>
                      </p:childTnLst>
                    </p:cTn>
                  </p:par>
                </p:childTnLst>
              </p:cTn>
              <p:nextCondLst>
                <p:cond evt="onClick" delay="0">
                  <p:tgtEl>
                    <p:spTgt spid="13"/>
                  </p:tgtEl>
                </p:cond>
              </p:nextCondLst>
            </p:seq>
            <p:seq concurrent="1" nextAc="seek">
              <p:cTn id="12" restart="whenNotActive" fill="hold" evtFilter="cancelBubble" nodeType="interactiveSeq">
                <p:stCondLst>
                  <p:cond evt="onClick" delay="0">
                    <p:tgtEl>
                      <p:spTgt spid="17"/>
                    </p:tgtEl>
                  </p:cond>
                </p:stCondLst>
                <p:endSync evt="end" delay="0">
                  <p:rtn val="all"/>
                </p:endSync>
                <p:childTnLst>
                  <p:par>
                    <p:cTn id="13" fill="hold">
                      <p:stCondLst>
                        <p:cond delay="0"/>
                      </p:stCondLst>
                      <p:childTnLst>
                        <p:par>
                          <p:cTn id="14" fill="hold">
                            <p:stCondLst>
                              <p:cond delay="0"/>
                            </p:stCondLst>
                            <p:childTnLst>
                              <p:par>
                                <p:cTn id="15" presetID="1" presetClass="exit"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hidden"/>
                                      </p:to>
                                    </p:set>
                                  </p:childTnLst>
                                </p:cTn>
                              </p:par>
                            </p:childTnLst>
                          </p:cTn>
                        </p:par>
                      </p:childTnLst>
                    </p:cTn>
                  </p:par>
                </p:childTnLst>
              </p:cTn>
              <p:nextCondLst>
                <p:cond evt="onClick" delay="0">
                  <p:tgtEl>
                    <p:spTgt spid="17"/>
                  </p:tgtEl>
                </p:cond>
              </p:nextCondLst>
            </p:seq>
            <p:seq concurrent="1" nextAc="seek">
              <p:cTn id="17" restart="whenNotActive" fill="hold" evtFilter="cancelBubble" nodeType="interactiveSeq">
                <p:stCondLst>
                  <p:cond evt="onClick" delay="0">
                    <p:tgtEl>
                      <p:spTgt spid="18"/>
                    </p:tgtEl>
                  </p:cond>
                </p:stCondLst>
                <p:endSync evt="end" delay="0">
                  <p:rtn val="all"/>
                </p:endSync>
                <p:childTnLst>
                  <p:par>
                    <p:cTn id="18" fill="hold">
                      <p:stCondLst>
                        <p:cond delay="0"/>
                      </p:stCondLst>
                      <p:childTnLst>
                        <p:par>
                          <p:cTn id="19" fill="hold">
                            <p:stCondLst>
                              <p:cond delay="0"/>
                            </p:stCondLst>
                            <p:childTnLst>
                              <p:par>
                                <p:cTn id="20" presetID="1" presetClass="exit" presetSubtype="0" fill="hold" grpId="0" nodeType="clickEffect">
                                  <p:stCondLst>
                                    <p:cond delay="0"/>
                                  </p:stCondLst>
                                  <p:childTnLst>
                                    <p:set>
                                      <p:cBhvr>
                                        <p:cTn id="21" dur="1" fill="hold">
                                          <p:stCondLst>
                                            <p:cond delay="0"/>
                                          </p:stCondLst>
                                        </p:cTn>
                                        <p:tgtEl>
                                          <p:spTgt spid="18"/>
                                        </p:tgtEl>
                                        <p:attrNameLst>
                                          <p:attrName>style.visibility</p:attrName>
                                        </p:attrNameLst>
                                      </p:cBhvr>
                                      <p:to>
                                        <p:strVal val="hidden"/>
                                      </p:to>
                                    </p:set>
                                  </p:childTnLst>
                                </p:cTn>
                              </p:par>
                            </p:childTnLst>
                          </p:cTn>
                        </p:par>
                      </p:childTnLst>
                    </p:cTn>
                  </p:par>
                </p:childTnLst>
              </p:cTn>
              <p:nextCondLst>
                <p:cond evt="onClick" delay="0">
                  <p:tgtEl>
                    <p:spTgt spid="18"/>
                  </p:tgtEl>
                </p:cond>
              </p:nextCondLst>
            </p:seq>
            <p:seq concurrent="1" nextAc="seek">
              <p:cTn id="22" restart="whenNotActive" fill="hold" evtFilter="cancelBubble" nodeType="interactiveSeq">
                <p:stCondLst>
                  <p:cond evt="onClick" delay="0">
                    <p:tgtEl>
                      <p:spTgt spid="19"/>
                    </p:tgtEl>
                  </p:cond>
                </p:stCondLst>
                <p:endSync evt="end" delay="0">
                  <p:rtn val="all"/>
                </p:endSync>
                <p:childTnLst>
                  <p:par>
                    <p:cTn id="23" fill="hold">
                      <p:stCondLst>
                        <p:cond delay="0"/>
                      </p:stCondLst>
                      <p:childTnLst>
                        <p:par>
                          <p:cTn id="24" fill="hold">
                            <p:stCondLst>
                              <p:cond delay="0"/>
                            </p:stCondLst>
                            <p:childTnLst>
                              <p:par>
                                <p:cTn id="25" presetID="1" presetClass="exit" presetSubtype="0" fill="hold" grpId="0" nodeType="clickEffect">
                                  <p:stCondLst>
                                    <p:cond delay="0"/>
                                  </p:stCondLst>
                                  <p:childTnLst>
                                    <p:set>
                                      <p:cBhvr>
                                        <p:cTn id="26" dur="1" fill="hold">
                                          <p:stCondLst>
                                            <p:cond delay="0"/>
                                          </p:stCondLst>
                                        </p:cTn>
                                        <p:tgtEl>
                                          <p:spTgt spid="19"/>
                                        </p:tgtEl>
                                        <p:attrNameLst>
                                          <p:attrName>style.visibility</p:attrName>
                                        </p:attrNameLst>
                                      </p:cBhvr>
                                      <p:to>
                                        <p:strVal val="hidden"/>
                                      </p:to>
                                    </p:set>
                                  </p:childTnLst>
                                </p:cTn>
                              </p:par>
                            </p:childTnLst>
                          </p:cTn>
                        </p:par>
                      </p:childTnLst>
                    </p:cTn>
                  </p:par>
                </p:childTnLst>
              </p:cTn>
              <p:nextCondLst>
                <p:cond evt="onClick" delay="0">
                  <p:tgtEl>
                    <p:spTgt spid="19"/>
                  </p:tgtEl>
                </p:cond>
              </p:nextCondLst>
            </p:seq>
          </p:childTnLst>
        </p:cTn>
      </p:par>
    </p:tnLst>
    <p:bldLst>
      <p:bldP spid="16" grpId="0" animBg="1"/>
      <p:bldP spid="13" grpId="0" animBg="1"/>
      <p:bldP spid="17" grpId="0" animBg="1"/>
      <p:bldP spid="18" grpId="0" animBg="1"/>
      <p:bldP spid="19"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2C497C-5676-F0CE-9C15-81908FA1F34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7DCBDDC3-E8B4-5DB7-95EB-E4EB767438DF}"/>
              </a:ext>
            </a:extLst>
          </p:cNvPr>
          <p:cNvGrpSpPr/>
          <p:nvPr/>
        </p:nvGrpSpPr>
        <p:grpSpPr>
          <a:xfrm>
            <a:off x="38684" y="68473"/>
            <a:ext cx="1316831" cy="1316831"/>
            <a:chOff x="5180554" y="1026138"/>
            <a:chExt cx="1316831" cy="1316831"/>
          </a:xfrm>
        </p:grpSpPr>
        <p:sp>
          <p:nvSpPr>
            <p:cNvPr id="4" name="Oval 3">
              <a:extLst>
                <a:ext uri="{FF2B5EF4-FFF2-40B4-BE49-F238E27FC236}">
                  <a16:creationId xmlns:a16="http://schemas.microsoft.com/office/drawing/2014/main" id="{4D7EC211-6C19-B85F-7D0D-25A8FEEA3637}"/>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6" name="Oval 4">
              <a:extLst>
                <a:ext uri="{FF2B5EF4-FFF2-40B4-BE49-F238E27FC236}">
                  <a16:creationId xmlns:a16="http://schemas.microsoft.com/office/drawing/2014/main" id="{6358CBDE-7D41-F226-3072-41F208B4D98A}"/>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
        <p:nvSpPr>
          <p:cNvPr id="13" name="Title 1">
            <a:extLst>
              <a:ext uri="{FF2B5EF4-FFF2-40B4-BE49-F238E27FC236}">
                <a16:creationId xmlns:a16="http://schemas.microsoft.com/office/drawing/2014/main" id="{9CDE4E57-6664-84F7-C8E9-8F4381A4D091}"/>
              </a:ext>
            </a:extLst>
          </p:cNvPr>
          <p:cNvSpPr txBox="1">
            <a:spLocks/>
          </p:cNvSpPr>
          <p:nvPr/>
        </p:nvSpPr>
        <p:spPr>
          <a:xfrm>
            <a:off x="2535882" y="918780"/>
            <a:ext cx="5559247"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endParaRPr lang="en-GB" sz="2800"/>
          </a:p>
        </p:txBody>
      </p:sp>
      <p:sp>
        <p:nvSpPr>
          <p:cNvPr id="3" name="Title 1">
            <a:extLst>
              <a:ext uri="{FF2B5EF4-FFF2-40B4-BE49-F238E27FC236}">
                <a16:creationId xmlns:a16="http://schemas.microsoft.com/office/drawing/2014/main" id="{3B86A135-C8BF-2285-F3AA-0B4C5706CE90}"/>
              </a:ext>
            </a:extLst>
          </p:cNvPr>
          <p:cNvSpPr txBox="1">
            <a:spLocks/>
          </p:cNvSpPr>
          <p:nvPr/>
        </p:nvSpPr>
        <p:spPr>
          <a:xfrm>
            <a:off x="0" y="85619"/>
            <a:ext cx="12192000" cy="1498214"/>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50000"/>
              </a:lnSpc>
            </a:pPr>
            <a:r>
              <a:rPr lang="en-GB" sz="4000"/>
              <a:t>Vocabulary Focus</a:t>
            </a:r>
          </a:p>
        </p:txBody>
      </p:sp>
      <p:sp>
        <p:nvSpPr>
          <p:cNvPr id="7" name="Title 1">
            <a:extLst>
              <a:ext uri="{FF2B5EF4-FFF2-40B4-BE49-F238E27FC236}">
                <a16:creationId xmlns:a16="http://schemas.microsoft.com/office/drawing/2014/main" id="{07FF75F1-41FF-EEA3-B802-ED64112A7D02}"/>
              </a:ext>
            </a:extLst>
          </p:cNvPr>
          <p:cNvSpPr txBox="1">
            <a:spLocks/>
          </p:cNvSpPr>
          <p:nvPr/>
        </p:nvSpPr>
        <p:spPr>
          <a:xfrm>
            <a:off x="5590032" y="604264"/>
            <a:ext cx="1873406" cy="97956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GB" sz="4000" b="1"/>
          </a:p>
        </p:txBody>
      </p:sp>
      <p:graphicFrame>
        <p:nvGraphicFramePr>
          <p:cNvPr id="9" name="Table 8">
            <a:extLst>
              <a:ext uri="{FF2B5EF4-FFF2-40B4-BE49-F238E27FC236}">
                <a16:creationId xmlns:a16="http://schemas.microsoft.com/office/drawing/2014/main" id="{98F68A2F-1F77-2878-BCF5-883045F28026}"/>
              </a:ext>
            </a:extLst>
          </p:cNvPr>
          <p:cNvGraphicFramePr>
            <a:graphicFrameLocks noGrp="1"/>
          </p:cNvGraphicFramePr>
          <p:nvPr/>
        </p:nvGraphicFramePr>
        <p:xfrm>
          <a:off x="2032000" y="1727002"/>
          <a:ext cx="8128000" cy="4922852"/>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811326830"/>
                    </a:ext>
                  </a:extLst>
                </a:gridCol>
                <a:gridCol w="4064000">
                  <a:extLst>
                    <a:ext uri="{9D8B030D-6E8A-4147-A177-3AD203B41FA5}">
                      <a16:colId xmlns:a16="http://schemas.microsoft.com/office/drawing/2014/main" val="773647625"/>
                    </a:ext>
                  </a:extLst>
                </a:gridCol>
              </a:tblGrid>
              <a:tr h="2461426">
                <a:tc>
                  <a:txBody>
                    <a:bodyPr/>
                    <a:lstStyle/>
                    <a:p>
                      <a:r>
                        <a:rPr lang="en-GB" b="0">
                          <a:solidFill>
                            <a:schemeClr val="tx1"/>
                          </a:solidFill>
                        </a:rPr>
                        <a:t>Write it 5 times</a:t>
                      </a:r>
                    </a:p>
                    <a:p>
                      <a:endParaRPr lang="en-GB" b="0">
                        <a:solidFill>
                          <a:schemeClr val="tx1"/>
                        </a:solidFill>
                      </a:endParaRPr>
                    </a:p>
                    <a:p>
                      <a:pPr algn="ctr"/>
                      <a:r>
                        <a:rPr lang="en-GB" sz="3200" b="0">
                          <a:solidFill>
                            <a:schemeClr val="tx1"/>
                          </a:solidFill>
                          <a:latin typeface="XCCW Joined 4a" panose="03050602040000000000" pitchFamily="66" charset="77"/>
                        </a:rPr>
                        <a:t>cautious</a:t>
                      </a:r>
                    </a:p>
                    <a:p>
                      <a:endParaRPr lang="en-GB" b="0">
                        <a:solidFill>
                          <a:schemeClr val="tx1"/>
                        </a:solidFill>
                        <a:latin typeface="XCCW Joined 4a" panose="03050602040000000000" pitchFamily="66" charset="77"/>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400">
                          <a:solidFill>
                            <a:schemeClr val="tx1"/>
                          </a:solidFill>
                        </a:rPr>
                        <a:t>Use it in a sentence</a:t>
                      </a:r>
                    </a:p>
                    <a:p>
                      <a:endParaRPr lang="en-GB" sz="2400" b="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64313380"/>
                  </a:ext>
                </a:extLst>
              </a:tr>
              <a:tr h="2461426">
                <a:tc gridSpan="2">
                  <a:txBody>
                    <a:bodyPr/>
                    <a:lstStyle/>
                    <a:p>
                      <a:r>
                        <a:rPr lang="en-GB">
                          <a:solidFill>
                            <a:schemeClr val="tx1"/>
                          </a:solidFill>
                        </a:rPr>
                        <a:t>Other linked words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3729397"/>
                  </a:ext>
                </a:extLst>
              </a:tr>
            </a:tbl>
          </a:graphicData>
        </a:graphic>
      </p:graphicFrame>
      <p:pic>
        <p:nvPicPr>
          <p:cNvPr id="8" name="Picture 7">
            <a:extLst>
              <a:ext uri="{FF2B5EF4-FFF2-40B4-BE49-F238E27FC236}">
                <a16:creationId xmlns:a16="http://schemas.microsoft.com/office/drawing/2014/main" id="{755B9240-8989-B9DB-0B3B-B8D062E07BCE}"/>
              </a:ext>
            </a:extLst>
          </p:cNvPr>
          <p:cNvPicPr>
            <a:picLocks noChangeAspect="1"/>
          </p:cNvPicPr>
          <p:nvPr/>
        </p:nvPicPr>
        <p:blipFill>
          <a:blip r:embed="rId3"/>
          <a:stretch>
            <a:fillRect/>
          </a:stretch>
        </p:blipFill>
        <p:spPr>
          <a:xfrm>
            <a:off x="10424916" y="134700"/>
            <a:ext cx="1616752" cy="697982"/>
          </a:xfrm>
          <a:prstGeom prst="rect">
            <a:avLst/>
          </a:prstGeom>
        </p:spPr>
      </p:pic>
      <p:sp>
        <p:nvSpPr>
          <p:cNvPr id="5" name="TextBox 4">
            <a:extLst>
              <a:ext uri="{FF2B5EF4-FFF2-40B4-BE49-F238E27FC236}">
                <a16:creationId xmlns:a16="http://schemas.microsoft.com/office/drawing/2014/main" id="{7904627B-45D6-BE36-7042-C69B53AD1828}"/>
              </a:ext>
            </a:extLst>
          </p:cNvPr>
          <p:cNvSpPr txBox="1"/>
          <p:nvPr/>
        </p:nvSpPr>
        <p:spPr>
          <a:xfrm>
            <a:off x="4766154" y="5299847"/>
            <a:ext cx="2400000" cy="480000"/>
          </a:xfrm>
          <a:prstGeom prst="rect">
            <a:avLst/>
          </a:prstGeom>
          <a:noFill/>
        </p:spPr>
        <p:txBody>
          <a:bodyPr wrap="square" rtlCol="0" anchor="ctr"/>
          <a:lstStyle/>
          <a:p>
            <a:pPr algn="ctr"/>
            <a:r>
              <a:rPr lang="en-GB"/>
              <a:t>cautious</a:t>
            </a:r>
          </a:p>
        </p:txBody>
      </p:sp>
      <p:cxnSp>
        <p:nvCxnSpPr>
          <p:cNvPr id="12" name="Straight Connector 11">
            <a:extLst>
              <a:ext uri="{FF2B5EF4-FFF2-40B4-BE49-F238E27FC236}">
                <a16:creationId xmlns:a16="http://schemas.microsoft.com/office/drawing/2014/main" id="{483F9876-11CA-68D4-B5B9-503CB1452DDF}"/>
              </a:ext>
            </a:extLst>
          </p:cNvPr>
          <p:cNvCxnSpPr/>
          <p:nvPr/>
        </p:nvCxnSpPr>
        <p:spPr>
          <a:xfrm flipV="1">
            <a:off x="6391527" y="4613658"/>
            <a:ext cx="807506" cy="782198"/>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167DD069-433E-BF48-9167-8E5BCC114624}"/>
              </a:ext>
            </a:extLst>
          </p:cNvPr>
          <p:cNvCxnSpPr>
            <a:cxnSpLocks/>
          </p:cNvCxnSpPr>
          <p:nvPr/>
        </p:nvCxnSpPr>
        <p:spPr>
          <a:xfrm>
            <a:off x="6532910" y="5656722"/>
            <a:ext cx="930528" cy="2169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D37026A-B5E7-A43B-7015-F91BED67059F}"/>
              </a:ext>
            </a:extLst>
          </p:cNvPr>
          <p:cNvCxnSpPr>
            <a:cxnSpLocks/>
          </p:cNvCxnSpPr>
          <p:nvPr/>
        </p:nvCxnSpPr>
        <p:spPr>
          <a:xfrm flipV="1">
            <a:off x="4786339" y="5656722"/>
            <a:ext cx="791952" cy="565398"/>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47576966-8817-48AF-F837-0832462F5E46}"/>
              </a:ext>
            </a:extLst>
          </p:cNvPr>
          <p:cNvCxnSpPr>
            <a:cxnSpLocks/>
          </p:cNvCxnSpPr>
          <p:nvPr/>
        </p:nvCxnSpPr>
        <p:spPr>
          <a:xfrm>
            <a:off x="4688753" y="5010683"/>
            <a:ext cx="852027" cy="382970"/>
          </a:xfrm>
          <a:prstGeom prst="line">
            <a:avLst/>
          </a:prstGeom>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6EE6038E-2E20-39E1-51AA-382FB77B2D40}"/>
              </a:ext>
            </a:extLst>
          </p:cNvPr>
          <p:cNvPicPr>
            <a:picLocks noChangeAspect="1"/>
          </p:cNvPicPr>
          <p:nvPr/>
        </p:nvPicPr>
        <p:blipFill>
          <a:blip r:embed="rId4"/>
          <a:stretch>
            <a:fillRect/>
          </a:stretch>
        </p:blipFill>
        <p:spPr>
          <a:xfrm>
            <a:off x="6502757" y="2982841"/>
            <a:ext cx="3184743" cy="794571"/>
          </a:xfrm>
          <a:prstGeom prst="rect">
            <a:avLst/>
          </a:prstGeom>
          <a:solidFill>
            <a:schemeClr val="bg1"/>
          </a:solidFill>
        </p:spPr>
      </p:pic>
    </p:spTree>
    <p:extLst>
      <p:ext uri="{BB962C8B-B14F-4D97-AF65-F5344CB8AC3E}">
        <p14:creationId xmlns:p14="http://schemas.microsoft.com/office/powerpoint/2010/main" val="39342315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7C8F1879-9C69-AABD-5D27-70A3FD61C54F}"/>
              </a:ext>
            </a:extLst>
          </p:cNvPr>
          <p:cNvGrpSpPr/>
          <p:nvPr/>
        </p:nvGrpSpPr>
        <p:grpSpPr>
          <a:xfrm>
            <a:off x="43957" y="90546"/>
            <a:ext cx="963274" cy="909579"/>
            <a:chOff x="1630613" y="1026138"/>
            <a:chExt cx="1316831" cy="1316831"/>
          </a:xfrm>
        </p:grpSpPr>
        <p:sp>
          <p:nvSpPr>
            <p:cNvPr id="4" name="Oval 3">
              <a:extLst>
                <a:ext uri="{FF2B5EF4-FFF2-40B4-BE49-F238E27FC236}">
                  <a16:creationId xmlns:a16="http://schemas.microsoft.com/office/drawing/2014/main" id="{C5A04DD0-FF30-895F-0ED9-888B47B1A02D}"/>
                </a:ext>
              </a:extLst>
            </p:cNvPr>
            <p:cNvSpPr/>
            <p:nvPr/>
          </p:nvSpPr>
          <p:spPr>
            <a:xfrm>
              <a:off x="1630613" y="1026138"/>
              <a:ext cx="1316831" cy="1316831"/>
            </a:xfrm>
            <a:prstGeom prst="ellipse">
              <a:avLst/>
            </a:prstGeom>
            <a:solidFill>
              <a:srgbClr val="A2CFFC"/>
            </a:solidFill>
            <a:ln w="38100">
              <a:solidFill>
                <a:srgbClr val="0762BA"/>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5" name="Oval 4">
              <a:extLst>
                <a:ext uri="{FF2B5EF4-FFF2-40B4-BE49-F238E27FC236}">
                  <a16:creationId xmlns:a16="http://schemas.microsoft.com/office/drawing/2014/main" id="{8EBD88F1-D64A-0A71-7434-4A250ABBD4E6}"/>
                </a:ext>
              </a:extLst>
            </p:cNvPr>
            <p:cNvSpPr txBox="1"/>
            <p:nvPr/>
          </p:nvSpPr>
          <p:spPr>
            <a:xfrm>
              <a:off x="1823458"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rmAutofit/>
            </a:bodyPr>
            <a:lstStyle/>
            <a:p>
              <a:pPr marL="0" lvl="0" indent="0" algn="ctr" defTabSz="577850">
                <a:lnSpc>
                  <a:spcPct val="90000"/>
                </a:lnSpc>
                <a:spcBef>
                  <a:spcPct val="0"/>
                </a:spcBef>
                <a:spcAft>
                  <a:spcPct val="35000"/>
                </a:spcAft>
                <a:buNone/>
              </a:pPr>
              <a:r>
                <a:rPr lang="en-GB" sz="1300" b="1" kern="1200">
                  <a:solidFill>
                    <a:srgbClr val="0762BA"/>
                  </a:solidFill>
                  <a:latin typeface="Sassoon Infant Rg" panose="02000503030000020003" pitchFamily="2" charset="0"/>
                  <a:ea typeface="Sassoon Infant Rg" panose="02000503030000020003" pitchFamily="2" charset="0"/>
                </a:rPr>
                <a:t>Decoding &amp; phonics</a:t>
              </a:r>
            </a:p>
          </p:txBody>
        </p:sp>
      </p:grpSp>
      <p:pic>
        <p:nvPicPr>
          <p:cNvPr id="11" name="Picture 10">
            <a:extLst>
              <a:ext uri="{FF2B5EF4-FFF2-40B4-BE49-F238E27FC236}">
                <a16:creationId xmlns:a16="http://schemas.microsoft.com/office/drawing/2014/main" id="{5B88EF2C-3893-9BD5-87F9-6BF0F699F9A5}"/>
              </a:ext>
            </a:extLst>
          </p:cNvPr>
          <p:cNvPicPr/>
          <p:nvPr/>
        </p:nvPicPr>
        <p:blipFill>
          <a:blip r:embed="rId3">
            <a:extLst>
              <a:ext uri="{28A0092B-C50C-407E-A947-70E740481C1C}">
                <a14:useLocalDpi xmlns:a14="http://schemas.microsoft.com/office/drawing/2010/main" val="0"/>
              </a:ext>
            </a:extLst>
          </a:blip>
          <a:stretch>
            <a:fillRect/>
          </a:stretch>
        </p:blipFill>
        <p:spPr>
          <a:xfrm>
            <a:off x="10539555" y="90546"/>
            <a:ext cx="1691129" cy="711848"/>
          </a:xfrm>
          <a:prstGeom prst="rect">
            <a:avLst/>
          </a:prstGeom>
        </p:spPr>
      </p:pic>
      <p:sp>
        <p:nvSpPr>
          <p:cNvPr id="12" name="Title 1">
            <a:extLst>
              <a:ext uri="{FF2B5EF4-FFF2-40B4-BE49-F238E27FC236}">
                <a16:creationId xmlns:a16="http://schemas.microsoft.com/office/drawing/2014/main" id="{D07968F0-1915-728F-1F6D-2CB9277677F6}"/>
              </a:ext>
            </a:extLst>
          </p:cNvPr>
          <p:cNvSpPr txBox="1">
            <a:spLocks/>
          </p:cNvSpPr>
          <p:nvPr/>
        </p:nvSpPr>
        <p:spPr>
          <a:xfrm>
            <a:off x="38684" y="-18063"/>
            <a:ext cx="12153316" cy="1299685"/>
          </a:xfrm>
          <a:prstGeom prst="rect">
            <a:avLst/>
          </a:prstGeom>
        </p:spPr>
        <p:txBody>
          <a:bodyPr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a:t>Independent Read</a:t>
            </a:r>
          </a:p>
        </p:txBody>
      </p:sp>
      <p:sp>
        <p:nvSpPr>
          <p:cNvPr id="22" name="TextBox 21">
            <a:extLst>
              <a:ext uri="{FF2B5EF4-FFF2-40B4-BE49-F238E27FC236}">
                <a16:creationId xmlns:a16="http://schemas.microsoft.com/office/drawing/2014/main" id="{BBE494B4-E4A1-C48A-15E2-3683EA0AD086}"/>
              </a:ext>
            </a:extLst>
          </p:cNvPr>
          <p:cNvSpPr txBox="1"/>
          <p:nvPr/>
        </p:nvSpPr>
        <p:spPr>
          <a:xfrm>
            <a:off x="1" y="931322"/>
            <a:ext cx="12191999" cy="830997"/>
          </a:xfrm>
          <a:prstGeom prst="rect">
            <a:avLst/>
          </a:prstGeom>
          <a:noFill/>
        </p:spPr>
        <p:txBody>
          <a:bodyPr wrap="square">
            <a:spAutoFit/>
          </a:bodyPr>
          <a:lstStyle/>
          <a:p>
            <a:pPr algn="ctr"/>
            <a:r>
              <a:rPr lang="en-GB" sz="1800" dirty="0">
                <a:effectLst/>
                <a:latin typeface="Sassoon Infant Rg" panose="02000503030000020003" pitchFamily="2" charset="0"/>
                <a:ea typeface="Sassoon Infant Rg" panose="02000503030000020003" pitchFamily="2" charset="0"/>
                <a:cs typeface="Times New Roman" panose="02020603050405020304" pitchFamily="18" charset="0"/>
              </a:rPr>
              <a:t xml:space="preserve">Read the complete text – underline any words or phrases you don’t understand.  Re-read full sentences for any parts you couldn’t read smoothly on the first attempt. </a:t>
            </a:r>
            <a:endParaRPr lang="en-GB" b="1" dirty="0"/>
          </a:p>
        </p:txBody>
      </p:sp>
      <p:sp>
        <p:nvSpPr>
          <p:cNvPr id="6" name="TextBox 5">
            <a:extLst>
              <a:ext uri="{FF2B5EF4-FFF2-40B4-BE49-F238E27FC236}">
                <a16:creationId xmlns:a16="http://schemas.microsoft.com/office/drawing/2014/main" id="{38C25E62-7AE0-A783-1D87-77105CAB659E}"/>
              </a:ext>
            </a:extLst>
          </p:cNvPr>
          <p:cNvSpPr txBox="1"/>
          <p:nvPr/>
        </p:nvSpPr>
        <p:spPr>
          <a:xfrm>
            <a:off x="2226896" y="3673314"/>
            <a:ext cx="7629665" cy="2308324"/>
          </a:xfrm>
          <a:prstGeom prst="rect">
            <a:avLst/>
          </a:prstGeom>
          <a:noFill/>
        </p:spPr>
        <p:txBody>
          <a:bodyPr wrap="square" rtlCol="0">
            <a:spAutoFit/>
          </a:bodyPr>
          <a:lstStyle/>
          <a:p>
            <a:endParaRPr lang="en-GB"/>
          </a:p>
          <a:p>
            <a:pPr marL="342900" indent="-342900">
              <a:buFont typeface="+mj-lt"/>
              <a:buAutoNum type="arabicPeriod"/>
            </a:pPr>
            <a:r>
              <a:rPr lang="en-GB"/>
              <a:t>Read by segmenting into phonemes and syllables</a:t>
            </a:r>
          </a:p>
          <a:p>
            <a:pPr marL="342900" indent="-342900">
              <a:buFont typeface="+mj-lt"/>
              <a:buAutoNum type="arabicPeriod"/>
            </a:pPr>
            <a:r>
              <a:rPr lang="en-GB"/>
              <a:t>Make a sensible attempt, making sure you blend ALL the sounds as you read.</a:t>
            </a:r>
          </a:p>
          <a:p>
            <a:pPr marL="342900" indent="-342900">
              <a:buFont typeface="+mj-lt"/>
              <a:buAutoNum type="arabicPeriod"/>
            </a:pPr>
            <a:r>
              <a:rPr lang="en-GB"/>
              <a:t>Use the context and parts of the word to make a sensible attempt at a definition.</a:t>
            </a:r>
          </a:p>
          <a:p>
            <a:pPr marL="342900" indent="-342900">
              <a:buFont typeface="+mj-lt"/>
              <a:buAutoNum type="arabicPeriod"/>
            </a:pPr>
            <a:endParaRPr lang="en-GB"/>
          </a:p>
          <a:p>
            <a:r>
              <a:rPr lang="en-GB"/>
              <a:t>Remember to re-read the entire sentence again.</a:t>
            </a:r>
          </a:p>
        </p:txBody>
      </p:sp>
      <p:pic>
        <p:nvPicPr>
          <p:cNvPr id="2" name="Picture 1">
            <a:extLst>
              <a:ext uri="{FF2B5EF4-FFF2-40B4-BE49-F238E27FC236}">
                <a16:creationId xmlns:a16="http://schemas.microsoft.com/office/drawing/2014/main" id="{4A238304-94B7-D6B3-84C9-8D8F6CDD2BB4}"/>
              </a:ext>
            </a:extLst>
          </p:cNvPr>
          <p:cNvPicPr>
            <a:picLocks noChangeAspect="1"/>
          </p:cNvPicPr>
          <p:nvPr/>
        </p:nvPicPr>
        <p:blipFill>
          <a:blip r:embed="rId4"/>
          <a:stretch>
            <a:fillRect/>
          </a:stretch>
        </p:blipFill>
        <p:spPr>
          <a:xfrm>
            <a:off x="866163" y="2097530"/>
            <a:ext cx="10351133" cy="1434810"/>
          </a:xfrm>
          <a:prstGeom prst="rect">
            <a:avLst/>
          </a:prstGeom>
        </p:spPr>
      </p:pic>
      <p:sp>
        <p:nvSpPr>
          <p:cNvPr id="13" name="TextBox 12">
            <a:extLst>
              <a:ext uri="{FF2B5EF4-FFF2-40B4-BE49-F238E27FC236}">
                <a16:creationId xmlns:a16="http://schemas.microsoft.com/office/drawing/2014/main" id="{A473D780-1F99-6094-42B5-9820D9017C99}"/>
              </a:ext>
            </a:extLst>
          </p:cNvPr>
          <p:cNvSpPr txBox="1"/>
          <p:nvPr/>
        </p:nvSpPr>
        <p:spPr>
          <a:xfrm>
            <a:off x="-2406316" y="1524000"/>
            <a:ext cx="184731" cy="369332"/>
          </a:xfrm>
          <a:prstGeom prst="rect">
            <a:avLst/>
          </a:prstGeom>
          <a:noFill/>
        </p:spPr>
        <p:txBody>
          <a:bodyPr wrap="none" rtlCol="0">
            <a:spAutoFit/>
          </a:bodyPr>
          <a:lstStyle/>
          <a:p>
            <a:endParaRPr lang="en-GB"/>
          </a:p>
        </p:txBody>
      </p:sp>
      <p:sp>
        <p:nvSpPr>
          <p:cNvPr id="15" name="TextBox 14">
            <a:extLst>
              <a:ext uri="{FF2B5EF4-FFF2-40B4-BE49-F238E27FC236}">
                <a16:creationId xmlns:a16="http://schemas.microsoft.com/office/drawing/2014/main" id="{E15A5C10-306D-554F-EAA6-B73E5AF3D6C7}"/>
              </a:ext>
            </a:extLst>
          </p:cNvPr>
          <p:cNvSpPr txBox="1"/>
          <p:nvPr/>
        </p:nvSpPr>
        <p:spPr>
          <a:xfrm>
            <a:off x="209488" y="1865629"/>
            <a:ext cx="11861201" cy="3985274"/>
          </a:xfrm>
          <a:prstGeom prst="rect">
            <a:avLst/>
          </a:prstGeom>
          <a:solidFill>
            <a:schemeClr val="accent5">
              <a:lumMod val="20000"/>
              <a:lumOff val="80000"/>
            </a:schemeClr>
          </a:solidFill>
        </p:spPr>
        <p:txBody>
          <a:bodyPr wrap="square" anchor="ctr">
            <a:noAutofit/>
          </a:bodyPr>
          <a:lstStyle/>
          <a:p>
            <a:r>
              <a:rPr lang="en-US" sz="2200" dirty="0"/>
              <a:t>Cludge did not look like a friend. He was enormous — far bigger than any creature Varjak had encountered in the city — with a coat the colour of mud and paws like small boulders. When Varjak first spotted him, every instinct told him to run: his fur bristled, his claws flexed, and his heart hammered against his ribs in a rhythm that had only one word in it. Danger. But Cludge simply sat there in the rain, blinking his enormous, slow eyes, and something in his stillness made Varjak pause. He had never expected to feel anything other than fear around a dog. He remained cautious, keeping low to the ground and watching every tiny movement, yet he did not leave. There was something in the dog’s expression — a kind of sadness, a kind of loneliness — that Varjak recognised, because he had felt it himself ever since arriving in the city. Slowly, hesitantly, he crept a little closer. It was perhaps the most unlikely friendship either of them had ever imagined. Varjak was a kitten, small and vulnerable, far from everything he had ever known. Cludge was a stray, enormous and gentle, with no one in the world. But as the rain fell quietly around them and neither of them moved away, something passed between them that neither could have named — the first, fragile thread of something that might one day become loyal and true.</a:t>
            </a:r>
          </a:p>
        </p:txBody>
      </p:sp>
      <p:sp>
        <p:nvSpPr>
          <p:cNvPr id="10" name="Rounded Rectangle 9">
            <a:extLst>
              <a:ext uri="{FF2B5EF4-FFF2-40B4-BE49-F238E27FC236}">
                <a16:creationId xmlns:a16="http://schemas.microsoft.com/office/drawing/2014/main" id="{911D3733-5EF2-7482-D164-B776AE41E9CC}"/>
              </a:ext>
            </a:extLst>
          </p:cNvPr>
          <p:cNvSpPr/>
          <p:nvPr/>
        </p:nvSpPr>
        <p:spPr>
          <a:xfrm>
            <a:off x="8019658" y="6325456"/>
            <a:ext cx="4026568" cy="43134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Show / Hide Extract</a:t>
            </a:r>
          </a:p>
        </p:txBody>
      </p:sp>
    </p:spTree>
    <p:extLst>
      <p:ext uri="{BB962C8B-B14F-4D97-AF65-F5344CB8AC3E}">
        <p14:creationId xmlns:p14="http://schemas.microsoft.com/office/powerpoint/2010/main" val="1979448493"/>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0"/>
                    </p:tgtEl>
                  </p:cond>
                </p:stCondLst>
                <p:endSync evt="end" delay="0">
                  <p:rtn val="all"/>
                </p:endSync>
                <p:childTnLst>
                  <p:par>
                    <p:cTn id="3" fill="hold">
                      <p:stCondLst>
                        <p:cond delay="0"/>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15"/>
                                        </p:tgtEl>
                                        <p:attrNameLst>
                                          <p:attrName>style.visibility</p:attrName>
                                        </p:attrNameLst>
                                      </p:cBhvr>
                                      <p:to>
                                        <p:strVal val="hidden"/>
                                      </p:to>
                                    </p:set>
                                  </p:childTnLst>
                                </p:cTn>
                              </p:par>
                            </p:childTnLst>
                          </p:cTn>
                        </p:par>
                      </p:childTnLst>
                    </p:cTn>
                  </p:par>
                </p:childTnLst>
              </p:cTn>
              <p:nextCondLst>
                <p:cond evt="onClick" delay="0">
                  <p:tgtEl>
                    <p:spTgt spid="10"/>
                  </p:tgtEl>
                </p:cond>
              </p:nextCondLst>
            </p:seq>
          </p:childTnLst>
        </p:cTn>
      </p:par>
    </p:tnLst>
    <p:bldLst>
      <p:bldP spid="15" grpId="0" animBg="1"/>
      <p:bldP spid="15" grpId="1"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215917-BDE9-A483-7A0D-AC15BA636611}"/>
            </a:ext>
          </a:extLst>
        </p:cNvPr>
        <p:cNvGrpSpPr/>
        <p:nvPr/>
      </p:nvGrpSpPr>
      <p:grpSpPr>
        <a:xfrm>
          <a:off x="0" y="0"/>
          <a:ext cx="0" cy="0"/>
          <a:chOff x="0" y="0"/>
          <a:chExt cx="0" cy="0"/>
        </a:xfrm>
      </p:grpSpPr>
      <p:sp>
        <p:nvSpPr>
          <p:cNvPr id="6" name="Freeform: Shape 5">
            <a:extLst>
              <a:ext uri="{FF2B5EF4-FFF2-40B4-BE49-F238E27FC236}">
                <a16:creationId xmlns:a16="http://schemas.microsoft.com/office/drawing/2014/main" id="{3E3AA9AF-9E3C-B821-0C95-D4AA63DFFCBB}"/>
              </a:ext>
            </a:extLst>
          </p:cNvPr>
          <p:cNvSpPr/>
          <p:nvPr/>
        </p:nvSpPr>
        <p:spPr>
          <a:xfrm>
            <a:off x="2609369" y="1646785"/>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7" name="Oval 6">
            <a:extLst>
              <a:ext uri="{FF2B5EF4-FFF2-40B4-BE49-F238E27FC236}">
                <a16:creationId xmlns:a16="http://schemas.microsoft.com/office/drawing/2014/main" id="{BC8D8944-1BCF-D4B0-7DAF-EF76646CCF50}"/>
              </a:ext>
            </a:extLst>
          </p:cNvPr>
          <p:cNvSpPr/>
          <p:nvPr/>
        </p:nvSpPr>
        <p:spPr>
          <a:xfrm>
            <a:off x="2057663" y="2106659"/>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grpSp>
        <p:nvGrpSpPr>
          <p:cNvPr id="8" name="Group 7">
            <a:extLst>
              <a:ext uri="{FF2B5EF4-FFF2-40B4-BE49-F238E27FC236}">
                <a16:creationId xmlns:a16="http://schemas.microsoft.com/office/drawing/2014/main" id="{6EE8B722-85CC-7111-AF8B-97EEBEE9A272}"/>
              </a:ext>
            </a:extLst>
          </p:cNvPr>
          <p:cNvGrpSpPr/>
          <p:nvPr/>
        </p:nvGrpSpPr>
        <p:grpSpPr>
          <a:xfrm>
            <a:off x="3003018" y="1125085"/>
            <a:ext cx="1838188" cy="1169519"/>
            <a:chOff x="2644385" y="2866760"/>
            <a:chExt cx="1838188" cy="1384526"/>
          </a:xfrm>
        </p:grpSpPr>
        <p:sp>
          <p:nvSpPr>
            <p:cNvPr id="9" name="Freeform: Shape 8">
              <a:extLst>
                <a:ext uri="{FF2B5EF4-FFF2-40B4-BE49-F238E27FC236}">
                  <a16:creationId xmlns:a16="http://schemas.microsoft.com/office/drawing/2014/main" id="{AD3569E1-8E04-B7BA-0398-4180BE3B0EE3}"/>
                </a:ext>
              </a:extLst>
            </p:cNvPr>
            <p:cNvSpPr/>
            <p:nvPr/>
          </p:nvSpPr>
          <p:spPr>
            <a:xfrm>
              <a:off x="2644386" y="2866760"/>
              <a:ext cx="1838187" cy="1384526"/>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b="1"/>
            </a:p>
          </p:txBody>
        </p:sp>
        <p:sp>
          <p:nvSpPr>
            <p:cNvPr id="10" name="TextBox 9">
              <a:extLst>
                <a:ext uri="{FF2B5EF4-FFF2-40B4-BE49-F238E27FC236}">
                  <a16:creationId xmlns:a16="http://schemas.microsoft.com/office/drawing/2014/main" id="{FFC19485-EC34-F070-3B3F-978F61587575}"/>
                </a:ext>
              </a:extLst>
            </p:cNvPr>
            <p:cNvSpPr txBox="1"/>
            <p:nvPr/>
          </p:nvSpPr>
          <p:spPr>
            <a:xfrm>
              <a:off x="2644385" y="3160918"/>
              <a:ext cx="1838187" cy="707886"/>
            </a:xfrm>
            <a:prstGeom prst="rect">
              <a:avLst/>
            </a:prstGeom>
            <a:noFill/>
            <a:ln w="38100">
              <a:no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b="1">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GB">
                  <a:solidFill>
                    <a:schemeClr val="tx1"/>
                  </a:solidFill>
                </a:rPr>
                <a:t>What am I learning?</a:t>
              </a:r>
            </a:p>
          </p:txBody>
        </p:sp>
      </p:grpSp>
      <p:pic>
        <p:nvPicPr>
          <p:cNvPr id="11" name="Picture 10" descr="A picture containing room  Description automatically generated">
            <a:extLst>
              <a:ext uri="{FF2B5EF4-FFF2-40B4-BE49-F238E27FC236}">
                <a16:creationId xmlns:a16="http://schemas.microsoft.com/office/drawing/2014/main" id="{3C0DDE4A-9E8B-5BE3-65C1-A3FA2705ACB2}"/>
              </a:ext>
            </a:extLst>
          </p:cNvPr>
          <p:cNvPicPr>
            <a:picLocks noChangeAspect="1"/>
          </p:cNvPicPr>
          <p:nvPr/>
        </p:nvPicPr>
        <p:blipFill>
          <a:blip r:embed="rId2" cstate="screen">
            <a:extLst>
              <a:ext uri="{28A0092B-C50C-407E-A947-70E740481C1C}">
                <a14:useLocalDpi xmlns:a14="http://schemas.microsoft.com/office/drawing/2010/main" val="0"/>
              </a:ext>
            </a:extLst>
          </a:blip>
          <a:stretch>
            <a:fillRect/>
          </a:stretch>
        </p:blipFill>
        <p:spPr>
          <a:xfrm>
            <a:off x="485896" y="2018390"/>
            <a:ext cx="1451414" cy="2106656"/>
          </a:xfrm>
          <a:prstGeom prst="rect">
            <a:avLst/>
          </a:prstGeom>
          <a:ln>
            <a:noFill/>
          </a:ln>
        </p:spPr>
      </p:pic>
      <p:sp>
        <p:nvSpPr>
          <p:cNvPr id="12" name="Freeform: Shape 11">
            <a:extLst>
              <a:ext uri="{FF2B5EF4-FFF2-40B4-BE49-F238E27FC236}">
                <a16:creationId xmlns:a16="http://schemas.microsoft.com/office/drawing/2014/main" id="{A0F1A2A6-045F-00C7-688E-E6D0A25D5652}"/>
              </a:ext>
            </a:extLst>
          </p:cNvPr>
          <p:cNvSpPr/>
          <p:nvPr/>
        </p:nvSpPr>
        <p:spPr>
          <a:xfrm>
            <a:off x="2797615" y="2918463"/>
            <a:ext cx="206619" cy="247942"/>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3" name="Oval 12">
            <a:extLst>
              <a:ext uri="{FF2B5EF4-FFF2-40B4-BE49-F238E27FC236}">
                <a16:creationId xmlns:a16="http://schemas.microsoft.com/office/drawing/2014/main" id="{408A8433-A9BE-1E56-2965-99A3B5625947}"/>
              </a:ext>
            </a:extLst>
          </p:cNvPr>
          <p:cNvSpPr/>
          <p:nvPr/>
        </p:nvSpPr>
        <p:spPr>
          <a:xfrm>
            <a:off x="2458854" y="2918501"/>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grpSp>
        <p:nvGrpSpPr>
          <p:cNvPr id="14" name="Group 13">
            <a:extLst>
              <a:ext uri="{FF2B5EF4-FFF2-40B4-BE49-F238E27FC236}">
                <a16:creationId xmlns:a16="http://schemas.microsoft.com/office/drawing/2014/main" id="{27A24A2D-2408-EB9E-5F70-46F514294503}"/>
              </a:ext>
            </a:extLst>
          </p:cNvPr>
          <p:cNvGrpSpPr/>
          <p:nvPr/>
        </p:nvGrpSpPr>
        <p:grpSpPr>
          <a:xfrm>
            <a:off x="3618760" y="2676281"/>
            <a:ext cx="2097602" cy="1251349"/>
            <a:chOff x="6125888" y="3028716"/>
            <a:chExt cx="1838187" cy="1384526"/>
          </a:xfrm>
          <a:solidFill>
            <a:schemeClr val="accent6">
              <a:lumMod val="60000"/>
              <a:lumOff val="40000"/>
            </a:schemeClr>
          </a:solidFill>
        </p:grpSpPr>
        <p:sp>
          <p:nvSpPr>
            <p:cNvPr id="15" name="Freeform: Shape 14">
              <a:extLst>
                <a:ext uri="{FF2B5EF4-FFF2-40B4-BE49-F238E27FC236}">
                  <a16:creationId xmlns:a16="http://schemas.microsoft.com/office/drawing/2014/main" id="{2946C962-D08C-0F71-45B1-FA00B59721B8}"/>
                </a:ext>
              </a:extLst>
            </p:cNvPr>
            <p:cNvSpPr/>
            <p:nvPr/>
          </p:nvSpPr>
          <p:spPr>
            <a:xfrm>
              <a:off x="6125888" y="3028716"/>
              <a:ext cx="1838187" cy="1384526"/>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2400" b="1"/>
            </a:p>
          </p:txBody>
        </p:sp>
        <p:sp>
          <p:nvSpPr>
            <p:cNvPr id="16" name="TextBox 15">
              <a:extLst>
                <a:ext uri="{FF2B5EF4-FFF2-40B4-BE49-F238E27FC236}">
                  <a16:creationId xmlns:a16="http://schemas.microsoft.com/office/drawing/2014/main" id="{60E1483D-26A7-A33B-B0CD-B1044C4A76B4}"/>
                </a:ext>
              </a:extLst>
            </p:cNvPr>
            <p:cNvSpPr txBox="1"/>
            <p:nvPr/>
          </p:nvSpPr>
          <p:spPr>
            <a:xfrm>
              <a:off x="6263965" y="3326148"/>
              <a:ext cx="1595765" cy="707886"/>
            </a:xfrm>
            <a:prstGeom prst="rect">
              <a:avLst/>
            </a:prstGeom>
            <a:noFill/>
            <a:ln w="38100">
              <a:no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b="1">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GB">
                  <a:solidFill>
                    <a:schemeClr val="tx1"/>
                  </a:solidFill>
                </a:rPr>
                <a:t>Why am I learning this ?</a:t>
              </a:r>
            </a:p>
          </p:txBody>
        </p:sp>
      </p:grpSp>
      <p:sp>
        <p:nvSpPr>
          <p:cNvPr id="17" name="Freeform: Shape 16">
            <a:extLst>
              <a:ext uri="{FF2B5EF4-FFF2-40B4-BE49-F238E27FC236}">
                <a16:creationId xmlns:a16="http://schemas.microsoft.com/office/drawing/2014/main" id="{ED4713C7-97EE-A5B0-8FC6-4CE70EA350BC}"/>
              </a:ext>
            </a:extLst>
          </p:cNvPr>
          <p:cNvSpPr/>
          <p:nvPr/>
        </p:nvSpPr>
        <p:spPr>
          <a:xfrm>
            <a:off x="2490079" y="3963955"/>
            <a:ext cx="200648" cy="240777"/>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8" name="Oval 17">
            <a:extLst>
              <a:ext uri="{FF2B5EF4-FFF2-40B4-BE49-F238E27FC236}">
                <a16:creationId xmlns:a16="http://schemas.microsoft.com/office/drawing/2014/main" id="{72843B94-CA11-5143-DFB7-BE14CB303150}"/>
              </a:ext>
            </a:extLst>
          </p:cNvPr>
          <p:cNvSpPr/>
          <p:nvPr/>
        </p:nvSpPr>
        <p:spPr>
          <a:xfrm>
            <a:off x="2258697" y="3780606"/>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9" name="TextBox 18">
            <a:extLst>
              <a:ext uri="{FF2B5EF4-FFF2-40B4-BE49-F238E27FC236}">
                <a16:creationId xmlns:a16="http://schemas.microsoft.com/office/drawing/2014/main" id="{CDA984DD-4FC4-64A0-887A-0A817B977071}"/>
              </a:ext>
            </a:extLst>
          </p:cNvPr>
          <p:cNvSpPr txBox="1"/>
          <p:nvPr/>
        </p:nvSpPr>
        <p:spPr>
          <a:xfrm>
            <a:off x="5068949" y="1230333"/>
            <a:ext cx="5311218" cy="830997"/>
          </a:xfrm>
          <a:prstGeom prst="rect">
            <a:avLst/>
          </a:prstGeom>
          <a:noFill/>
        </p:spPr>
        <p:txBody>
          <a:bodyPr wrap="square" rtlCol="0">
            <a:spAutoFit/>
          </a:bodyPr>
          <a:lstStyle/>
          <a:p>
            <a:r>
              <a:rPr lang="en-GB" sz="2400">
                <a:latin typeface="+mj-lt"/>
              </a:rPr>
              <a:t>I  am learning to understand and take meaning from a text.</a:t>
            </a:r>
          </a:p>
        </p:txBody>
      </p:sp>
      <p:sp>
        <p:nvSpPr>
          <p:cNvPr id="20" name="Rectangle 19">
            <a:extLst>
              <a:ext uri="{FF2B5EF4-FFF2-40B4-BE49-F238E27FC236}">
                <a16:creationId xmlns:a16="http://schemas.microsoft.com/office/drawing/2014/main" id="{3A23222B-35F4-3CDC-5FEA-1C58CE4A933A}"/>
              </a:ext>
            </a:extLst>
          </p:cNvPr>
          <p:cNvSpPr/>
          <p:nvPr/>
        </p:nvSpPr>
        <p:spPr>
          <a:xfrm>
            <a:off x="5597291" y="4824722"/>
            <a:ext cx="5583685" cy="1200329"/>
          </a:xfrm>
          <a:prstGeom prst="rect">
            <a:avLst/>
          </a:prstGeom>
          <a:noFill/>
        </p:spPr>
        <p:txBody>
          <a:bodyPr wrap="square">
            <a:spAutoFit/>
          </a:bodyPr>
          <a:lstStyle/>
          <a:p>
            <a:r>
              <a:rPr lang="en-GB" sz="2400">
                <a:latin typeface="+mj-lt"/>
              </a:rPr>
              <a:t>I will show this by answering questions which relate to the vocabulary used throughout the text.</a:t>
            </a:r>
          </a:p>
        </p:txBody>
      </p:sp>
      <p:grpSp>
        <p:nvGrpSpPr>
          <p:cNvPr id="26" name="Group 25">
            <a:extLst>
              <a:ext uri="{FF2B5EF4-FFF2-40B4-BE49-F238E27FC236}">
                <a16:creationId xmlns:a16="http://schemas.microsoft.com/office/drawing/2014/main" id="{F0FA508C-6CB1-E76E-F0A8-B64E6C4CD90D}"/>
              </a:ext>
            </a:extLst>
          </p:cNvPr>
          <p:cNvGrpSpPr/>
          <p:nvPr/>
        </p:nvGrpSpPr>
        <p:grpSpPr>
          <a:xfrm>
            <a:off x="2968729" y="4615048"/>
            <a:ext cx="2401890" cy="1148058"/>
            <a:chOff x="10001131" y="2709337"/>
            <a:chExt cx="1838187" cy="1105414"/>
          </a:xfrm>
        </p:grpSpPr>
        <p:sp>
          <p:nvSpPr>
            <p:cNvPr id="27" name="Freeform: Shape 26">
              <a:extLst>
                <a:ext uri="{FF2B5EF4-FFF2-40B4-BE49-F238E27FC236}">
                  <a16:creationId xmlns:a16="http://schemas.microsoft.com/office/drawing/2014/main" id="{3F558219-13F1-436A-59AF-11B90D95ABA1}"/>
                </a:ext>
              </a:extLst>
            </p:cNvPr>
            <p:cNvSpPr/>
            <p:nvPr/>
          </p:nvSpPr>
          <p:spPr>
            <a:xfrm>
              <a:off x="10001131" y="2709337"/>
              <a:ext cx="1838187" cy="1105414"/>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600" b="1"/>
            </a:p>
          </p:txBody>
        </p:sp>
        <p:sp>
          <p:nvSpPr>
            <p:cNvPr id="28" name="TextBox 27">
              <a:extLst>
                <a:ext uri="{FF2B5EF4-FFF2-40B4-BE49-F238E27FC236}">
                  <a16:creationId xmlns:a16="http://schemas.microsoft.com/office/drawing/2014/main" id="{33569914-364A-6AF1-85F1-0BFCF4FDB1A8}"/>
                </a:ext>
              </a:extLst>
            </p:cNvPr>
            <p:cNvSpPr txBox="1"/>
            <p:nvPr/>
          </p:nvSpPr>
          <p:spPr>
            <a:xfrm>
              <a:off x="10146498" y="2857389"/>
              <a:ext cx="1547451" cy="622324"/>
            </a:xfrm>
            <a:prstGeom prst="rect">
              <a:avLst/>
            </a:prstGeom>
            <a:noFill/>
            <a:ln w="19050">
              <a:noFill/>
            </a:ln>
          </p:spPr>
          <p:txBody>
            <a:bodyPr wrap="square" rtlCol="0">
              <a:spAutoFit/>
            </a:bodyPr>
            <a:lstStyle/>
            <a:p>
              <a:pPr algn="ctr"/>
              <a:r>
                <a:rPr lang="en-GB" b="1">
                  <a:latin typeface="Sassoon Primary Rg" panose="02000606020000020004" pitchFamily="2" charset="0"/>
                </a:rPr>
                <a:t>How will I know when I get there?</a:t>
              </a:r>
            </a:p>
          </p:txBody>
        </p:sp>
      </p:grpSp>
      <p:sp>
        <p:nvSpPr>
          <p:cNvPr id="29" name="Freeform: Shape 28">
            <a:extLst>
              <a:ext uri="{FF2B5EF4-FFF2-40B4-BE49-F238E27FC236}">
                <a16:creationId xmlns:a16="http://schemas.microsoft.com/office/drawing/2014/main" id="{B90D4CDA-08E3-0ED1-C1FB-0242710F0D9A}"/>
              </a:ext>
            </a:extLst>
          </p:cNvPr>
          <p:cNvSpPr/>
          <p:nvPr/>
        </p:nvSpPr>
        <p:spPr>
          <a:xfrm>
            <a:off x="2767911" y="4261260"/>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30" name="Freeform: Shape 29">
            <a:extLst>
              <a:ext uri="{FF2B5EF4-FFF2-40B4-BE49-F238E27FC236}">
                <a16:creationId xmlns:a16="http://schemas.microsoft.com/office/drawing/2014/main" id="{8139F2B2-DE54-7CE1-CCBE-1C4164F07AC7}"/>
              </a:ext>
            </a:extLst>
          </p:cNvPr>
          <p:cNvSpPr/>
          <p:nvPr/>
        </p:nvSpPr>
        <p:spPr>
          <a:xfrm>
            <a:off x="3206304" y="2991789"/>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35" name="Freeform: Shape 34">
            <a:extLst>
              <a:ext uri="{FF2B5EF4-FFF2-40B4-BE49-F238E27FC236}">
                <a16:creationId xmlns:a16="http://schemas.microsoft.com/office/drawing/2014/main" id="{721B1AA3-17DD-506B-9B14-CDFF5EA0BECB}"/>
              </a:ext>
            </a:extLst>
          </p:cNvPr>
          <p:cNvSpPr/>
          <p:nvPr/>
        </p:nvSpPr>
        <p:spPr>
          <a:xfrm>
            <a:off x="2271587" y="1913146"/>
            <a:ext cx="206619" cy="247942"/>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5" name="TextBox 4">
            <a:extLst>
              <a:ext uri="{FF2B5EF4-FFF2-40B4-BE49-F238E27FC236}">
                <a16:creationId xmlns:a16="http://schemas.microsoft.com/office/drawing/2014/main" id="{3A69BFB0-E1DC-E3FA-6EA3-821A27D46522}"/>
              </a:ext>
            </a:extLst>
          </p:cNvPr>
          <p:cNvSpPr txBox="1"/>
          <p:nvPr/>
        </p:nvSpPr>
        <p:spPr>
          <a:xfrm>
            <a:off x="5873925" y="2665439"/>
            <a:ext cx="5507001" cy="1200329"/>
          </a:xfrm>
          <a:prstGeom prst="rect">
            <a:avLst/>
          </a:prstGeom>
          <a:noFill/>
        </p:spPr>
        <p:txBody>
          <a:bodyPr wrap="square" rtlCol="0">
            <a:spAutoFit/>
          </a:bodyPr>
          <a:lstStyle/>
          <a:p>
            <a:r>
              <a:rPr lang="en-GB" sz="2400">
                <a:latin typeface="Sassoon Infant Rg" panose="02000503030000020003" pitchFamily="2" charset="0"/>
                <a:ea typeface="Sassoon Infant Rg" panose="02000503030000020003" pitchFamily="2" charset="0"/>
              </a:rPr>
              <a:t>I am learning this because it will help me to develop my understanding of vocabulary at a sentence and text level.</a:t>
            </a:r>
          </a:p>
        </p:txBody>
      </p:sp>
      <p:grpSp>
        <p:nvGrpSpPr>
          <p:cNvPr id="3" name="Group 2">
            <a:extLst>
              <a:ext uri="{FF2B5EF4-FFF2-40B4-BE49-F238E27FC236}">
                <a16:creationId xmlns:a16="http://schemas.microsoft.com/office/drawing/2014/main" id="{AB1D5BFC-9C6F-78FE-BB55-8A787A315711}"/>
              </a:ext>
            </a:extLst>
          </p:cNvPr>
          <p:cNvGrpSpPr/>
          <p:nvPr/>
        </p:nvGrpSpPr>
        <p:grpSpPr>
          <a:xfrm>
            <a:off x="10607910" y="233361"/>
            <a:ext cx="1316831" cy="1316831"/>
            <a:chOff x="5180554" y="1026138"/>
            <a:chExt cx="1316831" cy="1316831"/>
          </a:xfrm>
        </p:grpSpPr>
        <p:sp>
          <p:nvSpPr>
            <p:cNvPr id="4" name="Oval 3">
              <a:extLst>
                <a:ext uri="{FF2B5EF4-FFF2-40B4-BE49-F238E27FC236}">
                  <a16:creationId xmlns:a16="http://schemas.microsoft.com/office/drawing/2014/main" id="{30C90C35-E0BE-7AD4-92BC-8EFF113E4DB8}"/>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21" name="Oval 4">
              <a:extLst>
                <a:ext uri="{FF2B5EF4-FFF2-40B4-BE49-F238E27FC236}">
                  <a16:creationId xmlns:a16="http://schemas.microsoft.com/office/drawing/2014/main" id="{D5E138FF-7604-1E33-555D-87C2C96CBE05}"/>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Tree>
    <p:extLst>
      <p:ext uri="{BB962C8B-B14F-4D97-AF65-F5344CB8AC3E}">
        <p14:creationId xmlns:p14="http://schemas.microsoft.com/office/powerpoint/2010/main" val="28426104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1F7DB-6538-E176-FE28-8F1AD256569A}"/>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14F21690-854A-3024-D098-1C56DE57443E}"/>
              </a:ext>
            </a:extLst>
          </p:cNvPr>
          <p:cNvPicPr>
            <a:picLocks noChangeAspect="1"/>
          </p:cNvPicPr>
          <p:nvPr/>
        </p:nvPicPr>
        <p:blipFill>
          <a:blip r:embed="rId2"/>
          <a:stretch>
            <a:fillRect/>
          </a:stretch>
        </p:blipFill>
        <p:spPr>
          <a:xfrm>
            <a:off x="10424916" y="134700"/>
            <a:ext cx="1616752" cy="697982"/>
          </a:xfrm>
          <a:prstGeom prst="rect">
            <a:avLst/>
          </a:prstGeom>
        </p:spPr>
      </p:pic>
      <p:sp>
        <p:nvSpPr>
          <p:cNvPr id="6" name="TextBox 5">
            <a:extLst>
              <a:ext uri="{FF2B5EF4-FFF2-40B4-BE49-F238E27FC236}">
                <a16:creationId xmlns:a16="http://schemas.microsoft.com/office/drawing/2014/main" id="{AEC30692-9C94-A8DB-4755-85FE74DE9821}"/>
              </a:ext>
            </a:extLst>
          </p:cNvPr>
          <p:cNvSpPr txBox="1"/>
          <p:nvPr/>
        </p:nvSpPr>
        <p:spPr>
          <a:xfrm>
            <a:off x="288098" y="335454"/>
            <a:ext cx="6864956" cy="707886"/>
          </a:xfrm>
          <a:prstGeom prst="rect">
            <a:avLst/>
          </a:prstGeom>
          <a:noFill/>
        </p:spPr>
        <p:txBody>
          <a:bodyPr wrap="none" rtlCol="0">
            <a:spAutoFit/>
          </a:bodyPr>
          <a:lstStyle/>
          <a:p>
            <a:r>
              <a:rPr lang="en-GB" sz="4000" b="1" u="sng"/>
              <a:t>Practice questions - Inference</a:t>
            </a:r>
          </a:p>
        </p:txBody>
      </p:sp>
      <p:pic>
        <p:nvPicPr>
          <p:cNvPr id="7" name="Picture 6">
            <a:extLst>
              <a:ext uri="{FF2B5EF4-FFF2-40B4-BE49-F238E27FC236}">
                <a16:creationId xmlns:a16="http://schemas.microsoft.com/office/drawing/2014/main" id="{E0AB4FA0-4B96-F850-DD50-18A5FD657BB8}"/>
              </a:ext>
            </a:extLst>
          </p:cNvPr>
          <p:cNvPicPr/>
          <p:nvPr/>
        </p:nvPicPr>
        <p:blipFill>
          <a:blip r:embed="rId3">
            <a:extLst>
              <a:ext uri="{28A0092B-C50C-407E-A947-70E740481C1C}">
                <a14:useLocalDpi xmlns:a14="http://schemas.microsoft.com/office/drawing/2010/main" val="0"/>
              </a:ext>
            </a:extLst>
          </a:blip>
          <a:stretch>
            <a:fillRect/>
          </a:stretch>
        </p:blipFill>
        <p:spPr>
          <a:xfrm>
            <a:off x="5250435" y="6048469"/>
            <a:ext cx="1691129" cy="711848"/>
          </a:xfrm>
          <a:prstGeom prst="rect">
            <a:avLst/>
          </a:prstGeom>
        </p:spPr>
      </p:pic>
      <p:sp>
        <p:nvSpPr>
          <p:cNvPr id="4" name="Rounded Rectangle 9">
            <a:extLst>
              <a:ext uri="{FF2B5EF4-FFF2-40B4-BE49-F238E27FC236}">
                <a16:creationId xmlns:a16="http://schemas.microsoft.com/office/drawing/2014/main" id="{2A06B04F-B021-4121-0C16-7A5BACEFBC1B}"/>
              </a:ext>
            </a:extLst>
          </p:cNvPr>
          <p:cNvSpPr/>
          <p:nvPr/>
        </p:nvSpPr>
        <p:spPr>
          <a:xfrm>
            <a:off x="8019658" y="6325456"/>
            <a:ext cx="4026568" cy="43134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a:t>Show / Hide Extract</a:t>
            </a:r>
          </a:p>
        </p:txBody>
      </p:sp>
      <p:sp>
        <p:nvSpPr>
          <p:cNvPr id="10" name="TextBox 9">
            <a:extLst>
              <a:ext uri="{FF2B5EF4-FFF2-40B4-BE49-F238E27FC236}">
                <a16:creationId xmlns:a16="http://schemas.microsoft.com/office/drawing/2014/main" id="{C064352E-4E96-13BD-C58F-5EEC5E15F4B5}"/>
              </a:ext>
            </a:extLst>
          </p:cNvPr>
          <p:cNvSpPr txBox="1"/>
          <p:nvPr/>
        </p:nvSpPr>
        <p:spPr>
          <a:xfrm>
            <a:off x="418368" y="1463046"/>
            <a:ext cx="11355262" cy="2246769"/>
          </a:xfrm>
          <a:prstGeom prst="rect">
            <a:avLst/>
          </a:prstGeom>
          <a:noFill/>
        </p:spPr>
        <p:txBody>
          <a:bodyPr wrap="square" rtlCol="0">
            <a:spAutoFit/>
          </a:bodyPr>
          <a:lstStyle/>
          <a:p>
            <a:r>
              <a:rPr lang="en-US" sz="1900"/>
              <a:t>How does Varjak feel when he first sees Cludge? Use evidence from the text.</a:t>
            </a:r>
          </a:p>
          <a:p>
            <a:r>
              <a:rPr lang="en-US" sz="1900"/>
              <a:t>He feels afraid — his ‘fur bristled, his claws flexed, and his heart hammered’, showing his body reacted as though he was in danger.</a:t>
            </a:r>
          </a:p>
          <a:p>
            <a:endParaRPr lang="en-US" sz="1900"/>
          </a:p>
          <a:p>
            <a:r>
              <a:rPr lang="en-US" sz="1900"/>
              <a:t>Find a word or phrase from the text that shows Varjak did not fully trust Cludge at first.</a:t>
            </a:r>
          </a:p>
          <a:p>
            <a:r>
              <a:rPr lang="en-US" sz="1900"/>
              <a:t>‘He remained cautious, keeping low to the ground’ — this shows he was careful and watchful rather than relaxed.</a:t>
            </a:r>
          </a:p>
        </p:txBody>
      </p:sp>
      <p:sp>
        <p:nvSpPr>
          <p:cNvPr id="3" name="TextBox 2">
            <a:extLst>
              <a:ext uri="{FF2B5EF4-FFF2-40B4-BE49-F238E27FC236}">
                <a16:creationId xmlns:a16="http://schemas.microsoft.com/office/drawing/2014/main" id="{EBAE955F-2F2B-1B4A-4719-6AB782D998C5}"/>
              </a:ext>
            </a:extLst>
          </p:cNvPr>
          <p:cNvSpPr txBox="1"/>
          <p:nvPr/>
        </p:nvSpPr>
        <p:spPr>
          <a:xfrm>
            <a:off x="145774" y="1043340"/>
            <a:ext cx="12046226" cy="4585423"/>
          </a:xfrm>
          <a:prstGeom prst="rect">
            <a:avLst/>
          </a:prstGeom>
          <a:solidFill>
            <a:schemeClr val="accent5">
              <a:lumMod val="20000"/>
              <a:lumOff val="80000"/>
            </a:schemeClr>
          </a:solidFill>
        </p:spPr>
        <p:txBody>
          <a:bodyPr wrap="square" anchor="ctr">
            <a:noAutofit/>
          </a:bodyPr>
          <a:lstStyle/>
          <a:p>
            <a:r>
              <a:rPr lang="en-US" sz="2200"/>
              <a:t>Cludge did not look like a friend. He was enormous — far bigger than any creature Varjak had encountered in the city — with a coat the colour of mud and paws like small boulders. When Varjak first spotted him, every instinct told him to run: his fur bristled, his claws flexed, and his heart hammered against his ribs in a rhythm that had only one word in it. Danger. But Cludge simply sat there in the rain, blinking his enormous, slow eyes, and something in his stillness made Varjak pause. He had never expected to feel anything other than fear around a dog. He remained cautious, keeping low to the ground and watching every tiny movement, yet he did not leave. There was something in the dog’s expression — a kind of sadness, a kind of loneliness — that Varjak recognised, because he had felt it himself ever since arriving in the city. Slowly, hesitantly, he crept a little closer. It was perhaps the most unlikely friendship either of them had ever imagined. Varjak was a kitten, small and vulnerable, far from everything he had ever known. Cludge was a stray, enormous and gentle, with no one in the world. But as the rain fell quietly around them and neither of them moved away, something passed between them that neither could have named — the first, fragile thread of something that might one day become loyal and true.</a:t>
            </a:r>
          </a:p>
        </p:txBody>
      </p:sp>
    </p:spTree>
    <p:extLst>
      <p:ext uri="{BB962C8B-B14F-4D97-AF65-F5344CB8AC3E}">
        <p14:creationId xmlns:p14="http://schemas.microsoft.com/office/powerpoint/2010/main" val="21617244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4"/>
                    </p:tgtEl>
                  </p:cond>
                </p:stCondLst>
                <p:endSync evt="end" delay="0">
                  <p:rtn val="all"/>
                </p:endSync>
                <p:childTnLst>
                  <p:par>
                    <p:cTn id="24" fill="hold">
                      <p:stCondLst>
                        <p:cond delay="indefinite"/>
                      </p:stCondLst>
                      <p:childTnLst>
                        <p:par>
                          <p:cTn id="25" fill="hold">
                            <p:stCondLst>
                              <p:cond delay="0"/>
                            </p:stCondLst>
                            <p:childTnLst>
                              <p:par>
                                <p:cTn id="26" presetID="1" presetClass="entr" presetSubtype="0" fill="hold" grpId="0" nodeType="clickEffect">
                                  <p:stCondLst>
                                    <p:cond delay="0"/>
                                  </p:stCondLst>
                                  <p:childTnLst>
                                    <p:set>
                                      <p:cBhvr>
                                        <p:cTn id="27" dur="1" fill="hold">
                                          <p:stCondLst>
                                            <p:cond delay="0"/>
                                          </p:stCondLst>
                                        </p:cTn>
                                        <p:tgtEl>
                                          <p:spTgt spid="3"/>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 presetClass="exit" presetSubtype="0" fill="hold" grpId="1" nodeType="clickEffect">
                                  <p:stCondLst>
                                    <p:cond delay="0"/>
                                  </p:stCondLst>
                                  <p:childTnLst>
                                    <p:set>
                                      <p:cBhvr>
                                        <p:cTn id="31" dur="1" fill="hold">
                                          <p:stCondLst>
                                            <p:cond delay="0"/>
                                          </p:stCondLst>
                                        </p:cTn>
                                        <p:tgtEl>
                                          <p:spTgt spid="3"/>
                                        </p:tgtEl>
                                        <p:attrNameLst>
                                          <p:attrName>style.visibility</p:attrName>
                                        </p:attrNameLst>
                                      </p:cBhvr>
                                      <p:to>
                                        <p:strVal val="hidden"/>
                                      </p:to>
                                    </p:set>
                                  </p:childTnLst>
                                </p:cTn>
                              </p:par>
                            </p:childTnLst>
                          </p:cTn>
                        </p:par>
                      </p:childTnLst>
                    </p:cTn>
                  </p:par>
                </p:childTnLst>
              </p:cTn>
              <p:nextCondLst>
                <p:cond evt="onClick" delay="0">
                  <p:tgtEl>
                    <p:spTgt spid="4"/>
                  </p:tgtEl>
                </p:cond>
              </p:nextCondLst>
            </p:seq>
          </p:childTnLst>
        </p:cTn>
      </p:par>
    </p:tnLst>
    <p:bldLst>
      <p:bldP spid="3" grpId="0" animBg="1"/>
      <p:bldP spid="3" grpId="1"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Sassoon Infant Rg"/>
        <a:ea typeface=""/>
        <a:cs typeface=""/>
      </a:majorFont>
      <a:minorFont>
        <a:latin typeface="Sassoon Infant Rg"/>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Relationships xmlns="http://schemas.openxmlformats.org/package/2006/relationships"><Relationship Id="rId1" Type="http://schemas.openxmlformats.org/officeDocument/2006/relationships/customXmlProps" Target="itemProps1.xml"/></Relationships>
</file>

<file path=customXml/_rels/item2.xml.rels><?xml version="1.0" encoding="UTF-8"?><Relationships xmlns="http://schemas.openxmlformats.org/package/2006/relationships"><Relationship Id="rId1" Type="http://schemas.openxmlformats.org/officeDocument/2006/relationships/customXmlProps" Target="itemProps2.xml"/></Relationships>
</file>

<file path=customXml/_rels/item3.xml.rels><?xml version="1.0" encoding="UTF-8"?><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4848fd07-94db-4308-8950-9cb0e230b958" xsi:nil="true"/>
    <lcf76f155ced4ddcb4097134ff3c332f xmlns="9e6dd442-da5e-411e-833f-0fee7dcd7819">
      <Terms xmlns="http://schemas.microsoft.com/office/infopath/2007/PartnerControls"/>
    </lcf76f155ced4ddcb4097134ff3c332f>
    <SharedWithUsers xmlns="4848fd07-94db-4308-8950-9cb0e230b958">
      <UserInfo>
        <DisplayName>Jo Hewitt - WFA</DisplayName>
        <AccountId>40</AccountId>
        <AccountType/>
      </UserInfo>
      <UserInfo>
        <DisplayName>Jonathan Miller - WFA</DisplayName>
        <AccountId>57</AccountId>
        <AccountType/>
      </UserInfo>
    </SharedWithUser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AC71695694772F44B387615DF8DED97F" ma:contentTypeVersion="16" ma:contentTypeDescription="Create a new document." ma:contentTypeScope="" ma:versionID="6b988a150421d80c99f84aa2bfb3de38">
  <xsd:schema xmlns:xsd="http://www.w3.org/2001/XMLSchema" xmlns:xs="http://www.w3.org/2001/XMLSchema" xmlns:p="http://schemas.microsoft.com/office/2006/metadata/properties" xmlns:ns2="9e6dd442-da5e-411e-833f-0fee7dcd7819" xmlns:ns3="4848fd07-94db-4308-8950-9cb0e230b958" targetNamespace="http://schemas.microsoft.com/office/2006/metadata/properties" ma:root="true" ma:fieldsID="0840e1ae8104f568f88bbc0ee80d0ce2" ns2:_="" ns3:_="">
    <xsd:import namespace="9e6dd442-da5e-411e-833f-0fee7dcd7819"/>
    <xsd:import namespace="4848fd07-94db-4308-8950-9cb0e230b958"/>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DateTaken" minOccurs="0"/>
                <xsd:element ref="ns2:MediaLengthInSeconds" minOccurs="0"/>
                <xsd:element ref="ns2:MediaServiceLocation" minOccurs="0"/>
                <xsd:element ref="ns2:MediaServiceGenerationTime" minOccurs="0"/>
                <xsd:element ref="ns2:MediaServiceEventHashCode" minOccurs="0"/>
                <xsd:element ref="ns2:lcf76f155ced4ddcb4097134ff3c332f" minOccurs="0"/>
                <xsd:element ref="ns3:TaxCatchAll" minOccurs="0"/>
                <xsd:element ref="ns2:MediaServiceOCR" minOccurs="0"/>
                <xsd:element ref="ns3:SharedWithUsers" minOccurs="0"/>
                <xsd:element ref="ns3:SharedWithDetail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e6dd442-da5e-411e-833f-0fee7dcd781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LengthInSeconds" ma:index="12" nillable="true" ma:displayName="MediaLengthInSeconds" ma:hidden="true" ma:internalName="MediaLengthInSeconds" ma:readOnly="true">
      <xsd:simpleType>
        <xsd:restriction base="dms:Unknown"/>
      </xsd:simpleType>
    </xsd:element>
    <xsd:element name="MediaServiceLocation" ma:index="13" nillable="true" ma:displayName="Location" ma:indexed="true" ma:internalName="MediaServiceLocation"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bd08261e-ebf2-489e-9cf5-3c5ddf1ef556" ma:termSetId="09814cd3-568e-fe90-9814-8d621ff8fb84" ma:anchorId="fba54fb3-c3e1-fe81-a776-ca4b69148c4d" ma:open="true" ma:isKeyword="false">
      <xsd:complexType>
        <xsd:sequence>
          <xsd:element ref="pc:Terms" minOccurs="0" maxOccurs="1"/>
        </xsd:sequence>
      </xsd:complexType>
    </xsd:element>
    <xsd:element name="MediaServiceOCR" ma:index="19" nillable="true" ma:displayName="Extracted Text" ma:internalName="MediaServiceOCR" ma:readOnly="true">
      <xsd:simpleType>
        <xsd:restriction base="dms:Note">
          <xsd:maxLength value="255"/>
        </xsd:restriction>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848fd07-94db-4308-8950-9cb0e230b958"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90903c9d-9125-4551-886d-abbd3fd64318}" ma:internalName="TaxCatchAll" ma:showField="CatchAllData" ma:web="4848fd07-94db-4308-8950-9cb0e230b958">
      <xsd:complexType>
        <xsd:complexContent>
          <xsd:extension base="dms:MultiChoiceLookup">
            <xsd:sequence>
              <xsd:element name="Value" type="dms:Lookup" maxOccurs="unbounded" minOccurs="0" nillable="true"/>
            </xsd:sequence>
          </xsd:extension>
        </xsd:complexContent>
      </xsd:complexType>
    </xsd:element>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45AAA2B-1185-4CA6-878D-532686679D9F}">
  <ds:schemaRefs>
    <ds:schemaRef ds:uri="http://purl.org/dc/elements/1.1/"/>
    <ds:schemaRef ds:uri="http://schemas.microsoft.com/office/infopath/2007/PartnerControls"/>
    <ds:schemaRef ds:uri="http://schemas.openxmlformats.org/package/2006/metadata/core-properties"/>
    <ds:schemaRef ds:uri="4848fd07-94db-4308-8950-9cb0e230b958"/>
    <ds:schemaRef ds:uri="http://schemas.microsoft.com/office/2006/documentManagement/types"/>
    <ds:schemaRef ds:uri="http://purl.org/dc/dcmitype/"/>
    <ds:schemaRef ds:uri="http://www.w3.org/XML/1998/namespace"/>
    <ds:schemaRef ds:uri="http://purl.org/dc/terms/"/>
    <ds:schemaRef ds:uri="9e6dd442-da5e-411e-833f-0fee7dcd7819"/>
    <ds:schemaRef ds:uri="http://schemas.microsoft.com/office/2006/metadata/properties"/>
  </ds:schemaRefs>
</ds:datastoreItem>
</file>

<file path=customXml/itemProps2.xml><?xml version="1.0" encoding="utf-8"?>
<ds:datastoreItem xmlns:ds="http://schemas.openxmlformats.org/officeDocument/2006/customXml" ds:itemID="{DE02CAFD-7AEC-4FCB-8049-4FEF8A0D00D8}">
  <ds:schemaRefs>
    <ds:schemaRef ds:uri="http://schemas.microsoft.com/sharepoint/v3/contenttype/forms"/>
  </ds:schemaRefs>
</ds:datastoreItem>
</file>

<file path=customXml/itemProps3.xml><?xml version="1.0" encoding="utf-8"?>
<ds:datastoreItem xmlns:ds="http://schemas.openxmlformats.org/officeDocument/2006/customXml" ds:itemID="{71D150B1-45AA-4FD4-8213-B2AC8AE18B9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9e6dd442-da5e-411e-833f-0fee7dcd7819"/>
    <ds:schemaRef ds:uri="4848fd07-94db-4308-8950-9cb0e230b95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2690</TotalTime>
  <Words>2015</Words>
  <Application>Microsoft Macintosh PowerPoint</Application>
  <PresentationFormat>Widescreen</PresentationFormat>
  <Paragraphs>137</Paragraphs>
  <Slides>15</Slides>
  <Notes>9</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15</vt:i4>
      </vt:variant>
    </vt:vector>
  </HeadingPairs>
  <TitlesOfParts>
    <vt:vector size="22" baseType="lpstr">
      <vt:lpstr>Arial</vt:lpstr>
      <vt:lpstr>Calibri</vt:lpstr>
      <vt:lpstr>Sassoon Infant Rg</vt:lpstr>
      <vt:lpstr>Sassoon Primary Rg</vt:lpstr>
      <vt:lpstr>Twinkl Cursive Looped Light</vt:lpstr>
      <vt:lpstr>XCCW Joined 4a</vt:lpstr>
      <vt:lpstr>Office Theme</vt:lpstr>
      <vt:lpstr>PowerPoint Presentation</vt:lpstr>
      <vt:lpstr>Being a Reader</vt:lpstr>
      <vt:lpstr>PowerPoint Presentation</vt:lpstr>
      <vt:lpstr>PowerPoint Presentation</vt:lpstr>
      <vt:lpstr>PowerPoint Presentation</vt:lpstr>
      <vt:lpstr>PowerPoint Presentation</vt:lpstr>
      <vt:lpstr>PowerPoint Presentation</vt:lpstr>
      <vt:lpstr>PowerPoint Presentation</vt:lpstr>
      <vt:lpstr>Being a Reader</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Helen Rea - WFA</dc:creator>
  <cp:lastModifiedBy>innes mclean</cp:lastModifiedBy>
  <cp:revision>2</cp:revision>
  <cp:lastPrinted>2024-09-12T11:50:42Z</cp:lastPrinted>
  <dcterms:created xsi:type="dcterms:W3CDTF">2024-01-22T14:53:27Z</dcterms:created>
  <dcterms:modified xsi:type="dcterms:W3CDTF">2026-05-21T16:23:28Z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0x010100AC71695694772F44B387615DF8DED97F</vt:lpwstr>
  </property>
</Properties>
</file>