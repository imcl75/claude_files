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0"/>
  </p:notesMasterIdLst>
  <p:sldIdLst>
    <p:sldId id="1923" r:id="rId5"/>
    <p:sldId id="1817" r:id="rId6"/>
    <p:sldId id="1884" r:id="rId7"/>
    <p:sldId id="1912" r:id="rId8"/>
    <p:sldId id="1907" r:id="rId9"/>
    <p:sldId id="1887" r:id="rId10"/>
    <p:sldId id="1800" r:id="rId11"/>
    <p:sldId id="1904" r:id="rId12"/>
    <p:sldId id="407" r:id="rId13"/>
    <p:sldId id="1799" r:id="rId14"/>
    <p:sldId id="1885" r:id="rId15"/>
    <p:sldId id="1903" r:id="rId16"/>
    <p:sldId id="1804" r:id="rId17"/>
    <p:sldId id="1902" r:id="rId18"/>
    <p:sldId id="1924" r:id="rId19"/>
    <p:sldId id="2001" r:id="rId27"/>
    <p:sldId id="2002" r:id="rId28"/>
    <p:sldId id="2003" r:id="rId29"/>
    <p:sldId id="2004" r:id="rId30"/>
    <p:sldId id="2005" r:id="rId31"/>
    <p:sldId id="2006" r:id="rId32"/>
    <p:sldId id="2007" r:id="rId33"/>
  </p:sldIdLst>
  <p:sldSz cx="12192000" cy="6858000"/>
  <p:notesSz cx="6797675"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a:srgbClr val="FFFF00"/>
    <a:srgbClr val="DEECF8"/>
    <a:srgbClr val="DFF2C0"/>
    <a:srgbClr val="FFDD99"/>
    <a:srgbClr val="A2CFFC"/>
    <a:srgbClr val="CD007A"/>
    <a:srgbClr val="FFD5EE"/>
    <a:srgbClr val="D463AF"/>
    <a:srgbClr val="FFAF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7195C1D-3DE4-4D47-948A-4F5D6034330B}" v="2" dt="2026-05-21T16:23:02.9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16" d="100"/>
          <a:sy n="116" d="100"/>
        </p:scale>
        <p:origin x="864" y="176"/>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nnes Mclean - WFA" userId="cffa568d-066a-4903-b028-bafd937e5ea6" providerId="ADAL" clId="{BBC503F0-0109-47F6-B1DF-E0A271B1FB53}"/>
    <pc:docChg chg="modSld">
      <pc:chgData name="Innes Mclean - WFA" userId="cffa568d-066a-4903-b028-bafd937e5ea6" providerId="ADAL" clId="{BBC503F0-0109-47F6-B1DF-E0A271B1FB53}" dt="2026-05-06T07:16:05.639" v="50" actId="403"/>
      <pc:docMkLst>
        <pc:docMk/>
      </pc:docMkLst>
      <pc:sldChg chg="modSp mod">
        <pc:chgData name="Innes Mclean - WFA" userId="cffa568d-066a-4903-b028-bafd937e5ea6" providerId="ADAL" clId="{BBC503F0-0109-47F6-B1DF-E0A271B1FB53}" dt="2026-05-06T07:16:05.639" v="50" actId="403"/>
        <pc:sldMkLst>
          <pc:docMk/>
          <pc:sldMk cId="3172617500" sldId="1817"/>
        </pc:sldMkLst>
        <pc:spChg chg="mod">
          <ac:chgData name="Innes Mclean - WFA" userId="cffa568d-066a-4903-b028-bafd937e5ea6" providerId="ADAL" clId="{BBC503F0-0109-47F6-B1DF-E0A271B1FB53}" dt="2026-05-06T07:16:05.639" v="50" actId="403"/>
          <ac:spMkLst>
            <pc:docMk/>
            <pc:sldMk cId="3172617500" sldId="1817"/>
            <ac:spMk id="8" creationId="{E3C356D1-4D69-6789-D9E9-77C69F82E055}"/>
          </ac:spMkLst>
        </pc:spChg>
      </pc:sldChg>
    </pc:docChg>
  </pc:docChgLst>
  <pc:docChgLst>
    <pc:chgData name="Innes Mclean - WFA" userId="cffa568d-066a-4903-b028-bafd937e5ea6" providerId="ADAL" clId="{BAFB47AA-30B1-57EF-A3A9-D4A2AD815BD7}"/>
    <pc:docChg chg="custSel addSld delSld modSld">
      <pc:chgData name="Innes Mclean - WFA" userId="cffa568d-066a-4903-b028-bafd937e5ea6" providerId="ADAL" clId="{BAFB47AA-30B1-57EF-A3A9-D4A2AD815BD7}" dt="2026-05-21T16:23:20.305" v="82" actId="1076"/>
      <pc:docMkLst>
        <pc:docMk/>
      </pc:docMkLst>
      <pc:sldChg chg="delSp modSp del mod modShow">
        <pc:chgData name="Innes Mclean - WFA" userId="cffa568d-066a-4903-b028-bafd937e5ea6" providerId="ADAL" clId="{BAFB47AA-30B1-57EF-A3A9-D4A2AD815BD7}" dt="2026-05-21T16:22:44.359" v="56" actId="2696"/>
        <pc:sldMkLst>
          <pc:docMk/>
          <pc:sldMk cId="1347850878" sldId="407"/>
        </pc:sldMkLst>
      </pc:sldChg>
      <pc:sldChg chg="addSp modSp add mod modShow">
        <pc:chgData name="Innes Mclean - WFA" userId="cffa568d-066a-4903-b028-bafd937e5ea6" providerId="ADAL" clId="{BAFB47AA-30B1-57EF-A3A9-D4A2AD815BD7}" dt="2026-05-21T16:23:12.533" v="81" actId="1076"/>
        <pc:sldMkLst>
          <pc:docMk/>
          <pc:sldMk cId="3303693540" sldId="407"/>
        </pc:sldMkLst>
        <pc:spChg chg="mod">
          <ac:chgData name="Innes Mclean - WFA" userId="cffa568d-066a-4903-b028-bafd937e5ea6" providerId="ADAL" clId="{BAFB47AA-30B1-57EF-A3A9-D4A2AD815BD7}" dt="2026-05-21T16:22:57.742" v="60" actId="20577"/>
          <ac:spMkLst>
            <pc:docMk/>
            <pc:sldMk cId="3303693540" sldId="407"/>
            <ac:spMk id="3" creationId="{9AA1DE16-8C7B-4868-2DE3-9C9C7D7D4324}"/>
          </ac:spMkLst>
        </pc:spChg>
        <pc:spChg chg="add mod">
          <ac:chgData name="Innes Mclean - WFA" userId="cffa568d-066a-4903-b028-bafd937e5ea6" providerId="ADAL" clId="{BAFB47AA-30B1-57EF-A3A9-D4A2AD815BD7}" dt="2026-05-21T16:23:12.533" v="81" actId="1076"/>
          <ac:spMkLst>
            <pc:docMk/>
            <pc:sldMk cId="3303693540" sldId="407"/>
            <ac:spMk id="6" creationId="{2B18F8C8-4B63-E425-87CE-D13C91BCA056}"/>
          </ac:spMkLst>
        </pc:spChg>
      </pc:sldChg>
      <pc:sldChg chg="add mod modShow">
        <pc:chgData name="Innes Mclean - WFA" userId="cffa568d-066a-4903-b028-bafd937e5ea6" providerId="ADAL" clId="{BAFB47AA-30B1-57EF-A3A9-D4A2AD815BD7}" dt="2026-05-21T16:22:52.831" v="59" actId="34476"/>
        <pc:sldMkLst>
          <pc:docMk/>
          <pc:sldMk cId="2855788608" sldId="1799"/>
        </pc:sldMkLst>
      </pc:sldChg>
      <pc:sldChg chg="del mod modShow">
        <pc:chgData name="Innes Mclean - WFA" userId="cffa568d-066a-4903-b028-bafd937e5ea6" providerId="ADAL" clId="{BAFB47AA-30B1-57EF-A3A9-D4A2AD815BD7}" dt="2026-05-21T16:22:44.359" v="56" actId="2696"/>
        <pc:sldMkLst>
          <pc:docMk/>
          <pc:sldMk cId="3068266800" sldId="1799"/>
        </pc:sldMkLst>
      </pc:sldChg>
      <pc:sldChg chg="del mod modShow">
        <pc:chgData name="Innes Mclean - WFA" userId="cffa568d-066a-4903-b028-bafd937e5ea6" providerId="ADAL" clId="{BAFB47AA-30B1-57EF-A3A9-D4A2AD815BD7}" dt="2026-05-21T16:22:44.359" v="56" actId="2696"/>
        <pc:sldMkLst>
          <pc:docMk/>
          <pc:sldMk cId="923010346" sldId="1804"/>
        </pc:sldMkLst>
      </pc:sldChg>
      <pc:sldChg chg="modSp add mod modShow">
        <pc:chgData name="Innes Mclean - WFA" userId="cffa568d-066a-4903-b028-bafd937e5ea6" providerId="ADAL" clId="{BAFB47AA-30B1-57EF-A3A9-D4A2AD815BD7}" dt="2026-05-21T16:23:20.305" v="82" actId="1076"/>
        <pc:sldMkLst>
          <pc:docMk/>
          <pc:sldMk cId="1979448493" sldId="1804"/>
        </pc:sldMkLst>
        <pc:spChg chg="mod">
          <ac:chgData name="Innes Mclean - WFA" userId="cffa568d-066a-4903-b028-bafd937e5ea6" providerId="ADAL" clId="{BAFB47AA-30B1-57EF-A3A9-D4A2AD815BD7}" dt="2026-05-21T16:23:20.305" v="82" actId="1076"/>
          <ac:spMkLst>
            <pc:docMk/>
            <pc:sldMk cId="1979448493" sldId="1804"/>
            <ac:spMk id="22" creationId="{BBE494B4-E4A1-C48A-15E2-3683EA0AD086}"/>
          </ac:spMkLst>
        </pc:spChg>
      </pc:sldChg>
      <pc:sldChg chg="modSp mod">
        <pc:chgData name="Innes Mclean - WFA" userId="cffa568d-066a-4903-b028-bafd937e5ea6" providerId="ADAL" clId="{BAFB47AA-30B1-57EF-A3A9-D4A2AD815BD7}" dt="2026-05-18T15:47:23.455" v="55" actId="20577"/>
        <pc:sldMkLst>
          <pc:docMk/>
          <pc:sldMk cId="3172617500" sldId="1817"/>
        </pc:sldMkLst>
        <pc:spChg chg="mod">
          <ac:chgData name="Innes Mclean - WFA" userId="cffa568d-066a-4903-b028-bafd937e5ea6" providerId="ADAL" clId="{BAFB47AA-30B1-57EF-A3A9-D4A2AD815BD7}" dt="2026-05-18T15:47:23.455" v="55" actId="20577"/>
          <ac:spMkLst>
            <pc:docMk/>
            <pc:sldMk cId="3172617500" sldId="1817"/>
            <ac:spMk id="6" creationId="{BB00753D-C189-01CA-44B1-B484F954D600}"/>
          </ac:spMkLst>
        </pc:spChg>
        <pc:grpChg chg="mod">
          <ac:chgData name="Innes Mclean - WFA" userId="cffa568d-066a-4903-b028-bafd937e5ea6" providerId="ADAL" clId="{BAFB47AA-30B1-57EF-A3A9-D4A2AD815BD7}" dt="2026-05-09T18:39:05.256" v="26" actId="1076"/>
          <ac:grpSpMkLst>
            <pc:docMk/>
            <pc:sldMk cId="3172617500" sldId="1817"/>
            <ac:grpSpMk id="4" creationId="{5F3F8467-5724-D86C-FDA4-D49533DEC4F0}"/>
          </ac:grpSpMkLst>
        </pc:grpChg>
        <pc:picChg chg="mod">
          <ac:chgData name="Innes Mclean - WFA" userId="cffa568d-066a-4903-b028-bafd937e5ea6" providerId="ADAL" clId="{BAFB47AA-30B1-57EF-A3A9-D4A2AD815BD7}" dt="2026-05-09T18:39:05.256" v="26" actId="1076"/>
          <ac:picMkLst>
            <pc:docMk/>
            <pc:sldMk cId="3172617500" sldId="1817"/>
            <ac:picMk id="5" creationId="{2B1C2540-38D6-7D21-7288-1F3B603531FB}"/>
          </ac:picMkLst>
        </pc:picChg>
        <pc:picChg chg="mod">
          <ac:chgData name="Innes Mclean - WFA" userId="cffa568d-066a-4903-b028-bafd937e5ea6" providerId="ADAL" clId="{BAFB47AA-30B1-57EF-A3A9-D4A2AD815BD7}" dt="2026-05-09T18:39:05.256" v="26" actId="1076"/>
          <ac:picMkLst>
            <pc:docMk/>
            <pc:sldMk cId="3172617500" sldId="1817"/>
            <ac:picMk id="7" creationId="{8F3344A5-4924-D3BC-68C4-52E2EB3B6D65}"/>
          </ac:picMkLst>
        </pc:picChg>
      </pc:sldChg>
      <pc:sldChg chg="add mod modShow">
        <pc:chgData name="Innes Mclean - WFA" userId="cffa568d-066a-4903-b028-bafd937e5ea6" providerId="ADAL" clId="{BAFB47AA-30B1-57EF-A3A9-D4A2AD815BD7}" dt="2026-05-21T16:22:52.831" v="59" actId="34476"/>
        <pc:sldMkLst>
          <pc:docMk/>
          <pc:sldMk cId="3287233457" sldId="1885"/>
        </pc:sldMkLst>
      </pc:sldChg>
      <pc:sldChg chg="del mod modShow">
        <pc:chgData name="Innes Mclean - WFA" userId="cffa568d-066a-4903-b028-bafd937e5ea6" providerId="ADAL" clId="{BAFB47AA-30B1-57EF-A3A9-D4A2AD815BD7}" dt="2026-05-21T16:22:44.359" v="56" actId="2696"/>
        <pc:sldMkLst>
          <pc:docMk/>
          <pc:sldMk cId="4267943230" sldId="1885"/>
        </pc:sldMkLst>
      </pc:sldChg>
      <pc:sldChg chg="modSp mod">
        <pc:chgData name="Innes Mclean - WFA" userId="cffa568d-066a-4903-b028-bafd937e5ea6" providerId="ADAL" clId="{BAFB47AA-30B1-57EF-A3A9-D4A2AD815BD7}" dt="2026-05-09T18:38:17.522" v="20" actId="1076"/>
        <pc:sldMkLst>
          <pc:docMk/>
          <pc:sldMk cId="303222904" sldId="1887"/>
        </pc:sldMkLst>
        <pc:spChg chg="mod">
          <ac:chgData name="Innes Mclean - WFA" userId="cffa568d-066a-4903-b028-bafd937e5ea6" providerId="ADAL" clId="{BAFB47AA-30B1-57EF-A3A9-D4A2AD815BD7}" dt="2026-05-09T18:38:17.522" v="20" actId="1076"/>
          <ac:spMkLst>
            <pc:docMk/>
            <pc:sldMk cId="303222904" sldId="1887"/>
            <ac:spMk id="15" creationId="{DB1CFDC9-8812-2D57-F259-9934E0E81FC7}"/>
          </ac:spMkLst>
        </pc:spChg>
      </pc:sldChg>
      <pc:sldChg chg="add mod modShow">
        <pc:chgData name="Innes Mclean - WFA" userId="cffa568d-066a-4903-b028-bafd937e5ea6" providerId="ADAL" clId="{BAFB47AA-30B1-57EF-A3A9-D4A2AD815BD7}" dt="2026-05-21T16:22:52.831" v="59" actId="34476"/>
        <pc:sldMkLst>
          <pc:docMk/>
          <pc:sldMk cId="2842610468" sldId="1902"/>
        </pc:sldMkLst>
      </pc:sldChg>
      <pc:sldChg chg="del mod modShow">
        <pc:chgData name="Innes Mclean - WFA" userId="cffa568d-066a-4903-b028-bafd937e5ea6" providerId="ADAL" clId="{BAFB47AA-30B1-57EF-A3A9-D4A2AD815BD7}" dt="2026-05-21T16:22:44.359" v="56" actId="2696"/>
        <pc:sldMkLst>
          <pc:docMk/>
          <pc:sldMk cId="4048027688" sldId="1902"/>
        </pc:sldMkLst>
      </pc:sldChg>
      <pc:sldChg chg="del mod modShow">
        <pc:chgData name="Innes Mclean - WFA" userId="cffa568d-066a-4903-b028-bafd937e5ea6" providerId="ADAL" clId="{BAFB47AA-30B1-57EF-A3A9-D4A2AD815BD7}" dt="2026-05-21T16:22:44.359" v="56" actId="2696"/>
        <pc:sldMkLst>
          <pc:docMk/>
          <pc:sldMk cId="2949455189" sldId="1903"/>
        </pc:sldMkLst>
      </pc:sldChg>
      <pc:sldChg chg="add mod modShow">
        <pc:chgData name="Innes Mclean - WFA" userId="cffa568d-066a-4903-b028-bafd937e5ea6" providerId="ADAL" clId="{BAFB47AA-30B1-57EF-A3A9-D4A2AD815BD7}" dt="2026-05-21T16:22:52.831" v="59" actId="34476"/>
        <pc:sldMkLst>
          <pc:docMk/>
          <pc:sldMk cId="3934231579" sldId="1903"/>
        </pc:sldMkLst>
      </pc:sldChg>
      <pc:sldChg chg="modSp mod">
        <pc:chgData name="Innes Mclean - WFA" userId="cffa568d-066a-4903-b028-bafd937e5ea6" providerId="ADAL" clId="{BAFB47AA-30B1-57EF-A3A9-D4A2AD815BD7}" dt="2026-05-21T16:22:48.227" v="58" actId="27636"/>
        <pc:sldMkLst>
          <pc:docMk/>
          <pc:sldMk cId="4127022080" sldId="1904"/>
        </pc:sldMkLst>
        <pc:spChg chg="mod">
          <ac:chgData name="Innes Mclean - WFA" userId="cffa568d-066a-4903-b028-bafd937e5ea6" providerId="ADAL" clId="{BAFB47AA-30B1-57EF-A3A9-D4A2AD815BD7}" dt="2026-05-21T16:22:48.227" v="58" actId="27636"/>
          <ac:spMkLst>
            <pc:docMk/>
            <pc:sldMk cId="4127022080" sldId="1904"/>
            <ac:spMk id="9" creationId="{C39F0976-7660-64BA-E055-E6E60B65E8BB}"/>
          </ac:spMkLst>
        </pc:spChg>
      </pc:sldChg>
      <pc:sldChg chg="add mod modShow">
        <pc:chgData name="Innes Mclean - WFA" userId="cffa568d-066a-4903-b028-bafd937e5ea6" providerId="ADAL" clId="{BAFB47AA-30B1-57EF-A3A9-D4A2AD815BD7}" dt="2026-05-21T16:22:52.831" v="59" actId="34476"/>
        <pc:sldMkLst>
          <pc:docMk/>
          <pc:sldMk cId="2161724486" sldId="1924"/>
        </pc:sldMkLst>
      </pc:sldChg>
      <pc:sldChg chg="del mod modShow">
        <pc:chgData name="Innes Mclean - WFA" userId="cffa568d-066a-4903-b028-bafd937e5ea6" providerId="ADAL" clId="{BAFB47AA-30B1-57EF-A3A9-D4A2AD815BD7}" dt="2026-05-21T16:22:44.359" v="56" actId="2696"/>
        <pc:sldMkLst>
          <pc:docMk/>
          <pc:sldMk cId="3615942781" sldId="1924"/>
        </pc:sldMkLst>
      </pc:sldChg>
    </pc:docChg>
  </pc:docChgLst>
</pc:chgInfo>
</file>

<file path=ppt/ink/ink1.xml><?xml version="1.0" encoding="utf-8"?>
<inkml:ink xmlns:inkml="http://www.w3.org/2003/InkML">
  <inkml:definitions>
    <inkml:context xml:id="ctx0">
      <inkml:inkSource xml:id="inkSrc0">
        <inkml:traceFormat>
          <inkml:channel name="X" type="integer" max="26395" units="cm"/>
          <inkml:channel name="Y" type="integer" max="14847" units="cm"/>
          <inkml:channel name="T" type="integer" max="2.14748E9" units="dev"/>
        </inkml:traceFormat>
        <inkml:channelProperties>
          <inkml:channelProperty channel="X" name="resolution" value="159.99879" units="1/cm"/>
          <inkml:channelProperty channel="Y" name="resolution" value="160.00647" units="1/cm"/>
          <inkml:channelProperty channel="T" name="resolution" value="1" units="1/dev"/>
        </inkml:channelProperties>
      </inkml:inkSource>
      <inkml:timestamp xml:id="ts0" timeString="2025-09-17T12:45:34.864"/>
    </inkml:context>
    <inkml:brush xml:id="br0">
      <inkml:brushProperty name="width" value="0.05292" units="cm"/>
      <inkml:brushProperty name="height" value="0.05292" units="cm"/>
      <inkml:brushProperty name="color" value="#FF0000"/>
    </inkml:brush>
  </inkml:definitions>
  <inkml:trace contextRef="#ctx0" brushRef="#br0">27383 10603 0,'0'0'0</inkml:trace>
</inkml:ink>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D225DB60-C16B-446D-B5DB-6D7125925E95}" type="datetimeFigureOut">
              <a:rPr lang="en-GB" smtClean="0"/>
              <a:t>21/05/2026</a:t>
            </a:fld>
            <a:endParaRPr lang="en-GB"/>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B7E8E8B9-ADA3-45E0-8420-BE5E8FCCF1F7}" type="slidenum">
              <a:rPr lang="en-GB" smtClean="0"/>
              <a:t>‹#›</a:t>
            </a:fld>
            <a:endParaRPr lang="en-GB"/>
          </a:p>
        </p:txBody>
      </p:sp>
    </p:spTree>
    <p:extLst>
      <p:ext uri="{BB962C8B-B14F-4D97-AF65-F5344CB8AC3E}">
        <p14:creationId xmlns:p14="http://schemas.microsoft.com/office/powerpoint/2010/main" val="8571382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11416-2BF0-1BF0-993C-D7EDF44CE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AD52C-A15F-345E-DEC9-153A113F16D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3F11A5D-2009-B729-C92B-9C76C84A13B9}"/>
              </a:ext>
            </a:extLst>
          </p:cNvPr>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a:extLst>
              <a:ext uri="{FF2B5EF4-FFF2-40B4-BE49-F238E27FC236}">
                <a16:creationId xmlns:a16="http://schemas.microsoft.com/office/drawing/2014/main" id="{19A8A58E-928C-8E71-2814-F5DCBF204BB4}"/>
              </a:ext>
            </a:extLst>
          </p:cNvPr>
          <p:cNvSpPr>
            <a:spLocks noGrp="1"/>
          </p:cNvSpPr>
          <p:nvPr>
            <p:ph type="sldNum" sz="quarter" idx="5"/>
          </p:nvPr>
        </p:nvSpPr>
        <p:spPr/>
        <p:txBody>
          <a:bodyPr/>
          <a:lstStyle/>
          <a:p>
            <a:fld id="{B7E8E8B9-ADA3-45E0-8420-BE5E8FCCF1F7}" type="slidenum">
              <a:rPr lang="en-GB" smtClean="0"/>
              <a:t>3</a:t>
            </a:fld>
            <a:endParaRPr lang="en-GB"/>
          </a:p>
        </p:txBody>
      </p:sp>
    </p:spTree>
    <p:extLst>
      <p:ext uri="{BB962C8B-B14F-4D97-AF65-F5344CB8AC3E}">
        <p14:creationId xmlns:p14="http://schemas.microsoft.com/office/powerpoint/2010/main" val="32935852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93071-2F46-9644-A2D0-B7A516A87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F26A4-4C33-FD41-8664-9FFE0D68577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023575B-F319-685A-F4EB-043ABE52686C}"/>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86D2E282-AD31-3D4D-FFE7-ECB14224B778}"/>
              </a:ext>
            </a:extLst>
          </p:cNvPr>
          <p:cNvSpPr>
            <a:spLocks noGrp="1"/>
          </p:cNvSpPr>
          <p:nvPr>
            <p:ph type="sldNum" sz="quarter" idx="5"/>
          </p:nvPr>
        </p:nvSpPr>
        <p:spPr/>
        <p:txBody>
          <a:bodyPr/>
          <a:lstStyle/>
          <a:p>
            <a:fld id="{B7E8E8B9-ADA3-45E0-8420-BE5E8FCCF1F7}" type="slidenum">
              <a:rPr lang="en-GB" smtClean="0"/>
              <a:t>4</a:t>
            </a:fld>
            <a:endParaRPr lang="en-GB"/>
          </a:p>
        </p:txBody>
      </p:sp>
    </p:spTree>
    <p:extLst>
      <p:ext uri="{BB962C8B-B14F-4D97-AF65-F5344CB8AC3E}">
        <p14:creationId xmlns:p14="http://schemas.microsoft.com/office/powerpoint/2010/main" val="23042133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9E6B0-A6BD-A747-E971-48B8368E9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60842B-70A3-6A87-DE71-DC5CDBBC8C2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84E4DBC-5075-4DA5-C90B-BB7261D97387}"/>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90E457-613E-E4B9-F2D4-8EB91F55A8B1}"/>
              </a:ext>
            </a:extLst>
          </p:cNvPr>
          <p:cNvSpPr>
            <a:spLocks noGrp="1"/>
          </p:cNvSpPr>
          <p:nvPr>
            <p:ph type="sldNum" sz="quarter" idx="5"/>
          </p:nvPr>
        </p:nvSpPr>
        <p:spPr/>
        <p:txBody>
          <a:bodyPr/>
          <a:lstStyle/>
          <a:p>
            <a:fld id="{B7E8E8B9-ADA3-45E0-8420-BE5E8FCCF1F7}" type="slidenum">
              <a:rPr lang="en-GB" smtClean="0"/>
              <a:t>5</a:t>
            </a:fld>
            <a:endParaRPr lang="en-GB"/>
          </a:p>
        </p:txBody>
      </p:sp>
    </p:spTree>
    <p:extLst>
      <p:ext uri="{BB962C8B-B14F-4D97-AF65-F5344CB8AC3E}">
        <p14:creationId xmlns:p14="http://schemas.microsoft.com/office/powerpoint/2010/main" val="7320701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BE0DF-E15F-5B7F-F1A7-97D7767E08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CDCBFC-DD36-F38E-02CE-18E5BFA080A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CBA88D1-8153-ACA0-4EC1-0560A2F1293A}"/>
              </a:ext>
            </a:extLst>
          </p:cNvPr>
          <p:cNvSpPr>
            <a:spLocks noGrp="1"/>
          </p:cNvSpPr>
          <p:nvPr>
            <p:ph type="body" idx="1"/>
          </p:nvPr>
        </p:nvSpPr>
        <p:spPr/>
        <p:txBody>
          <a:bodyPr/>
          <a:lstStyle/>
          <a:p>
            <a:r>
              <a:rPr lang="en-GB"/>
              <a:t>OH ES &amp; KW reading phonically decodable version with TP</a:t>
            </a:r>
          </a:p>
        </p:txBody>
      </p:sp>
      <p:sp>
        <p:nvSpPr>
          <p:cNvPr id="4" name="Slide Number Placeholder 3">
            <a:extLst>
              <a:ext uri="{FF2B5EF4-FFF2-40B4-BE49-F238E27FC236}">
                <a16:creationId xmlns:a16="http://schemas.microsoft.com/office/drawing/2014/main" id="{AEDBB03C-83C0-8406-0E5B-977918F0DAB0}"/>
              </a:ext>
            </a:extLst>
          </p:cNvPr>
          <p:cNvSpPr>
            <a:spLocks noGrp="1"/>
          </p:cNvSpPr>
          <p:nvPr>
            <p:ph type="sldNum" sz="quarter" idx="5"/>
          </p:nvPr>
        </p:nvSpPr>
        <p:spPr/>
        <p:txBody>
          <a:bodyPr/>
          <a:lstStyle/>
          <a:p>
            <a:fld id="{B7E8E8B9-ADA3-45E0-8420-BE5E8FCCF1F7}" type="slidenum">
              <a:rPr lang="en-GB" smtClean="0"/>
              <a:t>6</a:t>
            </a:fld>
            <a:endParaRPr lang="en-GB"/>
          </a:p>
        </p:txBody>
      </p:sp>
    </p:spTree>
    <p:extLst>
      <p:ext uri="{BB962C8B-B14F-4D97-AF65-F5344CB8AC3E}">
        <p14:creationId xmlns:p14="http://schemas.microsoft.com/office/powerpoint/2010/main" val="40126006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9</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10</a:t>
            </a:fld>
            <a:endParaRPr lang="en-GB"/>
          </a:p>
        </p:txBody>
      </p:sp>
    </p:spTree>
    <p:extLst>
      <p:ext uri="{BB962C8B-B14F-4D97-AF65-F5344CB8AC3E}">
        <p14:creationId xmlns:p14="http://schemas.microsoft.com/office/powerpoint/2010/main" val="36244987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90C4-3F63-5CE3-40C0-37C3972A6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53583-2126-636C-06E9-AC409DB697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094D933-7CA1-A8E0-3C7B-D224B672327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CBF62738-39F3-90E4-2B16-74770B32C315}"/>
              </a:ext>
            </a:extLst>
          </p:cNvPr>
          <p:cNvSpPr>
            <a:spLocks noGrp="1"/>
          </p:cNvSpPr>
          <p:nvPr>
            <p:ph type="sldNum" sz="quarter" idx="5"/>
          </p:nvPr>
        </p:nvSpPr>
        <p:spPr/>
        <p:txBody>
          <a:bodyPr/>
          <a:lstStyle/>
          <a:p>
            <a:fld id="{B7E8E8B9-ADA3-45E0-8420-BE5E8FCCF1F7}" type="slidenum">
              <a:rPr lang="en-GB" smtClean="0"/>
              <a:t>11</a:t>
            </a:fld>
            <a:endParaRPr lang="en-GB"/>
          </a:p>
        </p:txBody>
      </p:sp>
    </p:spTree>
    <p:extLst>
      <p:ext uri="{BB962C8B-B14F-4D97-AF65-F5344CB8AC3E}">
        <p14:creationId xmlns:p14="http://schemas.microsoft.com/office/powerpoint/2010/main" val="24800050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91006-C5AD-CE9A-768D-97FEB0FA1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B318E-FA05-39EA-68AF-6B9E723A00D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CAEEA19-065F-0F91-7D7E-3BF88230403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651696-B6F4-AA2A-3057-6BD30C08333F}"/>
              </a:ext>
            </a:extLst>
          </p:cNvPr>
          <p:cNvSpPr>
            <a:spLocks noGrp="1"/>
          </p:cNvSpPr>
          <p:nvPr>
            <p:ph type="sldNum" sz="quarter" idx="5"/>
          </p:nvPr>
        </p:nvSpPr>
        <p:spPr/>
        <p:txBody>
          <a:bodyPr/>
          <a:lstStyle/>
          <a:p>
            <a:fld id="{B7E8E8B9-ADA3-45E0-8420-BE5E8FCCF1F7}" type="slidenum">
              <a:rPr lang="en-GB" smtClean="0"/>
              <a:t>12</a:t>
            </a:fld>
            <a:endParaRPr lang="en-GB"/>
          </a:p>
        </p:txBody>
      </p:sp>
    </p:spTree>
    <p:extLst>
      <p:ext uri="{BB962C8B-B14F-4D97-AF65-F5344CB8AC3E}">
        <p14:creationId xmlns:p14="http://schemas.microsoft.com/office/powerpoint/2010/main" val="18949657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OH ES &amp; KW reading phonically decodable version with TP</a:t>
            </a:r>
          </a:p>
        </p:txBody>
      </p:sp>
      <p:sp>
        <p:nvSpPr>
          <p:cNvPr id="4" name="Slide Number Placeholder 3"/>
          <p:cNvSpPr>
            <a:spLocks noGrp="1"/>
          </p:cNvSpPr>
          <p:nvPr>
            <p:ph type="sldNum" sz="quarter" idx="5"/>
          </p:nvPr>
        </p:nvSpPr>
        <p:spPr/>
        <p:txBody>
          <a:bodyPr/>
          <a:lstStyle/>
          <a:p>
            <a:fld id="{B7E8E8B9-ADA3-45E0-8420-BE5E8FCCF1F7}" type="slidenum">
              <a:rPr lang="en-GB" smtClean="0"/>
              <a:t>13</a:t>
            </a:fld>
            <a:endParaRPr lang="en-GB"/>
          </a:p>
        </p:txBody>
      </p:sp>
    </p:spTree>
    <p:extLst>
      <p:ext uri="{BB962C8B-B14F-4D97-AF65-F5344CB8AC3E}">
        <p14:creationId xmlns:p14="http://schemas.microsoft.com/office/powerpoint/2010/main" val="26816728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9</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10</a:t>
            </a:fld>
            <a:endParaRPr lang="en-GB"/>
          </a:p>
        </p:txBody>
      </p:sp>
    </p:spTree>
    <p:extLst>
      <p:ext uri="{BB962C8B-B14F-4D97-AF65-F5344CB8AC3E}">
        <p14:creationId xmlns:p14="http://schemas.microsoft.com/office/powerpoint/2010/main" val="36244987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90C4-3F63-5CE3-40C0-37C3972A6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53583-2126-636C-06E9-AC409DB697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094D933-7CA1-A8E0-3C7B-D224B672327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CBF62738-39F3-90E4-2B16-74770B32C315}"/>
              </a:ext>
            </a:extLst>
          </p:cNvPr>
          <p:cNvSpPr>
            <a:spLocks noGrp="1"/>
          </p:cNvSpPr>
          <p:nvPr>
            <p:ph type="sldNum" sz="quarter" idx="5"/>
          </p:nvPr>
        </p:nvSpPr>
        <p:spPr/>
        <p:txBody>
          <a:bodyPr/>
          <a:lstStyle/>
          <a:p>
            <a:fld id="{B7E8E8B9-ADA3-45E0-8420-BE5E8FCCF1F7}" type="slidenum">
              <a:rPr lang="en-GB" smtClean="0"/>
              <a:t>11</a:t>
            </a:fld>
            <a:endParaRPr lang="en-GB"/>
          </a:p>
        </p:txBody>
      </p:sp>
    </p:spTree>
    <p:extLst>
      <p:ext uri="{BB962C8B-B14F-4D97-AF65-F5344CB8AC3E}">
        <p14:creationId xmlns:p14="http://schemas.microsoft.com/office/powerpoint/2010/main" val="24800050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91006-C5AD-CE9A-768D-97FEB0FA1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B318E-FA05-39EA-68AF-6B9E723A00D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CAEEA19-065F-0F91-7D7E-3BF88230403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651696-B6F4-AA2A-3057-6BD30C08333F}"/>
              </a:ext>
            </a:extLst>
          </p:cNvPr>
          <p:cNvSpPr>
            <a:spLocks noGrp="1"/>
          </p:cNvSpPr>
          <p:nvPr>
            <p:ph type="sldNum" sz="quarter" idx="5"/>
          </p:nvPr>
        </p:nvSpPr>
        <p:spPr/>
        <p:txBody>
          <a:bodyPr/>
          <a:lstStyle/>
          <a:p>
            <a:fld id="{B7E8E8B9-ADA3-45E0-8420-BE5E8FCCF1F7}" type="slidenum">
              <a:rPr lang="en-GB" smtClean="0"/>
              <a:t>12</a:t>
            </a:fld>
            <a:endParaRPr lang="en-GB"/>
          </a:p>
        </p:txBody>
      </p:sp>
    </p:spTree>
    <p:extLst>
      <p:ext uri="{BB962C8B-B14F-4D97-AF65-F5344CB8AC3E}">
        <p14:creationId xmlns:p14="http://schemas.microsoft.com/office/powerpoint/2010/main" val="18949657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OH ES &amp; KW reading phonically decodable version with TP</a:t>
            </a:r>
          </a:p>
        </p:txBody>
      </p:sp>
      <p:sp>
        <p:nvSpPr>
          <p:cNvPr id="4" name="Slide Number Placeholder 3"/>
          <p:cNvSpPr>
            <a:spLocks noGrp="1"/>
          </p:cNvSpPr>
          <p:nvPr>
            <p:ph type="sldNum" sz="quarter" idx="5"/>
          </p:nvPr>
        </p:nvSpPr>
        <p:spPr/>
        <p:txBody>
          <a:bodyPr/>
          <a:lstStyle/>
          <a:p>
            <a:fld id="{B7E8E8B9-ADA3-45E0-8420-BE5E8FCCF1F7}" type="slidenum">
              <a:rPr lang="en-GB" smtClean="0"/>
              <a:t>13</a:t>
            </a:fld>
            <a:endParaRPr lang="en-GB"/>
          </a:p>
        </p:txBody>
      </p:sp>
    </p:spTree>
    <p:extLst>
      <p:ext uri="{BB962C8B-B14F-4D97-AF65-F5344CB8AC3E}">
        <p14:creationId xmlns:p14="http://schemas.microsoft.com/office/powerpoint/2010/main" val="26816728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9</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10</a:t>
            </a:fld>
            <a:endParaRPr lang="en-GB"/>
          </a:p>
        </p:txBody>
      </p:sp>
    </p:spTree>
    <p:extLst>
      <p:ext uri="{BB962C8B-B14F-4D97-AF65-F5344CB8AC3E}">
        <p14:creationId xmlns:p14="http://schemas.microsoft.com/office/powerpoint/2010/main" val="3624498783"/>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5A21D-2FCA-5103-944C-97A33EAB499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4E451915-D313-134F-3B39-E2202692B0C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0492851-C45E-2C62-1686-35F05261BF4A}"/>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5565C8CD-ED83-6186-0E09-D60B801105B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01FC3CD-1629-3981-C514-EA809A6DA1BC}"/>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173673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BF554-C9DF-1E20-73BD-9BEBF65F853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C7DEC16-6EFE-8F98-D786-F7FA33F73D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0F50926-EAE1-8CBC-B944-95606793B845}"/>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80EDD0ED-4188-0860-8E6D-81E93458E37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AAE27D8-31F7-1112-ED89-AD6BFC9E010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4887929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5DCD8-D0E7-C7D8-C221-D51F0B6814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B84F57CA-859A-366E-BD81-B51EB9F3F1B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816810-0B04-441A-BDC2-5334A4ED6B8F}"/>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967743A6-7DF3-3A54-9EA1-0818278D5BF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C0B308D-ED7A-41CA-CE45-BFD4B52EE3FF}"/>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5695795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6C61B-06CA-A5BD-FF28-522B3C1C5EC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56A4604E-C7F9-DE00-FC0E-9D0430CBD1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FC8481-8445-D097-8868-FEBEF363086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7EAA810B-D0B6-055B-A7B2-A91D9312431E}"/>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6" name="Footer Placeholder 5">
            <a:extLst>
              <a:ext uri="{FF2B5EF4-FFF2-40B4-BE49-F238E27FC236}">
                <a16:creationId xmlns:a16="http://schemas.microsoft.com/office/drawing/2014/main" id="{A3AD80D6-ABB1-0B43-2EF6-728A9BF7FFB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A1F566E-8C59-14B0-1B4A-013D19195555}"/>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13112049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FD8B9-6D91-0488-0B6B-D8925368CB77}"/>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93EC770-FFE0-0BCE-D25B-ED842005CA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ACAE04-0440-4429-84C8-7BB448E0612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9013C1A-78C5-C6A1-01F4-1F918414BE2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D5F05FB-98EA-3A71-20AF-C01DB3BD785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3A7D365-8161-72FD-ABB1-1B60E1F31FF2}"/>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8" name="Footer Placeholder 7">
            <a:extLst>
              <a:ext uri="{FF2B5EF4-FFF2-40B4-BE49-F238E27FC236}">
                <a16:creationId xmlns:a16="http://schemas.microsoft.com/office/drawing/2014/main" id="{DD4C5E40-7DE8-3AB1-5251-3786AB7A8391}"/>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328ECA8F-EE24-6FAE-06B6-EAB0AA8C899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1178559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1966A-38F6-03A2-7850-CBC3564D366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2AC653EE-AB8C-20D9-EBAD-D2C658811A8D}"/>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4" name="Footer Placeholder 3">
            <a:extLst>
              <a:ext uri="{FF2B5EF4-FFF2-40B4-BE49-F238E27FC236}">
                <a16:creationId xmlns:a16="http://schemas.microsoft.com/office/drawing/2014/main" id="{4B8671EA-7A81-2488-CC64-F7AA1FA5BC52}"/>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D3FA76E-F712-5B71-1F05-B2754EBC1D19}"/>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2179631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7460A9-9D13-270B-29A4-50F492C07A7C}"/>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3" name="Footer Placeholder 2">
            <a:extLst>
              <a:ext uri="{FF2B5EF4-FFF2-40B4-BE49-F238E27FC236}">
                <a16:creationId xmlns:a16="http://schemas.microsoft.com/office/drawing/2014/main" id="{3A1BD67B-379B-C75C-2673-E3D7E240730B}"/>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C727B918-0F9C-09A3-037D-B8A188A3028B}"/>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755542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DC67F-FB8D-658E-598C-C851430A8D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BFDB75E-8915-32DA-B58D-D893D674504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52C66A0-5168-1295-9EEA-6F4269952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C462D3-A952-91CB-DCE0-30ED606AE43C}"/>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6" name="Footer Placeholder 5">
            <a:extLst>
              <a:ext uri="{FF2B5EF4-FFF2-40B4-BE49-F238E27FC236}">
                <a16:creationId xmlns:a16="http://schemas.microsoft.com/office/drawing/2014/main" id="{7AECD06D-C0FC-9664-2ACD-9DF3C518ABE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4F2D1BB-BAD7-3C27-EF7C-8769CDC6FC62}"/>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349846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3220F-DE75-7293-BA54-A820732EB0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5A7D88C-152E-EE3F-9132-C786827FA58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4B973C0-9031-5A51-8DC0-CD8C2DBD6F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EC7FE28-2AB1-A1AE-1DC1-2891CD211974}"/>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6" name="Footer Placeholder 5">
            <a:extLst>
              <a:ext uri="{FF2B5EF4-FFF2-40B4-BE49-F238E27FC236}">
                <a16:creationId xmlns:a16="http://schemas.microsoft.com/office/drawing/2014/main" id="{4CFC7DF7-EE0C-A96A-0A71-4A20704DA62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3F354D7-FA08-FBD4-1D6D-7C0D0115C50D}"/>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3649426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6DE38-C159-DD3F-3419-061EC2706C5B}"/>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E4A78D7-9DB6-9FE7-D6A5-0D8C5113970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38ECF6-30BD-892C-0F30-CDFA8424ACF6}"/>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A79E0C5A-96D4-3102-5A52-240B1FD840F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C3AA66-3D0D-0085-C81D-088B396324C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19533953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C868FC3-86B3-8BF7-3C43-D7286B46EAF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BDEA911C-6657-35D6-8679-F5861CAE8D1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07097C1-61F4-5117-4F0F-D1B0C168769E}"/>
              </a:ext>
            </a:extLst>
          </p:cNvPr>
          <p:cNvSpPr>
            <a:spLocks noGrp="1"/>
          </p:cNvSpPr>
          <p:nvPr>
            <p:ph type="dt" sz="half" idx="10"/>
          </p:nvPr>
        </p:nvSpPr>
        <p:spPr/>
        <p:txBody>
          <a:body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B2F7DD80-E551-6693-517F-57C80BD89A7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FC51674-A2E1-4818-8900-91FBB812AB3E}"/>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747567405"/>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45C16C3-8E98-21FD-43ED-3AA697B77A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9AA3022-3424-75B4-F2EC-7CEB8FA07C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EC25384-14A1-0395-EDE6-D2A60BCE49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B72D5E0-039A-4068-97A9-A3C4BF080BAA}" type="datetimeFigureOut">
              <a:rPr lang="en-GB" smtClean="0"/>
              <a:t>21/05/2026</a:t>
            </a:fld>
            <a:endParaRPr lang="en-GB"/>
          </a:p>
        </p:txBody>
      </p:sp>
      <p:sp>
        <p:nvSpPr>
          <p:cNvPr id="5" name="Footer Placeholder 4">
            <a:extLst>
              <a:ext uri="{FF2B5EF4-FFF2-40B4-BE49-F238E27FC236}">
                <a16:creationId xmlns:a16="http://schemas.microsoft.com/office/drawing/2014/main" id="{09290F1D-4E4C-69C6-26A7-CE1716791C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B634093-083B-3EA6-BBB8-95BE7409B0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AD7094B-D2BC-452F-93E3-9C4A8FC9449E}" type="slidenum">
              <a:rPr lang="en-GB" smtClean="0"/>
              <a:t>‹#›</a:t>
            </a:fld>
            <a:endParaRPr lang="en-GB"/>
          </a:p>
        </p:txBody>
      </p:sp>
    </p:spTree>
    <p:extLst>
      <p:ext uri="{BB962C8B-B14F-4D97-AF65-F5344CB8AC3E}">
        <p14:creationId xmlns:p14="http://schemas.microsoft.com/office/powerpoint/2010/main" val="6997227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microsoft.com/office/2007/relationships/hdphoto" Target="../media/hdphoto1.wdp"/></Relationships>
</file>

<file path=ppt/slides/_rels/slide3.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4.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6.xml.rels><?xml version="1.0" encoding="UTF-8"?><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3.png"/></Relationships>
</file>

<file path=ppt/slides/_rels/slide10.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11.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customXml" Target="../ink/ink1.xml"/></Relationships>
</file>

<file path=ppt/slides/_rels/slide12.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13.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4.xml.rels><?xml version="1.0" encoding="UTF-8"?><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3.png"/></Relationships>
</file>

<file path=ppt/slides/_rels/slide17.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18.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customXml" Target="../ink/ink1.xml"/></Relationships>
</file>

<file path=ppt/slides/_rels/slide19.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20.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1.xml.rels><?xml version="1.0" encoding="UTF-8"?><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 Id="rId99" Type="http://schemas.openxmlformats.org/officeDocument/2006/relationships/notesSlide" Target="../notesSlides/notesSlide15.xml"/></Relationships>
</file>

<file path=ppt/slides/_rels/slide22.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7.xml"/><Relationship Id="rId9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descr="A white grid with black text  Description automatically generated">
            <a:extLst>
              <a:ext uri="{FF2B5EF4-FFF2-40B4-BE49-F238E27FC236}">
                <a16:creationId xmlns:a16="http://schemas.microsoft.com/office/drawing/2014/main" id="{1B42834E-5B1E-8CE4-BEEE-8784E10AE2DF}"/>
              </a:ext>
            </a:extLst>
          </p:cNvPr>
          <p:cNvPicPr>
            <a:picLocks noChangeAspect="1"/>
          </p:cNvPicPr>
          <p:nvPr/>
        </p:nvPicPr>
        <p:blipFill>
          <a:blip r:embed="rId2"/>
          <a:stretch>
            <a:fillRect/>
          </a:stretch>
        </p:blipFill>
        <p:spPr>
          <a:xfrm>
            <a:off x="343349" y="169879"/>
            <a:ext cx="10272264" cy="6455163"/>
          </a:xfrm>
          <a:prstGeom prst="rect">
            <a:avLst/>
          </a:prstGeom>
        </p:spPr>
      </p:pic>
    </p:spTree>
    <p:extLst>
      <p:ext uri="{BB962C8B-B14F-4D97-AF65-F5344CB8AC3E}">
        <p14:creationId xmlns:p14="http://schemas.microsoft.com/office/powerpoint/2010/main" val="1269628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810699" y="542637"/>
            <a:ext cx="2570602" cy="2802616"/>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6" name="TextBox 5">
            <a:extLst>
              <a:ext uri="{FF2B5EF4-FFF2-40B4-BE49-F238E27FC236}">
                <a16:creationId xmlns:a16="http://schemas.microsoft.com/office/drawing/2014/main" id="{BB00753D-C189-01CA-44B1-B484F954D600}"/>
              </a:ext>
            </a:extLst>
          </p:cNvPr>
          <p:cNvSpPr txBox="1"/>
          <p:nvPr/>
        </p:nvSpPr>
        <p:spPr>
          <a:xfrm>
            <a:off x="0" y="4552141"/>
            <a:ext cx="12192000" cy="584775"/>
          </a:xfrm>
          <a:prstGeom prst="rect">
            <a:avLst/>
          </a:prstGeom>
          <a:noFill/>
        </p:spPr>
        <p:txBody>
          <a:bodyPr wrap="square">
            <a:spAutoFit/>
          </a:bodyPr>
          <a:lstStyle/>
          <a:p>
            <a:pPr algn="ctr"/>
            <a:r>
              <a:rPr lang="en-GB" sz="3200" dirty="0"/>
              <a:t>Vocabulary</a:t>
            </a:r>
          </a:p>
        </p:txBody>
      </p:sp>
      <p:sp>
        <p:nvSpPr>
          <p:cNvPr id="8" name="TextBox 7">
            <a:extLst>
              <a:ext uri="{FF2B5EF4-FFF2-40B4-BE49-F238E27FC236}">
                <a16:creationId xmlns:a16="http://schemas.microsoft.com/office/drawing/2014/main" id="{E3C356D1-4D69-6789-D9E9-77C69F82E055}"/>
              </a:ext>
            </a:extLst>
          </p:cNvPr>
          <p:cNvSpPr txBox="1"/>
          <p:nvPr/>
        </p:nvSpPr>
        <p:spPr>
          <a:xfrm>
            <a:off x="4423577" y="5199610"/>
            <a:ext cx="3329758" cy="1446550"/>
          </a:xfrm>
          <a:prstGeom prst="rect">
            <a:avLst/>
          </a:prstGeom>
          <a:noFill/>
        </p:spPr>
        <p:txBody>
          <a:bodyPr wrap="none" rtlCol="0" anchor="ctr">
            <a:spAutoFit/>
          </a:bodyPr>
          <a:lstStyle/>
          <a:p>
            <a:pPr algn="ctr"/>
            <a:r>
              <a:rPr lang="en-GB" sz="8800" dirty="0"/>
              <a:t>Tuesday</a:t>
            </a:r>
          </a:p>
        </p:txBody>
      </p:sp>
    </p:spTree>
    <p:extLst>
      <p:ext uri="{BB962C8B-B14F-4D97-AF65-F5344CB8AC3E}">
        <p14:creationId xmlns:p14="http://schemas.microsoft.com/office/powerpoint/2010/main" val="31726175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7DFFE-43F9-9789-7910-83BEEE3A3818}"/>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3E87004-6E1A-D1FF-FF85-9A712A9BB7B3}"/>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081EF958-1030-773B-A7D6-6CEB89A8F58A}"/>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CB992496-7EDE-333E-5CB0-3C40245FED5D}"/>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79FB5223-15E3-4844-7748-101D3E2F6D73}"/>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5594475F-C636-A29B-742C-0F17DB69B1FF}"/>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C934D238-3C31-683C-09D6-F097B09592C0}"/>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4C8634C0-C6DD-1B8E-85A5-094729686CE0}"/>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420021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EC2FE-E3EF-97C8-F7DC-C0A25E1D163D}"/>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5AA7E159-E28C-77BB-73A2-F381C7A90837}"/>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91C39609-0D86-A5B7-4D8A-1F527D92392F}"/>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84199F61-4B0B-8E0F-2DB2-ED5EBBDF58E5}"/>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FC3196E5-5551-D86F-2179-6878DD23429F}"/>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BDA4AF79-C1C4-8EFA-F1F6-B418570C55CC}"/>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DB2EAE7E-9AF9-75F2-CFE5-9905D0F16B0E}"/>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p:graphicFrame>
        <p:nvGraphicFramePr>
          <p:cNvPr id="13" name="Table 12">
            <a:extLst>
              <a:ext uri="{FF2B5EF4-FFF2-40B4-BE49-F238E27FC236}">
                <a16:creationId xmlns:a16="http://schemas.microsoft.com/office/drawing/2014/main" id="{9464E341-C007-5632-B326-45797112EDA2}"/>
              </a:ext>
            </a:extLst>
          </p:cNvPr>
          <p:cNvGraphicFramePr>
            <a:graphicFrameLocks noGrp="1"/>
          </p:cNvGraphicFramePr>
          <p:nvPr>
            <p:extLst>
              <p:ext uri="{D42A27DB-BD31-4B8C-83A1-F6EECF244321}">
                <p14:modId xmlns:p14="http://schemas.microsoft.com/office/powerpoint/2010/main" val="3344407260"/>
              </p:ext>
            </p:extLst>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suspicious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1800" b="0" i="0" u="none" strike="noStrike">
                          <a:solidFill>
                            <a:srgbClr val="000000"/>
                          </a:solidFill>
                          <a:effectLst/>
                          <a:latin typeface="Calibri" panose="020F0502020204030204" pitchFamily="34" charset="0"/>
                        </a:rPr>
                        <a:t>not trusting someone; thinking they might cause trouble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wary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careful and watchful, not fully trusting a situation or person</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defiant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refusing to obey or be controlled; standing up against something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grudging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given unwillingly, without wanting to admit it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curiosity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strong desire to know or find out more about something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E459C5E2-5BCA-E6D1-3FA2-4EE65FF057B2}"/>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7" name="Rectangle 16">
            <a:extLst>
              <a:ext uri="{FF2B5EF4-FFF2-40B4-BE49-F238E27FC236}">
                <a16:creationId xmlns:a16="http://schemas.microsoft.com/office/drawing/2014/main" id="{8378AAAA-9509-6BC5-9C3F-9C67043451B7}"/>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8" name="Rectangle 17">
            <a:extLst>
              <a:ext uri="{FF2B5EF4-FFF2-40B4-BE49-F238E27FC236}">
                <a16:creationId xmlns:a16="http://schemas.microsoft.com/office/drawing/2014/main" id="{483E4D50-B122-CB47-766E-B5E7AC2451E9}"/>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9" name="Rectangle 18">
            <a:extLst>
              <a:ext uri="{FF2B5EF4-FFF2-40B4-BE49-F238E27FC236}">
                <a16:creationId xmlns:a16="http://schemas.microsoft.com/office/drawing/2014/main" id="{4F499D47-C8D0-1D00-07CE-6BF9DF183DEF}"/>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20" name="Rectangle 19">
            <a:extLst>
              <a:ext uri="{FF2B5EF4-FFF2-40B4-BE49-F238E27FC236}">
                <a16:creationId xmlns:a16="http://schemas.microsoft.com/office/drawing/2014/main" id="{FB71A36C-7A6A-7242-D64C-17151302D893}"/>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Tree>
    <p:extLst>
      <p:ext uri="{BB962C8B-B14F-4D97-AF65-F5344CB8AC3E}">
        <p14:creationId xmlns:p14="http://schemas.microsoft.com/office/powerpoint/2010/main" val="405517483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7"/>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2" restart="whenNotActive" fill="hold" evtFilter="cancelBubble" nodeType="interactiveSeq">
                <p:stCondLst>
                  <p:cond evt="onClick" delay="0">
                    <p:tgtEl>
                      <p:spTgt spid="18"/>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17" restart="whenNotActive" fill="hold" evtFilter="cancelBubble" nodeType="interactiveSeq">
                <p:stCondLst>
                  <p:cond evt="onClick" delay="0">
                    <p:tgtEl>
                      <p:spTgt spid="19"/>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seq concurrent="1" nextAc="seek">
              <p:cTn id="22" restart="whenNotActive" fill="hold" evtFilter="cancelBubble" nodeType="interactiveSeq">
                <p:stCondLst>
                  <p:cond evt="onClick" delay="0">
                    <p:tgtEl>
                      <p:spTgt spid="20"/>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hidden"/>
                                      </p:to>
                                    </p:set>
                                  </p:childTnLst>
                                </p:cTn>
                              </p:par>
                            </p:childTnLst>
                          </p:cTn>
                        </p:par>
                      </p:childTnLst>
                    </p:cTn>
                  </p:par>
                </p:childTnLst>
              </p:cTn>
              <p:nextCondLst>
                <p:cond evt="onClick" delay="0">
                  <p:tgtEl>
                    <p:spTgt spid="20"/>
                  </p:tgtEl>
                </p:cond>
              </p:nextCondLst>
            </p:seq>
          </p:childTnLst>
        </p:cTn>
      </p:par>
    </p:tnLst>
    <p:bldLst>
      <p:bldP spid="16" grpId="0" animBg="1"/>
      <p:bldP spid="17" grpId="0" animBg="1"/>
      <p:bldP spid="18" grpId="0" animBg="1"/>
      <p:bldP spid="19" grpId="0" animBg="1"/>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5D4AD-39BF-E719-97C7-B9FE8F2F1D23}"/>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1EC62D8-35F3-692D-E010-0DC4232EB396}"/>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F8888C4F-1616-8D90-191F-5F1D6A12B17C}"/>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A3B5DDCC-932B-F66F-471E-38658DC395B0}"/>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733E3EE1-243D-DB63-04F2-FFCC4E6120EC}"/>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2DCF07E4-FAD7-AFAB-73D7-E54C6A426087}"/>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532B7159-F539-A363-45FE-8B91401BE68F}"/>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1BDE9717-27F4-D48A-5961-BBB082A50FA4}"/>
              </a:ext>
            </a:extLst>
          </p:cNvPr>
          <p:cNvGraphicFramePr>
            <a:graphicFrameLocks noGrp="1"/>
          </p:cNvGraphicFramePr>
          <p:nvPr>
            <p:extLst>
              <p:ext uri="{D42A27DB-BD31-4B8C-83A1-F6EECF244321}">
                <p14:modId xmlns:p14="http://schemas.microsoft.com/office/powerpoint/2010/main" val="394122683"/>
              </p:ext>
            </p:extLst>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sz="3200" b="0">
                        <a:solidFill>
                          <a:schemeClr val="tx1"/>
                        </a:solidFill>
                        <a:latin typeface="Twinkl Cursive Looped Light" panose="02000000000000000000" pitchFamily="2" charset="77"/>
                      </a:endParaRPr>
                    </a:p>
                    <a:p>
                      <a:pPr algn="ctr"/>
                      <a:r>
                        <a:rPr lang="en-GB" sz="3200" b="0">
                          <a:solidFill>
                            <a:schemeClr val="tx1"/>
                          </a:solidFill>
                          <a:latin typeface="Twinkl Cursive Looped Light" panose="02000000000000000000" pitchFamily="2" charset="77"/>
                        </a:rPr>
                        <a:t>suspicious</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DCA91193-1537-0657-E11E-503EF19A61E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D4A4253D-E3B5-EFA7-4B1C-50AA791A86AA}"/>
              </a:ext>
            </a:extLst>
          </p:cNvPr>
          <p:cNvSpPr txBox="1"/>
          <p:nvPr/>
        </p:nvSpPr>
        <p:spPr>
          <a:xfrm>
            <a:off x="4788984" y="5296822"/>
            <a:ext cx="2400000" cy="480000"/>
          </a:xfrm>
          <a:prstGeom prst="rect">
            <a:avLst/>
          </a:prstGeom>
          <a:noFill/>
        </p:spPr>
        <p:txBody>
          <a:bodyPr wrap="square" rtlCol="0" anchor="ctr"/>
          <a:lstStyle/>
          <a:p>
            <a:pPr algn="ctr"/>
            <a:r>
              <a:rPr lang="en-GB"/>
              <a:t>suspicious</a:t>
            </a:r>
          </a:p>
        </p:txBody>
      </p:sp>
      <p:cxnSp>
        <p:nvCxnSpPr>
          <p:cNvPr id="12" name="Straight Connector 11">
            <a:extLst>
              <a:ext uri="{FF2B5EF4-FFF2-40B4-BE49-F238E27FC236}">
                <a16:creationId xmlns:a16="http://schemas.microsoft.com/office/drawing/2014/main" id="{7C8845E9-B967-EA4D-1D1A-9AF3DDA85380}"/>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B3BFB0-1A1A-2A77-4CC9-C8E227413B3E}"/>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EF585B9-9A59-4AD6-3B99-DB66AC0BC1C7}"/>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8E2FC65-99A3-B206-BA2E-B45AABD7E835}"/>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EF0396BA-9A50-9215-C8CB-0B99470EF9F5}"/>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43437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40D69-2A3E-AC4D-476F-E48DC49AB51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39D004C-6476-A163-CC76-9EB710752DEA}"/>
              </a:ext>
            </a:extLst>
          </p:cNvPr>
          <p:cNvPicPr>
            <a:picLocks noChangeAspect="1"/>
          </p:cNvPicPr>
          <p:nvPr/>
        </p:nvPicPr>
        <p:blipFill>
          <a:blip r:embed="rId3"/>
          <a:stretch>
            <a:fillRect/>
          </a:stretch>
        </p:blipFill>
        <p:spPr>
          <a:xfrm>
            <a:off x="525593" y="1980987"/>
            <a:ext cx="9243932" cy="1349566"/>
          </a:xfrm>
          <a:prstGeom prst="rect">
            <a:avLst/>
          </a:prstGeom>
        </p:spPr>
      </p:pic>
      <p:pic>
        <p:nvPicPr>
          <p:cNvPr id="11" name="Picture 10">
            <a:extLst>
              <a:ext uri="{FF2B5EF4-FFF2-40B4-BE49-F238E27FC236}">
                <a16:creationId xmlns:a16="http://schemas.microsoft.com/office/drawing/2014/main" id="{6B7C83CA-03D0-7626-308E-7CE111534218}"/>
              </a:ext>
            </a:extLst>
          </p:cNvPr>
          <p:cNvPicPr/>
          <p:nvPr/>
        </p:nvPicPr>
        <p:blipFill>
          <a:blip r:embed="rId4">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F0092A21-3382-F255-270E-BE0BDE056D4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1800" b="1">
                <a:effectLst/>
                <a:latin typeface="Sassoon Infant Rg" panose="02000503030000020003" pitchFamily="2" charset="0"/>
                <a:ea typeface="Sassoon Infant Rg" panose="02000503030000020003" pitchFamily="2" charset="0"/>
                <a:cs typeface="Times New Roman" panose="02020603050405020304" pitchFamily="18" charset="0"/>
              </a:rPr>
              <a:t>Paired reading</a:t>
            </a:r>
            <a:r>
              <a:rPr lang="en-GB" sz="1800">
                <a:effectLst/>
                <a:latin typeface="Sassoon Infant Rg" panose="02000503030000020003" pitchFamily="2" charset="0"/>
                <a:ea typeface="Sassoon Infant Rg" panose="02000503030000020003" pitchFamily="2" charset="0"/>
                <a:cs typeface="Times New Roman" panose="02020603050405020304" pitchFamily="18" charset="0"/>
              </a:rPr>
              <a:t xml:space="preserve">.  </a:t>
            </a:r>
            <a:r>
              <a:rPr lang="en-GB" sz="1800">
                <a:latin typeface="Sassoon Infant Rg" panose="02000503030000020003" pitchFamily="2" charset="0"/>
                <a:ea typeface="Sassoon Infant Rg" panose="02000503030000020003" pitchFamily="2" charset="0"/>
                <a:cs typeface="Times New Roman" panose="02020603050405020304" pitchFamily="18" charset="0"/>
              </a:rPr>
              <a:t>Read the text with a partner, taking turns sentence by sentence. Focus on reading smoothly and clearly, matching your pace to the punctuation.</a:t>
            </a:r>
            <a:endParaRPr lang="en-GB" b="1"/>
          </a:p>
        </p:txBody>
      </p:sp>
      <p:grpSp>
        <p:nvGrpSpPr>
          <p:cNvPr id="7" name="Group 6">
            <a:extLst>
              <a:ext uri="{FF2B5EF4-FFF2-40B4-BE49-F238E27FC236}">
                <a16:creationId xmlns:a16="http://schemas.microsoft.com/office/drawing/2014/main" id="{2F4A7F38-FB96-EA15-05EC-03CFFB5CBE42}"/>
              </a:ext>
            </a:extLst>
          </p:cNvPr>
          <p:cNvGrpSpPr/>
          <p:nvPr/>
        </p:nvGrpSpPr>
        <p:grpSpPr>
          <a:xfrm>
            <a:off x="10349575" y="2457302"/>
            <a:ext cx="1316831" cy="1316831"/>
            <a:chOff x="5180554" y="3075697"/>
            <a:chExt cx="1316831" cy="1316831"/>
          </a:xfrm>
        </p:grpSpPr>
        <p:sp>
          <p:nvSpPr>
            <p:cNvPr id="9" name="Oval 8">
              <a:extLst>
                <a:ext uri="{FF2B5EF4-FFF2-40B4-BE49-F238E27FC236}">
                  <a16:creationId xmlns:a16="http://schemas.microsoft.com/office/drawing/2014/main" id="{230C30F1-14D6-3E62-897A-05259DF04DDD}"/>
                </a:ext>
              </a:extLst>
            </p:cNvPr>
            <p:cNvSpPr/>
            <p:nvPr/>
          </p:nvSpPr>
          <p:spPr>
            <a:xfrm>
              <a:off x="5180554" y="3075697"/>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0" name="Oval 4">
              <a:extLst>
                <a:ext uri="{FF2B5EF4-FFF2-40B4-BE49-F238E27FC236}">
                  <a16:creationId xmlns:a16="http://schemas.microsoft.com/office/drawing/2014/main" id="{94AC7F2E-0C00-B939-4106-51835EB2A269}"/>
                </a:ext>
              </a:extLst>
            </p:cNvPr>
            <p:cNvSpPr txBox="1"/>
            <p:nvPr/>
          </p:nvSpPr>
          <p:spPr>
            <a:xfrm>
              <a:off x="5373399" y="3268542"/>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effectLst/>
                  <a:latin typeface="Sassoon Infant Rg" panose="02000503030000020003" pitchFamily="2" charset="0"/>
                  <a:ea typeface="Sassoon Infant Rg" panose="02000503030000020003" pitchFamily="2" charset="0"/>
                </a:rPr>
                <a:t>Fluency &amp; Expression</a:t>
              </a:r>
            </a:p>
          </p:txBody>
        </p:sp>
      </p:grpSp>
      <p:sp>
        <p:nvSpPr>
          <p:cNvPr id="6" name="Rounded Rectangle 5">
            <a:extLst>
              <a:ext uri="{FF2B5EF4-FFF2-40B4-BE49-F238E27FC236}">
                <a16:creationId xmlns:a16="http://schemas.microsoft.com/office/drawing/2014/main" id="{D7466D49-4660-7227-B771-06F3B6102B62}"/>
              </a:ext>
            </a:extLst>
          </p:cNvPr>
          <p:cNvSpPr/>
          <p:nvPr/>
        </p:nvSpPr>
        <p:spPr>
          <a:xfrm>
            <a:off x="8019658" y="624524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5" name="TextBox 14">
            <a:extLst>
              <a:ext uri="{FF2B5EF4-FFF2-40B4-BE49-F238E27FC236}">
                <a16:creationId xmlns:a16="http://schemas.microsoft.com/office/drawing/2014/main" id="{DB1CFDC9-8812-2D57-F259-9934E0E81FC7}"/>
              </a:ext>
            </a:extLst>
          </p:cNvPr>
          <p:cNvSpPr txBox="1"/>
          <p:nvPr/>
        </p:nvSpPr>
        <p:spPr>
          <a:xfrm>
            <a:off x="183063" y="1034693"/>
            <a:ext cx="11864557" cy="5093190"/>
          </a:xfrm>
          <a:prstGeom prst="rect">
            <a:avLst/>
          </a:prstGeom>
          <a:solidFill>
            <a:schemeClr val="accent5">
              <a:lumMod val="20000"/>
              <a:lumOff val="80000"/>
            </a:schemeClr>
          </a:solidFill>
          <a:ln>
            <a:noFill/>
          </a:ln>
        </p:spPr>
        <p:txBody>
          <a:bodyPr wrap="square" anchor="ctr">
            <a:normAutofit lnSpcReduction="10000"/>
          </a:bodyPr>
          <a:lstStyle/>
          <a:p>
            <a:r>
              <a:rPr lang="en-GB" sz="2200"/>
              <a:t>Holly watched him from the top of the wall, her green eyes unblinking. She was smaller than Varjak had expected — lean and quick, with a nick in one ear and a look that said she had seen worse things than him. He tried to appear calm.
"You're not from round here," she said. It was not a question.
"No." Varjak straightened up, trying to look more confident than he felt. "My name is Varjak Paw. I came from —"
"I know where you came from." Her tail flicked once. "That tower." She said it like it explained everything she needed to know, and not in a good way.
Varjak bristled. He was not used to being dismissed before he had even spoken properly. "I'm looking for a dog," he said.
Holly blinked. There was a long pause — the kind that made you want to fill it, which Varjak suspected was exactly why she left it there. When she finally spoke, there was something grudging in her voice, as though the words cost her.
"That's the most ridiculous thing I've ever heard," she said. Then — and this surprised him completely — she dropped lightly down from the wall and landed at his side. "I'm Holly. If you're going after dogs, you need help whether you like it or not."
Varjak stared. He felt something stir: not quite trust, but the first small seed of curiosity about what might come next.</a:t>
            </a:r>
            <a:endParaRPr lang="en-GB" sz="2200" noProof="0"/>
          </a:p>
        </p:txBody>
      </p:sp>
    </p:spTree>
    <p:extLst>
      <p:ext uri="{BB962C8B-B14F-4D97-AF65-F5344CB8AC3E}">
        <p14:creationId xmlns:p14="http://schemas.microsoft.com/office/powerpoint/2010/main" val="303222904"/>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6"/>
                  </p:tgtEl>
                </p:cond>
              </p:nextCondLst>
            </p:seq>
          </p:childTnLst>
        </p:cTn>
      </p:par>
    </p:tnLst>
    <p:bldLst>
      <p:bldP spid="15" grpId="0" animBg="1"/>
      <p:bldP spid="15"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023D4CD-427D-4829-87ED-E2CC3EF8D760}"/>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A35914BD-597C-4EC9-A8CC-64938F558A31}"/>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FE91008D-524B-4E64-AED8-DADBF402F1F1}"/>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3B1F94B5-AE2B-4839-8A01-9D2FC48647A0}"/>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01F4601C-78F0-408A-BFB4-D2C386D5BE41}"/>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0F52BAE7-58D2-4ABA-B083-76155F063DF0}"/>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2308B9F9-02B7-4539-8FBF-46AC5DCEA9AA}"/>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6A1CB78E-9D4B-4986-8879-83568C225091}"/>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CF45870B-7F74-4D54-8596-BFA710ED989D}"/>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EA65950C-D815-47D7-8502-EDD27BCB7185}"/>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9616B4D3-C46F-48F5-8695-1B7F3A82ADA3}"/>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03BB604F-2FA6-4611-A323-4B2AD52B72FE}"/>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198215EB-E5DE-4419-AF3E-61B06E6ECF56}"/>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5002CF86-309B-4BC1-AAB4-D91F81D726FF}"/>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find and extract information from within a text.</a:t>
            </a:r>
          </a:p>
        </p:txBody>
      </p:sp>
      <p:sp>
        <p:nvSpPr>
          <p:cNvPr id="20" name="Rectangle 19">
            <a:extLst>
              <a:ext uri="{FF2B5EF4-FFF2-40B4-BE49-F238E27FC236}">
                <a16:creationId xmlns:a16="http://schemas.microsoft.com/office/drawing/2014/main" id="{06F95318-6BA1-4E64-BFC4-CA399BC0C6E8}"/>
              </a:ext>
            </a:extLst>
          </p:cNvPr>
          <p:cNvSpPr/>
          <p:nvPr/>
        </p:nvSpPr>
        <p:spPr>
          <a:xfrm>
            <a:off x="5597291" y="4824722"/>
            <a:ext cx="5583685" cy="830997"/>
          </a:xfrm>
          <a:prstGeom prst="rect">
            <a:avLst/>
          </a:prstGeom>
          <a:noFill/>
        </p:spPr>
        <p:txBody>
          <a:bodyPr wrap="square">
            <a:spAutoFit/>
          </a:bodyPr>
          <a:lstStyle/>
          <a:p>
            <a:r>
              <a:rPr lang="en-GB" sz="2400">
                <a:latin typeface="+mj-lt"/>
              </a:rPr>
              <a:t>I will show this by answering questions, making reference to the text.</a:t>
            </a:r>
          </a:p>
        </p:txBody>
      </p:sp>
      <p:grpSp>
        <p:nvGrpSpPr>
          <p:cNvPr id="26" name="Group 25">
            <a:extLst>
              <a:ext uri="{FF2B5EF4-FFF2-40B4-BE49-F238E27FC236}">
                <a16:creationId xmlns:a16="http://schemas.microsoft.com/office/drawing/2014/main" id="{2B08C31D-ED97-4B43-811F-A2D5B7EC5D3F}"/>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4A04811F-4042-449A-B9D1-E2A88F2EF32C}"/>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4CFC6DFC-1FF7-406B-91CA-DEF258FBDA0F}"/>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5B068E6C-5697-4CD7-B539-8E733F24A280}"/>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D8ECF509-D074-4A96-BD14-1B7F8C9EF352}"/>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E3884F2F-92E8-4449-B9C6-4BB79443B2D3}"/>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54230F3D-A112-7284-873F-C56C8ED18544}"/>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a clear understanding of what I am reading.</a:t>
            </a:r>
          </a:p>
        </p:txBody>
      </p:sp>
      <p:grpSp>
        <p:nvGrpSpPr>
          <p:cNvPr id="2" name="Group 1">
            <a:extLst>
              <a:ext uri="{FF2B5EF4-FFF2-40B4-BE49-F238E27FC236}">
                <a16:creationId xmlns:a16="http://schemas.microsoft.com/office/drawing/2014/main" id="{63BCCA52-B2F9-1150-2EC2-A8A910DE6CDF}"/>
              </a:ext>
            </a:extLst>
          </p:cNvPr>
          <p:cNvGrpSpPr/>
          <p:nvPr/>
        </p:nvGrpSpPr>
        <p:grpSpPr>
          <a:xfrm>
            <a:off x="10604358" y="118545"/>
            <a:ext cx="1530874" cy="2012378"/>
            <a:chOff x="8657485" y="829505"/>
            <a:chExt cx="1316831" cy="1668805"/>
          </a:xfrm>
        </p:grpSpPr>
        <p:grpSp>
          <p:nvGrpSpPr>
            <p:cNvPr id="24" name="Group 23">
              <a:extLst>
                <a:ext uri="{FF2B5EF4-FFF2-40B4-BE49-F238E27FC236}">
                  <a16:creationId xmlns:a16="http://schemas.microsoft.com/office/drawing/2014/main" id="{9DF1F7D1-5BF2-255E-1221-DF66584F31C4}"/>
                </a:ext>
              </a:extLst>
            </p:cNvPr>
            <p:cNvGrpSpPr/>
            <p:nvPr/>
          </p:nvGrpSpPr>
          <p:grpSpPr>
            <a:xfrm>
              <a:off x="8657485" y="829505"/>
              <a:ext cx="1316831" cy="1316831"/>
              <a:chOff x="3405584" y="4100477"/>
              <a:chExt cx="1316831" cy="1316831"/>
            </a:xfrm>
          </p:grpSpPr>
          <p:sp>
            <p:nvSpPr>
              <p:cNvPr id="31" name="Oval 30">
                <a:extLst>
                  <a:ext uri="{FF2B5EF4-FFF2-40B4-BE49-F238E27FC236}">
                    <a16:creationId xmlns:a16="http://schemas.microsoft.com/office/drawing/2014/main" id="{36527B03-E8B0-B308-5625-5D60701BABC9}"/>
                  </a:ext>
                </a:extLst>
              </p:cNvPr>
              <p:cNvSpPr/>
              <p:nvPr/>
            </p:nvSpPr>
            <p:spPr>
              <a:xfrm>
                <a:off x="3405584" y="4100477"/>
                <a:ext cx="1316831" cy="1316831"/>
              </a:xfrm>
              <a:prstGeom prst="ellipse">
                <a:avLst/>
              </a:prstGeom>
              <a:solidFill>
                <a:srgbClr val="FFD5EE"/>
              </a:solidFill>
              <a:ln w="38100">
                <a:solidFill>
                  <a:srgbClr val="CD007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2" name="Oval 4">
                <a:extLst>
                  <a:ext uri="{FF2B5EF4-FFF2-40B4-BE49-F238E27FC236}">
                    <a16:creationId xmlns:a16="http://schemas.microsoft.com/office/drawing/2014/main" id="{311692BE-7960-B1C4-FAA2-65AA32C03A40}"/>
                  </a:ext>
                </a:extLst>
              </p:cNvPr>
              <p:cNvSpPr txBox="1"/>
              <p:nvPr/>
            </p:nvSpPr>
            <p:spPr>
              <a:xfrm>
                <a:off x="3598429" y="4293322"/>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GB" sz="1200" b="1" kern="1200">
                    <a:solidFill>
                      <a:srgbClr val="CD007A"/>
                    </a:solidFill>
                    <a:latin typeface="Sassoon Infant Rg" panose="02000503030000020003" pitchFamily="2" charset="0"/>
                    <a:ea typeface="Sassoon Infant Rg" panose="02000503030000020003" pitchFamily="2" charset="0"/>
                  </a:rPr>
                  <a:t>Discuss &amp; explain thinking &amp; understanding</a:t>
                </a:r>
              </a:p>
            </p:txBody>
          </p:sp>
        </p:grpSp>
        <p:sp>
          <p:nvSpPr>
            <p:cNvPr id="25" name="TextBox 24">
              <a:extLst>
                <a:ext uri="{FF2B5EF4-FFF2-40B4-BE49-F238E27FC236}">
                  <a16:creationId xmlns:a16="http://schemas.microsoft.com/office/drawing/2014/main" id="{0E3DBC74-DEF3-15BE-F488-6929DEE9B83C}"/>
                </a:ext>
              </a:extLst>
            </p:cNvPr>
            <p:cNvSpPr txBox="1"/>
            <p:nvPr/>
          </p:nvSpPr>
          <p:spPr>
            <a:xfrm>
              <a:off x="8826392" y="2243080"/>
              <a:ext cx="979015" cy="255230"/>
            </a:xfrm>
            <a:prstGeom prst="rect">
              <a:avLst/>
            </a:prstGeom>
            <a:noFill/>
          </p:spPr>
          <p:txBody>
            <a:bodyPr wrap="square" rtlCol="0">
              <a:spAutoFit/>
            </a:bodyPr>
            <a:lstStyle/>
            <a:p>
              <a:pPr algn="ctr"/>
              <a:r>
                <a:rPr lang="en-GB" sz="1400" b="1">
                  <a:solidFill>
                    <a:srgbClr val="CD007A"/>
                  </a:solidFill>
                </a:rPr>
                <a:t>retrieve</a:t>
              </a:r>
            </a:p>
          </p:txBody>
        </p:sp>
      </p:grpSp>
    </p:spTree>
    <p:extLst>
      <p:ext uri="{BB962C8B-B14F-4D97-AF65-F5344CB8AC3E}">
        <p14:creationId xmlns:p14="http://schemas.microsoft.com/office/powerpoint/2010/main" val="19171547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DDB52-DA63-044E-52E1-B8873C55D66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A83BB0C-F58E-DA56-564A-0BADE2422FC9}"/>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2" name="TextBox 1">
            <a:extLst>
              <a:ext uri="{FF2B5EF4-FFF2-40B4-BE49-F238E27FC236}">
                <a16:creationId xmlns:a16="http://schemas.microsoft.com/office/drawing/2014/main" id="{640BB64A-1496-7976-37EB-DCEEC8FBF17F}"/>
              </a:ext>
            </a:extLst>
          </p:cNvPr>
          <p:cNvSpPr txBox="1"/>
          <p:nvPr/>
        </p:nvSpPr>
        <p:spPr>
          <a:xfrm>
            <a:off x="378830" y="1843059"/>
            <a:ext cx="11713854" cy="3429144"/>
          </a:xfrm>
          <a:prstGeom prst="rect">
            <a:avLst/>
          </a:prstGeom>
          <a:noFill/>
        </p:spPr>
        <p:txBody>
          <a:bodyPr wrap="square" rtlCol="0">
            <a:spAutoFit/>
          </a:bodyPr>
          <a:lstStyle/>
          <a:p>
            <a:pPr lvl="1">
              <a:spcAft>
                <a:spcPts val="500"/>
              </a:spcAft>
            </a:pPr>
            <a:r>
              <a:rPr lang="en-GB" sz="2200"/>
              <a:t>How does Holly show she already knows where Varjak is from?</a:t>
            </a:r>
          </a:p>
          <a:p>
            <a:pPr lvl="1">
              <a:spcAft>
                <a:spcPts val="500"/>
              </a:spcAft>
            </a:pPr>
            <a:r>
              <a:rPr lang="en-GB" sz="2200"/>
              <a:t>She says 'I know where you came from. That tower.' — she recognises him and mentions his home without him having to explain anything.</a:t>
            </a:r>
          </a:p>
          <a:p>
            <a:pPr lvl="1">
              <a:spcAft>
                <a:spcPts val="500"/>
              </a:spcAft>
            </a:pPr>
            <a:endParaRPr lang="en-GB" sz="2200"/>
          </a:p>
          <a:p>
            <a:pPr lvl="1">
              <a:spcAft>
                <a:spcPts val="500"/>
              </a:spcAft>
            </a:pPr>
            <a:r>
              <a:rPr lang="en-GB" sz="2200"/>
              <a:t>What does the word 'grudging' mean? Use the context of the text to help you.</a:t>
            </a:r>
          </a:p>
          <a:p>
            <a:pPr lvl="1">
              <a:spcAft>
                <a:spcPts val="500"/>
              </a:spcAft>
            </a:pPr>
            <a:r>
              <a:rPr lang="en-GB" sz="2200"/>
              <a:t>Grudging means giving something unwillingly, without wanting to admit it. The text says the words 'cost her' — as though saying them out loud is difficult for Holly, which tells us she is admitting something she would rather not.</a:t>
            </a:r>
          </a:p>
          <a:p>
            <a:pPr lvl="1">
              <a:spcAft>
                <a:spcPts val="500"/>
              </a:spcAft>
            </a:pPr>
            <a:endParaRPr lang="en-GB" sz="2200"/>
          </a:p>
        </p:txBody>
      </p:sp>
      <p:sp>
        <p:nvSpPr>
          <p:cNvPr id="6" name="TextBox 5">
            <a:extLst>
              <a:ext uri="{FF2B5EF4-FFF2-40B4-BE49-F238E27FC236}">
                <a16:creationId xmlns:a16="http://schemas.microsoft.com/office/drawing/2014/main" id="{5BDAB0E7-50E0-A284-5814-9D1241C67513}"/>
              </a:ext>
            </a:extLst>
          </p:cNvPr>
          <p:cNvSpPr txBox="1"/>
          <p:nvPr/>
        </p:nvSpPr>
        <p:spPr>
          <a:xfrm>
            <a:off x="288098" y="335454"/>
            <a:ext cx="6329618" cy="707886"/>
          </a:xfrm>
          <a:prstGeom prst="rect">
            <a:avLst/>
          </a:prstGeom>
          <a:noFill/>
        </p:spPr>
        <p:txBody>
          <a:bodyPr wrap="none" rtlCol="0">
            <a:spAutoFit/>
          </a:bodyPr>
          <a:lstStyle/>
          <a:p>
            <a:r>
              <a:rPr lang="en-GB" sz="4000" b="1" u="sng"/>
              <a:t>Practice questions - Vocabulary</a:t>
            </a:r>
          </a:p>
        </p:txBody>
      </p:sp>
      <p:sp>
        <p:nvSpPr>
          <p:cNvPr id="3" name="TextBox 2">
            <a:extLst>
              <a:ext uri="{FF2B5EF4-FFF2-40B4-BE49-F238E27FC236}">
                <a16:creationId xmlns:a16="http://schemas.microsoft.com/office/drawing/2014/main" id="{68036728-B080-EA83-ECF1-479482CB4A6C}"/>
              </a:ext>
            </a:extLst>
          </p:cNvPr>
          <p:cNvSpPr txBox="1"/>
          <p:nvPr/>
        </p:nvSpPr>
        <p:spPr>
          <a:xfrm>
            <a:off x="288098" y="937015"/>
            <a:ext cx="10156370" cy="369332"/>
          </a:xfrm>
          <a:prstGeom prst="rect">
            <a:avLst/>
          </a:prstGeom>
          <a:noFill/>
        </p:spPr>
        <p:txBody>
          <a:bodyPr wrap="none" rtlCol="0">
            <a:spAutoFit/>
          </a:bodyPr>
          <a:lstStyle/>
          <a:p>
            <a:r>
              <a:rPr lang="en-GB"/>
              <a:t>Scanning the text – I am trying to find the parts in the text where I will retrieve the answer to the question.</a:t>
            </a:r>
          </a:p>
        </p:txBody>
      </p:sp>
      <p:sp>
        <p:nvSpPr>
          <p:cNvPr id="7" name="TextBox 6">
            <a:extLst>
              <a:ext uri="{FF2B5EF4-FFF2-40B4-BE49-F238E27FC236}">
                <a16:creationId xmlns:a16="http://schemas.microsoft.com/office/drawing/2014/main" id="{62ABBBA0-AF7C-8A47-0810-0E93014D5573}"/>
              </a:ext>
            </a:extLst>
          </p:cNvPr>
          <p:cNvSpPr txBox="1"/>
          <p:nvPr/>
        </p:nvSpPr>
        <p:spPr>
          <a:xfrm>
            <a:off x="739293" y="5447777"/>
            <a:ext cx="10292816" cy="830997"/>
          </a:xfrm>
          <a:prstGeom prst="rect">
            <a:avLst/>
          </a:prstGeom>
          <a:noFill/>
        </p:spPr>
        <p:txBody>
          <a:bodyPr wrap="square" rtlCol="0">
            <a:spAutoFit/>
          </a:bodyPr>
          <a:lstStyle/>
          <a:p>
            <a:r>
              <a:rPr lang="en-GB" sz="2400"/>
              <a:t>Checking my answers – does my answer match the question and use information from the text?</a:t>
            </a:r>
          </a:p>
        </p:txBody>
      </p:sp>
      <p:sp>
        <p:nvSpPr>
          <p:cNvPr id="9" name="TextBox 8">
            <a:extLst>
              <a:ext uri="{FF2B5EF4-FFF2-40B4-BE49-F238E27FC236}">
                <a16:creationId xmlns:a16="http://schemas.microsoft.com/office/drawing/2014/main" id="{C39F0976-7660-64BA-E055-E6E60B65E8BB}"/>
              </a:ext>
            </a:extLst>
          </p:cNvPr>
          <p:cNvSpPr txBox="1"/>
          <p:nvPr/>
        </p:nvSpPr>
        <p:spPr>
          <a:xfrm>
            <a:off x="378830" y="1512948"/>
            <a:ext cx="11434340" cy="3853893"/>
          </a:xfrm>
          <a:prstGeom prst="rect">
            <a:avLst/>
          </a:prstGeom>
          <a:solidFill>
            <a:schemeClr val="accent5">
              <a:lumMod val="20000"/>
              <a:lumOff val="80000"/>
            </a:schemeClr>
          </a:solidFill>
        </p:spPr>
        <p:txBody>
          <a:bodyPr wrap="square" anchor="ctr">
            <a:normAutofit fontScale="92500"/>
          </a:bodyPr>
          <a:lstStyle/>
          <a:p>
            <a:r>
              <a:rPr lang="en-GB" sz="2200"/>
              <a:t>Holly watched him from the top of the wall, her green eyes unblinking. She was smaller than Varjak had expected — lean and quick, with a nick in one ear and a look that said she had seen worse things than him. He tried to appear calm.
"You're not from round here," she said. It was not a question.
"No." Varjak straightened up, trying to look more confident than he felt. "My name is Varjak Paw. I came from —"
"I know where you came from." Her tail flicked once. "That tower." She said it like it explained everything she needed to know, and not in a good way.
Varjak bristled. He was not used to being dismissed before he had even spoken properly. "I'm looking for a dog," he said.
Holly blinked. There was a long pause — the kind that made you want to fill it, which Varjak suspected was exactly why she left it there. When she finally spoke, there was something grudging in her voice, as though the words cost her.
"That's the most ridiculous thing I've ever heard," she said. Then — and this surprised him completely — she dropped lightly down from the wall and landed at his side. "I'm Holly. If you're going after dogs, you need help whether you like it or not."
Varjak stared. He felt something stir: not quite trust, but the first small seed of curiosity about what might come next.</a:t>
            </a:r>
          </a:p>
        </p:txBody>
      </p:sp>
      <p:sp>
        <p:nvSpPr>
          <p:cNvPr id="8" name="Rounded Rectangle 7">
            <a:extLst>
              <a:ext uri="{FF2B5EF4-FFF2-40B4-BE49-F238E27FC236}">
                <a16:creationId xmlns:a16="http://schemas.microsoft.com/office/drawing/2014/main" id="{1F9C4591-5FD6-13A6-965E-8E77A5CE3342}"/>
              </a:ext>
            </a:extLst>
          </p:cNvPr>
          <p:cNvSpPr/>
          <p:nvPr/>
        </p:nvSpPr>
        <p:spPr>
          <a:xfrm>
            <a:off x="8019658" y="624524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pic>
        <p:nvPicPr>
          <p:cNvPr id="4" name="Picture 3">
            <a:extLst>
              <a:ext uri="{FF2B5EF4-FFF2-40B4-BE49-F238E27FC236}">
                <a16:creationId xmlns:a16="http://schemas.microsoft.com/office/drawing/2014/main" id="{98C313D4-3635-57FE-CBB6-13AFE64BC9F7}"/>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Tree>
    <p:extLst>
      <p:ext uri="{BB962C8B-B14F-4D97-AF65-F5344CB8AC3E}">
        <p14:creationId xmlns:p14="http://schemas.microsoft.com/office/powerpoint/2010/main" val="4127022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7" restart="whenNotActive" fill="hold" evtFilter="cancelBubble" nodeType="interactiveSeq">
                <p:stCondLst>
                  <p:cond evt="onClick" delay="0">
                    <p:tgtEl>
                      <p:spTgt spid="8"/>
                    </p:tgtEl>
                  </p:cond>
                </p:stCondLst>
                <p:endSync evt="end" delay="0">
                  <p:rtn val="all"/>
                </p:endSync>
                <p:childTnLst>
                  <p:par>
                    <p:cTn id="28" fill="hold">
                      <p:stCondLst>
                        <p:cond delay="0"/>
                      </p:stCondLst>
                      <p:childTnLst>
                        <p:par>
                          <p:cTn id="29" fill="hold">
                            <p:stCondLst>
                              <p:cond delay="0"/>
                            </p:stCondLst>
                            <p:childTnLst>
                              <p:par>
                                <p:cTn id="30" presetID="1"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xit" presetSubtype="0" fill="hold" grpId="1" nodeType="clickEffect">
                                  <p:stCondLst>
                                    <p:cond delay="0"/>
                                  </p:stCondLst>
                                  <p:childTnLst>
                                    <p:set>
                                      <p:cBhvr>
                                        <p:cTn id="35" dur="1" fill="hold">
                                          <p:stCondLst>
                                            <p:cond delay="0"/>
                                          </p:stCondLst>
                                        </p:cTn>
                                        <p:tgtEl>
                                          <p:spTgt spid="9"/>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7" grpId="0"/>
      <p:bldP spid="9" grpId="0" animBg="1"/>
      <p:bldP spid="9"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dirty="0">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568895" y="211840"/>
            <a:ext cx="3039122" cy="3522775"/>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3" name="TextBox 2">
            <a:extLst>
              <a:ext uri="{FF2B5EF4-FFF2-40B4-BE49-F238E27FC236}">
                <a16:creationId xmlns:a16="http://schemas.microsoft.com/office/drawing/2014/main" id="{9AA1DE16-8C7B-4868-2DE3-9C9C7D7D4324}"/>
              </a:ext>
            </a:extLst>
          </p:cNvPr>
          <p:cNvSpPr txBox="1"/>
          <p:nvPr/>
        </p:nvSpPr>
        <p:spPr>
          <a:xfrm>
            <a:off x="0" y="4552141"/>
            <a:ext cx="12192000" cy="707886"/>
          </a:xfrm>
          <a:prstGeom prst="rect">
            <a:avLst/>
          </a:prstGeom>
          <a:noFill/>
        </p:spPr>
        <p:txBody>
          <a:bodyPr wrap="square" rtlCol="0">
            <a:spAutoFit/>
          </a:bodyPr>
          <a:lstStyle/>
          <a:p>
            <a:pPr algn="ctr"/>
            <a:r>
              <a:rPr lang="en-GB" sz="4000" dirty="0"/>
              <a:t>Retrieval</a:t>
            </a:r>
            <a:endParaRPr lang="en-GB" dirty="0"/>
          </a:p>
        </p:txBody>
      </p:sp>
      <p:sp>
        <p:nvSpPr>
          <p:cNvPr id="6" name="TextBox 5">
            <a:extLst>
              <a:ext uri="{FF2B5EF4-FFF2-40B4-BE49-F238E27FC236}">
                <a16:creationId xmlns:a16="http://schemas.microsoft.com/office/drawing/2014/main" id="{2B18F8C8-4B63-E425-87CE-D13C91BCA056}"/>
              </a:ext>
            </a:extLst>
          </p:cNvPr>
          <p:cNvSpPr txBox="1"/>
          <p:nvPr/>
        </p:nvSpPr>
        <p:spPr>
          <a:xfrm>
            <a:off x="4423577" y="5199610"/>
            <a:ext cx="3329758" cy="1446550"/>
          </a:xfrm>
          <a:prstGeom prst="rect">
            <a:avLst/>
          </a:prstGeom>
          <a:noFill/>
        </p:spPr>
        <p:txBody>
          <a:bodyPr wrap="none" rtlCol="0" anchor="ctr">
            <a:spAutoFit/>
          </a:bodyPr>
          <a:lstStyle/>
          <a:p>
            <a:pPr algn="ctr"/>
            <a:r>
              <a:rPr lang="en-GB" sz="8800" dirty="0"/>
              <a:t>Wednesday</a:t>
            </a:r>
          </a:p>
        </p:txBody>
      </p:sp>
    </p:spTree>
    <p:extLst>
      <p:ext uri="{BB962C8B-B14F-4D97-AF65-F5344CB8AC3E}">
        <p14:creationId xmlns:p14="http://schemas.microsoft.com/office/powerpoint/2010/main" val="3303693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ACEAB2A-6943-1061-22CF-9EC0847829D7}"/>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D9DEE78A-07A9-5FF3-9D78-C0D9D21EEFB2}"/>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16D2B17F-CF26-33D2-B6F6-70299CA1A763}"/>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3DF6A32D-163D-40C2-BACF-C964E0035D2E}"/>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A25D9A8A-09E0-BBBE-0C18-2E1880E52773}"/>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950C5C2B-42CC-39EC-6847-EE394E29BB3C}"/>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121AB0E8-B43D-DFDE-C896-2046E6E618BA}"/>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85578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3C5AD-3309-A9A5-F848-B93CB7BC5FD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B9D8A55-04E7-0528-A165-9FB98DB89054}"/>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2E1FDC99-0FE5-B42D-815D-42276802132E}"/>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1E5DC868-7EB8-4F7D-7DAE-A2A8DBE0A20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DACB8AB4-1258-EA30-31A5-77EEA5A000F2}"/>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659AE26C-55EC-A139-FEFB-5E8B79ECFD3A}"/>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086FA3C6-53FE-7451-6D4F-7009D38010D4}"/>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9F75FCCA-8003-024B-2B29-0EDF6D801F3D}"/>
                  </a:ext>
                </a:extLst>
              </p14:cNvPr>
              <p14:cNvContentPartPr/>
              <p14:nvPr/>
            </p14:nvContentPartPr>
            <p14:xfrm>
              <a:off x="9034477" y="550400"/>
              <a:ext cx="360" cy="360"/>
            </p14:xfrm>
          </p:contentPart>
        </mc:Choice>
        <mc:Fallback xmlns="">
          <p:pic>
            <p:nvPicPr>
              <p:cNvPr id="3" name="Ink 2">
                <a:extLst>
                  <a:ext uri="{FF2B5EF4-FFF2-40B4-BE49-F238E27FC236}">
                    <a16:creationId xmlns:a16="http://schemas.microsoft.com/office/drawing/2014/main" id="{9F75FCCA-8003-024B-2B29-0EDF6D801F3D}"/>
                  </a:ext>
                </a:extLst>
              </p:cNvPr>
              <p:cNvPicPr/>
              <p:nvPr/>
            </p:nvPicPr>
            <p:blipFill>
              <a:blip r:embed="rId5"/>
              <a:stretch>
                <a:fillRect/>
              </a:stretch>
            </p:blipFill>
            <p:spPr>
              <a:xfrm>
                <a:off x="9025117" y="541040"/>
                <a:ext cx="19080" cy="19080"/>
              </a:xfrm>
              <a:prstGeom prst="rect">
                <a:avLst/>
              </a:prstGeom>
            </p:spPr>
          </p:pic>
        </mc:Fallback>
      </mc:AlternateContent>
      <p:graphicFrame>
        <p:nvGraphicFramePr>
          <p:cNvPr id="7" name="Table 6">
            <a:extLst>
              <a:ext uri="{FF2B5EF4-FFF2-40B4-BE49-F238E27FC236}">
                <a16:creationId xmlns:a16="http://schemas.microsoft.com/office/drawing/2014/main" id="{AD7A6C68-D614-2377-056B-781707D2F236}"/>
              </a:ext>
            </a:extLst>
          </p:cNvPr>
          <p:cNvGraphicFramePr>
            <a:graphicFrameLocks noGrp="1"/>
          </p:cNvGraphicFramePr>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concentration</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giving all your attention and effort to one thing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fierce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very strong and intense; powerful</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precise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exact and accurate; done very carefully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surge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sudden, powerful rush of feeling or movement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composed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calm and in control of your feelings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114E80EC-EDEA-A9B8-0AA7-BDF4DBA738D9}"/>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3" name="Rectangle 12">
            <a:extLst>
              <a:ext uri="{FF2B5EF4-FFF2-40B4-BE49-F238E27FC236}">
                <a16:creationId xmlns:a16="http://schemas.microsoft.com/office/drawing/2014/main" id="{2CF9C0CB-B38A-8B6C-0680-46BD300AE1DC}"/>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7" name="Rectangle 16">
            <a:extLst>
              <a:ext uri="{FF2B5EF4-FFF2-40B4-BE49-F238E27FC236}">
                <a16:creationId xmlns:a16="http://schemas.microsoft.com/office/drawing/2014/main" id="{4BF34747-0A22-7E80-CA39-94571BB7D672}"/>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8" name="Rectangle 17">
            <a:extLst>
              <a:ext uri="{FF2B5EF4-FFF2-40B4-BE49-F238E27FC236}">
                <a16:creationId xmlns:a16="http://schemas.microsoft.com/office/drawing/2014/main" id="{FB910803-A54A-5B45-8345-8FFD7AC1C67C}"/>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9" name="Rectangle 18">
            <a:extLst>
              <a:ext uri="{FF2B5EF4-FFF2-40B4-BE49-F238E27FC236}">
                <a16:creationId xmlns:a16="http://schemas.microsoft.com/office/drawing/2014/main" id="{DB05B3E1-CB09-5A78-B03C-31610DE59A67}"/>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Tree>
    <p:extLst>
      <p:ext uri="{BB962C8B-B14F-4D97-AF65-F5344CB8AC3E}">
        <p14:creationId xmlns:p14="http://schemas.microsoft.com/office/powerpoint/2010/main" val="328723345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3"/>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childTnLst>
                    </p:cTn>
                  </p:par>
                </p:childTnLst>
              </p:cTn>
              <p:nextCondLst>
                <p:cond evt="onClick" delay="0">
                  <p:tgtEl>
                    <p:spTgt spid="13"/>
                  </p:tgtEl>
                </p:cond>
              </p:nextCondLst>
            </p:seq>
            <p:seq concurrent="1" nextAc="seek">
              <p:cTn id="12" restart="whenNotActive" fill="hold" evtFilter="cancelBubble" nodeType="interactiveSeq">
                <p:stCondLst>
                  <p:cond evt="onClick" delay="0">
                    <p:tgtEl>
                      <p:spTgt spid="17"/>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7" restart="whenNotActive" fill="hold" evtFilter="cancelBubble" nodeType="interactiveSeq">
                <p:stCondLst>
                  <p:cond evt="onClick" delay="0">
                    <p:tgtEl>
                      <p:spTgt spid="18"/>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22" restart="whenNotActive" fill="hold" evtFilter="cancelBubble" nodeType="interactiveSeq">
                <p:stCondLst>
                  <p:cond evt="onClick" delay="0">
                    <p:tgtEl>
                      <p:spTgt spid="19"/>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childTnLst>
        </p:cTn>
      </p:par>
    </p:tnLst>
    <p:bldLst>
      <p:bldP spid="16" grpId="0" animBg="1"/>
      <p:bldP spid="13" grpId="0" animBg="1"/>
      <p:bldP spid="17" grpId="0" animBg="1"/>
      <p:bldP spid="18" grpId="0" animBg="1"/>
      <p:bldP spid="1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C497C-5676-F0CE-9C15-81908FA1F34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DCBDDC3-E8B4-5DB7-95EB-E4EB767438DF}"/>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4D7EC211-6C19-B85F-7D0D-25A8FEEA3637}"/>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6358CBDE-7D41-F226-3072-41F208B4D98A}"/>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9CDE4E57-6664-84F7-C8E9-8F4381A4D091}"/>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3B86A135-C8BF-2285-F3AA-0B4C5706CE90}"/>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07FF75F1-41FF-EEA3-B802-ED64112A7D02}"/>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98F68A2F-1F77-2878-BCF5-883045F28026}"/>
              </a:ext>
            </a:extLst>
          </p:cNvPr>
          <p:cNvGraphicFramePr>
            <a:graphicFrameLocks noGrp="1"/>
          </p:cNvGraphicFramePr>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b="0">
                        <a:solidFill>
                          <a:schemeClr val="tx1"/>
                        </a:solidFill>
                      </a:endParaRPr>
                    </a:p>
                    <a:p>
                      <a:pPr algn="ctr"/>
                      <a:r>
                        <a:rPr lang="en-GB" sz="3200" b="0">
                          <a:solidFill>
                            <a:schemeClr val="tx1"/>
                          </a:solidFill>
                          <a:latin typeface="XCCW Joined 4a" panose="03050602040000000000" pitchFamily="66" charset="77"/>
                        </a:rPr>
                        <a:t>fierce</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755B9240-8989-B9DB-0B3B-B8D062E07BC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7904627B-45D6-BE36-7042-C69B53AD1828}"/>
              </a:ext>
            </a:extLst>
          </p:cNvPr>
          <p:cNvSpPr txBox="1"/>
          <p:nvPr/>
        </p:nvSpPr>
        <p:spPr>
          <a:xfrm>
            <a:off x="4766154" y="5299847"/>
            <a:ext cx="2400000" cy="480000"/>
          </a:xfrm>
          <a:prstGeom prst="rect">
            <a:avLst/>
          </a:prstGeom>
          <a:noFill/>
        </p:spPr>
        <p:txBody>
          <a:bodyPr wrap="square" rtlCol="0" anchor="ctr"/>
          <a:lstStyle/>
          <a:p>
            <a:pPr algn="ctr"/>
            <a:r>
              <a:rPr lang="en-GB"/>
              <a:t>fierce</a:t>
            </a:r>
          </a:p>
        </p:txBody>
      </p:sp>
      <p:cxnSp>
        <p:nvCxnSpPr>
          <p:cNvPr id="12" name="Straight Connector 11">
            <a:extLst>
              <a:ext uri="{FF2B5EF4-FFF2-40B4-BE49-F238E27FC236}">
                <a16:creationId xmlns:a16="http://schemas.microsoft.com/office/drawing/2014/main" id="{483F9876-11CA-68D4-B5B9-503CB1452DDF}"/>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67DD069-433E-BF48-9167-8E5BCC114624}"/>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37026A-B5E7-A43B-7015-F91BED67059F}"/>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7576966-8817-48AF-F837-0832462F5E46}"/>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6EE6038E-2E20-39E1-51AA-382FB77B2D40}"/>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342315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7C8F1879-9C69-AABD-5D27-70A3FD61C54F}"/>
              </a:ext>
            </a:extLst>
          </p:cNvPr>
          <p:cNvGrpSpPr/>
          <p:nvPr/>
        </p:nvGrpSpPr>
        <p:grpSpPr>
          <a:xfrm>
            <a:off x="43957" y="90546"/>
            <a:ext cx="963274" cy="909579"/>
            <a:chOff x="1630613" y="1026138"/>
            <a:chExt cx="1316831" cy="1316831"/>
          </a:xfrm>
        </p:grpSpPr>
        <p:sp>
          <p:nvSpPr>
            <p:cNvPr id="4" name="Oval 3">
              <a:extLst>
                <a:ext uri="{FF2B5EF4-FFF2-40B4-BE49-F238E27FC236}">
                  <a16:creationId xmlns:a16="http://schemas.microsoft.com/office/drawing/2014/main" id="{C5A04DD0-FF30-895F-0ED9-888B47B1A02D}"/>
                </a:ext>
              </a:extLst>
            </p:cNvPr>
            <p:cNvSpPr/>
            <p:nvPr/>
          </p:nvSpPr>
          <p:spPr>
            <a:xfrm>
              <a:off x="1630613" y="1026138"/>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5" name="Oval 4">
              <a:extLst>
                <a:ext uri="{FF2B5EF4-FFF2-40B4-BE49-F238E27FC236}">
                  <a16:creationId xmlns:a16="http://schemas.microsoft.com/office/drawing/2014/main" id="{8EBD88F1-D64A-0A71-7434-4A250ABBD4E6}"/>
                </a:ext>
              </a:extLst>
            </p:cNvPr>
            <p:cNvSpPr txBox="1"/>
            <p:nvPr/>
          </p:nvSpPr>
          <p:spPr>
            <a:xfrm>
              <a:off x="1823458"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latin typeface="Sassoon Infant Rg" panose="02000503030000020003" pitchFamily="2" charset="0"/>
                  <a:ea typeface="Sassoon Infant Rg" panose="02000503030000020003" pitchFamily="2" charset="0"/>
                </a:rPr>
                <a:t>Decoding &amp; phonics</a:t>
              </a:r>
            </a:p>
          </p:txBody>
        </p:sp>
      </p:grpSp>
      <p:pic>
        <p:nvPicPr>
          <p:cNvPr id="11" name="Picture 10">
            <a:extLst>
              <a:ext uri="{FF2B5EF4-FFF2-40B4-BE49-F238E27FC236}">
                <a16:creationId xmlns:a16="http://schemas.microsoft.com/office/drawing/2014/main" id="{5B88EF2C-3893-9BD5-87F9-6BF0F699F9A5}"/>
              </a:ext>
            </a:extLst>
          </p:cNvPr>
          <p:cNvPicPr/>
          <p:nvPr/>
        </p:nvPicPr>
        <p:blipFill>
          <a:blip r:embed="rId3">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D07968F0-1915-728F-1F6D-2CB9277677F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Independent Read</a:t>
            </a:r>
          </a:p>
        </p:txBody>
      </p:sp>
      <p:sp>
        <p:nvSpPr>
          <p:cNvPr id="22" name="TextBox 21">
            <a:extLst>
              <a:ext uri="{FF2B5EF4-FFF2-40B4-BE49-F238E27FC236}">
                <a16:creationId xmlns:a16="http://schemas.microsoft.com/office/drawing/2014/main" id="{BBE494B4-E4A1-C48A-15E2-3683EA0AD086}"/>
              </a:ext>
            </a:extLst>
          </p:cNvPr>
          <p:cNvSpPr txBox="1"/>
          <p:nvPr/>
        </p:nvSpPr>
        <p:spPr>
          <a:xfrm>
            <a:off x="1" y="931322"/>
            <a:ext cx="12191999" cy="830997"/>
          </a:xfrm>
          <a:prstGeom prst="rect">
            <a:avLst/>
          </a:prstGeom>
          <a:noFill/>
        </p:spPr>
        <p:txBody>
          <a:bodyPr wrap="square">
            <a:spAutoFit/>
          </a:bodyPr>
          <a:lstStyle/>
          <a:p>
            <a:pPr algn="ctr"/>
            <a:r>
              <a:rPr lang="en-GB" sz="1800" dirty="0">
                <a:effectLst/>
                <a:latin typeface="Sassoon Infant Rg" panose="02000503030000020003" pitchFamily="2" charset="0"/>
                <a:ea typeface="Sassoon Infant Rg" panose="02000503030000020003" pitchFamily="2" charset="0"/>
                <a:cs typeface="Times New Roman" panose="02020603050405020304" pitchFamily="18" charset="0"/>
              </a:rPr>
              <a:t xml:space="preserve">Read the complete text – underline any words or phrases you don’t understand.  Re-read full sentences for any parts you couldn’t read smoothly on the first attempt. </a:t>
            </a:r>
            <a:endParaRPr lang="en-GB" b="1" dirty="0"/>
          </a:p>
        </p:txBody>
      </p:sp>
      <p:sp>
        <p:nvSpPr>
          <p:cNvPr id="6" name="TextBox 5">
            <a:extLst>
              <a:ext uri="{FF2B5EF4-FFF2-40B4-BE49-F238E27FC236}">
                <a16:creationId xmlns:a16="http://schemas.microsoft.com/office/drawing/2014/main" id="{38C25E62-7AE0-A783-1D87-77105CAB659E}"/>
              </a:ext>
            </a:extLst>
          </p:cNvPr>
          <p:cNvSpPr txBox="1"/>
          <p:nvPr/>
        </p:nvSpPr>
        <p:spPr>
          <a:xfrm>
            <a:off x="2226896" y="3673314"/>
            <a:ext cx="7629665" cy="2308324"/>
          </a:xfrm>
          <a:prstGeom prst="rect">
            <a:avLst/>
          </a:prstGeom>
          <a:noFill/>
        </p:spPr>
        <p:txBody>
          <a:bodyPr wrap="square" rtlCol="0">
            <a:spAutoFit/>
          </a:bodyPr>
          <a:lstStyle/>
          <a:p>
            <a:endParaRPr lang="en-GB"/>
          </a:p>
          <a:p>
            <a:pPr marL="342900" indent="-342900">
              <a:buFont typeface="+mj-lt"/>
              <a:buAutoNum type="arabicPeriod"/>
            </a:pPr>
            <a:r>
              <a:rPr lang="en-GB"/>
              <a:t>Read by segmenting into phonemes and syllables</a:t>
            </a:r>
          </a:p>
          <a:p>
            <a:pPr marL="342900" indent="-342900">
              <a:buFont typeface="+mj-lt"/>
              <a:buAutoNum type="arabicPeriod"/>
            </a:pPr>
            <a:r>
              <a:rPr lang="en-GB"/>
              <a:t>Make a sensible attempt, making sure you blend ALL the sounds as you read.</a:t>
            </a:r>
          </a:p>
          <a:p>
            <a:pPr marL="342900" indent="-342900">
              <a:buFont typeface="+mj-lt"/>
              <a:buAutoNum type="arabicPeriod"/>
            </a:pPr>
            <a:r>
              <a:rPr lang="en-GB"/>
              <a:t>Use the context and parts of the word to make a sensible attempt at a definition.</a:t>
            </a:r>
          </a:p>
          <a:p>
            <a:pPr marL="342900" indent="-342900">
              <a:buFont typeface="+mj-lt"/>
              <a:buAutoNum type="arabicPeriod"/>
            </a:pPr>
            <a:endParaRPr lang="en-GB"/>
          </a:p>
          <a:p>
            <a:r>
              <a:rPr lang="en-GB"/>
              <a:t>Remember to re-read the entire sentence again.</a:t>
            </a:r>
          </a:p>
        </p:txBody>
      </p:sp>
      <p:pic>
        <p:nvPicPr>
          <p:cNvPr id="2" name="Picture 1">
            <a:extLst>
              <a:ext uri="{FF2B5EF4-FFF2-40B4-BE49-F238E27FC236}">
                <a16:creationId xmlns:a16="http://schemas.microsoft.com/office/drawing/2014/main" id="{4A238304-94B7-D6B3-84C9-8D8F6CDD2BB4}"/>
              </a:ext>
            </a:extLst>
          </p:cNvPr>
          <p:cNvPicPr>
            <a:picLocks noChangeAspect="1"/>
          </p:cNvPicPr>
          <p:nvPr/>
        </p:nvPicPr>
        <p:blipFill>
          <a:blip r:embed="rId4"/>
          <a:stretch>
            <a:fillRect/>
          </a:stretch>
        </p:blipFill>
        <p:spPr>
          <a:xfrm>
            <a:off x="866163" y="2097530"/>
            <a:ext cx="10351133" cy="1434810"/>
          </a:xfrm>
          <a:prstGeom prst="rect">
            <a:avLst/>
          </a:prstGeom>
        </p:spPr>
      </p:pic>
      <p:sp>
        <p:nvSpPr>
          <p:cNvPr id="13" name="TextBox 12">
            <a:extLst>
              <a:ext uri="{FF2B5EF4-FFF2-40B4-BE49-F238E27FC236}">
                <a16:creationId xmlns:a16="http://schemas.microsoft.com/office/drawing/2014/main" id="{A473D780-1F99-6094-42B5-9820D9017C99}"/>
              </a:ext>
            </a:extLst>
          </p:cNvPr>
          <p:cNvSpPr txBox="1"/>
          <p:nvPr/>
        </p:nvSpPr>
        <p:spPr>
          <a:xfrm>
            <a:off x="-2406316" y="1524000"/>
            <a:ext cx="184731" cy="369332"/>
          </a:xfrm>
          <a:prstGeom prst="rect">
            <a:avLst/>
          </a:prstGeom>
          <a:noFill/>
        </p:spPr>
        <p:txBody>
          <a:bodyPr wrap="none" rtlCol="0">
            <a:spAutoFit/>
          </a:bodyPr>
          <a:lstStyle/>
          <a:p>
            <a:endParaRPr lang="en-GB"/>
          </a:p>
        </p:txBody>
      </p:sp>
      <p:sp>
        <p:nvSpPr>
          <p:cNvPr id="15" name="TextBox 14">
            <a:extLst>
              <a:ext uri="{FF2B5EF4-FFF2-40B4-BE49-F238E27FC236}">
                <a16:creationId xmlns:a16="http://schemas.microsoft.com/office/drawing/2014/main" id="{E15A5C10-306D-554F-EAA6-B73E5AF3D6C7}"/>
              </a:ext>
            </a:extLst>
          </p:cNvPr>
          <p:cNvSpPr txBox="1"/>
          <p:nvPr/>
        </p:nvSpPr>
        <p:spPr>
          <a:xfrm>
            <a:off x="209488" y="1865629"/>
            <a:ext cx="11861201" cy="3985274"/>
          </a:xfrm>
          <a:prstGeom prst="rect">
            <a:avLst/>
          </a:prstGeom>
          <a:solidFill>
            <a:schemeClr val="accent5">
              <a:lumMod val="20000"/>
              <a:lumOff val="80000"/>
            </a:schemeClr>
          </a:solidFill>
        </p:spPr>
        <p:txBody>
          <a:bodyPr wrap="square" anchor="ctr">
            <a:noAutofit/>
          </a:bodyPr>
          <a:lstStyle/>
          <a:p>
            <a:r>
              <a:rPr lang="en-US" sz="2200" dirty="0"/>
              <a:t>The first time Varjak used the Way in the real world, three cats had cornered him against a rusting fence. His heart was hammering. Every part of him wanted to run, but there was nowhere to go.
So instead, he closed his eyes. He thought of the river in Jalal's teaching — water that did not fight the rocks but moved around them. He let his breathing slow. He felt the ground beneath his paws, solid and real, and he let himself become part of it.
When he opened his eyes, something had shifted. The fear was still there, but it had moved somewhere quieter. His body felt steady. Composed.
He moved — not away, but sideways, then through a gap he had not seen before, his body low and precise, each step placed with fierce concentration. The three cats watched, confused. They had expected panic. What they got was something altogether different.
Varjak did not stop until he was two streets away, his heart still loud in his ears but his paws moving steadily beneath him. He sat down on a doorstep. He breathed.
"That worked," he said aloud, to nobody.
And then, slowly, he smiled.</a:t>
            </a:r>
          </a:p>
        </p:txBody>
      </p:sp>
      <p:sp>
        <p:nvSpPr>
          <p:cNvPr id="10" name="Rounded Rectangle 9">
            <a:extLst>
              <a:ext uri="{FF2B5EF4-FFF2-40B4-BE49-F238E27FC236}">
                <a16:creationId xmlns:a16="http://schemas.microsoft.com/office/drawing/2014/main" id="{911D3733-5EF2-7482-D164-B776AE41E9CC}"/>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Show / Hide Extract</a:t>
            </a:r>
          </a:p>
        </p:txBody>
      </p:sp>
    </p:spTree>
    <p:extLst>
      <p:ext uri="{BB962C8B-B14F-4D97-AF65-F5344CB8AC3E}">
        <p14:creationId xmlns:p14="http://schemas.microsoft.com/office/powerpoint/2010/main" val="197944849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10"/>
                  </p:tgtEl>
                </p:cond>
              </p:nextCondLst>
            </p:seq>
          </p:childTnLst>
        </p:cTn>
      </p:par>
    </p:tnLst>
    <p:bldLst>
      <p:bldP spid="15" grpId="0" animBg="1"/>
      <p:bldP spid="15"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15917-BDE9-A483-7A0D-AC15BA636611}"/>
            </a:ext>
          </a:extLst>
        </p:cNvPr>
        <p:cNvGrpSpPr/>
        <p:nvPr/>
      </p:nvGrpSpPr>
      <p:grpSpPr>
        <a:xfrm>
          <a:off x="0" y="0"/>
          <a:ext cx="0" cy="0"/>
          <a:chOff x="0" y="0"/>
          <a:chExt cx="0" cy="0"/>
        </a:xfrm>
      </p:grpSpPr>
      <p:sp>
        <p:nvSpPr>
          <p:cNvPr id="6" name="Freeform: Shape 5">
            <a:extLst>
              <a:ext uri="{FF2B5EF4-FFF2-40B4-BE49-F238E27FC236}">
                <a16:creationId xmlns:a16="http://schemas.microsoft.com/office/drawing/2014/main" id="{3E3AA9AF-9E3C-B821-0C95-D4AA63DFFCBB}"/>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BC8D8944-1BCF-D4B0-7DAF-EF76646CCF50}"/>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6EE8B722-85CC-7111-AF8B-97EEBEE9A272}"/>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AD3569E1-8E04-B7BA-0398-4180BE3B0EE3}"/>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FFC19485-EC34-F070-3B3F-978F61587575}"/>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3C0DDE4A-9E8B-5BE3-65C1-A3FA2705ACB2}"/>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A0F1A2A6-045F-00C7-688E-E6D0A25D5652}"/>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408A8433-A9BE-1E56-2965-99A3B5625947}"/>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27A24A2D-2408-EB9E-5F70-46F514294503}"/>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2946C962-D08C-0F71-45B1-FA00B59721B8}"/>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60E1483D-26A7-A33B-B0CD-B1044C4A76B4}"/>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ED4713C7-97EE-A5B0-8FC6-4CE70EA350BC}"/>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72843B94-CA11-5143-DFB7-BE14CB303150}"/>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CDA984DD-4FC4-64A0-887A-0A817B977071}"/>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understand and take meaning from a text.</a:t>
            </a:r>
          </a:p>
        </p:txBody>
      </p:sp>
      <p:sp>
        <p:nvSpPr>
          <p:cNvPr id="20" name="Rectangle 19">
            <a:extLst>
              <a:ext uri="{FF2B5EF4-FFF2-40B4-BE49-F238E27FC236}">
                <a16:creationId xmlns:a16="http://schemas.microsoft.com/office/drawing/2014/main" id="{3A23222B-35F4-3CDC-5FEA-1C58CE4A933A}"/>
              </a:ext>
            </a:extLst>
          </p:cNvPr>
          <p:cNvSpPr/>
          <p:nvPr/>
        </p:nvSpPr>
        <p:spPr>
          <a:xfrm>
            <a:off x="5597291" y="4824722"/>
            <a:ext cx="5583685" cy="1200329"/>
          </a:xfrm>
          <a:prstGeom prst="rect">
            <a:avLst/>
          </a:prstGeom>
          <a:noFill/>
        </p:spPr>
        <p:txBody>
          <a:bodyPr wrap="square">
            <a:spAutoFit/>
          </a:bodyPr>
          <a:lstStyle/>
          <a:p>
            <a:r>
              <a:rPr lang="en-GB" sz="2400">
                <a:latin typeface="+mj-lt"/>
              </a:rPr>
              <a:t>I will show this by answering questions which relate to the vocabulary used throughout the text.</a:t>
            </a:r>
          </a:p>
        </p:txBody>
      </p:sp>
      <p:grpSp>
        <p:nvGrpSpPr>
          <p:cNvPr id="26" name="Group 25">
            <a:extLst>
              <a:ext uri="{FF2B5EF4-FFF2-40B4-BE49-F238E27FC236}">
                <a16:creationId xmlns:a16="http://schemas.microsoft.com/office/drawing/2014/main" id="{F0FA508C-6CB1-E76E-F0A8-B64E6C4CD90D}"/>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3F558219-13F1-436A-59AF-11B90D95ABA1}"/>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33569914-364A-6AF1-85F1-0BFCF4FDB1A8}"/>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B90D4CDA-08E3-0ED1-C1FB-0242710F0D9A}"/>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8139F2B2-DE54-7CE1-CCBE-1C4164F07AC7}"/>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721B1AA3-17DD-506B-9B14-CDFF5EA0BECB}"/>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3A69BFB0-E1DC-E3FA-6EA3-821A27D46522}"/>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my understanding of vocabulary at a sentence and text level.</a:t>
            </a:r>
          </a:p>
        </p:txBody>
      </p:sp>
      <p:grpSp>
        <p:nvGrpSpPr>
          <p:cNvPr id="3" name="Group 2">
            <a:extLst>
              <a:ext uri="{FF2B5EF4-FFF2-40B4-BE49-F238E27FC236}">
                <a16:creationId xmlns:a16="http://schemas.microsoft.com/office/drawing/2014/main" id="{AB1D5BFC-9C6F-78FE-BB55-8A787A315711}"/>
              </a:ext>
            </a:extLst>
          </p:cNvPr>
          <p:cNvGrpSpPr/>
          <p:nvPr/>
        </p:nvGrpSpPr>
        <p:grpSpPr>
          <a:xfrm>
            <a:off x="10607910" y="233361"/>
            <a:ext cx="1316831" cy="1316831"/>
            <a:chOff x="5180554" y="1026138"/>
            <a:chExt cx="1316831" cy="1316831"/>
          </a:xfrm>
        </p:grpSpPr>
        <p:sp>
          <p:nvSpPr>
            <p:cNvPr id="4" name="Oval 3">
              <a:extLst>
                <a:ext uri="{FF2B5EF4-FFF2-40B4-BE49-F238E27FC236}">
                  <a16:creationId xmlns:a16="http://schemas.microsoft.com/office/drawing/2014/main" id="{30C90C35-E0BE-7AD4-92BC-8EFF113E4DB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1" name="Oval 4">
              <a:extLst>
                <a:ext uri="{FF2B5EF4-FFF2-40B4-BE49-F238E27FC236}">
                  <a16:creationId xmlns:a16="http://schemas.microsoft.com/office/drawing/2014/main" id="{D5E138FF-7604-1E33-555D-87C2C96CBE05}"/>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Tree>
    <p:extLst>
      <p:ext uri="{BB962C8B-B14F-4D97-AF65-F5344CB8AC3E}">
        <p14:creationId xmlns:p14="http://schemas.microsoft.com/office/powerpoint/2010/main" val="28426104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1F7DB-6538-E176-FE28-8F1AD256569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4F21690-854A-3024-D098-1C56DE57443E}"/>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6" name="TextBox 5">
            <a:extLst>
              <a:ext uri="{FF2B5EF4-FFF2-40B4-BE49-F238E27FC236}">
                <a16:creationId xmlns:a16="http://schemas.microsoft.com/office/drawing/2014/main" id="{AEC30692-9C94-A8DB-4755-85FE74DE9821}"/>
              </a:ext>
            </a:extLst>
          </p:cNvPr>
          <p:cNvSpPr txBox="1"/>
          <p:nvPr/>
        </p:nvSpPr>
        <p:spPr>
          <a:xfrm>
            <a:off x="288098" y="335454"/>
            <a:ext cx="6864956" cy="707886"/>
          </a:xfrm>
          <a:prstGeom prst="rect">
            <a:avLst/>
          </a:prstGeom>
          <a:noFill/>
        </p:spPr>
        <p:txBody>
          <a:bodyPr wrap="none" rtlCol="0">
            <a:spAutoFit/>
          </a:bodyPr>
          <a:lstStyle/>
          <a:p>
            <a:r>
              <a:rPr lang="en-GB" sz="4000" b="1" u="sng"/>
              <a:t>Practice questions - Retrieval</a:t>
            </a:r>
          </a:p>
        </p:txBody>
      </p:sp>
      <p:pic>
        <p:nvPicPr>
          <p:cNvPr id="7" name="Picture 6">
            <a:extLst>
              <a:ext uri="{FF2B5EF4-FFF2-40B4-BE49-F238E27FC236}">
                <a16:creationId xmlns:a16="http://schemas.microsoft.com/office/drawing/2014/main" id="{E0AB4FA0-4B96-F850-DD50-18A5FD657BB8}"/>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
        <p:nvSpPr>
          <p:cNvPr id="4" name="Rounded Rectangle 9">
            <a:extLst>
              <a:ext uri="{FF2B5EF4-FFF2-40B4-BE49-F238E27FC236}">
                <a16:creationId xmlns:a16="http://schemas.microsoft.com/office/drawing/2014/main" id="{2A06B04F-B021-4121-0C16-7A5BACEFBC1B}"/>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0" name="TextBox 9">
            <a:extLst>
              <a:ext uri="{FF2B5EF4-FFF2-40B4-BE49-F238E27FC236}">
                <a16:creationId xmlns:a16="http://schemas.microsoft.com/office/drawing/2014/main" id="{C064352E-4E96-13BD-C58F-5EEC5E15F4B5}"/>
              </a:ext>
            </a:extLst>
          </p:cNvPr>
          <p:cNvSpPr txBox="1"/>
          <p:nvPr/>
        </p:nvSpPr>
        <p:spPr>
          <a:xfrm>
            <a:off x="418368" y="1463046"/>
            <a:ext cx="11355262" cy="2246769"/>
          </a:xfrm>
          <a:prstGeom prst="rect">
            <a:avLst/>
          </a:prstGeom>
          <a:noFill/>
        </p:spPr>
        <p:txBody>
          <a:bodyPr wrap="square" rtlCol="0">
            <a:spAutoFit/>
          </a:bodyPr>
          <a:lstStyle/>
          <a:p>
            <a:r>
              <a:rPr lang="en-US" sz="1900"/>
              <a:t>Give two details from the text that show the three cats are surprised by Varjak.</a:t>
            </a:r>
          </a:p>
          <a:p>
            <a:r>
              <a:rPr lang="en-US" sz="1900"/>
              <a:t>The text says the cats 'watched, confused'. It also says 'they had expected panic' — both show the cats did not expect Varjak to respond the way he did.</a:t>
            </a:r>
          </a:p>
          <a:p>
            <a:endParaRPr lang="en-US" sz="1900"/>
          </a:p>
          <a:p>
            <a:r>
              <a:rPr lang="en-US" sz="1900"/>
              <a:t>What does the word 'composed' mean? How does the context help you work it out?</a:t>
            </a:r>
          </a:p>
          <a:p>
            <a:r>
              <a:rPr lang="en-US" sz="1900"/>
              <a:t>Composed means calm and in control. The context helps because just before, Varjak's heart was hammering and he wanted to run — so composed shows the opposite of that panic, a new stillness he has found through using the Way.</a:t>
            </a:r>
          </a:p>
        </p:txBody>
      </p:sp>
      <p:sp>
        <p:nvSpPr>
          <p:cNvPr id="3" name="TextBox 2">
            <a:extLst>
              <a:ext uri="{FF2B5EF4-FFF2-40B4-BE49-F238E27FC236}">
                <a16:creationId xmlns:a16="http://schemas.microsoft.com/office/drawing/2014/main" id="{EBAE955F-2F2B-1B4A-4719-6AB782D998C5}"/>
              </a:ext>
            </a:extLst>
          </p:cNvPr>
          <p:cNvSpPr txBox="1"/>
          <p:nvPr/>
        </p:nvSpPr>
        <p:spPr>
          <a:xfrm>
            <a:off x="145774" y="1043340"/>
            <a:ext cx="12046226" cy="4585423"/>
          </a:xfrm>
          <a:prstGeom prst="rect">
            <a:avLst/>
          </a:prstGeom>
          <a:solidFill>
            <a:schemeClr val="accent5">
              <a:lumMod val="20000"/>
              <a:lumOff val="80000"/>
            </a:schemeClr>
          </a:solidFill>
        </p:spPr>
        <p:txBody>
          <a:bodyPr wrap="square" anchor="ctr">
            <a:noAutofit/>
          </a:bodyPr>
          <a:lstStyle/>
          <a:p>
            <a:r>
              <a:rPr lang="en-US" sz="2200"/>
              <a:t>The first time Varjak used the Way in the real world, three cats had cornered him against a rusting fence. His heart was hammering. Every part of him wanted to run, but there was nowhere to go.
So instead, he closed his eyes. He thought of the river in Jalal's teaching — water that did not fight the rocks but moved around them. He let his breathing slow. He felt the ground beneath his paws, solid and real, and he let himself become part of it.
When he opened his eyes, something had shifted. The fear was still there, but it had moved somewhere quieter. His body felt steady. Composed.
He moved — not away, but sideways, then through a gap he had not seen before, his body low and precise, each step placed with fierce concentration. The three cats watched, confused. They had expected panic. What they got was something altogether different.
Varjak did not stop until he was two streets away, his heart still loud in his ears but his paws moving steadily beneath him. He sat down on a doorstep. He breathed.
"That worked," he said aloud, to nobody.
And then, slowly, he smiled.</a:t>
            </a:r>
          </a:p>
        </p:txBody>
      </p:sp>
    </p:spTree>
    <p:extLst>
      <p:ext uri="{BB962C8B-B14F-4D97-AF65-F5344CB8AC3E}">
        <p14:creationId xmlns:p14="http://schemas.microsoft.com/office/powerpoint/2010/main" val="2161724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4"/>
                    </p:tgtEl>
                  </p:cond>
                </p:stCondLst>
                <p:endSync evt="end" delay="0">
                  <p:rtn val="all"/>
                </p:endSync>
                <p:childTnLst>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xit" presetSubtype="0" fill="hold" grpId="1" nodeType="clickEffect">
                                  <p:stCondLst>
                                    <p:cond delay="0"/>
                                  </p:stCondLst>
                                  <p:childTnLst>
                                    <p:set>
                                      <p:cBhvr>
                                        <p:cTn id="31" dur="1" fill="hold">
                                          <p:stCondLst>
                                            <p:cond delay="0"/>
                                          </p:stCondLst>
                                        </p:cTn>
                                        <p:tgtEl>
                                          <p:spTgt spid="3"/>
                                        </p:tgtEl>
                                        <p:attrNameLst>
                                          <p:attrName>style.visibility</p:attrName>
                                        </p:attrNameLst>
                                      </p:cBhvr>
                                      <p:to>
                                        <p:strVal val="hidden"/>
                                      </p:to>
                                    </p:set>
                                  </p:childTnLst>
                                </p:cTn>
                              </p:par>
                            </p:childTnLst>
                          </p:cTn>
                        </p:par>
                      </p:childTnLst>
                    </p:cTn>
                  </p:par>
                </p:childTnLst>
              </p:cTn>
              <p:nextCondLst>
                <p:cond evt="onClick" delay="0">
                  <p:tgtEl>
                    <p:spTgt spid="4"/>
                  </p:tgtEl>
                </p:cond>
              </p:nextCondLst>
            </p:seq>
          </p:childTnLst>
        </p:cTn>
      </p:par>
    </p:tnLst>
    <p:bldLst>
      <p:bldP spid="3" grpId="0" animBg="1"/>
      <p:bldP spid="3"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dirty="0">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568895" y="211840"/>
            <a:ext cx="3039122" cy="3522775"/>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3" name="TextBox 2">
            <a:extLst>
              <a:ext uri="{FF2B5EF4-FFF2-40B4-BE49-F238E27FC236}">
                <a16:creationId xmlns:a16="http://schemas.microsoft.com/office/drawing/2014/main" id="{9AA1DE16-8C7B-4868-2DE3-9C9C7D7D4324}"/>
              </a:ext>
            </a:extLst>
          </p:cNvPr>
          <p:cNvSpPr txBox="1"/>
          <p:nvPr/>
        </p:nvSpPr>
        <p:spPr>
          <a:xfrm>
            <a:off x="0" y="4552141"/>
            <a:ext cx="12192000" cy="707886"/>
          </a:xfrm>
          <a:prstGeom prst="rect">
            <a:avLst/>
          </a:prstGeom>
          <a:noFill/>
        </p:spPr>
        <p:txBody>
          <a:bodyPr wrap="square" rtlCol="0">
            <a:spAutoFit/>
          </a:bodyPr>
          <a:lstStyle/>
          <a:p>
            <a:pPr algn="ctr"/>
            <a:r>
              <a:rPr lang="en-GB" sz="4000" dirty="0"/>
              <a:t>Inference</a:t>
            </a:r>
            <a:endParaRPr lang="en-GB" dirty="0"/>
          </a:p>
        </p:txBody>
      </p:sp>
      <p:sp>
        <p:nvSpPr>
          <p:cNvPr id="6" name="TextBox 5">
            <a:extLst>
              <a:ext uri="{FF2B5EF4-FFF2-40B4-BE49-F238E27FC236}">
                <a16:creationId xmlns:a16="http://schemas.microsoft.com/office/drawing/2014/main" id="{2B18F8C8-4B63-E425-87CE-D13C91BCA056}"/>
              </a:ext>
            </a:extLst>
          </p:cNvPr>
          <p:cNvSpPr txBox="1"/>
          <p:nvPr/>
        </p:nvSpPr>
        <p:spPr>
          <a:xfrm>
            <a:off x="4423577" y="5199610"/>
            <a:ext cx="3329758" cy="1446550"/>
          </a:xfrm>
          <a:prstGeom prst="rect">
            <a:avLst/>
          </a:prstGeom>
          <a:noFill/>
        </p:spPr>
        <p:txBody>
          <a:bodyPr wrap="none" rtlCol="0" anchor="ctr">
            <a:spAutoFit/>
          </a:bodyPr>
          <a:lstStyle/>
          <a:p>
            <a:pPr algn="ctr"/>
            <a:r>
              <a:rPr lang="en-GB" sz="8800" dirty="0"/>
              <a:t>Thursday</a:t>
            </a:r>
          </a:p>
        </p:txBody>
      </p:sp>
    </p:spTree>
    <p:extLst>
      <p:ext uri="{BB962C8B-B14F-4D97-AF65-F5344CB8AC3E}">
        <p14:creationId xmlns:p14="http://schemas.microsoft.com/office/powerpoint/2010/main" val="33036935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ACEAB2A-6943-1061-22CF-9EC0847829D7}"/>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D9DEE78A-07A9-5FF3-9D78-C0D9D21EEFB2}"/>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16D2B17F-CF26-33D2-B6F6-70299CA1A763}"/>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3DF6A32D-163D-40C2-BACF-C964E0035D2E}"/>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A25D9A8A-09E0-BBBE-0C18-2E1880E52773}"/>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950C5C2B-42CC-39EC-6847-EE394E29BB3C}"/>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121AB0E8-B43D-DFDE-C896-2046E6E618BA}"/>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85578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3C5AD-3309-A9A5-F848-B93CB7BC5FD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B9D8A55-04E7-0528-A165-9FB98DB89054}"/>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2E1FDC99-0FE5-B42D-815D-42276802132E}"/>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1E5DC868-7EB8-4F7D-7DAE-A2A8DBE0A20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DACB8AB4-1258-EA30-31A5-77EEA5A000F2}"/>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659AE26C-55EC-A139-FEFB-5E8B79ECFD3A}"/>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086FA3C6-53FE-7451-6D4F-7009D38010D4}"/>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9F75FCCA-8003-024B-2B29-0EDF6D801F3D}"/>
                  </a:ext>
                </a:extLst>
              </p14:cNvPr>
              <p14:cNvContentPartPr/>
              <p14:nvPr/>
            </p14:nvContentPartPr>
            <p14:xfrm>
              <a:off x="9034477" y="550400"/>
              <a:ext cx="360" cy="360"/>
            </p14:xfrm>
          </p:contentPart>
        </mc:Choice>
        <mc:Fallback xmlns="">
          <p:pic>
            <p:nvPicPr>
              <p:cNvPr id="3" name="Ink 2">
                <a:extLst>
                  <a:ext uri="{FF2B5EF4-FFF2-40B4-BE49-F238E27FC236}">
                    <a16:creationId xmlns:a16="http://schemas.microsoft.com/office/drawing/2014/main" id="{9F75FCCA-8003-024B-2B29-0EDF6D801F3D}"/>
                  </a:ext>
                </a:extLst>
              </p:cNvPr>
              <p:cNvPicPr/>
              <p:nvPr/>
            </p:nvPicPr>
            <p:blipFill>
              <a:blip r:embed="rId5"/>
              <a:stretch>
                <a:fillRect/>
              </a:stretch>
            </p:blipFill>
            <p:spPr>
              <a:xfrm>
                <a:off x="9025117" y="541040"/>
                <a:ext cx="19080" cy="19080"/>
              </a:xfrm>
              <a:prstGeom prst="rect">
                <a:avLst/>
              </a:prstGeom>
            </p:spPr>
          </p:pic>
        </mc:Fallback>
      </mc:AlternateContent>
      <p:graphicFrame>
        <p:nvGraphicFramePr>
          <p:cNvPr id="7" name="Table 6">
            <a:extLst>
              <a:ext uri="{FF2B5EF4-FFF2-40B4-BE49-F238E27FC236}">
                <a16:creationId xmlns:a16="http://schemas.microsoft.com/office/drawing/2014/main" id="{AD7A6C68-D614-2377-056B-781707D2F236}"/>
              </a:ext>
            </a:extLst>
          </p:cNvPr>
          <p:cNvGraphicFramePr>
            <a:graphicFrameLocks noGrp="1"/>
          </p:cNvGraphicFramePr>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conflicted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having two opposing feelings or ideas at the same time; torn</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burden</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heavy load — either physical or emotional — that you have to carry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worthwhile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important or useful enough to make the effort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weary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very tired, especially after a long time doing something difficult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stubborn</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refusing to change your mind or give up, even when things are hard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114E80EC-EDEA-A9B8-0AA7-BDF4DBA738D9}"/>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3" name="Rectangle 12">
            <a:extLst>
              <a:ext uri="{FF2B5EF4-FFF2-40B4-BE49-F238E27FC236}">
                <a16:creationId xmlns:a16="http://schemas.microsoft.com/office/drawing/2014/main" id="{2CF9C0CB-B38A-8B6C-0680-46BD300AE1DC}"/>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7" name="Rectangle 16">
            <a:extLst>
              <a:ext uri="{FF2B5EF4-FFF2-40B4-BE49-F238E27FC236}">
                <a16:creationId xmlns:a16="http://schemas.microsoft.com/office/drawing/2014/main" id="{4BF34747-0A22-7E80-CA39-94571BB7D672}"/>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8" name="Rectangle 17">
            <a:extLst>
              <a:ext uri="{FF2B5EF4-FFF2-40B4-BE49-F238E27FC236}">
                <a16:creationId xmlns:a16="http://schemas.microsoft.com/office/drawing/2014/main" id="{FB910803-A54A-5B45-8345-8FFD7AC1C67C}"/>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9" name="Rectangle 18">
            <a:extLst>
              <a:ext uri="{FF2B5EF4-FFF2-40B4-BE49-F238E27FC236}">
                <a16:creationId xmlns:a16="http://schemas.microsoft.com/office/drawing/2014/main" id="{DB05B3E1-CB09-5A78-B03C-31610DE59A67}"/>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Tree>
    <p:extLst>
      <p:ext uri="{BB962C8B-B14F-4D97-AF65-F5344CB8AC3E}">
        <p14:creationId xmlns:p14="http://schemas.microsoft.com/office/powerpoint/2010/main" val="328723345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3"/>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childTnLst>
                    </p:cTn>
                  </p:par>
                </p:childTnLst>
              </p:cTn>
              <p:nextCondLst>
                <p:cond evt="onClick" delay="0">
                  <p:tgtEl>
                    <p:spTgt spid="13"/>
                  </p:tgtEl>
                </p:cond>
              </p:nextCondLst>
            </p:seq>
            <p:seq concurrent="1" nextAc="seek">
              <p:cTn id="12" restart="whenNotActive" fill="hold" evtFilter="cancelBubble" nodeType="interactiveSeq">
                <p:stCondLst>
                  <p:cond evt="onClick" delay="0">
                    <p:tgtEl>
                      <p:spTgt spid="17"/>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7" restart="whenNotActive" fill="hold" evtFilter="cancelBubble" nodeType="interactiveSeq">
                <p:stCondLst>
                  <p:cond evt="onClick" delay="0">
                    <p:tgtEl>
                      <p:spTgt spid="18"/>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22" restart="whenNotActive" fill="hold" evtFilter="cancelBubble" nodeType="interactiveSeq">
                <p:stCondLst>
                  <p:cond evt="onClick" delay="0">
                    <p:tgtEl>
                      <p:spTgt spid="19"/>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childTnLst>
        </p:cTn>
      </p:par>
    </p:tnLst>
    <p:bldLst>
      <p:bldP spid="16" grpId="0" animBg="1"/>
      <p:bldP spid="13" grpId="0" animBg="1"/>
      <p:bldP spid="17" grpId="0" animBg="1"/>
      <p:bldP spid="18" grpId="0" animBg="1"/>
      <p:bldP spid="1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C497C-5676-F0CE-9C15-81908FA1F34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DCBDDC3-E8B4-5DB7-95EB-E4EB767438DF}"/>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4D7EC211-6C19-B85F-7D0D-25A8FEEA3637}"/>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6358CBDE-7D41-F226-3072-41F208B4D98A}"/>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9CDE4E57-6664-84F7-C8E9-8F4381A4D091}"/>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3B86A135-C8BF-2285-F3AA-0B4C5706CE90}"/>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07FF75F1-41FF-EEA3-B802-ED64112A7D02}"/>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98F68A2F-1F77-2878-BCF5-883045F28026}"/>
              </a:ext>
            </a:extLst>
          </p:cNvPr>
          <p:cNvGraphicFramePr>
            <a:graphicFrameLocks noGrp="1"/>
          </p:cNvGraphicFramePr>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b="0">
                        <a:solidFill>
                          <a:schemeClr val="tx1"/>
                        </a:solidFill>
                      </a:endParaRPr>
                    </a:p>
                    <a:p>
                      <a:pPr algn="ctr"/>
                      <a:r>
                        <a:rPr lang="en-GB" sz="3200" b="0">
                          <a:solidFill>
                            <a:schemeClr val="tx1"/>
                          </a:solidFill>
                          <a:latin typeface="XCCW Joined 4a" panose="03050602040000000000" pitchFamily="66" charset="77"/>
                        </a:rPr>
                        <a:t>conflicted</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755B9240-8989-B9DB-0B3B-B8D062E07BC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7904627B-45D6-BE36-7042-C69B53AD1828}"/>
              </a:ext>
            </a:extLst>
          </p:cNvPr>
          <p:cNvSpPr txBox="1"/>
          <p:nvPr/>
        </p:nvSpPr>
        <p:spPr>
          <a:xfrm>
            <a:off x="4766154" y="5299847"/>
            <a:ext cx="2400000" cy="480000"/>
          </a:xfrm>
          <a:prstGeom prst="rect">
            <a:avLst/>
          </a:prstGeom>
          <a:noFill/>
        </p:spPr>
        <p:txBody>
          <a:bodyPr wrap="square" rtlCol="0" anchor="ctr"/>
          <a:lstStyle/>
          <a:p>
            <a:pPr algn="ctr"/>
            <a:r>
              <a:rPr lang="en-GB"/>
              <a:t>conflicted</a:t>
            </a:r>
          </a:p>
        </p:txBody>
      </p:sp>
      <p:cxnSp>
        <p:nvCxnSpPr>
          <p:cNvPr id="12" name="Straight Connector 11">
            <a:extLst>
              <a:ext uri="{FF2B5EF4-FFF2-40B4-BE49-F238E27FC236}">
                <a16:creationId xmlns:a16="http://schemas.microsoft.com/office/drawing/2014/main" id="{483F9876-11CA-68D4-B5B9-503CB1452DDF}"/>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67DD069-433E-BF48-9167-8E5BCC114624}"/>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37026A-B5E7-A43B-7015-F91BED67059F}"/>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7576966-8817-48AF-F837-0832462F5E46}"/>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6EE6038E-2E20-39E1-51AA-382FB77B2D40}"/>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342315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7C8F1879-9C69-AABD-5D27-70A3FD61C54F}"/>
              </a:ext>
            </a:extLst>
          </p:cNvPr>
          <p:cNvGrpSpPr/>
          <p:nvPr/>
        </p:nvGrpSpPr>
        <p:grpSpPr>
          <a:xfrm>
            <a:off x="43957" y="90546"/>
            <a:ext cx="963274" cy="909579"/>
            <a:chOff x="1630613" y="1026138"/>
            <a:chExt cx="1316831" cy="1316831"/>
          </a:xfrm>
        </p:grpSpPr>
        <p:sp>
          <p:nvSpPr>
            <p:cNvPr id="4" name="Oval 3">
              <a:extLst>
                <a:ext uri="{FF2B5EF4-FFF2-40B4-BE49-F238E27FC236}">
                  <a16:creationId xmlns:a16="http://schemas.microsoft.com/office/drawing/2014/main" id="{C5A04DD0-FF30-895F-0ED9-888B47B1A02D}"/>
                </a:ext>
              </a:extLst>
            </p:cNvPr>
            <p:cNvSpPr/>
            <p:nvPr/>
          </p:nvSpPr>
          <p:spPr>
            <a:xfrm>
              <a:off x="1630613" y="1026138"/>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5" name="Oval 4">
              <a:extLst>
                <a:ext uri="{FF2B5EF4-FFF2-40B4-BE49-F238E27FC236}">
                  <a16:creationId xmlns:a16="http://schemas.microsoft.com/office/drawing/2014/main" id="{8EBD88F1-D64A-0A71-7434-4A250ABBD4E6}"/>
                </a:ext>
              </a:extLst>
            </p:cNvPr>
            <p:cNvSpPr txBox="1"/>
            <p:nvPr/>
          </p:nvSpPr>
          <p:spPr>
            <a:xfrm>
              <a:off x="1823458"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latin typeface="Sassoon Infant Rg" panose="02000503030000020003" pitchFamily="2" charset="0"/>
                  <a:ea typeface="Sassoon Infant Rg" panose="02000503030000020003" pitchFamily="2" charset="0"/>
                </a:rPr>
                <a:t>Decoding &amp; phonics</a:t>
              </a:r>
            </a:p>
          </p:txBody>
        </p:sp>
      </p:grpSp>
      <p:pic>
        <p:nvPicPr>
          <p:cNvPr id="11" name="Picture 10">
            <a:extLst>
              <a:ext uri="{FF2B5EF4-FFF2-40B4-BE49-F238E27FC236}">
                <a16:creationId xmlns:a16="http://schemas.microsoft.com/office/drawing/2014/main" id="{5B88EF2C-3893-9BD5-87F9-6BF0F699F9A5}"/>
              </a:ext>
            </a:extLst>
          </p:cNvPr>
          <p:cNvPicPr/>
          <p:nvPr/>
        </p:nvPicPr>
        <p:blipFill>
          <a:blip r:embed="rId3">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D07968F0-1915-728F-1F6D-2CB9277677F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Independent Read</a:t>
            </a:r>
          </a:p>
        </p:txBody>
      </p:sp>
      <p:sp>
        <p:nvSpPr>
          <p:cNvPr id="22" name="TextBox 21">
            <a:extLst>
              <a:ext uri="{FF2B5EF4-FFF2-40B4-BE49-F238E27FC236}">
                <a16:creationId xmlns:a16="http://schemas.microsoft.com/office/drawing/2014/main" id="{BBE494B4-E4A1-C48A-15E2-3683EA0AD086}"/>
              </a:ext>
            </a:extLst>
          </p:cNvPr>
          <p:cNvSpPr txBox="1"/>
          <p:nvPr/>
        </p:nvSpPr>
        <p:spPr>
          <a:xfrm>
            <a:off x="1" y="931322"/>
            <a:ext cx="12191999" cy="830997"/>
          </a:xfrm>
          <a:prstGeom prst="rect">
            <a:avLst/>
          </a:prstGeom>
          <a:noFill/>
        </p:spPr>
        <p:txBody>
          <a:bodyPr wrap="square">
            <a:spAutoFit/>
          </a:bodyPr>
          <a:lstStyle/>
          <a:p>
            <a:pPr algn="ctr"/>
            <a:r>
              <a:rPr lang="en-GB" sz="1800" dirty="0">
                <a:effectLst/>
                <a:latin typeface="Sassoon Infant Rg" panose="02000503030000020003" pitchFamily="2" charset="0"/>
                <a:ea typeface="Sassoon Infant Rg" panose="02000503030000020003" pitchFamily="2" charset="0"/>
                <a:cs typeface="Times New Roman" panose="02020603050405020304" pitchFamily="18" charset="0"/>
              </a:rPr>
              <a:t xml:space="preserve">Read the complete text – underline any words or phrases you don’t understand.  Re-read full sentences for any parts you couldn’t read smoothly on the first attempt. </a:t>
            </a:r>
            <a:endParaRPr lang="en-GB" b="1" dirty="0"/>
          </a:p>
        </p:txBody>
      </p:sp>
      <p:sp>
        <p:nvSpPr>
          <p:cNvPr id="6" name="TextBox 5">
            <a:extLst>
              <a:ext uri="{FF2B5EF4-FFF2-40B4-BE49-F238E27FC236}">
                <a16:creationId xmlns:a16="http://schemas.microsoft.com/office/drawing/2014/main" id="{38C25E62-7AE0-A783-1D87-77105CAB659E}"/>
              </a:ext>
            </a:extLst>
          </p:cNvPr>
          <p:cNvSpPr txBox="1"/>
          <p:nvPr/>
        </p:nvSpPr>
        <p:spPr>
          <a:xfrm>
            <a:off x="2226896" y="3673314"/>
            <a:ext cx="7629665" cy="2308324"/>
          </a:xfrm>
          <a:prstGeom prst="rect">
            <a:avLst/>
          </a:prstGeom>
          <a:noFill/>
        </p:spPr>
        <p:txBody>
          <a:bodyPr wrap="square" rtlCol="0">
            <a:spAutoFit/>
          </a:bodyPr>
          <a:lstStyle/>
          <a:p>
            <a:endParaRPr lang="en-GB"/>
          </a:p>
          <a:p>
            <a:pPr marL="342900" indent="-342900">
              <a:buFont typeface="+mj-lt"/>
              <a:buAutoNum type="arabicPeriod"/>
            </a:pPr>
            <a:r>
              <a:rPr lang="en-GB"/>
              <a:t>Read by segmenting into phonemes and syllables</a:t>
            </a:r>
          </a:p>
          <a:p>
            <a:pPr marL="342900" indent="-342900">
              <a:buFont typeface="+mj-lt"/>
              <a:buAutoNum type="arabicPeriod"/>
            </a:pPr>
            <a:r>
              <a:rPr lang="en-GB"/>
              <a:t>Make a sensible attempt, making sure you blend ALL the sounds as you read.</a:t>
            </a:r>
          </a:p>
          <a:p>
            <a:pPr marL="342900" indent="-342900">
              <a:buFont typeface="+mj-lt"/>
              <a:buAutoNum type="arabicPeriod"/>
            </a:pPr>
            <a:r>
              <a:rPr lang="en-GB"/>
              <a:t>Use the context and parts of the word to make a sensible attempt at a definition.</a:t>
            </a:r>
          </a:p>
          <a:p>
            <a:pPr marL="342900" indent="-342900">
              <a:buFont typeface="+mj-lt"/>
              <a:buAutoNum type="arabicPeriod"/>
            </a:pPr>
            <a:endParaRPr lang="en-GB"/>
          </a:p>
          <a:p>
            <a:r>
              <a:rPr lang="en-GB"/>
              <a:t>Remember to re-read the entire sentence again.</a:t>
            </a:r>
          </a:p>
        </p:txBody>
      </p:sp>
      <p:pic>
        <p:nvPicPr>
          <p:cNvPr id="2" name="Picture 1">
            <a:extLst>
              <a:ext uri="{FF2B5EF4-FFF2-40B4-BE49-F238E27FC236}">
                <a16:creationId xmlns:a16="http://schemas.microsoft.com/office/drawing/2014/main" id="{4A238304-94B7-D6B3-84C9-8D8F6CDD2BB4}"/>
              </a:ext>
            </a:extLst>
          </p:cNvPr>
          <p:cNvPicPr>
            <a:picLocks noChangeAspect="1"/>
          </p:cNvPicPr>
          <p:nvPr/>
        </p:nvPicPr>
        <p:blipFill>
          <a:blip r:embed="rId4"/>
          <a:stretch>
            <a:fillRect/>
          </a:stretch>
        </p:blipFill>
        <p:spPr>
          <a:xfrm>
            <a:off x="866163" y="2097530"/>
            <a:ext cx="10351133" cy="1434810"/>
          </a:xfrm>
          <a:prstGeom prst="rect">
            <a:avLst/>
          </a:prstGeom>
        </p:spPr>
      </p:pic>
      <p:sp>
        <p:nvSpPr>
          <p:cNvPr id="13" name="TextBox 12">
            <a:extLst>
              <a:ext uri="{FF2B5EF4-FFF2-40B4-BE49-F238E27FC236}">
                <a16:creationId xmlns:a16="http://schemas.microsoft.com/office/drawing/2014/main" id="{A473D780-1F99-6094-42B5-9820D9017C99}"/>
              </a:ext>
            </a:extLst>
          </p:cNvPr>
          <p:cNvSpPr txBox="1"/>
          <p:nvPr/>
        </p:nvSpPr>
        <p:spPr>
          <a:xfrm>
            <a:off x="-2406316" y="1524000"/>
            <a:ext cx="184731" cy="369332"/>
          </a:xfrm>
          <a:prstGeom prst="rect">
            <a:avLst/>
          </a:prstGeom>
          <a:noFill/>
        </p:spPr>
        <p:txBody>
          <a:bodyPr wrap="none" rtlCol="0">
            <a:spAutoFit/>
          </a:bodyPr>
          <a:lstStyle/>
          <a:p>
            <a:endParaRPr lang="en-GB"/>
          </a:p>
        </p:txBody>
      </p:sp>
      <p:sp>
        <p:nvSpPr>
          <p:cNvPr id="15" name="TextBox 14">
            <a:extLst>
              <a:ext uri="{FF2B5EF4-FFF2-40B4-BE49-F238E27FC236}">
                <a16:creationId xmlns:a16="http://schemas.microsoft.com/office/drawing/2014/main" id="{E15A5C10-306D-554F-EAA6-B73E5AF3D6C7}"/>
              </a:ext>
            </a:extLst>
          </p:cNvPr>
          <p:cNvSpPr txBox="1"/>
          <p:nvPr/>
        </p:nvSpPr>
        <p:spPr>
          <a:xfrm>
            <a:off x="209488" y="1865629"/>
            <a:ext cx="11861201" cy="3985274"/>
          </a:xfrm>
          <a:prstGeom prst="rect">
            <a:avLst/>
          </a:prstGeom>
          <a:solidFill>
            <a:schemeClr val="accent5">
              <a:lumMod val="20000"/>
              <a:lumOff val="80000"/>
            </a:schemeClr>
          </a:solidFill>
        </p:spPr>
        <p:txBody>
          <a:bodyPr wrap="square" anchor="ctr">
            <a:noAutofit/>
          </a:bodyPr>
          <a:lstStyle/>
          <a:p>
            <a:r>
              <a:rPr lang="en-US" sz="2200" dirty="0"/>
              <a:t>The rain had been falling for hours. Varjak sat under the lip of a drainpipe, watching the gutters fill, feeling the cold settle into his bones. He had not found what he was looking for. He had not even come close.
He thought about home. It came to him in pieces — the smell of warm stone, the weight of his mother's paw on the back of his neck when he was small, the sound of his brothers breathing in the dark. He had carried all of it with him since the moment he left, a burden he had not known he was lifting.
He could go back. He knew that. Nobody had told him he had to stay. The Way could get him there — he was sure of it now. He could be home by morning, warm and safe, with the family he had not stopped missing for a single day.
But then he thought of what waited in the tower. The Gentleman. The dark cats. His mother and brothers trapped behind those walls. He thought of Elder Paw's last words to him, weary with age but stubborn as stone: there is only one who can save us now.
Could he really turn back? Could he live with himself if he did?
He sat with the question a long time. The rain kept falling. He did not move.</a:t>
            </a:r>
          </a:p>
        </p:txBody>
      </p:sp>
      <p:sp>
        <p:nvSpPr>
          <p:cNvPr id="10" name="Rounded Rectangle 9">
            <a:extLst>
              <a:ext uri="{FF2B5EF4-FFF2-40B4-BE49-F238E27FC236}">
                <a16:creationId xmlns:a16="http://schemas.microsoft.com/office/drawing/2014/main" id="{911D3733-5EF2-7482-D164-B776AE41E9CC}"/>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Show / Hide Extract</a:t>
            </a:r>
          </a:p>
        </p:txBody>
      </p:sp>
    </p:spTree>
    <p:extLst>
      <p:ext uri="{BB962C8B-B14F-4D97-AF65-F5344CB8AC3E}">
        <p14:creationId xmlns:p14="http://schemas.microsoft.com/office/powerpoint/2010/main" val="197944849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10"/>
                  </p:tgtEl>
                </p:cond>
              </p:nextCondLst>
            </p:seq>
          </p:childTnLst>
        </p:cTn>
      </p:par>
    </p:tnLst>
    <p:bldLst>
      <p:bldP spid="15" grpId="0" animBg="1"/>
      <p:bldP spid="15"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15917-BDE9-A483-7A0D-AC15BA636611}"/>
            </a:ext>
          </a:extLst>
        </p:cNvPr>
        <p:cNvGrpSpPr/>
        <p:nvPr/>
      </p:nvGrpSpPr>
      <p:grpSpPr>
        <a:xfrm>
          <a:off x="0" y="0"/>
          <a:ext cx="0" cy="0"/>
          <a:chOff x="0" y="0"/>
          <a:chExt cx="0" cy="0"/>
        </a:xfrm>
      </p:grpSpPr>
      <p:sp>
        <p:nvSpPr>
          <p:cNvPr id="6" name="Freeform: Shape 5">
            <a:extLst>
              <a:ext uri="{FF2B5EF4-FFF2-40B4-BE49-F238E27FC236}">
                <a16:creationId xmlns:a16="http://schemas.microsoft.com/office/drawing/2014/main" id="{3E3AA9AF-9E3C-B821-0C95-D4AA63DFFCBB}"/>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BC8D8944-1BCF-D4B0-7DAF-EF76646CCF50}"/>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6EE8B722-85CC-7111-AF8B-97EEBEE9A272}"/>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AD3569E1-8E04-B7BA-0398-4180BE3B0EE3}"/>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FFC19485-EC34-F070-3B3F-978F61587575}"/>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3C0DDE4A-9E8B-5BE3-65C1-A3FA2705ACB2}"/>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A0F1A2A6-045F-00C7-688E-E6D0A25D5652}"/>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408A8433-A9BE-1E56-2965-99A3B5625947}"/>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27A24A2D-2408-EB9E-5F70-46F514294503}"/>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2946C962-D08C-0F71-45B1-FA00B59721B8}"/>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60E1483D-26A7-A33B-B0CD-B1044C4A76B4}"/>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ED4713C7-97EE-A5B0-8FC6-4CE70EA350BC}"/>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72843B94-CA11-5143-DFB7-BE14CB303150}"/>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CDA984DD-4FC4-64A0-887A-0A817B977071}"/>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understand and take meaning from a text.</a:t>
            </a:r>
          </a:p>
        </p:txBody>
      </p:sp>
      <p:sp>
        <p:nvSpPr>
          <p:cNvPr id="20" name="Rectangle 19">
            <a:extLst>
              <a:ext uri="{FF2B5EF4-FFF2-40B4-BE49-F238E27FC236}">
                <a16:creationId xmlns:a16="http://schemas.microsoft.com/office/drawing/2014/main" id="{3A23222B-35F4-3CDC-5FEA-1C58CE4A933A}"/>
              </a:ext>
            </a:extLst>
          </p:cNvPr>
          <p:cNvSpPr/>
          <p:nvPr/>
        </p:nvSpPr>
        <p:spPr>
          <a:xfrm>
            <a:off x="5597291" y="4824722"/>
            <a:ext cx="5583685" cy="1200329"/>
          </a:xfrm>
          <a:prstGeom prst="rect">
            <a:avLst/>
          </a:prstGeom>
          <a:noFill/>
        </p:spPr>
        <p:txBody>
          <a:bodyPr wrap="square">
            <a:spAutoFit/>
          </a:bodyPr>
          <a:lstStyle/>
          <a:p>
            <a:r>
              <a:rPr lang="en-GB" sz="2400">
                <a:latin typeface="+mj-lt"/>
              </a:rPr>
              <a:t>I will show this by answering questions which relate to the vocabulary used throughout the text.</a:t>
            </a:r>
          </a:p>
        </p:txBody>
      </p:sp>
      <p:grpSp>
        <p:nvGrpSpPr>
          <p:cNvPr id="26" name="Group 25">
            <a:extLst>
              <a:ext uri="{FF2B5EF4-FFF2-40B4-BE49-F238E27FC236}">
                <a16:creationId xmlns:a16="http://schemas.microsoft.com/office/drawing/2014/main" id="{F0FA508C-6CB1-E76E-F0A8-B64E6C4CD90D}"/>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3F558219-13F1-436A-59AF-11B90D95ABA1}"/>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33569914-364A-6AF1-85F1-0BFCF4FDB1A8}"/>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B90D4CDA-08E3-0ED1-C1FB-0242710F0D9A}"/>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8139F2B2-DE54-7CE1-CCBE-1C4164F07AC7}"/>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721B1AA3-17DD-506B-9B14-CDFF5EA0BECB}"/>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3A69BFB0-E1DC-E3FA-6EA3-821A27D46522}"/>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my understanding of vocabulary at a sentence and text level.</a:t>
            </a:r>
          </a:p>
        </p:txBody>
      </p:sp>
      <p:grpSp>
        <p:nvGrpSpPr>
          <p:cNvPr id="3" name="Group 2">
            <a:extLst>
              <a:ext uri="{FF2B5EF4-FFF2-40B4-BE49-F238E27FC236}">
                <a16:creationId xmlns:a16="http://schemas.microsoft.com/office/drawing/2014/main" id="{AB1D5BFC-9C6F-78FE-BB55-8A787A315711}"/>
              </a:ext>
            </a:extLst>
          </p:cNvPr>
          <p:cNvGrpSpPr/>
          <p:nvPr/>
        </p:nvGrpSpPr>
        <p:grpSpPr>
          <a:xfrm>
            <a:off x="10607910" y="233361"/>
            <a:ext cx="1316831" cy="1316831"/>
            <a:chOff x="5180554" y="1026138"/>
            <a:chExt cx="1316831" cy="1316831"/>
          </a:xfrm>
        </p:grpSpPr>
        <p:sp>
          <p:nvSpPr>
            <p:cNvPr id="4" name="Oval 3">
              <a:extLst>
                <a:ext uri="{FF2B5EF4-FFF2-40B4-BE49-F238E27FC236}">
                  <a16:creationId xmlns:a16="http://schemas.microsoft.com/office/drawing/2014/main" id="{30C90C35-E0BE-7AD4-92BC-8EFF113E4DB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1" name="Oval 4">
              <a:extLst>
                <a:ext uri="{FF2B5EF4-FFF2-40B4-BE49-F238E27FC236}">
                  <a16:creationId xmlns:a16="http://schemas.microsoft.com/office/drawing/2014/main" id="{D5E138FF-7604-1E33-555D-87C2C96CBE05}"/>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Tree>
    <p:extLst>
      <p:ext uri="{BB962C8B-B14F-4D97-AF65-F5344CB8AC3E}">
        <p14:creationId xmlns:p14="http://schemas.microsoft.com/office/powerpoint/2010/main" val="28426104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1F7DB-6538-E176-FE28-8F1AD256569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4F21690-854A-3024-D098-1C56DE57443E}"/>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6" name="TextBox 5">
            <a:extLst>
              <a:ext uri="{FF2B5EF4-FFF2-40B4-BE49-F238E27FC236}">
                <a16:creationId xmlns:a16="http://schemas.microsoft.com/office/drawing/2014/main" id="{AEC30692-9C94-A8DB-4755-85FE74DE9821}"/>
              </a:ext>
            </a:extLst>
          </p:cNvPr>
          <p:cNvSpPr txBox="1"/>
          <p:nvPr/>
        </p:nvSpPr>
        <p:spPr>
          <a:xfrm>
            <a:off x="288098" y="335454"/>
            <a:ext cx="6864956" cy="707886"/>
          </a:xfrm>
          <a:prstGeom prst="rect">
            <a:avLst/>
          </a:prstGeom>
          <a:noFill/>
        </p:spPr>
        <p:txBody>
          <a:bodyPr wrap="none" rtlCol="0">
            <a:spAutoFit/>
          </a:bodyPr>
          <a:lstStyle/>
          <a:p>
            <a:r>
              <a:rPr lang="en-GB" sz="4000" b="1" u="sng"/>
              <a:t>Practice questions - Inference</a:t>
            </a:r>
          </a:p>
        </p:txBody>
      </p:sp>
      <p:pic>
        <p:nvPicPr>
          <p:cNvPr id="7" name="Picture 6">
            <a:extLst>
              <a:ext uri="{FF2B5EF4-FFF2-40B4-BE49-F238E27FC236}">
                <a16:creationId xmlns:a16="http://schemas.microsoft.com/office/drawing/2014/main" id="{E0AB4FA0-4B96-F850-DD50-18A5FD657BB8}"/>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
        <p:nvSpPr>
          <p:cNvPr id="4" name="Rounded Rectangle 9">
            <a:extLst>
              <a:ext uri="{FF2B5EF4-FFF2-40B4-BE49-F238E27FC236}">
                <a16:creationId xmlns:a16="http://schemas.microsoft.com/office/drawing/2014/main" id="{2A06B04F-B021-4121-0C16-7A5BACEFBC1B}"/>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0" name="TextBox 9">
            <a:extLst>
              <a:ext uri="{FF2B5EF4-FFF2-40B4-BE49-F238E27FC236}">
                <a16:creationId xmlns:a16="http://schemas.microsoft.com/office/drawing/2014/main" id="{C064352E-4E96-13BD-C58F-5EEC5E15F4B5}"/>
              </a:ext>
            </a:extLst>
          </p:cNvPr>
          <p:cNvSpPr txBox="1"/>
          <p:nvPr/>
        </p:nvSpPr>
        <p:spPr>
          <a:xfrm>
            <a:off x="418368" y="1463046"/>
            <a:ext cx="11355262" cy="2246769"/>
          </a:xfrm>
          <a:prstGeom prst="rect">
            <a:avLst/>
          </a:prstGeom>
          <a:noFill/>
        </p:spPr>
        <p:txBody>
          <a:bodyPr wrap="square" rtlCol="0">
            <a:spAutoFit/>
          </a:bodyPr>
          <a:lstStyle/>
          <a:p>
            <a:r>
              <a:rPr lang="en-US" sz="1900"/>
              <a:t>What three things does Varjak remember about home?</a:t>
            </a:r>
          </a:p>
          <a:p>
            <a:r>
              <a:rPr lang="en-US" sz="1900"/>
              <a:t>He thinks about the smell of warm stone, the weight of his mother's paw on the back of his neck when he was small, and the sound of his brothers breathing in the dark.</a:t>
            </a:r>
          </a:p>
          <a:p>
            <a:endParaRPr lang="en-US" sz="1900"/>
          </a:p>
          <a:p>
            <a:r>
              <a:rPr lang="en-US" sz="1900"/>
              <a:t>What does the word 'burden' mean? How does the writer use it here?</a:t>
            </a:r>
          </a:p>
          <a:p>
            <a:r>
              <a:rPr lang="en-US" sz="1900"/>
              <a:t>A burden is a heavy load you carry. The writer uses it to describe Varjak's memories of home — precious but exhausting to carry. He describes it as 'a burden he had not known he was lifting', showing the weight of missing home had been there all along without him realising it.</a:t>
            </a:r>
          </a:p>
        </p:txBody>
      </p:sp>
      <p:sp>
        <p:nvSpPr>
          <p:cNvPr id="3" name="TextBox 2">
            <a:extLst>
              <a:ext uri="{FF2B5EF4-FFF2-40B4-BE49-F238E27FC236}">
                <a16:creationId xmlns:a16="http://schemas.microsoft.com/office/drawing/2014/main" id="{EBAE955F-2F2B-1B4A-4719-6AB782D998C5}"/>
              </a:ext>
            </a:extLst>
          </p:cNvPr>
          <p:cNvSpPr txBox="1"/>
          <p:nvPr/>
        </p:nvSpPr>
        <p:spPr>
          <a:xfrm>
            <a:off x="145774" y="1043340"/>
            <a:ext cx="12046226" cy="4585423"/>
          </a:xfrm>
          <a:prstGeom prst="rect">
            <a:avLst/>
          </a:prstGeom>
          <a:solidFill>
            <a:schemeClr val="accent5">
              <a:lumMod val="20000"/>
              <a:lumOff val="80000"/>
            </a:schemeClr>
          </a:solidFill>
        </p:spPr>
        <p:txBody>
          <a:bodyPr wrap="square" anchor="ctr">
            <a:noAutofit/>
          </a:bodyPr>
          <a:lstStyle/>
          <a:p>
            <a:r>
              <a:rPr lang="en-US" sz="2200"/>
              <a:t>The rain had been falling for hours. Varjak sat under the lip of a drainpipe, watching the gutters fill, feeling the cold settle into his bones. He had not found what he was looking for. He had not even come close.
He thought about home. It came to him in pieces — the smell of warm stone, the weight of his mother's paw on the back of his neck when he was small, the sound of his brothers breathing in the dark. He had carried all of it with him since the moment he left, a burden he had not known he was lifting.
He could go back. He knew that. Nobody had told him he had to stay. The Way could get him there — he was sure of it now. He could be home by morning, warm and safe, with the family he had not stopped missing for a single day.
But then he thought of what waited in the tower. The Gentleman. The dark cats. His mother and brothers trapped behind those walls. He thought of Elder Paw's last words to him, weary with age but stubborn as stone: there is only one who can save us now.
Could he really turn back? Could he live with himself if he did?
He sat with the question a long time. The rain kept falling. He did not move.</a:t>
            </a:r>
          </a:p>
        </p:txBody>
      </p:sp>
    </p:spTree>
    <p:extLst>
      <p:ext uri="{BB962C8B-B14F-4D97-AF65-F5344CB8AC3E}">
        <p14:creationId xmlns:p14="http://schemas.microsoft.com/office/powerpoint/2010/main" val="2161724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4"/>
                    </p:tgtEl>
                  </p:cond>
                </p:stCondLst>
                <p:endSync evt="end" delay="0">
                  <p:rtn val="all"/>
                </p:endSync>
                <p:childTnLst>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xit" presetSubtype="0" fill="hold" grpId="1" nodeType="clickEffect">
                                  <p:stCondLst>
                                    <p:cond delay="0"/>
                                  </p:stCondLst>
                                  <p:childTnLst>
                                    <p:set>
                                      <p:cBhvr>
                                        <p:cTn id="31" dur="1" fill="hold">
                                          <p:stCondLst>
                                            <p:cond delay="0"/>
                                          </p:stCondLst>
                                        </p:cTn>
                                        <p:tgtEl>
                                          <p:spTgt spid="3"/>
                                        </p:tgtEl>
                                        <p:attrNameLst>
                                          <p:attrName>style.visibility</p:attrName>
                                        </p:attrNameLst>
                                      </p:cBhvr>
                                      <p:to>
                                        <p:strVal val="hidden"/>
                                      </p:to>
                                    </p:set>
                                  </p:childTnLst>
                                </p:cTn>
                              </p:par>
                            </p:childTnLst>
                          </p:cTn>
                        </p:par>
                      </p:childTnLst>
                    </p:cTn>
                  </p:par>
                </p:childTnLst>
              </p:cTn>
              <p:nextCondLst>
                <p:cond evt="onClick" delay="0">
                  <p:tgtEl>
                    <p:spTgt spid="4"/>
                  </p:tgtEl>
                </p:cond>
              </p:nextCondLst>
            </p:seq>
          </p:childTnLst>
        </p:cTn>
      </p:par>
    </p:tnLst>
    <p:bldLst>
      <p:bldP spid="3" grpId="0" animBg="1"/>
      <p:bldP spid="3" grpId="1"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Sassoon Infant Rg"/>
        <a:ea typeface=""/>
        <a:cs typeface=""/>
      </a:majorFont>
      <a:minorFont>
        <a:latin typeface="Sassoon Infant Rg"/>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Relationships xmlns="http://schemas.openxmlformats.org/package/2006/relationships"><Relationship Id="rId1" Type="http://schemas.openxmlformats.org/officeDocument/2006/relationships/customXmlProps" Target="itemProps1.xml"/></Relationships>
</file>

<file path=customXml/_rels/item2.xml.rels><?xml version="1.0" encoding="UTF-8"?><Relationships xmlns="http://schemas.openxmlformats.org/package/2006/relationships"><Relationship Id="rId1" Type="http://schemas.openxmlformats.org/officeDocument/2006/relationships/customXmlProps" Target="itemProps2.xml"/></Relationships>
</file>

<file path=customXml/_rels/item3.xml.rels><?xml version="1.0" encoding="UTF-8"?><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848fd07-94db-4308-8950-9cb0e230b958" xsi:nil="true"/>
    <lcf76f155ced4ddcb4097134ff3c332f xmlns="9e6dd442-da5e-411e-833f-0fee7dcd7819">
      <Terms xmlns="http://schemas.microsoft.com/office/infopath/2007/PartnerControls"/>
    </lcf76f155ced4ddcb4097134ff3c332f>
    <SharedWithUsers xmlns="4848fd07-94db-4308-8950-9cb0e230b958">
      <UserInfo>
        <DisplayName>Jo Hewitt - WFA</DisplayName>
        <AccountId>40</AccountId>
        <AccountType/>
      </UserInfo>
      <UserInfo>
        <DisplayName>Jonathan Miller - WFA</DisplayName>
        <AccountId>57</AccountId>
        <AccountType/>
      </UserInfo>
    </SharedWithUser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AC71695694772F44B387615DF8DED97F" ma:contentTypeVersion="16" ma:contentTypeDescription="Create a new document." ma:contentTypeScope="" ma:versionID="6b988a150421d80c99f84aa2bfb3de38">
  <xsd:schema xmlns:xsd="http://www.w3.org/2001/XMLSchema" xmlns:xs="http://www.w3.org/2001/XMLSchema" xmlns:p="http://schemas.microsoft.com/office/2006/metadata/properties" xmlns:ns2="9e6dd442-da5e-411e-833f-0fee7dcd7819" xmlns:ns3="4848fd07-94db-4308-8950-9cb0e230b958" targetNamespace="http://schemas.microsoft.com/office/2006/metadata/properties" ma:root="true" ma:fieldsID="0840e1ae8104f568f88bbc0ee80d0ce2" ns2:_="" ns3:_="">
    <xsd:import namespace="9e6dd442-da5e-411e-833f-0fee7dcd7819"/>
    <xsd:import namespace="4848fd07-94db-4308-8950-9cb0e230b958"/>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DateTaken" minOccurs="0"/>
                <xsd:element ref="ns2:MediaLengthInSeconds" minOccurs="0"/>
                <xsd:element ref="ns2:MediaServiceLocatio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3:SharedWithUsers" minOccurs="0"/>
                <xsd:element ref="ns3:SharedWithDetail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e6dd442-da5e-411e-833f-0fee7dcd781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MediaServiceLocation" ma:index="13" nillable="true" ma:displayName="Location" ma:indexed="true"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d08261e-ebf2-489e-9cf5-3c5ddf1ef556"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848fd07-94db-4308-8950-9cb0e230b95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90903c9d-9125-4551-886d-abbd3fd64318}" ma:internalName="TaxCatchAll" ma:showField="CatchAllData" ma:web="4848fd07-94db-4308-8950-9cb0e230b958">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45AAA2B-1185-4CA6-878D-532686679D9F}">
  <ds:schemaRefs>
    <ds:schemaRef ds:uri="http://purl.org/dc/elements/1.1/"/>
    <ds:schemaRef ds:uri="http://schemas.microsoft.com/office/infopath/2007/PartnerControls"/>
    <ds:schemaRef ds:uri="http://schemas.openxmlformats.org/package/2006/metadata/core-properties"/>
    <ds:schemaRef ds:uri="4848fd07-94db-4308-8950-9cb0e230b958"/>
    <ds:schemaRef ds:uri="http://schemas.microsoft.com/office/2006/documentManagement/types"/>
    <ds:schemaRef ds:uri="http://purl.org/dc/dcmitype/"/>
    <ds:schemaRef ds:uri="http://www.w3.org/XML/1998/namespace"/>
    <ds:schemaRef ds:uri="http://purl.org/dc/terms/"/>
    <ds:schemaRef ds:uri="9e6dd442-da5e-411e-833f-0fee7dcd7819"/>
    <ds:schemaRef ds:uri="http://schemas.microsoft.com/office/2006/metadata/properties"/>
  </ds:schemaRefs>
</ds:datastoreItem>
</file>

<file path=customXml/itemProps2.xml><?xml version="1.0" encoding="utf-8"?>
<ds:datastoreItem xmlns:ds="http://schemas.openxmlformats.org/officeDocument/2006/customXml" ds:itemID="{DE02CAFD-7AEC-4FCB-8049-4FEF8A0D00D8}">
  <ds:schemaRefs>
    <ds:schemaRef ds:uri="http://schemas.microsoft.com/sharepoint/v3/contenttype/forms"/>
  </ds:schemaRefs>
</ds:datastoreItem>
</file>

<file path=customXml/itemProps3.xml><?xml version="1.0" encoding="utf-8"?>
<ds:datastoreItem xmlns:ds="http://schemas.openxmlformats.org/officeDocument/2006/customXml" ds:itemID="{71D150B1-45AA-4FD4-8213-B2AC8AE18B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e6dd442-da5e-411e-833f-0fee7dcd7819"/>
    <ds:schemaRef ds:uri="4848fd07-94db-4308-8950-9cb0e230b95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2690</TotalTime>
  <Words>2015</Words>
  <Application>Microsoft Macintosh PowerPoint</Application>
  <PresentationFormat>Widescreen</PresentationFormat>
  <Paragraphs>137</Paragraphs>
  <Slides>15</Slides>
  <Notes>9</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Calibri</vt:lpstr>
      <vt:lpstr>Sassoon Infant Rg</vt:lpstr>
      <vt:lpstr>Sassoon Primary Rg</vt:lpstr>
      <vt:lpstr>Twinkl Cursive Looped Light</vt:lpstr>
      <vt:lpstr>XCCW Joined 4a</vt:lpstr>
      <vt:lpstr>Office Theme</vt:lpstr>
      <vt:lpstr>PowerPoint Presentation</vt:lpstr>
      <vt:lpstr>Being a Reader</vt:lpstr>
      <vt:lpstr>PowerPoint Presentation</vt:lpstr>
      <vt:lpstr>PowerPoint Presentation</vt:lpstr>
      <vt:lpstr>PowerPoint Presentation</vt:lpstr>
      <vt:lpstr>PowerPoint Presentation</vt:lpstr>
      <vt:lpstr>PowerPoint Presentation</vt:lpstr>
      <vt:lpstr>PowerPoint Presentation</vt:lpstr>
      <vt:lpstr>Being a Reader</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Helen Rea - WFA</dc:creator>
  <cp:lastModifiedBy>innes mclean</cp:lastModifiedBy>
  <cp:revision>2</cp:revision>
  <cp:lastPrinted>2024-09-12T11:50:42Z</cp:lastPrinted>
  <dcterms:created xsi:type="dcterms:W3CDTF">2024-01-22T14:53:27Z</dcterms:created>
  <dcterms:modified xsi:type="dcterms:W3CDTF">2026-05-21T16:23:28Z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0x010100AC71695694772F44B387615DF8DED97F</vt:lpwstr>
  </property>
</Properties>
</file>