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notesSlides/notesSlide3.xml" ContentType="application/vnd.openxmlformats-officedocument.presentationml.notesSlide+xml"/>
  <Override PartName="/ppt/notesSlides/notesSlide4.xml" ContentType="application/vnd.openxmlformats-officedocument.presentationml.notesSlide+xml"/>
  <Override PartName="/ppt/ink/ink2.xml" ContentType="application/inkml+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3.xml" ContentType="application/inkml+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ink/ink4.xml" ContentType="application/inkml+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7"/>
  </p:notesMasterIdLst>
  <p:sldIdLst>
    <p:sldId id="1923" r:id="rId5"/>
    <p:sldId id="1817" r:id="rId6"/>
    <p:sldId id="1884" r:id="rId7"/>
    <p:sldId id="1912" r:id="rId8"/>
    <p:sldId id="1907" r:id="rId9"/>
    <p:sldId id="1887" r:id="rId10"/>
    <p:sldId id="1800" r:id="rId11"/>
    <p:sldId id="1904" r:id="rId12"/>
    <p:sldId id="407" r:id="rId13"/>
    <p:sldId id="1799" r:id="rId14"/>
    <p:sldId id="1885" r:id="rId15"/>
    <p:sldId id="1903" r:id="rId16"/>
    <p:sldId id="1804" r:id="rId17"/>
    <p:sldId id="1902" r:id="rId18"/>
    <p:sldId id="1924" r:id="rId19"/>
    <p:sldId id="2001" r:id="rId20"/>
    <p:sldId id="2002" r:id="rId21"/>
    <p:sldId id="2003" r:id="rId22"/>
    <p:sldId id="2004" r:id="rId23"/>
    <p:sldId id="2005" r:id="rId24"/>
    <p:sldId id="2006" r:id="rId25"/>
    <p:sldId id="2007" r:id="rId26"/>
  </p:sldIdLst>
  <p:sldSz cx="12192000" cy="6858000"/>
  <p:notesSz cx="6797675"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F0"/>
    <a:srgbClr val="FFFF00"/>
    <a:srgbClr val="DEECF8"/>
    <a:srgbClr val="DFF2C0"/>
    <a:srgbClr val="FFDD99"/>
    <a:srgbClr val="A2CFFC"/>
    <a:srgbClr val="CD007A"/>
    <a:srgbClr val="FFD5EE"/>
    <a:srgbClr val="D463AF"/>
    <a:srgbClr val="FFAF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09F301-27E4-4D88-94B9-562A1BA83B82}" v="4" dt="2026-06-18T10:09:35.5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theme" Target="theme/theme1.xml"/><Relationship Id="rId8"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nnes Mclean - WFA" userId="cffa568d-066a-4903-b028-bafd937e5ea6" providerId="ADAL" clId="{BBC503F0-0109-47F6-B1DF-E0A271B1FB53}"/>
    <pc:docChg chg="modSld">
      <pc:chgData name="Innes Mclean - WFA" userId="cffa568d-066a-4903-b028-bafd937e5ea6" providerId="ADAL" clId="{BBC503F0-0109-47F6-B1DF-E0A271B1FB53}" dt="2026-06-17T16:53:33.761" v="60" actId="34476"/>
      <pc:docMkLst>
        <pc:docMk/>
      </pc:docMkLst>
      <pc:sldChg chg="modSp mod">
        <pc:chgData name="Innes Mclean - WFA" userId="cffa568d-066a-4903-b028-bafd937e5ea6" providerId="ADAL" clId="{BBC503F0-0109-47F6-B1DF-E0A271B1FB53}" dt="2026-06-17T07:09:00.364" v="59" actId="20577"/>
        <pc:sldMkLst>
          <pc:docMk/>
          <pc:sldMk cId="3172617500" sldId="1817"/>
        </pc:sldMkLst>
        <pc:spChg chg="mod">
          <ac:chgData name="Innes Mclean - WFA" userId="cffa568d-066a-4903-b028-bafd937e5ea6" providerId="ADAL" clId="{BBC503F0-0109-47F6-B1DF-E0A271B1FB53}" dt="2026-06-17T07:09:00.364" v="59" actId="20577"/>
          <ac:spMkLst>
            <pc:docMk/>
            <pc:sldMk cId="3172617500" sldId="1817"/>
            <ac:spMk id="8" creationId="{E3C356D1-4D69-6789-D9E9-77C69F82E055}"/>
          </ac:spMkLst>
        </pc:spChg>
      </pc:sldChg>
      <pc:sldChg chg="mod modShow">
        <pc:chgData name="Innes Mclean - WFA" userId="cffa568d-066a-4903-b028-bafd937e5ea6" providerId="ADAL" clId="{BBC503F0-0109-47F6-B1DF-E0A271B1FB53}" dt="2026-06-17T16:53:33.761" v="60" actId="34476"/>
        <pc:sldMkLst>
          <pc:docMk/>
          <pc:sldMk cId="3943437938" sldId="1907"/>
        </pc:sldMkLst>
      </pc:sldChg>
    </pc:docChg>
  </pc:docChgLst>
  <pc:docChgLst>
    <pc:chgData name="Leyla McLaughlin - WFA" userId="9552512a-718d-489e-b148-9b36b5caacc3" providerId="ADAL" clId="{D1980C13-80FB-456B-A29C-1A2B06B70559}"/>
    <pc:docChg chg="custSel modSld">
      <pc:chgData name="Leyla McLaughlin - WFA" userId="9552512a-718d-489e-b148-9b36b5caacc3" providerId="ADAL" clId="{D1980C13-80FB-456B-A29C-1A2B06B70559}" dt="2026-06-18T10:09:35.537" v="3" actId="27636"/>
      <pc:docMkLst>
        <pc:docMk/>
      </pc:docMkLst>
      <pc:sldChg chg="mod modShow">
        <pc:chgData name="Leyla McLaughlin - WFA" userId="9552512a-718d-489e-b148-9b36b5caacc3" providerId="ADAL" clId="{D1980C13-80FB-456B-A29C-1A2B06B70559}" dt="2026-06-17T12:11:24.660" v="1" actId="729"/>
        <pc:sldMkLst>
          <pc:docMk/>
          <pc:sldMk cId="4200216718" sldId="1884"/>
        </pc:sldMkLst>
      </pc:sldChg>
      <pc:sldChg chg="addSp modSp mod">
        <pc:chgData name="Leyla McLaughlin - WFA" userId="9552512a-718d-489e-b148-9b36b5caacc3" providerId="ADAL" clId="{D1980C13-80FB-456B-A29C-1A2B06B70559}" dt="2026-06-18T10:09:35.537" v="3" actId="27636"/>
        <pc:sldMkLst>
          <pc:docMk/>
          <pc:sldMk cId="303222904" sldId="1887"/>
        </pc:sldMkLst>
        <pc:spChg chg="mod">
          <ac:chgData name="Leyla McLaughlin - WFA" userId="9552512a-718d-489e-b148-9b36b5caacc3" providerId="ADAL" clId="{D1980C13-80FB-456B-A29C-1A2B06B70559}" dt="2026-06-18T10:09:35.537" v="3" actId="27636"/>
          <ac:spMkLst>
            <pc:docMk/>
            <pc:sldMk cId="303222904" sldId="1887"/>
            <ac:spMk id="15" creationId="{DB1CFDC9-8812-2D57-F259-9934E0E81FC7}"/>
          </ac:spMkLst>
        </pc:spChg>
        <pc:inkChg chg="add">
          <ac:chgData name="Leyla McLaughlin - WFA" userId="9552512a-718d-489e-b148-9b36b5caacc3" providerId="ADAL" clId="{D1980C13-80FB-456B-A29C-1A2B06B70559}" dt="2026-06-18T10:09:35.082" v="2"/>
          <ac:inkMkLst>
            <pc:docMk/>
            <pc:sldMk cId="303222904" sldId="1887"/>
            <ac:inkMk id="3" creationId="{3EE41BA5-6181-DB30-A716-2A581FAABB59}"/>
          </ac:inkMkLst>
        </pc:inkChg>
      </pc:sldChg>
      <pc:sldChg chg="mod modShow">
        <pc:chgData name="Leyla McLaughlin - WFA" userId="9552512a-718d-489e-b148-9b36b5caacc3" providerId="ADAL" clId="{D1980C13-80FB-456B-A29C-1A2B06B70559}" dt="2026-06-17T12:06:26.897" v="0" actId="729"/>
        <pc:sldMkLst>
          <pc:docMk/>
          <pc:sldMk cId="3943437938" sldId="1907"/>
        </pc:sldMkLst>
      </pc:sldChg>
      <pc:sldChg chg="addSp">
        <pc:chgData name="Leyla McLaughlin - WFA" userId="9552512a-718d-489e-b148-9b36b5caacc3" providerId="ADAL" clId="{D1980C13-80FB-456B-A29C-1A2B06B70559}" dt="2026-06-18T10:09:35.082" v="2"/>
        <pc:sldMkLst>
          <pc:docMk/>
          <pc:sldMk cId="4055174833" sldId="1912"/>
        </pc:sldMkLst>
        <pc:inkChg chg="add">
          <ac:chgData name="Leyla McLaughlin - WFA" userId="9552512a-718d-489e-b148-9b36b5caacc3" providerId="ADAL" clId="{D1980C13-80FB-456B-A29C-1A2B06B70559}" dt="2026-06-18T10:09:35.082" v="2"/>
          <ac:inkMkLst>
            <pc:docMk/>
            <pc:sldMk cId="4055174833" sldId="1912"/>
            <ac:inkMk id="2" creationId="{5D2C9D5F-FAFF-06A7-AD88-7690CD0EA4CC}"/>
          </ac:inkMkLst>
        </pc:inkChg>
      </pc:sldChg>
    </pc:docChg>
  </pc:docChgLst>
  <pc:docChgLst>
    <pc:chgData name="Innes Mclean - WFA" userId="cffa568d-066a-4903-b028-bafd937e5ea6" providerId="ADAL" clId="{BAFB47AA-30B1-57EF-A3A9-D4A2AD815BD7}"/>
    <pc:docChg chg="custSel addSld delSld modSld">
      <pc:chgData name="Innes Mclean - WFA" userId="cffa568d-066a-4903-b028-bafd937e5ea6" providerId="ADAL" clId="{BAFB47AA-30B1-57EF-A3A9-D4A2AD815BD7}" dt="2026-05-21T16:23:20.305" v="82" actId="1076"/>
      <pc:docMkLst>
        <pc:docMk/>
      </pc:docMkLst>
      <pc:sldChg chg="addSp modSp add mod modShow">
        <pc:chgData name="Innes Mclean - WFA" userId="cffa568d-066a-4903-b028-bafd937e5ea6" providerId="ADAL" clId="{BAFB47AA-30B1-57EF-A3A9-D4A2AD815BD7}" dt="2026-05-21T16:23:12.533" v="81" actId="1076"/>
        <pc:sldMkLst>
          <pc:docMk/>
          <pc:sldMk cId="3303693540" sldId="407"/>
        </pc:sldMkLst>
        <pc:spChg chg="mod">
          <ac:chgData name="Innes Mclean - WFA" userId="cffa568d-066a-4903-b028-bafd937e5ea6" providerId="ADAL" clId="{BAFB47AA-30B1-57EF-A3A9-D4A2AD815BD7}" dt="2026-05-21T16:22:57.742" v="60" actId="20577"/>
          <ac:spMkLst>
            <pc:docMk/>
            <pc:sldMk cId="3303693540" sldId="407"/>
            <ac:spMk id="3" creationId="{9AA1DE16-8C7B-4868-2DE3-9C9C7D7D4324}"/>
          </ac:spMkLst>
        </pc:spChg>
        <pc:spChg chg="add mod">
          <ac:chgData name="Innes Mclean - WFA" userId="cffa568d-066a-4903-b028-bafd937e5ea6" providerId="ADAL" clId="{BAFB47AA-30B1-57EF-A3A9-D4A2AD815BD7}" dt="2026-05-21T16:23:12.533" v="81" actId="1076"/>
          <ac:spMkLst>
            <pc:docMk/>
            <pc:sldMk cId="3303693540" sldId="407"/>
            <ac:spMk id="6" creationId="{2B18F8C8-4B63-E425-87CE-D13C91BCA056}"/>
          </ac:spMkLst>
        </pc:spChg>
      </pc:sldChg>
      <pc:sldChg chg="add mod modShow">
        <pc:chgData name="Innes Mclean - WFA" userId="cffa568d-066a-4903-b028-bafd937e5ea6" providerId="ADAL" clId="{BAFB47AA-30B1-57EF-A3A9-D4A2AD815BD7}" dt="2026-05-21T16:22:52.831" v="59" actId="34476"/>
        <pc:sldMkLst>
          <pc:docMk/>
          <pc:sldMk cId="2855788608" sldId="1799"/>
        </pc:sldMkLst>
      </pc:sldChg>
      <pc:sldChg chg="modSp add mod modShow">
        <pc:chgData name="Innes Mclean - WFA" userId="cffa568d-066a-4903-b028-bafd937e5ea6" providerId="ADAL" clId="{BAFB47AA-30B1-57EF-A3A9-D4A2AD815BD7}" dt="2026-05-21T16:23:20.305" v="82" actId="1076"/>
        <pc:sldMkLst>
          <pc:docMk/>
          <pc:sldMk cId="1979448493" sldId="1804"/>
        </pc:sldMkLst>
        <pc:spChg chg="mod">
          <ac:chgData name="Innes Mclean - WFA" userId="cffa568d-066a-4903-b028-bafd937e5ea6" providerId="ADAL" clId="{BAFB47AA-30B1-57EF-A3A9-D4A2AD815BD7}" dt="2026-05-21T16:23:20.305" v="82" actId="1076"/>
          <ac:spMkLst>
            <pc:docMk/>
            <pc:sldMk cId="1979448493" sldId="1804"/>
            <ac:spMk id="22" creationId="{BBE494B4-E4A1-C48A-15E2-3683EA0AD086}"/>
          </ac:spMkLst>
        </pc:spChg>
      </pc:sldChg>
      <pc:sldChg chg="modSp mod">
        <pc:chgData name="Innes Mclean - WFA" userId="cffa568d-066a-4903-b028-bafd937e5ea6" providerId="ADAL" clId="{BAFB47AA-30B1-57EF-A3A9-D4A2AD815BD7}" dt="2026-05-18T15:47:23.455" v="55" actId="20577"/>
        <pc:sldMkLst>
          <pc:docMk/>
          <pc:sldMk cId="3172617500" sldId="1817"/>
        </pc:sldMkLst>
        <pc:spChg chg="mod">
          <ac:chgData name="Innes Mclean - WFA" userId="cffa568d-066a-4903-b028-bafd937e5ea6" providerId="ADAL" clId="{BAFB47AA-30B1-57EF-A3A9-D4A2AD815BD7}" dt="2026-05-18T15:47:23.455" v="55" actId="20577"/>
          <ac:spMkLst>
            <pc:docMk/>
            <pc:sldMk cId="3172617500" sldId="1817"/>
            <ac:spMk id="6" creationId="{BB00753D-C189-01CA-44B1-B484F954D600}"/>
          </ac:spMkLst>
        </pc:spChg>
      </pc:sldChg>
      <pc:sldChg chg="add mod modShow">
        <pc:chgData name="Innes Mclean - WFA" userId="cffa568d-066a-4903-b028-bafd937e5ea6" providerId="ADAL" clId="{BAFB47AA-30B1-57EF-A3A9-D4A2AD815BD7}" dt="2026-05-21T16:22:52.831" v="59" actId="34476"/>
        <pc:sldMkLst>
          <pc:docMk/>
          <pc:sldMk cId="3287233457" sldId="1885"/>
        </pc:sldMkLst>
      </pc:sldChg>
      <pc:sldChg chg="add mod modShow">
        <pc:chgData name="Innes Mclean - WFA" userId="cffa568d-066a-4903-b028-bafd937e5ea6" providerId="ADAL" clId="{BAFB47AA-30B1-57EF-A3A9-D4A2AD815BD7}" dt="2026-05-21T16:22:52.831" v="59" actId="34476"/>
        <pc:sldMkLst>
          <pc:docMk/>
          <pc:sldMk cId="2842610468" sldId="1902"/>
        </pc:sldMkLst>
      </pc:sldChg>
      <pc:sldChg chg="add mod modShow">
        <pc:chgData name="Innes Mclean - WFA" userId="cffa568d-066a-4903-b028-bafd937e5ea6" providerId="ADAL" clId="{BAFB47AA-30B1-57EF-A3A9-D4A2AD815BD7}" dt="2026-05-21T16:22:52.831" v="59" actId="34476"/>
        <pc:sldMkLst>
          <pc:docMk/>
          <pc:sldMk cId="3934231579" sldId="1903"/>
        </pc:sldMkLst>
      </pc:sldChg>
      <pc:sldChg chg="modSp mod">
        <pc:chgData name="Innes Mclean - WFA" userId="cffa568d-066a-4903-b028-bafd937e5ea6" providerId="ADAL" clId="{BAFB47AA-30B1-57EF-A3A9-D4A2AD815BD7}" dt="2026-05-21T16:22:48.227" v="58" actId="27636"/>
        <pc:sldMkLst>
          <pc:docMk/>
          <pc:sldMk cId="4127022080" sldId="1904"/>
        </pc:sldMkLst>
        <pc:spChg chg="mod">
          <ac:chgData name="Innes Mclean - WFA" userId="cffa568d-066a-4903-b028-bafd937e5ea6" providerId="ADAL" clId="{BAFB47AA-30B1-57EF-A3A9-D4A2AD815BD7}" dt="2026-05-21T16:22:48.227" v="58" actId="27636"/>
          <ac:spMkLst>
            <pc:docMk/>
            <pc:sldMk cId="4127022080" sldId="1904"/>
            <ac:spMk id="9" creationId="{C39F0976-7660-64BA-E055-E6E60B65E8BB}"/>
          </ac:spMkLst>
        </pc:spChg>
      </pc:sldChg>
      <pc:sldChg chg="add mod modShow">
        <pc:chgData name="Innes Mclean - WFA" userId="cffa568d-066a-4903-b028-bafd937e5ea6" providerId="ADAL" clId="{BAFB47AA-30B1-57EF-A3A9-D4A2AD815BD7}" dt="2026-05-21T16:22:52.831" v="59" actId="34476"/>
        <pc:sldMkLst>
          <pc:docMk/>
          <pc:sldMk cId="2161724486" sldId="1924"/>
        </pc:sldMkLst>
      </pc:sldChg>
    </pc:docChg>
  </pc:docChgLst>
</pc:chgInfo>
</file>

<file path=ppt/ink/ink1.xml><?xml version="1.0" encoding="utf-8"?>
<inkml:ink xmlns:inkml="http://www.w3.org/2003/InkML">
  <inkml:definitions>
    <inkml:context xml:id="ctx0">
      <inkml:inkSource xml:id="inkSrc0">
        <inkml:traceFormat>
          <inkml:channel name="X" type="integer" max="26395" units="cm"/>
          <inkml:channel name="Y" type="integer" max="14847" units="cm"/>
          <inkml:channel name="T" type="integer" max="2.14748E9" units="dev"/>
        </inkml:traceFormat>
        <inkml:channelProperties>
          <inkml:channelProperty channel="X" name="resolution" value="159.99879" units="1/cm"/>
          <inkml:channelProperty channel="Y" name="resolution" value="160.00647" units="1/cm"/>
          <inkml:channelProperty channel="T" name="resolution" value="1" units="1/dev"/>
        </inkml:channelProperties>
      </inkml:inkSource>
      <inkml:timestamp xml:id="ts0" timeString="2026-06-17T14:17:08.032"/>
    </inkml:context>
    <inkml:brush xml:id="br0">
      <inkml:brushProperty name="width" value="0.05292" units="cm"/>
      <inkml:brushProperty name="height" value="0.05292" units="cm"/>
      <inkml:brushProperty name="color" value="#FF0000"/>
    </inkml:brush>
  </inkml:definitions>
  <inkml:trace contextRef="#ctx0" brushRef="#br0">27613 12065 0,'0'0'16</inkml:trace>
  <inkml:trace contextRef="#ctx0" brushRef="#br0" timeOffset="459.63">27947 12073 0,'0'0'0,"7"-7"0,-7 7 0,8-4 0,0-1 16,-1 0-16,0 1 16,0 2-16,-1 0 15,0 4 1,-1 0-16,0 2 0,0 1 0,-1 2 15,1 0-15,-1 0 0,1 0 16,-2 0-16,1 1 16,-2-1-16,1 1 15,-2-2-15,1 2 0,-1-2 16,-1 1 0,-1-2-16,1 1 0,-3 0 15,2 0-15,-2 0 0,2 1 16,0-1-16,-1 1 15,2-7-15,0 0 0</inkml:trace>
  <inkml:trace contextRef="#ctx0" brushRef="#br0" timeOffset="903.53">28040 12264 0,'0'0'0,"0"0"0,0 0 0,0 0 0,0 0 0,0 0 0,4-11 15,-1 4-15,-2 0 0,0 4 32,2-1-32,-1 2 15,0 1-15,0 1 0,-1 0 16,1 3-16,-1-2 15,0 3-15,1 1 16,-1 0-16,0 1 0,0 1 16,1-2-16,-1 1 15,-1 0-15,1-3 16,-1 1-16,0 0 0,0-1 16,0-1-16,0 0 15,0-1-15,0 0 16,0-1-16,0-1 0,0 1 15,2-3-15,-2 2 16,0 0-16,1-2 0,-1-1 16,0 2-16,0-2 15,0 3-15,0-2 16,1 2-16,-1 1 0,1 0 16,1 1-16,-2-1 15</inkml:trace>
</inkml:ink>
</file>

<file path=ppt/ink/ink2.xml><?xml version="1.0" encoding="utf-8"?>
<inkml:ink xmlns:inkml="http://www.w3.org/2003/InkML">
  <inkml:definitions>
    <inkml:context xml:id="ctx0">
      <inkml:inkSource xml:id="inkSrc0">
        <inkml:traceFormat>
          <inkml:channel name="X" type="integer" max="26395" units="cm"/>
          <inkml:channel name="Y" type="integer" max="14847" units="cm"/>
          <inkml:channel name="T" type="integer" max="2.14748E9" units="dev"/>
        </inkml:traceFormat>
        <inkml:channelProperties>
          <inkml:channelProperty channel="X" name="resolution" value="159.99879" units="1/cm"/>
          <inkml:channelProperty channel="Y" name="resolution" value="160.00647" units="1/cm"/>
          <inkml:channelProperty channel="T" name="resolution" value="1" units="1/dev"/>
        </inkml:channelProperties>
      </inkml:inkSource>
      <inkml:timestamp xml:id="ts0" timeString="2026-06-18T10:09:35.080"/>
    </inkml:context>
    <inkml:brush xml:id="br0">
      <inkml:brushProperty name="width" value="0.05292" units="cm"/>
      <inkml:brushProperty name="height" value="0.05292" units="cm"/>
      <inkml:brushProperty name="color" value="#FF0000"/>
    </inkml:brush>
  </inkml:definitions>
  <inkml:trace contextRef="#ctx0" brushRef="#br0">6941 17698 0,'-27'-13'0,"-41"-23"0,-2-3 16,7 0-16,13 4 15,15 11-15,1 2 0,-2 0 16,-7-2-16,-22-14 16,-8-7-16,-5-5 0,78 50 15,0 0-15,0 0 16,0 0-16</inkml:trace>
  <inkml:trace contextRef="#ctx0" brushRef="#br0" timeOffset="1">7455 15835 0,'-4'1'0,"4"-1"15</inkml:trace>
  <inkml:trace contextRef="#ctx0" brushRef="#br0" timeOffset="2">5026 16764 0,'-5'2'0</inkml:trace>
  <inkml:trace contextRef="#ctx0" brushRef="#br0" timeOffset="3">6999 13547 0,'0'0'0,"0"0"0,0 0 0,0 0 0,0 0 31,-11-3-31,0 2 0,11 1 16,0 0-16,0 0 16,0 0-16,0 0 15</inkml:trace>
  <inkml:trace contextRef="#ctx0" brushRef="#br0" timeOffset="4">11867 13297 0,'0'0'16,"-4"-5"-16,-6-6 16,-7-4-16,-6-7 0,3 4 15,2 5-15,0 8 16,5 0-16,3 2 15,3 3-15,3-1 0,2 2 16,2-1-16,2 3 16,1 0-16,0 0 0,2 3 15,0 0-15,-1-2 16,-4-4-16,0 0 16</inkml:trace>
</inkml:ink>
</file>

<file path=ppt/ink/ink3.xml><?xml version="1.0" encoding="utf-8"?>
<inkml:ink xmlns:inkml="http://www.w3.org/2003/InkML">
  <inkml:definitions>
    <inkml:context xml:id="ctx0">
      <inkml:inkSource xml:id="inkSrc0">
        <inkml:traceFormat>
          <inkml:channel name="X" type="integer" max="26395" units="cm"/>
          <inkml:channel name="Y" type="integer" max="14847" units="cm"/>
          <inkml:channel name="T" type="integer" max="2.14748E9" units="dev"/>
        </inkml:traceFormat>
        <inkml:channelProperties>
          <inkml:channelProperty channel="X" name="resolution" value="159.99879" units="1/cm"/>
          <inkml:channelProperty channel="Y" name="resolution" value="160.00647" units="1/cm"/>
          <inkml:channelProperty channel="T" name="resolution" value="1" units="1/dev"/>
        </inkml:channelProperties>
      </inkml:inkSource>
      <inkml:timestamp xml:id="ts0" timeString="2025-09-17T12:45:34.864"/>
    </inkml:context>
    <inkml:brush xml:id="br0">
      <inkml:brushProperty name="width" value="0.05292" units="cm"/>
      <inkml:brushProperty name="height" value="0.05292" units="cm"/>
      <inkml:brushProperty name="color" value="#FF0000"/>
    </inkml:brush>
  </inkml:definitions>
  <inkml:trace contextRef="#ctx0" brushRef="#br0">27383 10603 0,'0'0'0</inkml:trace>
</inkml:ink>
</file>

<file path=ppt/ink/ink4.xml><?xml version="1.0" encoding="utf-8"?>
<inkml:ink xmlns:inkml="http://www.w3.org/2003/InkML">
  <inkml:definitions>
    <inkml:context xml:id="ctx0">
      <inkml:inkSource xml:id="inkSrc0">
        <inkml:traceFormat>
          <inkml:channel name="X" type="integer" max="26395" units="cm"/>
          <inkml:channel name="Y" type="integer" max="14847" units="cm"/>
          <inkml:channel name="T" type="integer" max="2.14748E9" units="dev"/>
        </inkml:traceFormat>
        <inkml:channelProperties>
          <inkml:channelProperty channel="X" name="resolution" value="159.99879" units="1/cm"/>
          <inkml:channelProperty channel="Y" name="resolution" value="160.00647" units="1/cm"/>
          <inkml:channelProperty channel="T" name="resolution" value="1" units="1/dev"/>
        </inkml:channelProperties>
      </inkml:inkSource>
      <inkml:timestamp xml:id="ts0" timeString="2025-09-17T12:45:34.864"/>
    </inkml:context>
    <inkml:brush xml:id="br0">
      <inkml:brushProperty name="width" value="0.05292" units="cm"/>
      <inkml:brushProperty name="height" value="0.05292" units="cm"/>
      <inkml:brushProperty name="color" value="#FF0000"/>
    </inkml:brush>
  </inkml:definitions>
  <inkml:trace contextRef="#ctx0" brushRef="#br0">27383 10603 0,'0'0'0</inkml:trace>
</inkml:ink>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D225DB60-C16B-446D-B5DB-6D7125925E95}" type="datetimeFigureOut">
              <a:rPr lang="en-GB" smtClean="0"/>
              <a:t>18/06/2026</a:t>
            </a:fld>
            <a:endParaRPr lang="en-GB"/>
          </a:p>
        </p:txBody>
      </p:sp>
      <p:sp>
        <p:nvSpPr>
          <p:cNvPr id="4" name="Slide Image Placeholder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B7E8E8B9-ADA3-45E0-8420-BE5E8FCCF1F7}" type="slidenum">
              <a:rPr lang="en-GB" smtClean="0"/>
              <a:t>‹#›</a:t>
            </a:fld>
            <a:endParaRPr lang="en-GB"/>
          </a:p>
        </p:txBody>
      </p:sp>
    </p:spTree>
    <p:extLst>
      <p:ext uri="{BB962C8B-B14F-4D97-AF65-F5344CB8AC3E}">
        <p14:creationId xmlns:p14="http://schemas.microsoft.com/office/powerpoint/2010/main" val="8571382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11416-2BF0-1BF0-993C-D7EDF44CE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CAD52C-A15F-345E-DEC9-153A113F16DD}"/>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3F11A5D-2009-B729-C92B-9C76C84A13B9}"/>
              </a:ext>
            </a:extLst>
          </p:cNvPr>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a:extLst>
              <a:ext uri="{FF2B5EF4-FFF2-40B4-BE49-F238E27FC236}">
                <a16:creationId xmlns:a16="http://schemas.microsoft.com/office/drawing/2014/main" id="{19A8A58E-928C-8E71-2814-F5DCBF204BB4}"/>
              </a:ext>
            </a:extLst>
          </p:cNvPr>
          <p:cNvSpPr>
            <a:spLocks noGrp="1"/>
          </p:cNvSpPr>
          <p:nvPr>
            <p:ph type="sldNum" sz="quarter" idx="5"/>
          </p:nvPr>
        </p:nvSpPr>
        <p:spPr/>
        <p:txBody>
          <a:bodyPr/>
          <a:lstStyle/>
          <a:p>
            <a:fld id="{B7E8E8B9-ADA3-45E0-8420-BE5E8FCCF1F7}" type="slidenum">
              <a:rPr lang="en-GB" smtClean="0"/>
              <a:t>3</a:t>
            </a:fld>
            <a:endParaRPr lang="en-GB"/>
          </a:p>
        </p:txBody>
      </p:sp>
    </p:spTree>
    <p:extLst>
      <p:ext uri="{BB962C8B-B14F-4D97-AF65-F5344CB8AC3E}">
        <p14:creationId xmlns:p14="http://schemas.microsoft.com/office/powerpoint/2010/main" val="32935852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93071-2F46-9644-A2D0-B7A516A87A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6F26A4-4C33-FD41-8664-9FFE0D68577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023575B-F319-685A-F4EB-043ABE52686C}"/>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86D2E282-AD31-3D4D-FFE7-ECB14224B778}"/>
              </a:ext>
            </a:extLst>
          </p:cNvPr>
          <p:cNvSpPr>
            <a:spLocks noGrp="1"/>
          </p:cNvSpPr>
          <p:nvPr>
            <p:ph type="sldNum" sz="quarter" idx="5"/>
          </p:nvPr>
        </p:nvSpPr>
        <p:spPr/>
        <p:txBody>
          <a:bodyPr/>
          <a:lstStyle/>
          <a:p>
            <a:fld id="{B7E8E8B9-ADA3-45E0-8420-BE5E8FCCF1F7}" type="slidenum">
              <a:rPr lang="en-GB" smtClean="0"/>
              <a:t>4</a:t>
            </a:fld>
            <a:endParaRPr lang="en-GB"/>
          </a:p>
        </p:txBody>
      </p:sp>
    </p:spTree>
    <p:extLst>
      <p:ext uri="{BB962C8B-B14F-4D97-AF65-F5344CB8AC3E}">
        <p14:creationId xmlns:p14="http://schemas.microsoft.com/office/powerpoint/2010/main" val="23042133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9E6B0-A6BD-A747-E971-48B8368E97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60842B-70A3-6A87-DE71-DC5CDBBC8C2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84E4DBC-5075-4DA5-C90B-BB7261D97387}"/>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90E457-613E-E4B9-F2D4-8EB91F55A8B1}"/>
              </a:ext>
            </a:extLst>
          </p:cNvPr>
          <p:cNvSpPr>
            <a:spLocks noGrp="1"/>
          </p:cNvSpPr>
          <p:nvPr>
            <p:ph type="sldNum" sz="quarter" idx="5"/>
          </p:nvPr>
        </p:nvSpPr>
        <p:spPr/>
        <p:txBody>
          <a:bodyPr/>
          <a:lstStyle/>
          <a:p>
            <a:fld id="{B7E8E8B9-ADA3-45E0-8420-BE5E8FCCF1F7}" type="slidenum">
              <a:rPr lang="en-GB" smtClean="0"/>
              <a:t>5</a:t>
            </a:fld>
            <a:endParaRPr lang="en-GB"/>
          </a:p>
        </p:txBody>
      </p:sp>
    </p:spTree>
    <p:extLst>
      <p:ext uri="{BB962C8B-B14F-4D97-AF65-F5344CB8AC3E}">
        <p14:creationId xmlns:p14="http://schemas.microsoft.com/office/powerpoint/2010/main" val="7320701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BE0DF-E15F-5B7F-F1A7-97D7767E08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CDCBFC-DD36-F38E-02CE-18E5BFA080A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DCBA88D1-8153-ACA0-4EC1-0560A2F1293A}"/>
              </a:ext>
            </a:extLst>
          </p:cNvPr>
          <p:cNvSpPr>
            <a:spLocks noGrp="1"/>
          </p:cNvSpPr>
          <p:nvPr>
            <p:ph type="body" idx="1"/>
          </p:nvPr>
        </p:nvSpPr>
        <p:spPr/>
        <p:txBody>
          <a:bodyPr/>
          <a:lstStyle/>
          <a:p>
            <a:r>
              <a:rPr lang="en-GB"/>
              <a:t>OH ES &amp; KW reading phonically decodable version with TP</a:t>
            </a:r>
          </a:p>
        </p:txBody>
      </p:sp>
      <p:sp>
        <p:nvSpPr>
          <p:cNvPr id="4" name="Slide Number Placeholder 3">
            <a:extLst>
              <a:ext uri="{FF2B5EF4-FFF2-40B4-BE49-F238E27FC236}">
                <a16:creationId xmlns:a16="http://schemas.microsoft.com/office/drawing/2014/main" id="{AEDBB03C-83C0-8406-0E5B-977918F0DAB0}"/>
              </a:ext>
            </a:extLst>
          </p:cNvPr>
          <p:cNvSpPr>
            <a:spLocks noGrp="1"/>
          </p:cNvSpPr>
          <p:nvPr>
            <p:ph type="sldNum" sz="quarter" idx="5"/>
          </p:nvPr>
        </p:nvSpPr>
        <p:spPr/>
        <p:txBody>
          <a:bodyPr/>
          <a:lstStyle/>
          <a:p>
            <a:fld id="{B7E8E8B9-ADA3-45E0-8420-BE5E8FCCF1F7}" type="slidenum">
              <a:rPr lang="en-GB" smtClean="0"/>
              <a:t>6</a:t>
            </a:fld>
            <a:endParaRPr lang="en-GB"/>
          </a:p>
        </p:txBody>
      </p:sp>
    </p:spTree>
    <p:extLst>
      <p:ext uri="{BB962C8B-B14F-4D97-AF65-F5344CB8AC3E}">
        <p14:creationId xmlns:p14="http://schemas.microsoft.com/office/powerpoint/2010/main" val="40126006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9</a:t>
            </a:fld>
            <a:endParaRPr lang="en-GB"/>
          </a:p>
        </p:txBody>
      </p:sp>
    </p:spTree>
    <p:extLst>
      <p:ext uri="{BB962C8B-B14F-4D97-AF65-F5344CB8AC3E}">
        <p14:creationId xmlns:p14="http://schemas.microsoft.com/office/powerpoint/2010/main" val="19110069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10</a:t>
            </a:fld>
            <a:endParaRPr lang="en-GB"/>
          </a:p>
        </p:txBody>
      </p:sp>
    </p:spTree>
    <p:extLst>
      <p:ext uri="{BB962C8B-B14F-4D97-AF65-F5344CB8AC3E}">
        <p14:creationId xmlns:p14="http://schemas.microsoft.com/office/powerpoint/2010/main" val="36244987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990C4-3F63-5CE3-40C0-37C3972A60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53583-2126-636C-06E9-AC409DB6976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094D933-7CA1-A8E0-3C7B-D224B6723271}"/>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CBF62738-39F3-90E4-2B16-74770B32C315}"/>
              </a:ext>
            </a:extLst>
          </p:cNvPr>
          <p:cNvSpPr>
            <a:spLocks noGrp="1"/>
          </p:cNvSpPr>
          <p:nvPr>
            <p:ph type="sldNum" sz="quarter" idx="5"/>
          </p:nvPr>
        </p:nvSpPr>
        <p:spPr/>
        <p:txBody>
          <a:bodyPr/>
          <a:lstStyle/>
          <a:p>
            <a:fld id="{B7E8E8B9-ADA3-45E0-8420-BE5E8FCCF1F7}" type="slidenum">
              <a:rPr lang="en-GB" smtClean="0"/>
              <a:t>11</a:t>
            </a:fld>
            <a:endParaRPr lang="en-GB"/>
          </a:p>
        </p:txBody>
      </p:sp>
    </p:spTree>
    <p:extLst>
      <p:ext uri="{BB962C8B-B14F-4D97-AF65-F5344CB8AC3E}">
        <p14:creationId xmlns:p14="http://schemas.microsoft.com/office/powerpoint/2010/main" val="24800050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91006-C5AD-CE9A-768D-97FEB0FA18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2B318E-FA05-39EA-68AF-6B9E723A00D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CAEEA19-065F-0F91-7D7E-3BF88230403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651696-B6F4-AA2A-3057-6BD30C08333F}"/>
              </a:ext>
            </a:extLst>
          </p:cNvPr>
          <p:cNvSpPr>
            <a:spLocks noGrp="1"/>
          </p:cNvSpPr>
          <p:nvPr>
            <p:ph type="sldNum" sz="quarter" idx="5"/>
          </p:nvPr>
        </p:nvSpPr>
        <p:spPr/>
        <p:txBody>
          <a:bodyPr/>
          <a:lstStyle/>
          <a:p>
            <a:fld id="{B7E8E8B9-ADA3-45E0-8420-BE5E8FCCF1F7}" type="slidenum">
              <a:rPr lang="en-GB" smtClean="0"/>
              <a:t>12</a:t>
            </a:fld>
            <a:endParaRPr lang="en-GB"/>
          </a:p>
        </p:txBody>
      </p:sp>
    </p:spTree>
    <p:extLst>
      <p:ext uri="{BB962C8B-B14F-4D97-AF65-F5344CB8AC3E}">
        <p14:creationId xmlns:p14="http://schemas.microsoft.com/office/powerpoint/2010/main" val="18949657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OH ES &amp; KW reading phonically decodable version with TP</a:t>
            </a:r>
          </a:p>
        </p:txBody>
      </p:sp>
      <p:sp>
        <p:nvSpPr>
          <p:cNvPr id="4" name="Slide Number Placeholder 3"/>
          <p:cNvSpPr>
            <a:spLocks noGrp="1"/>
          </p:cNvSpPr>
          <p:nvPr>
            <p:ph type="sldNum" sz="quarter" idx="5"/>
          </p:nvPr>
        </p:nvSpPr>
        <p:spPr/>
        <p:txBody>
          <a:bodyPr/>
          <a:lstStyle/>
          <a:p>
            <a:fld id="{B7E8E8B9-ADA3-45E0-8420-BE5E8FCCF1F7}" type="slidenum">
              <a:rPr lang="en-GB" smtClean="0"/>
              <a:t>13</a:t>
            </a:fld>
            <a:endParaRPr lang="en-GB"/>
          </a:p>
        </p:txBody>
      </p:sp>
    </p:spTree>
    <p:extLst>
      <p:ext uri="{BB962C8B-B14F-4D97-AF65-F5344CB8AC3E}">
        <p14:creationId xmlns:p14="http://schemas.microsoft.com/office/powerpoint/2010/main" val="26816728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16</a:t>
            </a:fld>
            <a:endParaRPr lang="en-GB"/>
          </a:p>
        </p:txBody>
      </p:sp>
    </p:spTree>
    <p:extLst>
      <p:ext uri="{BB962C8B-B14F-4D97-AF65-F5344CB8AC3E}">
        <p14:creationId xmlns:p14="http://schemas.microsoft.com/office/powerpoint/2010/main" val="19110069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17</a:t>
            </a:fld>
            <a:endParaRPr lang="en-GB"/>
          </a:p>
        </p:txBody>
      </p:sp>
    </p:spTree>
    <p:extLst>
      <p:ext uri="{BB962C8B-B14F-4D97-AF65-F5344CB8AC3E}">
        <p14:creationId xmlns:p14="http://schemas.microsoft.com/office/powerpoint/2010/main" val="36244987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990C4-3F63-5CE3-40C0-37C3972A60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53583-2126-636C-06E9-AC409DB6976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094D933-7CA1-A8E0-3C7B-D224B6723271}"/>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CBF62738-39F3-90E4-2B16-74770B32C315}"/>
              </a:ext>
            </a:extLst>
          </p:cNvPr>
          <p:cNvSpPr>
            <a:spLocks noGrp="1"/>
          </p:cNvSpPr>
          <p:nvPr>
            <p:ph type="sldNum" sz="quarter" idx="5"/>
          </p:nvPr>
        </p:nvSpPr>
        <p:spPr/>
        <p:txBody>
          <a:bodyPr/>
          <a:lstStyle/>
          <a:p>
            <a:fld id="{B7E8E8B9-ADA3-45E0-8420-BE5E8FCCF1F7}" type="slidenum">
              <a:rPr lang="en-GB" smtClean="0"/>
              <a:t>18</a:t>
            </a:fld>
            <a:endParaRPr lang="en-GB"/>
          </a:p>
        </p:txBody>
      </p:sp>
    </p:spTree>
    <p:extLst>
      <p:ext uri="{BB962C8B-B14F-4D97-AF65-F5344CB8AC3E}">
        <p14:creationId xmlns:p14="http://schemas.microsoft.com/office/powerpoint/2010/main" val="24800050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91006-C5AD-CE9A-768D-97FEB0FA18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2B318E-FA05-39EA-68AF-6B9E723A00D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CAEEA19-065F-0F91-7D7E-3BF88230403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651696-B6F4-AA2A-3057-6BD30C08333F}"/>
              </a:ext>
            </a:extLst>
          </p:cNvPr>
          <p:cNvSpPr>
            <a:spLocks noGrp="1"/>
          </p:cNvSpPr>
          <p:nvPr>
            <p:ph type="sldNum" sz="quarter" idx="5"/>
          </p:nvPr>
        </p:nvSpPr>
        <p:spPr/>
        <p:txBody>
          <a:bodyPr/>
          <a:lstStyle/>
          <a:p>
            <a:fld id="{B7E8E8B9-ADA3-45E0-8420-BE5E8FCCF1F7}" type="slidenum">
              <a:rPr lang="en-GB" smtClean="0"/>
              <a:t>19</a:t>
            </a:fld>
            <a:endParaRPr lang="en-GB"/>
          </a:p>
        </p:txBody>
      </p:sp>
    </p:spTree>
    <p:extLst>
      <p:ext uri="{BB962C8B-B14F-4D97-AF65-F5344CB8AC3E}">
        <p14:creationId xmlns:p14="http://schemas.microsoft.com/office/powerpoint/2010/main" val="18949657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OH ES &amp; KW reading phonically decodable version with TP</a:t>
            </a:r>
          </a:p>
        </p:txBody>
      </p:sp>
      <p:sp>
        <p:nvSpPr>
          <p:cNvPr id="4" name="Slide Number Placeholder 3"/>
          <p:cNvSpPr>
            <a:spLocks noGrp="1"/>
          </p:cNvSpPr>
          <p:nvPr>
            <p:ph type="sldNum" sz="quarter" idx="5"/>
          </p:nvPr>
        </p:nvSpPr>
        <p:spPr/>
        <p:txBody>
          <a:bodyPr/>
          <a:lstStyle/>
          <a:p>
            <a:fld id="{B7E8E8B9-ADA3-45E0-8420-BE5E8FCCF1F7}" type="slidenum">
              <a:rPr lang="en-GB" smtClean="0"/>
              <a:t>20</a:t>
            </a:fld>
            <a:endParaRPr lang="en-GB"/>
          </a:p>
        </p:txBody>
      </p:sp>
    </p:spTree>
    <p:extLst>
      <p:ext uri="{BB962C8B-B14F-4D97-AF65-F5344CB8AC3E}">
        <p14:creationId xmlns:p14="http://schemas.microsoft.com/office/powerpoint/2010/main" val="26816728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21</a:t>
            </a:fld>
            <a:endParaRPr lang="en-GB"/>
          </a:p>
        </p:txBody>
      </p:sp>
    </p:spTree>
    <p:extLst>
      <p:ext uri="{BB962C8B-B14F-4D97-AF65-F5344CB8AC3E}">
        <p14:creationId xmlns:p14="http://schemas.microsoft.com/office/powerpoint/2010/main" val="19110069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22</a:t>
            </a:fld>
            <a:endParaRPr lang="en-GB"/>
          </a:p>
        </p:txBody>
      </p:sp>
    </p:spTree>
    <p:extLst>
      <p:ext uri="{BB962C8B-B14F-4D97-AF65-F5344CB8AC3E}">
        <p14:creationId xmlns:p14="http://schemas.microsoft.com/office/powerpoint/2010/main" val="3624498783"/>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65A21D-2FCA-5103-944C-97A33EAB499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4E451915-D313-134F-3B39-E2202692B0C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0492851-C45E-2C62-1686-35F05261BF4A}"/>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5" name="Footer Placeholder 4">
            <a:extLst>
              <a:ext uri="{FF2B5EF4-FFF2-40B4-BE49-F238E27FC236}">
                <a16:creationId xmlns:a16="http://schemas.microsoft.com/office/drawing/2014/main" id="{5565C8CD-ED83-6186-0E09-D60B801105B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01FC3CD-1629-3981-C514-EA809A6DA1BC}"/>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173673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BF554-C9DF-1E20-73BD-9BEBF65F853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C7DEC16-6EFE-8F98-D786-F7FA33F73D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0F50926-EAE1-8CBC-B944-95606793B845}"/>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5" name="Footer Placeholder 4">
            <a:extLst>
              <a:ext uri="{FF2B5EF4-FFF2-40B4-BE49-F238E27FC236}">
                <a16:creationId xmlns:a16="http://schemas.microsoft.com/office/drawing/2014/main" id="{80EDD0ED-4188-0860-8E6D-81E93458E37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AAE27D8-31F7-1112-ED89-AD6BFC9E0107}"/>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4887929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5DCD8-D0E7-C7D8-C221-D51F0B68147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B84F57CA-859A-366E-BD81-B51EB9F3F1B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816810-0B04-441A-BDC2-5334A4ED6B8F}"/>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5" name="Footer Placeholder 4">
            <a:extLst>
              <a:ext uri="{FF2B5EF4-FFF2-40B4-BE49-F238E27FC236}">
                <a16:creationId xmlns:a16="http://schemas.microsoft.com/office/drawing/2014/main" id="{967743A6-7DF3-3A54-9EA1-0818278D5BF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C0B308D-ED7A-41CA-CE45-BFD4B52EE3FF}"/>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5695795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6C61B-06CA-A5BD-FF28-522B3C1C5EC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56A4604E-C7F9-DE00-FC0E-9D0430CBD17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02FC8481-8445-D097-8868-FEBEF363086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7EAA810B-D0B6-055B-A7B2-A91D9312431E}"/>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6" name="Footer Placeholder 5">
            <a:extLst>
              <a:ext uri="{FF2B5EF4-FFF2-40B4-BE49-F238E27FC236}">
                <a16:creationId xmlns:a16="http://schemas.microsoft.com/office/drawing/2014/main" id="{A3AD80D6-ABB1-0B43-2EF6-728A9BF7FFB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A1F566E-8C59-14B0-1B4A-013D19195555}"/>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13112049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FD8B9-6D91-0488-0B6B-D8925368CB77}"/>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93EC770-FFE0-0BCE-D25B-ED842005CA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0ACAE04-0440-4429-84C8-7BB448E0612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79013C1A-78C5-C6A1-01F4-1F918414BE2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D5F05FB-98EA-3A71-20AF-C01DB3BD785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3A7D365-8161-72FD-ABB1-1B60E1F31FF2}"/>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8" name="Footer Placeholder 7">
            <a:extLst>
              <a:ext uri="{FF2B5EF4-FFF2-40B4-BE49-F238E27FC236}">
                <a16:creationId xmlns:a16="http://schemas.microsoft.com/office/drawing/2014/main" id="{DD4C5E40-7DE8-3AB1-5251-3786AB7A8391}"/>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328ECA8F-EE24-6FAE-06B6-EAB0AA8C8997}"/>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1178559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21966A-38F6-03A2-7850-CBC3564D366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2AC653EE-AB8C-20D9-EBAD-D2C658811A8D}"/>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4" name="Footer Placeholder 3">
            <a:extLst>
              <a:ext uri="{FF2B5EF4-FFF2-40B4-BE49-F238E27FC236}">
                <a16:creationId xmlns:a16="http://schemas.microsoft.com/office/drawing/2014/main" id="{4B8671EA-7A81-2488-CC64-F7AA1FA5BC52}"/>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1D3FA76E-F712-5B71-1F05-B2754EBC1D19}"/>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2179631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7460A9-9D13-270B-29A4-50F492C07A7C}"/>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3" name="Footer Placeholder 2">
            <a:extLst>
              <a:ext uri="{FF2B5EF4-FFF2-40B4-BE49-F238E27FC236}">
                <a16:creationId xmlns:a16="http://schemas.microsoft.com/office/drawing/2014/main" id="{3A1BD67B-379B-C75C-2673-E3D7E240730B}"/>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C727B918-0F9C-09A3-037D-B8A188A3028B}"/>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755542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DC67F-FB8D-658E-598C-C851430A8DE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BFDB75E-8915-32DA-B58D-D893D674504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52C66A0-5168-1295-9EEA-6F4269952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C462D3-A952-91CB-DCE0-30ED606AE43C}"/>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6" name="Footer Placeholder 5">
            <a:extLst>
              <a:ext uri="{FF2B5EF4-FFF2-40B4-BE49-F238E27FC236}">
                <a16:creationId xmlns:a16="http://schemas.microsoft.com/office/drawing/2014/main" id="{7AECD06D-C0FC-9664-2ACD-9DF3C518ABE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4F2D1BB-BAD7-3C27-EF7C-8769CDC6FC62}"/>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3498460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E3220F-DE75-7293-BA54-A820732EB02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5A7D88C-152E-EE3F-9132-C786827FA58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4B973C0-9031-5A51-8DC0-CD8C2DBD6F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EC7FE28-2AB1-A1AE-1DC1-2891CD211974}"/>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6" name="Footer Placeholder 5">
            <a:extLst>
              <a:ext uri="{FF2B5EF4-FFF2-40B4-BE49-F238E27FC236}">
                <a16:creationId xmlns:a16="http://schemas.microsoft.com/office/drawing/2014/main" id="{4CFC7DF7-EE0C-A96A-0A71-4A20704DA62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3F354D7-FA08-FBD4-1D6D-7C0D0115C50D}"/>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3649426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6DE38-C159-DD3F-3419-061EC2706C5B}"/>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E4A78D7-9DB6-9FE7-D6A5-0D8C5113970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838ECF6-30BD-892C-0F30-CDFA8424ACF6}"/>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5" name="Footer Placeholder 4">
            <a:extLst>
              <a:ext uri="{FF2B5EF4-FFF2-40B4-BE49-F238E27FC236}">
                <a16:creationId xmlns:a16="http://schemas.microsoft.com/office/drawing/2014/main" id="{A79E0C5A-96D4-3102-5A52-240B1FD840F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C3AA66-3D0D-0085-C81D-088B396324C7}"/>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19533953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C868FC3-86B3-8BF7-3C43-D7286B46EAF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BDEA911C-6657-35D6-8679-F5861CAE8D1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07097C1-61F4-5117-4F0F-D1B0C168769E}"/>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5" name="Footer Placeholder 4">
            <a:extLst>
              <a:ext uri="{FF2B5EF4-FFF2-40B4-BE49-F238E27FC236}">
                <a16:creationId xmlns:a16="http://schemas.microsoft.com/office/drawing/2014/main" id="{B2F7DD80-E551-6693-517F-57C80BD89A7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FC51674-A2E1-4818-8900-91FBB812AB3E}"/>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747567405"/>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45C16C3-8E98-21FD-43ED-3AA697B77AE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9AA3022-3424-75B4-F2EC-7CEB8FA07C5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EC25384-14A1-0395-EDE6-D2A60BCE49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B72D5E0-039A-4068-97A9-A3C4BF080BAA}" type="datetimeFigureOut">
              <a:rPr lang="en-GB" smtClean="0"/>
              <a:t>18/06/2026</a:t>
            </a:fld>
            <a:endParaRPr lang="en-GB"/>
          </a:p>
        </p:txBody>
      </p:sp>
      <p:sp>
        <p:nvSpPr>
          <p:cNvPr id="5" name="Footer Placeholder 4">
            <a:extLst>
              <a:ext uri="{FF2B5EF4-FFF2-40B4-BE49-F238E27FC236}">
                <a16:creationId xmlns:a16="http://schemas.microsoft.com/office/drawing/2014/main" id="{09290F1D-4E4C-69C6-26A7-CE1716791C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B634093-083B-3EA6-BBB8-95BE7409B0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AD7094B-D2BC-452F-93E3-9C4A8FC9449E}" type="slidenum">
              <a:rPr lang="en-GB" smtClean="0"/>
              <a:t>‹#›</a:t>
            </a:fld>
            <a:endParaRPr lang="en-GB"/>
          </a:p>
        </p:txBody>
      </p:sp>
    </p:spTree>
    <p:extLst>
      <p:ext uri="{BB962C8B-B14F-4D97-AF65-F5344CB8AC3E}">
        <p14:creationId xmlns:p14="http://schemas.microsoft.com/office/powerpoint/2010/main" val="6997227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microsoft.com/office/2007/relationships/hdphoto" Target="../media/hdphoto1.wdp"/></Relationships>
</file>

<file path=ppt/slides/_rels/slide3.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microsoft.com/office/2007/relationships/hdphoto" Target="../media/hdphoto2.wdp"/></Relationships>
</file>

<file path=ppt/slides/_rels/slide4.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customXml" Target="../ink/ink1.xml"/></Relationships>
</file>

<file path=ppt/slides/_rels/slide5.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6.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customXml" Target="../ink/ink2.xml"/><Relationship Id="rId4" Type="http://schemas.openxmlformats.org/officeDocument/2006/relationships/image" Target="../media/image11.png"/></Relationships>
</file>

<file path=ppt/slides/_rels/slide7.xml.rels><?xml version="1.0" encoding="UTF-8"?><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9.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microsoft.com/office/2007/relationships/hdphoto" Target="../media/hdphoto1.wdp"/><Relationship Id="rId4" Type="http://schemas.openxmlformats.org/officeDocument/2006/relationships/image" Target="../media/image3.png"/></Relationships>
</file>

<file path=ppt/slides/_rels/slide10.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microsoft.com/office/2007/relationships/hdphoto" Target="../media/hdphoto2.wdp"/></Relationships>
</file>

<file path=ppt/slides/_rels/slide11.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customXml" Target="../ink/ink3.xml"/></Relationships>
</file>

<file path=ppt/slides/_rels/slide12.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13.xml.rels><?xml version="1.0" encoding="UTF-8"?><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4.xml.rels><?xml version="1.0" encoding="UTF-8"?><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microsoft.com/office/2007/relationships/hdphoto" Target="../media/hdphoto1.wdp"/><Relationship Id="rId4" Type="http://schemas.openxmlformats.org/officeDocument/2006/relationships/image" Target="../media/image3.png"/></Relationships>
</file>

<file path=ppt/slides/_rels/slide17.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microsoft.com/office/2007/relationships/hdphoto" Target="../media/hdphoto2.wdp"/></Relationships>
</file>

<file path=ppt/slides/_rels/slide18.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customXml" Target="../ink/ink4.xml"/></Relationships>
</file>

<file path=ppt/slides/_rels/slide19.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20.xml.rels><?xml version="1.0" encoding="UTF-8"?><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1.xml.rels><?xml version="1.0" encoding="UTF-8"?><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descr="A white grid with black text  Description automatically generated">
            <a:extLst>
              <a:ext uri="{FF2B5EF4-FFF2-40B4-BE49-F238E27FC236}">
                <a16:creationId xmlns:a16="http://schemas.microsoft.com/office/drawing/2014/main" id="{1B42834E-5B1E-8CE4-BEEE-8784E10AE2DF}"/>
              </a:ext>
            </a:extLst>
          </p:cNvPr>
          <p:cNvPicPr>
            <a:picLocks noChangeAspect="1"/>
          </p:cNvPicPr>
          <p:nvPr/>
        </p:nvPicPr>
        <p:blipFill>
          <a:blip r:embed="rId2"/>
          <a:stretch>
            <a:fillRect/>
          </a:stretch>
        </p:blipFill>
        <p:spPr>
          <a:xfrm>
            <a:off x="343349" y="169879"/>
            <a:ext cx="10272264" cy="6455163"/>
          </a:xfrm>
          <a:prstGeom prst="rect">
            <a:avLst/>
          </a:prstGeom>
        </p:spPr>
      </p:pic>
    </p:spTree>
    <p:extLst>
      <p:ext uri="{BB962C8B-B14F-4D97-AF65-F5344CB8AC3E}">
        <p14:creationId xmlns:p14="http://schemas.microsoft.com/office/powerpoint/2010/main" val="1269628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8150-E2BB-D124-E558-AC8A265F32E2}"/>
              </a:ext>
            </a:extLst>
          </p:cNvPr>
          <p:cNvSpPr>
            <a:spLocks noGrp="1"/>
          </p:cNvSpPr>
          <p:nvPr>
            <p:ph type="ctrTitle"/>
          </p:nvPr>
        </p:nvSpPr>
        <p:spPr>
          <a:xfrm>
            <a:off x="0" y="2017477"/>
            <a:ext cx="12192000" cy="2387600"/>
          </a:xfrm>
        </p:spPr>
        <p:txBody>
          <a:bodyPr/>
          <a:lstStyle/>
          <a:p>
            <a:r>
              <a:rPr lang="en-GB">
                <a:latin typeface="Sassoon Infant Rg" panose="02000503030000020003" pitchFamily="2" charset="0"/>
              </a:rPr>
              <a:t>Being a Reader</a:t>
            </a:r>
          </a:p>
        </p:txBody>
      </p:sp>
      <p:grpSp>
        <p:nvGrpSpPr>
          <p:cNvPr id="4" name="Group 3">
            <a:extLst>
              <a:ext uri="{FF2B5EF4-FFF2-40B4-BE49-F238E27FC236}">
                <a16:creationId xmlns:a16="http://schemas.microsoft.com/office/drawing/2014/main" id="{5F3F8467-5724-D86C-FDA4-D49533DEC4F0}"/>
              </a:ext>
            </a:extLst>
          </p:cNvPr>
          <p:cNvGrpSpPr/>
          <p:nvPr/>
        </p:nvGrpSpPr>
        <p:grpSpPr>
          <a:xfrm>
            <a:off x="4810699" y="542637"/>
            <a:ext cx="2570602" cy="2802616"/>
            <a:chOff x="7629233" y="677174"/>
            <a:chExt cx="2090136" cy="2455590"/>
          </a:xfrm>
        </p:grpSpPr>
        <p:pic>
          <p:nvPicPr>
            <p:cNvPr id="5" name="Picture 8" descr="Reading Icon 2954745">
              <a:extLst>
                <a:ext uri="{FF2B5EF4-FFF2-40B4-BE49-F238E27FC236}">
                  <a16:creationId xmlns:a16="http://schemas.microsoft.com/office/drawing/2014/main" id="{2B1C2540-38D6-7D21-7288-1F3B603531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9233" y="1184735"/>
              <a:ext cx="2090136" cy="19480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F3344A5-4924-D3BC-68C4-52E2EB3B6D65}"/>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6627" b="95181" l="4969" r="92547">
                          <a14:foregroundMark x1="43478" y1="94578" x2="43478" y2="94578"/>
                          <a14:foregroundMark x1="4969" y1="50602" x2="4969" y2="50602"/>
                          <a14:foregroundMark x1="16770" y1="19277" x2="16770" y2="19277"/>
                          <a14:foregroundMark x1="49689" y1="8434" x2="49689" y2="8434"/>
                          <a14:foregroundMark x1="80124" y1="19277" x2="80124" y2="19277"/>
                          <a14:foregroundMark x1="56522" y1="95783" x2="56522" y2="95783"/>
                          <a14:foregroundMark x1="89441" y1="49398" x2="89441" y2="49398"/>
                          <a14:foregroundMark x1="49689" y1="6627" x2="49689" y2="6627"/>
                          <a14:foregroundMark x1="92547" y1="49398" x2="92547" y2="49398"/>
                        </a14:backgroundRemoval>
                      </a14:imgEffect>
                    </a14:imgLayer>
                  </a14:imgProps>
                </a:ext>
              </a:extLst>
            </a:blip>
            <a:stretch>
              <a:fillRect/>
            </a:stretch>
          </p:blipFill>
          <p:spPr>
            <a:xfrm>
              <a:off x="8856582" y="677174"/>
              <a:ext cx="716760" cy="688774"/>
            </a:xfrm>
            <a:prstGeom prst="rect">
              <a:avLst/>
            </a:prstGeom>
          </p:spPr>
        </p:pic>
      </p:grpSp>
      <p:sp>
        <p:nvSpPr>
          <p:cNvPr id="6" name="TextBox 5">
            <a:extLst>
              <a:ext uri="{FF2B5EF4-FFF2-40B4-BE49-F238E27FC236}">
                <a16:creationId xmlns:a16="http://schemas.microsoft.com/office/drawing/2014/main" id="{BB00753D-C189-01CA-44B1-B484F954D600}"/>
              </a:ext>
            </a:extLst>
          </p:cNvPr>
          <p:cNvSpPr txBox="1"/>
          <p:nvPr/>
        </p:nvSpPr>
        <p:spPr>
          <a:xfrm>
            <a:off x="0" y="4552141"/>
            <a:ext cx="12192000" cy="584775"/>
          </a:xfrm>
          <a:prstGeom prst="rect">
            <a:avLst/>
          </a:prstGeom>
          <a:noFill/>
        </p:spPr>
        <p:txBody>
          <a:bodyPr wrap="square">
            <a:spAutoFit/>
          </a:bodyPr>
          <a:lstStyle/>
          <a:p>
            <a:pPr algn="ctr"/>
            <a:r>
              <a:rPr lang="en-GB" sz="3200"/>
              <a:t>Vocabulary</a:t>
            </a:r>
          </a:p>
        </p:txBody>
      </p:sp>
      <p:sp>
        <p:nvSpPr>
          <p:cNvPr id="8" name="TextBox 7">
            <a:extLst>
              <a:ext uri="{FF2B5EF4-FFF2-40B4-BE49-F238E27FC236}">
                <a16:creationId xmlns:a16="http://schemas.microsoft.com/office/drawing/2014/main" id="{E3C356D1-4D69-6789-D9E9-77C69F82E055}"/>
              </a:ext>
            </a:extLst>
          </p:cNvPr>
          <p:cNvSpPr txBox="1"/>
          <p:nvPr/>
        </p:nvSpPr>
        <p:spPr>
          <a:xfrm>
            <a:off x="4423577" y="5199610"/>
            <a:ext cx="3329758" cy="1446550"/>
          </a:xfrm>
          <a:prstGeom prst="rect">
            <a:avLst/>
          </a:prstGeom>
          <a:noFill/>
        </p:spPr>
        <p:txBody>
          <a:bodyPr wrap="none" rtlCol="0" anchor="ctr">
            <a:spAutoFit/>
          </a:bodyPr>
          <a:lstStyle/>
          <a:p>
            <a:pPr algn="ctr"/>
            <a:r>
              <a:rPr lang="en-GB" sz="8800"/>
              <a:t>Monday</a:t>
            </a:r>
          </a:p>
        </p:txBody>
      </p:sp>
    </p:spTree>
    <p:extLst>
      <p:ext uri="{BB962C8B-B14F-4D97-AF65-F5344CB8AC3E}">
        <p14:creationId xmlns:p14="http://schemas.microsoft.com/office/powerpoint/2010/main" val="31726175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937DFFE-43F9-9789-7910-83BEEE3A3818}"/>
            </a:ext>
          </a:extLst>
        </p:cNvPr>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93E87004-6E1A-D1FF-FF85-9A712A9BB7B3}"/>
              </a:ext>
            </a:extLst>
          </p:cNvPr>
          <p:cNvSpPr/>
          <p:nvPr/>
        </p:nvSpPr>
        <p:spPr>
          <a:xfrm>
            <a:off x="6476397" y="19821"/>
            <a:ext cx="5576138" cy="6818358"/>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081EF958-1030-773B-A7D6-6CEB89A8F58A}"/>
              </a:ext>
            </a:extLst>
          </p:cNvPr>
          <p:cNvSpPr txBox="1"/>
          <p:nvPr/>
        </p:nvSpPr>
        <p:spPr>
          <a:xfrm>
            <a:off x="6786658" y="-9273"/>
            <a:ext cx="4833400" cy="684803"/>
          </a:xfrm>
          <a:prstGeom prst="rect">
            <a:avLst/>
          </a:prstGeom>
          <a:noFill/>
        </p:spPr>
        <p:txBody>
          <a:bodyPr wrap="square" rtlCol="0">
            <a:spAutoFit/>
          </a:bodyPr>
          <a:lstStyle/>
          <a:p>
            <a:pPr algn="ctr">
              <a:lnSpc>
                <a:spcPct val="150000"/>
              </a:lnSpc>
            </a:pPr>
            <a:r>
              <a:rPr lang="en-GB" sz="2800" b="1" u="sng">
                <a:solidFill>
                  <a:schemeClr val="tx1"/>
                </a:solidFill>
                <a:latin typeface="Sassoon Infant Rg" panose="02000503030000020003" pitchFamily="2" charset="0"/>
                <a:ea typeface="Sassoon Infant Rg" panose="02000503030000020003" pitchFamily="2" charset="0"/>
              </a:rPr>
              <a:t>Why do we learn to read?</a:t>
            </a:r>
          </a:p>
        </p:txBody>
      </p:sp>
      <p:sp>
        <p:nvSpPr>
          <p:cNvPr id="11" name="TextBox 10">
            <a:extLst>
              <a:ext uri="{FF2B5EF4-FFF2-40B4-BE49-F238E27FC236}">
                <a16:creationId xmlns:a16="http://schemas.microsoft.com/office/drawing/2014/main" id="{CB992496-7EDE-333E-5CB0-3C40245FED5D}"/>
              </a:ext>
            </a:extLst>
          </p:cNvPr>
          <p:cNvSpPr txBox="1"/>
          <p:nvPr/>
        </p:nvSpPr>
        <p:spPr>
          <a:xfrm>
            <a:off x="8246543" y="848912"/>
            <a:ext cx="3654961" cy="263149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Reading makes me </a:t>
            </a:r>
            <a:r>
              <a:rPr lang="en-GB" sz="3200" b="1">
                <a:solidFill>
                  <a:schemeClr val="tx1"/>
                </a:solidFill>
                <a:latin typeface="Sassoon Infant Rg" panose="02000503030000020003" pitchFamily="2" charset="0"/>
                <a:ea typeface="Sassoon Infant Rg" panose="02000503030000020003" pitchFamily="2" charset="0"/>
              </a:rPr>
              <a:t>powerful</a:t>
            </a:r>
            <a:r>
              <a:rPr lang="en-GB" sz="2400">
                <a:solidFill>
                  <a:schemeClr val="tx1"/>
                </a:solidFill>
                <a:latin typeface="Sassoon Infant Rg" panose="02000503030000020003" pitchFamily="2" charset="0"/>
                <a:ea typeface="Sassoon Infant Rg" panose="02000503030000020003" pitchFamily="2" charset="0"/>
              </a:rPr>
              <a:t> because it helps me to </a:t>
            </a:r>
            <a:r>
              <a:rPr lang="en-GB" sz="3200" b="1">
                <a:solidFill>
                  <a:schemeClr val="tx1"/>
                </a:solidFill>
                <a:latin typeface="Sassoon Infant Rg" panose="02000503030000020003" pitchFamily="2" charset="0"/>
                <a:ea typeface="Sassoon Infant Rg" panose="02000503030000020003" pitchFamily="2" charset="0"/>
              </a:rPr>
              <a:t>understand</a:t>
            </a:r>
            <a:r>
              <a:rPr lang="en-GB" sz="2400">
                <a:solidFill>
                  <a:schemeClr val="tx1"/>
                </a:solidFill>
                <a:latin typeface="Sassoon Infant Rg" panose="02000503030000020003" pitchFamily="2" charset="0"/>
                <a:ea typeface="Sassoon Infant Rg" panose="02000503030000020003" pitchFamily="2" charset="0"/>
              </a:rPr>
              <a:t> the world around me.</a:t>
            </a:r>
          </a:p>
        </p:txBody>
      </p:sp>
      <p:pic>
        <p:nvPicPr>
          <p:cNvPr id="7" name="Picture 6">
            <a:extLst>
              <a:ext uri="{FF2B5EF4-FFF2-40B4-BE49-F238E27FC236}">
                <a16:creationId xmlns:a16="http://schemas.microsoft.com/office/drawing/2014/main" id="{79FB5223-15E3-4844-7748-101D3E2F6D73}"/>
              </a:ext>
            </a:extLst>
          </p:cNvPr>
          <p:cNvPicPr>
            <a:picLocks noChangeAspect="1"/>
          </p:cNvPicPr>
          <p:nvPr/>
        </p:nvPicPr>
        <p:blipFill rotWithShape="1">
          <a:blip r:embed="rId3">
            <a:extLst>
              <a:ext uri="{BEBA8EAE-BF5A-486C-A8C5-ECC9F3942E4B}">
                <a14:imgProps xmlns:a14="http://schemas.microsoft.com/office/drawing/2010/main">
                  <a14:imgLayer r:embed="rId4">
                    <a14:imgEffect>
                      <a14:backgroundRemoval t="61376" b="80317" l="20847" r="34709">
                        <a14:foregroundMark x1="24656" y1="80000" x2="24656" y2="80000"/>
                        <a14:foregroundMark x1="29312" y1="80317" x2="29312" y2="80317"/>
                      </a14:backgroundRemoval>
                    </a14:imgEffect>
                  </a14:imgLayer>
                </a14:imgProps>
              </a:ext>
            </a:extLst>
          </a:blip>
          <a:srcRect l="19127" t="59276" r="63462" b="18202"/>
          <a:stretch/>
        </p:blipFill>
        <p:spPr>
          <a:xfrm>
            <a:off x="6896058" y="1151805"/>
            <a:ext cx="1350486" cy="1656373"/>
          </a:xfrm>
          <a:prstGeom prst="rect">
            <a:avLst/>
          </a:prstGeom>
        </p:spPr>
      </p:pic>
      <p:pic>
        <p:nvPicPr>
          <p:cNvPr id="12" name="Picture 11">
            <a:extLst>
              <a:ext uri="{FF2B5EF4-FFF2-40B4-BE49-F238E27FC236}">
                <a16:creationId xmlns:a16="http://schemas.microsoft.com/office/drawing/2014/main" id="{5594475F-C636-A29B-742C-0F17DB69B1FF}"/>
              </a:ext>
            </a:extLst>
          </p:cNvPr>
          <p:cNvPicPr>
            <a:picLocks noChangeAspect="1"/>
          </p:cNvPicPr>
          <p:nvPr/>
        </p:nvPicPr>
        <p:blipFill rotWithShape="1">
          <a:blip r:embed="rId5">
            <a:extLst>
              <a:ext uri="{BEBA8EAE-BF5A-486C-A8C5-ECC9F3942E4B}">
                <a14:imgProps xmlns:a14="http://schemas.microsoft.com/office/drawing/2010/main">
                  <a14:imgLayer r:embed="rId4">
                    <a14:imgEffect>
                      <a14:backgroundRemoval t="61793" b="81925" l="64809" r="78176">
                        <a14:foregroundMark x1="75238" y1="61799" x2="75238" y2="61799"/>
                      </a14:backgroundRemoval>
                    </a14:imgEffect>
                  </a14:imgLayer>
                </a14:imgProps>
              </a:ext>
            </a:extLst>
          </a:blip>
          <a:srcRect l="63138" t="59276" r="20153" b="15559"/>
          <a:stretch/>
        </p:blipFill>
        <p:spPr>
          <a:xfrm>
            <a:off x="10650071" y="4324983"/>
            <a:ext cx="1251434" cy="1786987"/>
          </a:xfrm>
          <a:prstGeom prst="rect">
            <a:avLst/>
          </a:prstGeom>
        </p:spPr>
      </p:pic>
      <p:sp>
        <p:nvSpPr>
          <p:cNvPr id="14" name="TextBox 13">
            <a:extLst>
              <a:ext uri="{FF2B5EF4-FFF2-40B4-BE49-F238E27FC236}">
                <a16:creationId xmlns:a16="http://schemas.microsoft.com/office/drawing/2014/main" id="{C934D238-3C31-683C-09D6-F097B09592C0}"/>
              </a:ext>
            </a:extLst>
          </p:cNvPr>
          <p:cNvSpPr txBox="1"/>
          <p:nvPr/>
        </p:nvSpPr>
        <p:spPr>
          <a:xfrm>
            <a:off x="6786658" y="4022091"/>
            <a:ext cx="3863413" cy="170816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At Wallscourt Farm Academy:</a:t>
            </a:r>
          </a:p>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We love to read, learn to read and read to learn! </a:t>
            </a:r>
          </a:p>
        </p:txBody>
      </p:sp>
      <p:pic>
        <p:nvPicPr>
          <p:cNvPr id="3" name="Picture 2">
            <a:extLst>
              <a:ext uri="{FF2B5EF4-FFF2-40B4-BE49-F238E27FC236}">
                <a16:creationId xmlns:a16="http://schemas.microsoft.com/office/drawing/2014/main" id="{4C8634C0-C6DD-1B8E-85A5-094729686CE0}"/>
              </a:ext>
            </a:extLst>
          </p:cNvPr>
          <p:cNvPicPr>
            <a:picLocks noChangeAspect="1"/>
          </p:cNvPicPr>
          <p:nvPr/>
        </p:nvPicPr>
        <p:blipFill>
          <a:blip r:embed="rId6"/>
          <a:stretch>
            <a:fillRect/>
          </a:stretch>
        </p:blipFill>
        <p:spPr>
          <a:xfrm>
            <a:off x="631179" y="568742"/>
            <a:ext cx="5645882" cy="5654149"/>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4200216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9EC2FE-E3EF-97C8-F7DC-C0A25E1D163D}"/>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5AA7E159-E28C-77BB-73A2-F381C7A90837}"/>
              </a:ext>
            </a:extLst>
          </p:cNvPr>
          <p:cNvPicPr>
            <a:picLocks noChangeAspect="1"/>
          </p:cNvPicPr>
          <p:nvPr/>
        </p:nvPicPr>
        <p:blipFill>
          <a:blip r:embed="rId3"/>
          <a:stretch>
            <a:fillRect/>
          </a:stretch>
        </p:blipFill>
        <p:spPr>
          <a:xfrm>
            <a:off x="10424916" y="134700"/>
            <a:ext cx="1616752" cy="697982"/>
          </a:xfrm>
          <a:prstGeom prst="rect">
            <a:avLst/>
          </a:prstGeom>
        </p:spPr>
      </p:pic>
      <p:grpSp>
        <p:nvGrpSpPr>
          <p:cNvPr id="9" name="Group 8">
            <a:extLst>
              <a:ext uri="{FF2B5EF4-FFF2-40B4-BE49-F238E27FC236}">
                <a16:creationId xmlns:a16="http://schemas.microsoft.com/office/drawing/2014/main" id="{91C39609-0D86-A5B7-4D8A-1F527D92392F}"/>
              </a:ext>
            </a:extLst>
          </p:cNvPr>
          <p:cNvGrpSpPr/>
          <p:nvPr/>
        </p:nvGrpSpPr>
        <p:grpSpPr>
          <a:xfrm>
            <a:off x="292072" y="239667"/>
            <a:ext cx="1145637" cy="1145637"/>
            <a:chOff x="5180554" y="1026138"/>
            <a:chExt cx="1316831" cy="1316831"/>
          </a:xfrm>
        </p:grpSpPr>
        <p:sp>
          <p:nvSpPr>
            <p:cNvPr id="10" name="Oval 9">
              <a:extLst>
                <a:ext uri="{FF2B5EF4-FFF2-40B4-BE49-F238E27FC236}">
                  <a16:creationId xmlns:a16="http://schemas.microsoft.com/office/drawing/2014/main" id="{84199F61-4B0B-8E0F-2DB2-ED5EBBDF58E5}"/>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2" name="Oval 4">
              <a:extLst>
                <a:ext uri="{FF2B5EF4-FFF2-40B4-BE49-F238E27FC236}">
                  <a16:creationId xmlns:a16="http://schemas.microsoft.com/office/drawing/2014/main" id="{FC3196E5-5551-D86F-2179-6878DD23429F}"/>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4" name="Title 1">
            <a:extLst>
              <a:ext uri="{FF2B5EF4-FFF2-40B4-BE49-F238E27FC236}">
                <a16:creationId xmlns:a16="http://schemas.microsoft.com/office/drawing/2014/main" id="{BDA4AF79-C1C4-8EFA-F1F6-B418570C55CC}"/>
              </a:ext>
            </a:extLst>
          </p:cNvPr>
          <p:cNvSpPr txBox="1">
            <a:spLocks/>
          </p:cNvSpPr>
          <p:nvPr/>
        </p:nvSpPr>
        <p:spPr>
          <a:xfrm>
            <a:off x="-253388" y="85619"/>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Vocabulary Focus</a:t>
            </a:r>
          </a:p>
        </p:txBody>
      </p:sp>
      <p:sp>
        <p:nvSpPr>
          <p:cNvPr id="15" name="TextBox 14">
            <a:extLst>
              <a:ext uri="{FF2B5EF4-FFF2-40B4-BE49-F238E27FC236}">
                <a16:creationId xmlns:a16="http://schemas.microsoft.com/office/drawing/2014/main" id="{DB2EAE7E-9AF9-75F2-CFE5-9905D0F16B0E}"/>
              </a:ext>
            </a:extLst>
          </p:cNvPr>
          <p:cNvSpPr txBox="1"/>
          <p:nvPr/>
        </p:nvSpPr>
        <p:spPr>
          <a:xfrm>
            <a:off x="2442576" y="1217529"/>
            <a:ext cx="7503292" cy="646331"/>
          </a:xfrm>
          <a:prstGeom prst="rect">
            <a:avLst/>
          </a:prstGeom>
          <a:noFill/>
        </p:spPr>
        <p:txBody>
          <a:bodyPr wrap="square" rtlCol="0">
            <a:spAutoFit/>
          </a:bodyPr>
          <a:lstStyle/>
          <a:p>
            <a:r>
              <a:rPr lang="en-GB"/>
              <a:t>Are there any words you feel confident to explain the meaning of (definition)? Are there any where you are less confident?</a:t>
            </a:r>
          </a:p>
        </p:txBody>
      </p:sp>
      <p:graphicFrame>
        <p:nvGraphicFramePr>
          <p:cNvPr id="13" name="Table 12">
            <a:extLst>
              <a:ext uri="{FF2B5EF4-FFF2-40B4-BE49-F238E27FC236}">
                <a16:creationId xmlns:a16="http://schemas.microsoft.com/office/drawing/2014/main" id="{9464E341-C007-5632-B326-45797112EDA2}"/>
              </a:ext>
            </a:extLst>
          </p:cNvPr>
          <p:cNvGraphicFramePr>
            <a:graphicFrameLocks noGrp="1"/>
          </p:cNvGraphicFramePr>
          <p:nvPr>
            <p:extLst>
              <p:ext uri="{D42A27DB-BD31-4B8C-83A1-F6EECF244321}">
                <p14:modId xmlns:p14="http://schemas.microsoft.com/office/powerpoint/2010/main" val="3344407260"/>
              </p:ext>
            </p:extLst>
          </p:nvPr>
        </p:nvGraphicFramePr>
        <p:xfrm>
          <a:off x="647700" y="2173922"/>
          <a:ext cx="10663199" cy="3429000"/>
        </p:xfrm>
        <a:graphic>
          <a:graphicData uri="http://schemas.openxmlformats.org/drawingml/2006/table">
            <a:tbl>
              <a:tblPr>
                <a:tableStyleId>{5C22544A-7EE6-4342-B048-85BDC9FD1C3A}</a:tableStyleId>
              </a:tblPr>
              <a:tblGrid>
                <a:gridCol w="1638300">
                  <a:extLst>
                    <a:ext uri="{9D8B030D-6E8A-4147-A177-3AD203B41FA5}">
                      <a16:colId xmlns:a16="http://schemas.microsoft.com/office/drawing/2014/main" val="4160592141"/>
                    </a:ext>
                  </a:extLst>
                </a:gridCol>
                <a:gridCol w="9024899">
                  <a:extLst>
                    <a:ext uri="{9D8B030D-6E8A-4147-A177-3AD203B41FA5}">
                      <a16:colId xmlns:a16="http://schemas.microsoft.com/office/drawing/2014/main" val="3033414289"/>
                    </a:ext>
                  </a:extLst>
                </a:gridCol>
              </a:tblGrid>
              <a:tr h="685800">
                <a:tc>
                  <a:txBody>
                    <a:bodyPr/>
                    <a:lstStyle/>
                    <a:p>
                      <a:pPr algn="l" fontAlgn="b">
                        <a:buNone/>
                      </a:pPr>
                      <a:r>
                        <a:rPr lang="en-GB" sz="2000" b="0" i="0" u="none" strike="noStrike">
                          <a:solidFill>
                            <a:srgbClr val="000000"/>
                          </a:solidFill>
                          <a:effectLst/>
                          <a:latin typeface="Calibri" panose="020F0502020204030204" pitchFamily="34" charset="0"/>
                        </a:rPr>
                        <a:t>hemisphere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1800" b="0" i="0" u="none" strike="noStrike">
                          <a:solidFill>
                            <a:srgbClr val="000000"/>
                          </a:solidFill>
                          <a:effectLst/>
                          <a:latin typeface="Calibri" panose="020F0502020204030204" pitchFamily="34" charset="0"/>
                        </a:rPr>
                        <a:t>One of the two halves of the Earth, divided by the equator into north and south.</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3441562"/>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latitude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Imaginary lines that run east to west around the Earth, measuring distance from the equator.</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4187290"/>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longitude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Imaginary lines that run north to south on the Earth, measuring distance from Greenwich.</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7381064"/>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equator</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The imaginary line that runs around the middle of the Earth, dividing it into north and south.</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0434475"/>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time zone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 region of the Earth that shares the same standard time.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1865700"/>
                  </a:ext>
                </a:extLst>
              </a:tr>
            </a:tbl>
          </a:graphicData>
        </a:graphic>
      </p:graphicFrame>
      <p:sp>
        <p:nvSpPr>
          <p:cNvPr id="16" name="Rectangle 15">
            <a:extLst>
              <a:ext uri="{FF2B5EF4-FFF2-40B4-BE49-F238E27FC236}">
                <a16:creationId xmlns:a16="http://schemas.microsoft.com/office/drawing/2014/main" id="{E459C5E2-5BCA-E6D1-3FA2-4EE65FF057B2}"/>
              </a:ext>
            </a:extLst>
          </p:cNvPr>
          <p:cNvSpPr/>
          <p:nvPr/>
        </p:nvSpPr>
        <p:spPr>
          <a:xfrm>
            <a:off x="2312410" y="21739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17" name="Rectangle 16">
            <a:extLst>
              <a:ext uri="{FF2B5EF4-FFF2-40B4-BE49-F238E27FC236}">
                <a16:creationId xmlns:a16="http://schemas.microsoft.com/office/drawing/2014/main" id="{8378AAAA-9509-6BC5-9C3F-9C67043451B7}"/>
              </a:ext>
            </a:extLst>
          </p:cNvPr>
          <p:cNvSpPr/>
          <p:nvPr/>
        </p:nvSpPr>
        <p:spPr>
          <a:xfrm>
            <a:off x="2312410" y="28597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18" name="Rectangle 17">
            <a:extLst>
              <a:ext uri="{FF2B5EF4-FFF2-40B4-BE49-F238E27FC236}">
                <a16:creationId xmlns:a16="http://schemas.microsoft.com/office/drawing/2014/main" id="{483E4D50-B122-CB47-766E-B5E7AC2451E9}"/>
              </a:ext>
            </a:extLst>
          </p:cNvPr>
          <p:cNvSpPr/>
          <p:nvPr/>
        </p:nvSpPr>
        <p:spPr>
          <a:xfrm>
            <a:off x="2312410" y="35455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19" name="Rectangle 18">
            <a:extLst>
              <a:ext uri="{FF2B5EF4-FFF2-40B4-BE49-F238E27FC236}">
                <a16:creationId xmlns:a16="http://schemas.microsoft.com/office/drawing/2014/main" id="{4F499D47-C8D0-1D00-07CE-6BF9DF183DEF}"/>
              </a:ext>
            </a:extLst>
          </p:cNvPr>
          <p:cNvSpPr/>
          <p:nvPr/>
        </p:nvSpPr>
        <p:spPr>
          <a:xfrm>
            <a:off x="2312410" y="42313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20" name="Rectangle 19">
            <a:extLst>
              <a:ext uri="{FF2B5EF4-FFF2-40B4-BE49-F238E27FC236}">
                <a16:creationId xmlns:a16="http://schemas.microsoft.com/office/drawing/2014/main" id="{FB71A36C-7A6A-7242-D64C-17151302D893}"/>
              </a:ext>
            </a:extLst>
          </p:cNvPr>
          <p:cNvSpPr/>
          <p:nvPr/>
        </p:nvSpPr>
        <p:spPr>
          <a:xfrm>
            <a:off x="2312410" y="49171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mc:AlternateContent xmlns:mc="http://schemas.openxmlformats.org/markup-compatibility/2006">
        <mc:Choice xmlns:p14="http://schemas.microsoft.com/office/powerpoint/2010/main" Requires="p14">
          <p:contentPart p14:bwMode="auto" r:id="rId4">
            <p14:nvContentPartPr>
              <p14:cNvPr id="2" name="Ink 1">
                <a:extLst>
                  <a:ext uri="{FF2B5EF4-FFF2-40B4-BE49-F238E27FC236}">
                    <a16:creationId xmlns:a16="http://schemas.microsoft.com/office/drawing/2014/main" id="{5D2C9D5F-FAFF-06A7-AD88-7690CD0EA4CC}"/>
                  </a:ext>
                </a:extLst>
              </p14:cNvPr>
              <p14:cNvContentPartPr/>
              <p14:nvPr/>
            </p14:nvContentPartPr>
            <p14:xfrm>
              <a:off x="9940680" y="4335840"/>
              <a:ext cx="168120" cy="91440"/>
            </p14:xfrm>
          </p:contentPart>
        </mc:Choice>
        <mc:Fallback>
          <p:pic>
            <p:nvPicPr>
              <p:cNvPr id="2" name="Ink 1">
                <a:extLst>
                  <a:ext uri="{FF2B5EF4-FFF2-40B4-BE49-F238E27FC236}">
                    <a16:creationId xmlns:a16="http://schemas.microsoft.com/office/drawing/2014/main" id="{5D2C9D5F-FAFF-06A7-AD88-7690CD0EA4CC}"/>
                  </a:ext>
                </a:extLst>
              </p:cNvPr>
              <p:cNvPicPr/>
              <p:nvPr/>
            </p:nvPicPr>
            <p:blipFill>
              <a:blip r:embed="rId5"/>
              <a:stretch>
                <a:fillRect/>
              </a:stretch>
            </p:blipFill>
            <p:spPr>
              <a:xfrm>
                <a:off x="9931320" y="4326480"/>
                <a:ext cx="186840" cy="110160"/>
              </a:xfrm>
              <a:prstGeom prst="rect">
                <a:avLst/>
              </a:prstGeom>
            </p:spPr>
          </p:pic>
        </mc:Fallback>
      </mc:AlternateContent>
    </p:spTree>
    <p:extLst>
      <p:ext uri="{BB962C8B-B14F-4D97-AF65-F5344CB8AC3E}">
        <p14:creationId xmlns:p14="http://schemas.microsoft.com/office/powerpoint/2010/main" val="405517483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6"/>
                    </p:tgtEl>
                  </p:cond>
                </p:stCondLst>
                <p:endSync evt="end" delay="0">
                  <p:rtn val="all"/>
                </p:endSync>
                <p:childTnLst>
                  <p:par>
                    <p:cTn id="3" fill="hold">
                      <p:stCondLst>
                        <p:cond delay="0"/>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hidden"/>
                                      </p:to>
                                    </p:set>
                                  </p:childTnLst>
                                </p:cTn>
                              </p:par>
                            </p:childTnLst>
                          </p:cTn>
                        </p:par>
                      </p:childTnLst>
                    </p:cTn>
                  </p:par>
                </p:childTnLst>
              </p:cTn>
              <p:nextCondLst>
                <p:cond evt="onClick" delay="0">
                  <p:tgtEl>
                    <p:spTgt spid="16"/>
                  </p:tgtEl>
                </p:cond>
              </p:nextCondLst>
            </p:seq>
            <p:seq concurrent="1" nextAc="seek">
              <p:cTn id="7" restart="whenNotActive" fill="hold" evtFilter="cancelBubble" nodeType="interactiveSeq">
                <p:stCondLst>
                  <p:cond evt="onClick" delay="0">
                    <p:tgtEl>
                      <p:spTgt spid="17"/>
                    </p:tgtEl>
                  </p:cond>
                </p:stCondLst>
                <p:endSync evt="end" delay="0">
                  <p:rtn val="all"/>
                </p:endSync>
                <p:childTnLst>
                  <p:par>
                    <p:cTn id="8" fill="hold">
                      <p:stCondLst>
                        <p:cond delay="0"/>
                      </p:stCondLst>
                      <p:childTnLst>
                        <p:par>
                          <p:cTn id="9" fill="hold">
                            <p:stCondLst>
                              <p:cond delay="0"/>
                            </p:stCondLst>
                            <p:childTnLst>
                              <p:par>
                                <p:cTn id="10" presetID="1" presetClass="exit"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hidden"/>
                                      </p:to>
                                    </p:set>
                                  </p:childTnLst>
                                </p:cTn>
                              </p:par>
                            </p:childTnLst>
                          </p:cTn>
                        </p:par>
                      </p:childTnLst>
                    </p:cTn>
                  </p:par>
                </p:childTnLst>
              </p:cTn>
              <p:nextCondLst>
                <p:cond evt="onClick" delay="0">
                  <p:tgtEl>
                    <p:spTgt spid="17"/>
                  </p:tgtEl>
                </p:cond>
              </p:nextCondLst>
            </p:seq>
            <p:seq concurrent="1" nextAc="seek">
              <p:cTn id="12" restart="whenNotActive" fill="hold" evtFilter="cancelBubble" nodeType="interactiveSeq">
                <p:stCondLst>
                  <p:cond evt="onClick" delay="0">
                    <p:tgtEl>
                      <p:spTgt spid="18"/>
                    </p:tgtEl>
                  </p:cond>
                </p:stCondLst>
                <p:endSync evt="end" delay="0">
                  <p:rtn val="all"/>
                </p:endSync>
                <p:childTnLst>
                  <p:par>
                    <p:cTn id="13" fill="hold">
                      <p:stCondLst>
                        <p:cond delay="0"/>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18"/>
                                        </p:tgtEl>
                                        <p:attrNameLst>
                                          <p:attrName>style.visibility</p:attrName>
                                        </p:attrNameLst>
                                      </p:cBhvr>
                                      <p:to>
                                        <p:strVal val="hidden"/>
                                      </p:to>
                                    </p:set>
                                  </p:childTnLst>
                                </p:cTn>
                              </p:par>
                            </p:childTnLst>
                          </p:cTn>
                        </p:par>
                      </p:childTnLst>
                    </p:cTn>
                  </p:par>
                </p:childTnLst>
              </p:cTn>
              <p:nextCondLst>
                <p:cond evt="onClick" delay="0">
                  <p:tgtEl>
                    <p:spTgt spid="18"/>
                  </p:tgtEl>
                </p:cond>
              </p:nextCondLst>
            </p:seq>
            <p:seq concurrent="1" nextAc="seek">
              <p:cTn id="17" restart="whenNotActive" fill="hold" evtFilter="cancelBubble" nodeType="interactiveSeq">
                <p:stCondLst>
                  <p:cond evt="onClick" delay="0">
                    <p:tgtEl>
                      <p:spTgt spid="19"/>
                    </p:tgtEl>
                  </p:cond>
                </p:stCondLst>
                <p:endSync evt="end" delay="0">
                  <p:rtn val="all"/>
                </p:endSync>
                <p:childTnLst>
                  <p:par>
                    <p:cTn id="18" fill="hold">
                      <p:stCondLst>
                        <p:cond delay="0"/>
                      </p:stCondLst>
                      <p:childTnLst>
                        <p:par>
                          <p:cTn id="19" fill="hold">
                            <p:stCondLst>
                              <p:cond delay="0"/>
                            </p:stCondLst>
                            <p:childTnLst>
                              <p:par>
                                <p:cTn id="20" presetID="1" presetClass="exit"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hidden"/>
                                      </p:to>
                                    </p:set>
                                  </p:childTnLst>
                                </p:cTn>
                              </p:par>
                            </p:childTnLst>
                          </p:cTn>
                        </p:par>
                      </p:childTnLst>
                    </p:cTn>
                  </p:par>
                </p:childTnLst>
              </p:cTn>
              <p:nextCondLst>
                <p:cond evt="onClick" delay="0">
                  <p:tgtEl>
                    <p:spTgt spid="19"/>
                  </p:tgtEl>
                </p:cond>
              </p:nextCondLst>
            </p:seq>
            <p:seq concurrent="1" nextAc="seek">
              <p:cTn id="22" restart="whenNotActive" fill="hold" evtFilter="cancelBubble" nodeType="interactiveSeq">
                <p:stCondLst>
                  <p:cond evt="onClick" delay="0">
                    <p:tgtEl>
                      <p:spTgt spid="20"/>
                    </p:tgtEl>
                  </p:cond>
                </p:stCondLst>
                <p:endSync evt="end" delay="0">
                  <p:rtn val="all"/>
                </p:endSync>
                <p:childTnLst>
                  <p:par>
                    <p:cTn id="23" fill="hold">
                      <p:stCondLst>
                        <p:cond delay="0"/>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20"/>
                                        </p:tgtEl>
                                        <p:attrNameLst>
                                          <p:attrName>style.visibility</p:attrName>
                                        </p:attrNameLst>
                                      </p:cBhvr>
                                      <p:to>
                                        <p:strVal val="hidden"/>
                                      </p:to>
                                    </p:set>
                                  </p:childTnLst>
                                </p:cTn>
                              </p:par>
                            </p:childTnLst>
                          </p:cTn>
                        </p:par>
                      </p:childTnLst>
                    </p:cTn>
                  </p:par>
                </p:childTnLst>
              </p:cTn>
              <p:nextCondLst>
                <p:cond evt="onClick" delay="0">
                  <p:tgtEl>
                    <p:spTgt spid="20"/>
                  </p:tgtEl>
                </p:cond>
              </p:nextCondLst>
            </p:seq>
          </p:childTnLst>
        </p:cTn>
      </p:par>
    </p:tnLst>
    <p:bldLst>
      <p:bldP spid="16" grpId="0" animBg="1"/>
      <p:bldP spid="17" grpId="0" animBg="1"/>
      <p:bldP spid="18" grpId="0" animBg="1"/>
      <p:bldP spid="19" grpId="0" animBg="1"/>
      <p:bldP spid="2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5D4AD-39BF-E719-97C7-B9FE8F2F1D23}"/>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51EC62D8-35F3-692D-E010-0DC4232EB396}"/>
              </a:ext>
            </a:extLst>
          </p:cNvPr>
          <p:cNvGrpSpPr/>
          <p:nvPr/>
        </p:nvGrpSpPr>
        <p:grpSpPr>
          <a:xfrm>
            <a:off x="38684" y="68473"/>
            <a:ext cx="1316831" cy="1316831"/>
            <a:chOff x="5180554" y="1026138"/>
            <a:chExt cx="1316831" cy="1316831"/>
          </a:xfrm>
        </p:grpSpPr>
        <p:sp>
          <p:nvSpPr>
            <p:cNvPr id="4" name="Oval 3">
              <a:extLst>
                <a:ext uri="{FF2B5EF4-FFF2-40B4-BE49-F238E27FC236}">
                  <a16:creationId xmlns:a16="http://schemas.microsoft.com/office/drawing/2014/main" id="{F8888C4F-1616-8D90-191F-5F1D6A12B17C}"/>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6" name="Oval 4">
              <a:extLst>
                <a:ext uri="{FF2B5EF4-FFF2-40B4-BE49-F238E27FC236}">
                  <a16:creationId xmlns:a16="http://schemas.microsoft.com/office/drawing/2014/main" id="{A3B5DDCC-932B-F66F-471E-38658DC395B0}"/>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3" name="Title 1">
            <a:extLst>
              <a:ext uri="{FF2B5EF4-FFF2-40B4-BE49-F238E27FC236}">
                <a16:creationId xmlns:a16="http://schemas.microsoft.com/office/drawing/2014/main" id="{733E3EE1-243D-DB63-04F2-FFCC4E6120EC}"/>
              </a:ext>
            </a:extLst>
          </p:cNvPr>
          <p:cNvSpPr txBox="1">
            <a:spLocks/>
          </p:cNvSpPr>
          <p:nvPr/>
        </p:nvSpPr>
        <p:spPr>
          <a:xfrm>
            <a:off x="2535882" y="918780"/>
            <a:ext cx="5559247"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n-GB" sz="2800"/>
          </a:p>
        </p:txBody>
      </p:sp>
      <p:sp>
        <p:nvSpPr>
          <p:cNvPr id="3" name="Title 1">
            <a:extLst>
              <a:ext uri="{FF2B5EF4-FFF2-40B4-BE49-F238E27FC236}">
                <a16:creationId xmlns:a16="http://schemas.microsoft.com/office/drawing/2014/main" id="{2DCF07E4-FAD7-AFAB-73D7-E54C6A426087}"/>
              </a:ext>
            </a:extLst>
          </p:cNvPr>
          <p:cNvSpPr txBox="1">
            <a:spLocks/>
          </p:cNvSpPr>
          <p:nvPr/>
        </p:nvSpPr>
        <p:spPr>
          <a:xfrm>
            <a:off x="0" y="85619"/>
            <a:ext cx="12192000" cy="149821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50000"/>
              </a:lnSpc>
            </a:pPr>
            <a:r>
              <a:rPr lang="en-GB" sz="4000"/>
              <a:t>Vocabulary Focus</a:t>
            </a:r>
          </a:p>
        </p:txBody>
      </p:sp>
      <p:sp>
        <p:nvSpPr>
          <p:cNvPr id="7" name="Title 1">
            <a:extLst>
              <a:ext uri="{FF2B5EF4-FFF2-40B4-BE49-F238E27FC236}">
                <a16:creationId xmlns:a16="http://schemas.microsoft.com/office/drawing/2014/main" id="{532B7159-F539-A363-45FE-8B91401BE68F}"/>
              </a:ext>
            </a:extLst>
          </p:cNvPr>
          <p:cNvSpPr txBox="1">
            <a:spLocks/>
          </p:cNvSpPr>
          <p:nvPr/>
        </p:nvSpPr>
        <p:spPr>
          <a:xfrm>
            <a:off x="5590032" y="604264"/>
            <a:ext cx="1873406" cy="9795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a:p>
        </p:txBody>
      </p:sp>
      <p:graphicFrame>
        <p:nvGraphicFramePr>
          <p:cNvPr id="9" name="Table 8">
            <a:extLst>
              <a:ext uri="{FF2B5EF4-FFF2-40B4-BE49-F238E27FC236}">
                <a16:creationId xmlns:a16="http://schemas.microsoft.com/office/drawing/2014/main" id="{1BDE9717-27F4-D48A-5961-BBB082A50FA4}"/>
              </a:ext>
            </a:extLst>
          </p:cNvPr>
          <p:cNvGraphicFramePr>
            <a:graphicFrameLocks noGrp="1"/>
          </p:cNvGraphicFramePr>
          <p:nvPr>
            <p:extLst>
              <p:ext uri="{D42A27DB-BD31-4B8C-83A1-F6EECF244321}">
                <p14:modId xmlns:p14="http://schemas.microsoft.com/office/powerpoint/2010/main" val="394122683"/>
              </p:ext>
            </p:extLst>
          </p:nvPr>
        </p:nvGraphicFramePr>
        <p:xfrm>
          <a:off x="2032000" y="1727002"/>
          <a:ext cx="8128000" cy="4922852"/>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811326830"/>
                    </a:ext>
                  </a:extLst>
                </a:gridCol>
                <a:gridCol w="4064000">
                  <a:extLst>
                    <a:ext uri="{9D8B030D-6E8A-4147-A177-3AD203B41FA5}">
                      <a16:colId xmlns:a16="http://schemas.microsoft.com/office/drawing/2014/main" val="773647625"/>
                    </a:ext>
                  </a:extLst>
                </a:gridCol>
              </a:tblGrid>
              <a:tr h="2461426">
                <a:tc>
                  <a:txBody>
                    <a:bodyPr/>
                    <a:lstStyle/>
                    <a:p>
                      <a:r>
                        <a:rPr lang="en-GB" b="0">
                          <a:solidFill>
                            <a:schemeClr val="tx1"/>
                          </a:solidFill>
                        </a:rPr>
                        <a:t>Write it 5 times</a:t>
                      </a:r>
                    </a:p>
                    <a:p>
                      <a:endParaRPr lang="en-GB" sz="3200" b="0">
                        <a:solidFill>
                          <a:schemeClr val="tx1"/>
                        </a:solidFill>
                        <a:latin typeface="Twinkl Cursive Looped Light" panose="02000000000000000000" pitchFamily="2" charset="77"/>
                      </a:endParaRPr>
                    </a:p>
                    <a:p>
                      <a:pPr algn="ctr"/>
                      <a:r>
                        <a:rPr lang="en-GB" sz="3200" b="0">
                          <a:solidFill>
                            <a:schemeClr val="tx1"/>
                          </a:solidFill>
                          <a:latin typeface="Twinkl Cursive Looped Light" panose="02000000000000000000" pitchFamily="2" charset="77"/>
                        </a:rPr>
                        <a:t>hemisphere</a:t>
                      </a:r>
                    </a:p>
                    <a:p>
                      <a:endParaRPr lang="en-GB" b="0">
                        <a:solidFill>
                          <a:schemeClr val="tx1"/>
                        </a:solidFill>
                        <a:latin typeface="XCCW Joined 4a" panose="03050602040000000000" pitchFamily="66" charset="77"/>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a:solidFill>
                            <a:schemeClr val="tx1"/>
                          </a:solidFill>
                        </a:rPr>
                        <a:t>Use it in a sentence</a:t>
                      </a:r>
                    </a:p>
                    <a:p>
                      <a:endParaRPr lang="en-GB" sz="2400" b="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64313380"/>
                  </a:ext>
                </a:extLst>
              </a:tr>
              <a:tr h="2461426">
                <a:tc gridSpan="2">
                  <a:txBody>
                    <a:bodyPr/>
                    <a:lstStyle/>
                    <a:p>
                      <a:r>
                        <a:rPr lang="en-GB">
                          <a:solidFill>
                            <a:schemeClr val="tx1"/>
                          </a:solidFill>
                        </a:rPr>
                        <a:t>Other linked words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3729397"/>
                  </a:ext>
                </a:extLst>
              </a:tr>
            </a:tbl>
          </a:graphicData>
        </a:graphic>
      </p:graphicFrame>
      <p:pic>
        <p:nvPicPr>
          <p:cNvPr id="8" name="Picture 7">
            <a:extLst>
              <a:ext uri="{FF2B5EF4-FFF2-40B4-BE49-F238E27FC236}">
                <a16:creationId xmlns:a16="http://schemas.microsoft.com/office/drawing/2014/main" id="{DCA91193-1537-0657-E11E-503EF19A61EE}"/>
              </a:ext>
            </a:extLst>
          </p:cNvPr>
          <p:cNvPicPr>
            <a:picLocks noChangeAspect="1"/>
          </p:cNvPicPr>
          <p:nvPr/>
        </p:nvPicPr>
        <p:blipFill>
          <a:blip r:embed="rId3"/>
          <a:stretch>
            <a:fillRect/>
          </a:stretch>
        </p:blipFill>
        <p:spPr>
          <a:xfrm>
            <a:off x="10424916" y="134700"/>
            <a:ext cx="1616752" cy="697982"/>
          </a:xfrm>
          <a:prstGeom prst="rect">
            <a:avLst/>
          </a:prstGeom>
        </p:spPr>
      </p:pic>
      <p:sp>
        <p:nvSpPr>
          <p:cNvPr id="5" name="TextBox 4">
            <a:extLst>
              <a:ext uri="{FF2B5EF4-FFF2-40B4-BE49-F238E27FC236}">
                <a16:creationId xmlns:a16="http://schemas.microsoft.com/office/drawing/2014/main" id="{D4A4253D-E3B5-EFA7-4B1C-50AA791A86AA}"/>
              </a:ext>
            </a:extLst>
          </p:cNvPr>
          <p:cNvSpPr txBox="1"/>
          <p:nvPr/>
        </p:nvSpPr>
        <p:spPr>
          <a:xfrm>
            <a:off x="4788984" y="5296822"/>
            <a:ext cx="2400000" cy="480000"/>
          </a:xfrm>
          <a:prstGeom prst="rect">
            <a:avLst/>
          </a:prstGeom>
          <a:noFill/>
        </p:spPr>
        <p:txBody>
          <a:bodyPr wrap="square" rtlCol="0" anchor="ctr"/>
          <a:lstStyle/>
          <a:p>
            <a:pPr algn="ctr"/>
            <a:r>
              <a:rPr lang="en-GB"/>
              <a:t>hemisphere</a:t>
            </a:r>
          </a:p>
        </p:txBody>
      </p:sp>
      <p:cxnSp>
        <p:nvCxnSpPr>
          <p:cNvPr id="12" name="Straight Connector 11">
            <a:extLst>
              <a:ext uri="{FF2B5EF4-FFF2-40B4-BE49-F238E27FC236}">
                <a16:creationId xmlns:a16="http://schemas.microsoft.com/office/drawing/2014/main" id="{7C8845E9-B967-EA4D-1D1A-9AF3DDA85380}"/>
              </a:ext>
            </a:extLst>
          </p:cNvPr>
          <p:cNvCxnSpPr/>
          <p:nvPr/>
        </p:nvCxnSpPr>
        <p:spPr>
          <a:xfrm flipV="1">
            <a:off x="6391527" y="4613658"/>
            <a:ext cx="807506" cy="7821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EB3BFB0-1A1A-2A77-4CC9-C8E227413B3E}"/>
              </a:ext>
            </a:extLst>
          </p:cNvPr>
          <p:cNvCxnSpPr>
            <a:cxnSpLocks/>
          </p:cNvCxnSpPr>
          <p:nvPr/>
        </p:nvCxnSpPr>
        <p:spPr>
          <a:xfrm>
            <a:off x="6532910" y="5656722"/>
            <a:ext cx="930528" cy="216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EF585B9-9A59-4AD6-3B99-DB66AC0BC1C7}"/>
              </a:ext>
            </a:extLst>
          </p:cNvPr>
          <p:cNvCxnSpPr>
            <a:cxnSpLocks/>
          </p:cNvCxnSpPr>
          <p:nvPr/>
        </p:nvCxnSpPr>
        <p:spPr>
          <a:xfrm flipV="1">
            <a:off x="4786339" y="5656722"/>
            <a:ext cx="791952" cy="565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8E2FC65-99A3-B206-BA2E-B45AABD7E835}"/>
              </a:ext>
            </a:extLst>
          </p:cNvPr>
          <p:cNvCxnSpPr>
            <a:cxnSpLocks/>
          </p:cNvCxnSpPr>
          <p:nvPr/>
        </p:nvCxnSpPr>
        <p:spPr>
          <a:xfrm>
            <a:off x="4688753" y="5010683"/>
            <a:ext cx="852027" cy="382970"/>
          </a:xfrm>
          <a:prstGeom prst="line">
            <a:avLst/>
          </a:prstGeom>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EF0396BA-9A50-9215-C8CB-0B99470EF9F5}"/>
              </a:ext>
            </a:extLst>
          </p:cNvPr>
          <p:cNvPicPr>
            <a:picLocks noChangeAspect="1"/>
          </p:cNvPicPr>
          <p:nvPr/>
        </p:nvPicPr>
        <p:blipFill>
          <a:blip r:embed="rId4"/>
          <a:stretch>
            <a:fillRect/>
          </a:stretch>
        </p:blipFill>
        <p:spPr>
          <a:xfrm>
            <a:off x="6502757" y="2982841"/>
            <a:ext cx="3184743" cy="794571"/>
          </a:xfrm>
          <a:prstGeom prst="rect">
            <a:avLst/>
          </a:prstGeom>
          <a:solidFill>
            <a:schemeClr val="bg1"/>
          </a:solidFill>
        </p:spPr>
      </p:pic>
    </p:spTree>
    <p:extLst>
      <p:ext uri="{BB962C8B-B14F-4D97-AF65-F5344CB8AC3E}">
        <p14:creationId xmlns:p14="http://schemas.microsoft.com/office/powerpoint/2010/main" val="3943437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40D69-2A3E-AC4D-476F-E48DC49AB51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39D004C-6476-A163-CC76-9EB710752DEA}"/>
              </a:ext>
            </a:extLst>
          </p:cNvPr>
          <p:cNvPicPr>
            <a:picLocks noChangeAspect="1"/>
          </p:cNvPicPr>
          <p:nvPr/>
        </p:nvPicPr>
        <p:blipFill>
          <a:blip r:embed="rId3"/>
          <a:stretch>
            <a:fillRect/>
          </a:stretch>
        </p:blipFill>
        <p:spPr>
          <a:xfrm>
            <a:off x="525593" y="1980987"/>
            <a:ext cx="9243932" cy="1349566"/>
          </a:xfrm>
          <a:prstGeom prst="rect">
            <a:avLst/>
          </a:prstGeom>
        </p:spPr>
      </p:pic>
      <p:pic>
        <p:nvPicPr>
          <p:cNvPr id="11" name="Picture 10">
            <a:extLst>
              <a:ext uri="{FF2B5EF4-FFF2-40B4-BE49-F238E27FC236}">
                <a16:creationId xmlns:a16="http://schemas.microsoft.com/office/drawing/2014/main" id="{6B7C83CA-03D0-7626-308E-7CE111534218}"/>
              </a:ext>
            </a:extLst>
          </p:cNvPr>
          <p:cNvPicPr/>
          <p:nvPr/>
        </p:nvPicPr>
        <p:blipFill>
          <a:blip r:embed="rId4">
            <a:extLst>
              <a:ext uri="{28A0092B-C50C-407E-A947-70E740481C1C}">
                <a14:useLocalDpi xmlns:a14="http://schemas.microsoft.com/office/drawing/2010/main" val="0"/>
              </a:ext>
            </a:extLst>
          </a:blip>
          <a:stretch>
            <a:fillRect/>
          </a:stretch>
        </p:blipFill>
        <p:spPr>
          <a:xfrm>
            <a:off x="10539555" y="90546"/>
            <a:ext cx="1691129" cy="711848"/>
          </a:xfrm>
          <a:prstGeom prst="rect">
            <a:avLst/>
          </a:prstGeom>
        </p:spPr>
      </p:pic>
      <p:sp>
        <p:nvSpPr>
          <p:cNvPr id="12" name="Title 1">
            <a:extLst>
              <a:ext uri="{FF2B5EF4-FFF2-40B4-BE49-F238E27FC236}">
                <a16:creationId xmlns:a16="http://schemas.microsoft.com/office/drawing/2014/main" id="{F0092A21-3382-F255-270E-BE0BDE056D46}"/>
              </a:ext>
            </a:extLst>
          </p:cNvPr>
          <p:cNvSpPr txBox="1">
            <a:spLocks/>
          </p:cNvSpPr>
          <p:nvPr/>
        </p:nvSpPr>
        <p:spPr>
          <a:xfrm>
            <a:off x="38684" y="-18063"/>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1800" b="1">
                <a:effectLst/>
                <a:latin typeface="Sassoon Infant Rg" panose="02000503030000020003" pitchFamily="2" charset="0"/>
                <a:ea typeface="Sassoon Infant Rg" panose="02000503030000020003" pitchFamily="2" charset="0"/>
                <a:cs typeface="Times New Roman" panose="02020603050405020304" pitchFamily="18" charset="0"/>
              </a:rPr>
              <a:t>Paired reading</a:t>
            </a:r>
            <a:r>
              <a:rPr lang="en-GB" sz="1800">
                <a:effectLst/>
                <a:latin typeface="Sassoon Infant Rg" panose="02000503030000020003" pitchFamily="2" charset="0"/>
                <a:ea typeface="Sassoon Infant Rg" panose="02000503030000020003" pitchFamily="2" charset="0"/>
                <a:cs typeface="Times New Roman" panose="02020603050405020304" pitchFamily="18" charset="0"/>
              </a:rPr>
              <a:t>.  </a:t>
            </a:r>
            <a:r>
              <a:rPr lang="en-GB" sz="1800">
                <a:latin typeface="Sassoon Infant Rg" panose="02000503030000020003" pitchFamily="2" charset="0"/>
                <a:ea typeface="Sassoon Infant Rg" panose="02000503030000020003" pitchFamily="2" charset="0"/>
                <a:cs typeface="Times New Roman" panose="02020603050405020304" pitchFamily="18" charset="0"/>
              </a:rPr>
              <a:t>Read the text with a partner, taking turns sentence by sentence. Focus on reading smoothly and clearly, matching your pace to the punctuation.</a:t>
            </a:r>
            <a:endParaRPr lang="en-GB" b="1"/>
          </a:p>
        </p:txBody>
      </p:sp>
      <p:grpSp>
        <p:nvGrpSpPr>
          <p:cNvPr id="7" name="Group 6">
            <a:extLst>
              <a:ext uri="{FF2B5EF4-FFF2-40B4-BE49-F238E27FC236}">
                <a16:creationId xmlns:a16="http://schemas.microsoft.com/office/drawing/2014/main" id="{2F4A7F38-FB96-EA15-05EC-03CFFB5CBE42}"/>
              </a:ext>
            </a:extLst>
          </p:cNvPr>
          <p:cNvGrpSpPr/>
          <p:nvPr/>
        </p:nvGrpSpPr>
        <p:grpSpPr>
          <a:xfrm>
            <a:off x="10349575" y="2457302"/>
            <a:ext cx="1316831" cy="1316831"/>
            <a:chOff x="5180554" y="3075697"/>
            <a:chExt cx="1316831" cy="1316831"/>
          </a:xfrm>
        </p:grpSpPr>
        <p:sp>
          <p:nvSpPr>
            <p:cNvPr id="9" name="Oval 8">
              <a:extLst>
                <a:ext uri="{FF2B5EF4-FFF2-40B4-BE49-F238E27FC236}">
                  <a16:creationId xmlns:a16="http://schemas.microsoft.com/office/drawing/2014/main" id="{230C30F1-14D6-3E62-897A-05259DF04DDD}"/>
                </a:ext>
              </a:extLst>
            </p:cNvPr>
            <p:cNvSpPr/>
            <p:nvPr/>
          </p:nvSpPr>
          <p:spPr>
            <a:xfrm>
              <a:off x="5180554" y="3075697"/>
              <a:ext cx="1316831" cy="1316831"/>
            </a:xfrm>
            <a:prstGeom prst="ellipse">
              <a:avLst/>
            </a:prstGeom>
            <a:solidFill>
              <a:srgbClr val="A2CFFC"/>
            </a:solidFill>
            <a:ln w="38100">
              <a:solidFill>
                <a:srgbClr val="0762B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0" name="Oval 4">
              <a:extLst>
                <a:ext uri="{FF2B5EF4-FFF2-40B4-BE49-F238E27FC236}">
                  <a16:creationId xmlns:a16="http://schemas.microsoft.com/office/drawing/2014/main" id="{94AC7F2E-0C00-B939-4106-51835EB2A269}"/>
                </a:ext>
              </a:extLst>
            </p:cNvPr>
            <p:cNvSpPr txBox="1"/>
            <p:nvPr/>
          </p:nvSpPr>
          <p:spPr>
            <a:xfrm>
              <a:off x="5373399" y="3268542"/>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rmAutofit/>
            </a:bodyPr>
            <a:lstStyle/>
            <a:p>
              <a:pPr marL="0" lvl="0" indent="0" algn="ctr" defTabSz="577850">
                <a:lnSpc>
                  <a:spcPct val="90000"/>
                </a:lnSpc>
                <a:spcBef>
                  <a:spcPct val="0"/>
                </a:spcBef>
                <a:spcAft>
                  <a:spcPct val="35000"/>
                </a:spcAft>
                <a:buNone/>
              </a:pPr>
              <a:r>
                <a:rPr lang="en-GB" sz="1300" b="1" kern="1200">
                  <a:solidFill>
                    <a:srgbClr val="0762BA"/>
                  </a:solidFill>
                  <a:effectLst/>
                  <a:latin typeface="Sassoon Infant Rg" panose="02000503030000020003" pitchFamily="2" charset="0"/>
                  <a:ea typeface="Sassoon Infant Rg" panose="02000503030000020003" pitchFamily="2" charset="0"/>
                </a:rPr>
                <a:t>Fluency &amp; Expression</a:t>
              </a:r>
            </a:p>
          </p:txBody>
        </p:sp>
      </p:grpSp>
      <p:sp>
        <p:nvSpPr>
          <p:cNvPr id="6" name="Rounded Rectangle 5">
            <a:extLst>
              <a:ext uri="{FF2B5EF4-FFF2-40B4-BE49-F238E27FC236}">
                <a16:creationId xmlns:a16="http://schemas.microsoft.com/office/drawing/2014/main" id="{D7466D49-4660-7227-B771-06F3B6102B62}"/>
              </a:ext>
            </a:extLst>
          </p:cNvPr>
          <p:cNvSpPr/>
          <p:nvPr/>
        </p:nvSpPr>
        <p:spPr>
          <a:xfrm>
            <a:off x="8019658" y="624524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
        <p:nvSpPr>
          <p:cNvPr id="15" name="TextBox 14">
            <a:extLst>
              <a:ext uri="{FF2B5EF4-FFF2-40B4-BE49-F238E27FC236}">
                <a16:creationId xmlns:a16="http://schemas.microsoft.com/office/drawing/2014/main" id="{DB1CFDC9-8812-2D57-F259-9934E0E81FC7}"/>
              </a:ext>
            </a:extLst>
          </p:cNvPr>
          <p:cNvSpPr txBox="1"/>
          <p:nvPr/>
        </p:nvSpPr>
        <p:spPr>
          <a:xfrm>
            <a:off x="183063" y="1034693"/>
            <a:ext cx="11864557" cy="5093190"/>
          </a:xfrm>
          <a:prstGeom prst="rect">
            <a:avLst/>
          </a:prstGeom>
          <a:solidFill>
            <a:schemeClr val="accent5">
              <a:lumMod val="20000"/>
              <a:lumOff val="80000"/>
            </a:schemeClr>
          </a:solidFill>
          <a:ln>
            <a:noFill/>
          </a:ln>
        </p:spPr>
        <p:txBody>
          <a:bodyPr wrap="square" anchor="ctr">
            <a:normAutofit/>
          </a:bodyPr>
          <a:lstStyle/>
          <a:p>
            <a:r>
              <a:rPr lang="en-GB" sz="2200"/>
              <a:t>Brazil is the largest country in South America, covering nearly half of the entire continent. It stretches across a wide range of latitudes and longitudes, sitting mainly in the southern hemisphere, though its most northerly regions reach across the equator into the northern hemisphere. This matters because the equator is the imaginary line that divides the Earth into two equal halves, and countries close to it receive the most direct sunlight throughout the year. Brazil shares borders with almost every other country in South America, including Colombia, Ecuador, Bolivia, Peru and Chile. England, by contrast, sits in the northern hemisphere at a latitude of roughly 50°N to 55°N, meaning it receives far less direct sunlight and enjoys a mild, temperate climate rather than a tropical one. Because Brazil and England are on different sides of the globe, they also fall into different time zones. Time zones are regions of the Earth that share the same standard time, and they are measured in relation to Greenwich Mean Time, or GMT. GMT is calculated from the Prime Meridian, which runs through the Royal Observatory in Greenwich, London. Brazil is typically between three and five hours behind GMT, depending on which part of the country you are in. When pupils in England are sitting down for lunch, children in São Paulo are only just starting their school morning.</a:t>
            </a:r>
            <a:endParaRPr lang="en-GB" sz="2200" noProof="0"/>
          </a:p>
        </p:txBody>
      </p:sp>
      <mc:AlternateContent xmlns:mc="http://schemas.openxmlformats.org/markup-compatibility/2006">
        <mc:Choice xmlns:p14="http://schemas.microsoft.com/office/powerpoint/2010/main" Requires="p14">
          <p:contentPart p14:bwMode="auto" r:id="rId5">
            <p14:nvContentPartPr>
              <p14:cNvPr id="3" name="Ink 2">
                <a:extLst>
                  <a:ext uri="{FF2B5EF4-FFF2-40B4-BE49-F238E27FC236}">
                    <a16:creationId xmlns:a16="http://schemas.microsoft.com/office/drawing/2014/main" id="{3EE41BA5-6181-DB30-A716-2A581FAABB59}"/>
                  </a:ext>
                </a:extLst>
              </p14:cNvPr>
              <p14:cNvContentPartPr/>
              <p14:nvPr/>
            </p14:nvContentPartPr>
            <p14:xfrm>
              <a:off x="1807560" y="4751640"/>
              <a:ext cx="2464920" cy="1620000"/>
            </p14:xfrm>
          </p:contentPart>
        </mc:Choice>
        <mc:Fallback>
          <p:pic>
            <p:nvPicPr>
              <p:cNvPr id="3" name="Ink 2">
                <a:extLst>
                  <a:ext uri="{FF2B5EF4-FFF2-40B4-BE49-F238E27FC236}">
                    <a16:creationId xmlns:a16="http://schemas.microsoft.com/office/drawing/2014/main" id="{3EE41BA5-6181-DB30-A716-2A581FAABB59}"/>
                  </a:ext>
                </a:extLst>
              </p:cNvPr>
              <p:cNvPicPr/>
              <p:nvPr/>
            </p:nvPicPr>
            <p:blipFill>
              <a:blip r:embed="rId6"/>
              <a:stretch>
                <a:fillRect/>
              </a:stretch>
            </p:blipFill>
            <p:spPr>
              <a:xfrm>
                <a:off x="1798200" y="4742280"/>
                <a:ext cx="2483640" cy="1638720"/>
              </a:xfrm>
              <a:prstGeom prst="rect">
                <a:avLst/>
              </a:prstGeom>
            </p:spPr>
          </p:pic>
        </mc:Fallback>
      </mc:AlternateContent>
    </p:spTree>
    <p:extLst>
      <p:ext uri="{BB962C8B-B14F-4D97-AF65-F5344CB8AC3E}">
        <p14:creationId xmlns:p14="http://schemas.microsoft.com/office/powerpoint/2010/main" val="303222904"/>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nextCondLst>
                <p:cond evt="onClick" delay="0">
                  <p:tgtEl>
                    <p:spTgt spid="6"/>
                  </p:tgtEl>
                </p:cond>
              </p:nextCondLst>
            </p:seq>
          </p:childTnLst>
        </p:cTn>
      </p:par>
    </p:tnLst>
    <p:bldLst>
      <p:bldP spid="15" grpId="0" animBg="1"/>
      <p:bldP spid="15"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7023D4CD-427D-4829-87ED-E2CC3EF8D760}"/>
              </a:ext>
            </a:extLst>
          </p:cNvPr>
          <p:cNvSpPr/>
          <p:nvPr/>
        </p:nvSpPr>
        <p:spPr>
          <a:xfrm>
            <a:off x="2609369" y="1646785"/>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7" name="Oval 6">
            <a:extLst>
              <a:ext uri="{FF2B5EF4-FFF2-40B4-BE49-F238E27FC236}">
                <a16:creationId xmlns:a16="http://schemas.microsoft.com/office/drawing/2014/main" id="{A35914BD-597C-4EC9-A8CC-64938F558A31}"/>
              </a:ext>
            </a:extLst>
          </p:cNvPr>
          <p:cNvSpPr/>
          <p:nvPr/>
        </p:nvSpPr>
        <p:spPr>
          <a:xfrm>
            <a:off x="2057663" y="2106659"/>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8" name="Group 7">
            <a:extLst>
              <a:ext uri="{FF2B5EF4-FFF2-40B4-BE49-F238E27FC236}">
                <a16:creationId xmlns:a16="http://schemas.microsoft.com/office/drawing/2014/main" id="{FE91008D-524B-4E64-AED8-DADBF402F1F1}"/>
              </a:ext>
            </a:extLst>
          </p:cNvPr>
          <p:cNvGrpSpPr/>
          <p:nvPr/>
        </p:nvGrpSpPr>
        <p:grpSpPr>
          <a:xfrm>
            <a:off x="3003018" y="1125085"/>
            <a:ext cx="1838188" cy="1169519"/>
            <a:chOff x="2644385" y="2866760"/>
            <a:chExt cx="1838188" cy="1384526"/>
          </a:xfrm>
        </p:grpSpPr>
        <p:sp>
          <p:nvSpPr>
            <p:cNvPr id="9" name="Freeform: Shape 8">
              <a:extLst>
                <a:ext uri="{FF2B5EF4-FFF2-40B4-BE49-F238E27FC236}">
                  <a16:creationId xmlns:a16="http://schemas.microsoft.com/office/drawing/2014/main" id="{3B1F94B5-AE2B-4839-8A01-9D2FC48647A0}"/>
                </a:ext>
              </a:extLst>
            </p:cNvPr>
            <p:cNvSpPr/>
            <p:nvPr/>
          </p:nvSpPr>
          <p:spPr>
            <a:xfrm>
              <a:off x="2644386" y="2866760"/>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b="1"/>
            </a:p>
          </p:txBody>
        </p:sp>
        <p:sp>
          <p:nvSpPr>
            <p:cNvPr id="10" name="TextBox 9">
              <a:extLst>
                <a:ext uri="{FF2B5EF4-FFF2-40B4-BE49-F238E27FC236}">
                  <a16:creationId xmlns:a16="http://schemas.microsoft.com/office/drawing/2014/main" id="{01F4601C-78F0-408A-BFB4-D2C386D5BE41}"/>
                </a:ext>
              </a:extLst>
            </p:cNvPr>
            <p:cNvSpPr txBox="1"/>
            <p:nvPr/>
          </p:nvSpPr>
          <p:spPr>
            <a:xfrm>
              <a:off x="2644385" y="3160918"/>
              <a:ext cx="1838187"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What am I learning?</a:t>
              </a:r>
            </a:p>
          </p:txBody>
        </p:sp>
      </p:grpSp>
      <p:pic>
        <p:nvPicPr>
          <p:cNvPr id="11" name="Picture 10" descr="A picture containing room  Description automatically generated">
            <a:extLst>
              <a:ext uri="{FF2B5EF4-FFF2-40B4-BE49-F238E27FC236}">
                <a16:creationId xmlns:a16="http://schemas.microsoft.com/office/drawing/2014/main" id="{0F52BAE7-58D2-4ABA-B083-76155F063DF0}"/>
              </a:ext>
            </a:extLst>
          </p:cNvPr>
          <p:cNvPicPr>
            <a:picLocks noChangeAspect="1"/>
          </p:cNvPicPr>
          <p:nvPr/>
        </p:nvPicPr>
        <p:blipFill>
          <a:blip r:embed="rId2" cstate="screen">
            <a:extLst>
              <a:ext uri="{28A0092B-C50C-407E-A947-70E740481C1C}">
                <a14:useLocalDpi xmlns:a14="http://schemas.microsoft.com/office/drawing/2010/main" val="0"/>
              </a:ext>
            </a:extLst>
          </a:blip>
          <a:stretch>
            <a:fillRect/>
          </a:stretch>
        </p:blipFill>
        <p:spPr>
          <a:xfrm>
            <a:off x="485896" y="2018390"/>
            <a:ext cx="1451414" cy="2106656"/>
          </a:xfrm>
          <a:prstGeom prst="rect">
            <a:avLst/>
          </a:prstGeom>
          <a:ln>
            <a:noFill/>
          </a:ln>
        </p:spPr>
      </p:pic>
      <p:sp>
        <p:nvSpPr>
          <p:cNvPr id="12" name="Freeform: Shape 11">
            <a:extLst>
              <a:ext uri="{FF2B5EF4-FFF2-40B4-BE49-F238E27FC236}">
                <a16:creationId xmlns:a16="http://schemas.microsoft.com/office/drawing/2014/main" id="{2308B9F9-02B7-4539-8FBF-46AC5DCEA9AA}"/>
              </a:ext>
            </a:extLst>
          </p:cNvPr>
          <p:cNvSpPr/>
          <p:nvPr/>
        </p:nvSpPr>
        <p:spPr>
          <a:xfrm>
            <a:off x="2797615" y="2918463"/>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3" name="Oval 12">
            <a:extLst>
              <a:ext uri="{FF2B5EF4-FFF2-40B4-BE49-F238E27FC236}">
                <a16:creationId xmlns:a16="http://schemas.microsoft.com/office/drawing/2014/main" id="{6A1CB78E-9D4B-4986-8879-83568C225091}"/>
              </a:ext>
            </a:extLst>
          </p:cNvPr>
          <p:cNvSpPr/>
          <p:nvPr/>
        </p:nvSpPr>
        <p:spPr>
          <a:xfrm>
            <a:off x="2458854" y="2918501"/>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14" name="Group 13">
            <a:extLst>
              <a:ext uri="{FF2B5EF4-FFF2-40B4-BE49-F238E27FC236}">
                <a16:creationId xmlns:a16="http://schemas.microsoft.com/office/drawing/2014/main" id="{CF45870B-7F74-4D54-8596-BFA710ED989D}"/>
              </a:ext>
            </a:extLst>
          </p:cNvPr>
          <p:cNvGrpSpPr/>
          <p:nvPr/>
        </p:nvGrpSpPr>
        <p:grpSpPr>
          <a:xfrm>
            <a:off x="3618760" y="2676281"/>
            <a:ext cx="2097602" cy="1251349"/>
            <a:chOff x="6125888" y="3028716"/>
            <a:chExt cx="1838187" cy="1384526"/>
          </a:xfrm>
          <a:solidFill>
            <a:schemeClr val="accent6">
              <a:lumMod val="60000"/>
              <a:lumOff val="40000"/>
            </a:schemeClr>
          </a:solidFill>
        </p:grpSpPr>
        <p:sp>
          <p:nvSpPr>
            <p:cNvPr id="15" name="Freeform: Shape 14">
              <a:extLst>
                <a:ext uri="{FF2B5EF4-FFF2-40B4-BE49-F238E27FC236}">
                  <a16:creationId xmlns:a16="http://schemas.microsoft.com/office/drawing/2014/main" id="{EA65950C-D815-47D7-8502-EDD27BCB7185}"/>
                </a:ext>
              </a:extLst>
            </p:cNvPr>
            <p:cNvSpPr/>
            <p:nvPr/>
          </p:nvSpPr>
          <p:spPr>
            <a:xfrm>
              <a:off x="6125888" y="3028716"/>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2400" b="1"/>
            </a:p>
          </p:txBody>
        </p:sp>
        <p:sp>
          <p:nvSpPr>
            <p:cNvPr id="16" name="TextBox 15">
              <a:extLst>
                <a:ext uri="{FF2B5EF4-FFF2-40B4-BE49-F238E27FC236}">
                  <a16:creationId xmlns:a16="http://schemas.microsoft.com/office/drawing/2014/main" id="{9616B4D3-C46F-48F5-8695-1B7F3A82ADA3}"/>
                </a:ext>
              </a:extLst>
            </p:cNvPr>
            <p:cNvSpPr txBox="1"/>
            <p:nvPr/>
          </p:nvSpPr>
          <p:spPr>
            <a:xfrm>
              <a:off x="6263965" y="3326148"/>
              <a:ext cx="1595765"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Why am I learning this ?</a:t>
              </a:r>
            </a:p>
          </p:txBody>
        </p:sp>
      </p:grpSp>
      <p:sp>
        <p:nvSpPr>
          <p:cNvPr id="17" name="Freeform: Shape 16">
            <a:extLst>
              <a:ext uri="{FF2B5EF4-FFF2-40B4-BE49-F238E27FC236}">
                <a16:creationId xmlns:a16="http://schemas.microsoft.com/office/drawing/2014/main" id="{03BB604F-2FA6-4611-A323-4B2AD52B72FE}"/>
              </a:ext>
            </a:extLst>
          </p:cNvPr>
          <p:cNvSpPr/>
          <p:nvPr/>
        </p:nvSpPr>
        <p:spPr>
          <a:xfrm>
            <a:off x="2490079" y="3963955"/>
            <a:ext cx="200648" cy="240777"/>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8" name="Oval 17">
            <a:extLst>
              <a:ext uri="{FF2B5EF4-FFF2-40B4-BE49-F238E27FC236}">
                <a16:creationId xmlns:a16="http://schemas.microsoft.com/office/drawing/2014/main" id="{198215EB-E5DE-4419-AF3E-61B06E6ECF56}"/>
              </a:ext>
            </a:extLst>
          </p:cNvPr>
          <p:cNvSpPr/>
          <p:nvPr/>
        </p:nvSpPr>
        <p:spPr>
          <a:xfrm>
            <a:off x="2258697" y="3780606"/>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9" name="TextBox 18">
            <a:extLst>
              <a:ext uri="{FF2B5EF4-FFF2-40B4-BE49-F238E27FC236}">
                <a16:creationId xmlns:a16="http://schemas.microsoft.com/office/drawing/2014/main" id="{5002CF86-309B-4BC1-AAB4-D91F81D726FF}"/>
              </a:ext>
            </a:extLst>
          </p:cNvPr>
          <p:cNvSpPr txBox="1"/>
          <p:nvPr/>
        </p:nvSpPr>
        <p:spPr>
          <a:xfrm>
            <a:off x="5068949" y="1230333"/>
            <a:ext cx="5311218" cy="830997"/>
          </a:xfrm>
          <a:prstGeom prst="rect">
            <a:avLst/>
          </a:prstGeom>
          <a:noFill/>
        </p:spPr>
        <p:txBody>
          <a:bodyPr wrap="square" rtlCol="0">
            <a:spAutoFit/>
          </a:bodyPr>
          <a:lstStyle/>
          <a:p>
            <a:r>
              <a:rPr lang="en-GB" sz="2400">
                <a:latin typeface="+mj-lt"/>
              </a:rPr>
              <a:t>I  am learning to find and extract information from within a text.</a:t>
            </a:r>
          </a:p>
        </p:txBody>
      </p:sp>
      <p:sp>
        <p:nvSpPr>
          <p:cNvPr id="20" name="Rectangle 19">
            <a:extLst>
              <a:ext uri="{FF2B5EF4-FFF2-40B4-BE49-F238E27FC236}">
                <a16:creationId xmlns:a16="http://schemas.microsoft.com/office/drawing/2014/main" id="{06F95318-6BA1-4E64-BFC4-CA399BC0C6E8}"/>
              </a:ext>
            </a:extLst>
          </p:cNvPr>
          <p:cNvSpPr/>
          <p:nvPr/>
        </p:nvSpPr>
        <p:spPr>
          <a:xfrm>
            <a:off x="5597291" y="4824722"/>
            <a:ext cx="5583685" cy="830997"/>
          </a:xfrm>
          <a:prstGeom prst="rect">
            <a:avLst/>
          </a:prstGeom>
          <a:noFill/>
        </p:spPr>
        <p:txBody>
          <a:bodyPr wrap="square">
            <a:spAutoFit/>
          </a:bodyPr>
          <a:lstStyle/>
          <a:p>
            <a:r>
              <a:rPr lang="en-GB" sz="2400">
                <a:latin typeface="+mj-lt"/>
              </a:rPr>
              <a:t>I will show this by answering questions, making reference to the text.</a:t>
            </a:r>
          </a:p>
        </p:txBody>
      </p:sp>
      <p:grpSp>
        <p:nvGrpSpPr>
          <p:cNvPr id="26" name="Group 25">
            <a:extLst>
              <a:ext uri="{FF2B5EF4-FFF2-40B4-BE49-F238E27FC236}">
                <a16:creationId xmlns:a16="http://schemas.microsoft.com/office/drawing/2014/main" id="{2B08C31D-ED97-4B43-811F-A2D5B7EC5D3F}"/>
              </a:ext>
            </a:extLst>
          </p:cNvPr>
          <p:cNvGrpSpPr/>
          <p:nvPr/>
        </p:nvGrpSpPr>
        <p:grpSpPr>
          <a:xfrm>
            <a:off x="2968729" y="4615048"/>
            <a:ext cx="2401890" cy="1148058"/>
            <a:chOff x="10001131" y="2709337"/>
            <a:chExt cx="1838187" cy="1105414"/>
          </a:xfrm>
        </p:grpSpPr>
        <p:sp>
          <p:nvSpPr>
            <p:cNvPr id="27" name="Freeform: Shape 26">
              <a:extLst>
                <a:ext uri="{FF2B5EF4-FFF2-40B4-BE49-F238E27FC236}">
                  <a16:creationId xmlns:a16="http://schemas.microsoft.com/office/drawing/2014/main" id="{4A04811F-4042-449A-B9D1-E2A88F2EF32C}"/>
                </a:ext>
              </a:extLst>
            </p:cNvPr>
            <p:cNvSpPr/>
            <p:nvPr/>
          </p:nvSpPr>
          <p:spPr>
            <a:xfrm>
              <a:off x="10001131" y="2709337"/>
              <a:ext cx="1838187" cy="1105414"/>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a:p>
          </p:txBody>
        </p:sp>
        <p:sp>
          <p:nvSpPr>
            <p:cNvPr id="28" name="TextBox 27">
              <a:extLst>
                <a:ext uri="{FF2B5EF4-FFF2-40B4-BE49-F238E27FC236}">
                  <a16:creationId xmlns:a16="http://schemas.microsoft.com/office/drawing/2014/main" id="{4CFC6DFC-1FF7-406B-91CA-DEF258FBDA0F}"/>
                </a:ext>
              </a:extLst>
            </p:cNvPr>
            <p:cNvSpPr txBox="1"/>
            <p:nvPr/>
          </p:nvSpPr>
          <p:spPr>
            <a:xfrm>
              <a:off x="10146498" y="2857389"/>
              <a:ext cx="1547451" cy="622324"/>
            </a:xfrm>
            <a:prstGeom prst="rect">
              <a:avLst/>
            </a:prstGeom>
            <a:noFill/>
            <a:ln w="19050">
              <a:noFill/>
            </a:ln>
          </p:spPr>
          <p:txBody>
            <a:bodyPr wrap="square" rtlCol="0">
              <a:spAutoFit/>
            </a:bodyPr>
            <a:lstStyle/>
            <a:p>
              <a:pPr algn="ctr"/>
              <a:r>
                <a:rPr lang="en-GB" b="1">
                  <a:latin typeface="Sassoon Primary Rg" panose="02000606020000020004" pitchFamily="2" charset="0"/>
                </a:rPr>
                <a:t>How will I know when I get there?</a:t>
              </a:r>
            </a:p>
          </p:txBody>
        </p:sp>
      </p:grpSp>
      <p:sp>
        <p:nvSpPr>
          <p:cNvPr id="29" name="Freeform: Shape 28">
            <a:extLst>
              <a:ext uri="{FF2B5EF4-FFF2-40B4-BE49-F238E27FC236}">
                <a16:creationId xmlns:a16="http://schemas.microsoft.com/office/drawing/2014/main" id="{5B068E6C-5697-4CD7-B539-8E733F24A280}"/>
              </a:ext>
            </a:extLst>
          </p:cNvPr>
          <p:cNvSpPr/>
          <p:nvPr/>
        </p:nvSpPr>
        <p:spPr>
          <a:xfrm>
            <a:off x="2767911" y="4261260"/>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0" name="Freeform: Shape 29">
            <a:extLst>
              <a:ext uri="{FF2B5EF4-FFF2-40B4-BE49-F238E27FC236}">
                <a16:creationId xmlns:a16="http://schemas.microsoft.com/office/drawing/2014/main" id="{D8ECF509-D074-4A96-BD14-1B7F8C9EF352}"/>
              </a:ext>
            </a:extLst>
          </p:cNvPr>
          <p:cNvSpPr/>
          <p:nvPr/>
        </p:nvSpPr>
        <p:spPr>
          <a:xfrm>
            <a:off x="3206304" y="2991789"/>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5" name="Freeform: Shape 34">
            <a:extLst>
              <a:ext uri="{FF2B5EF4-FFF2-40B4-BE49-F238E27FC236}">
                <a16:creationId xmlns:a16="http://schemas.microsoft.com/office/drawing/2014/main" id="{E3884F2F-92E8-4449-B9C6-4BB79443B2D3}"/>
              </a:ext>
            </a:extLst>
          </p:cNvPr>
          <p:cNvSpPr/>
          <p:nvPr/>
        </p:nvSpPr>
        <p:spPr>
          <a:xfrm>
            <a:off x="2271587" y="1913146"/>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5" name="TextBox 4">
            <a:extLst>
              <a:ext uri="{FF2B5EF4-FFF2-40B4-BE49-F238E27FC236}">
                <a16:creationId xmlns:a16="http://schemas.microsoft.com/office/drawing/2014/main" id="{54230F3D-A112-7284-873F-C56C8ED18544}"/>
              </a:ext>
            </a:extLst>
          </p:cNvPr>
          <p:cNvSpPr txBox="1"/>
          <p:nvPr/>
        </p:nvSpPr>
        <p:spPr>
          <a:xfrm>
            <a:off x="5873925" y="2665439"/>
            <a:ext cx="5507001" cy="1200329"/>
          </a:xfrm>
          <a:prstGeom prst="rect">
            <a:avLst/>
          </a:prstGeom>
          <a:noFill/>
        </p:spPr>
        <p:txBody>
          <a:bodyPr wrap="square" rtlCol="0">
            <a:spAutoFit/>
          </a:bodyPr>
          <a:lstStyle/>
          <a:p>
            <a:r>
              <a:rPr lang="en-GB" sz="2400">
                <a:latin typeface="Sassoon Infant Rg" panose="02000503030000020003" pitchFamily="2" charset="0"/>
                <a:ea typeface="Sassoon Infant Rg" panose="02000503030000020003" pitchFamily="2" charset="0"/>
              </a:rPr>
              <a:t>I am learning this because it will help me to develop a clear understanding of what I am reading.</a:t>
            </a:r>
          </a:p>
        </p:txBody>
      </p:sp>
      <p:grpSp>
        <p:nvGrpSpPr>
          <p:cNvPr id="2" name="Group 1">
            <a:extLst>
              <a:ext uri="{FF2B5EF4-FFF2-40B4-BE49-F238E27FC236}">
                <a16:creationId xmlns:a16="http://schemas.microsoft.com/office/drawing/2014/main" id="{63BCCA52-B2F9-1150-2EC2-A8A910DE6CDF}"/>
              </a:ext>
            </a:extLst>
          </p:cNvPr>
          <p:cNvGrpSpPr/>
          <p:nvPr/>
        </p:nvGrpSpPr>
        <p:grpSpPr>
          <a:xfrm>
            <a:off x="10604358" y="118545"/>
            <a:ext cx="1530874" cy="2012378"/>
            <a:chOff x="8657485" y="829505"/>
            <a:chExt cx="1316831" cy="1668805"/>
          </a:xfrm>
        </p:grpSpPr>
        <p:grpSp>
          <p:nvGrpSpPr>
            <p:cNvPr id="24" name="Group 23">
              <a:extLst>
                <a:ext uri="{FF2B5EF4-FFF2-40B4-BE49-F238E27FC236}">
                  <a16:creationId xmlns:a16="http://schemas.microsoft.com/office/drawing/2014/main" id="{9DF1F7D1-5BF2-255E-1221-DF66584F31C4}"/>
                </a:ext>
              </a:extLst>
            </p:cNvPr>
            <p:cNvGrpSpPr/>
            <p:nvPr/>
          </p:nvGrpSpPr>
          <p:grpSpPr>
            <a:xfrm>
              <a:off x="8657485" y="829505"/>
              <a:ext cx="1316831" cy="1316831"/>
              <a:chOff x="3405584" y="4100477"/>
              <a:chExt cx="1316831" cy="1316831"/>
            </a:xfrm>
          </p:grpSpPr>
          <p:sp>
            <p:nvSpPr>
              <p:cNvPr id="31" name="Oval 30">
                <a:extLst>
                  <a:ext uri="{FF2B5EF4-FFF2-40B4-BE49-F238E27FC236}">
                    <a16:creationId xmlns:a16="http://schemas.microsoft.com/office/drawing/2014/main" id="{36527B03-E8B0-B308-5625-5D60701BABC9}"/>
                  </a:ext>
                </a:extLst>
              </p:cNvPr>
              <p:cNvSpPr/>
              <p:nvPr/>
            </p:nvSpPr>
            <p:spPr>
              <a:xfrm>
                <a:off x="3405584" y="4100477"/>
                <a:ext cx="1316831" cy="1316831"/>
              </a:xfrm>
              <a:prstGeom prst="ellipse">
                <a:avLst/>
              </a:prstGeom>
              <a:solidFill>
                <a:srgbClr val="FFD5EE"/>
              </a:solidFill>
              <a:ln w="38100">
                <a:solidFill>
                  <a:srgbClr val="CD007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2" name="Oval 4">
                <a:extLst>
                  <a:ext uri="{FF2B5EF4-FFF2-40B4-BE49-F238E27FC236}">
                    <a16:creationId xmlns:a16="http://schemas.microsoft.com/office/drawing/2014/main" id="{311692BE-7960-B1C4-FAA2-65AA32C03A40}"/>
                  </a:ext>
                </a:extLst>
              </p:cNvPr>
              <p:cNvSpPr txBox="1"/>
              <p:nvPr/>
            </p:nvSpPr>
            <p:spPr>
              <a:xfrm>
                <a:off x="3598429" y="4293322"/>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GB" sz="1200" b="1" kern="1200">
                    <a:solidFill>
                      <a:srgbClr val="CD007A"/>
                    </a:solidFill>
                    <a:latin typeface="Sassoon Infant Rg" panose="02000503030000020003" pitchFamily="2" charset="0"/>
                    <a:ea typeface="Sassoon Infant Rg" panose="02000503030000020003" pitchFamily="2" charset="0"/>
                  </a:rPr>
                  <a:t>Discuss &amp; explain thinking &amp; understanding</a:t>
                </a:r>
              </a:p>
            </p:txBody>
          </p:sp>
        </p:grpSp>
        <p:sp>
          <p:nvSpPr>
            <p:cNvPr id="25" name="TextBox 24">
              <a:extLst>
                <a:ext uri="{FF2B5EF4-FFF2-40B4-BE49-F238E27FC236}">
                  <a16:creationId xmlns:a16="http://schemas.microsoft.com/office/drawing/2014/main" id="{0E3DBC74-DEF3-15BE-F488-6929DEE9B83C}"/>
                </a:ext>
              </a:extLst>
            </p:cNvPr>
            <p:cNvSpPr txBox="1"/>
            <p:nvPr/>
          </p:nvSpPr>
          <p:spPr>
            <a:xfrm>
              <a:off x="8826392" y="2243080"/>
              <a:ext cx="979015" cy="255230"/>
            </a:xfrm>
            <a:prstGeom prst="rect">
              <a:avLst/>
            </a:prstGeom>
            <a:noFill/>
          </p:spPr>
          <p:txBody>
            <a:bodyPr wrap="square" rtlCol="0">
              <a:spAutoFit/>
            </a:bodyPr>
            <a:lstStyle/>
            <a:p>
              <a:pPr algn="ctr"/>
              <a:r>
                <a:rPr lang="en-GB" sz="1400" b="1">
                  <a:solidFill>
                    <a:srgbClr val="CD007A"/>
                  </a:solidFill>
                </a:rPr>
                <a:t>retrieve</a:t>
              </a:r>
            </a:p>
          </p:txBody>
        </p:sp>
      </p:grpSp>
    </p:spTree>
    <p:extLst>
      <p:ext uri="{BB962C8B-B14F-4D97-AF65-F5344CB8AC3E}">
        <p14:creationId xmlns:p14="http://schemas.microsoft.com/office/powerpoint/2010/main" val="19171547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DDB52-DA63-044E-52E1-B8873C55D66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A83BB0C-F58E-DA56-564A-0BADE2422FC9}"/>
              </a:ext>
            </a:extLst>
          </p:cNvPr>
          <p:cNvPicPr>
            <a:picLocks noChangeAspect="1"/>
          </p:cNvPicPr>
          <p:nvPr/>
        </p:nvPicPr>
        <p:blipFill>
          <a:blip r:embed="rId2"/>
          <a:stretch>
            <a:fillRect/>
          </a:stretch>
        </p:blipFill>
        <p:spPr>
          <a:xfrm>
            <a:off x="10424916" y="134700"/>
            <a:ext cx="1616752" cy="697982"/>
          </a:xfrm>
          <a:prstGeom prst="rect">
            <a:avLst/>
          </a:prstGeom>
        </p:spPr>
      </p:pic>
      <p:sp>
        <p:nvSpPr>
          <p:cNvPr id="2" name="TextBox 1">
            <a:extLst>
              <a:ext uri="{FF2B5EF4-FFF2-40B4-BE49-F238E27FC236}">
                <a16:creationId xmlns:a16="http://schemas.microsoft.com/office/drawing/2014/main" id="{640BB64A-1496-7976-37EB-DCEEC8FBF17F}"/>
              </a:ext>
            </a:extLst>
          </p:cNvPr>
          <p:cNvSpPr txBox="1"/>
          <p:nvPr/>
        </p:nvSpPr>
        <p:spPr>
          <a:xfrm>
            <a:off x="378830" y="1843059"/>
            <a:ext cx="11713854" cy="3429144"/>
          </a:xfrm>
          <a:prstGeom prst="rect">
            <a:avLst/>
          </a:prstGeom>
          <a:noFill/>
        </p:spPr>
        <p:txBody>
          <a:bodyPr wrap="square" rtlCol="0">
            <a:spAutoFit/>
          </a:bodyPr>
          <a:lstStyle/>
          <a:p>
            <a:pPr lvl="1">
              <a:spcAft>
                <a:spcPts val="500"/>
              </a:spcAft>
            </a:pPr>
            <a:r>
              <a:rPr lang="en-GB" sz="2200"/>
              <a:t>What is the equator, and why does its position matter for a country's climate?</a:t>
            </a:r>
          </a:p>
          <a:p>
            <a:pPr lvl="1">
              <a:spcAft>
                <a:spcPts val="500"/>
              </a:spcAft>
            </a:pPr>
            <a:r>
              <a:rPr lang="en-GB" sz="2200"/>
              <a:t>The equator is an imaginary line dividing the Earth into north and south. Countries near it receive more direct sunlight, so they have warmer, tropical climates.</a:t>
            </a:r>
          </a:p>
          <a:p>
            <a:pPr lvl="1">
              <a:spcAft>
                <a:spcPts val="500"/>
              </a:spcAft>
            </a:pPr>
            <a:endParaRPr lang="en-GB" sz="2200"/>
          </a:p>
          <a:p>
            <a:pPr lvl="1">
              <a:spcAft>
                <a:spcPts val="500"/>
              </a:spcAft>
            </a:pPr>
            <a:r>
              <a:rPr lang="en-GB" sz="2200"/>
              <a:t>Brazil is mainly in the southern hemisphere. What does this mean?</a:t>
            </a:r>
          </a:p>
          <a:p>
            <a:pPr lvl="1">
              <a:spcAft>
                <a:spcPts val="500"/>
              </a:spcAft>
            </a:pPr>
            <a:r>
              <a:rPr lang="en-GB" sz="2200"/>
              <a:t>It means that most of Brazil is below the equator, in the southern half of the Earth.</a:t>
            </a:r>
          </a:p>
          <a:p>
            <a:pPr lvl="1">
              <a:spcAft>
                <a:spcPts val="500"/>
              </a:spcAft>
            </a:pPr>
            <a:endParaRPr lang="en-GB" sz="2200"/>
          </a:p>
        </p:txBody>
      </p:sp>
      <p:sp>
        <p:nvSpPr>
          <p:cNvPr id="6" name="TextBox 5">
            <a:extLst>
              <a:ext uri="{FF2B5EF4-FFF2-40B4-BE49-F238E27FC236}">
                <a16:creationId xmlns:a16="http://schemas.microsoft.com/office/drawing/2014/main" id="{5BDAB0E7-50E0-A284-5814-9D1241C67513}"/>
              </a:ext>
            </a:extLst>
          </p:cNvPr>
          <p:cNvSpPr txBox="1"/>
          <p:nvPr/>
        </p:nvSpPr>
        <p:spPr>
          <a:xfrm>
            <a:off x="288098" y="335454"/>
            <a:ext cx="6329618" cy="707886"/>
          </a:xfrm>
          <a:prstGeom prst="rect">
            <a:avLst/>
          </a:prstGeom>
          <a:noFill/>
        </p:spPr>
        <p:txBody>
          <a:bodyPr wrap="none" rtlCol="0">
            <a:spAutoFit/>
          </a:bodyPr>
          <a:lstStyle/>
          <a:p>
            <a:r>
              <a:rPr lang="en-GB" sz="4000" b="1" u="sng"/>
              <a:t>Practice questions - Vocabulary</a:t>
            </a:r>
          </a:p>
        </p:txBody>
      </p:sp>
      <p:sp>
        <p:nvSpPr>
          <p:cNvPr id="3" name="TextBox 2">
            <a:extLst>
              <a:ext uri="{FF2B5EF4-FFF2-40B4-BE49-F238E27FC236}">
                <a16:creationId xmlns:a16="http://schemas.microsoft.com/office/drawing/2014/main" id="{68036728-B080-EA83-ECF1-479482CB4A6C}"/>
              </a:ext>
            </a:extLst>
          </p:cNvPr>
          <p:cNvSpPr txBox="1"/>
          <p:nvPr/>
        </p:nvSpPr>
        <p:spPr>
          <a:xfrm>
            <a:off x="288098" y="937015"/>
            <a:ext cx="10156370" cy="369332"/>
          </a:xfrm>
          <a:prstGeom prst="rect">
            <a:avLst/>
          </a:prstGeom>
          <a:noFill/>
        </p:spPr>
        <p:txBody>
          <a:bodyPr wrap="none" rtlCol="0">
            <a:spAutoFit/>
          </a:bodyPr>
          <a:lstStyle/>
          <a:p>
            <a:r>
              <a:rPr lang="en-GB"/>
              <a:t>Scanning the text – I am trying to find the parts in the text where I will retrieve the answer to the question.</a:t>
            </a:r>
          </a:p>
        </p:txBody>
      </p:sp>
      <p:sp>
        <p:nvSpPr>
          <p:cNvPr id="7" name="TextBox 6">
            <a:extLst>
              <a:ext uri="{FF2B5EF4-FFF2-40B4-BE49-F238E27FC236}">
                <a16:creationId xmlns:a16="http://schemas.microsoft.com/office/drawing/2014/main" id="{62ABBBA0-AF7C-8A47-0810-0E93014D5573}"/>
              </a:ext>
            </a:extLst>
          </p:cNvPr>
          <p:cNvSpPr txBox="1"/>
          <p:nvPr/>
        </p:nvSpPr>
        <p:spPr>
          <a:xfrm>
            <a:off x="739293" y="5447777"/>
            <a:ext cx="10292816" cy="830997"/>
          </a:xfrm>
          <a:prstGeom prst="rect">
            <a:avLst/>
          </a:prstGeom>
          <a:noFill/>
        </p:spPr>
        <p:txBody>
          <a:bodyPr wrap="square" rtlCol="0">
            <a:spAutoFit/>
          </a:bodyPr>
          <a:lstStyle/>
          <a:p>
            <a:r>
              <a:rPr lang="en-GB" sz="2400"/>
              <a:t>Checking my answers – does my answer match the question and use information from the text?</a:t>
            </a:r>
          </a:p>
        </p:txBody>
      </p:sp>
      <p:sp>
        <p:nvSpPr>
          <p:cNvPr id="9" name="TextBox 8">
            <a:extLst>
              <a:ext uri="{FF2B5EF4-FFF2-40B4-BE49-F238E27FC236}">
                <a16:creationId xmlns:a16="http://schemas.microsoft.com/office/drawing/2014/main" id="{C39F0976-7660-64BA-E055-E6E60B65E8BB}"/>
              </a:ext>
            </a:extLst>
          </p:cNvPr>
          <p:cNvSpPr txBox="1"/>
          <p:nvPr/>
        </p:nvSpPr>
        <p:spPr>
          <a:xfrm>
            <a:off x="378830" y="1512948"/>
            <a:ext cx="11434340" cy="3853893"/>
          </a:xfrm>
          <a:prstGeom prst="rect">
            <a:avLst/>
          </a:prstGeom>
          <a:solidFill>
            <a:schemeClr val="accent5">
              <a:lumMod val="20000"/>
              <a:lumOff val="80000"/>
            </a:schemeClr>
          </a:solidFill>
        </p:spPr>
        <p:txBody>
          <a:bodyPr wrap="square" anchor="ctr">
            <a:normAutofit fontScale="92500"/>
          </a:bodyPr>
          <a:lstStyle/>
          <a:p>
            <a:r>
              <a:rPr lang="en-GB" sz="2200"/>
              <a:t>Brazil is the largest country in South America, covering nearly half of the entire continent. It stretches across a wide range of latitudes and longitudes, sitting mainly in the southern hemisphere, though its most northerly regions reach across the equator into the northern hemisphere. This matters because the equator is the imaginary line that divides the Earth into two equal halves, and countries close to it receive the most direct sunlight throughout the year. Brazil shares borders with almost every other country in South America, including Colombia, Ecuador, Bolivia, Peru and Chile. England, by contrast, sits in the northern hemisphere at a latitude of roughly 50°N to 55°N, meaning it receives far less direct sunlight and enjoys a mild, temperate climate rather than a tropical one. Because Brazil and England are on different sides of the globe, they also fall into different time zones. Time zones are regions of the Earth that share the same standard time, and they are measured in relation to Greenwich Mean Time, or GMT. GMT is calculated from the Prime Meridian, which runs through the Royal Observatory in Greenwich, London. Brazil is typically between three and five hours behind GMT, depending on which part of the country you are in. When pupils in England are sitting down for lunch, children in São Paulo are only just starting their school morning.</a:t>
            </a:r>
          </a:p>
        </p:txBody>
      </p:sp>
      <p:sp>
        <p:nvSpPr>
          <p:cNvPr id="8" name="Rounded Rectangle 7">
            <a:extLst>
              <a:ext uri="{FF2B5EF4-FFF2-40B4-BE49-F238E27FC236}">
                <a16:creationId xmlns:a16="http://schemas.microsoft.com/office/drawing/2014/main" id="{1F9C4591-5FD6-13A6-965E-8E77A5CE3342}"/>
              </a:ext>
            </a:extLst>
          </p:cNvPr>
          <p:cNvSpPr/>
          <p:nvPr/>
        </p:nvSpPr>
        <p:spPr>
          <a:xfrm>
            <a:off x="8019658" y="624524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pic>
        <p:nvPicPr>
          <p:cNvPr id="4" name="Picture 3">
            <a:extLst>
              <a:ext uri="{FF2B5EF4-FFF2-40B4-BE49-F238E27FC236}">
                <a16:creationId xmlns:a16="http://schemas.microsoft.com/office/drawing/2014/main" id="{98C313D4-3635-57FE-CBB6-13AFE64BC9F7}"/>
              </a:ext>
            </a:extLst>
          </p:cNvPr>
          <p:cNvPicPr/>
          <p:nvPr/>
        </p:nvPicPr>
        <p:blipFill>
          <a:blip r:embed="rId3">
            <a:extLst>
              <a:ext uri="{28A0092B-C50C-407E-A947-70E740481C1C}">
                <a14:useLocalDpi xmlns:a14="http://schemas.microsoft.com/office/drawing/2010/main" val="0"/>
              </a:ext>
            </a:extLst>
          </a:blip>
          <a:stretch>
            <a:fillRect/>
          </a:stretch>
        </p:blipFill>
        <p:spPr>
          <a:xfrm>
            <a:off x="5250435" y="6048469"/>
            <a:ext cx="1691129" cy="711848"/>
          </a:xfrm>
          <a:prstGeom prst="rect">
            <a:avLst/>
          </a:prstGeom>
        </p:spPr>
      </p:pic>
    </p:spTree>
    <p:extLst>
      <p:ext uri="{BB962C8B-B14F-4D97-AF65-F5344CB8AC3E}">
        <p14:creationId xmlns:p14="http://schemas.microsoft.com/office/powerpoint/2010/main" val="4127022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7" restart="whenNotActive" fill="hold" evtFilter="cancelBubble" nodeType="interactiveSeq">
                <p:stCondLst>
                  <p:cond evt="onClick" delay="0">
                    <p:tgtEl>
                      <p:spTgt spid="8"/>
                    </p:tgtEl>
                  </p:cond>
                </p:stCondLst>
                <p:endSync evt="end" delay="0">
                  <p:rtn val="all"/>
                </p:endSync>
                <p:childTnLst>
                  <p:par>
                    <p:cTn id="28" fill="hold">
                      <p:stCondLst>
                        <p:cond delay="0"/>
                      </p:stCondLst>
                      <p:childTnLst>
                        <p:par>
                          <p:cTn id="29" fill="hold">
                            <p:stCondLst>
                              <p:cond delay="0"/>
                            </p:stCondLst>
                            <p:childTnLst>
                              <p:par>
                                <p:cTn id="30" presetID="1"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xit" presetSubtype="0" fill="hold" grpId="1" nodeType="clickEffect">
                                  <p:stCondLst>
                                    <p:cond delay="0"/>
                                  </p:stCondLst>
                                  <p:childTnLst>
                                    <p:set>
                                      <p:cBhvr>
                                        <p:cTn id="35" dur="1" fill="hold">
                                          <p:stCondLst>
                                            <p:cond delay="0"/>
                                          </p:stCondLst>
                                        </p:cTn>
                                        <p:tgtEl>
                                          <p:spTgt spid="9"/>
                                        </p:tgtEl>
                                        <p:attrNameLst>
                                          <p:attrName>style.visibility</p:attrName>
                                        </p:attrNameLst>
                                      </p:cBhvr>
                                      <p:to>
                                        <p:strVal val="hidden"/>
                                      </p:to>
                                    </p:set>
                                  </p:childTnLst>
                                </p:cTn>
                              </p:par>
                            </p:childTnLst>
                          </p:cTn>
                        </p:par>
                      </p:childTnLst>
                    </p:cTn>
                  </p:par>
                </p:childTnLst>
              </p:cTn>
              <p:nextCondLst>
                <p:cond evt="onClick" delay="0">
                  <p:tgtEl>
                    <p:spTgt spid="8"/>
                  </p:tgtEl>
                </p:cond>
              </p:nextCondLst>
            </p:seq>
          </p:childTnLst>
        </p:cTn>
      </p:par>
    </p:tnLst>
    <p:bldLst>
      <p:bldP spid="7" grpId="0"/>
      <p:bldP spid="9" grpId="0" animBg="1"/>
      <p:bldP spid="9"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8150-E2BB-D124-E558-AC8A265F32E2}"/>
              </a:ext>
            </a:extLst>
          </p:cNvPr>
          <p:cNvSpPr>
            <a:spLocks noGrp="1"/>
          </p:cNvSpPr>
          <p:nvPr>
            <p:ph type="ctrTitle"/>
          </p:nvPr>
        </p:nvSpPr>
        <p:spPr>
          <a:xfrm>
            <a:off x="0" y="2017477"/>
            <a:ext cx="12192000" cy="2387600"/>
          </a:xfrm>
        </p:spPr>
        <p:txBody>
          <a:bodyPr/>
          <a:lstStyle/>
          <a:p>
            <a:r>
              <a:rPr lang="en-GB">
                <a:latin typeface="Sassoon Infant Rg" panose="02000503030000020003" pitchFamily="2" charset="0"/>
              </a:rPr>
              <a:t>Being a Reader</a:t>
            </a:r>
          </a:p>
        </p:txBody>
      </p:sp>
      <p:grpSp>
        <p:nvGrpSpPr>
          <p:cNvPr id="4" name="Group 3">
            <a:extLst>
              <a:ext uri="{FF2B5EF4-FFF2-40B4-BE49-F238E27FC236}">
                <a16:creationId xmlns:a16="http://schemas.microsoft.com/office/drawing/2014/main" id="{5F3F8467-5724-D86C-FDA4-D49533DEC4F0}"/>
              </a:ext>
            </a:extLst>
          </p:cNvPr>
          <p:cNvGrpSpPr/>
          <p:nvPr/>
        </p:nvGrpSpPr>
        <p:grpSpPr>
          <a:xfrm>
            <a:off x="4568895" y="211840"/>
            <a:ext cx="3039122" cy="3522775"/>
            <a:chOff x="7629233" y="677174"/>
            <a:chExt cx="2090136" cy="2455590"/>
          </a:xfrm>
        </p:grpSpPr>
        <p:pic>
          <p:nvPicPr>
            <p:cNvPr id="5" name="Picture 8" descr="Reading Icon 2954745">
              <a:extLst>
                <a:ext uri="{FF2B5EF4-FFF2-40B4-BE49-F238E27FC236}">
                  <a16:creationId xmlns:a16="http://schemas.microsoft.com/office/drawing/2014/main" id="{2B1C2540-38D6-7D21-7288-1F3B603531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9233" y="1184735"/>
              <a:ext cx="2090136" cy="19480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F3344A5-4924-D3BC-68C4-52E2EB3B6D65}"/>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6627" b="95181" l="4969" r="92547">
                          <a14:foregroundMark x1="43478" y1="94578" x2="43478" y2="94578"/>
                          <a14:foregroundMark x1="4969" y1="50602" x2="4969" y2="50602"/>
                          <a14:foregroundMark x1="16770" y1="19277" x2="16770" y2="19277"/>
                          <a14:foregroundMark x1="49689" y1="8434" x2="49689" y2="8434"/>
                          <a14:foregroundMark x1="80124" y1="19277" x2="80124" y2="19277"/>
                          <a14:foregroundMark x1="56522" y1="95783" x2="56522" y2="95783"/>
                          <a14:foregroundMark x1="89441" y1="49398" x2="89441" y2="49398"/>
                          <a14:foregroundMark x1="49689" y1="6627" x2="49689" y2="6627"/>
                          <a14:foregroundMark x1="92547" y1="49398" x2="92547" y2="49398"/>
                        </a14:backgroundRemoval>
                      </a14:imgEffect>
                    </a14:imgLayer>
                  </a14:imgProps>
                </a:ext>
              </a:extLst>
            </a:blip>
            <a:stretch>
              <a:fillRect/>
            </a:stretch>
          </p:blipFill>
          <p:spPr>
            <a:xfrm>
              <a:off x="8856582" y="677174"/>
              <a:ext cx="716760" cy="688774"/>
            </a:xfrm>
            <a:prstGeom prst="rect">
              <a:avLst/>
            </a:prstGeom>
          </p:spPr>
        </p:pic>
      </p:grpSp>
      <p:sp>
        <p:nvSpPr>
          <p:cNvPr id="3" name="TextBox 2">
            <a:extLst>
              <a:ext uri="{FF2B5EF4-FFF2-40B4-BE49-F238E27FC236}">
                <a16:creationId xmlns:a16="http://schemas.microsoft.com/office/drawing/2014/main" id="{9AA1DE16-8C7B-4868-2DE3-9C9C7D7D4324}"/>
              </a:ext>
            </a:extLst>
          </p:cNvPr>
          <p:cNvSpPr txBox="1"/>
          <p:nvPr/>
        </p:nvSpPr>
        <p:spPr>
          <a:xfrm>
            <a:off x="0" y="4552141"/>
            <a:ext cx="12192000" cy="707886"/>
          </a:xfrm>
          <a:prstGeom prst="rect">
            <a:avLst/>
          </a:prstGeom>
          <a:noFill/>
        </p:spPr>
        <p:txBody>
          <a:bodyPr wrap="square" rtlCol="0">
            <a:spAutoFit/>
          </a:bodyPr>
          <a:lstStyle/>
          <a:p>
            <a:pPr algn="ctr"/>
            <a:r>
              <a:rPr lang="en-GB" sz="4000"/>
              <a:t>Retrieval</a:t>
            </a:r>
            <a:endParaRPr lang="en-GB"/>
          </a:p>
        </p:txBody>
      </p:sp>
      <p:sp>
        <p:nvSpPr>
          <p:cNvPr id="6" name="TextBox 5">
            <a:extLst>
              <a:ext uri="{FF2B5EF4-FFF2-40B4-BE49-F238E27FC236}">
                <a16:creationId xmlns:a16="http://schemas.microsoft.com/office/drawing/2014/main" id="{2B18F8C8-4B63-E425-87CE-D13C91BCA056}"/>
              </a:ext>
            </a:extLst>
          </p:cNvPr>
          <p:cNvSpPr txBox="1"/>
          <p:nvPr/>
        </p:nvSpPr>
        <p:spPr>
          <a:xfrm>
            <a:off x="4423577" y="5199610"/>
            <a:ext cx="3329758" cy="1446550"/>
          </a:xfrm>
          <a:prstGeom prst="rect">
            <a:avLst/>
          </a:prstGeom>
          <a:noFill/>
        </p:spPr>
        <p:txBody>
          <a:bodyPr wrap="none" rtlCol="0" anchor="ctr">
            <a:spAutoFit/>
          </a:bodyPr>
          <a:lstStyle/>
          <a:p>
            <a:pPr algn="ctr"/>
            <a:r>
              <a:rPr lang="en-GB" sz="8800"/>
              <a:t>Wednesday</a:t>
            </a:r>
          </a:p>
        </p:txBody>
      </p:sp>
    </p:spTree>
    <p:extLst>
      <p:ext uri="{BB962C8B-B14F-4D97-AF65-F5344CB8AC3E}">
        <p14:creationId xmlns:p14="http://schemas.microsoft.com/office/powerpoint/2010/main" val="33036935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4ACEAB2A-6943-1061-22CF-9EC0847829D7}"/>
              </a:ext>
            </a:extLst>
          </p:cNvPr>
          <p:cNvSpPr/>
          <p:nvPr/>
        </p:nvSpPr>
        <p:spPr>
          <a:xfrm>
            <a:off x="6476397" y="19821"/>
            <a:ext cx="5576138" cy="6818358"/>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D9DEE78A-07A9-5FF3-9D78-C0D9D21EEFB2}"/>
              </a:ext>
            </a:extLst>
          </p:cNvPr>
          <p:cNvSpPr txBox="1"/>
          <p:nvPr/>
        </p:nvSpPr>
        <p:spPr>
          <a:xfrm>
            <a:off x="6786658" y="-9273"/>
            <a:ext cx="4833400" cy="684803"/>
          </a:xfrm>
          <a:prstGeom prst="rect">
            <a:avLst/>
          </a:prstGeom>
          <a:noFill/>
        </p:spPr>
        <p:txBody>
          <a:bodyPr wrap="square" rtlCol="0">
            <a:spAutoFit/>
          </a:bodyPr>
          <a:lstStyle/>
          <a:p>
            <a:pPr algn="ctr">
              <a:lnSpc>
                <a:spcPct val="150000"/>
              </a:lnSpc>
            </a:pPr>
            <a:r>
              <a:rPr lang="en-GB" sz="2800" b="1" u="sng">
                <a:solidFill>
                  <a:schemeClr val="tx1"/>
                </a:solidFill>
                <a:latin typeface="Sassoon Infant Rg" panose="02000503030000020003" pitchFamily="2" charset="0"/>
                <a:ea typeface="Sassoon Infant Rg" panose="02000503030000020003" pitchFamily="2" charset="0"/>
              </a:rPr>
              <a:t>Why do we learn to read?</a:t>
            </a:r>
          </a:p>
        </p:txBody>
      </p:sp>
      <p:sp>
        <p:nvSpPr>
          <p:cNvPr id="11" name="TextBox 10">
            <a:extLst>
              <a:ext uri="{FF2B5EF4-FFF2-40B4-BE49-F238E27FC236}">
                <a16:creationId xmlns:a16="http://schemas.microsoft.com/office/drawing/2014/main" id="{16D2B17F-CF26-33D2-B6F6-70299CA1A763}"/>
              </a:ext>
            </a:extLst>
          </p:cNvPr>
          <p:cNvSpPr txBox="1"/>
          <p:nvPr/>
        </p:nvSpPr>
        <p:spPr>
          <a:xfrm>
            <a:off x="8246543" y="848912"/>
            <a:ext cx="3654961" cy="263149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Reading makes me </a:t>
            </a:r>
            <a:r>
              <a:rPr lang="en-GB" sz="3200" b="1">
                <a:solidFill>
                  <a:schemeClr val="tx1"/>
                </a:solidFill>
                <a:latin typeface="Sassoon Infant Rg" panose="02000503030000020003" pitchFamily="2" charset="0"/>
                <a:ea typeface="Sassoon Infant Rg" panose="02000503030000020003" pitchFamily="2" charset="0"/>
              </a:rPr>
              <a:t>powerful</a:t>
            </a:r>
            <a:r>
              <a:rPr lang="en-GB" sz="2400">
                <a:solidFill>
                  <a:schemeClr val="tx1"/>
                </a:solidFill>
                <a:latin typeface="Sassoon Infant Rg" panose="02000503030000020003" pitchFamily="2" charset="0"/>
                <a:ea typeface="Sassoon Infant Rg" panose="02000503030000020003" pitchFamily="2" charset="0"/>
              </a:rPr>
              <a:t> because it helps me to </a:t>
            </a:r>
            <a:r>
              <a:rPr lang="en-GB" sz="3200" b="1">
                <a:solidFill>
                  <a:schemeClr val="tx1"/>
                </a:solidFill>
                <a:latin typeface="Sassoon Infant Rg" panose="02000503030000020003" pitchFamily="2" charset="0"/>
                <a:ea typeface="Sassoon Infant Rg" panose="02000503030000020003" pitchFamily="2" charset="0"/>
              </a:rPr>
              <a:t>understand</a:t>
            </a:r>
            <a:r>
              <a:rPr lang="en-GB" sz="2400">
                <a:solidFill>
                  <a:schemeClr val="tx1"/>
                </a:solidFill>
                <a:latin typeface="Sassoon Infant Rg" panose="02000503030000020003" pitchFamily="2" charset="0"/>
                <a:ea typeface="Sassoon Infant Rg" panose="02000503030000020003" pitchFamily="2" charset="0"/>
              </a:rPr>
              <a:t> the world around me.</a:t>
            </a:r>
          </a:p>
        </p:txBody>
      </p:sp>
      <p:pic>
        <p:nvPicPr>
          <p:cNvPr id="7" name="Picture 6">
            <a:extLst>
              <a:ext uri="{FF2B5EF4-FFF2-40B4-BE49-F238E27FC236}">
                <a16:creationId xmlns:a16="http://schemas.microsoft.com/office/drawing/2014/main" id="{3DF6A32D-163D-40C2-BACF-C964E0035D2E}"/>
              </a:ext>
            </a:extLst>
          </p:cNvPr>
          <p:cNvPicPr>
            <a:picLocks noChangeAspect="1"/>
          </p:cNvPicPr>
          <p:nvPr/>
        </p:nvPicPr>
        <p:blipFill rotWithShape="1">
          <a:blip r:embed="rId3">
            <a:extLst>
              <a:ext uri="{BEBA8EAE-BF5A-486C-A8C5-ECC9F3942E4B}">
                <a14:imgProps xmlns:a14="http://schemas.microsoft.com/office/drawing/2010/main">
                  <a14:imgLayer r:embed="rId4">
                    <a14:imgEffect>
                      <a14:backgroundRemoval t="61376" b="80317" l="20847" r="34709">
                        <a14:foregroundMark x1="24656" y1="80000" x2="24656" y2="80000"/>
                        <a14:foregroundMark x1="29312" y1="80317" x2="29312" y2="80317"/>
                      </a14:backgroundRemoval>
                    </a14:imgEffect>
                  </a14:imgLayer>
                </a14:imgProps>
              </a:ext>
            </a:extLst>
          </a:blip>
          <a:srcRect l="19127" t="59276" r="63462" b="18202"/>
          <a:stretch/>
        </p:blipFill>
        <p:spPr>
          <a:xfrm>
            <a:off x="6896058" y="1151805"/>
            <a:ext cx="1350486" cy="1656373"/>
          </a:xfrm>
          <a:prstGeom prst="rect">
            <a:avLst/>
          </a:prstGeom>
        </p:spPr>
      </p:pic>
      <p:pic>
        <p:nvPicPr>
          <p:cNvPr id="12" name="Picture 11">
            <a:extLst>
              <a:ext uri="{FF2B5EF4-FFF2-40B4-BE49-F238E27FC236}">
                <a16:creationId xmlns:a16="http://schemas.microsoft.com/office/drawing/2014/main" id="{A25D9A8A-09E0-BBBE-0C18-2E1880E52773}"/>
              </a:ext>
            </a:extLst>
          </p:cNvPr>
          <p:cNvPicPr>
            <a:picLocks noChangeAspect="1"/>
          </p:cNvPicPr>
          <p:nvPr/>
        </p:nvPicPr>
        <p:blipFill rotWithShape="1">
          <a:blip r:embed="rId5">
            <a:extLst>
              <a:ext uri="{BEBA8EAE-BF5A-486C-A8C5-ECC9F3942E4B}">
                <a14:imgProps xmlns:a14="http://schemas.microsoft.com/office/drawing/2010/main">
                  <a14:imgLayer r:embed="rId4">
                    <a14:imgEffect>
                      <a14:backgroundRemoval t="61793" b="81925" l="64809" r="78176">
                        <a14:foregroundMark x1="75238" y1="61799" x2="75238" y2="61799"/>
                      </a14:backgroundRemoval>
                    </a14:imgEffect>
                  </a14:imgLayer>
                </a14:imgProps>
              </a:ext>
            </a:extLst>
          </a:blip>
          <a:srcRect l="63138" t="59276" r="20153" b="15559"/>
          <a:stretch/>
        </p:blipFill>
        <p:spPr>
          <a:xfrm>
            <a:off x="10650071" y="4324983"/>
            <a:ext cx="1251434" cy="1786987"/>
          </a:xfrm>
          <a:prstGeom prst="rect">
            <a:avLst/>
          </a:prstGeom>
        </p:spPr>
      </p:pic>
      <p:sp>
        <p:nvSpPr>
          <p:cNvPr id="14" name="TextBox 13">
            <a:extLst>
              <a:ext uri="{FF2B5EF4-FFF2-40B4-BE49-F238E27FC236}">
                <a16:creationId xmlns:a16="http://schemas.microsoft.com/office/drawing/2014/main" id="{950C5C2B-42CC-39EC-6847-EE394E29BB3C}"/>
              </a:ext>
            </a:extLst>
          </p:cNvPr>
          <p:cNvSpPr txBox="1"/>
          <p:nvPr/>
        </p:nvSpPr>
        <p:spPr>
          <a:xfrm>
            <a:off x="6786658" y="4022091"/>
            <a:ext cx="3863413" cy="170816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At Wallscourt Farm Academy:</a:t>
            </a:r>
          </a:p>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We love to read, learn to read and read to learn! </a:t>
            </a:r>
          </a:p>
        </p:txBody>
      </p:sp>
      <p:pic>
        <p:nvPicPr>
          <p:cNvPr id="3" name="Picture 2">
            <a:extLst>
              <a:ext uri="{FF2B5EF4-FFF2-40B4-BE49-F238E27FC236}">
                <a16:creationId xmlns:a16="http://schemas.microsoft.com/office/drawing/2014/main" id="{121AB0E8-B43D-DFDE-C896-2046E6E618BA}"/>
              </a:ext>
            </a:extLst>
          </p:cNvPr>
          <p:cNvPicPr>
            <a:picLocks noChangeAspect="1"/>
          </p:cNvPicPr>
          <p:nvPr/>
        </p:nvPicPr>
        <p:blipFill>
          <a:blip r:embed="rId6"/>
          <a:stretch>
            <a:fillRect/>
          </a:stretch>
        </p:blipFill>
        <p:spPr>
          <a:xfrm>
            <a:off x="631179" y="568742"/>
            <a:ext cx="5645882" cy="5654149"/>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2855788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3C5AD-3309-A9A5-F848-B93CB7BC5FD5}"/>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B9D8A55-04E7-0528-A165-9FB98DB89054}"/>
              </a:ext>
            </a:extLst>
          </p:cNvPr>
          <p:cNvPicPr>
            <a:picLocks noChangeAspect="1"/>
          </p:cNvPicPr>
          <p:nvPr/>
        </p:nvPicPr>
        <p:blipFill>
          <a:blip r:embed="rId3"/>
          <a:stretch>
            <a:fillRect/>
          </a:stretch>
        </p:blipFill>
        <p:spPr>
          <a:xfrm>
            <a:off x="10424916" y="134700"/>
            <a:ext cx="1616752" cy="697982"/>
          </a:xfrm>
          <a:prstGeom prst="rect">
            <a:avLst/>
          </a:prstGeom>
        </p:spPr>
      </p:pic>
      <p:grpSp>
        <p:nvGrpSpPr>
          <p:cNvPr id="9" name="Group 8">
            <a:extLst>
              <a:ext uri="{FF2B5EF4-FFF2-40B4-BE49-F238E27FC236}">
                <a16:creationId xmlns:a16="http://schemas.microsoft.com/office/drawing/2014/main" id="{2E1FDC99-0FE5-B42D-815D-42276802132E}"/>
              </a:ext>
            </a:extLst>
          </p:cNvPr>
          <p:cNvGrpSpPr/>
          <p:nvPr/>
        </p:nvGrpSpPr>
        <p:grpSpPr>
          <a:xfrm>
            <a:off x="292072" y="239667"/>
            <a:ext cx="1145637" cy="1145637"/>
            <a:chOff x="5180554" y="1026138"/>
            <a:chExt cx="1316831" cy="1316831"/>
          </a:xfrm>
        </p:grpSpPr>
        <p:sp>
          <p:nvSpPr>
            <p:cNvPr id="10" name="Oval 9">
              <a:extLst>
                <a:ext uri="{FF2B5EF4-FFF2-40B4-BE49-F238E27FC236}">
                  <a16:creationId xmlns:a16="http://schemas.microsoft.com/office/drawing/2014/main" id="{1E5DC868-7EB8-4F7D-7DAE-A2A8DBE0A20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2" name="Oval 4">
              <a:extLst>
                <a:ext uri="{FF2B5EF4-FFF2-40B4-BE49-F238E27FC236}">
                  <a16:creationId xmlns:a16="http://schemas.microsoft.com/office/drawing/2014/main" id="{DACB8AB4-1258-EA30-31A5-77EEA5A000F2}"/>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4" name="Title 1">
            <a:extLst>
              <a:ext uri="{FF2B5EF4-FFF2-40B4-BE49-F238E27FC236}">
                <a16:creationId xmlns:a16="http://schemas.microsoft.com/office/drawing/2014/main" id="{659AE26C-55EC-A139-FEFB-5E8B79ECFD3A}"/>
              </a:ext>
            </a:extLst>
          </p:cNvPr>
          <p:cNvSpPr txBox="1">
            <a:spLocks/>
          </p:cNvSpPr>
          <p:nvPr/>
        </p:nvSpPr>
        <p:spPr>
          <a:xfrm>
            <a:off x="-253388" y="85619"/>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Vocabulary Focus</a:t>
            </a:r>
          </a:p>
        </p:txBody>
      </p:sp>
      <p:sp>
        <p:nvSpPr>
          <p:cNvPr id="15" name="TextBox 14">
            <a:extLst>
              <a:ext uri="{FF2B5EF4-FFF2-40B4-BE49-F238E27FC236}">
                <a16:creationId xmlns:a16="http://schemas.microsoft.com/office/drawing/2014/main" id="{086FA3C6-53FE-7451-6D4F-7009D38010D4}"/>
              </a:ext>
            </a:extLst>
          </p:cNvPr>
          <p:cNvSpPr txBox="1"/>
          <p:nvPr/>
        </p:nvSpPr>
        <p:spPr>
          <a:xfrm>
            <a:off x="2442576" y="1217529"/>
            <a:ext cx="7503292" cy="646331"/>
          </a:xfrm>
          <a:prstGeom prst="rect">
            <a:avLst/>
          </a:prstGeom>
          <a:noFill/>
        </p:spPr>
        <p:txBody>
          <a:bodyPr wrap="square" rtlCol="0">
            <a:spAutoFit/>
          </a:bodyPr>
          <a:lstStyle/>
          <a:p>
            <a:r>
              <a:rPr lang="en-GB"/>
              <a:t>Are there any words you feel confident to explain the meaning of (definition)? Are there any where you are less confident?</a:t>
            </a:r>
          </a:p>
        </p:txBody>
      </p:sp>
      <mc:AlternateContent xmlns:mc="http://schemas.openxmlformats.org/markup-compatibility/2006">
        <mc:Choice xmlns:p14="http://schemas.microsoft.com/office/powerpoint/2010/main" Requires="p14">
          <p:contentPart p14:bwMode="auto" r:id="rId4">
            <p14:nvContentPartPr>
              <p14:cNvPr id="3" name="Ink 2">
                <a:extLst>
                  <a:ext uri="{FF2B5EF4-FFF2-40B4-BE49-F238E27FC236}">
                    <a16:creationId xmlns:a16="http://schemas.microsoft.com/office/drawing/2014/main" id="{9F75FCCA-8003-024B-2B29-0EDF6D801F3D}"/>
                  </a:ext>
                </a:extLst>
              </p14:cNvPr>
              <p14:cNvContentPartPr/>
              <p14:nvPr/>
            </p14:nvContentPartPr>
            <p14:xfrm>
              <a:off x="9034477" y="550400"/>
              <a:ext cx="360" cy="360"/>
            </p14:xfrm>
          </p:contentPart>
        </mc:Choice>
        <mc:Fallback>
          <p:pic>
            <p:nvPicPr>
              <p:cNvPr id="3" name="Ink 2">
                <a:extLst>
                  <a:ext uri="{FF2B5EF4-FFF2-40B4-BE49-F238E27FC236}">
                    <a16:creationId xmlns:a16="http://schemas.microsoft.com/office/drawing/2014/main" id="{9F75FCCA-8003-024B-2B29-0EDF6D801F3D}"/>
                  </a:ext>
                </a:extLst>
              </p:cNvPr>
              <p:cNvPicPr/>
              <p:nvPr/>
            </p:nvPicPr>
            <p:blipFill>
              <a:blip r:embed="rId5"/>
              <a:stretch>
                <a:fillRect/>
              </a:stretch>
            </p:blipFill>
            <p:spPr>
              <a:xfrm>
                <a:off x="9025117" y="541040"/>
                <a:ext cx="19080" cy="19080"/>
              </a:xfrm>
              <a:prstGeom prst="rect">
                <a:avLst/>
              </a:prstGeom>
            </p:spPr>
          </p:pic>
        </mc:Fallback>
      </mc:AlternateContent>
      <p:graphicFrame>
        <p:nvGraphicFramePr>
          <p:cNvPr id="7" name="Table 6">
            <a:extLst>
              <a:ext uri="{FF2B5EF4-FFF2-40B4-BE49-F238E27FC236}">
                <a16:creationId xmlns:a16="http://schemas.microsoft.com/office/drawing/2014/main" id="{AD7A6C68-D614-2377-056B-781707D2F236}"/>
              </a:ext>
            </a:extLst>
          </p:cNvPr>
          <p:cNvGraphicFramePr>
            <a:graphicFrameLocks noGrp="1"/>
          </p:cNvGraphicFramePr>
          <p:nvPr/>
        </p:nvGraphicFramePr>
        <p:xfrm>
          <a:off x="647700" y="2173922"/>
          <a:ext cx="10663199" cy="3429000"/>
        </p:xfrm>
        <a:graphic>
          <a:graphicData uri="http://schemas.openxmlformats.org/drawingml/2006/table">
            <a:tbl>
              <a:tblPr>
                <a:tableStyleId>{5C22544A-7EE6-4342-B048-85BDC9FD1C3A}</a:tableStyleId>
              </a:tblPr>
              <a:tblGrid>
                <a:gridCol w="1638300">
                  <a:extLst>
                    <a:ext uri="{9D8B030D-6E8A-4147-A177-3AD203B41FA5}">
                      <a16:colId xmlns:a16="http://schemas.microsoft.com/office/drawing/2014/main" val="4160592141"/>
                    </a:ext>
                  </a:extLst>
                </a:gridCol>
                <a:gridCol w="9024899">
                  <a:extLst>
                    <a:ext uri="{9D8B030D-6E8A-4147-A177-3AD203B41FA5}">
                      <a16:colId xmlns:a16="http://schemas.microsoft.com/office/drawing/2014/main" val="3033414289"/>
                    </a:ext>
                  </a:extLst>
                </a:gridCol>
              </a:tblGrid>
              <a:tr h="685800">
                <a:tc>
                  <a:txBody>
                    <a:bodyPr/>
                    <a:lstStyle/>
                    <a:p>
                      <a:pPr algn="l" fontAlgn="b">
                        <a:buNone/>
                      </a:pPr>
                      <a:r>
                        <a:rPr lang="en-GB" sz="2000" b="0" i="0" u="none" strike="noStrike">
                          <a:solidFill>
                            <a:srgbClr val="000000"/>
                          </a:solidFill>
                          <a:effectLst/>
                          <a:latin typeface="Calibri" panose="020F0502020204030204" pitchFamily="34" charset="0"/>
                        </a:rPr>
                        <a:t>biome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 large natural area with its own climate, plants and animals.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3441562"/>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topography</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The physical features of an area of land, such as mountains, rivers and plains.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4187290"/>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vegetation</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The plants that grow in a particular area or environment.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7381064"/>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tropical</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Relating to the region near the equator, known for its warm, wet climate.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0434475"/>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tundra</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 vast, flat, treeless region where the ground beneath the surface is permanently frozen.</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1865700"/>
                  </a:ext>
                </a:extLst>
              </a:tr>
            </a:tbl>
          </a:graphicData>
        </a:graphic>
      </p:graphicFrame>
      <p:sp>
        <p:nvSpPr>
          <p:cNvPr id="16" name="Rectangle 15">
            <a:extLst>
              <a:ext uri="{FF2B5EF4-FFF2-40B4-BE49-F238E27FC236}">
                <a16:creationId xmlns:a16="http://schemas.microsoft.com/office/drawing/2014/main" id="{114E80EC-EDEA-A9B8-0AA7-BDF4DBA738D9}"/>
              </a:ext>
            </a:extLst>
          </p:cNvPr>
          <p:cNvSpPr/>
          <p:nvPr/>
        </p:nvSpPr>
        <p:spPr>
          <a:xfrm>
            <a:off x="2312410" y="21739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3" name="Rectangle 12">
            <a:extLst>
              <a:ext uri="{FF2B5EF4-FFF2-40B4-BE49-F238E27FC236}">
                <a16:creationId xmlns:a16="http://schemas.microsoft.com/office/drawing/2014/main" id="{2CF9C0CB-B38A-8B6C-0680-46BD300AE1DC}"/>
              </a:ext>
            </a:extLst>
          </p:cNvPr>
          <p:cNvSpPr/>
          <p:nvPr/>
        </p:nvSpPr>
        <p:spPr>
          <a:xfrm>
            <a:off x="2312410" y="28597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7" name="Rectangle 16">
            <a:extLst>
              <a:ext uri="{FF2B5EF4-FFF2-40B4-BE49-F238E27FC236}">
                <a16:creationId xmlns:a16="http://schemas.microsoft.com/office/drawing/2014/main" id="{4BF34747-0A22-7E80-CA39-94571BB7D672}"/>
              </a:ext>
            </a:extLst>
          </p:cNvPr>
          <p:cNvSpPr/>
          <p:nvPr/>
        </p:nvSpPr>
        <p:spPr>
          <a:xfrm>
            <a:off x="2312410" y="35455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8" name="Rectangle 17">
            <a:extLst>
              <a:ext uri="{FF2B5EF4-FFF2-40B4-BE49-F238E27FC236}">
                <a16:creationId xmlns:a16="http://schemas.microsoft.com/office/drawing/2014/main" id="{FB910803-A54A-5B45-8345-8FFD7AC1C67C}"/>
              </a:ext>
            </a:extLst>
          </p:cNvPr>
          <p:cNvSpPr/>
          <p:nvPr/>
        </p:nvSpPr>
        <p:spPr>
          <a:xfrm>
            <a:off x="2312410" y="42313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9" name="Rectangle 18">
            <a:extLst>
              <a:ext uri="{FF2B5EF4-FFF2-40B4-BE49-F238E27FC236}">
                <a16:creationId xmlns:a16="http://schemas.microsoft.com/office/drawing/2014/main" id="{DB05B3E1-CB09-5A78-B03C-31610DE59A67}"/>
              </a:ext>
            </a:extLst>
          </p:cNvPr>
          <p:cNvSpPr/>
          <p:nvPr/>
        </p:nvSpPr>
        <p:spPr>
          <a:xfrm>
            <a:off x="2312410" y="49171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Tree>
    <p:extLst>
      <p:ext uri="{BB962C8B-B14F-4D97-AF65-F5344CB8AC3E}">
        <p14:creationId xmlns:p14="http://schemas.microsoft.com/office/powerpoint/2010/main" val="328723345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6"/>
                    </p:tgtEl>
                  </p:cond>
                </p:stCondLst>
                <p:endSync evt="end" delay="0">
                  <p:rtn val="all"/>
                </p:endSync>
                <p:childTnLst>
                  <p:par>
                    <p:cTn id="3" fill="hold">
                      <p:stCondLst>
                        <p:cond delay="0"/>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hidden"/>
                                      </p:to>
                                    </p:set>
                                  </p:childTnLst>
                                </p:cTn>
                              </p:par>
                            </p:childTnLst>
                          </p:cTn>
                        </p:par>
                      </p:childTnLst>
                    </p:cTn>
                  </p:par>
                </p:childTnLst>
              </p:cTn>
              <p:nextCondLst>
                <p:cond evt="onClick" delay="0">
                  <p:tgtEl>
                    <p:spTgt spid="16"/>
                  </p:tgtEl>
                </p:cond>
              </p:nextCondLst>
            </p:seq>
            <p:seq concurrent="1" nextAc="seek">
              <p:cTn id="7" restart="whenNotActive" fill="hold" evtFilter="cancelBubble" nodeType="interactiveSeq">
                <p:stCondLst>
                  <p:cond evt="onClick" delay="0">
                    <p:tgtEl>
                      <p:spTgt spid="13"/>
                    </p:tgtEl>
                  </p:cond>
                </p:stCondLst>
                <p:endSync evt="end" delay="0">
                  <p:rtn val="all"/>
                </p:endSync>
                <p:childTnLst>
                  <p:par>
                    <p:cTn id="8" fill="hold">
                      <p:stCondLst>
                        <p:cond delay="0"/>
                      </p:stCondLst>
                      <p:childTnLst>
                        <p:par>
                          <p:cTn id="9" fill="hold">
                            <p:stCondLst>
                              <p:cond delay="0"/>
                            </p:stCondLst>
                            <p:childTnLst>
                              <p:par>
                                <p:cTn id="10" presetID="1" presetClass="exit" presetSubtype="0" fill="hold" grpId="0" nodeType="clickEffect">
                                  <p:stCondLst>
                                    <p:cond delay="0"/>
                                  </p:stCondLst>
                                  <p:childTnLst>
                                    <p:set>
                                      <p:cBhvr>
                                        <p:cTn id="11" dur="1" fill="hold">
                                          <p:stCondLst>
                                            <p:cond delay="0"/>
                                          </p:stCondLst>
                                        </p:cTn>
                                        <p:tgtEl>
                                          <p:spTgt spid="13"/>
                                        </p:tgtEl>
                                        <p:attrNameLst>
                                          <p:attrName>style.visibility</p:attrName>
                                        </p:attrNameLst>
                                      </p:cBhvr>
                                      <p:to>
                                        <p:strVal val="hidden"/>
                                      </p:to>
                                    </p:set>
                                  </p:childTnLst>
                                </p:cTn>
                              </p:par>
                            </p:childTnLst>
                          </p:cTn>
                        </p:par>
                      </p:childTnLst>
                    </p:cTn>
                  </p:par>
                </p:childTnLst>
              </p:cTn>
              <p:nextCondLst>
                <p:cond evt="onClick" delay="0">
                  <p:tgtEl>
                    <p:spTgt spid="13"/>
                  </p:tgtEl>
                </p:cond>
              </p:nextCondLst>
            </p:seq>
            <p:seq concurrent="1" nextAc="seek">
              <p:cTn id="12" restart="whenNotActive" fill="hold" evtFilter="cancelBubble" nodeType="interactiveSeq">
                <p:stCondLst>
                  <p:cond evt="onClick" delay="0">
                    <p:tgtEl>
                      <p:spTgt spid="17"/>
                    </p:tgtEl>
                  </p:cond>
                </p:stCondLst>
                <p:endSync evt="end" delay="0">
                  <p:rtn val="all"/>
                </p:endSync>
                <p:childTnLst>
                  <p:par>
                    <p:cTn id="13" fill="hold">
                      <p:stCondLst>
                        <p:cond delay="0"/>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hidden"/>
                                      </p:to>
                                    </p:set>
                                  </p:childTnLst>
                                </p:cTn>
                              </p:par>
                            </p:childTnLst>
                          </p:cTn>
                        </p:par>
                      </p:childTnLst>
                    </p:cTn>
                  </p:par>
                </p:childTnLst>
              </p:cTn>
              <p:nextCondLst>
                <p:cond evt="onClick" delay="0">
                  <p:tgtEl>
                    <p:spTgt spid="17"/>
                  </p:tgtEl>
                </p:cond>
              </p:nextCondLst>
            </p:seq>
            <p:seq concurrent="1" nextAc="seek">
              <p:cTn id="17" restart="whenNotActive" fill="hold" evtFilter="cancelBubble" nodeType="interactiveSeq">
                <p:stCondLst>
                  <p:cond evt="onClick" delay="0">
                    <p:tgtEl>
                      <p:spTgt spid="18"/>
                    </p:tgtEl>
                  </p:cond>
                </p:stCondLst>
                <p:endSync evt="end" delay="0">
                  <p:rtn val="all"/>
                </p:endSync>
                <p:childTnLst>
                  <p:par>
                    <p:cTn id="18" fill="hold">
                      <p:stCondLst>
                        <p:cond delay="0"/>
                      </p:stCondLst>
                      <p:childTnLst>
                        <p:par>
                          <p:cTn id="19" fill="hold">
                            <p:stCondLst>
                              <p:cond delay="0"/>
                            </p:stCondLst>
                            <p:childTnLst>
                              <p:par>
                                <p:cTn id="20" presetID="1" presetClass="exit"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hidden"/>
                                      </p:to>
                                    </p:set>
                                  </p:childTnLst>
                                </p:cTn>
                              </p:par>
                            </p:childTnLst>
                          </p:cTn>
                        </p:par>
                      </p:childTnLst>
                    </p:cTn>
                  </p:par>
                </p:childTnLst>
              </p:cTn>
              <p:nextCondLst>
                <p:cond evt="onClick" delay="0">
                  <p:tgtEl>
                    <p:spTgt spid="18"/>
                  </p:tgtEl>
                </p:cond>
              </p:nextCondLst>
            </p:seq>
            <p:seq concurrent="1" nextAc="seek">
              <p:cTn id="22" restart="whenNotActive" fill="hold" evtFilter="cancelBubble" nodeType="interactiveSeq">
                <p:stCondLst>
                  <p:cond evt="onClick" delay="0">
                    <p:tgtEl>
                      <p:spTgt spid="19"/>
                    </p:tgtEl>
                  </p:cond>
                </p:stCondLst>
                <p:endSync evt="end" delay="0">
                  <p:rtn val="all"/>
                </p:endSync>
                <p:childTnLst>
                  <p:par>
                    <p:cTn id="23" fill="hold">
                      <p:stCondLst>
                        <p:cond delay="0"/>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childTnLst>
              </p:cTn>
              <p:nextCondLst>
                <p:cond evt="onClick" delay="0">
                  <p:tgtEl>
                    <p:spTgt spid="19"/>
                  </p:tgtEl>
                </p:cond>
              </p:nextCondLst>
            </p:seq>
          </p:childTnLst>
        </p:cTn>
      </p:par>
    </p:tnLst>
    <p:bldLst>
      <p:bldP spid="16" grpId="0" animBg="1"/>
      <p:bldP spid="13" grpId="0" animBg="1"/>
      <p:bldP spid="17" grpId="0" animBg="1"/>
      <p:bldP spid="18" grpId="0" animBg="1"/>
      <p:bldP spid="1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C497C-5676-F0CE-9C15-81908FA1F34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DCBDDC3-E8B4-5DB7-95EB-E4EB767438DF}"/>
              </a:ext>
            </a:extLst>
          </p:cNvPr>
          <p:cNvGrpSpPr/>
          <p:nvPr/>
        </p:nvGrpSpPr>
        <p:grpSpPr>
          <a:xfrm>
            <a:off x="38684" y="68473"/>
            <a:ext cx="1316831" cy="1316831"/>
            <a:chOff x="5180554" y="1026138"/>
            <a:chExt cx="1316831" cy="1316831"/>
          </a:xfrm>
        </p:grpSpPr>
        <p:sp>
          <p:nvSpPr>
            <p:cNvPr id="4" name="Oval 3">
              <a:extLst>
                <a:ext uri="{FF2B5EF4-FFF2-40B4-BE49-F238E27FC236}">
                  <a16:creationId xmlns:a16="http://schemas.microsoft.com/office/drawing/2014/main" id="{4D7EC211-6C19-B85F-7D0D-25A8FEEA3637}"/>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6" name="Oval 4">
              <a:extLst>
                <a:ext uri="{FF2B5EF4-FFF2-40B4-BE49-F238E27FC236}">
                  <a16:creationId xmlns:a16="http://schemas.microsoft.com/office/drawing/2014/main" id="{6358CBDE-7D41-F226-3072-41F208B4D98A}"/>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3" name="Title 1">
            <a:extLst>
              <a:ext uri="{FF2B5EF4-FFF2-40B4-BE49-F238E27FC236}">
                <a16:creationId xmlns:a16="http://schemas.microsoft.com/office/drawing/2014/main" id="{9CDE4E57-6664-84F7-C8E9-8F4381A4D091}"/>
              </a:ext>
            </a:extLst>
          </p:cNvPr>
          <p:cNvSpPr txBox="1">
            <a:spLocks/>
          </p:cNvSpPr>
          <p:nvPr/>
        </p:nvSpPr>
        <p:spPr>
          <a:xfrm>
            <a:off x="2535882" y="918780"/>
            <a:ext cx="5559247"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n-GB" sz="2800"/>
          </a:p>
        </p:txBody>
      </p:sp>
      <p:sp>
        <p:nvSpPr>
          <p:cNvPr id="3" name="Title 1">
            <a:extLst>
              <a:ext uri="{FF2B5EF4-FFF2-40B4-BE49-F238E27FC236}">
                <a16:creationId xmlns:a16="http://schemas.microsoft.com/office/drawing/2014/main" id="{3B86A135-C8BF-2285-F3AA-0B4C5706CE90}"/>
              </a:ext>
            </a:extLst>
          </p:cNvPr>
          <p:cNvSpPr txBox="1">
            <a:spLocks/>
          </p:cNvSpPr>
          <p:nvPr/>
        </p:nvSpPr>
        <p:spPr>
          <a:xfrm>
            <a:off x="0" y="85619"/>
            <a:ext cx="12192000" cy="149821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50000"/>
              </a:lnSpc>
            </a:pPr>
            <a:r>
              <a:rPr lang="en-GB" sz="4000"/>
              <a:t>Vocabulary Focus</a:t>
            </a:r>
          </a:p>
        </p:txBody>
      </p:sp>
      <p:sp>
        <p:nvSpPr>
          <p:cNvPr id="7" name="Title 1">
            <a:extLst>
              <a:ext uri="{FF2B5EF4-FFF2-40B4-BE49-F238E27FC236}">
                <a16:creationId xmlns:a16="http://schemas.microsoft.com/office/drawing/2014/main" id="{07FF75F1-41FF-EEA3-B802-ED64112A7D02}"/>
              </a:ext>
            </a:extLst>
          </p:cNvPr>
          <p:cNvSpPr txBox="1">
            <a:spLocks/>
          </p:cNvSpPr>
          <p:nvPr/>
        </p:nvSpPr>
        <p:spPr>
          <a:xfrm>
            <a:off x="5590032" y="604264"/>
            <a:ext cx="1873406" cy="9795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a:p>
        </p:txBody>
      </p:sp>
      <p:graphicFrame>
        <p:nvGraphicFramePr>
          <p:cNvPr id="9" name="Table 8">
            <a:extLst>
              <a:ext uri="{FF2B5EF4-FFF2-40B4-BE49-F238E27FC236}">
                <a16:creationId xmlns:a16="http://schemas.microsoft.com/office/drawing/2014/main" id="{98F68A2F-1F77-2878-BCF5-883045F28026}"/>
              </a:ext>
            </a:extLst>
          </p:cNvPr>
          <p:cNvGraphicFramePr>
            <a:graphicFrameLocks noGrp="1"/>
          </p:cNvGraphicFramePr>
          <p:nvPr/>
        </p:nvGraphicFramePr>
        <p:xfrm>
          <a:off x="2032000" y="1727002"/>
          <a:ext cx="8128000" cy="4922852"/>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811326830"/>
                    </a:ext>
                  </a:extLst>
                </a:gridCol>
                <a:gridCol w="4064000">
                  <a:extLst>
                    <a:ext uri="{9D8B030D-6E8A-4147-A177-3AD203B41FA5}">
                      <a16:colId xmlns:a16="http://schemas.microsoft.com/office/drawing/2014/main" val="773647625"/>
                    </a:ext>
                  </a:extLst>
                </a:gridCol>
              </a:tblGrid>
              <a:tr h="2461426">
                <a:tc>
                  <a:txBody>
                    <a:bodyPr/>
                    <a:lstStyle/>
                    <a:p>
                      <a:r>
                        <a:rPr lang="en-GB" b="0">
                          <a:solidFill>
                            <a:schemeClr val="tx1"/>
                          </a:solidFill>
                        </a:rPr>
                        <a:t>Write it 5 times</a:t>
                      </a:r>
                    </a:p>
                    <a:p>
                      <a:endParaRPr lang="en-GB" b="0">
                        <a:solidFill>
                          <a:schemeClr val="tx1"/>
                        </a:solidFill>
                      </a:endParaRPr>
                    </a:p>
                    <a:p>
                      <a:pPr algn="ctr"/>
                      <a:r>
                        <a:rPr lang="en-GB" sz="3200" b="0">
                          <a:solidFill>
                            <a:schemeClr val="tx1"/>
                          </a:solidFill>
                          <a:latin typeface="XCCW Joined 4a" panose="03050602040000000000" pitchFamily="66" charset="77"/>
                        </a:rPr>
                        <a:t>biome</a:t>
                      </a:r>
                    </a:p>
                    <a:p>
                      <a:endParaRPr lang="en-GB" b="0">
                        <a:solidFill>
                          <a:schemeClr val="tx1"/>
                        </a:solidFill>
                        <a:latin typeface="XCCW Joined 4a" panose="03050602040000000000" pitchFamily="66" charset="77"/>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a:solidFill>
                            <a:schemeClr val="tx1"/>
                          </a:solidFill>
                        </a:rPr>
                        <a:t>Use it in a sentence</a:t>
                      </a:r>
                    </a:p>
                    <a:p>
                      <a:endParaRPr lang="en-GB" sz="2400" b="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64313380"/>
                  </a:ext>
                </a:extLst>
              </a:tr>
              <a:tr h="2461426">
                <a:tc gridSpan="2">
                  <a:txBody>
                    <a:bodyPr/>
                    <a:lstStyle/>
                    <a:p>
                      <a:r>
                        <a:rPr lang="en-GB">
                          <a:solidFill>
                            <a:schemeClr val="tx1"/>
                          </a:solidFill>
                        </a:rPr>
                        <a:t>Other linked words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3729397"/>
                  </a:ext>
                </a:extLst>
              </a:tr>
            </a:tbl>
          </a:graphicData>
        </a:graphic>
      </p:graphicFrame>
      <p:pic>
        <p:nvPicPr>
          <p:cNvPr id="8" name="Picture 7">
            <a:extLst>
              <a:ext uri="{FF2B5EF4-FFF2-40B4-BE49-F238E27FC236}">
                <a16:creationId xmlns:a16="http://schemas.microsoft.com/office/drawing/2014/main" id="{755B9240-8989-B9DB-0B3B-B8D062E07BCE}"/>
              </a:ext>
            </a:extLst>
          </p:cNvPr>
          <p:cNvPicPr>
            <a:picLocks noChangeAspect="1"/>
          </p:cNvPicPr>
          <p:nvPr/>
        </p:nvPicPr>
        <p:blipFill>
          <a:blip r:embed="rId3"/>
          <a:stretch>
            <a:fillRect/>
          </a:stretch>
        </p:blipFill>
        <p:spPr>
          <a:xfrm>
            <a:off x="10424916" y="134700"/>
            <a:ext cx="1616752" cy="697982"/>
          </a:xfrm>
          <a:prstGeom prst="rect">
            <a:avLst/>
          </a:prstGeom>
        </p:spPr>
      </p:pic>
      <p:sp>
        <p:nvSpPr>
          <p:cNvPr id="5" name="TextBox 4">
            <a:extLst>
              <a:ext uri="{FF2B5EF4-FFF2-40B4-BE49-F238E27FC236}">
                <a16:creationId xmlns:a16="http://schemas.microsoft.com/office/drawing/2014/main" id="{7904627B-45D6-BE36-7042-C69B53AD1828}"/>
              </a:ext>
            </a:extLst>
          </p:cNvPr>
          <p:cNvSpPr txBox="1"/>
          <p:nvPr/>
        </p:nvSpPr>
        <p:spPr>
          <a:xfrm>
            <a:off x="4766154" y="5299847"/>
            <a:ext cx="2400000" cy="480000"/>
          </a:xfrm>
          <a:prstGeom prst="rect">
            <a:avLst/>
          </a:prstGeom>
          <a:noFill/>
        </p:spPr>
        <p:txBody>
          <a:bodyPr wrap="square" rtlCol="0" anchor="ctr"/>
          <a:lstStyle/>
          <a:p>
            <a:pPr algn="ctr"/>
            <a:r>
              <a:rPr lang="en-GB"/>
              <a:t>biome</a:t>
            </a:r>
          </a:p>
        </p:txBody>
      </p:sp>
      <p:cxnSp>
        <p:nvCxnSpPr>
          <p:cNvPr id="12" name="Straight Connector 11">
            <a:extLst>
              <a:ext uri="{FF2B5EF4-FFF2-40B4-BE49-F238E27FC236}">
                <a16:creationId xmlns:a16="http://schemas.microsoft.com/office/drawing/2014/main" id="{483F9876-11CA-68D4-B5B9-503CB1452DDF}"/>
              </a:ext>
            </a:extLst>
          </p:cNvPr>
          <p:cNvCxnSpPr/>
          <p:nvPr/>
        </p:nvCxnSpPr>
        <p:spPr>
          <a:xfrm flipV="1">
            <a:off x="6391527" y="4613658"/>
            <a:ext cx="807506" cy="7821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67DD069-433E-BF48-9167-8E5BCC114624}"/>
              </a:ext>
            </a:extLst>
          </p:cNvPr>
          <p:cNvCxnSpPr>
            <a:cxnSpLocks/>
          </p:cNvCxnSpPr>
          <p:nvPr/>
        </p:nvCxnSpPr>
        <p:spPr>
          <a:xfrm>
            <a:off x="6532910" y="5656722"/>
            <a:ext cx="930528" cy="216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D37026A-B5E7-A43B-7015-F91BED67059F}"/>
              </a:ext>
            </a:extLst>
          </p:cNvPr>
          <p:cNvCxnSpPr>
            <a:cxnSpLocks/>
          </p:cNvCxnSpPr>
          <p:nvPr/>
        </p:nvCxnSpPr>
        <p:spPr>
          <a:xfrm flipV="1">
            <a:off x="4786339" y="5656722"/>
            <a:ext cx="791952" cy="565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7576966-8817-48AF-F837-0832462F5E46}"/>
              </a:ext>
            </a:extLst>
          </p:cNvPr>
          <p:cNvCxnSpPr>
            <a:cxnSpLocks/>
          </p:cNvCxnSpPr>
          <p:nvPr/>
        </p:nvCxnSpPr>
        <p:spPr>
          <a:xfrm>
            <a:off x="4688753" y="5010683"/>
            <a:ext cx="852027" cy="382970"/>
          </a:xfrm>
          <a:prstGeom prst="line">
            <a:avLst/>
          </a:prstGeom>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6EE6038E-2E20-39E1-51AA-382FB77B2D40}"/>
              </a:ext>
            </a:extLst>
          </p:cNvPr>
          <p:cNvPicPr>
            <a:picLocks noChangeAspect="1"/>
          </p:cNvPicPr>
          <p:nvPr/>
        </p:nvPicPr>
        <p:blipFill>
          <a:blip r:embed="rId4"/>
          <a:stretch>
            <a:fillRect/>
          </a:stretch>
        </p:blipFill>
        <p:spPr>
          <a:xfrm>
            <a:off x="6502757" y="2982841"/>
            <a:ext cx="3184743" cy="794571"/>
          </a:xfrm>
          <a:prstGeom prst="rect">
            <a:avLst/>
          </a:prstGeom>
          <a:solidFill>
            <a:schemeClr val="bg1"/>
          </a:solidFill>
        </p:spPr>
      </p:pic>
    </p:spTree>
    <p:extLst>
      <p:ext uri="{BB962C8B-B14F-4D97-AF65-F5344CB8AC3E}">
        <p14:creationId xmlns:p14="http://schemas.microsoft.com/office/powerpoint/2010/main" val="39342315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7C8F1879-9C69-AABD-5D27-70A3FD61C54F}"/>
              </a:ext>
            </a:extLst>
          </p:cNvPr>
          <p:cNvGrpSpPr/>
          <p:nvPr/>
        </p:nvGrpSpPr>
        <p:grpSpPr>
          <a:xfrm>
            <a:off x="43957" y="90546"/>
            <a:ext cx="963274" cy="909579"/>
            <a:chOff x="1630613" y="1026138"/>
            <a:chExt cx="1316831" cy="1316831"/>
          </a:xfrm>
        </p:grpSpPr>
        <p:sp>
          <p:nvSpPr>
            <p:cNvPr id="4" name="Oval 3">
              <a:extLst>
                <a:ext uri="{FF2B5EF4-FFF2-40B4-BE49-F238E27FC236}">
                  <a16:creationId xmlns:a16="http://schemas.microsoft.com/office/drawing/2014/main" id="{C5A04DD0-FF30-895F-0ED9-888B47B1A02D}"/>
                </a:ext>
              </a:extLst>
            </p:cNvPr>
            <p:cNvSpPr/>
            <p:nvPr/>
          </p:nvSpPr>
          <p:spPr>
            <a:xfrm>
              <a:off x="1630613" y="1026138"/>
              <a:ext cx="1316831" cy="1316831"/>
            </a:xfrm>
            <a:prstGeom prst="ellipse">
              <a:avLst/>
            </a:prstGeom>
            <a:solidFill>
              <a:srgbClr val="A2CFFC"/>
            </a:solidFill>
            <a:ln w="38100">
              <a:solidFill>
                <a:srgbClr val="0762B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5" name="Oval 4">
              <a:extLst>
                <a:ext uri="{FF2B5EF4-FFF2-40B4-BE49-F238E27FC236}">
                  <a16:creationId xmlns:a16="http://schemas.microsoft.com/office/drawing/2014/main" id="{8EBD88F1-D64A-0A71-7434-4A250ABBD4E6}"/>
                </a:ext>
              </a:extLst>
            </p:cNvPr>
            <p:cNvSpPr txBox="1"/>
            <p:nvPr/>
          </p:nvSpPr>
          <p:spPr>
            <a:xfrm>
              <a:off x="1823458"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rmAutofit/>
            </a:bodyPr>
            <a:lstStyle/>
            <a:p>
              <a:pPr marL="0" lvl="0" indent="0" algn="ctr" defTabSz="577850">
                <a:lnSpc>
                  <a:spcPct val="90000"/>
                </a:lnSpc>
                <a:spcBef>
                  <a:spcPct val="0"/>
                </a:spcBef>
                <a:spcAft>
                  <a:spcPct val="35000"/>
                </a:spcAft>
                <a:buNone/>
              </a:pPr>
              <a:r>
                <a:rPr lang="en-GB" sz="1300" b="1" kern="1200">
                  <a:solidFill>
                    <a:srgbClr val="0762BA"/>
                  </a:solidFill>
                  <a:latin typeface="Sassoon Infant Rg" panose="02000503030000020003" pitchFamily="2" charset="0"/>
                  <a:ea typeface="Sassoon Infant Rg" panose="02000503030000020003" pitchFamily="2" charset="0"/>
                </a:rPr>
                <a:t>Decoding &amp; phonics</a:t>
              </a:r>
            </a:p>
          </p:txBody>
        </p:sp>
      </p:grpSp>
      <p:pic>
        <p:nvPicPr>
          <p:cNvPr id="11" name="Picture 10">
            <a:extLst>
              <a:ext uri="{FF2B5EF4-FFF2-40B4-BE49-F238E27FC236}">
                <a16:creationId xmlns:a16="http://schemas.microsoft.com/office/drawing/2014/main" id="{5B88EF2C-3893-9BD5-87F9-6BF0F699F9A5}"/>
              </a:ext>
            </a:extLst>
          </p:cNvPr>
          <p:cNvPicPr/>
          <p:nvPr/>
        </p:nvPicPr>
        <p:blipFill>
          <a:blip r:embed="rId3">
            <a:extLst>
              <a:ext uri="{28A0092B-C50C-407E-A947-70E740481C1C}">
                <a14:useLocalDpi xmlns:a14="http://schemas.microsoft.com/office/drawing/2010/main" val="0"/>
              </a:ext>
            </a:extLst>
          </a:blip>
          <a:stretch>
            <a:fillRect/>
          </a:stretch>
        </p:blipFill>
        <p:spPr>
          <a:xfrm>
            <a:off x="10539555" y="90546"/>
            <a:ext cx="1691129" cy="711848"/>
          </a:xfrm>
          <a:prstGeom prst="rect">
            <a:avLst/>
          </a:prstGeom>
        </p:spPr>
      </p:pic>
      <p:sp>
        <p:nvSpPr>
          <p:cNvPr id="12" name="Title 1">
            <a:extLst>
              <a:ext uri="{FF2B5EF4-FFF2-40B4-BE49-F238E27FC236}">
                <a16:creationId xmlns:a16="http://schemas.microsoft.com/office/drawing/2014/main" id="{D07968F0-1915-728F-1F6D-2CB9277677F6}"/>
              </a:ext>
            </a:extLst>
          </p:cNvPr>
          <p:cNvSpPr txBox="1">
            <a:spLocks/>
          </p:cNvSpPr>
          <p:nvPr/>
        </p:nvSpPr>
        <p:spPr>
          <a:xfrm>
            <a:off x="38684" y="-18063"/>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Independent Read</a:t>
            </a:r>
          </a:p>
        </p:txBody>
      </p:sp>
      <p:sp>
        <p:nvSpPr>
          <p:cNvPr id="22" name="TextBox 21">
            <a:extLst>
              <a:ext uri="{FF2B5EF4-FFF2-40B4-BE49-F238E27FC236}">
                <a16:creationId xmlns:a16="http://schemas.microsoft.com/office/drawing/2014/main" id="{BBE494B4-E4A1-C48A-15E2-3683EA0AD086}"/>
              </a:ext>
            </a:extLst>
          </p:cNvPr>
          <p:cNvSpPr txBox="1"/>
          <p:nvPr/>
        </p:nvSpPr>
        <p:spPr>
          <a:xfrm>
            <a:off x="1" y="931322"/>
            <a:ext cx="12191999" cy="830997"/>
          </a:xfrm>
          <a:prstGeom prst="rect">
            <a:avLst/>
          </a:prstGeom>
          <a:noFill/>
        </p:spPr>
        <p:txBody>
          <a:bodyPr wrap="square">
            <a:spAutoFit/>
          </a:bodyPr>
          <a:lstStyle/>
          <a:p>
            <a:pPr algn="ctr"/>
            <a:r>
              <a:rPr lang="en-GB" sz="1800">
                <a:effectLst/>
                <a:latin typeface="Sassoon Infant Rg" panose="02000503030000020003" pitchFamily="2" charset="0"/>
                <a:ea typeface="Sassoon Infant Rg" panose="02000503030000020003" pitchFamily="2" charset="0"/>
                <a:cs typeface="Times New Roman" panose="02020603050405020304" pitchFamily="18" charset="0"/>
              </a:rPr>
              <a:t>Read the complete text – underline any words or phrases you don’t understand.  Re-read full sentences for any parts you couldn’t read smoothly on the first attempt. </a:t>
            </a:r>
            <a:endParaRPr lang="en-GB" b="1"/>
          </a:p>
        </p:txBody>
      </p:sp>
      <p:sp>
        <p:nvSpPr>
          <p:cNvPr id="6" name="TextBox 5">
            <a:extLst>
              <a:ext uri="{FF2B5EF4-FFF2-40B4-BE49-F238E27FC236}">
                <a16:creationId xmlns:a16="http://schemas.microsoft.com/office/drawing/2014/main" id="{38C25E62-7AE0-A783-1D87-77105CAB659E}"/>
              </a:ext>
            </a:extLst>
          </p:cNvPr>
          <p:cNvSpPr txBox="1"/>
          <p:nvPr/>
        </p:nvSpPr>
        <p:spPr>
          <a:xfrm>
            <a:off x="2226896" y="3673314"/>
            <a:ext cx="7629665" cy="2308324"/>
          </a:xfrm>
          <a:prstGeom prst="rect">
            <a:avLst/>
          </a:prstGeom>
          <a:noFill/>
        </p:spPr>
        <p:txBody>
          <a:bodyPr wrap="square" rtlCol="0">
            <a:spAutoFit/>
          </a:bodyPr>
          <a:lstStyle/>
          <a:p>
            <a:endParaRPr lang="en-GB"/>
          </a:p>
          <a:p>
            <a:pPr marL="342900" indent="-342900">
              <a:buFont typeface="+mj-lt"/>
              <a:buAutoNum type="arabicPeriod"/>
            </a:pPr>
            <a:r>
              <a:rPr lang="en-GB"/>
              <a:t>Read by segmenting into phonemes and syllables</a:t>
            </a:r>
          </a:p>
          <a:p>
            <a:pPr marL="342900" indent="-342900">
              <a:buFont typeface="+mj-lt"/>
              <a:buAutoNum type="arabicPeriod"/>
            </a:pPr>
            <a:r>
              <a:rPr lang="en-GB"/>
              <a:t>Make a sensible attempt, making sure you blend ALL the sounds as you read.</a:t>
            </a:r>
          </a:p>
          <a:p>
            <a:pPr marL="342900" indent="-342900">
              <a:buFont typeface="+mj-lt"/>
              <a:buAutoNum type="arabicPeriod"/>
            </a:pPr>
            <a:r>
              <a:rPr lang="en-GB"/>
              <a:t>Use the context and parts of the word to make a sensible attempt at a definition.</a:t>
            </a:r>
          </a:p>
          <a:p>
            <a:pPr marL="342900" indent="-342900">
              <a:buFont typeface="+mj-lt"/>
              <a:buAutoNum type="arabicPeriod"/>
            </a:pPr>
            <a:endParaRPr lang="en-GB"/>
          </a:p>
          <a:p>
            <a:r>
              <a:rPr lang="en-GB"/>
              <a:t>Remember to re-read the entire sentence again.</a:t>
            </a:r>
          </a:p>
        </p:txBody>
      </p:sp>
      <p:pic>
        <p:nvPicPr>
          <p:cNvPr id="2" name="Picture 1">
            <a:extLst>
              <a:ext uri="{FF2B5EF4-FFF2-40B4-BE49-F238E27FC236}">
                <a16:creationId xmlns:a16="http://schemas.microsoft.com/office/drawing/2014/main" id="{4A238304-94B7-D6B3-84C9-8D8F6CDD2BB4}"/>
              </a:ext>
            </a:extLst>
          </p:cNvPr>
          <p:cNvPicPr>
            <a:picLocks noChangeAspect="1"/>
          </p:cNvPicPr>
          <p:nvPr/>
        </p:nvPicPr>
        <p:blipFill>
          <a:blip r:embed="rId4"/>
          <a:stretch>
            <a:fillRect/>
          </a:stretch>
        </p:blipFill>
        <p:spPr>
          <a:xfrm>
            <a:off x="866163" y="2097530"/>
            <a:ext cx="10351133" cy="1434810"/>
          </a:xfrm>
          <a:prstGeom prst="rect">
            <a:avLst/>
          </a:prstGeom>
        </p:spPr>
      </p:pic>
      <p:sp>
        <p:nvSpPr>
          <p:cNvPr id="13" name="TextBox 12">
            <a:extLst>
              <a:ext uri="{FF2B5EF4-FFF2-40B4-BE49-F238E27FC236}">
                <a16:creationId xmlns:a16="http://schemas.microsoft.com/office/drawing/2014/main" id="{A473D780-1F99-6094-42B5-9820D9017C99}"/>
              </a:ext>
            </a:extLst>
          </p:cNvPr>
          <p:cNvSpPr txBox="1"/>
          <p:nvPr/>
        </p:nvSpPr>
        <p:spPr>
          <a:xfrm>
            <a:off x="-2406316" y="1524000"/>
            <a:ext cx="184731" cy="369332"/>
          </a:xfrm>
          <a:prstGeom prst="rect">
            <a:avLst/>
          </a:prstGeom>
          <a:noFill/>
        </p:spPr>
        <p:txBody>
          <a:bodyPr wrap="none" rtlCol="0">
            <a:spAutoFit/>
          </a:bodyPr>
          <a:lstStyle/>
          <a:p>
            <a:endParaRPr lang="en-GB"/>
          </a:p>
        </p:txBody>
      </p:sp>
      <p:sp>
        <p:nvSpPr>
          <p:cNvPr id="15" name="TextBox 14">
            <a:extLst>
              <a:ext uri="{FF2B5EF4-FFF2-40B4-BE49-F238E27FC236}">
                <a16:creationId xmlns:a16="http://schemas.microsoft.com/office/drawing/2014/main" id="{E15A5C10-306D-554F-EAA6-B73E5AF3D6C7}"/>
              </a:ext>
            </a:extLst>
          </p:cNvPr>
          <p:cNvSpPr txBox="1"/>
          <p:nvPr/>
        </p:nvSpPr>
        <p:spPr>
          <a:xfrm>
            <a:off x="209488" y="1865629"/>
            <a:ext cx="11861201" cy="3985274"/>
          </a:xfrm>
          <a:prstGeom prst="rect">
            <a:avLst/>
          </a:prstGeom>
          <a:solidFill>
            <a:schemeClr val="accent5">
              <a:lumMod val="20000"/>
              <a:lumOff val="80000"/>
            </a:schemeClr>
          </a:solidFill>
        </p:spPr>
        <p:txBody>
          <a:bodyPr wrap="square" anchor="ctr">
            <a:noAutofit/>
          </a:bodyPr>
          <a:lstStyle/>
          <a:p>
            <a:r>
              <a:rPr lang="en-US" sz="2200"/>
              <a:t>Brazil’s physical geography is extraordinarily varied, making it one of the most diverse countries on Earth. The Amazon rainforest covers a vast portion of the interior, forming one of the world’s most important tropical biomes — a large natural area defined by its climate, vegetation and wildlife. The Amazon biome is characterised by enormous biodiversity, dense tree cover and very high rainfall throughout the year. Further south, the landscape shifts to a vast tropical grassland known as the Cerrado, which has its own distinct vegetation and wildlife. The topography of Brazil ranges from the low-lying flood plains of the Amazon basin to the highlands of the Brazilian Plateau in the south and east. The country sits within the tropical climate zone, which extends between the tropics and is known for its warm temperatures and high cloud cover. England’s physical geography is strikingly different. England has no tropical rainforest or grassland biome; instead, it is classified as a temperate deciduous woodland biome, where trees such as oak, ash and beech shed their leaves each autumn. England’s topography is mostly gentle and rolling, with its highest ground in the north, in the Lake District and the Pennines. Its climate is cool and often wet, with four distinct seasons — a sharp contrast to the largely warm and humid conditions found across Brazil.</a:t>
            </a:r>
          </a:p>
        </p:txBody>
      </p:sp>
      <p:sp>
        <p:nvSpPr>
          <p:cNvPr id="10" name="Rounded Rectangle 9">
            <a:extLst>
              <a:ext uri="{FF2B5EF4-FFF2-40B4-BE49-F238E27FC236}">
                <a16:creationId xmlns:a16="http://schemas.microsoft.com/office/drawing/2014/main" id="{911D3733-5EF2-7482-D164-B776AE41E9CC}"/>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Tree>
    <p:extLst>
      <p:ext uri="{BB962C8B-B14F-4D97-AF65-F5344CB8AC3E}">
        <p14:creationId xmlns:p14="http://schemas.microsoft.com/office/powerpoint/2010/main" val="197944849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nextCondLst>
                <p:cond evt="onClick" delay="0">
                  <p:tgtEl>
                    <p:spTgt spid="10"/>
                  </p:tgtEl>
                </p:cond>
              </p:nextCondLst>
            </p:seq>
          </p:childTnLst>
        </p:cTn>
      </p:par>
    </p:tnLst>
    <p:bldLst>
      <p:bldP spid="15" grpId="0" animBg="1"/>
      <p:bldP spid="15"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15917-BDE9-A483-7A0D-AC15BA636611}"/>
            </a:ext>
          </a:extLst>
        </p:cNvPr>
        <p:cNvGrpSpPr/>
        <p:nvPr/>
      </p:nvGrpSpPr>
      <p:grpSpPr>
        <a:xfrm>
          <a:off x="0" y="0"/>
          <a:ext cx="0" cy="0"/>
          <a:chOff x="0" y="0"/>
          <a:chExt cx="0" cy="0"/>
        </a:xfrm>
      </p:grpSpPr>
      <p:sp>
        <p:nvSpPr>
          <p:cNvPr id="6" name="Freeform: Shape 5">
            <a:extLst>
              <a:ext uri="{FF2B5EF4-FFF2-40B4-BE49-F238E27FC236}">
                <a16:creationId xmlns:a16="http://schemas.microsoft.com/office/drawing/2014/main" id="{3E3AA9AF-9E3C-B821-0C95-D4AA63DFFCBB}"/>
              </a:ext>
            </a:extLst>
          </p:cNvPr>
          <p:cNvSpPr/>
          <p:nvPr/>
        </p:nvSpPr>
        <p:spPr>
          <a:xfrm>
            <a:off x="2609369" y="1646785"/>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7" name="Oval 6">
            <a:extLst>
              <a:ext uri="{FF2B5EF4-FFF2-40B4-BE49-F238E27FC236}">
                <a16:creationId xmlns:a16="http://schemas.microsoft.com/office/drawing/2014/main" id="{BC8D8944-1BCF-D4B0-7DAF-EF76646CCF50}"/>
              </a:ext>
            </a:extLst>
          </p:cNvPr>
          <p:cNvSpPr/>
          <p:nvPr/>
        </p:nvSpPr>
        <p:spPr>
          <a:xfrm>
            <a:off x="2057663" y="2106659"/>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8" name="Group 7">
            <a:extLst>
              <a:ext uri="{FF2B5EF4-FFF2-40B4-BE49-F238E27FC236}">
                <a16:creationId xmlns:a16="http://schemas.microsoft.com/office/drawing/2014/main" id="{6EE8B722-85CC-7111-AF8B-97EEBEE9A272}"/>
              </a:ext>
            </a:extLst>
          </p:cNvPr>
          <p:cNvGrpSpPr/>
          <p:nvPr/>
        </p:nvGrpSpPr>
        <p:grpSpPr>
          <a:xfrm>
            <a:off x="3003018" y="1125085"/>
            <a:ext cx="1838188" cy="1169519"/>
            <a:chOff x="2644385" y="2866760"/>
            <a:chExt cx="1838188" cy="1384526"/>
          </a:xfrm>
        </p:grpSpPr>
        <p:sp>
          <p:nvSpPr>
            <p:cNvPr id="9" name="Freeform: Shape 8">
              <a:extLst>
                <a:ext uri="{FF2B5EF4-FFF2-40B4-BE49-F238E27FC236}">
                  <a16:creationId xmlns:a16="http://schemas.microsoft.com/office/drawing/2014/main" id="{AD3569E1-8E04-B7BA-0398-4180BE3B0EE3}"/>
                </a:ext>
              </a:extLst>
            </p:cNvPr>
            <p:cNvSpPr/>
            <p:nvPr/>
          </p:nvSpPr>
          <p:spPr>
            <a:xfrm>
              <a:off x="2644386" y="2866760"/>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b="1"/>
            </a:p>
          </p:txBody>
        </p:sp>
        <p:sp>
          <p:nvSpPr>
            <p:cNvPr id="10" name="TextBox 9">
              <a:extLst>
                <a:ext uri="{FF2B5EF4-FFF2-40B4-BE49-F238E27FC236}">
                  <a16:creationId xmlns:a16="http://schemas.microsoft.com/office/drawing/2014/main" id="{FFC19485-EC34-F070-3B3F-978F61587575}"/>
                </a:ext>
              </a:extLst>
            </p:cNvPr>
            <p:cNvSpPr txBox="1"/>
            <p:nvPr/>
          </p:nvSpPr>
          <p:spPr>
            <a:xfrm>
              <a:off x="2644385" y="3160918"/>
              <a:ext cx="1838187"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What am I learning?</a:t>
              </a:r>
            </a:p>
          </p:txBody>
        </p:sp>
      </p:grpSp>
      <p:pic>
        <p:nvPicPr>
          <p:cNvPr id="11" name="Picture 10" descr="A picture containing room  Description automatically generated">
            <a:extLst>
              <a:ext uri="{FF2B5EF4-FFF2-40B4-BE49-F238E27FC236}">
                <a16:creationId xmlns:a16="http://schemas.microsoft.com/office/drawing/2014/main" id="{3C0DDE4A-9E8B-5BE3-65C1-A3FA2705ACB2}"/>
              </a:ext>
            </a:extLst>
          </p:cNvPr>
          <p:cNvPicPr>
            <a:picLocks noChangeAspect="1"/>
          </p:cNvPicPr>
          <p:nvPr/>
        </p:nvPicPr>
        <p:blipFill>
          <a:blip r:embed="rId2" cstate="screen">
            <a:extLst>
              <a:ext uri="{28A0092B-C50C-407E-A947-70E740481C1C}">
                <a14:useLocalDpi xmlns:a14="http://schemas.microsoft.com/office/drawing/2010/main" val="0"/>
              </a:ext>
            </a:extLst>
          </a:blip>
          <a:stretch>
            <a:fillRect/>
          </a:stretch>
        </p:blipFill>
        <p:spPr>
          <a:xfrm>
            <a:off x="485896" y="2018390"/>
            <a:ext cx="1451414" cy="2106656"/>
          </a:xfrm>
          <a:prstGeom prst="rect">
            <a:avLst/>
          </a:prstGeom>
          <a:ln>
            <a:noFill/>
          </a:ln>
        </p:spPr>
      </p:pic>
      <p:sp>
        <p:nvSpPr>
          <p:cNvPr id="12" name="Freeform: Shape 11">
            <a:extLst>
              <a:ext uri="{FF2B5EF4-FFF2-40B4-BE49-F238E27FC236}">
                <a16:creationId xmlns:a16="http://schemas.microsoft.com/office/drawing/2014/main" id="{A0F1A2A6-045F-00C7-688E-E6D0A25D5652}"/>
              </a:ext>
            </a:extLst>
          </p:cNvPr>
          <p:cNvSpPr/>
          <p:nvPr/>
        </p:nvSpPr>
        <p:spPr>
          <a:xfrm>
            <a:off x="2797615" y="2918463"/>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3" name="Oval 12">
            <a:extLst>
              <a:ext uri="{FF2B5EF4-FFF2-40B4-BE49-F238E27FC236}">
                <a16:creationId xmlns:a16="http://schemas.microsoft.com/office/drawing/2014/main" id="{408A8433-A9BE-1E56-2965-99A3B5625947}"/>
              </a:ext>
            </a:extLst>
          </p:cNvPr>
          <p:cNvSpPr/>
          <p:nvPr/>
        </p:nvSpPr>
        <p:spPr>
          <a:xfrm>
            <a:off x="2458854" y="2918501"/>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14" name="Group 13">
            <a:extLst>
              <a:ext uri="{FF2B5EF4-FFF2-40B4-BE49-F238E27FC236}">
                <a16:creationId xmlns:a16="http://schemas.microsoft.com/office/drawing/2014/main" id="{27A24A2D-2408-EB9E-5F70-46F514294503}"/>
              </a:ext>
            </a:extLst>
          </p:cNvPr>
          <p:cNvGrpSpPr/>
          <p:nvPr/>
        </p:nvGrpSpPr>
        <p:grpSpPr>
          <a:xfrm>
            <a:off x="3618760" y="2676281"/>
            <a:ext cx="2097602" cy="1251349"/>
            <a:chOff x="6125888" y="3028716"/>
            <a:chExt cx="1838187" cy="1384526"/>
          </a:xfrm>
          <a:solidFill>
            <a:schemeClr val="accent6">
              <a:lumMod val="60000"/>
              <a:lumOff val="40000"/>
            </a:schemeClr>
          </a:solidFill>
        </p:grpSpPr>
        <p:sp>
          <p:nvSpPr>
            <p:cNvPr id="15" name="Freeform: Shape 14">
              <a:extLst>
                <a:ext uri="{FF2B5EF4-FFF2-40B4-BE49-F238E27FC236}">
                  <a16:creationId xmlns:a16="http://schemas.microsoft.com/office/drawing/2014/main" id="{2946C962-D08C-0F71-45B1-FA00B59721B8}"/>
                </a:ext>
              </a:extLst>
            </p:cNvPr>
            <p:cNvSpPr/>
            <p:nvPr/>
          </p:nvSpPr>
          <p:spPr>
            <a:xfrm>
              <a:off x="6125888" y="3028716"/>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2400" b="1"/>
            </a:p>
          </p:txBody>
        </p:sp>
        <p:sp>
          <p:nvSpPr>
            <p:cNvPr id="16" name="TextBox 15">
              <a:extLst>
                <a:ext uri="{FF2B5EF4-FFF2-40B4-BE49-F238E27FC236}">
                  <a16:creationId xmlns:a16="http://schemas.microsoft.com/office/drawing/2014/main" id="{60E1483D-26A7-A33B-B0CD-B1044C4A76B4}"/>
                </a:ext>
              </a:extLst>
            </p:cNvPr>
            <p:cNvSpPr txBox="1"/>
            <p:nvPr/>
          </p:nvSpPr>
          <p:spPr>
            <a:xfrm>
              <a:off x="6263965" y="3326148"/>
              <a:ext cx="1595765"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Why am I learning this ?</a:t>
              </a:r>
            </a:p>
          </p:txBody>
        </p:sp>
      </p:grpSp>
      <p:sp>
        <p:nvSpPr>
          <p:cNvPr id="17" name="Freeform: Shape 16">
            <a:extLst>
              <a:ext uri="{FF2B5EF4-FFF2-40B4-BE49-F238E27FC236}">
                <a16:creationId xmlns:a16="http://schemas.microsoft.com/office/drawing/2014/main" id="{ED4713C7-97EE-A5B0-8FC6-4CE70EA350BC}"/>
              </a:ext>
            </a:extLst>
          </p:cNvPr>
          <p:cNvSpPr/>
          <p:nvPr/>
        </p:nvSpPr>
        <p:spPr>
          <a:xfrm>
            <a:off x="2490079" y="3963955"/>
            <a:ext cx="200648" cy="240777"/>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8" name="Oval 17">
            <a:extLst>
              <a:ext uri="{FF2B5EF4-FFF2-40B4-BE49-F238E27FC236}">
                <a16:creationId xmlns:a16="http://schemas.microsoft.com/office/drawing/2014/main" id="{72843B94-CA11-5143-DFB7-BE14CB303150}"/>
              </a:ext>
            </a:extLst>
          </p:cNvPr>
          <p:cNvSpPr/>
          <p:nvPr/>
        </p:nvSpPr>
        <p:spPr>
          <a:xfrm>
            <a:off x="2258697" y="3780606"/>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9" name="TextBox 18">
            <a:extLst>
              <a:ext uri="{FF2B5EF4-FFF2-40B4-BE49-F238E27FC236}">
                <a16:creationId xmlns:a16="http://schemas.microsoft.com/office/drawing/2014/main" id="{CDA984DD-4FC4-64A0-887A-0A817B977071}"/>
              </a:ext>
            </a:extLst>
          </p:cNvPr>
          <p:cNvSpPr txBox="1"/>
          <p:nvPr/>
        </p:nvSpPr>
        <p:spPr>
          <a:xfrm>
            <a:off x="5068949" y="1230333"/>
            <a:ext cx="5311218" cy="830997"/>
          </a:xfrm>
          <a:prstGeom prst="rect">
            <a:avLst/>
          </a:prstGeom>
          <a:noFill/>
        </p:spPr>
        <p:txBody>
          <a:bodyPr wrap="square" rtlCol="0">
            <a:spAutoFit/>
          </a:bodyPr>
          <a:lstStyle/>
          <a:p>
            <a:r>
              <a:rPr lang="en-GB" sz="2400">
                <a:latin typeface="+mj-lt"/>
              </a:rPr>
              <a:t>I  am learning to understand and take meaning from a text.</a:t>
            </a:r>
          </a:p>
        </p:txBody>
      </p:sp>
      <p:sp>
        <p:nvSpPr>
          <p:cNvPr id="20" name="Rectangle 19">
            <a:extLst>
              <a:ext uri="{FF2B5EF4-FFF2-40B4-BE49-F238E27FC236}">
                <a16:creationId xmlns:a16="http://schemas.microsoft.com/office/drawing/2014/main" id="{3A23222B-35F4-3CDC-5FEA-1C58CE4A933A}"/>
              </a:ext>
            </a:extLst>
          </p:cNvPr>
          <p:cNvSpPr/>
          <p:nvPr/>
        </p:nvSpPr>
        <p:spPr>
          <a:xfrm>
            <a:off x="5597291" y="4824722"/>
            <a:ext cx="5583685" cy="1200329"/>
          </a:xfrm>
          <a:prstGeom prst="rect">
            <a:avLst/>
          </a:prstGeom>
          <a:noFill/>
        </p:spPr>
        <p:txBody>
          <a:bodyPr wrap="square">
            <a:spAutoFit/>
          </a:bodyPr>
          <a:lstStyle/>
          <a:p>
            <a:r>
              <a:rPr lang="en-GB" sz="2400">
                <a:latin typeface="+mj-lt"/>
              </a:rPr>
              <a:t>I will show this by answering questions which relate to the vocabulary used throughout the text.</a:t>
            </a:r>
          </a:p>
        </p:txBody>
      </p:sp>
      <p:grpSp>
        <p:nvGrpSpPr>
          <p:cNvPr id="26" name="Group 25">
            <a:extLst>
              <a:ext uri="{FF2B5EF4-FFF2-40B4-BE49-F238E27FC236}">
                <a16:creationId xmlns:a16="http://schemas.microsoft.com/office/drawing/2014/main" id="{F0FA508C-6CB1-E76E-F0A8-B64E6C4CD90D}"/>
              </a:ext>
            </a:extLst>
          </p:cNvPr>
          <p:cNvGrpSpPr/>
          <p:nvPr/>
        </p:nvGrpSpPr>
        <p:grpSpPr>
          <a:xfrm>
            <a:off x="2968729" y="4615048"/>
            <a:ext cx="2401890" cy="1148058"/>
            <a:chOff x="10001131" y="2709337"/>
            <a:chExt cx="1838187" cy="1105414"/>
          </a:xfrm>
        </p:grpSpPr>
        <p:sp>
          <p:nvSpPr>
            <p:cNvPr id="27" name="Freeform: Shape 26">
              <a:extLst>
                <a:ext uri="{FF2B5EF4-FFF2-40B4-BE49-F238E27FC236}">
                  <a16:creationId xmlns:a16="http://schemas.microsoft.com/office/drawing/2014/main" id="{3F558219-13F1-436A-59AF-11B90D95ABA1}"/>
                </a:ext>
              </a:extLst>
            </p:cNvPr>
            <p:cNvSpPr/>
            <p:nvPr/>
          </p:nvSpPr>
          <p:spPr>
            <a:xfrm>
              <a:off x="10001131" y="2709337"/>
              <a:ext cx="1838187" cy="1105414"/>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a:p>
          </p:txBody>
        </p:sp>
        <p:sp>
          <p:nvSpPr>
            <p:cNvPr id="28" name="TextBox 27">
              <a:extLst>
                <a:ext uri="{FF2B5EF4-FFF2-40B4-BE49-F238E27FC236}">
                  <a16:creationId xmlns:a16="http://schemas.microsoft.com/office/drawing/2014/main" id="{33569914-364A-6AF1-85F1-0BFCF4FDB1A8}"/>
                </a:ext>
              </a:extLst>
            </p:cNvPr>
            <p:cNvSpPr txBox="1"/>
            <p:nvPr/>
          </p:nvSpPr>
          <p:spPr>
            <a:xfrm>
              <a:off x="10146498" y="2857389"/>
              <a:ext cx="1547451" cy="622324"/>
            </a:xfrm>
            <a:prstGeom prst="rect">
              <a:avLst/>
            </a:prstGeom>
            <a:noFill/>
            <a:ln w="19050">
              <a:noFill/>
            </a:ln>
          </p:spPr>
          <p:txBody>
            <a:bodyPr wrap="square" rtlCol="0">
              <a:spAutoFit/>
            </a:bodyPr>
            <a:lstStyle/>
            <a:p>
              <a:pPr algn="ctr"/>
              <a:r>
                <a:rPr lang="en-GB" b="1">
                  <a:latin typeface="Sassoon Primary Rg" panose="02000606020000020004" pitchFamily="2" charset="0"/>
                </a:rPr>
                <a:t>How will I know when I get there?</a:t>
              </a:r>
            </a:p>
          </p:txBody>
        </p:sp>
      </p:grpSp>
      <p:sp>
        <p:nvSpPr>
          <p:cNvPr id="29" name="Freeform: Shape 28">
            <a:extLst>
              <a:ext uri="{FF2B5EF4-FFF2-40B4-BE49-F238E27FC236}">
                <a16:creationId xmlns:a16="http://schemas.microsoft.com/office/drawing/2014/main" id="{B90D4CDA-08E3-0ED1-C1FB-0242710F0D9A}"/>
              </a:ext>
            </a:extLst>
          </p:cNvPr>
          <p:cNvSpPr/>
          <p:nvPr/>
        </p:nvSpPr>
        <p:spPr>
          <a:xfrm>
            <a:off x="2767911" y="4261260"/>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0" name="Freeform: Shape 29">
            <a:extLst>
              <a:ext uri="{FF2B5EF4-FFF2-40B4-BE49-F238E27FC236}">
                <a16:creationId xmlns:a16="http://schemas.microsoft.com/office/drawing/2014/main" id="{8139F2B2-DE54-7CE1-CCBE-1C4164F07AC7}"/>
              </a:ext>
            </a:extLst>
          </p:cNvPr>
          <p:cNvSpPr/>
          <p:nvPr/>
        </p:nvSpPr>
        <p:spPr>
          <a:xfrm>
            <a:off x="3206304" y="2991789"/>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5" name="Freeform: Shape 34">
            <a:extLst>
              <a:ext uri="{FF2B5EF4-FFF2-40B4-BE49-F238E27FC236}">
                <a16:creationId xmlns:a16="http://schemas.microsoft.com/office/drawing/2014/main" id="{721B1AA3-17DD-506B-9B14-CDFF5EA0BECB}"/>
              </a:ext>
            </a:extLst>
          </p:cNvPr>
          <p:cNvSpPr/>
          <p:nvPr/>
        </p:nvSpPr>
        <p:spPr>
          <a:xfrm>
            <a:off x="2271587" y="1913146"/>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5" name="TextBox 4">
            <a:extLst>
              <a:ext uri="{FF2B5EF4-FFF2-40B4-BE49-F238E27FC236}">
                <a16:creationId xmlns:a16="http://schemas.microsoft.com/office/drawing/2014/main" id="{3A69BFB0-E1DC-E3FA-6EA3-821A27D46522}"/>
              </a:ext>
            </a:extLst>
          </p:cNvPr>
          <p:cNvSpPr txBox="1"/>
          <p:nvPr/>
        </p:nvSpPr>
        <p:spPr>
          <a:xfrm>
            <a:off x="5873925" y="2665439"/>
            <a:ext cx="5507001" cy="1200329"/>
          </a:xfrm>
          <a:prstGeom prst="rect">
            <a:avLst/>
          </a:prstGeom>
          <a:noFill/>
        </p:spPr>
        <p:txBody>
          <a:bodyPr wrap="square" rtlCol="0">
            <a:spAutoFit/>
          </a:bodyPr>
          <a:lstStyle/>
          <a:p>
            <a:r>
              <a:rPr lang="en-GB" sz="2400">
                <a:latin typeface="Sassoon Infant Rg" panose="02000503030000020003" pitchFamily="2" charset="0"/>
                <a:ea typeface="Sassoon Infant Rg" panose="02000503030000020003" pitchFamily="2" charset="0"/>
              </a:rPr>
              <a:t>I am learning this because it will help me to develop my understanding of vocabulary at a sentence and text level.</a:t>
            </a:r>
          </a:p>
        </p:txBody>
      </p:sp>
      <p:grpSp>
        <p:nvGrpSpPr>
          <p:cNvPr id="3" name="Group 2">
            <a:extLst>
              <a:ext uri="{FF2B5EF4-FFF2-40B4-BE49-F238E27FC236}">
                <a16:creationId xmlns:a16="http://schemas.microsoft.com/office/drawing/2014/main" id="{AB1D5BFC-9C6F-78FE-BB55-8A787A315711}"/>
              </a:ext>
            </a:extLst>
          </p:cNvPr>
          <p:cNvGrpSpPr/>
          <p:nvPr/>
        </p:nvGrpSpPr>
        <p:grpSpPr>
          <a:xfrm>
            <a:off x="10607910" y="233361"/>
            <a:ext cx="1316831" cy="1316831"/>
            <a:chOff x="5180554" y="1026138"/>
            <a:chExt cx="1316831" cy="1316831"/>
          </a:xfrm>
        </p:grpSpPr>
        <p:sp>
          <p:nvSpPr>
            <p:cNvPr id="4" name="Oval 3">
              <a:extLst>
                <a:ext uri="{FF2B5EF4-FFF2-40B4-BE49-F238E27FC236}">
                  <a16:creationId xmlns:a16="http://schemas.microsoft.com/office/drawing/2014/main" id="{30C90C35-E0BE-7AD4-92BC-8EFF113E4DB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1" name="Oval 4">
              <a:extLst>
                <a:ext uri="{FF2B5EF4-FFF2-40B4-BE49-F238E27FC236}">
                  <a16:creationId xmlns:a16="http://schemas.microsoft.com/office/drawing/2014/main" id="{D5E138FF-7604-1E33-555D-87C2C96CBE05}"/>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Tree>
    <p:extLst>
      <p:ext uri="{BB962C8B-B14F-4D97-AF65-F5344CB8AC3E}">
        <p14:creationId xmlns:p14="http://schemas.microsoft.com/office/powerpoint/2010/main" val="28426104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1F7DB-6538-E176-FE28-8F1AD256569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4F21690-854A-3024-D098-1C56DE57443E}"/>
              </a:ext>
            </a:extLst>
          </p:cNvPr>
          <p:cNvPicPr>
            <a:picLocks noChangeAspect="1"/>
          </p:cNvPicPr>
          <p:nvPr/>
        </p:nvPicPr>
        <p:blipFill>
          <a:blip r:embed="rId2"/>
          <a:stretch>
            <a:fillRect/>
          </a:stretch>
        </p:blipFill>
        <p:spPr>
          <a:xfrm>
            <a:off x="10424916" y="134700"/>
            <a:ext cx="1616752" cy="697982"/>
          </a:xfrm>
          <a:prstGeom prst="rect">
            <a:avLst/>
          </a:prstGeom>
        </p:spPr>
      </p:pic>
      <p:sp>
        <p:nvSpPr>
          <p:cNvPr id="6" name="TextBox 5">
            <a:extLst>
              <a:ext uri="{FF2B5EF4-FFF2-40B4-BE49-F238E27FC236}">
                <a16:creationId xmlns:a16="http://schemas.microsoft.com/office/drawing/2014/main" id="{AEC30692-9C94-A8DB-4755-85FE74DE9821}"/>
              </a:ext>
            </a:extLst>
          </p:cNvPr>
          <p:cNvSpPr txBox="1"/>
          <p:nvPr/>
        </p:nvSpPr>
        <p:spPr>
          <a:xfrm>
            <a:off x="288098" y="335454"/>
            <a:ext cx="6864956" cy="707886"/>
          </a:xfrm>
          <a:prstGeom prst="rect">
            <a:avLst/>
          </a:prstGeom>
          <a:noFill/>
        </p:spPr>
        <p:txBody>
          <a:bodyPr wrap="none" rtlCol="0">
            <a:spAutoFit/>
          </a:bodyPr>
          <a:lstStyle/>
          <a:p>
            <a:r>
              <a:rPr lang="en-GB" sz="4000" b="1" u="sng"/>
              <a:t>Practice questions - Retrieval</a:t>
            </a:r>
          </a:p>
        </p:txBody>
      </p:sp>
      <p:pic>
        <p:nvPicPr>
          <p:cNvPr id="7" name="Picture 6">
            <a:extLst>
              <a:ext uri="{FF2B5EF4-FFF2-40B4-BE49-F238E27FC236}">
                <a16:creationId xmlns:a16="http://schemas.microsoft.com/office/drawing/2014/main" id="{E0AB4FA0-4B96-F850-DD50-18A5FD657BB8}"/>
              </a:ext>
            </a:extLst>
          </p:cNvPr>
          <p:cNvPicPr/>
          <p:nvPr/>
        </p:nvPicPr>
        <p:blipFill>
          <a:blip r:embed="rId3">
            <a:extLst>
              <a:ext uri="{28A0092B-C50C-407E-A947-70E740481C1C}">
                <a14:useLocalDpi xmlns:a14="http://schemas.microsoft.com/office/drawing/2010/main" val="0"/>
              </a:ext>
            </a:extLst>
          </a:blip>
          <a:stretch>
            <a:fillRect/>
          </a:stretch>
        </p:blipFill>
        <p:spPr>
          <a:xfrm>
            <a:off x="5250435" y="6048469"/>
            <a:ext cx="1691129" cy="711848"/>
          </a:xfrm>
          <a:prstGeom prst="rect">
            <a:avLst/>
          </a:prstGeom>
        </p:spPr>
      </p:pic>
      <p:sp>
        <p:nvSpPr>
          <p:cNvPr id="4" name="Rounded Rectangle 9">
            <a:extLst>
              <a:ext uri="{FF2B5EF4-FFF2-40B4-BE49-F238E27FC236}">
                <a16:creationId xmlns:a16="http://schemas.microsoft.com/office/drawing/2014/main" id="{2A06B04F-B021-4121-0C16-7A5BACEFBC1B}"/>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
        <p:nvSpPr>
          <p:cNvPr id="10" name="TextBox 9">
            <a:extLst>
              <a:ext uri="{FF2B5EF4-FFF2-40B4-BE49-F238E27FC236}">
                <a16:creationId xmlns:a16="http://schemas.microsoft.com/office/drawing/2014/main" id="{C064352E-4E96-13BD-C58F-5EEC5E15F4B5}"/>
              </a:ext>
            </a:extLst>
          </p:cNvPr>
          <p:cNvSpPr txBox="1"/>
          <p:nvPr/>
        </p:nvSpPr>
        <p:spPr>
          <a:xfrm>
            <a:off x="418368" y="1463046"/>
            <a:ext cx="11355262" cy="2246769"/>
          </a:xfrm>
          <a:prstGeom prst="rect">
            <a:avLst/>
          </a:prstGeom>
          <a:noFill/>
        </p:spPr>
        <p:txBody>
          <a:bodyPr wrap="square" rtlCol="0">
            <a:spAutoFit/>
          </a:bodyPr>
          <a:lstStyle/>
          <a:p>
            <a:r>
              <a:rPr lang="en-US" sz="1900"/>
              <a:t>What is a biome? Name one found in Brazil.</a:t>
            </a:r>
          </a:p>
          <a:p>
            <a:r>
              <a:rPr lang="en-US" sz="1900"/>
              <a:t>A biome is a large natural area with its own climate, plants and animals. The Amazon rainforest is one biome found in Brazil.</a:t>
            </a:r>
          </a:p>
          <a:p>
            <a:endParaRPr lang="en-US" sz="1900"/>
          </a:p>
          <a:p>
            <a:r>
              <a:rPr lang="en-US" sz="1900"/>
              <a:t>How is England's topography different from Brazil's?</a:t>
            </a:r>
          </a:p>
          <a:p>
            <a:r>
              <a:rPr lang="en-US" sz="1900"/>
              <a:t>England's topography is mostly gentle and rolling, with the highest ground in the north. Brazil's ranges from low-lying flood plains to highland plateaus, making it much more varied.</a:t>
            </a:r>
          </a:p>
        </p:txBody>
      </p:sp>
      <p:sp>
        <p:nvSpPr>
          <p:cNvPr id="3" name="TextBox 2">
            <a:extLst>
              <a:ext uri="{FF2B5EF4-FFF2-40B4-BE49-F238E27FC236}">
                <a16:creationId xmlns:a16="http://schemas.microsoft.com/office/drawing/2014/main" id="{EBAE955F-2F2B-1B4A-4719-6AB782D998C5}"/>
              </a:ext>
            </a:extLst>
          </p:cNvPr>
          <p:cNvSpPr txBox="1"/>
          <p:nvPr/>
        </p:nvSpPr>
        <p:spPr>
          <a:xfrm>
            <a:off x="145774" y="1043340"/>
            <a:ext cx="12046226" cy="4585423"/>
          </a:xfrm>
          <a:prstGeom prst="rect">
            <a:avLst/>
          </a:prstGeom>
          <a:solidFill>
            <a:schemeClr val="accent5">
              <a:lumMod val="20000"/>
              <a:lumOff val="80000"/>
            </a:schemeClr>
          </a:solidFill>
        </p:spPr>
        <p:txBody>
          <a:bodyPr wrap="square" anchor="ctr">
            <a:noAutofit/>
          </a:bodyPr>
          <a:lstStyle/>
          <a:p>
            <a:r>
              <a:rPr lang="en-US" sz="2200"/>
              <a:t>Brazil’s physical geography is extraordinarily varied, making it one of the most diverse countries on Earth. The Amazon rainforest covers a vast portion of the interior, forming one of the world’s most important tropical biomes — a large natural area defined by its climate, vegetation and wildlife. The Amazon biome is characterised by enormous biodiversity, dense tree cover and very high rainfall throughout the year. Further south, the landscape shifts to a vast tropical grassland known as the Cerrado, which has its own distinct vegetation and wildlife. The topography of Brazil ranges from the low-lying flood plains of the Amazon basin to the highlands of the Brazilian Plateau in the south and east. The country sits within the tropical climate zone, which extends between the tropics and is known for its warm temperatures and high cloud cover. England’s physical geography is strikingly different. England has no tropical rainforest or grassland biome; instead, it is classified as a temperate deciduous woodland biome, where trees such as oak, ash and beech shed their leaves each autumn. England’s topography is mostly gentle and rolling, with its highest ground in the north, in the Lake District and the Pennines. Its climate is cool and often wet, with four distinct seasons — a sharp contrast to the largely warm and humid conditions found across Brazil.</a:t>
            </a:r>
          </a:p>
        </p:txBody>
      </p:sp>
    </p:spTree>
    <p:extLst>
      <p:ext uri="{BB962C8B-B14F-4D97-AF65-F5344CB8AC3E}">
        <p14:creationId xmlns:p14="http://schemas.microsoft.com/office/powerpoint/2010/main" val="2161724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4"/>
                    </p:tgtEl>
                  </p:cond>
                </p:stCondLst>
                <p:endSync evt="end" delay="0">
                  <p:rtn val="all"/>
                </p:endSync>
                <p:childTnLst>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3"/>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xit" presetSubtype="0" fill="hold" grpId="1" nodeType="clickEffect">
                                  <p:stCondLst>
                                    <p:cond delay="0"/>
                                  </p:stCondLst>
                                  <p:childTnLst>
                                    <p:set>
                                      <p:cBhvr>
                                        <p:cTn id="31" dur="1" fill="hold">
                                          <p:stCondLst>
                                            <p:cond delay="0"/>
                                          </p:stCondLst>
                                        </p:cTn>
                                        <p:tgtEl>
                                          <p:spTgt spid="3"/>
                                        </p:tgtEl>
                                        <p:attrNameLst>
                                          <p:attrName>style.visibility</p:attrName>
                                        </p:attrNameLst>
                                      </p:cBhvr>
                                      <p:to>
                                        <p:strVal val="hidden"/>
                                      </p:to>
                                    </p:set>
                                  </p:childTnLst>
                                </p:cTn>
                              </p:par>
                            </p:childTnLst>
                          </p:cTn>
                        </p:par>
                      </p:childTnLst>
                    </p:cTn>
                  </p:par>
                </p:childTnLst>
              </p:cTn>
              <p:nextCondLst>
                <p:cond evt="onClick" delay="0">
                  <p:tgtEl>
                    <p:spTgt spid="4"/>
                  </p:tgtEl>
                </p:cond>
              </p:nextCondLst>
            </p:seq>
          </p:childTnLst>
        </p:cTn>
      </p:par>
    </p:tnLst>
    <p:bldLst>
      <p:bldP spid="3" grpId="0" animBg="1"/>
      <p:bldP spid="3"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8150-E2BB-D124-E558-AC8A265F32E2}"/>
              </a:ext>
            </a:extLst>
          </p:cNvPr>
          <p:cNvSpPr>
            <a:spLocks noGrp="1"/>
          </p:cNvSpPr>
          <p:nvPr>
            <p:ph type="ctrTitle"/>
          </p:nvPr>
        </p:nvSpPr>
        <p:spPr>
          <a:xfrm>
            <a:off x="0" y="2017477"/>
            <a:ext cx="12192000" cy="2387600"/>
          </a:xfrm>
        </p:spPr>
        <p:txBody>
          <a:bodyPr/>
          <a:lstStyle/>
          <a:p>
            <a:r>
              <a:rPr lang="en-GB">
                <a:latin typeface="Sassoon Infant Rg" panose="02000503030000020003" pitchFamily="2" charset="0"/>
              </a:rPr>
              <a:t>Being a Reader</a:t>
            </a:r>
          </a:p>
        </p:txBody>
      </p:sp>
      <p:grpSp>
        <p:nvGrpSpPr>
          <p:cNvPr id="4" name="Group 3">
            <a:extLst>
              <a:ext uri="{FF2B5EF4-FFF2-40B4-BE49-F238E27FC236}">
                <a16:creationId xmlns:a16="http://schemas.microsoft.com/office/drawing/2014/main" id="{5F3F8467-5724-D86C-FDA4-D49533DEC4F0}"/>
              </a:ext>
            </a:extLst>
          </p:cNvPr>
          <p:cNvGrpSpPr/>
          <p:nvPr/>
        </p:nvGrpSpPr>
        <p:grpSpPr>
          <a:xfrm>
            <a:off x="4568895" y="211840"/>
            <a:ext cx="3039122" cy="3522775"/>
            <a:chOff x="7629233" y="677174"/>
            <a:chExt cx="2090136" cy="2455590"/>
          </a:xfrm>
        </p:grpSpPr>
        <p:pic>
          <p:nvPicPr>
            <p:cNvPr id="5" name="Picture 8" descr="Reading Icon 2954745">
              <a:extLst>
                <a:ext uri="{FF2B5EF4-FFF2-40B4-BE49-F238E27FC236}">
                  <a16:creationId xmlns:a16="http://schemas.microsoft.com/office/drawing/2014/main" id="{2B1C2540-38D6-7D21-7288-1F3B603531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9233" y="1184735"/>
              <a:ext cx="2090136" cy="19480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F3344A5-4924-D3BC-68C4-52E2EB3B6D65}"/>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6627" b="95181" l="4969" r="92547">
                          <a14:foregroundMark x1="43478" y1="94578" x2="43478" y2="94578"/>
                          <a14:foregroundMark x1="4969" y1="50602" x2="4969" y2="50602"/>
                          <a14:foregroundMark x1="16770" y1="19277" x2="16770" y2="19277"/>
                          <a14:foregroundMark x1="49689" y1="8434" x2="49689" y2="8434"/>
                          <a14:foregroundMark x1="80124" y1="19277" x2="80124" y2="19277"/>
                          <a14:foregroundMark x1="56522" y1="95783" x2="56522" y2="95783"/>
                          <a14:foregroundMark x1="89441" y1="49398" x2="89441" y2="49398"/>
                          <a14:foregroundMark x1="49689" y1="6627" x2="49689" y2="6627"/>
                          <a14:foregroundMark x1="92547" y1="49398" x2="92547" y2="49398"/>
                        </a14:backgroundRemoval>
                      </a14:imgEffect>
                    </a14:imgLayer>
                  </a14:imgProps>
                </a:ext>
              </a:extLst>
            </a:blip>
            <a:stretch>
              <a:fillRect/>
            </a:stretch>
          </p:blipFill>
          <p:spPr>
            <a:xfrm>
              <a:off x="8856582" y="677174"/>
              <a:ext cx="716760" cy="688774"/>
            </a:xfrm>
            <a:prstGeom prst="rect">
              <a:avLst/>
            </a:prstGeom>
          </p:spPr>
        </p:pic>
      </p:grpSp>
      <p:sp>
        <p:nvSpPr>
          <p:cNvPr id="3" name="TextBox 2">
            <a:extLst>
              <a:ext uri="{FF2B5EF4-FFF2-40B4-BE49-F238E27FC236}">
                <a16:creationId xmlns:a16="http://schemas.microsoft.com/office/drawing/2014/main" id="{9AA1DE16-8C7B-4868-2DE3-9C9C7D7D4324}"/>
              </a:ext>
            </a:extLst>
          </p:cNvPr>
          <p:cNvSpPr txBox="1"/>
          <p:nvPr/>
        </p:nvSpPr>
        <p:spPr>
          <a:xfrm>
            <a:off x="0" y="4552141"/>
            <a:ext cx="12192000" cy="707886"/>
          </a:xfrm>
          <a:prstGeom prst="rect">
            <a:avLst/>
          </a:prstGeom>
          <a:noFill/>
        </p:spPr>
        <p:txBody>
          <a:bodyPr wrap="square" rtlCol="0">
            <a:spAutoFit/>
          </a:bodyPr>
          <a:lstStyle/>
          <a:p>
            <a:pPr algn="ctr"/>
            <a:r>
              <a:rPr lang="en-GB" sz="4000"/>
              <a:t>Inference</a:t>
            </a:r>
            <a:endParaRPr lang="en-GB"/>
          </a:p>
        </p:txBody>
      </p:sp>
      <p:sp>
        <p:nvSpPr>
          <p:cNvPr id="6" name="TextBox 5">
            <a:extLst>
              <a:ext uri="{FF2B5EF4-FFF2-40B4-BE49-F238E27FC236}">
                <a16:creationId xmlns:a16="http://schemas.microsoft.com/office/drawing/2014/main" id="{2B18F8C8-4B63-E425-87CE-D13C91BCA056}"/>
              </a:ext>
            </a:extLst>
          </p:cNvPr>
          <p:cNvSpPr txBox="1"/>
          <p:nvPr/>
        </p:nvSpPr>
        <p:spPr>
          <a:xfrm>
            <a:off x="4423577" y="5199610"/>
            <a:ext cx="3329758" cy="1446550"/>
          </a:xfrm>
          <a:prstGeom prst="rect">
            <a:avLst/>
          </a:prstGeom>
          <a:noFill/>
        </p:spPr>
        <p:txBody>
          <a:bodyPr wrap="none" rtlCol="0" anchor="ctr">
            <a:spAutoFit/>
          </a:bodyPr>
          <a:lstStyle/>
          <a:p>
            <a:pPr algn="ctr"/>
            <a:r>
              <a:rPr lang="en-GB" sz="8800"/>
              <a:t>Thursday</a:t>
            </a:r>
          </a:p>
        </p:txBody>
      </p:sp>
    </p:spTree>
    <p:extLst>
      <p:ext uri="{BB962C8B-B14F-4D97-AF65-F5344CB8AC3E}">
        <p14:creationId xmlns:p14="http://schemas.microsoft.com/office/powerpoint/2010/main" val="33036935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4ACEAB2A-6943-1061-22CF-9EC0847829D7}"/>
              </a:ext>
            </a:extLst>
          </p:cNvPr>
          <p:cNvSpPr/>
          <p:nvPr/>
        </p:nvSpPr>
        <p:spPr>
          <a:xfrm>
            <a:off x="6476397" y="19821"/>
            <a:ext cx="5576138" cy="6818358"/>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D9DEE78A-07A9-5FF3-9D78-C0D9D21EEFB2}"/>
              </a:ext>
            </a:extLst>
          </p:cNvPr>
          <p:cNvSpPr txBox="1"/>
          <p:nvPr/>
        </p:nvSpPr>
        <p:spPr>
          <a:xfrm>
            <a:off x="6786658" y="-9273"/>
            <a:ext cx="4833400" cy="684803"/>
          </a:xfrm>
          <a:prstGeom prst="rect">
            <a:avLst/>
          </a:prstGeom>
          <a:noFill/>
        </p:spPr>
        <p:txBody>
          <a:bodyPr wrap="square" rtlCol="0">
            <a:spAutoFit/>
          </a:bodyPr>
          <a:lstStyle/>
          <a:p>
            <a:pPr algn="ctr">
              <a:lnSpc>
                <a:spcPct val="150000"/>
              </a:lnSpc>
            </a:pPr>
            <a:r>
              <a:rPr lang="en-GB" sz="2800" b="1" u="sng">
                <a:solidFill>
                  <a:schemeClr val="tx1"/>
                </a:solidFill>
                <a:latin typeface="Sassoon Infant Rg" panose="02000503030000020003" pitchFamily="2" charset="0"/>
                <a:ea typeface="Sassoon Infant Rg" panose="02000503030000020003" pitchFamily="2" charset="0"/>
              </a:rPr>
              <a:t>Why do we learn to read?</a:t>
            </a:r>
          </a:p>
        </p:txBody>
      </p:sp>
      <p:sp>
        <p:nvSpPr>
          <p:cNvPr id="11" name="TextBox 10">
            <a:extLst>
              <a:ext uri="{FF2B5EF4-FFF2-40B4-BE49-F238E27FC236}">
                <a16:creationId xmlns:a16="http://schemas.microsoft.com/office/drawing/2014/main" id="{16D2B17F-CF26-33D2-B6F6-70299CA1A763}"/>
              </a:ext>
            </a:extLst>
          </p:cNvPr>
          <p:cNvSpPr txBox="1"/>
          <p:nvPr/>
        </p:nvSpPr>
        <p:spPr>
          <a:xfrm>
            <a:off x="8246543" y="848912"/>
            <a:ext cx="3654961" cy="263149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Reading makes me </a:t>
            </a:r>
            <a:r>
              <a:rPr lang="en-GB" sz="3200" b="1">
                <a:solidFill>
                  <a:schemeClr val="tx1"/>
                </a:solidFill>
                <a:latin typeface="Sassoon Infant Rg" panose="02000503030000020003" pitchFamily="2" charset="0"/>
                <a:ea typeface="Sassoon Infant Rg" panose="02000503030000020003" pitchFamily="2" charset="0"/>
              </a:rPr>
              <a:t>powerful</a:t>
            </a:r>
            <a:r>
              <a:rPr lang="en-GB" sz="2400">
                <a:solidFill>
                  <a:schemeClr val="tx1"/>
                </a:solidFill>
                <a:latin typeface="Sassoon Infant Rg" panose="02000503030000020003" pitchFamily="2" charset="0"/>
                <a:ea typeface="Sassoon Infant Rg" panose="02000503030000020003" pitchFamily="2" charset="0"/>
              </a:rPr>
              <a:t> because it helps me to </a:t>
            </a:r>
            <a:r>
              <a:rPr lang="en-GB" sz="3200" b="1">
                <a:solidFill>
                  <a:schemeClr val="tx1"/>
                </a:solidFill>
                <a:latin typeface="Sassoon Infant Rg" panose="02000503030000020003" pitchFamily="2" charset="0"/>
                <a:ea typeface="Sassoon Infant Rg" panose="02000503030000020003" pitchFamily="2" charset="0"/>
              </a:rPr>
              <a:t>understand</a:t>
            </a:r>
            <a:r>
              <a:rPr lang="en-GB" sz="2400">
                <a:solidFill>
                  <a:schemeClr val="tx1"/>
                </a:solidFill>
                <a:latin typeface="Sassoon Infant Rg" panose="02000503030000020003" pitchFamily="2" charset="0"/>
                <a:ea typeface="Sassoon Infant Rg" panose="02000503030000020003" pitchFamily="2" charset="0"/>
              </a:rPr>
              <a:t> the world around me.</a:t>
            </a:r>
          </a:p>
        </p:txBody>
      </p:sp>
      <p:pic>
        <p:nvPicPr>
          <p:cNvPr id="7" name="Picture 6">
            <a:extLst>
              <a:ext uri="{FF2B5EF4-FFF2-40B4-BE49-F238E27FC236}">
                <a16:creationId xmlns:a16="http://schemas.microsoft.com/office/drawing/2014/main" id="{3DF6A32D-163D-40C2-BACF-C964E0035D2E}"/>
              </a:ext>
            </a:extLst>
          </p:cNvPr>
          <p:cNvPicPr>
            <a:picLocks noChangeAspect="1"/>
          </p:cNvPicPr>
          <p:nvPr/>
        </p:nvPicPr>
        <p:blipFill rotWithShape="1">
          <a:blip r:embed="rId3">
            <a:extLst>
              <a:ext uri="{BEBA8EAE-BF5A-486C-A8C5-ECC9F3942E4B}">
                <a14:imgProps xmlns:a14="http://schemas.microsoft.com/office/drawing/2010/main">
                  <a14:imgLayer r:embed="rId4">
                    <a14:imgEffect>
                      <a14:backgroundRemoval t="61376" b="80317" l="20847" r="34709">
                        <a14:foregroundMark x1="24656" y1="80000" x2="24656" y2="80000"/>
                        <a14:foregroundMark x1="29312" y1="80317" x2="29312" y2="80317"/>
                      </a14:backgroundRemoval>
                    </a14:imgEffect>
                  </a14:imgLayer>
                </a14:imgProps>
              </a:ext>
            </a:extLst>
          </a:blip>
          <a:srcRect l="19127" t="59276" r="63462" b="18202"/>
          <a:stretch/>
        </p:blipFill>
        <p:spPr>
          <a:xfrm>
            <a:off x="6896058" y="1151805"/>
            <a:ext cx="1350486" cy="1656373"/>
          </a:xfrm>
          <a:prstGeom prst="rect">
            <a:avLst/>
          </a:prstGeom>
        </p:spPr>
      </p:pic>
      <p:pic>
        <p:nvPicPr>
          <p:cNvPr id="12" name="Picture 11">
            <a:extLst>
              <a:ext uri="{FF2B5EF4-FFF2-40B4-BE49-F238E27FC236}">
                <a16:creationId xmlns:a16="http://schemas.microsoft.com/office/drawing/2014/main" id="{A25D9A8A-09E0-BBBE-0C18-2E1880E52773}"/>
              </a:ext>
            </a:extLst>
          </p:cNvPr>
          <p:cNvPicPr>
            <a:picLocks noChangeAspect="1"/>
          </p:cNvPicPr>
          <p:nvPr/>
        </p:nvPicPr>
        <p:blipFill rotWithShape="1">
          <a:blip r:embed="rId5">
            <a:extLst>
              <a:ext uri="{BEBA8EAE-BF5A-486C-A8C5-ECC9F3942E4B}">
                <a14:imgProps xmlns:a14="http://schemas.microsoft.com/office/drawing/2010/main">
                  <a14:imgLayer r:embed="rId4">
                    <a14:imgEffect>
                      <a14:backgroundRemoval t="61793" b="81925" l="64809" r="78176">
                        <a14:foregroundMark x1="75238" y1="61799" x2="75238" y2="61799"/>
                      </a14:backgroundRemoval>
                    </a14:imgEffect>
                  </a14:imgLayer>
                </a14:imgProps>
              </a:ext>
            </a:extLst>
          </a:blip>
          <a:srcRect l="63138" t="59276" r="20153" b="15559"/>
          <a:stretch/>
        </p:blipFill>
        <p:spPr>
          <a:xfrm>
            <a:off x="10650071" y="4324983"/>
            <a:ext cx="1251434" cy="1786987"/>
          </a:xfrm>
          <a:prstGeom prst="rect">
            <a:avLst/>
          </a:prstGeom>
        </p:spPr>
      </p:pic>
      <p:sp>
        <p:nvSpPr>
          <p:cNvPr id="14" name="TextBox 13">
            <a:extLst>
              <a:ext uri="{FF2B5EF4-FFF2-40B4-BE49-F238E27FC236}">
                <a16:creationId xmlns:a16="http://schemas.microsoft.com/office/drawing/2014/main" id="{950C5C2B-42CC-39EC-6847-EE394E29BB3C}"/>
              </a:ext>
            </a:extLst>
          </p:cNvPr>
          <p:cNvSpPr txBox="1"/>
          <p:nvPr/>
        </p:nvSpPr>
        <p:spPr>
          <a:xfrm>
            <a:off x="6786658" y="4022091"/>
            <a:ext cx="3863413" cy="170816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At Wallscourt Farm Academy:</a:t>
            </a:r>
          </a:p>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We love to read, learn to read and read to learn! </a:t>
            </a:r>
          </a:p>
        </p:txBody>
      </p:sp>
      <p:pic>
        <p:nvPicPr>
          <p:cNvPr id="3" name="Picture 2">
            <a:extLst>
              <a:ext uri="{FF2B5EF4-FFF2-40B4-BE49-F238E27FC236}">
                <a16:creationId xmlns:a16="http://schemas.microsoft.com/office/drawing/2014/main" id="{121AB0E8-B43D-DFDE-C896-2046E6E618BA}"/>
              </a:ext>
            </a:extLst>
          </p:cNvPr>
          <p:cNvPicPr>
            <a:picLocks noChangeAspect="1"/>
          </p:cNvPicPr>
          <p:nvPr/>
        </p:nvPicPr>
        <p:blipFill>
          <a:blip r:embed="rId6"/>
          <a:stretch>
            <a:fillRect/>
          </a:stretch>
        </p:blipFill>
        <p:spPr>
          <a:xfrm>
            <a:off x="631179" y="568742"/>
            <a:ext cx="5645882" cy="5654149"/>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2855788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3C5AD-3309-A9A5-F848-B93CB7BC5FD5}"/>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B9D8A55-04E7-0528-A165-9FB98DB89054}"/>
              </a:ext>
            </a:extLst>
          </p:cNvPr>
          <p:cNvPicPr>
            <a:picLocks noChangeAspect="1"/>
          </p:cNvPicPr>
          <p:nvPr/>
        </p:nvPicPr>
        <p:blipFill>
          <a:blip r:embed="rId3"/>
          <a:stretch>
            <a:fillRect/>
          </a:stretch>
        </p:blipFill>
        <p:spPr>
          <a:xfrm>
            <a:off x="10424916" y="134700"/>
            <a:ext cx="1616752" cy="697982"/>
          </a:xfrm>
          <a:prstGeom prst="rect">
            <a:avLst/>
          </a:prstGeom>
        </p:spPr>
      </p:pic>
      <p:grpSp>
        <p:nvGrpSpPr>
          <p:cNvPr id="9" name="Group 8">
            <a:extLst>
              <a:ext uri="{FF2B5EF4-FFF2-40B4-BE49-F238E27FC236}">
                <a16:creationId xmlns:a16="http://schemas.microsoft.com/office/drawing/2014/main" id="{2E1FDC99-0FE5-B42D-815D-42276802132E}"/>
              </a:ext>
            </a:extLst>
          </p:cNvPr>
          <p:cNvGrpSpPr/>
          <p:nvPr/>
        </p:nvGrpSpPr>
        <p:grpSpPr>
          <a:xfrm>
            <a:off x="292072" y="239667"/>
            <a:ext cx="1145637" cy="1145637"/>
            <a:chOff x="5180554" y="1026138"/>
            <a:chExt cx="1316831" cy="1316831"/>
          </a:xfrm>
        </p:grpSpPr>
        <p:sp>
          <p:nvSpPr>
            <p:cNvPr id="10" name="Oval 9">
              <a:extLst>
                <a:ext uri="{FF2B5EF4-FFF2-40B4-BE49-F238E27FC236}">
                  <a16:creationId xmlns:a16="http://schemas.microsoft.com/office/drawing/2014/main" id="{1E5DC868-7EB8-4F7D-7DAE-A2A8DBE0A20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2" name="Oval 4">
              <a:extLst>
                <a:ext uri="{FF2B5EF4-FFF2-40B4-BE49-F238E27FC236}">
                  <a16:creationId xmlns:a16="http://schemas.microsoft.com/office/drawing/2014/main" id="{DACB8AB4-1258-EA30-31A5-77EEA5A000F2}"/>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4" name="Title 1">
            <a:extLst>
              <a:ext uri="{FF2B5EF4-FFF2-40B4-BE49-F238E27FC236}">
                <a16:creationId xmlns:a16="http://schemas.microsoft.com/office/drawing/2014/main" id="{659AE26C-55EC-A139-FEFB-5E8B79ECFD3A}"/>
              </a:ext>
            </a:extLst>
          </p:cNvPr>
          <p:cNvSpPr txBox="1">
            <a:spLocks/>
          </p:cNvSpPr>
          <p:nvPr/>
        </p:nvSpPr>
        <p:spPr>
          <a:xfrm>
            <a:off x="-253388" y="85619"/>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Vocabulary Focus</a:t>
            </a:r>
          </a:p>
        </p:txBody>
      </p:sp>
      <p:sp>
        <p:nvSpPr>
          <p:cNvPr id="15" name="TextBox 14">
            <a:extLst>
              <a:ext uri="{FF2B5EF4-FFF2-40B4-BE49-F238E27FC236}">
                <a16:creationId xmlns:a16="http://schemas.microsoft.com/office/drawing/2014/main" id="{086FA3C6-53FE-7451-6D4F-7009D38010D4}"/>
              </a:ext>
            </a:extLst>
          </p:cNvPr>
          <p:cNvSpPr txBox="1"/>
          <p:nvPr/>
        </p:nvSpPr>
        <p:spPr>
          <a:xfrm>
            <a:off x="2442576" y="1217529"/>
            <a:ext cx="7503292" cy="646331"/>
          </a:xfrm>
          <a:prstGeom prst="rect">
            <a:avLst/>
          </a:prstGeom>
          <a:noFill/>
        </p:spPr>
        <p:txBody>
          <a:bodyPr wrap="square" rtlCol="0">
            <a:spAutoFit/>
          </a:bodyPr>
          <a:lstStyle/>
          <a:p>
            <a:r>
              <a:rPr lang="en-GB"/>
              <a:t>Are there any words you feel confident to explain the meaning of (definition)? Are there any where you are less confident?</a:t>
            </a:r>
          </a:p>
        </p:txBody>
      </p:sp>
      <mc:AlternateContent xmlns:mc="http://schemas.openxmlformats.org/markup-compatibility/2006">
        <mc:Choice xmlns:p14="http://schemas.microsoft.com/office/powerpoint/2010/main" Requires="p14">
          <p:contentPart p14:bwMode="auto" r:id="rId4">
            <p14:nvContentPartPr>
              <p14:cNvPr id="3" name="Ink 2">
                <a:extLst>
                  <a:ext uri="{FF2B5EF4-FFF2-40B4-BE49-F238E27FC236}">
                    <a16:creationId xmlns:a16="http://schemas.microsoft.com/office/drawing/2014/main" id="{9F75FCCA-8003-024B-2B29-0EDF6D801F3D}"/>
                  </a:ext>
                </a:extLst>
              </p14:cNvPr>
              <p14:cNvContentPartPr/>
              <p14:nvPr/>
            </p14:nvContentPartPr>
            <p14:xfrm>
              <a:off x="9034477" y="550400"/>
              <a:ext cx="360" cy="360"/>
            </p14:xfrm>
          </p:contentPart>
        </mc:Choice>
        <mc:Fallback>
          <p:pic>
            <p:nvPicPr>
              <p:cNvPr id="3" name="Ink 2">
                <a:extLst>
                  <a:ext uri="{FF2B5EF4-FFF2-40B4-BE49-F238E27FC236}">
                    <a16:creationId xmlns:a16="http://schemas.microsoft.com/office/drawing/2014/main" id="{9F75FCCA-8003-024B-2B29-0EDF6D801F3D}"/>
                  </a:ext>
                </a:extLst>
              </p:cNvPr>
              <p:cNvPicPr/>
              <p:nvPr/>
            </p:nvPicPr>
            <p:blipFill>
              <a:blip r:embed="rId5"/>
              <a:stretch>
                <a:fillRect/>
              </a:stretch>
            </p:blipFill>
            <p:spPr>
              <a:xfrm>
                <a:off x="9025117" y="541040"/>
                <a:ext cx="19080" cy="19080"/>
              </a:xfrm>
              <a:prstGeom prst="rect">
                <a:avLst/>
              </a:prstGeom>
            </p:spPr>
          </p:pic>
        </mc:Fallback>
      </mc:AlternateContent>
      <p:graphicFrame>
        <p:nvGraphicFramePr>
          <p:cNvPr id="7" name="Table 6">
            <a:extLst>
              <a:ext uri="{FF2B5EF4-FFF2-40B4-BE49-F238E27FC236}">
                <a16:creationId xmlns:a16="http://schemas.microsoft.com/office/drawing/2014/main" id="{AD7A6C68-D614-2377-056B-781707D2F236}"/>
              </a:ext>
            </a:extLst>
          </p:cNvPr>
          <p:cNvGraphicFramePr>
            <a:graphicFrameLocks noGrp="1"/>
          </p:cNvGraphicFramePr>
          <p:nvPr/>
        </p:nvGraphicFramePr>
        <p:xfrm>
          <a:off x="647700" y="2173922"/>
          <a:ext cx="10663199" cy="3429000"/>
        </p:xfrm>
        <a:graphic>
          <a:graphicData uri="http://schemas.openxmlformats.org/drawingml/2006/table">
            <a:tbl>
              <a:tblPr>
                <a:tableStyleId>{5C22544A-7EE6-4342-B048-85BDC9FD1C3A}</a:tableStyleId>
              </a:tblPr>
              <a:tblGrid>
                <a:gridCol w="1638300">
                  <a:extLst>
                    <a:ext uri="{9D8B030D-6E8A-4147-A177-3AD203B41FA5}">
                      <a16:colId xmlns:a16="http://schemas.microsoft.com/office/drawing/2014/main" val="4160592141"/>
                    </a:ext>
                  </a:extLst>
                </a:gridCol>
                <a:gridCol w="9024899">
                  <a:extLst>
                    <a:ext uri="{9D8B030D-6E8A-4147-A177-3AD203B41FA5}">
                      <a16:colId xmlns:a16="http://schemas.microsoft.com/office/drawing/2014/main" val="3033414289"/>
                    </a:ext>
                  </a:extLst>
                </a:gridCol>
              </a:tblGrid>
              <a:tr h="685800">
                <a:tc>
                  <a:txBody>
                    <a:bodyPr/>
                    <a:lstStyle/>
                    <a:p>
                      <a:pPr algn="l" fontAlgn="b">
                        <a:buNone/>
                      </a:pPr>
                      <a:r>
                        <a:rPr lang="en-GB" sz="2000" b="0" i="0" u="none" strike="noStrike">
                          <a:solidFill>
                            <a:srgbClr val="000000"/>
                          </a:solidFill>
                          <a:effectLst/>
                          <a:latin typeface="Calibri" panose="020F0502020204030204" pitchFamily="34" charset="0"/>
                        </a:rPr>
                        <a:t>economy</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The system by which a country produces, distributes and uses money, goods and services.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3441562"/>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trade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The activity of buying and selling goods between people or countries.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4187290"/>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residential</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Used for people to live in, such as houses and flats.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7381064"/>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agricultural</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Relating to farming and the growing of crops or rearing of animals.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0434475"/>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commercial</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Relating to the buying and selling of goods and making money.</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1865700"/>
                  </a:ext>
                </a:extLst>
              </a:tr>
            </a:tbl>
          </a:graphicData>
        </a:graphic>
      </p:graphicFrame>
      <p:sp>
        <p:nvSpPr>
          <p:cNvPr id="16" name="Rectangle 15">
            <a:extLst>
              <a:ext uri="{FF2B5EF4-FFF2-40B4-BE49-F238E27FC236}">
                <a16:creationId xmlns:a16="http://schemas.microsoft.com/office/drawing/2014/main" id="{114E80EC-EDEA-A9B8-0AA7-BDF4DBA738D9}"/>
              </a:ext>
            </a:extLst>
          </p:cNvPr>
          <p:cNvSpPr/>
          <p:nvPr/>
        </p:nvSpPr>
        <p:spPr>
          <a:xfrm>
            <a:off x="2312410" y="21739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3" name="Rectangle 12">
            <a:extLst>
              <a:ext uri="{FF2B5EF4-FFF2-40B4-BE49-F238E27FC236}">
                <a16:creationId xmlns:a16="http://schemas.microsoft.com/office/drawing/2014/main" id="{2CF9C0CB-B38A-8B6C-0680-46BD300AE1DC}"/>
              </a:ext>
            </a:extLst>
          </p:cNvPr>
          <p:cNvSpPr/>
          <p:nvPr/>
        </p:nvSpPr>
        <p:spPr>
          <a:xfrm>
            <a:off x="2312410" y="28597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7" name="Rectangle 16">
            <a:extLst>
              <a:ext uri="{FF2B5EF4-FFF2-40B4-BE49-F238E27FC236}">
                <a16:creationId xmlns:a16="http://schemas.microsoft.com/office/drawing/2014/main" id="{4BF34747-0A22-7E80-CA39-94571BB7D672}"/>
              </a:ext>
            </a:extLst>
          </p:cNvPr>
          <p:cNvSpPr/>
          <p:nvPr/>
        </p:nvSpPr>
        <p:spPr>
          <a:xfrm>
            <a:off x="2312410" y="35455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8" name="Rectangle 17">
            <a:extLst>
              <a:ext uri="{FF2B5EF4-FFF2-40B4-BE49-F238E27FC236}">
                <a16:creationId xmlns:a16="http://schemas.microsoft.com/office/drawing/2014/main" id="{FB910803-A54A-5B45-8345-8FFD7AC1C67C}"/>
              </a:ext>
            </a:extLst>
          </p:cNvPr>
          <p:cNvSpPr/>
          <p:nvPr/>
        </p:nvSpPr>
        <p:spPr>
          <a:xfrm>
            <a:off x="2312410" y="42313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9" name="Rectangle 18">
            <a:extLst>
              <a:ext uri="{FF2B5EF4-FFF2-40B4-BE49-F238E27FC236}">
                <a16:creationId xmlns:a16="http://schemas.microsoft.com/office/drawing/2014/main" id="{DB05B3E1-CB09-5A78-B03C-31610DE59A67}"/>
              </a:ext>
            </a:extLst>
          </p:cNvPr>
          <p:cNvSpPr/>
          <p:nvPr/>
        </p:nvSpPr>
        <p:spPr>
          <a:xfrm>
            <a:off x="2312410" y="49171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Tree>
    <p:extLst>
      <p:ext uri="{BB962C8B-B14F-4D97-AF65-F5344CB8AC3E}">
        <p14:creationId xmlns:p14="http://schemas.microsoft.com/office/powerpoint/2010/main" val="328723345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6"/>
                    </p:tgtEl>
                  </p:cond>
                </p:stCondLst>
                <p:endSync evt="end" delay="0">
                  <p:rtn val="all"/>
                </p:endSync>
                <p:childTnLst>
                  <p:par>
                    <p:cTn id="3" fill="hold">
                      <p:stCondLst>
                        <p:cond delay="0"/>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hidden"/>
                                      </p:to>
                                    </p:set>
                                  </p:childTnLst>
                                </p:cTn>
                              </p:par>
                            </p:childTnLst>
                          </p:cTn>
                        </p:par>
                      </p:childTnLst>
                    </p:cTn>
                  </p:par>
                </p:childTnLst>
              </p:cTn>
              <p:nextCondLst>
                <p:cond evt="onClick" delay="0">
                  <p:tgtEl>
                    <p:spTgt spid="16"/>
                  </p:tgtEl>
                </p:cond>
              </p:nextCondLst>
            </p:seq>
            <p:seq concurrent="1" nextAc="seek">
              <p:cTn id="7" restart="whenNotActive" fill="hold" evtFilter="cancelBubble" nodeType="interactiveSeq">
                <p:stCondLst>
                  <p:cond evt="onClick" delay="0">
                    <p:tgtEl>
                      <p:spTgt spid="13"/>
                    </p:tgtEl>
                  </p:cond>
                </p:stCondLst>
                <p:endSync evt="end" delay="0">
                  <p:rtn val="all"/>
                </p:endSync>
                <p:childTnLst>
                  <p:par>
                    <p:cTn id="8" fill="hold">
                      <p:stCondLst>
                        <p:cond delay="0"/>
                      </p:stCondLst>
                      <p:childTnLst>
                        <p:par>
                          <p:cTn id="9" fill="hold">
                            <p:stCondLst>
                              <p:cond delay="0"/>
                            </p:stCondLst>
                            <p:childTnLst>
                              <p:par>
                                <p:cTn id="10" presetID="1" presetClass="exit" presetSubtype="0" fill="hold" grpId="0" nodeType="clickEffect">
                                  <p:stCondLst>
                                    <p:cond delay="0"/>
                                  </p:stCondLst>
                                  <p:childTnLst>
                                    <p:set>
                                      <p:cBhvr>
                                        <p:cTn id="11" dur="1" fill="hold">
                                          <p:stCondLst>
                                            <p:cond delay="0"/>
                                          </p:stCondLst>
                                        </p:cTn>
                                        <p:tgtEl>
                                          <p:spTgt spid="13"/>
                                        </p:tgtEl>
                                        <p:attrNameLst>
                                          <p:attrName>style.visibility</p:attrName>
                                        </p:attrNameLst>
                                      </p:cBhvr>
                                      <p:to>
                                        <p:strVal val="hidden"/>
                                      </p:to>
                                    </p:set>
                                  </p:childTnLst>
                                </p:cTn>
                              </p:par>
                            </p:childTnLst>
                          </p:cTn>
                        </p:par>
                      </p:childTnLst>
                    </p:cTn>
                  </p:par>
                </p:childTnLst>
              </p:cTn>
              <p:nextCondLst>
                <p:cond evt="onClick" delay="0">
                  <p:tgtEl>
                    <p:spTgt spid="13"/>
                  </p:tgtEl>
                </p:cond>
              </p:nextCondLst>
            </p:seq>
            <p:seq concurrent="1" nextAc="seek">
              <p:cTn id="12" restart="whenNotActive" fill="hold" evtFilter="cancelBubble" nodeType="interactiveSeq">
                <p:stCondLst>
                  <p:cond evt="onClick" delay="0">
                    <p:tgtEl>
                      <p:spTgt spid="17"/>
                    </p:tgtEl>
                  </p:cond>
                </p:stCondLst>
                <p:endSync evt="end" delay="0">
                  <p:rtn val="all"/>
                </p:endSync>
                <p:childTnLst>
                  <p:par>
                    <p:cTn id="13" fill="hold">
                      <p:stCondLst>
                        <p:cond delay="0"/>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hidden"/>
                                      </p:to>
                                    </p:set>
                                  </p:childTnLst>
                                </p:cTn>
                              </p:par>
                            </p:childTnLst>
                          </p:cTn>
                        </p:par>
                      </p:childTnLst>
                    </p:cTn>
                  </p:par>
                </p:childTnLst>
              </p:cTn>
              <p:nextCondLst>
                <p:cond evt="onClick" delay="0">
                  <p:tgtEl>
                    <p:spTgt spid="17"/>
                  </p:tgtEl>
                </p:cond>
              </p:nextCondLst>
            </p:seq>
            <p:seq concurrent="1" nextAc="seek">
              <p:cTn id="17" restart="whenNotActive" fill="hold" evtFilter="cancelBubble" nodeType="interactiveSeq">
                <p:stCondLst>
                  <p:cond evt="onClick" delay="0">
                    <p:tgtEl>
                      <p:spTgt spid="18"/>
                    </p:tgtEl>
                  </p:cond>
                </p:stCondLst>
                <p:endSync evt="end" delay="0">
                  <p:rtn val="all"/>
                </p:endSync>
                <p:childTnLst>
                  <p:par>
                    <p:cTn id="18" fill="hold">
                      <p:stCondLst>
                        <p:cond delay="0"/>
                      </p:stCondLst>
                      <p:childTnLst>
                        <p:par>
                          <p:cTn id="19" fill="hold">
                            <p:stCondLst>
                              <p:cond delay="0"/>
                            </p:stCondLst>
                            <p:childTnLst>
                              <p:par>
                                <p:cTn id="20" presetID="1" presetClass="exit"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hidden"/>
                                      </p:to>
                                    </p:set>
                                  </p:childTnLst>
                                </p:cTn>
                              </p:par>
                            </p:childTnLst>
                          </p:cTn>
                        </p:par>
                      </p:childTnLst>
                    </p:cTn>
                  </p:par>
                </p:childTnLst>
              </p:cTn>
              <p:nextCondLst>
                <p:cond evt="onClick" delay="0">
                  <p:tgtEl>
                    <p:spTgt spid="18"/>
                  </p:tgtEl>
                </p:cond>
              </p:nextCondLst>
            </p:seq>
            <p:seq concurrent="1" nextAc="seek">
              <p:cTn id="22" restart="whenNotActive" fill="hold" evtFilter="cancelBubble" nodeType="interactiveSeq">
                <p:stCondLst>
                  <p:cond evt="onClick" delay="0">
                    <p:tgtEl>
                      <p:spTgt spid="19"/>
                    </p:tgtEl>
                  </p:cond>
                </p:stCondLst>
                <p:endSync evt="end" delay="0">
                  <p:rtn val="all"/>
                </p:endSync>
                <p:childTnLst>
                  <p:par>
                    <p:cTn id="23" fill="hold">
                      <p:stCondLst>
                        <p:cond delay="0"/>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childTnLst>
              </p:cTn>
              <p:nextCondLst>
                <p:cond evt="onClick" delay="0">
                  <p:tgtEl>
                    <p:spTgt spid="19"/>
                  </p:tgtEl>
                </p:cond>
              </p:nextCondLst>
            </p:seq>
          </p:childTnLst>
        </p:cTn>
      </p:par>
    </p:tnLst>
    <p:bldLst>
      <p:bldP spid="16" grpId="0" animBg="1"/>
      <p:bldP spid="13" grpId="0" animBg="1"/>
      <p:bldP spid="17" grpId="0" animBg="1"/>
      <p:bldP spid="18" grpId="0" animBg="1"/>
      <p:bldP spid="1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C497C-5676-F0CE-9C15-81908FA1F34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DCBDDC3-E8B4-5DB7-95EB-E4EB767438DF}"/>
              </a:ext>
            </a:extLst>
          </p:cNvPr>
          <p:cNvGrpSpPr/>
          <p:nvPr/>
        </p:nvGrpSpPr>
        <p:grpSpPr>
          <a:xfrm>
            <a:off x="38684" y="68473"/>
            <a:ext cx="1316831" cy="1316831"/>
            <a:chOff x="5180554" y="1026138"/>
            <a:chExt cx="1316831" cy="1316831"/>
          </a:xfrm>
        </p:grpSpPr>
        <p:sp>
          <p:nvSpPr>
            <p:cNvPr id="4" name="Oval 3">
              <a:extLst>
                <a:ext uri="{FF2B5EF4-FFF2-40B4-BE49-F238E27FC236}">
                  <a16:creationId xmlns:a16="http://schemas.microsoft.com/office/drawing/2014/main" id="{4D7EC211-6C19-B85F-7D0D-25A8FEEA3637}"/>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6" name="Oval 4">
              <a:extLst>
                <a:ext uri="{FF2B5EF4-FFF2-40B4-BE49-F238E27FC236}">
                  <a16:creationId xmlns:a16="http://schemas.microsoft.com/office/drawing/2014/main" id="{6358CBDE-7D41-F226-3072-41F208B4D98A}"/>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3" name="Title 1">
            <a:extLst>
              <a:ext uri="{FF2B5EF4-FFF2-40B4-BE49-F238E27FC236}">
                <a16:creationId xmlns:a16="http://schemas.microsoft.com/office/drawing/2014/main" id="{9CDE4E57-6664-84F7-C8E9-8F4381A4D091}"/>
              </a:ext>
            </a:extLst>
          </p:cNvPr>
          <p:cNvSpPr txBox="1">
            <a:spLocks/>
          </p:cNvSpPr>
          <p:nvPr/>
        </p:nvSpPr>
        <p:spPr>
          <a:xfrm>
            <a:off x="2535882" y="918780"/>
            <a:ext cx="5559247"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n-GB" sz="2800"/>
          </a:p>
        </p:txBody>
      </p:sp>
      <p:sp>
        <p:nvSpPr>
          <p:cNvPr id="3" name="Title 1">
            <a:extLst>
              <a:ext uri="{FF2B5EF4-FFF2-40B4-BE49-F238E27FC236}">
                <a16:creationId xmlns:a16="http://schemas.microsoft.com/office/drawing/2014/main" id="{3B86A135-C8BF-2285-F3AA-0B4C5706CE90}"/>
              </a:ext>
            </a:extLst>
          </p:cNvPr>
          <p:cNvSpPr txBox="1">
            <a:spLocks/>
          </p:cNvSpPr>
          <p:nvPr/>
        </p:nvSpPr>
        <p:spPr>
          <a:xfrm>
            <a:off x="0" y="85619"/>
            <a:ext cx="12192000" cy="149821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50000"/>
              </a:lnSpc>
            </a:pPr>
            <a:r>
              <a:rPr lang="en-GB" sz="4000"/>
              <a:t>Vocabulary Focus</a:t>
            </a:r>
          </a:p>
        </p:txBody>
      </p:sp>
      <p:sp>
        <p:nvSpPr>
          <p:cNvPr id="7" name="Title 1">
            <a:extLst>
              <a:ext uri="{FF2B5EF4-FFF2-40B4-BE49-F238E27FC236}">
                <a16:creationId xmlns:a16="http://schemas.microsoft.com/office/drawing/2014/main" id="{07FF75F1-41FF-EEA3-B802-ED64112A7D02}"/>
              </a:ext>
            </a:extLst>
          </p:cNvPr>
          <p:cNvSpPr txBox="1">
            <a:spLocks/>
          </p:cNvSpPr>
          <p:nvPr/>
        </p:nvSpPr>
        <p:spPr>
          <a:xfrm>
            <a:off x="5590032" y="604264"/>
            <a:ext cx="1873406" cy="9795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a:p>
        </p:txBody>
      </p:sp>
      <p:graphicFrame>
        <p:nvGraphicFramePr>
          <p:cNvPr id="9" name="Table 8">
            <a:extLst>
              <a:ext uri="{FF2B5EF4-FFF2-40B4-BE49-F238E27FC236}">
                <a16:creationId xmlns:a16="http://schemas.microsoft.com/office/drawing/2014/main" id="{98F68A2F-1F77-2878-BCF5-883045F28026}"/>
              </a:ext>
            </a:extLst>
          </p:cNvPr>
          <p:cNvGraphicFramePr>
            <a:graphicFrameLocks noGrp="1"/>
          </p:cNvGraphicFramePr>
          <p:nvPr/>
        </p:nvGraphicFramePr>
        <p:xfrm>
          <a:off x="2032000" y="1727002"/>
          <a:ext cx="8128000" cy="4922852"/>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811326830"/>
                    </a:ext>
                  </a:extLst>
                </a:gridCol>
                <a:gridCol w="4064000">
                  <a:extLst>
                    <a:ext uri="{9D8B030D-6E8A-4147-A177-3AD203B41FA5}">
                      <a16:colId xmlns:a16="http://schemas.microsoft.com/office/drawing/2014/main" val="773647625"/>
                    </a:ext>
                  </a:extLst>
                </a:gridCol>
              </a:tblGrid>
              <a:tr h="2461426">
                <a:tc>
                  <a:txBody>
                    <a:bodyPr/>
                    <a:lstStyle/>
                    <a:p>
                      <a:r>
                        <a:rPr lang="en-GB" b="0">
                          <a:solidFill>
                            <a:schemeClr val="tx1"/>
                          </a:solidFill>
                        </a:rPr>
                        <a:t>Write it 5 times</a:t>
                      </a:r>
                    </a:p>
                    <a:p>
                      <a:endParaRPr lang="en-GB" b="0">
                        <a:solidFill>
                          <a:schemeClr val="tx1"/>
                        </a:solidFill>
                      </a:endParaRPr>
                    </a:p>
                    <a:p>
                      <a:pPr algn="ctr"/>
                      <a:r>
                        <a:rPr lang="en-GB" sz="3200" b="0">
                          <a:solidFill>
                            <a:schemeClr val="tx1"/>
                          </a:solidFill>
                          <a:latin typeface="XCCW Joined 4a" panose="03050602040000000000" pitchFamily="66" charset="77"/>
                        </a:rPr>
                        <a:t>economy</a:t>
                      </a:r>
                    </a:p>
                    <a:p>
                      <a:endParaRPr lang="en-GB" b="0">
                        <a:solidFill>
                          <a:schemeClr val="tx1"/>
                        </a:solidFill>
                        <a:latin typeface="XCCW Joined 4a" panose="03050602040000000000" pitchFamily="66" charset="77"/>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a:solidFill>
                            <a:schemeClr val="tx1"/>
                          </a:solidFill>
                        </a:rPr>
                        <a:t>Use it in a sentence</a:t>
                      </a:r>
                    </a:p>
                    <a:p>
                      <a:endParaRPr lang="en-GB" sz="2400" b="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64313380"/>
                  </a:ext>
                </a:extLst>
              </a:tr>
              <a:tr h="2461426">
                <a:tc gridSpan="2">
                  <a:txBody>
                    <a:bodyPr/>
                    <a:lstStyle/>
                    <a:p>
                      <a:r>
                        <a:rPr lang="en-GB">
                          <a:solidFill>
                            <a:schemeClr val="tx1"/>
                          </a:solidFill>
                        </a:rPr>
                        <a:t>Other linked words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3729397"/>
                  </a:ext>
                </a:extLst>
              </a:tr>
            </a:tbl>
          </a:graphicData>
        </a:graphic>
      </p:graphicFrame>
      <p:pic>
        <p:nvPicPr>
          <p:cNvPr id="8" name="Picture 7">
            <a:extLst>
              <a:ext uri="{FF2B5EF4-FFF2-40B4-BE49-F238E27FC236}">
                <a16:creationId xmlns:a16="http://schemas.microsoft.com/office/drawing/2014/main" id="{755B9240-8989-B9DB-0B3B-B8D062E07BCE}"/>
              </a:ext>
            </a:extLst>
          </p:cNvPr>
          <p:cNvPicPr>
            <a:picLocks noChangeAspect="1"/>
          </p:cNvPicPr>
          <p:nvPr/>
        </p:nvPicPr>
        <p:blipFill>
          <a:blip r:embed="rId3"/>
          <a:stretch>
            <a:fillRect/>
          </a:stretch>
        </p:blipFill>
        <p:spPr>
          <a:xfrm>
            <a:off x="10424916" y="134700"/>
            <a:ext cx="1616752" cy="697982"/>
          </a:xfrm>
          <a:prstGeom prst="rect">
            <a:avLst/>
          </a:prstGeom>
        </p:spPr>
      </p:pic>
      <p:sp>
        <p:nvSpPr>
          <p:cNvPr id="5" name="TextBox 4">
            <a:extLst>
              <a:ext uri="{FF2B5EF4-FFF2-40B4-BE49-F238E27FC236}">
                <a16:creationId xmlns:a16="http://schemas.microsoft.com/office/drawing/2014/main" id="{7904627B-45D6-BE36-7042-C69B53AD1828}"/>
              </a:ext>
            </a:extLst>
          </p:cNvPr>
          <p:cNvSpPr txBox="1"/>
          <p:nvPr/>
        </p:nvSpPr>
        <p:spPr>
          <a:xfrm>
            <a:off x="4766154" y="5299847"/>
            <a:ext cx="2400000" cy="480000"/>
          </a:xfrm>
          <a:prstGeom prst="rect">
            <a:avLst/>
          </a:prstGeom>
          <a:noFill/>
        </p:spPr>
        <p:txBody>
          <a:bodyPr wrap="square" rtlCol="0" anchor="ctr"/>
          <a:lstStyle/>
          <a:p>
            <a:pPr algn="ctr"/>
            <a:r>
              <a:rPr lang="en-GB"/>
              <a:t>economy</a:t>
            </a:r>
          </a:p>
        </p:txBody>
      </p:sp>
      <p:cxnSp>
        <p:nvCxnSpPr>
          <p:cNvPr id="12" name="Straight Connector 11">
            <a:extLst>
              <a:ext uri="{FF2B5EF4-FFF2-40B4-BE49-F238E27FC236}">
                <a16:creationId xmlns:a16="http://schemas.microsoft.com/office/drawing/2014/main" id="{483F9876-11CA-68D4-B5B9-503CB1452DDF}"/>
              </a:ext>
            </a:extLst>
          </p:cNvPr>
          <p:cNvCxnSpPr/>
          <p:nvPr/>
        </p:nvCxnSpPr>
        <p:spPr>
          <a:xfrm flipV="1">
            <a:off x="6391527" y="4613658"/>
            <a:ext cx="807506" cy="7821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67DD069-433E-BF48-9167-8E5BCC114624}"/>
              </a:ext>
            </a:extLst>
          </p:cNvPr>
          <p:cNvCxnSpPr>
            <a:cxnSpLocks/>
          </p:cNvCxnSpPr>
          <p:nvPr/>
        </p:nvCxnSpPr>
        <p:spPr>
          <a:xfrm>
            <a:off x="6532910" y="5656722"/>
            <a:ext cx="930528" cy="216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D37026A-B5E7-A43B-7015-F91BED67059F}"/>
              </a:ext>
            </a:extLst>
          </p:cNvPr>
          <p:cNvCxnSpPr>
            <a:cxnSpLocks/>
          </p:cNvCxnSpPr>
          <p:nvPr/>
        </p:nvCxnSpPr>
        <p:spPr>
          <a:xfrm flipV="1">
            <a:off x="4786339" y="5656722"/>
            <a:ext cx="791952" cy="565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7576966-8817-48AF-F837-0832462F5E46}"/>
              </a:ext>
            </a:extLst>
          </p:cNvPr>
          <p:cNvCxnSpPr>
            <a:cxnSpLocks/>
          </p:cNvCxnSpPr>
          <p:nvPr/>
        </p:nvCxnSpPr>
        <p:spPr>
          <a:xfrm>
            <a:off x="4688753" y="5010683"/>
            <a:ext cx="852027" cy="382970"/>
          </a:xfrm>
          <a:prstGeom prst="line">
            <a:avLst/>
          </a:prstGeom>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6EE6038E-2E20-39E1-51AA-382FB77B2D40}"/>
              </a:ext>
            </a:extLst>
          </p:cNvPr>
          <p:cNvPicPr>
            <a:picLocks noChangeAspect="1"/>
          </p:cNvPicPr>
          <p:nvPr/>
        </p:nvPicPr>
        <p:blipFill>
          <a:blip r:embed="rId4"/>
          <a:stretch>
            <a:fillRect/>
          </a:stretch>
        </p:blipFill>
        <p:spPr>
          <a:xfrm>
            <a:off x="6502757" y="2982841"/>
            <a:ext cx="3184743" cy="794571"/>
          </a:xfrm>
          <a:prstGeom prst="rect">
            <a:avLst/>
          </a:prstGeom>
          <a:solidFill>
            <a:schemeClr val="bg1"/>
          </a:solidFill>
        </p:spPr>
      </p:pic>
    </p:spTree>
    <p:extLst>
      <p:ext uri="{BB962C8B-B14F-4D97-AF65-F5344CB8AC3E}">
        <p14:creationId xmlns:p14="http://schemas.microsoft.com/office/powerpoint/2010/main" val="39342315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7C8F1879-9C69-AABD-5D27-70A3FD61C54F}"/>
              </a:ext>
            </a:extLst>
          </p:cNvPr>
          <p:cNvGrpSpPr/>
          <p:nvPr/>
        </p:nvGrpSpPr>
        <p:grpSpPr>
          <a:xfrm>
            <a:off x="43957" y="90546"/>
            <a:ext cx="963274" cy="909579"/>
            <a:chOff x="1630613" y="1026138"/>
            <a:chExt cx="1316831" cy="1316831"/>
          </a:xfrm>
        </p:grpSpPr>
        <p:sp>
          <p:nvSpPr>
            <p:cNvPr id="4" name="Oval 3">
              <a:extLst>
                <a:ext uri="{FF2B5EF4-FFF2-40B4-BE49-F238E27FC236}">
                  <a16:creationId xmlns:a16="http://schemas.microsoft.com/office/drawing/2014/main" id="{C5A04DD0-FF30-895F-0ED9-888B47B1A02D}"/>
                </a:ext>
              </a:extLst>
            </p:cNvPr>
            <p:cNvSpPr/>
            <p:nvPr/>
          </p:nvSpPr>
          <p:spPr>
            <a:xfrm>
              <a:off x="1630613" y="1026138"/>
              <a:ext cx="1316831" cy="1316831"/>
            </a:xfrm>
            <a:prstGeom prst="ellipse">
              <a:avLst/>
            </a:prstGeom>
            <a:solidFill>
              <a:srgbClr val="A2CFFC"/>
            </a:solidFill>
            <a:ln w="38100">
              <a:solidFill>
                <a:srgbClr val="0762B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5" name="Oval 4">
              <a:extLst>
                <a:ext uri="{FF2B5EF4-FFF2-40B4-BE49-F238E27FC236}">
                  <a16:creationId xmlns:a16="http://schemas.microsoft.com/office/drawing/2014/main" id="{8EBD88F1-D64A-0A71-7434-4A250ABBD4E6}"/>
                </a:ext>
              </a:extLst>
            </p:cNvPr>
            <p:cNvSpPr txBox="1"/>
            <p:nvPr/>
          </p:nvSpPr>
          <p:spPr>
            <a:xfrm>
              <a:off x="1823458"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rmAutofit/>
            </a:bodyPr>
            <a:lstStyle/>
            <a:p>
              <a:pPr marL="0" lvl="0" indent="0" algn="ctr" defTabSz="577850">
                <a:lnSpc>
                  <a:spcPct val="90000"/>
                </a:lnSpc>
                <a:spcBef>
                  <a:spcPct val="0"/>
                </a:spcBef>
                <a:spcAft>
                  <a:spcPct val="35000"/>
                </a:spcAft>
                <a:buNone/>
              </a:pPr>
              <a:r>
                <a:rPr lang="en-GB" sz="1300" b="1" kern="1200">
                  <a:solidFill>
                    <a:srgbClr val="0762BA"/>
                  </a:solidFill>
                  <a:latin typeface="Sassoon Infant Rg" panose="02000503030000020003" pitchFamily="2" charset="0"/>
                  <a:ea typeface="Sassoon Infant Rg" panose="02000503030000020003" pitchFamily="2" charset="0"/>
                </a:rPr>
                <a:t>Decoding &amp; phonics</a:t>
              </a:r>
            </a:p>
          </p:txBody>
        </p:sp>
      </p:grpSp>
      <p:pic>
        <p:nvPicPr>
          <p:cNvPr id="11" name="Picture 10">
            <a:extLst>
              <a:ext uri="{FF2B5EF4-FFF2-40B4-BE49-F238E27FC236}">
                <a16:creationId xmlns:a16="http://schemas.microsoft.com/office/drawing/2014/main" id="{5B88EF2C-3893-9BD5-87F9-6BF0F699F9A5}"/>
              </a:ext>
            </a:extLst>
          </p:cNvPr>
          <p:cNvPicPr/>
          <p:nvPr/>
        </p:nvPicPr>
        <p:blipFill>
          <a:blip r:embed="rId3">
            <a:extLst>
              <a:ext uri="{28A0092B-C50C-407E-A947-70E740481C1C}">
                <a14:useLocalDpi xmlns:a14="http://schemas.microsoft.com/office/drawing/2010/main" val="0"/>
              </a:ext>
            </a:extLst>
          </a:blip>
          <a:stretch>
            <a:fillRect/>
          </a:stretch>
        </p:blipFill>
        <p:spPr>
          <a:xfrm>
            <a:off x="10539555" y="90546"/>
            <a:ext cx="1691129" cy="711848"/>
          </a:xfrm>
          <a:prstGeom prst="rect">
            <a:avLst/>
          </a:prstGeom>
        </p:spPr>
      </p:pic>
      <p:sp>
        <p:nvSpPr>
          <p:cNvPr id="12" name="Title 1">
            <a:extLst>
              <a:ext uri="{FF2B5EF4-FFF2-40B4-BE49-F238E27FC236}">
                <a16:creationId xmlns:a16="http://schemas.microsoft.com/office/drawing/2014/main" id="{D07968F0-1915-728F-1F6D-2CB9277677F6}"/>
              </a:ext>
            </a:extLst>
          </p:cNvPr>
          <p:cNvSpPr txBox="1">
            <a:spLocks/>
          </p:cNvSpPr>
          <p:nvPr/>
        </p:nvSpPr>
        <p:spPr>
          <a:xfrm>
            <a:off x="38684" y="-18063"/>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Independent Read</a:t>
            </a:r>
          </a:p>
        </p:txBody>
      </p:sp>
      <p:sp>
        <p:nvSpPr>
          <p:cNvPr id="22" name="TextBox 21">
            <a:extLst>
              <a:ext uri="{FF2B5EF4-FFF2-40B4-BE49-F238E27FC236}">
                <a16:creationId xmlns:a16="http://schemas.microsoft.com/office/drawing/2014/main" id="{BBE494B4-E4A1-C48A-15E2-3683EA0AD086}"/>
              </a:ext>
            </a:extLst>
          </p:cNvPr>
          <p:cNvSpPr txBox="1"/>
          <p:nvPr/>
        </p:nvSpPr>
        <p:spPr>
          <a:xfrm>
            <a:off x="1" y="931322"/>
            <a:ext cx="12191999" cy="830997"/>
          </a:xfrm>
          <a:prstGeom prst="rect">
            <a:avLst/>
          </a:prstGeom>
          <a:noFill/>
        </p:spPr>
        <p:txBody>
          <a:bodyPr wrap="square">
            <a:spAutoFit/>
          </a:bodyPr>
          <a:lstStyle/>
          <a:p>
            <a:pPr algn="ctr"/>
            <a:r>
              <a:rPr lang="en-GB" sz="1800">
                <a:effectLst/>
                <a:latin typeface="Sassoon Infant Rg" panose="02000503030000020003" pitchFamily="2" charset="0"/>
                <a:ea typeface="Sassoon Infant Rg" panose="02000503030000020003" pitchFamily="2" charset="0"/>
                <a:cs typeface="Times New Roman" panose="02020603050405020304" pitchFamily="18" charset="0"/>
              </a:rPr>
              <a:t>Read the complete text – underline any words or phrases you don’t understand.  Re-read full sentences for any parts you couldn’t read smoothly on the first attempt. </a:t>
            </a:r>
            <a:endParaRPr lang="en-GB" b="1"/>
          </a:p>
        </p:txBody>
      </p:sp>
      <p:sp>
        <p:nvSpPr>
          <p:cNvPr id="6" name="TextBox 5">
            <a:extLst>
              <a:ext uri="{FF2B5EF4-FFF2-40B4-BE49-F238E27FC236}">
                <a16:creationId xmlns:a16="http://schemas.microsoft.com/office/drawing/2014/main" id="{38C25E62-7AE0-A783-1D87-77105CAB659E}"/>
              </a:ext>
            </a:extLst>
          </p:cNvPr>
          <p:cNvSpPr txBox="1"/>
          <p:nvPr/>
        </p:nvSpPr>
        <p:spPr>
          <a:xfrm>
            <a:off x="2226896" y="3673314"/>
            <a:ext cx="7629665" cy="2308324"/>
          </a:xfrm>
          <a:prstGeom prst="rect">
            <a:avLst/>
          </a:prstGeom>
          <a:noFill/>
        </p:spPr>
        <p:txBody>
          <a:bodyPr wrap="square" rtlCol="0">
            <a:spAutoFit/>
          </a:bodyPr>
          <a:lstStyle/>
          <a:p>
            <a:endParaRPr lang="en-GB"/>
          </a:p>
          <a:p>
            <a:pPr marL="342900" indent="-342900">
              <a:buFont typeface="+mj-lt"/>
              <a:buAutoNum type="arabicPeriod"/>
            </a:pPr>
            <a:r>
              <a:rPr lang="en-GB"/>
              <a:t>Read by segmenting into phonemes and syllables</a:t>
            </a:r>
          </a:p>
          <a:p>
            <a:pPr marL="342900" indent="-342900">
              <a:buFont typeface="+mj-lt"/>
              <a:buAutoNum type="arabicPeriod"/>
            </a:pPr>
            <a:r>
              <a:rPr lang="en-GB"/>
              <a:t>Make a sensible attempt, making sure you blend ALL the sounds as you read.</a:t>
            </a:r>
          </a:p>
          <a:p>
            <a:pPr marL="342900" indent="-342900">
              <a:buFont typeface="+mj-lt"/>
              <a:buAutoNum type="arabicPeriod"/>
            </a:pPr>
            <a:r>
              <a:rPr lang="en-GB"/>
              <a:t>Use the context and parts of the word to make a sensible attempt at a definition.</a:t>
            </a:r>
          </a:p>
          <a:p>
            <a:pPr marL="342900" indent="-342900">
              <a:buFont typeface="+mj-lt"/>
              <a:buAutoNum type="arabicPeriod"/>
            </a:pPr>
            <a:endParaRPr lang="en-GB"/>
          </a:p>
          <a:p>
            <a:r>
              <a:rPr lang="en-GB"/>
              <a:t>Remember to re-read the entire sentence again.</a:t>
            </a:r>
          </a:p>
        </p:txBody>
      </p:sp>
      <p:pic>
        <p:nvPicPr>
          <p:cNvPr id="2" name="Picture 1">
            <a:extLst>
              <a:ext uri="{FF2B5EF4-FFF2-40B4-BE49-F238E27FC236}">
                <a16:creationId xmlns:a16="http://schemas.microsoft.com/office/drawing/2014/main" id="{4A238304-94B7-D6B3-84C9-8D8F6CDD2BB4}"/>
              </a:ext>
            </a:extLst>
          </p:cNvPr>
          <p:cNvPicPr>
            <a:picLocks noChangeAspect="1"/>
          </p:cNvPicPr>
          <p:nvPr/>
        </p:nvPicPr>
        <p:blipFill>
          <a:blip r:embed="rId4"/>
          <a:stretch>
            <a:fillRect/>
          </a:stretch>
        </p:blipFill>
        <p:spPr>
          <a:xfrm>
            <a:off x="866163" y="2097530"/>
            <a:ext cx="10351133" cy="1434810"/>
          </a:xfrm>
          <a:prstGeom prst="rect">
            <a:avLst/>
          </a:prstGeom>
        </p:spPr>
      </p:pic>
      <p:sp>
        <p:nvSpPr>
          <p:cNvPr id="13" name="TextBox 12">
            <a:extLst>
              <a:ext uri="{FF2B5EF4-FFF2-40B4-BE49-F238E27FC236}">
                <a16:creationId xmlns:a16="http://schemas.microsoft.com/office/drawing/2014/main" id="{A473D780-1F99-6094-42B5-9820D9017C99}"/>
              </a:ext>
            </a:extLst>
          </p:cNvPr>
          <p:cNvSpPr txBox="1"/>
          <p:nvPr/>
        </p:nvSpPr>
        <p:spPr>
          <a:xfrm>
            <a:off x="-2406316" y="1524000"/>
            <a:ext cx="184731" cy="369332"/>
          </a:xfrm>
          <a:prstGeom prst="rect">
            <a:avLst/>
          </a:prstGeom>
          <a:noFill/>
        </p:spPr>
        <p:txBody>
          <a:bodyPr wrap="none" rtlCol="0">
            <a:spAutoFit/>
          </a:bodyPr>
          <a:lstStyle/>
          <a:p>
            <a:endParaRPr lang="en-GB"/>
          </a:p>
        </p:txBody>
      </p:sp>
      <p:sp>
        <p:nvSpPr>
          <p:cNvPr id="15" name="TextBox 14">
            <a:extLst>
              <a:ext uri="{FF2B5EF4-FFF2-40B4-BE49-F238E27FC236}">
                <a16:creationId xmlns:a16="http://schemas.microsoft.com/office/drawing/2014/main" id="{E15A5C10-306D-554F-EAA6-B73E5AF3D6C7}"/>
              </a:ext>
            </a:extLst>
          </p:cNvPr>
          <p:cNvSpPr txBox="1"/>
          <p:nvPr/>
        </p:nvSpPr>
        <p:spPr>
          <a:xfrm>
            <a:off x="209488" y="1865629"/>
            <a:ext cx="11861201" cy="3985274"/>
          </a:xfrm>
          <a:prstGeom prst="rect">
            <a:avLst/>
          </a:prstGeom>
          <a:solidFill>
            <a:schemeClr val="accent5">
              <a:lumMod val="20000"/>
              <a:lumOff val="80000"/>
            </a:schemeClr>
          </a:solidFill>
        </p:spPr>
        <p:txBody>
          <a:bodyPr wrap="square" anchor="ctr">
            <a:noAutofit/>
          </a:bodyPr>
          <a:lstStyle/>
          <a:p>
            <a:r>
              <a:rPr lang="en-US" sz="2200"/>
              <a:t>Brazil and England share some similarities in the way they use their land, but the differences are significant. In England, land is divided between residential areas where people live, commercial zones full of shops and offices, and agricultural land used for growing crops and raising animals. Transport networks such as roads, railways and airports connect these areas efficiently. In Brazil, land use patterns are more complex and dramatic in scale. Vast areas of the interior are used for agriculture, particularly for growing soya beans and rearing cattle, which are among Brazil’s most important exports. Brazil is one of the world’s leading agricultural producers, and its economy relies heavily on trade with other countries. It exports iron ore, oil, coffee and meat to nations across the globe, including to the United Kingdom. However, rapid growth in agriculture has put pressure on the Amazon rainforest, as forested land has been cleared to make way for farms. In England, economic activity is spread more evenly between industry, services and trade. England’s cities contain large commercial zones, and the economy is heavily focused on services such as banking, retail and education. Both countries are part of a global trading network, but the scale, the challenges and the opportunities they face are very different — a reflection of their contrasting size, climate and resources.</a:t>
            </a:r>
          </a:p>
        </p:txBody>
      </p:sp>
      <p:sp>
        <p:nvSpPr>
          <p:cNvPr id="10" name="Rounded Rectangle 9">
            <a:extLst>
              <a:ext uri="{FF2B5EF4-FFF2-40B4-BE49-F238E27FC236}">
                <a16:creationId xmlns:a16="http://schemas.microsoft.com/office/drawing/2014/main" id="{911D3733-5EF2-7482-D164-B776AE41E9CC}"/>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Tree>
    <p:extLst>
      <p:ext uri="{BB962C8B-B14F-4D97-AF65-F5344CB8AC3E}">
        <p14:creationId xmlns:p14="http://schemas.microsoft.com/office/powerpoint/2010/main" val="197944849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nextCondLst>
                <p:cond evt="onClick" delay="0">
                  <p:tgtEl>
                    <p:spTgt spid="10"/>
                  </p:tgtEl>
                </p:cond>
              </p:nextCondLst>
            </p:seq>
          </p:childTnLst>
        </p:cTn>
      </p:par>
    </p:tnLst>
    <p:bldLst>
      <p:bldP spid="15" grpId="0" animBg="1"/>
      <p:bldP spid="15"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15917-BDE9-A483-7A0D-AC15BA636611}"/>
            </a:ext>
          </a:extLst>
        </p:cNvPr>
        <p:cNvGrpSpPr/>
        <p:nvPr/>
      </p:nvGrpSpPr>
      <p:grpSpPr>
        <a:xfrm>
          <a:off x="0" y="0"/>
          <a:ext cx="0" cy="0"/>
          <a:chOff x="0" y="0"/>
          <a:chExt cx="0" cy="0"/>
        </a:xfrm>
      </p:grpSpPr>
      <p:sp>
        <p:nvSpPr>
          <p:cNvPr id="6" name="Freeform: Shape 5">
            <a:extLst>
              <a:ext uri="{FF2B5EF4-FFF2-40B4-BE49-F238E27FC236}">
                <a16:creationId xmlns:a16="http://schemas.microsoft.com/office/drawing/2014/main" id="{3E3AA9AF-9E3C-B821-0C95-D4AA63DFFCBB}"/>
              </a:ext>
            </a:extLst>
          </p:cNvPr>
          <p:cNvSpPr/>
          <p:nvPr/>
        </p:nvSpPr>
        <p:spPr>
          <a:xfrm>
            <a:off x="2609369" y="1646785"/>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7" name="Oval 6">
            <a:extLst>
              <a:ext uri="{FF2B5EF4-FFF2-40B4-BE49-F238E27FC236}">
                <a16:creationId xmlns:a16="http://schemas.microsoft.com/office/drawing/2014/main" id="{BC8D8944-1BCF-D4B0-7DAF-EF76646CCF50}"/>
              </a:ext>
            </a:extLst>
          </p:cNvPr>
          <p:cNvSpPr/>
          <p:nvPr/>
        </p:nvSpPr>
        <p:spPr>
          <a:xfrm>
            <a:off x="2057663" y="2106659"/>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8" name="Group 7">
            <a:extLst>
              <a:ext uri="{FF2B5EF4-FFF2-40B4-BE49-F238E27FC236}">
                <a16:creationId xmlns:a16="http://schemas.microsoft.com/office/drawing/2014/main" id="{6EE8B722-85CC-7111-AF8B-97EEBEE9A272}"/>
              </a:ext>
            </a:extLst>
          </p:cNvPr>
          <p:cNvGrpSpPr/>
          <p:nvPr/>
        </p:nvGrpSpPr>
        <p:grpSpPr>
          <a:xfrm>
            <a:off x="3003018" y="1125085"/>
            <a:ext cx="1838188" cy="1169519"/>
            <a:chOff x="2644385" y="2866760"/>
            <a:chExt cx="1838188" cy="1384526"/>
          </a:xfrm>
        </p:grpSpPr>
        <p:sp>
          <p:nvSpPr>
            <p:cNvPr id="9" name="Freeform: Shape 8">
              <a:extLst>
                <a:ext uri="{FF2B5EF4-FFF2-40B4-BE49-F238E27FC236}">
                  <a16:creationId xmlns:a16="http://schemas.microsoft.com/office/drawing/2014/main" id="{AD3569E1-8E04-B7BA-0398-4180BE3B0EE3}"/>
                </a:ext>
              </a:extLst>
            </p:cNvPr>
            <p:cNvSpPr/>
            <p:nvPr/>
          </p:nvSpPr>
          <p:spPr>
            <a:xfrm>
              <a:off x="2644386" y="2866760"/>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b="1"/>
            </a:p>
          </p:txBody>
        </p:sp>
        <p:sp>
          <p:nvSpPr>
            <p:cNvPr id="10" name="TextBox 9">
              <a:extLst>
                <a:ext uri="{FF2B5EF4-FFF2-40B4-BE49-F238E27FC236}">
                  <a16:creationId xmlns:a16="http://schemas.microsoft.com/office/drawing/2014/main" id="{FFC19485-EC34-F070-3B3F-978F61587575}"/>
                </a:ext>
              </a:extLst>
            </p:cNvPr>
            <p:cNvSpPr txBox="1"/>
            <p:nvPr/>
          </p:nvSpPr>
          <p:spPr>
            <a:xfrm>
              <a:off x="2644385" y="3160918"/>
              <a:ext cx="1838187"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What am I learning?</a:t>
              </a:r>
            </a:p>
          </p:txBody>
        </p:sp>
      </p:grpSp>
      <p:pic>
        <p:nvPicPr>
          <p:cNvPr id="11" name="Picture 10" descr="A picture containing room  Description automatically generated">
            <a:extLst>
              <a:ext uri="{FF2B5EF4-FFF2-40B4-BE49-F238E27FC236}">
                <a16:creationId xmlns:a16="http://schemas.microsoft.com/office/drawing/2014/main" id="{3C0DDE4A-9E8B-5BE3-65C1-A3FA2705ACB2}"/>
              </a:ext>
            </a:extLst>
          </p:cNvPr>
          <p:cNvPicPr>
            <a:picLocks noChangeAspect="1"/>
          </p:cNvPicPr>
          <p:nvPr/>
        </p:nvPicPr>
        <p:blipFill>
          <a:blip r:embed="rId3" cstate="screen">
            <a:extLst>
              <a:ext uri="{28A0092B-C50C-407E-A947-70E740481C1C}">
                <a14:useLocalDpi xmlns:a14="http://schemas.microsoft.com/office/drawing/2010/main" val="0"/>
              </a:ext>
            </a:extLst>
          </a:blip>
          <a:stretch>
            <a:fillRect/>
          </a:stretch>
        </p:blipFill>
        <p:spPr>
          <a:xfrm>
            <a:off x="485896" y="2018390"/>
            <a:ext cx="1451414" cy="2106656"/>
          </a:xfrm>
          <a:prstGeom prst="rect">
            <a:avLst/>
          </a:prstGeom>
          <a:ln>
            <a:noFill/>
          </a:ln>
        </p:spPr>
      </p:pic>
      <p:sp>
        <p:nvSpPr>
          <p:cNvPr id="12" name="Freeform: Shape 11">
            <a:extLst>
              <a:ext uri="{FF2B5EF4-FFF2-40B4-BE49-F238E27FC236}">
                <a16:creationId xmlns:a16="http://schemas.microsoft.com/office/drawing/2014/main" id="{A0F1A2A6-045F-00C7-688E-E6D0A25D5652}"/>
              </a:ext>
            </a:extLst>
          </p:cNvPr>
          <p:cNvSpPr/>
          <p:nvPr/>
        </p:nvSpPr>
        <p:spPr>
          <a:xfrm>
            <a:off x="2797615" y="2918463"/>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3" name="Oval 12">
            <a:extLst>
              <a:ext uri="{FF2B5EF4-FFF2-40B4-BE49-F238E27FC236}">
                <a16:creationId xmlns:a16="http://schemas.microsoft.com/office/drawing/2014/main" id="{408A8433-A9BE-1E56-2965-99A3B5625947}"/>
              </a:ext>
            </a:extLst>
          </p:cNvPr>
          <p:cNvSpPr/>
          <p:nvPr/>
        </p:nvSpPr>
        <p:spPr>
          <a:xfrm>
            <a:off x="2458854" y="2918501"/>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14" name="Group 13">
            <a:extLst>
              <a:ext uri="{FF2B5EF4-FFF2-40B4-BE49-F238E27FC236}">
                <a16:creationId xmlns:a16="http://schemas.microsoft.com/office/drawing/2014/main" id="{27A24A2D-2408-EB9E-5F70-46F514294503}"/>
              </a:ext>
            </a:extLst>
          </p:cNvPr>
          <p:cNvGrpSpPr/>
          <p:nvPr/>
        </p:nvGrpSpPr>
        <p:grpSpPr>
          <a:xfrm>
            <a:off x="3618760" y="2676281"/>
            <a:ext cx="2097602" cy="1251349"/>
            <a:chOff x="6125888" y="3028716"/>
            <a:chExt cx="1838187" cy="1384526"/>
          </a:xfrm>
          <a:solidFill>
            <a:schemeClr val="accent6">
              <a:lumMod val="60000"/>
              <a:lumOff val="40000"/>
            </a:schemeClr>
          </a:solidFill>
        </p:grpSpPr>
        <p:sp>
          <p:nvSpPr>
            <p:cNvPr id="15" name="Freeform: Shape 14">
              <a:extLst>
                <a:ext uri="{FF2B5EF4-FFF2-40B4-BE49-F238E27FC236}">
                  <a16:creationId xmlns:a16="http://schemas.microsoft.com/office/drawing/2014/main" id="{2946C962-D08C-0F71-45B1-FA00B59721B8}"/>
                </a:ext>
              </a:extLst>
            </p:cNvPr>
            <p:cNvSpPr/>
            <p:nvPr/>
          </p:nvSpPr>
          <p:spPr>
            <a:xfrm>
              <a:off x="6125888" y="3028716"/>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2400" b="1"/>
            </a:p>
          </p:txBody>
        </p:sp>
        <p:sp>
          <p:nvSpPr>
            <p:cNvPr id="16" name="TextBox 15">
              <a:extLst>
                <a:ext uri="{FF2B5EF4-FFF2-40B4-BE49-F238E27FC236}">
                  <a16:creationId xmlns:a16="http://schemas.microsoft.com/office/drawing/2014/main" id="{60E1483D-26A7-A33B-B0CD-B1044C4A76B4}"/>
                </a:ext>
              </a:extLst>
            </p:cNvPr>
            <p:cNvSpPr txBox="1"/>
            <p:nvPr/>
          </p:nvSpPr>
          <p:spPr>
            <a:xfrm>
              <a:off x="6263965" y="3326148"/>
              <a:ext cx="1595765"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Why am I learning this ?</a:t>
              </a:r>
            </a:p>
          </p:txBody>
        </p:sp>
      </p:grpSp>
      <p:sp>
        <p:nvSpPr>
          <p:cNvPr id="17" name="Freeform: Shape 16">
            <a:extLst>
              <a:ext uri="{FF2B5EF4-FFF2-40B4-BE49-F238E27FC236}">
                <a16:creationId xmlns:a16="http://schemas.microsoft.com/office/drawing/2014/main" id="{ED4713C7-97EE-A5B0-8FC6-4CE70EA350BC}"/>
              </a:ext>
            </a:extLst>
          </p:cNvPr>
          <p:cNvSpPr/>
          <p:nvPr/>
        </p:nvSpPr>
        <p:spPr>
          <a:xfrm>
            <a:off x="2490079" y="3963955"/>
            <a:ext cx="200648" cy="240777"/>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8" name="Oval 17">
            <a:extLst>
              <a:ext uri="{FF2B5EF4-FFF2-40B4-BE49-F238E27FC236}">
                <a16:creationId xmlns:a16="http://schemas.microsoft.com/office/drawing/2014/main" id="{72843B94-CA11-5143-DFB7-BE14CB303150}"/>
              </a:ext>
            </a:extLst>
          </p:cNvPr>
          <p:cNvSpPr/>
          <p:nvPr/>
        </p:nvSpPr>
        <p:spPr>
          <a:xfrm>
            <a:off x="2258697" y="3780606"/>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9" name="TextBox 18">
            <a:extLst>
              <a:ext uri="{FF2B5EF4-FFF2-40B4-BE49-F238E27FC236}">
                <a16:creationId xmlns:a16="http://schemas.microsoft.com/office/drawing/2014/main" id="{CDA984DD-4FC4-64A0-887A-0A817B977071}"/>
              </a:ext>
            </a:extLst>
          </p:cNvPr>
          <p:cNvSpPr txBox="1"/>
          <p:nvPr/>
        </p:nvSpPr>
        <p:spPr>
          <a:xfrm>
            <a:off x="5068949" y="1230333"/>
            <a:ext cx="5311218" cy="830997"/>
          </a:xfrm>
          <a:prstGeom prst="rect">
            <a:avLst/>
          </a:prstGeom>
          <a:noFill/>
        </p:spPr>
        <p:txBody>
          <a:bodyPr wrap="square" rtlCol="0">
            <a:spAutoFit/>
          </a:bodyPr>
          <a:lstStyle/>
          <a:p>
            <a:r>
              <a:rPr lang="en-GB" sz="2400">
                <a:latin typeface="+mj-lt"/>
              </a:rPr>
              <a:t>I  am learning to understand and take meaning from a text.</a:t>
            </a:r>
          </a:p>
        </p:txBody>
      </p:sp>
      <p:sp>
        <p:nvSpPr>
          <p:cNvPr id="20" name="Rectangle 19">
            <a:extLst>
              <a:ext uri="{FF2B5EF4-FFF2-40B4-BE49-F238E27FC236}">
                <a16:creationId xmlns:a16="http://schemas.microsoft.com/office/drawing/2014/main" id="{3A23222B-35F4-3CDC-5FEA-1C58CE4A933A}"/>
              </a:ext>
            </a:extLst>
          </p:cNvPr>
          <p:cNvSpPr/>
          <p:nvPr/>
        </p:nvSpPr>
        <p:spPr>
          <a:xfrm>
            <a:off x="5597291" y="4824722"/>
            <a:ext cx="5583685" cy="1200329"/>
          </a:xfrm>
          <a:prstGeom prst="rect">
            <a:avLst/>
          </a:prstGeom>
          <a:noFill/>
        </p:spPr>
        <p:txBody>
          <a:bodyPr wrap="square">
            <a:spAutoFit/>
          </a:bodyPr>
          <a:lstStyle/>
          <a:p>
            <a:r>
              <a:rPr lang="en-GB" sz="2400">
                <a:latin typeface="+mj-lt"/>
              </a:rPr>
              <a:t>I will show this by answering questions which relate to the vocabulary used throughout the text.</a:t>
            </a:r>
          </a:p>
        </p:txBody>
      </p:sp>
      <p:grpSp>
        <p:nvGrpSpPr>
          <p:cNvPr id="26" name="Group 25">
            <a:extLst>
              <a:ext uri="{FF2B5EF4-FFF2-40B4-BE49-F238E27FC236}">
                <a16:creationId xmlns:a16="http://schemas.microsoft.com/office/drawing/2014/main" id="{F0FA508C-6CB1-E76E-F0A8-B64E6C4CD90D}"/>
              </a:ext>
            </a:extLst>
          </p:cNvPr>
          <p:cNvGrpSpPr/>
          <p:nvPr/>
        </p:nvGrpSpPr>
        <p:grpSpPr>
          <a:xfrm>
            <a:off x="2968729" y="4615048"/>
            <a:ext cx="2401890" cy="1148058"/>
            <a:chOff x="10001131" y="2709337"/>
            <a:chExt cx="1838187" cy="1105414"/>
          </a:xfrm>
        </p:grpSpPr>
        <p:sp>
          <p:nvSpPr>
            <p:cNvPr id="27" name="Freeform: Shape 26">
              <a:extLst>
                <a:ext uri="{FF2B5EF4-FFF2-40B4-BE49-F238E27FC236}">
                  <a16:creationId xmlns:a16="http://schemas.microsoft.com/office/drawing/2014/main" id="{3F558219-13F1-436A-59AF-11B90D95ABA1}"/>
                </a:ext>
              </a:extLst>
            </p:cNvPr>
            <p:cNvSpPr/>
            <p:nvPr/>
          </p:nvSpPr>
          <p:spPr>
            <a:xfrm>
              <a:off x="10001131" y="2709337"/>
              <a:ext cx="1838187" cy="1105414"/>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a:p>
          </p:txBody>
        </p:sp>
        <p:sp>
          <p:nvSpPr>
            <p:cNvPr id="28" name="TextBox 27">
              <a:extLst>
                <a:ext uri="{FF2B5EF4-FFF2-40B4-BE49-F238E27FC236}">
                  <a16:creationId xmlns:a16="http://schemas.microsoft.com/office/drawing/2014/main" id="{33569914-364A-6AF1-85F1-0BFCF4FDB1A8}"/>
                </a:ext>
              </a:extLst>
            </p:cNvPr>
            <p:cNvSpPr txBox="1"/>
            <p:nvPr/>
          </p:nvSpPr>
          <p:spPr>
            <a:xfrm>
              <a:off x="10146498" y="2857389"/>
              <a:ext cx="1547451" cy="622324"/>
            </a:xfrm>
            <a:prstGeom prst="rect">
              <a:avLst/>
            </a:prstGeom>
            <a:noFill/>
            <a:ln w="19050">
              <a:noFill/>
            </a:ln>
          </p:spPr>
          <p:txBody>
            <a:bodyPr wrap="square" rtlCol="0">
              <a:spAutoFit/>
            </a:bodyPr>
            <a:lstStyle/>
            <a:p>
              <a:pPr algn="ctr"/>
              <a:r>
                <a:rPr lang="en-GB" b="1">
                  <a:latin typeface="Sassoon Primary Rg" panose="02000606020000020004" pitchFamily="2" charset="0"/>
                </a:rPr>
                <a:t>How will I know when I get there?</a:t>
              </a:r>
            </a:p>
          </p:txBody>
        </p:sp>
      </p:grpSp>
      <p:sp>
        <p:nvSpPr>
          <p:cNvPr id="29" name="Freeform: Shape 28">
            <a:extLst>
              <a:ext uri="{FF2B5EF4-FFF2-40B4-BE49-F238E27FC236}">
                <a16:creationId xmlns:a16="http://schemas.microsoft.com/office/drawing/2014/main" id="{B90D4CDA-08E3-0ED1-C1FB-0242710F0D9A}"/>
              </a:ext>
            </a:extLst>
          </p:cNvPr>
          <p:cNvSpPr/>
          <p:nvPr/>
        </p:nvSpPr>
        <p:spPr>
          <a:xfrm>
            <a:off x="2767911" y="4261260"/>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0" name="Freeform: Shape 29">
            <a:extLst>
              <a:ext uri="{FF2B5EF4-FFF2-40B4-BE49-F238E27FC236}">
                <a16:creationId xmlns:a16="http://schemas.microsoft.com/office/drawing/2014/main" id="{8139F2B2-DE54-7CE1-CCBE-1C4164F07AC7}"/>
              </a:ext>
            </a:extLst>
          </p:cNvPr>
          <p:cNvSpPr/>
          <p:nvPr/>
        </p:nvSpPr>
        <p:spPr>
          <a:xfrm>
            <a:off x="3206304" y="2991789"/>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5" name="Freeform: Shape 34">
            <a:extLst>
              <a:ext uri="{FF2B5EF4-FFF2-40B4-BE49-F238E27FC236}">
                <a16:creationId xmlns:a16="http://schemas.microsoft.com/office/drawing/2014/main" id="{721B1AA3-17DD-506B-9B14-CDFF5EA0BECB}"/>
              </a:ext>
            </a:extLst>
          </p:cNvPr>
          <p:cNvSpPr/>
          <p:nvPr/>
        </p:nvSpPr>
        <p:spPr>
          <a:xfrm>
            <a:off x="2271587" y="1913146"/>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5" name="TextBox 4">
            <a:extLst>
              <a:ext uri="{FF2B5EF4-FFF2-40B4-BE49-F238E27FC236}">
                <a16:creationId xmlns:a16="http://schemas.microsoft.com/office/drawing/2014/main" id="{3A69BFB0-E1DC-E3FA-6EA3-821A27D46522}"/>
              </a:ext>
            </a:extLst>
          </p:cNvPr>
          <p:cNvSpPr txBox="1"/>
          <p:nvPr/>
        </p:nvSpPr>
        <p:spPr>
          <a:xfrm>
            <a:off x="5873925" y="2665439"/>
            <a:ext cx="5507001" cy="1200329"/>
          </a:xfrm>
          <a:prstGeom prst="rect">
            <a:avLst/>
          </a:prstGeom>
          <a:noFill/>
        </p:spPr>
        <p:txBody>
          <a:bodyPr wrap="square" rtlCol="0">
            <a:spAutoFit/>
          </a:bodyPr>
          <a:lstStyle/>
          <a:p>
            <a:r>
              <a:rPr lang="en-GB" sz="2400">
                <a:latin typeface="Sassoon Infant Rg" panose="02000503030000020003" pitchFamily="2" charset="0"/>
                <a:ea typeface="Sassoon Infant Rg" panose="02000503030000020003" pitchFamily="2" charset="0"/>
              </a:rPr>
              <a:t>I am learning this because it will help me to develop my understanding of vocabulary at a sentence and text level.</a:t>
            </a:r>
          </a:p>
        </p:txBody>
      </p:sp>
      <p:grpSp>
        <p:nvGrpSpPr>
          <p:cNvPr id="3" name="Group 2">
            <a:extLst>
              <a:ext uri="{FF2B5EF4-FFF2-40B4-BE49-F238E27FC236}">
                <a16:creationId xmlns:a16="http://schemas.microsoft.com/office/drawing/2014/main" id="{AB1D5BFC-9C6F-78FE-BB55-8A787A315711}"/>
              </a:ext>
            </a:extLst>
          </p:cNvPr>
          <p:cNvGrpSpPr/>
          <p:nvPr/>
        </p:nvGrpSpPr>
        <p:grpSpPr>
          <a:xfrm>
            <a:off x="10607910" y="233361"/>
            <a:ext cx="1316831" cy="1316831"/>
            <a:chOff x="5180554" y="1026138"/>
            <a:chExt cx="1316831" cy="1316831"/>
          </a:xfrm>
        </p:grpSpPr>
        <p:sp>
          <p:nvSpPr>
            <p:cNvPr id="4" name="Oval 3">
              <a:extLst>
                <a:ext uri="{FF2B5EF4-FFF2-40B4-BE49-F238E27FC236}">
                  <a16:creationId xmlns:a16="http://schemas.microsoft.com/office/drawing/2014/main" id="{30C90C35-E0BE-7AD4-92BC-8EFF113E4DB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1" name="Oval 4">
              <a:extLst>
                <a:ext uri="{FF2B5EF4-FFF2-40B4-BE49-F238E27FC236}">
                  <a16:creationId xmlns:a16="http://schemas.microsoft.com/office/drawing/2014/main" id="{D5E138FF-7604-1E33-555D-87C2C96CBE05}"/>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Tree>
    <p:extLst>
      <p:ext uri="{BB962C8B-B14F-4D97-AF65-F5344CB8AC3E}">
        <p14:creationId xmlns:p14="http://schemas.microsoft.com/office/powerpoint/2010/main" val="28426104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1F7DB-6538-E176-FE28-8F1AD256569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4F21690-854A-3024-D098-1C56DE57443E}"/>
              </a:ext>
            </a:extLst>
          </p:cNvPr>
          <p:cNvPicPr>
            <a:picLocks noChangeAspect="1"/>
          </p:cNvPicPr>
          <p:nvPr/>
        </p:nvPicPr>
        <p:blipFill>
          <a:blip r:embed="rId3"/>
          <a:stretch>
            <a:fillRect/>
          </a:stretch>
        </p:blipFill>
        <p:spPr>
          <a:xfrm>
            <a:off x="10424916" y="134700"/>
            <a:ext cx="1616752" cy="697982"/>
          </a:xfrm>
          <a:prstGeom prst="rect">
            <a:avLst/>
          </a:prstGeom>
        </p:spPr>
      </p:pic>
      <p:sp>
        <p:nvSpPr>
          <p:cNvPr id="6" name="TextBox 5">
            <a:extLst>
              <a:ext uri="{FF2B5EF4-FFF2-40B4-BE49-F238E27FC236}">
                <a16:creationId xmlns:a16="http://schemas.microsoft.com/office/drawing/2014/main" id="{AEC30692-9C94-A8DB-4755-85FE74DE9821}"/>
              </a:ext>
            </a:extLst>
          </p:cNvPr>
          <p:cNvSpPr txBox="1"/>
          <p:nvPr/>
        </p:nvSpPr>
        <p:spPr>
          <a:xfrm>
            <a:off x="288098" y="335454"/>
            <a:ext cx="6864956" cy="707886"/>
          </a:xfrm>
          <a:prstGeom prst="rect">
            <a:avLst/>
          </a:prstGeom>
          <a:noFill/>
        </p:spPr>
        <p:txBody>
          <a:bodyPr wrap="none" rtlCol="0">
            <a:spAutoFit/>
          </a:bodyPr>
          <a:lstStyle/>
          <a:p>
            <a:r>
              <a:rPr lang="en-GB" sz="4000" b="1" u="sng"/>
              <a:t>Practice questions - Inference</a:t>
            </a:r>
          </a:p>
        </p:txBody>
      </p:sp>
      <p:pic>
        <p:nvPicPr>
          <p:cNvPr id="7" name="Picture 6">
            <a:extLst>
              <a:ext uri="{FF2B5EF4-FFF2-40B4-BE49-F238E27FC236}">
                <a16:creationId xmlns:a16="http://schemas.microsoft.com/office/drawing/2014/main" id="{E0AB4FA0-4B96-F850-DD50-18A5FD657BB8}"/>
              </a:ext>
            </a:extLst>
          </p:cNvPr>
          <p:cNvPicPr/>
          <p:nvPr/>
        </p:nvPicPr>
        <p:blipFill>
          <a:blip r:embed="rId4">
            <a:extLst>
              <a:ext uri="{28A0092B-C50C-407E-A947-70E740481C1C}">
                <a14:useLocalDpi xmlns:a14="http://schemas.microsoft.com/office/drawing/2010/main" val="0"/>
              </a:ext>
            </a:extLst>
          </a:blip>
          <a:stretch>
            <a:fillRect/>
          </a:stretch>
        </p:blipFill>
        <p:spPr>
          <a:xfrm>
            <a:off x="5250435" y="6048469"/>
            <a:ext cx="1691129" cy="711848"/>
          </a:xfrm>
          <a:prstGeom prst="rect">
            <a:avLst/>
          </a:prstGeom>
        </p:spPr>
      </p:pic>
      <p:sp>
        <p:nvSpPr>
          <p:cNvPr id="4" name="Rounded Rectangle 9">
            <a:extLst>
              <a:ext uri="{FF2B5EF4-FFF2-40B4-BE49-F238E27FC236}">
                <a16:creationId xmlns:a16="http://schemas.microsoft.com/office/drawing/2014/main" id="{2A06B04F-B021-4121-0C16-7A5BACEFBC1B}"/>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
        <p:nvSpPr>
          <p:cNvPr id="10" name="TextBox 9">
            <a:extLst>
              <a:ext uri="{FF2B5EF4-FFF2-40B4-BE49-F238E27FC236}">
                <a16:creationId xmlns:a16="http://schemas.microsoft.com/office/drawing/2014/main" id="{C064352E-4E96-13BD-C58F-5EEC5E15F4B5}"/>
              </a:ext>
            </a:extLst>
          </p:cNvPr>
          <p:cNvSpPr txBox="1"/>
          <p:nvPr/>
        </p:nvSpPr>
        <p:spPr>
          <a:xfrm>
            <a:off x="418368" y="1463046"/>
            <a:ext cx="11355262" cy="2246769"/>
          </a:xfrm>
          <a:prstGeom prst="rect">
            <a:avLst/>
          </a:prstGeom>
          <a:noFill/>
        </p:spPr>
        <p:txBody>
          <a:bodyPr wrap="square" rtlCol="0">
            <a:spAutoFit/>
          </a:bodyPr>
          <a:lstStyle/>
          <a:p>
            <a:r>
              <a:rPr lang="en-US" sz="1900"/>
              <a:t>What products does Brazil export?</a:t>
            </a:r>
          </a:p>
          <a:p>
            <a:r>
              <a:rPr lang="en-US" sz="1900"/>
              <a:t>Brazil exports soya beans, cattle, iron ore, oil, coffee and meat to countries around the world, including to the United Kingdom.</a:t>
            </a:r>
          </a:p>
          <a:p>
            <a:endParaRPr lang="en-US" sz="1900"/>
          </a:p>
          <a:p>
            <a:r>
              <a:rPr lang="en-US" sz="1900"/>
              <a:t>Why has the Amazon rainforest been affected by farming?</a:t>
            </a:r>
          </a:p>
          <a:p>
            <a:r>
              <a:rPr lang="en-US" sz="1900"/>
              <a:t>As Brazil's agricultural industry has grown, forested land has been cleared to make way for farms, reducing the size of the rainforest.</a:t>
            </a:r>
          </a:p>
        </p:txBody>
      </p:sp>
      <p:sp>
        <p:nvSpPr>
          <p:cNvPr id="3" name="TextBox 2">
            <a:extLst>
              <a:ext uri="{FF2B5EF4-FFF2-40B4-BE49-F238E27FC236}">
                <a16:creationId xmlns:a16="http://schemas.microsoft.com/office/drawing/2014/main" id="{EBAE955F-2F2B-1B4A-4719-6AB782D998C5}"/>
              </a:ext>
            </a:extLst>
          </p:cNvPr>
          <p:cNvSpPr txBox="1"/>
          <p:nvPr/>
        </p:nvSpPr>
        <p:spPr>
          <a:xfrm>
            <a:off x="145774" y="1043340"/>
            <a:ext cx="12046226" cy="4585423"/>
          </a:xfrm>
          <a:prstGeom prst="rect">
            <a:avLst/>
          </a:prstGeom>
          <a:solidFill>
            <a:schemeClr val="accent5">
              <a:lumMod val="20000"/>
              <a:lumOff val="80000"/>
            </a:schemeClr>
          </a:solidFill>
        </p:spPr>
        <p:txBody>
          <a:bodyPr wrap="square" anchor="ctr">
            <a:noAutofit/>
          </a:bodyPr>
          <a:lstStyle/>
          <a:p>
            <a:r>
              <a:rPr lang="en-US" sz="2200"/>
              <a:t>Brazil and England share some similarities in the way they use their land, but the differences are significant. In England, land is divided between residential areas where people live, commercial zones full of shops and offices, and agricultural land used for growing crops and raising animals. Transport networks such as roads, railways and airports connect these areas efficiently. In Brazil, land use patterns are more complex and dramatic in scale. Vast areas of the interior are used for agriculture, particularly for growing soya beans and rearing cattle, which are among Brazil’s most important exports. Brazil is one of the world’s leading agricultural producers, and its economy relies heavily on trade with other countries. It exports iron ore, oil, coffee and meat to nations across the globe, including to the United Kingdom. However, rapid growth in agriculture has put pressure on the Amazon rainforest, as forested land has been cleared to make way for farms. In England, economic activity is spread more evenly between industry, services and trade. England’s cities contain large commercial zones, and the economy is heavily focused on services such as banking, retail and education. Both countries are part of a global trading network, but the scale, the challenges and the opportunities they face are very different — a reflection of their contrasting size, climate and resources.</a:t>
            </a:r>
          </a:p>
        </p:txBody>
      </p:sp>
    </p:spTree>
    <p:extLst>
      <p:ext uri="{BB962C8B-B14F-4D97-AF65-F5344CB8AC3E}">
        <p14:creationId xmlns:p14="http://schemas.microsoft.com/office/powerpoint/2010/main" val="2161724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4"/>
                    </p:tgtEl>
                  </p:cond>
                </p:stCondLst>
                <p:endSync evt="end" delay="0">
                  <p:rtn val="all"/>
                </p:endSync>
                <p:childTnLst>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3"/>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xit" presetSubtype="0" fill="hold" grpId="1" nodeType="clickEffect">
                                  <p:stCondLst>
                                    <p:cond delay="0"/>
                                  </p:stCondLst>
                                  <p:childTnLst>
                                    <p:set>
                                      <p:cBhvr>
                                        <p:cTn id="31" dur="1" fill="hold">
                                          <p:stCondLst>
                                            <p:cond delay="0"/>
                                          </p:stCondLst>
                                        </p:cTn>
                                        <p:tgtEl>
                                          <p:spTgt spid="3"/>
                                        </p:tgtEl>
                                        <p:attrNameLst>
                                          <p:attrName>style.visibility</p:attrName>
                                        </p:attrNameLst>
                                      </p:cBhvr>
                                      <p:to>
                                        <p:strVal val="hidden"/>
                                      </p:to>
                                    </p:set>
                                  </p:childTnLst>
                                </p:cTn>
                              </p:par>
                            </p:childTnLst>
                          </p:cTn>
                        </p:par>
                      </p:childTnLst>
                    </p:cTn>
                  </p:par>
                </p:childTnLst>
              </p:cTn>
              <p:nextCondLst>
                <p:cond evt="onClick" delay="0">
                  <p:tgtEl>
                    <p:spTgt spid="4"/>
                  </p:tgtEl>
                </p:cond>
              </p:nextCondLst>
            </p:seq>
          </p:childTnLst>
        </p:cTn>
      </p:par>
    </p:tnLst>
    <p:bldLst>
      <p:bldP spid="3" grpId="0" animBg="1"/>
      <p:bldP spid="3" grpId="1"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Sassoon Infant Rg"/>
        <a:ea typeface=""/>
        <a:cs typeface=""/>
      </a:majorFont>
      <a:minorFont>
        <a:latin typeface="Sassoon Infant Rg"/>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Relationships xmlns="http://schemas.openxmlformats.org/package/2006/relationships"><Relationship Id="rId1" Type="http://schemas.openxmlformats.org/officeDocument/2006/relationships/customXmlProps" Target="itemProps1.xml"/></Relationships>
</file>

<file path=customXml/_rels/item2.xml.rels><?xml version="1.0" encoding="UTF-8"?><Relationships xmlns="http://schemas.openxmlformats.org/package/2006/relationships"><Relationship Id="rId1" Type="http://schemas.openxmlformats.org/officeDocument/2006/relationships/customXmlProps" Target="itemProps2.xml"/></Relationships>
</file>

<file path=customXml/_rels/item3.xml.rels><?xml version="1.0" encoding="UTF-8"?><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4848fd07-94db-4308-8950-9cb0e230b958" xsi:nil="true"/>
    <lcf76f155ced4ddcb4097134ff3c332f xmlns="9e6dd442-da5e-411e-833f-0fee7dcd7819">
      <Terms xmlns="http://schemas.microsoft.com/office/infopath/2007/PartnerControls"/>
    </lcf76f155ced4ddcb4097134ff3c332f>
    <SharedWithUsers xmlns="4848fd07-94db-4308-8950-9cb0e230b958">
      <UserInfo>
        <DisplayName>Jo Hewitt - WFA</DisplayName>
        <AccountId>40</AccountId>
        <AccountType/>
      </UserInfo>
      <UserInfo>
        <DisplayName>Jonathan Miller - WFA</DisplayName>
        <AccountId>57</AccountId>
        <AccountType/>
      </UserInfo>
    </SharedWithUser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AC71695694772F44B387615DF8DED97F" ma:contentTypeVersion="16" ma:contentTypeDescription="Create a new document." ma:contentTypeScope="" ma:versionID="6b988a150421d80c99f84aa2bfb3de38">
  <xsd:schema xmlns:xsd="http://www.w3.org/2001/XMLSchema" xmlns:xs="http://www.w3.org/2001/XMLSchema" xmlns:p="http://schemas.microsoft.com/office/2006/metadata/properties" xmlns:ns2="9e6dd442-da5e-411e-833f-0fee7dcd7819" xmlns:ns3="4848fd07-94db-4308-8950-9cb0e230b958" targetNamespace="http://schemas.microsoft.com/office/2006/metadata/properties" ma:root="true" ma:fieldsID="0840e1ae8104f568f88bbc0ee80d0ce2" ns2:_="" ns3:_="">
    <xsd:import namespace="9e6dd442-da5e-411e-833f-0fee7dcd7819"/>
    <xsd:import namespace="4848fd07-94db-4308-8950-9cb0e230b958"/>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DateTaken" minOccurs="0"/>
                <xsd:element ref="ns2:MediaLengthInSeconds" minOccurs="0"/>
                <xsd:element ref="ns2:MediaServiceLocation" minOccurs="0"/>
                <xsd:element ref="ns2:MediaServiceGenerationTime" minOccurs="0"/>
                <xsd:element ref="ns2:MediaServiceEventHashCode" minOccurs="0"/>
                <xsd:element ref="ns2:lcf76f155ced4ddcb4097134ff3c332f" minOccurs="0"/>
                <xsd:element ref="ns3:TaxCatchAll" minOccurs="0"/>
                <xsd:element ref="ns2:MediaServiceOCR" minOccurs="0"/>
                <xsd:element ref="ns3:SharedWithUsers" minOccurs="0"/>
                <xsd:element ref="ns3:SharedWithDetail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e6dd442-da5e-411e-833f-0fee7dcd781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MediaServiceLocation" ma:index="13" nillable="true" ma:displayName="Location" ma:indexed="true" ma:internalName="MediaServiceLocatio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bd08261e-ebf2-489e-9cf5-3c5ddf1ef556"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848fd07-94db-4308-8950-9cb0e230b95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90903c9d-9125-4551-886d-abbd3fd64318}" ma:internalName="TaxCatchAll" ma:showField="CatchAllData" ma:web="4848fd07-94db-4308-8950-9cb0e230b958">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E02CAFD-7AEC-4FCB-8049-4FEF8A0D00D8}">
  <ds:schemaRefs>
    <ds:schemaRef ds:uri="http://schemas.microsoft.com/sharepoint/v3/contenttype/forms"/>
  </ds:schemaRefs>
</ds:datastoreItem>
</file>

<file path=customXml/itemProps2.xml><?xml version="1.0" encoding="utf-8"?>
<ds:datastoreItem xmlns:ds="http://schemas.openxmlformats.org/officeDocument/2006/customXml" ds:itemID="{D45AAA2B-1185-4CA6-878D-532686679D9F}">
  <ds:schemaRefs>
    <ds:schemaRef ds:uri="4848fd07-94db-4308-8950-9cb0e230b958"/>
    <ds:schemaRef ds:uri="9e6dd442-da5e-411e-833f-0fee7dcd781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71D150B1-45AA-4FD4-8213-B2AC8AE18B93}">
  <ds:schemaRefs>
    <ds:schemaRef ds:uri="4848fd07-94db-4308-8950-9cb0e230b958"/>
    <ds:schemaRef ds:uri="9e6dd442-da5e-411e-833f-0fee7dcd781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22</Slides>
  <Notes>16</Notes>
  <HiddenSlides>2</HiddenSlides>
  <ScaleCrop>false</ScaleCrop>
  <HeadingPairs>
    <vt:vector size="4" baseType="variant">
      <vt:variant>
        <vt:lpstr>Theme</vt:lpstr>
      </vt:variant>
      <vt:variant>
        <vt:i4>1</vt:i4>
      </vt:variant>
      <vt:variant>
        <vt:lpstr>Slide Titles</vt:lpstr>
      </vt:variant>
      <vt:variant>
        <vt:i4>22</vt:i4>
      </vt:variant>
    </vt:vector>
  </HeadingPairs>
  <TitlesOfParts>
    <vt:vector size="23" baseType="lpstr">
      <vt:lpstr>Office Theme</vt:lpstr>
      <vt:lpstr>PowerPoint Presentation</vt:lpstr>
      <vt:lpstr>Being a Reader</vt:lpstr>
      <vt:lpstr>PowerPoint Presentation</vt:lpstr>
      <vt:lpstr>PowerPoint Presentation</vt:lpstr>
      <vt:lpstr>PowerPoint Presentation</vt:lpstr>
      <vt:lpstr>PowerPoint Presentation</vt:lpstr>
      <vt:lpstr>PowerPoint Presentation</vt:lpstr>
      <vt:lpstr>PowerPoint Presentation</vt:lpstr>
      <vt:lpstr>Being a Reader</vt:lpstr>
      <vt:lpstr>PowerPoint Presentation</vt:lpstr>
      <vt:lpstr>PowerPoint Presentation</vt:lpstr>
      <vt:lpstr>PowerPoint Presentation</vt:lpstr>
      <vt:lpstr>PowerPoint Presentation</vt:lpstr>
      <vt:lpstr>PowerPoint Presentation</vt:lpstr>
      <vt:lpstr>PowerPoint Presentation</vt:lpstr>
      <vt:lpstr>Being a Reader</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Helen Rea - WFA</dc:creator>
  <cp:revision>1</cp:revision>
  <cp:lastPrinted>2024-09-12T11:50:42Z</cp:lastPrinted>
  <dcterms:created xsi:type="dcterms:W3CDTF">2024-01-22T14:53:27Z</dcterms:created>
  <dcterms:modified xsi:type="dcterms:W3CDTF">2026-06-18T10:09:40Z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0x010100AC71695694772F44B387615DF8DED97F</vt:lpwstr>
  </property>
</Properties>
</file>