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1923" r:id="rId5"/>
    <p:sldId id="1817" r:id="rId6"/>
    <p:sldId id="1884" r:id="rId7"/>
    <p:sldId id="1912" r:id="rId8"/>
    <p:sldId id="1907" r:id="rId9"/>
    <p:sldId id="1887" r:id="rId10"/>
    <p:sldId id="1800" r:id="rId11"/>
    <p:sldId id="1904" r:id="rId12"/>
    <p:sldId id="407" r:id="rId13"/>
    <p:sldId id="1799" r:id="rId14"/>
    <p:sldId id="1885" r:id="rId15"/>
    <p:sldId id="1903" r:id="rId16"/>
    <p:sldId id="1804" r:id="rId17"/>
    <p:sldId id="1902" r:id="rId18"/>
    <p:sldId id="1924" r:id="rId19"/>
    <p:sldId id="2001" r:id="rId20"/>
    <p:sldId id="2002" r:id="rId21"/>
    <p:sldId id="2003" r:id="rId22"/>
    <p:sldId id="2004" r:id="rId23"/>
    <p:sldId id="2005" r:id="rId24"/>
    <p:sldId id="2006" r:id="rId25"/>
    <p:sldId id="2007" r:id="rId26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FFFF00"/>
    <a:srgbClr val="DEECF8"/>
    <a:srgbClr val="DFF2C0"/>
    <a:srgbClr val="FFDD99"/>
    <a:srgbClr val="A2CFFC"/>
    <a:srgbClr val="CD007A"/>
    <a:srgbClr val="FFD5EE"/>
    <a:srgbClr val="D463AF"/>
    <a:srgbClr val="FFAF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0C4FEF-CC33-F049-8080-70E0463EB876}" v="1" dt="2026-07-15T16:01:52.9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yla McLaughlin - WFA" userId="9552512a-718d-489e-b148-9b36b5caacc3" providerId="ADAL" clId="{D1980C13-80FB-456B-A29C-1A2B06B70559}"/>
    <pc:docChg chg="modSld">
      <pc:chgData name="Leyla McLaughlin - WFA" userId="9552512a-718d-489e-b148-9b36b5caacc3" providerId="ADAL" clId="{D1980C13-80FB-456B-A29C-1A2B06B70559}" dt="2026-07-13T13:26:15.143" v="0"/>
      <pc:docMkLst>
        <pc:docMk/>
      </pc:docMkLst>
      <pc:sldChg chg="addSp">
        <pc:chgData name="Leyla McLaughlin - WFA" userId="9552512a-718d-489e-b148-9b36b5caacc3" providerId="ADAL" clId="{D1980C13-80FB-456B-A29C-1A2B06B70559}" dt="2026-07-13T13:26:15.143" v="0"/>
        <pc:sldMkLst>
          <pc:docMk/>
          <pc:sldMk cId="4055174833" sldId="1912"/>
        </pc:sldMkLst>
        <pc:inkChg chg="add">
          <ac:chgData name="Leyla McLaughlin - WFA" userId="9552512a-718d-489e-b148-9b36b5caacc3" providerId="ADAL" clId="{D1980C13-80FB-456B-A29C-1A2B06B70559}" dt="2026-07-13T13:26:15.143" v="0"/>
          <ac:inkMkLst>
            <pc:docMk/>
            <pc:sldMk cId="4055174833" sldId="1912"/>
            <ac:inkMk id="2" creationId="{82540228-D06B-B3B5-CCF7-85CCCD117661}"/>
          </ac:inkMkLst>
        </pc:inkChg>
      </pc:sldChg>
    </pc:docChg>
  </pc:docChgLst>
  <pc:docChgLst>
    <pc:chgData name="Innes Mclean - WFA" userId="cffa568d-066a-4903-b028-bafd937e5ea6" providerId="ADAL" clId="{BAFB47AA-30B1-57EF-A3A9-D4A2AD815BD7}"/>
    <pc:docChg chg="custSel modSld">
      <pc:chgData name="Innes Mclean - WFA" userId="cffa568d-066a-4903-b028-bafd937e5ea6" providerId="ADAL" clId="{BAFB47AA-30B1-57EF-A3A9-D4A2AD815BD7}" dt="2026-07-15T16:01:52.988" v="2" actId="478"/>
      <pc:docMkLst>
        <pc:docMk/>
      </pc:docMkLst>
      <pc:sldChg chg="delSp mod delAnim">
        <pc:chgData name="Innes Mclean - WFA" userId="cffa568d-066a-4903-b028-bafd937e5ea6" providerId="ADAL" clId="{BAFB47AA-30B1-57EF-A3A9-D4A2AD815BD7}" dt="2026-07-09T08:02:33.837" v="1" actId="478"/>
        <pc:sldMkLst>
          <pc:docMk/>
          <pc:sldMk cId="2432554819" sldId="1887"/>
        </pc:sldMkLst>
      </pc:sldChg>
      <pc:sldChg chg="delSp mod">
        <pc:chgData name="Innes Mclean - WFA" userId="cffa568d-066a-4903-b028-bafd937e5ea6" providerId="ADAL" clId="{BAFB47AA-30B1-57EF-A3A9-D4A2AD815BD7}" dt="2026-07-15T16:01:52.988" v="2" actId="478"/>
        <pc:sldMkLst>
          <pc:docMk/>
          <pc:sldMk cId="4055174833" sldId="1912"/>
        </pc:sldMkLst>
        <pc:inkChg chg="del">
          <ac:chgData name="Innes Mclean - WFA" userId="cffa568d-066a-4903-b028-bafd937e5ea6" providerId="ADAL" clId="{BAFB47AA-30B1-57EF-A3A9-D4A2AD815BD7}" dt="2026-07-15T16:01:52.988" v="2" actId="478"/>
          <ac:inkMkLst>
            <pc:docMk/>
            <pc:sldMk cId="4055174833" sldId="1912"/>
            <ac:inkMk id="2" creationId="{82540228-D06B-B3B5-CCF7-85CCCD117661}"/>
          </ac:inkMkLst>
        </pc:ink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25DB60-C16B-446D-B5DB-6D7125925E95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7E8E8B9-ADA3-45E0-8420-BE5E8FCCF1F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38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11416-2BF0-1BF0-993C-D7EDF44CEA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AD52C-A15F-345E-DEC9-153A113F1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F11A5D-2009-B729-C92B-9C76C84A13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Background knowledge – We use our background knowledge and experiences to help us with our reading</a:t>
            </a:r>
          </a:p>
          <a:p>
            <a:r>
              <a:rPr lang="en-GB"/>
              <a:t>Vocabulary – we use new vocabulary when reading</a:t>
            </a:r>
          </a:p>
          <a:p>
            <a:r>
              <a:rPr lang="en-GB"/>
              <a:t>Fluency &amp; Expression – We read fluently and with expression to make our reading exciting</a:t>
            </a:r>
          </a:p>
          <a:p>
            <a:r>
              <a:rPr lang="en-GB"/>
              <a:t>Discuss &amp; explain thinking – We discuss and explain our thinking and understanding of our reading</a:t>
            </a:r>
          </a:p>
          <a:p>
            <a:r>
              <a:rPr lang="en-GB"/>
              <a:t>Read a wide range of texts – We read a wide range of texts at WFA</a:t>
            </a:r>
          </a:p>
          <a:p>
            <a:r>
              <a:rPr lang="en-GB"/>
              <a:t>Decoding and phonics – We use our phonics to help us decode and learn new words when we are reading</a:t>
            </a:r>
          </a:p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A8A58E-928C-8E71-2814-F5DCBF204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35852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93071-2F46-9644-A2D0-B7A516A87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6F26A4-4C33-FD41-8664-9FFE0D6857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23575B-F319-685A-F4EB-043ABE526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2E282-AD31-3D4D-FFE7-ECB14224B7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42133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9E6B0-A6BD-A747-E971-48B8368E9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0842B-70A3-6A87-DE71-DC5CDBBC8C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4E4DBC-5075-4DA5-C90B-BB7261D973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90E457-613E-E4B9-F2D4-8EB91F55A8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20701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006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Background knowledge – We use our background knowledge and experiences to help us with our reading</a:t>
            </a:r>
          </a:p>
          <a:p>
            <a:r>
              <a:rPr lang="en-GB"/>
              <a:t>Vocabulary – we use new vocabulary when reading</a:t>
            </a:r>
          </a:p>
          <a:p>
            <a:r>
              <a:rPr lang="en-GB"/>
              <a:t>Fluency &amp; Expression – We read fluently and with expression to make our reading exciting</a:t>
            </a:r>
          </a:p>
          <a:p>
            <a:r>
              <a:rPr lang="en-GB"/>
              <a:t>Discuss &amp; explain thinking – We discuss and explain our thinking and understanding of our reading</a:t>
            </a:r>
          </a:p>
          <a:p>
            <a:r>
              <a:rPr lang="en-GB"/>
              <a:t>Read a wide range of texts – We read a wide range of texts at WFA</a:t>
            </a:r>
          </a:p>
          <a:p>
            <a:r>
              <a:rPr lang="en-GB"/>
              <a:t>Decoding and phonics – We use our phonics to help us decode and learn new words when we are reading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4987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90C4-3F63-5CE3-40C0-37C3972A6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53583-2126-636C-06E9-AC409DB69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4D933-7CA1-A8E0-3C7B-D224B6723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62738-39F3-90E4-2B16-74770B32C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005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91006-C5AD-CE9A-768D-97FEB0FA1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B318E-FA05-39EA-68AF-6B9E723A0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EEA19-065F-0F91-7D7E-3BF882304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51696-B6F4-AA2A-3057-6BD30C0833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965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0069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Background knowledge – We use our background knowledge and experiences to help us with our reading</a:t>
            </a:r>
          </a:p>
          <a:p>
            <a:r>
              <a:rPr lang="en-GB"/>
              <a:t>Vocabulary – we use new vocabulary when reading</a:t>
            </a:r>
          </a:p>
          <a:p>
            <a:r>
              <a:rPr lang="en-GB"/>
              <a:t>Fluency &amp; Expression – We read fluently and with expression to make our reading exciting</a:t>
            </a:r>
          </a:p>
          <a:p>
            <a:r>
              <a:rPr lang="en-GB"/>
              <a:t>Discuss &amp; explain thinking – We discuss and explain our thinking and understanding of our reading</a:t>
            </a:r>
          </a:p>
          <a:p>
            <a:r>
              <a:rPr lang="en-GB"/>
              <a:t>Read a wide range of texts – We read a wide range of texts at WFA</a:t>
            </a:r>
          </a:p>
          <a:p>
            <a:r>
              <a:rPr lang="en-GB"/>
              <a:t>Decoding and phonics – We use our phonics to help us decode and learn new words when we are reading</a:t>
            </a:r>
          </a:p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44987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90C4-3F63-5CE3-40C0-37C3972A60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53583-2126-636C-06E9-AC409DB69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94D933-7CA1-A8E0-3C7B-D224B6723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62738-39F3-90E4-2B16-74770B32C3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00050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791006-C5AD-CE9A-768D-97FEB0FA1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2B318E-FA05-39EA-68AF-6B9E723A00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AEEA19-065F-0F91-7D7E-3BF8823040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651696-B6F4-AA2A-3057-6BD30C0833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49657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E8E8B9-ADA3-45E0-8420-BE5E8FCCF1F7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10069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5A21D-2FCA-5103-944C-97A33EAB49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451915-D313-134F-3B39-E2202692B0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92851-C45E-2C62-1686-35F05261B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65C8CD-ED83-6186-0E09-D60B80110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1FC3CD-1629-3981-C514-EA809A6DA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3673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BF554-C9DF-1E20-73BD-9BEBF65F8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DEC16-6EFE-8F98-D786-F7FA33F73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F50926-EAE1-8CBC-B944-95606793B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DD0ED-4188-0860-8E6D-81E93458E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E27D8-31F7-1112-ED89-AD6BFC9E0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88792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5DCD8-D0E7-C7D8-C221-D51F0B681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4F57CA-859A-366E-BD81-B51EB9F3F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816810-0B04-441A-BDC2-5334A4ED6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7743A6-7DF3-3A54-9EA1-0818278D5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0B308D-ED7A-41CA-CE45-BFD4B52EE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9579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6C61B-06CA-A5BD-FF28-522B3C1C5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A4604E-C7F9-DE00-FC0E-9D0430CBD1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FC8481-8445-D097-8868-FEBEF36308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AA810B-D0B6-055B-A7B2-A91D931243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3AD80D6-ABB1-0B43-2EF6-728A9BF7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1F566E-8C59-14B0-1B4A-013D1919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1204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FD8B9-6D91-0488-0B6B-D8925368C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3EC770-FFE0-0BCE-D25B-ED842005CA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CAE04-0440-4429-84C8-7BB448E06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013C1A-78C5-C6A1-01F4-1F918414BE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5F05FB-98EA-3A71-20AF-C01DB3BD78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A7D365-8161-72FD-ABB1-1B60E1F31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C5E40-7DE8-3AB1-5251-3786AB7A8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8ECA8F-EE24-6FAE-06B6-EAB0AA8C8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855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1966A-38F6-03A2-7850-CBC3564D3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C653EE-AB8C-20D9-EBAD-D2C658811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8671EA-7A81-2488-CC64-F7AA1FA5B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3FA76E-F712-5B71-1F05-B2754EBC1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79631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7460A9-9D13-270B-29A4-50F492C07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1BD67B-379B-C75C-2673-E3D7E24073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27B918-0F9C-09A3-037D-B8A188A30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5542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DC67F-FB8D-658E-598C-C851430A8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FDB75E-8915-32DA-B58D-D893D6745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2C66A0-5168-1295-9EEA-6F4269952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C462D3-A952-91CB-DCE0-30ED606A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ECD06D-C0FC-9664-2ACD-9DF3C518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F2D1BB-BAD7-3C27-EF7C-8769CDC6F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460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3220F-DE75-7293-BA54-A820732EB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5A7D88C-152E-EE3F-9132-C786827FA5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B973C0-9031-5A51-8DC0-CD8C2DBD6F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C7FE28-2AB1-A1AE-1DC1-2891CD21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FC7DF7-EE0C-A96A-0A71-4A20704DA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F354D7-FA08-FBD4-1D6D-7C0D0115C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494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D6DE38-C159-DD3F-3419-061EC2706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A78D7-9DB6-9FE7-D6A5-0D8C511397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8ECF6-30BD-892C-0F30-CDFA8424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9E0C5A-96D4-3102-5A52-240B1FD84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C3AA66-3D0D-0085-C81D-088B39632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395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868FC3-86B3-8BF7-3C43-D7286B46EA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EA911C-6657-35D6-8679-F5861CAE8D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097C1-61F4-5117-4F0F-D1B0C16876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F7DD80-E551-6693-517F-57C80BD89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C51674-A2E1-4818-8900-91FBB812A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7567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45C16C3-8E98-21FD-43ED-3AA697B77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AA3022-3424-75B4-F2EC-7CEB8FA07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C25384-14A1-0395-EDE6-D2A60BCE49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72D5E0-039A-4068-97A9-A3C4BF080BAA}" type="datetimeFigureOut">
              <a:rPr lang="en-GB" smtClean="0"/>
              <a:t>15/07/2026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0F1D-4E4C-69C6-26A7-CE1716791C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34093-083B-3EA6-BBB8-95BE7409B0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D7094B-D2BC-452F-93E3-9C4A8FC9449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722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2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grid with black text  Description automatically generated">
            <a:extLst>
              <a:ext uri="{FF2B5EF4-FFF2-40B4-BE49-F238E27FC236}">
                <a16:creationId xmlns:a16="http://schemas.microsoft.com/office/drawing/2014/main" id="{1B42834E-5B1E-8CE4-BEEE-8784E10AE2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349" y="169879"/>
            <a:ext cx="10272264" cy="645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628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28150-E2BB-D124-E558-AC8A265F3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17477"/>
            <a:ext cx="12192000" cy="2387600"/>
          </a:xfrm>
        </p:spPr>
        <p:txBody>
          <a:bodyPr/>
          <a:lstStyle/>
          <a:p>
            <a:r>
              <a:rPr lang="en-GB">
                <a:latin typeface="Sassoon Infant Rg" panose="02000503030000020003" pitchFamily="2" charset="0"/>
              </a:rPr>
              <a:t>Being a Reader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3F8467-5724-D86C-FDA4-D49533DEC4F0}"/>
              </a:ext>
            </a:extLst>
          </p:cNvPr>
          <p:cNvGrpSpPr/>
          <p:nvPr/>
        </p:nvGrpSpPr>
        <p:grpSpPr>
          <a:xfrm>
            <a:off x="4810699" y="542637"/>
            <a:ext cx="2570602" cy="2802616"/>
            <a:chOff x="7629233" y="677174"/>
            <a:chExt cx="2090136" cy="2455590"/>
          </a:xfrm>
        </p:grpSpPr>
        <p:pic>
          <p:nvPicPr>
            <p:cNvPr id="5" name="Picture 8" descr="Reading Icon 2954745">
              <a:extLst>
                <a:ext uri="{FF2B5EF4-FFF2-40B4-BE49-F238E27FC236}">
                  <a16:creationId xmlns:a16="http://schemas.microsoft.com/office/drawing/2014/main" id="{2B1C2540-38D6-7D21-7288-1F3B60353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9233" y="1184735"/>
              <a:ext cx="2090136" cy="19480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F3344A5-4924-D3BC-68C4-52E2EB3B6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ackgroundRemoval t="6627" b="95181" l="4969" r="92547">
                          <a14:foregroundMark x1="43478" y1="94578" x2="43478" y2="94578"/>
                          <a14:foregroundMark x1="4969" y1="50602" x2="4969" y2="50602"/>
                          <a14:foregroundMark x1="16770" y1="19277" x2="16770" y2="19277"/>
                          <a14:foregroundMark x1="49689" y1="8434" x2="49689" y2="8434"/>
                          <a14:foregroundMark x1="80124" y1="19277" x2="80124" y2="19277"/>
                          <a14:foregroundMark x1="56522" y1="95783" x2="56522" y2="95783"/>
                          <a14:foregroundMark x1="89441" y1="49398" x2="89441" y2="49398"/>
                          <a14:foregroundMark x1="49689" y1="6627" x2="49689" y2="6627"/>
                          <a14:foregroundMark x1="92547" y1="49398" x2="92547" y2="49398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856582" y="677174"/>
              <a:ext cx="716760" cy="688774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B00753D-C189-01CA-44B1-B484F954D600}"/>
              </a:ext>
            </a:extLst>
          </p:cNvPr>
          <p:cNvSpPr txBox="1"/>
          <p:nvPr/>
        </p:nvSpPr>
        <p:spPr>
          <a:xfrm>
            <a:off x="0" y="4552141"/>
            <a:ext cx="121920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3200"/>
              <a:t>Vocabulary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356D1-4D69-6789-D9E9-77C69F82E055}"/>
              </a:ext>
            </a:extLst>
          </p:cNvPr>
          <p:cNvSpPr txBox="1"/>
          <p:nvPr/>
        </p:nvSpPr>
        <p:spPr>
          <a:xfrm>
            <a:off x="4423577" y="5199610"/>
            <a:ext cx="3329758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/>
              <a:t>Monday</a:t>
            </a:r>
          </a:p>
        </p:txBody>
      </p:sp>
    </p:spTree>
    <p:extLst>
      <p:ext uri="{BB962C8B-B14F-4D97-AF65-F5344CB8AC3E}">
        <p14:creationId xmlns:p14="http://schemas.microsoft.com/office/powerpoint/2010/main" val="317261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7DFFE-43F9-9789-7910-83BEEE3A38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3E87004-6E1A-D1FF-FF85-9A712A9BB7B3}"/>
              </a:ext>
            </a:extLst>
          </p:cNvPr>
          <p:cNvSpPr/>
          <p:nvPr/>
        </p:nvSpPr>
        <p:spPr>
          <a:xfrm>
            <a:off x="6476397" y="19821"/>
            <a:ext cx="5576138" cy="68183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1EF958-1030-773B-A7D6-6CEB89A8F58A}"/>
              </a:ext>
            </a:extLst>
          </p:cNvPr>
          <p:cNvSpPr txBox="1"/>
          <p:nvPr/>
        </p:nvSpPr>
        <p:spPr>
          <a:xfrm>
            <a:off x="6786658" y="-9273"/>
            <a:ext cx="483340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800" b="1" u="sng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Why do we learn to read?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B992496-7EDE-333E-5CB0-3C40245FED5D}"/>
              </a:ext>
            </a:extLst>
          </p:cNvPr>
          <p:cNvSpPr txBox="1"/>
          <p:nvPr/>
        </p:nvSpPr>
        <p:spPr>
          <a:xfrm>
            <a:off x="8246543" y="848912"/>
            <a:ext cx="3654961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Reading makes me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powerful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because it helps me to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understand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the world around me.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9FB5223-15E3-4844-7748-101D3E2F6D7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6896058" y="1151805"/>
            <a:ext cx="1350486" cy="16563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594475F-C636-A29B-742C-0F17DB69B1F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0650071" y="4324983"/>
            <a:ext cx="1251434" cy="17869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934D238-3C31-683C-09D6-F097B09592C0}"/>
              </a:ext>
            </a:extLst>
          </p:cNvPr>
          <p:cNvSpPr txBox="1"/>
          <p:nvPr/>
        </p:nvSpPr>
        <p:spPr>
          <a:xfrm>
            <a:off x="6786658" y="4022091"/>
            <a:ext cx="3863413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At Wallscourt Farm Academy:</a:t>
            </a:r>
          </a:p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We love to read, learn to read and read to learn!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8634C0-C6DD-1B8E-85A5-094729686C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79" y="568742"/>
            <a:ext cx="5645882" cy="56541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4200216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C2FE-E3EF-97C8-F7DC-C0A25E1D1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AA7E159-E28C-77BB-73A2-F381C7A908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1C39609-0D86-A5B7-4D8A-1F527D92392F}"/>
              </a:ext>
            </a:extLst>
          </p:cNvPr>
          <p:cNvGrpSpPr/>
          <p:nvPr/>
        </p:nvGrpSpPr>
        <p:grpSpPr>
          <a:xfrm>
            <a:off x="292072" y="239667"/>
            <a:ext cx="1145637" cy="1145637"/>
            <a:chOff x="5180554" y="1026138"/>
            <a:chExt cx="1316831" cy="131683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84199F61-4B0B-8E0F-2DB2-ED5EBBDF58E5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2" name="Oval 4">
              <a:extLst>
                <a:ext uri="{FF2B5EF4-FFF2-40B4-BE49-F238E27FC236}">
                  <a16:creationId xmlns:a16="http://schemas.microsoft.com/office/drawing/2014/main" id="{FC3196E5-5551-D86F-2179-6878DD23429F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BDA4AF79-C1C4-8EFA-F1F6-B418570C55CC}"/>
              </a:ext>
            </a:extLst>
          </p:cNvPr>
          <p:cNvSpPr txBox="1">
            <a:spLocks/>
          </p:cNvSpPr>
          <p:nvPr/>
        </p:nvSpPr>
        <p:spPr>
          <a:xfrm>
            <a:off x="-253388" y="85619"/>
            <a:ext cx="12153316" cy="129968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/>
              <a:t>Vocabulary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2EAE7E-9AF9-75F2-CFE5-9905D0F16B0E}"/>
              </a:ext>
            </a:extLst>
          </p:cNvPr>
          <p:cNvSpPr txBox="1"/>
          <p:nvPr/>
        </p:nvSpPr>
        <p:spPr>
          <a:xfrm>
            <a:off x="2442576" y="1217529"/>
            <a:ext cx="7503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Are there any words you feel confident to explain the meaning of (definition)? Are there any where you are less confident?</a:t>
            </a: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9464E341-C007-5632-B326-45797112ED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4407260"/>
              </p:ext>
            </p:extLst>
          </p:nvPr>
        </p:nvGraphicFramePr>
        <p:xfrm>
          <a:off x="647700" y="2173922"/>
          <a:ext cx="10663199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4160592141"/>
                    </a:ext>
                  </a:extLst>
                </a:gridCol>
                <a:gridCol w="9024899">
                  <a:extLst>
                    <a:ext uri="{9D8B030D-6E8A-4147-A177-3AD203B41FA5}">
                      <a16:colId xmlns:a16="http://schemas.microsoft.com/office/drawing/2014/main" val="3033414289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experiment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8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test that a scientist does carefully to find out if something is true.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344156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observe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 watch something very carefully to learn about it.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18729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solid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material that has a fixed shape and does not flow.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38106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liquid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material that flows and takes the shape of its container.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43447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temperature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How hot or cold something is, measured in degrees.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86570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E459C5E2-5BCA-E6D1-3FA2-4EE65FF057B2}"/>
              </a:ext>
            </a:extLst>
          </p:cNvPr>
          <p:cNvSpPr/>
          <p:nvPr/>
        </p:nvSpPr>
        <p:spPr>
          <a:xfrm>
            <a:off x="2312410" y="21739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/>
              <a:t>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78AAAA-9509-6BC5-9C3F-9C67043451B7}"/>
              </a:ext>
            </a:extLst>
          </p:cNvPr>
          <p:cNvSpPr/>
          <p:nvPr/>
        </p:nvSpPr>
        <p:spPr>
          <a:xfrm>
            <a:off x="2312410" y="28597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/>
              <a:t>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83E4D50-B122-CB47-766E-B5E7AC2451E9}"/>
              </a:ext>
            </a:extLst>
          </p:cNvPr>
          <p:cNvSpPr/>
          <p:nvPr/>
        </p:nvSpPr>
        <p:spPr>
          <a:xfrm>
            <a:off x="2312410" y="35455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/>
              <a:t>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499D47-C8D0-1D00-07CE-6BF9DF183DEF}"/>
              </a:ext>
            </a:extLst>
          </p:cNvPr>
          <p:cNvSpPr/>
          <p:nvPr/>
        </p:nvSpPr>
        <p:spPr>
          <a:xfrm>
            <a:off x="2312410" y="42313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/>
              <a:t>?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B71A36C-7A6A-7242-D64C-17151302D893}"/>
              </a:ext>
            </a:extLst>
          </p:cNvPr>
          <p:cNvSpPr/>
          <p:nvPr/>
        </p:nvSpPr>
        <p:spPr>
          <a:xfrm>
            <a:off x="2312410" y="49171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055174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5D4AD-39BF-E719-97C7-B9FE8F2F1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1EC62D8-35F3-692D-E010-0DC4232EB396}"/>
              </a:ext>
            </a:extLst>
          </p:cNvPr>
          <p:cNvGrpSpPr/>
          <p:nvPr/>
        </p:nvGrpSpPr>
        <p:grpSpPr>
          <a:xfrm>
            <a:off x="38684" y="68473"/>
            <a:ext cx="1316831" cy="1316831"/>
            <a:chOff x="5180554" y="1026138"/>
            <a:chExt cx="1316831" cy="131683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F8888C4F-1616-8D90-191F-5F1D6A12B17C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A3B5DDCC-932B-F66F-471E-38658DC395B0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733E3EE1-243D-DB63-04F2-FFCC4E6120EC}"/>
              </a:ext>
            </a:extLst>
          </p:cNvPr>
          <p:cNvSpPr txBox="1">
            <a:spLocks/>
          </p:cNvSpPr>
          <p:nvPr/>
        </p:nvSpPr>
        <p:spPr>
          <a:xfrm>
            <a:off x="2535882" y="918780"/>
            <a:ext cx="555924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GB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CF07E4-FAD7-AFAB-73D7-E54C6A426087}"/>
              </a:ext>
            </a:extLst>
          </p:cNvPr>
          <p:cNvSpPr txBox="1">
            <a:spLocks/>
          </p:cNvSpPr>
          <p:nvPr/>
        </p:nvSpPr>
        <p:spPr>
          <a:xfrm>
            <a:off x="0" y="85619"/>
            <a:ext cx="12192000" cy="149821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GB" sz="4000"/>
              <a:t>Vocabulary Focus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32B7159-F539-A363-45FE-8B91401BE68F}"/>
              </a:ext>
            </a:extLst>
          </p:cNvPr>
          <p:cNvSpPr txBox="1">
            <a:spLocks/>
          </p:cNvSpPr>
          <p:nvPr/>
        </p:nvSpPr>
        <p:spPr>
          <a:xfrm>
            <a:off x="5590032" y="604264"/>
            <a:ext cx="1873406" cy="979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GB" sz="4000" b="1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BDE9717-27F4-D48A-5961-BBB082A50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122683"/>
              </p:ext>
            </p:extLst>
          </p:nvPr>
        </p:nvGraphicFramePr>
        <p:xfrm>
          <a:off x="2032000" y="1727002"/>
          <a:ext cx="8128000" cy="4922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1132683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773647625"/>
                    </a:ext>
                  </a:extLst>
                </a:gridCol>
              </a:tblGrid>
              <a:tr h="2461426">
                <a:tc>
                  <a:txBody>
                    <a:bodyPr/>
                    <a:lstStyle/>
                    <a:p>
                      <a:r>
                        <a:rPr lang="en-GB" b="0">
                          <a:solidFill>
                            <a:schemeClr val="tx1"/>
                          </a:solidFill>
                        </a:rPr>
                        <a:t>Write it 5 times</a:t>
                      </a:r>
                    </a:p>
                    <a:p>
                      <a:endParaRPr lang="en-GB" sz="3200" b="0">
                        <a:solidFill>
                          <a:schemeClr val="tx1"/>
                        </a:solidFill>
                        <a:latin typeface="Twinkl Cursive Looped Light" panose="02000000000000000000" pitchFamily="2" charset="77"/>
                      </a:endParaRPr>
                    </a:p>
                    <a:p>
                      <a:pPr algn="ctr"/>
                      <a:r>
                        <a:rPr lang="en-GB" sz="3200" b="0">
                          <a:solidFill>
                            <a:schemeClr val="tx1"/>
                          </a:solidFill>
                          <a:latin typeface="Twinkl Cursive Looped Light" panose="02000000000000000000" pitchFamily="2" charset="77"/>
                        </a:rPr>
                        <a:t>observe</a:t>
                      </a:r>
                    </a:p>
                    <a:p>
                      <a:endParaRPr lang="en-GB" b="0">
                        <a:solidFill>
                          <a:schemeClr val="tx1"/>
                        </a:solidFill>
                        <a:latin typeface="XCCW Joined 4a" panose="03050602040000000000" pitchFamily="66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>
                          <a:solidFill>
                            <a:schemeClr val="tx1"/>
                          </a:solidFill>
                        </a:rPr>
                        <a:t>Use it in a sentence</a:t>
                      </a:r>
                    </a:p>
                    <a:p>
                      <a:endParaRPr lang="en-GB" sz="2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313380"/>
                  </a:ext>
                </a:extLst>
              </a:tr>
              <a:tr h="2461426">
                <a:tc gridSpan="2">
                  <a:txBody>
                    <a:bodyPr/>
                    <a:lstStyle/>
                    <a:p>
                      <a:r>
                        <a:rPr lang="en-GB">
                          <a:solidFill>
                            <a:schemeClr val="tx1"/>
                          </a:solidFill>
                        </a:rPr>
                        <a:t>Other linked 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72939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DCA91193-1537-0657-E11E-503EF19A61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4A4253D-E3B5-EFA7-4B1C-50AA791A86AA}"/>
              </a:ext>
            </a:extLst>
          </p:cNvPr>
          <p:cNvSpPr txBox="1"/>
          <p:nvPr/>
        </p:nvSpPr>
        <p:spPr>
          <a:xfrm>
            <a:off x="4788984" y="5296822"/>
            <a:ext cx="2400000" cy="48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GB"/>
              <a:t>observe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C8845E9-B967-EA4D-1D1A-9AF3DDA85380}"/>
              </a:ext>
            </a:extLst>
          </p:cNvPr>
          <p:cNvCxnSpPr/>
          <p:nvPr/>
        </p:nvCxnSpPr>
        <p:spPr>
          <a:xfrm flipV="1">
            <a:off x="6391527" y="4613658"/>
            <a:ext cx="807506" cy="7821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EB3BFB0-1A1A-2A77-4CC9-C8E227413B3E}"/>
              </a:ext>
            </a:extLst>
          </p:cNvPr>
          <p:cNvCxnSpPr>
            <a:cxnSpLocks/>
          </p:cNvCxnSpPr>
          <p:nvPr/>
        </p:nvCxnSpPr>
        <p:spPr>
          <a:xfrm>
            <a:off x="6532910" y="5656722"/>
            <a:ext cx="930528" cy="2169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F585B9-9A59-4AD6-3B99-DB66AC0BC1C7}"/>
              </a:ext>
            </a:extLst>
          </p:cNvPr>
          <p:cNvCxnSpPr>
            <a:cxnSpLocks/>
          </p:cNvCxnSpPr>
          <p:nvPr/>
        </p:nvCxnSpPr>
        <p:spPr>
          <a:xfrm flipV="1">
            <a:off x="4786339" y="5656722"/>
            <a:ext cx="791952" cy="565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E2FC65-99A3-B206-BA2E-B45AABD7E835}"/>
              </a:ext>
            </a:extLst>
          </p:cNvPr>
          <p:cNvCxnSpPr>
            <a:cxnSpLocks/>
          </p:cNvCxnSpPr>
          <p:nvPr/>
        </p:nvCxnSpPr>
        <p:spPr>
          <a:xfrm>
            <a:off x="4688753" y="5010683"/>
            <a:ext cx="852027" cy="3829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F0396BA-9A50-9215-C8CB-0B99470EF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757" y="2982841"/>
            <a:ext cx="3184743" cy="79457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943437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5969F-42F3-CF1B-BACC-500D36B4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164607-F416-6B33-CEB1-238026B8CC9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5" y="90546"/>
            <a:ext cx="1691129" cy="711848"/>
          </a:xfrm>
          <a:prstGeom prst="rect">
            <a:avLst/>
          </a:prstGeom>
        </p:spPr>
      </p:pic>
      <p:pic>
        <p:nvPicPr>
          <p:cNvPr id="30" name="Activity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21" y="939485"/>
            <a:ext cx="1656000" cy="1152000"/>
          </a:xfrm>
          <a:prstGeom prst="rect">
            <a:avLst/>
          </a:prstGeom>
        </p:spPr>
      </p:pic>
      <p:sp>
        <p:nvSpPr>
          <p:cNvPr id="31" name="ActivityText"/>
          <p:cNvSpPr txBox="1"/>
          <p:nvPr/>
        </p:nvSpPr>
        <p:spPr>
          <a:xfrm>
            <a:off x="1852421" y="939485"/>
            <a:ext cx="9092000" cy="14989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GB" sz="1800" b="1"/>
              <a:t>Fluency Activity</a:t>
            </a:r>
          </a:p>
          <a:p>
            <a:r>
              <a:rPr lang="en-GB" sz="1400"/>
              <a:t>Echo read: read the same section taking turns, then echo back exactly how your partner read it — matching their pace, expression and phrasing as closely as you can.</a:t>
            </a:r>
          </a:p>
        </p:txBody>
      </p:sp>
      <p:pic>
        <p:nvPicPr>
          <p:cNvPr id="21" name="RubricTa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78" y="2504555"/>
            <a:ext cx="11030400" cy="1609200"/>
          </a:xfrm>
          <a:prstGeom prst="rect">
            <a:avLst/>
          </a:prstGeom>
        </p:spPr>
      </p:pic>
      <p:sp>
        <p:nvSpPr>
          <p:cNvPr id="22" name="BgBox"/>
          <p:cNvSpPr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98538D7-B169-3DEA-6C8A-FF02A8B749B5}"/>
              </a:ext>
            </a:extLst>
          </p:cNvPr>
          <p:cNvSpPr txBox="1">
            <a:spLocks/>
          </p:cNvSpPr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</p:spPr>
        <p:txBody>
          <a:bodyPr wrap="square" rtlCol="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EAC09D9-E594-FE66-238B-BA5B06223F0B}"/>
              </a:ext>
            </a:extLst>
          </p:cNvPr>
          <p:cNvSpPr txBox="1"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Consider the correct volume for the audience that is listening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Consider parts of the text where specific expression is needed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Consider parts of the text where the volume should be louder or quieter</a:t>
            </a:r>
          </a:p>
          <a:p>
            <a:pPr marL="342900" indent="-342900">
              <a:buFont typeface="+mj-lt"/>
              <a:buAutoNum type="arabicPeriod"/>
            </a:pP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2554819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ldTgt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7023D4CD-427D-4829-87ED-E2CC3EF8D760}"/>
              </a:ext>
            </a:extLst>
          </p:cNvPr>
          <p:cNvSpPr/>
          <p:nvPr/>
        </p:nvSpPr>
        <p:spPr>
          <a:xfrm>
            <a:off x="2609369" y="1646785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35914BD-597C-4EC9-A8CC-64938F558A31}"/>
              </a:ext>
            </a:extLst>
          </p:cNvPr>
          <p:cNvSpPr/>
          <p:nvPr/>
        </p:nvSpPr>
        <p:spPr>
          <a:xfrm>
            <a:off x="2057663" y="2106659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E91008D-524B-4E64-AED8-DADBF402F1F1}"/>
              </a:ext>
            </a:extLst>
          </p:cNvPr>
          <p:cNvGrpSpPr/>
          <p:nvPr/>
        </p:nvGrpSpPr>
        <p:grpSpPr>
          <a:xfrm>
            <a:off x="3003018" y="1125085"/>
            <a:ext cx="1838188" cy="1169519"/>
            <a:chOff x="2644385" y="2866760"/>
            <a:chExt cx="1838188" cy="138452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3B1F94B5-AE2B-4839-8A01-9D2FC48647A0}"/>
                </a:ext>
              </a:extLst>
            </p:cNvPr>
            <p:cNvSpPr/>
            <p:nvPr/>
          </p:nvSpPr>
          <p:spPr>
            <a:xfrm>
              <a:off x="2644386" y="2866760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b="1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1F4601C-78F0-408A-BFB4-D2C386D5BE41}"/>
                </a:ext>
              </a:extLst>
            </p:cNvPr>
            <p:cNvSpPr txBox="1"/>
            <p:nvPr/>
          </p:nvSpPr>
          <p:spPr>
            <a:xfrm>
              <a:off x="2644385" y="3160918"/>
              <a:ext cx="1838187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What am I learning?</a:t>
              </a:r>
            </a:p>
          </p:txBody>
        </p:sp>
      </p:grpSp>
      <p:pic>
        <p:nvPicPr>
          <p:cNvPr id="11" name="Picture 10" descr="A picture containing room  Description automatically generated">
            <a:extLst>
              <a:ext uri="{FF2B5EF4-FFF2-40B4-BE49-F238E27FC236}">
                <a16:creationId xmlns:a16="http://schemas.microsoft.com/office/drawing/2014/main" id="{0F52BAE7-58D2-4ABA-B083-76155F063DF0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896" y="2018390"/>
            <a:ext cx="1451414" cy="2106656"/>
          </a:xfrm>
          <a:prstGeom prst="rect">
            <a:avLst/>
          </a:prstGeom>
          <a:ln>
            <a:noFill/>
          </a:ln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308B9F9-02B7-4539-8FBF-46AC5DCEA9AA}"/>
              </a:ext>
            </a:extLst>
          </p:cNvPr>
          <p:cNvSpPr/>
          <p:nvPr/>
        </p:nvSpPr>
        <p:spPr>
          <a:xfrm>
            <a:off x="2797615" y="2918463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A1CB78E-9D4B-4986-8879-83568C225091}"/>
              </a:ext>
            </a:extLst>
          </p:cNvPr>
          <p:cNvSpPr/>
          <p:nvPr/>
        </p:nvSpPr>
        <p:spPr>
          <a:xfrm>
            <a:off x="2458854" y="2918501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F45870B-7F74-4D54-8596-BFA710ED989D}"/>
              </a:ext>
            </a:extLst>
          </p:cNvPr>
          <p:cNvGrpSpPr/>
          <p:nvPr/>
        </p:nvGrpSpPr>
        <p:grpSpPr>
          <a:xfrm>
            <a:off x="3618760" y="2676281"/>
            <a:ext cx="2097602" cy="1251349"/>
            <a:chOff x="6125888" y="3028716"/>
            <a:chExt cx="1838187" cy="1384526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65950C-D815-47D7-8502-EDD27BCB7185}"/>
                </a:ext>
              </a:extLst>
            </p:cNvPr>
            <p:cNvSpPr/>
            <p:nvPr/>
          </p:nvSpPr>
          <p:spPr>
            <a:xfrm>
              <a:off x="6125888" y="3028716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b="1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616B4D3-C46F-48F5-8695-1B7F3A82ADA3}"/>
                </a:ext>
              </a:extLst>
            </p:cNvPr>
            <p:cNvSpPr txBox="1"/>
            <p:nvPr/>
          </p:nvSpPr>
          <p:spPr>
            <a:xfrm>
              <a:off x="6263965" y="3326148"/>
              <a:ext cx="1595765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Why am I learning this ?</a:t>
              </a:r>
            </a:p>
          </p:txBody>
        </p:sp>
      </p:grp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03BB604F-2FA6-4611-A323-4B2AD52B72FE}"/>
              </a:ext>
            </a:extLst>
          </p:cNvPr>
          <p:cNvSpPr/>
          <p:nvPr/>
        </p:nvSpPr>
        <p:spPr>
          <a:xfrm>
            <a:off x="2490079" y="3963955"/>
            <a:ext cx="200648" cy="240777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98215EB-E5DE-4419-AF3E-61B06E6ECF56}"/>
              </a:ext>
            </a:extLst>
          </p:cNvPr>
          <p:cNvSpPr/>
          <p:nvPr/>
        </p:nvSpPr>
        <p:spPr>
          <a:xfrm>
            <a:off x="2258697" y="3780606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002CF86-309B-4BC1-AAB4-D91F81D726FF}"/>
              </a:ext>
            </a:extLst>
          </p:cNvPr>
          <p:cNvSpPr txBox="1"/>
          <p:nvPr/>
        </p:nvSpPr>
        <p:spPr>
          <a:xfrm>
            <a:off x="5068949" y="1230333"/>
            <a:ext cx="5311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+mj-lt"/>
              </a:rPr>
              <a:t>I  am learning to find and extract information from within a text.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6F95318-6BA1-4E64-BFC4-CA399BC0C6E8}"/>
              </a:ext>
            </a:extLst>
          </p:cNvPr>
          <p:cNvSpPr/>
          <p:nvPr/>
        </p:nvSpPr>
        <p:spPr>
          <a:xfrm>
            <a:off x="5597291" y="4824722"/>
            <a:ext cx="558368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latin typeface="+mj-lt"/>
              </a:rPr>
              <a:t>I will show this by answering questions, making reference to the text.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08C31D-ED97-4B43-811F-A2D5B7EC5D3F}"/>
              </a:ext>
            </a:extLst>
          </p:cNvPr>
          <p:cNvGrpSpPr/>
          <p:nvPr/>
        </p:nvGrpSpPr>
        <p:grpSpPr>
          <a:xfrm>
            <a:off x="2968729" y="4615048"/>
            <a:ext cx="2401890" cy="1148058"/>
            <a:chOff x="10001131" y="2709337"/>
            <a:chExt cx="1838187" cy="110541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4A04811F-4042-449A-B9D1-E2A88F2EF32C}"/>
                </a:ext>
              </a:extLst>
            </p:cNvPr>
            <p:cNvSpPr/>
            <p:nvPr/>
          </p:nvSpPr>
          <p:spPr>
            <a:xfrm>
              <a:off x="10001131" y="2709337"/>
              <a:ext cx="1838187" cy="1105414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600" b="1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CFC6DFC-1FF7-406B-91CA-DEF258FBDA0F}"/>
                </a:ext>
              </a:extLst>
            </p:cNvPr>
            <p:cNvSpPr txBox="1"/>
            <p:nvPr/>
          </p:nvSpPr>
          <p:spPr>
            <a:xfrm>
              <a:off x="10146498" y="2857389"/>
              <a:ext cx="1547451" cy="62232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>
                  <a:latin typeface="Sassoon Primary Rg" panose="02000606020000020004" pitchFamily="2" charset="0"/>
                </a:rPr>
                <a:t>How will I know when I get there?</a:t>
              </a:r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5B068E6C-5697-4CD7-B539-8E733F24A280}"/>
              </a:ext>
            </a:extLst>
          </p:cNvPr>
          <p:cNvSpPr/>
          <p:nvPr/>
        </p:nvSpPr>
        <p:spPr>
          <a:xfrm>
            <a:off x="2767911" y="4261260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8ECF509-D074-4A96-BD14-1B7F8C9EF352}"/>
              </a:ext>
            </a:extLst>
          </p:cNvPr>
          <p:cNvSpPr/>
          <p:nvPr/>
        </p:nvSpPr>
        <p:spPr>
          <a:xfrm>
            <a:off x="3206304" y="2991789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E3884F2F-92E8-4449-B9C6-4BB79443B2D3}"/>
              </a:ext>
            </a:extLst>
          </p:cNvPr>
          <p:cNvSpPr/>
          <p:nvPr/>
        </p:nvSpPr>
        <p:spPr>
          <a:xfrm>
            <a:off x="2271587" y="1913146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230F3D-A112-7284-873F-C56C8ED18544}"/>
              </a:ext>
            </a:extLst>
          </p:cNvPr>
          <p:cNvSpPr txBox="1"/>
          <p:nvPr/>
        </p:nvSpPr>
        <p:spPr>
          <a:xfrm>
            <a:off x="5873925" y="2665439"/>
            <a:ext cx="55070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Sassoon Infant Rg" panose="02000503030000020003" pitchFamily="2" charset="0"/>
                <a:ea typeface="Sassoon Infant Rg" panose="02000503030000020003" pitchFamily="2" charset="0"/>
              </a:rPr>
              <a:t>I am learning this because it will help me to develop a clear understanding of what I am reading.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3BCCA52-B2F9-1150-2EC2-A8A910DE6CDF}"/>
              </a:ext>
            </a:extLst>
          </p:cNvPr>
          <p:cNvGrpSpPr/>
          <p:nvPr/>
        </p:nvGrpSpPr>
        <p:grpSpPr>
          <a:xfrm>
            <a:off x="10604358" y="118545"/>
            <a:ext cx="1530874" cy="2012378"/>
            <a:chOff x="8657485" y="829505"/>
            <a:chExt cx="1316831" cy="16688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DF1F7D1-5BF2-255E-1221-DF66584F31C4}"/>
                </a:ext>
              </a:extLst>
            </p:cNvPr>
            <p:cNvGrpSpPr/>
            <p:nvPr/>
          </p:nvGrpSpPr>
          <p:grpSpPr>
            <a:xfrm>
              <a:off x="8657485" y="829505"/>
              <a:ext cx="1316831" cy="1316831"/>
              <a:chOff x="3405584" y="4100477"/>
              <a:chExt cx="1316831" cy="1316831"/>
            </a:xfrm>
          </p:grpSpPr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36527B03-E8B0-B308-5625-5D60701BABC9}"/>
                  </a:ext>
                </a:extLst>
              </p:cNvPr>
              <p:cNvSpPr/>
              <p:nvPr/>
            </p:nvSpPr>
            <p:spPr>
              <a:xfrm>
                <a:off x="3405584" y="4100477"/>
                <a:ext cx="1316831" cy="1316831"/>
              </a:xfrm>
              <a:prstGeom prst="ellipse">
                <a:avLst/>
              </a:prstGeom>
              <a:solidFill>
                <a:srgbClr val="FFD5EE"/>
              </a:solidFill>
              <a:ln w="38100">
                <a:solidFill>
                  <a:srgbClr val="CD007A"/>
                </a:solidFill>
              </a:ln>
            </p:spPr>
            <p:style>
              <a:lnRef idx="2">
                <a:scrgbClr r="0" g="0" b="0"/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GB"/>
              </a:p>
            </p:txBody>
          </p:sp>
          <p:sp>
            <p:nvSpPr>
              <p:cNvPr id="32" name="Oval 4">
                <a:extLst>
                  <a:ext uri="{FF2B5EF4-FFF2-40B4-BE49-F238E27FC236}">
                    <a16:creationId xmlns:a16="http://schemas.microsoft.com/office/drawing/2014/main" id="{311692BE-7960-B1C4-FAA2-65AA32C03A40}"/>
                  </a:ext>
                </a:extLst>
              </p:cNvPr>
              <p:cNvSpPr txBox="1"/>
              <p:nvPr/>
            </p:nvSpPr>
            <p:spPr>
              <a:xfrm>
                <a:off x="3598429" y="4293322"/>
                <a:ext cx="931141" cy="931141"/>
              </a:xfrm>
              <a:prstGeom prst="rect">
                <a:avLst/>
              </a:prstGeom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spcFirstLastPara="0" vert="horz" wrap="square" lIns="15240" tIns="15240" rIns="15240" bIns="15240" numCol="1" spcCol="1270" anchor="ctr" anchorCtr="0">
                <a:noAutofit/>
              </a:bodyPr>
              <a:lstStyle/>
              <a:p>
                <a:pPr marL="0" lvl="0" indent="0" algn="ctr" defTabSz="533400">
                  <a:lnSpc>
                    <a:spcPct val="90000"/>
                  </a:lnSpc>
                  <a:spcBef>
                    <a:spcPct val="0"/>
                  </a:spcBef>
                  <a:spcAft>
                    <a:spcPct val="35000"/>
                  </a:spcAft>
                  <a:buNone/>
                </a:pPr>
                <a:r>
                  <a:rPr lang="en-GB" sz="1200" b="1" kern="1200">
                    <a:solidFill>
                      <a:srgbClr val="CD007A"/>
                    </a:solidFill>
                    <a:latin typeface="Sassoon Infant Rg" panose="02000503030000020003" pitchFamily="2" charset="0"/>
                    <a:ea typeface="Sassoon Infant Rg" panose="02000503030000020003" pitchFamily="2" charset="0"/>
                  </a:rPr>
                  <a:t>Discuss &amp; explain thinking &amp; understanding</a:t>
                </a:r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E3DBC74-DEF3-15BE-F488-6929DEE9B83C}"/>
                </a:ext>
              </a:extLst>
            </p:cNvPr>
            <p:cNvSpPr txBox="1"/>
            <p:nvPr/>
          </p:nvSpPr>
          <p:spPr>
            <a:xfrm>
              <a:off x="8826392" y="2243080"/>
              <a:ext cx="979015" cy="2552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1400" b="1">
                  <a:solidFill>
                    <a:srgbClr val="CD007A"/>
                  </a:solidFill>
                </a:rPr>
                <a:t>retrieve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7154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197D9-05FB-BB0E-18AE-F89F7039D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2E1A6B-D62C-DE68-6C72-EE2F25E755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28150-E2BB-D124-E558-AC8A265F3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17477"/>
            <a:ext cx="12192000" cy="2387600"/>
          </a:xfrm>
        </p:spPr>
        <p:txBody>
          <a:bodyPr/>
          <a:lstStyle/>
          <a:p>
            <a:r>
              <a:rPr lang="en-GB">
                <a:latin typeface="Sassoon Infant Rg" panose="02000503030000020003" pitchFamily="2" charset="0"/>
              </a:rPr>
              <a:t>Being a Reader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3F8467-5724-D86C-FDA4-D49533DEC4F0}"/>
              </a:ext>
            </a:extLst>
          </p:cNvPr>
          <p:cNvGrpSpPr/>
          <p:nvPr/>
        </p:nvGrpSpPr>
        <p:grpSpPr>
          <a:xfrm>
            <a:off x="4568895" y="211840"/>
            <a:ext cx="3039122" cy="3522775"/>
            <a:chOff x="7629233" y="677174"/>
            <a:chExt cx="2090136" cy="2455590"/>
          </a:xfrm>
        </p:grpSpPr>
        <p:pic>
          <p:nvPicPr>
            <p:cNvPr id="5" name="Picture 8" descr="Reading Icon 2954745">
              <a:extLst>
                <a:ext uri="{FF2B5EF4-FFF2-40B4-BE49-F238E27FC236}">
                  <a16:creationId xmlns:a16="http://schemas.microsoft.com/office/drawing/2014/main" id="{2B1C2540-38D6-7D21-7288-1F3B60353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9233" y="1184735"/>
              <a:ext cx="2090136" cy="19480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F3344A5-4924-D3BC-68C4-52E2EB3B6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627" b="95181" l="4969" r="92547">
                          <a14:foregroundMark x1="43478" y1="94578" x2="43478" y2="94578"/>
                          <a14:foregroundMark x1="4969" y1="50602" x2="4969" y2="50602"/>
                          <a14:foregroundMark x1="16770" y1="19277" x2="16770" y2="19277"/>
                          <a14:foregroundMark x1="49689" y1="8434" x2="49689" y2="8434"/>
                          <a14:foregroundMark x1="80124" y1="19277" x2="80124" y2="19277"/>
                          <a14:foregroundMark x1="56522" y1="95783" x2="56522" y2="95783"/>
                          <a14:foregroundMark x1="89441" y1="49398" x2="89441" y2="49398"/>
                          <a14:foregroundMark x1="49689" y1="6627" x2="49689" y2="6627"/>
                          <a14:foregroundMark x1="92547" y1="49398" x2="92547" y2="49398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856582" y="677174"/>
              <a:ext cx="716760" cy="688774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A1DE16-8C7B-4868-2DE3-9C9C7D7D4324}"/>
              </a:ext>
            </a:extLst>
          </p:cNvPr>
          <p:cNvSpPr txBox="1"/>
          <p:nvPr/>
        </p:nvSpPr>
        <p:spPr>
          <a:xfrm>
            <a:off x="0" y="455214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/>
              <a:t>Retrieval</a:t>
            </a:r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8F8C8-4B63-E425-87CE-D13C91BCA056}"/>
              </a:ext>
            </a:extLst>
          </p:cNvPr>
          <p:cNvSpPr txBox="1"/>
          <p:nvPr/>
        </p:nvSpPr>
        <p:spPr>
          <a:xfrm>
            <a:off x="4423577" y="5199610"/>
            <a:ext cx="3329758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/>
              <a:t>Wednesday</a:t>
            </a:r>
          </a:p>
        </p:txBody>
      </p:sp>
    </p:spTree>
    <p:extLst>
      <p:ext uri="{BB962C8B-B14F-4D97-AF65-F5344CB8AC3E}">
        <p14:creationId xmlns:p14="http://schemas.microsoft.com/office/powerpoint/2010/main" val="3303693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ACEAB2A-6943-1061-22CF-9EC0847829D7}"/>
              </a:ext>
            </a:extLst>
          </p:cNvPr>
          <p:cNvSpPr/>
          <p:nvPr/>
        </p:nvSpPr>
        <p:spPr>
          <a:xfrm>
            <a:off x="6476397" y="19821"/>
            <a:ext cx="5576138" cy="68183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E78A-07A9-5FF3-9D78-C0D9D21EEFB2}"/>
              </a:ext>
            </a:extLst>
          </p:cNvPr>
          <p:cNvSpPr txBox="1"/>
          <p:nvPr/>
        </p:nvSpPr>
        <p:spPr>
          <a:xfrm>
            <a:off x="6786658" y="-9273"/>
            <a:ext cx="483340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800" b="1" u="sng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Why do we learn to read?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D2B17F-CF26-33D2-B6F6-70299CA1A763}"/>
              </a:ext>
            </a:extLst>
          </p:cNvPr>
          <p:cNvSpPr txBox="1"/>
          <p:nvPr/>
        </p:nvSpPr>
        <p:spPr>
          <a:xfrm>
            <a:off x="8246543" y="848912"/>
            <a:ext cx="3654961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Reading makes me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powerful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because it helps me to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understand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the world around me.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F6A32D-163D-40C2-BACF-C964E0035D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6896058" y="1151805"/>
            <a:ext cx="1350486" cy="16563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5D9A8A-09E0-BBBE-0C18-2E1880E5277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0650071" y="4324983"/>
            <a:ext cx="1251434" cy="17869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50C5C2B-42CC-39EC-6847-EE394E29BB3C}"/>
              </a:ext>
            </a:extLst>
          </p:cNvPr>
          <p:cNvSpPr txBox="1"/>
          <p:nvPr/>
        </p:nvSpPr>
        <p:spPr>
          <a:xfrm>
            <a:off x="6786658" y="4022091"/>
            <a:ext cx="3863413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At Wallscourt Farm Academy:</a:t>
            </a:r>
          </a:p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We love to read, learn to read and read to learn!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1AB0E8-B43D-DFDE-C896-2046E6E61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79" y="568742"/>
            <a:ext cx="5645882" cy="56541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55788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3C5AD-3309-A9A5-F848-B93CB7BC5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9D8A55-04E7-0528-A165-9FB98DB89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E1FDC99-0FE5-B42D-815D-42276802132E}"/>
              </a:ext>
            </a:extLst>
          </p:cNvPr>
          <p:cNvGrpSpPr/>
          <p:nvPr/>
        </p:nvGrpSpPr>
        <p:grpSpPr>
          <a:xfrm>
            <a:off x="292072" y="239667"/>
            <a:ext cx="1145637" cy="1145637"/>
            <a:chOff x="5180554" y="1026138"/>
            <a:chExt cx="1316831" cy="131683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5DC868-7EB8-4F7D-7DAE-A2A8DBE0A208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2" name="Oval 4">
              <a:extLst>
                <a:ext uri="{FF2B5EF4-FFF2-40B4-BE49-F238E27FC236}">
                  <a16:creationId xmlns:a16="http://schemas.microsoft.com/office/drawing/2014/main" id="{DACB8AB4-1258-EA30-31A5-77EEA5A000F2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659AE26C-55EC-A139-FEFB-5E8B79ECFD3A}"/>
              </a:ext>
            </a:extLst>
          </p:cNvPr>
          <p:cNvSpPr txBox="1">
            <a:spLocks/>
          </p:cNvSpPr>
          <p:nvPr/>
        </p:nvSpPr>
        <p:spPr>
          <a:xfrm>
            <a:off x="-253388" y="85619"/>
            <a:ext cx="12153316" cy="129968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/>
              <a:t>Vocabulary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6FA3C6-53FE-7451-6D4F-7009D38010D4}"/>
              </a:ext>
            </a:extLst>
          </p:cNvPr>
          <p:cNvSpPr txBox="1"/>
          <p:nvPr/>
        </p:nvSpPr>
        <p:spPr>
          <a:xfrm>
            <a:off x="2442576" y="1217529"/>
            <a:ext cx="7503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Are there any words you feel confident to explain the meaning of (definition)? Are there any where you are less confident?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D7A6C68-D614-2377-056B-781707D2F236}"/>
              </a:ext>
            </a:extLst>
          </p:cNvPr>
          <p:cNvGraphicFramePr>
            <a:graphicFrameLocks noGrp="1"/>
          </p:cNvGraphicFramePr>
          <p:nvPr/>
        </p:nvGraphicFramePr>
        <p:xfrm>
          <a:off x="647700" y="2173922"/>
          <a:ext cx="10663199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4160592141"/>
                    </a:ext>
                  </a:extLst>
                </a:gridCol>
                <a:gridCol w="9024899">
                  <a:extLst>
                    <a:ext uri="{9D8B030D-6E8A-4147-A177-3AD203B41FA5}">
                      <a16:colId xmlns:a16="http://schemas.microsoft.com/office/drawing/2014/main" val="3033414289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procedure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set of steps followed in a certain order to complete a task.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344156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equipment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The tools and materials needed to carry out an experiment.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18729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beaker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glass container with a flat bottom used in science experiments.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38106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record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 write down information so it is not forgotten.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43447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prediction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sensible guess about what will happen before an experiment begins.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86570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114E80EC-EDEA-A9B8-0AA7-BDF4DBA738D9}"/>
              </a:ext>
            </a:extLst>
          </p:cNvPr>
          <p:cNvSpPr/>
          <p:nvPr/>
        </p:nvSpPr>
        <p:spPr>
          <a:xfrm>
            <a:off x="2312410" y="21739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F9C0CB-B38A-8B6C-0680-46BD300AE1DC}"/>
              </a:ext>
            </a:extLst>
          </p:cNvPr>
          <p:cNvSpPr/>
          <p:nvPr/>
        </p:nvSpPr>
        <p:spPr>
          <a:xfrm>
            <a:off x="2312410" y="28597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F34747-0A22-7E80-CA39-94571BB7D672}"/>
              </a:ext>
            </a:extLst>
          </p:cNvPr>
          <p:cNvSpPr/>
          <p:nvPr/>
        </p:nvSpPr>
        <p:spPr>
          <a:xfrm>
            <a:off x="2312410" y="35455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910803-A54A-5B45-8345-8FFD7AC1C67C}"/>
              </a:ext>
            </a:extLst>
          </p:cNvPr>
          <p:cNvSpPr/>
          <p:nvPr/>
        </p:nvSpPr>
        <p:spPr>
          <a:xfrm>
            <a:off x="2312410" y="42313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05B3E1-CB09-5A78-B03C-31610DE59A67}"/>
              </a:ext>
            </a:extLst>
          </p:cNvPr>
          <p:cNvSpPr/>
          <p:nvPr/>
        </p:nvSpPr>
        <p:spPr>
          <a:xfrm>
            <a:off x="2312410" y="49171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8723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  <p:bldLst>
      <p:bldP spid="16" grpId="0" animBg="1"/>
      <p:bldP spid="13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C497C-5676-F0CE-9C15-81908FA1F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CBDDC3-E8B4-5DB7-95EB-E4EB767438DF}"/>
              </a:ext>
            </a:extLst>
          </p:cNvPr>
          <p:cNvGrpSpPr/>
          <p:nvPr/>
        </p:nvGrpSpPr>
        <p:grpSpPr>
          <a:xfrm>
            <a:off x="38684" y="68473"/>
            <a:ext cx="1316831" cy="1316831"/>
            <a:chOff x="5180554" y="1026138"/>
            <a:chExt cx="1316831" cy="131683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D7EC211-6C19-B85F-7D0D-25A8FEEA3637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6358CBDE-7D41-F226-3072-41F208B4D98A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9CDE4E57-6664-84F7-C8E9-8F4381A4D091}"/>
              </a:ext>
            </a:extLst>
          </p:cNvPr>
          <p:cNvSpPr txBox="1">
            <a:spLocks/>
          </p:cNvSpPr>
          <p:nvPr/>
        </p:nvSpPr>
        <p:spPr>
          <a:xfrm>
            <a:off x="2535882" y="918780"/>
            <a:ext cx="555924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GB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B86A135-C8BF-2285-F3AA-0B4C5706CE90}"/>
              </a:ext>
            </a:extLst>
          </p:cNvPr>
          <p:cNvSpPr txBox="1">
            <a:spLocks/>
          </p:cNvSpPr>
          <p:nvPr/>
        </p:nvSpPr>
        <p:spPr>
          <a:xfrm>
            <a:off x="0" y="85619"/>
            <a:ext cx="12192000" cy="149821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GB" sz="4000"/>
              <a:t>Vocabulary Focus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7FF75F1-41FF-EEA3-B802-ED64112A7D02}"/>
              </a:ext>
            </a:extLst>
          </p:cNvPr>
          <p:cNvSpPr txBox="1">
            <a:spLocks/>
          </p:cNvSpPr>
          <p:nvPr/>
        </p:nvSpPr>
        <p:spPr>
          <a:xfrm>
            <a:off x="5590032" y="604264"/>
            <a:ext cx="1873406" cy="979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GB" sz="4000" b="1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8F68A2F-1F77-2878-BCF5-883045F2802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727002"/>
          <a:ext cx="8128000" cy="4922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1132683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773647625"/>
                    </a:ext>
                  </a:extLst>
                </a:gridCol>
              </a:tblGrid>
              <a:tr h="2461426">
                <a:tc>
                  <a:txBody>
                    <a:bodyPr/>
                    <a:lstStyle/>
                    <a:p>
                      <a:r>
                        <a:rPr lang="en-GB" b="0">
                          <a:solidFill>
                            <a:schemeClr val="tx1"/>
                          </a:solidFill>
                        </a:rPr>
                        <a:t>Write it 5 times</a:t>
                      </a:r>
                    </a:p>
                    <a:p>
                      <a:endParaRPr lang="en-GB" b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GB" sz="3200" b="0">
                          <a:solidFill>
                            <a:schemeClr val="tx1"/>
                          </a:solidFill>
                          <a:latin typeface="XCCW Joined 4a" panose="03050602040000000000" pitchFamily="66" charset="77"/>
                        </a:rPr>
                        <a:t>procedure</a:t>
                      </a:r>
                    </a:p>
                    <a:p>
                      <a:endParaRPr lang="en-GB" b="0">
                        <a:solidFill>
                          <a:schemeClr val="tx1"/>
                        </a:solidFill>
                        <a:latin typeface="XCCW Joined 4a" panose="03050602040000000000" pitchFamily="66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>
                          <a:solidFill>
                            <a:schemeClr val="tx1"/>
                          </a:solidFill>
                        </a:rPr>
                        <a:t>Use it in a sentence</a:t>
                      </a:r>
                    </a:p>
                    <a:p>
                      <a:endParaRPr lang="en-GB" sz="2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313380"/>
                  </a:ext>
                </a:extLst>
              </a:tr>
              <a:tr h="2461426">
                <a:tc gridSpan="2">
                  <a:txBody>
                    <a:bodyPr/>
                    <a:lstStyle/>
                    <a:p>
                      <a:r>
                        <a:rPr lang="en-GB">
                          <a:solidFill>
                            <a:schemeClr val="tx1"/>
                          </a:solidFill>
                        </a:rPr>
                        <a:t>Other linked 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72939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55B9240-8989-B9DB-0B3B-B8D062E07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04627B-45D6-BE36-7042-C69B53AD1828}"/>
              </a:ext>
            </a:extLst>
          </p:cNvPr>
          <p:cNvSpPr txBox="1"/>
          <p:nvPr/>
        </p:nvSpPr>
        <p:spPr>
          <a:xfrm>
            <a:off x="4766154" y="5299847"/>
            <a:ext cx="2400000" cy="48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GB"/>
              <a:t>procedure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3F9876-11CA-68D4-B5B9-503CB1452DDF}"/>
              </a:ext>
            </a:extLst>
          </p:cNvPr>
          <p:cNvCxnSpPr/>
          <p:nvPr/>
        </p:nvCxnSpPr>
        <p:spPr>
          <a:xfrm flipV="1">
            <a:off x="6391527" y="4613658"/>
            <a:ext cx="807506" cy="7821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7DD069-433E-BF48-9167-8E5BCC114624}"/>
              </a:ext>
            </a:extLst>
          </p:cNvPr>
          <p:cNvCxnSpPr>
            <a:cxnSpLocks/>
          </p:cNvCxnSpPr>
          <p:nvPr/>
        </p:nvCxnSpPr>
        <p:spPr>
          <a:xfrm>
            <a:off x="6532910" y="5656722"/>
            <a:ext cx="930528" cy="2169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37026A-B5E7-A43B-7015-F91BED67059F}"/>
              </a:ext>
            </a:extLst>
          </p:cNvPr>
          <p:cNvCxnSpPr>
            <a:cxnSpLocks/>
          </p:cNvCxnSpPr>
          <p:nvPr/>
        </p:nvCxnSpPr>
        <p:spPr>
          <a:xfrm flipV="1">
            <a:off x="4786339" y="5656722"/>
            <a:ext cx="791952" cy="565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576966-8817-48AF-F837-0832462F5E46}"/>
              </a:ext>
            </a:extLst>
          </p:cNvPr>
          <p:cNvCxnSpPr>
            <a:cxnSpLocks/>
          </p:cNvCxnSpPr>
          <p:nvPr/>
        </p:nvCxnSpPr>
        <p:spPr>
          <a:xfrm>
            <a:off x="4688753" y="5010683"/>
            <a:ext cx="852027" cy="3829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6EE6038E-2E20-39E1-51AA-382FB77B2D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757" y="2982841"/>
            <a:ext cx="3184743" cy="79457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9342315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5969F-42F3-CF1B-BACC-500D36B4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164607-F416-6B33-CEB1-238026B8CC9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5" y="90546"/>
            <a:ext cx="1691129" cy="711848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FDB3BEB-0563-28A6-9CAE-FC32A90283E1}"/>
              </a:ext>
            </a:extLst>
          </p:cNvPr>
          <p:cNvSpPr/>
          <p:nvPr/>
        </p:nvSpPr>
        <p:spPr>
          <a:xfrm>
            <a:off x="8019658" y="6325456"/>
            <a:ext cx="4026568" cy="431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Show / Hide Extract</a:t>
            </a:r>
          </a:p>
        </p:txBody>
      </p:sp>
      <p:pic>
        <p:nvPicPr>
          <p:cNvPr id="30" name="Activity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21" y="939485"/>
            <a:ext cx="1656000" cy="1152000"/>
          </a:xfrm>
          <a:prstGeom prst="rect">
            <a:avLst/>
          </a:prstGeom>
        </p:spPr>
      </p:pic>
      <p:sp>
        <p:nvSpPr>
          <p:cNvPr id="31" name="ActivityText"/>
          <p:cNvSpPr txBox="1"/>
          <p:nvPr/>
        </p:nvSpPr>
        <p:spPr>
          <a:xfrm>
            <a:off x="1852421" y="939485"/>
            <a:ext cx="9092000" cy="14989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GB" sz="1800" b="1"/>
              <a:t>Fluency Activity</a:t>
            </a:r>
          </a:p>
          <a:p>
            <a:r>
              <a:rPr lang="en-GB" sz="1400"/>
              <a:t>Chunk it: before reading, partners agree where to pause by marking phrase boundaries on the page. Read together pausing at the same points, then discuss whether the pauses helped the meaning land.</a:t>
            </a:r>
          </a:p>
        </p:txBody>
      </p:sp>
      <p:pic>
        <p:nvPicPr>
          <p:cNvPr id="21" name="RubricTa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78" y="2504555"/>
            <a:ext cx="11030400" cy="1609200"/>
          </a:xfrm>
          <a:prstGeom prst="rect">
            <a:avLst/>
          </a:prstGeom>
        </p:spPr>
      </p:pic>
      <p:sp>
        <p:nvSpPr>
          <p:cNvPr id="22" name="BgBox"/>
          <p:cNvSpPr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98538D7-B169-3DEA-6C8A-FF02A8B749B5}"/>
              </a:ext>
            </a:extLst>
          </p:cNvPr>
          <p:cNvSpPr txBox="1">
            <a:spLocks/>
          </p:cNvSpPr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</p:spPr>
        <p:txBody>
          <a:bodyPr wrap="square" rtlCol="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94F51B-5104-8052-AF67-C1A4581BDF7E}"/>
              </a:ext>
            </a:extLst>
          </p:cNvPr>
          <p:cNvSpPr txBox="1"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Make words flow into each other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Use the punctuation to pause or stop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Adapt your rhythm to the text (fast pace, slow pace…)</a:t>
            </a:r>
          </a:p>
        </p:txBody>
      </p:sp>
      <p:sp>
        <p:nvSpPr>
          <p:cNvPr id="40" name="ExtractBox"/>
          <p:cNvSpPr txBox="1"/>
          <p:nvPr/>
        </p:nvSpPr>
        <p:spPr>
          <a:xfrm>
            <a:off x="30000" y="784800"/>
            <a:ext cx="12132000" cy="550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 anchor="t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2554819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  <p:seq concurrent="1" nextAc="seek">
              <p:cTn id="4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presetID="1" presetClass="exit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40" grpId="0" animBg="1"/>
      <p:bldP spid="40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15917-BDE9-A483-7A0D-AC15BA636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3AA9AF-9E3C-B821-0C95-D4AA63DFFCBB}"/>
              </a:ext>
            </a:extLst>
          </p:cNvPr>
          <p:cNvSpPr/>
          <p:nvPr/>
        </p:nvSpPr>
        <p:spPr>
          <a:xfrm>
            <a:off x="2609369" y="1646785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8D8944-1BCF-D4B0-7DAF-EF76646CCF50}"/>
              </a:ext>
            </a:extLst>
          </p:cNvPr>
          <p:cNvSpPr/>
          <p:nvPr/>
        </p:nvSpPr>
        <p:spPr>
          <a:xfrm>
            <a:off x="2057663" y="2106659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EE8B722-85CC-7111-AF8B-97EEBEE9A272}"/>
              </a:ext>
            </a:extLst>
          </p:cNvPr>
          <p:cNvGrpSpPr/>
          <p:nvPr/>
        </p:nvGrpSpPr>
        <p:grpSpPr>
          <a:xfrm>
            <a:off x="3003018" y="1125085"/>
            <a:ext cx="1838188" cy="1169519"/>
            <a:chOff x="2644385" y="2866760"/>
            <a:chExt cx="1838188" cy="138452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D3569E1-8E04-B7BA-0398-4180BE3B0EE3}"/>
                </a:ext>
              </a:extLst>
            </p:cNvPr>
            <p:cNvSpPr/>
            <p:nvPr/>
          </p:nvSpPr>
          <p:spPr>
            <a:xfrm>
              <a:off x="2644386" y="2866760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b="1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FC19485-EC34-F070-3B3F-978F61587575}"/>
                </a:ext>
              </a:extLst>
            </p:cNvPr>
            <p:cNvSpPr txBox="1"/>
            <p:nvPr/>
          </p:nvSpPr>
          <p:spPr>
            <a:xfrm>
              <a:off x="2644385" y="3160918"/>
              <a:ext cx="1838187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What am I learning?</a:t>
              </a:r>
            </a:p>
          </p:txBody>
        </p:sp>
      </p:grpSp>
      <p:pic>
        <p:nvPicPr>
          <p:cNvPr id="11" name="Picture 10" descr="A picture containing room  Description automatically generated">
            <a:extLst>
              <a:ext uri="{FF2B5EF4-FFF2-40B4-BE49-F238E27FC236}">
                <a16:creationId xmlns:a16="http://schemas.microsoft.com/office/drawing/2014/main" id="{3C0DDE4A-9E8B-5BE3-65C1-A3FA2705ACB2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896" y="2018390"/>
            <a:ext cx="1451414" cy="2106656"/>
          </a:xfrm>
          <a:prstGeom prst="rect">
            <a:avLst/>
          </a:prstGeom>
          <a:ln>
            <a:noFill/>
          </a:ln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0F1A2A6-045F-00C7-688E-E6D0A25D5652}"/>
              </a:ext>
            </a:extLst>
          </p:cNvPr>
          <p:cNvSpPr/>
          <p:nvPr/>
        </p:nvSpPr>
        <p:spPr>
          <a:xfrm>
            <a:off x="2797615" y="2918463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08A8433-A9BE-1E56-2965-99A3B5625947}"/>
              </a:ext>
            </a:extLst>
          </p:cNvPr>
          <p:cNvSpPr/>
          <p:nvPr/>
        </p:nvSpPr>
        <p:spPr>
          <a:xfrm>
            <a:off x="2458854" y="2918501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A24A2D-2408-EB9E-5F70-46F514294503}"/>
              </a:ext>
            </a:extLst>
          </p:cNvPr>
          <p:cNvGrpSpPr/>
          <p:nvPr/>
        </p:nvGrpSpPr>
        <p:grpSpPr>
          <a:xfrm>
            <a:off x="3618760" y="2676281"/>
            <a:ext cx="2097602" cy="1251349"/>
            <a:chOff x="6125888" y="3028716"/>
            <a:chExt cx="1838187" cy="1384526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946C962-D08C-0F71-45B1-FA00B59721B8}"/>
                </a:ext>
              </a:extLst>
            </p:cNvPr>
            <p:cNvSpPr/>
            <p:nvPr/>
          </p:nvSpPr>
          <p:spPr>
            <a:xfrm>
              <a:off x="6125888" y="3028716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b="1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0E1483D-26A7-A33B-B0CD-B1044C4A76B4}"/>
                </a:ext>
              </a:extLst>
            </p:cNvPr>
            <p:cNvSpPr txBox="1"/>
            <p:nvPr/>
          </p:nvSpPr>
          <p:spPr>
            <a:xfrm>
              <a:off x="6263965" y="3326148"/>
              <a:ext cx="1595765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Why am I learning this ?</a:t>
              </a:r>
            </a:p>
          </p:txBody>
        </p:sp>
      </p:grp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D4713C7-97EE-A5B0-8FC6-4CE70EA350BC}"/>
              </a:ext>
            </a:extLst>
          </p:cNvPr>
          <p:cNvSpPr/>
          <p:nvPr/>
        </p:nvSpPr>
        <p:spPr>
          <a:xfrm>
            <a:off x="2490079" y="3963955"/>
            <a:ext cx="200648" cy="240777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2843B94-CA11-5143-DFB7-BE14CB303150}"/>
              </a:ext>
            </a:extLst>
          </p:cNvPr>
          <p:cNvSpPr/>
          <p:nvPr/>
        </p:nvSpPr>
        <p:spPr>
          <a:xfrm>
            <a:off x="2258697" y="3780606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A984DD-4FC4-64A0-887A-0A817B977071}"/>
              </a:ext>
            </a:extLst>
          </p:cNvPr>
          <p:cNvSpPr txBox="1"/>
          <p:nvPr/>
        </p:nvSpPr>
        <p:spPr>
          <a:xfrm>
            <a:off x="5068949" y="1230333"/>
            <a:ext cx="5311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+mj-lt"/>
              </a:rPr>
              <a:t>I  am learning to understand and take meaning from a text.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23222B-35F4-3CDC-5FEA-1C58CE4A933A}"/>
              </a:ext>
            </a:extLst>
          </p:cNvPr>
          <p:cNvSpPr/>
          <p:nvPr/>
        </p:nvSpPr>
        <p:spPr>
          <a:xfrm>
            <a:off x="5597291" y="4824722"/>
            <a:ext cx="55836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latin typeface="+mj-lt"/>
              </a:rPr>
              <a:t>I will show this by answering questions which relate to the vocabulary used throughout the text.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FA508C-6CB1-E76E-F0A8-B64E6C4CD90D}"/>
              </a:ext>
            </a:extLst>
          </p:cNvPr>
          <p:cNvGrpSpPr/>
          <p:nvPr/>
        </p:nvGrpSpPr>
        <p:grpSpPr>
          <a:xfrm>
            <a:off x="2968729" y="4615048"/>
            <a:ext cx="2401890" cy="1148058"/>
            <a:chOff x="10001131" y="2709337"/>
            <a:chExt cx="1838187" cy="110541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F558219-13F1-436A-59AF-11B90D95ABA1}"/>
                </a:ext>
              </a:extLst>
            </p:cNvPr>
            <p:cNvSpPr/>
            <p:nvPr/>
          </p:nvSpPr>
          <p:spPr>
            <a:xfrm>
              <a:off x="10001131" y="2709337"/>
              <a:ext cx="1838187" cy="1105414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600" b="1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3569914-364A-6AF1-85F1-0BFCF4FDB1A8}"/>
                </a:ext>
              </a:extLst>
            </p:cNvPr>
            <p:cNvSpPr txBox="1"/>
            <p:nvPr/>
          </p:nvSpPr>
          <p:spPr>
            <a:xfrm>
              <a:off x="10146498" y="2857389"/>
              <a:ext cx="1547451" cy="62232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>
                  <a:latin typeface="Sassoon Primary Rg" panose="02000606020000020004" pitchFamily="2" charset="0"/>
                </a:rPr>
                <a:t>How will I know when I get there?</a:t>
              </a:r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90D4CDA-08E3-0ED1-C1FB-0242710F0D9A}"/>
              </a:ext>
            </a:extLst>
          </p:cNvPr>
          <p:cNvSpPr/>
          <p:nvPr/>
        </p:nvSpPr>
        <p:spPr>
          <a:xfrm>
            <a:off x="2767911" y="4261260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139F2B2-DE54-7CE1-CCBE-1C4164F07AC7}"/>
              </a:ext>
            </a:extLst>
          </p:cNvPr>
          <p:cNvSpPr/>
          <p:nvPr/>
        </p:nvSpPr>
        <p:spPr>
          <a:xfrm>
            <a:off x="3206304" y="2991789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721B1AA3-17DD-506B-9B14-CDFF5EA0BECB}"/>
              </a:ext>
            </a:extLst>
          </p:cNvPr>
          <p:cNvSpPr/>
          <p:nvPr/>
        </p:nvSpPr>
        <p:spPr>
          <a:xfrm>
            <a:off x="2271587" y="1913146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69BFB0-E1DC-E3FA-6EA3-821A27D46522}"/>
              </a:ext>
            </a:extLst>
          </p:cNvPr>
          <p:cNvSpPr txBox="1"/>
          <p:nvPr/>
        </p:nvSpPr>
        <p:spPr>
          <a:xfrm>
            <a:off x="5873925" y="2665439"/>
            <a:ext cx="55070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Sassoon Infant Rg" panose="02000503030000020003" pitchFamily="2" charset="0"/>
                <a:ea typeface="Sassoon Infant Rg" panose="02000503030000020003" pitchFamily="2" charset="0"/>
              </a:rPr>
              <a:t>I am learning this because it will help me to develop my understanding of vocabulary at a sentence and text level.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B1D5BFC-9C6F-78FE-BB55-8A787A315711}"/>
              </a:ext>
            </a:extLst>
          </p:cNvPr>
          <p:cNvGrpSpPr/>
          <p:nvPr/>
        </p:nvGrpSpPr>
        <p:grpSpPr>
          <a:xfrm>
            <a:off x="10607910" y="233361"/>
            <a:ext cx="1316831" cy="1316831"/>
            <a:chOff x="5180554" y="1026138"/>
            <a:chExt cx="1316831" cy="131683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0C90C35-E0BE-7AD4-92BC-8EFF113E4DB8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1" name="Oval 4">
              <a:extLst>
                <a:ext uri="{FF2B5EF4-FFF2-40B4-BE49-F238E27FC236}">
                  <a16:creationId xmlns:a16="http://schemas.microsoft.com/office/drawing/2014/main" id="{D5E138FF-7604-1E33-555D-87C2C96CBE05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2610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4B6F-C020-E270-1CDD-C55B35B505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A0F7C6-5757-B995-02FF-C92CEC7DFBB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28150-E2BB-D124-E558-AC8A265F32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017477"/>
            <a:ext cx="12192000" cy="2387600"/>
          </a:xfrm>
        </p:spPr>
        <p:txBody>
          <a:bodyPr/>
          <a:lstStyle/>
          <a:p>
            <a:r>
              <a:rPr lang="en-GB">
                <a:latin typeface="Sassoon Infant Rg" panose="02000503030000020003" pitchFamily="2" charset="0"/>
              </a:rPr>
              <a:t>Being a Reader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F3F8467-5724-D86C-FDA4-D49533DEC4F0}"/>
              </a:ext>
            </a:extLst>
          </p:cNvPr>
          <p:cNvGrpSpPr/>
          <p:nvPr/>
        </p:nvGrpSpPr>
        <p:grpSpPr>
          <a:xfrm>
            <a:off x="4568895" y="211840"/>
            <a:ext cx="3039122" cy="3522775"/>
            <a:chOff x="7629233" y="677174"/>
            <a:chExt cx="2090136" cy="2455590"/>
          </a:xfrm>
        </p:grpSpPr>
        <p:pic>
          <p:nvPicPr>
            <p:cNvPr id="5" name="Picture 8" descr="Reading Icon 2954745">
              <a:extLst>
                <a:ext uri="{FF2B5EF4-FFF2-40B4-BE49-F238E27FC236}">
                  <a16:creationId xmlns:a16="http://schemas.microsoft.com/office/drawing/2014/main" id="{2B1C2540-38D6-7D21-7288-1F3B603531F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629233" y="1184735"/>
              <a:ext cx="2090136" cy="19480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F3344A5-4924-D3BC-68C4-52E2EB3B6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6627" b="95181" l="4969" r="92547">
                          <a14:foregroundMark x1="43478" y1="94578" x2="43478" y2="94578"/>
                          <a14:foregroundMark x1="4969" y1="50602" x2="4969" y2="50602"/>
                          <a14:foregroundMark x1="16770" y1="19277" x2="16770" y2="19277"/>
                          <a14:foregroundMark x1="49689" y1="8434" x2="49689" y2="8434"/>
                          <a14:foregroundMark x1="80124" y1="19277" x2="80124" y2="19277"/>
                          <a14:foregroundMark x1="56522" y1="95783" x2="56522" y2="95783"/>
                          <a14:foregroundMark x1="89441" y1="49398" x2="89441" y2="49398"/>
                          <a14:foregroundMark x1="49689" y1="6627" x2="49689" y2="6627"/>
                          <a14:foregroundMark x1="92547" y1="49398" x2="92547" y2="49398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8856582" y="677174"/>
              <a:ext cx="716760" cy="688774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A1DE16-8C7B-4868-2DE3-9C9C7D7D4324}"/>
              </a:ext>
            </a:extLst>
          </p:cNvPr>
          <p:cNvSpPr txBox="1"/>
          <p:nvPr/>
        </p:nvSpPr>
        <p:spPr>
          <a:xfrm>
            <a:off x="0" y="4552141"/>
            <a:ext cx="1219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/>
              <a:t>Inference</a:t>
            </a:r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18F8C8-4B63-E425-87CE-D13C91BCA056}"/>
              </a:ext>
            </a:extLst>
          </p:cNvPr>
          <p:cNvSpPr txBox="1"/>
          <p:nvPr/>
        </p:nvSpPr>
        <p:spPr>
          <a:xfrm>
            <a:off x="4423577" y="5199610"/>
            <a:ext cx="3329758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GB" sz="8800"/>
              <a:t>Friday</a:t>
            </a:r>
          </a:p>
        </p:txBody>
      </p:sp>
    </p:spTree>
    <p:extLst>
      <p:ext uri="{BB962C8B-B14F-4D97-AF65-F5344CB8AC3E}">
        <p14:creationId xmlns:p14="http://schemas.microsoft.com/office/powerpoint/2010/main" val="3303693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ACEAB2A-6943-1061-22CF-9EC0847829D7}"/>
              </a:ext>
            </a:extLst>
          </p:cNvPr>
          <p:cNvSpPr/>
          <p:nvPr/>
        </p:nvSpPr>
        <p:spPr>
          <a:xfrm>
            <a:off x="6476397" y="19821"/>
            <a:ext cx="5576138" cy="6818358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DEE78A-07A9-5FF3-9D78-C0D9D21EEFB2}"/>
              </a:ext>
            </a:extLst>
          </p:cNvPr>
          <p:cNvSpPr txBox="1"/>
          <p:nvPr/>
        </p:nvSpPr>
        <p:spPr>
          <a:xfrm>
            <a:off x="6786658" y="-9273"/>
            <a:ext cx="4833400" cy="6848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800" b="1" u="sng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Why do we learn to read?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6D2B17F-CF26-33D2-B6F6-70299CA1A763}"/>
              </a:ext>
            </a:extLst>
          </p:cNvPr>
          <p:cNvSpPr txBox="1"/>
          <p:nvPr/>
        </p:nvSpPr>
        <p:spPr>
          <a:xfrm>
            <a:off x="8246543" y="848912"/>
            <a:ext cx="3654961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Reading makes me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powerful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because it helps me to </a:t>
            </a:r>
            <a:r>
              <a:rPr lang="en-GB" sz="3200" b="1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understand</a:t>
            </a: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 the world around me.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F6A32D-163D-40C2-BACF-C964E0035D2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6896058" y="1151805"/>
            <a:ext cx="1350486" cy="165637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25D9A8A-09E0-BBBE-0C18-2E1880E5277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0650071" y="4324983"/>
            <a:ext cx="1251434" cy="178698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50C5C2B-42CC-39EC-6847-EE394E29BB3C}"/>
              </a:ext>
            </a:extLst>
          </p:cNvPr>
          <p:cNvSpPr txBox="1"/>
          <p:nvPr/>
        </p:nvSpPr>
        <p:spPr>
          <a:xfrm>
            <a:off x="6786658" y="4022091"/>
            <a:ext cx="3863413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At Wallscourt Farm Academy:</a:t>
            </a:r>
          </a:p>
          <a:p>
            <a:pPr algn="ctr">
              <a:lnSpc>
                <a:spcPct val="150000"/>
              </a:lnSpc>
            </a:pPr>
            <a:r>
              <a:rPr lang="en-GB" sz="2400">
                <a:solidFill>
                  <a:schemeClr val="tx1"/>
                </a:solidFill>
                <a:latin typeface="Sassoon Infant Rg" panose="02000503030000020003" pitchFamily="2" charset="0"/>
                <a:ea typeface="Sassoon Infant Rg" panose="02000503030000020003" pitchFamily="2" charset="0"/>
              </a:rPr>
              <a:t>We love to read, learn to read and read to learn!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21AB0E8-B43D-DFDE-C896-2046E6E618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179" y="568742"/>
            <a:ext cx="5645882" cy="56541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8557886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3C5AD-3309-A9A5-F848-B93CB7BC5F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9D8A55-04E7-0528-A165-9FB98DB890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E1FDC99-0FE5-B42D-815D-42276802132E}"/>
              </a:ext>
            </a:extLst>
          </p:cNvPr>
          <p:cNvGrpSpPr/>
          <p:nvPr/>
        </p:nvGrpSpPr>
        <p:grpSpPr>
          <a:xfrm>
            <a:off x="292072" y="239667"/>
            <a:ext cx="1145637" cy="1145637"/>
            <a:chOff x="5180554" y="1026138"/>
            <a:chExt cx="1316831" cy="1316831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5DC868-7EB8-4F7D-7DAE-A2A8DBE0A208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12" name="Oval 4">
              <a:extLst>
                <a:ext uri="{FF2B5EF4-FFF2-40B4-BE49-F238E27FC236}">
                  <a16:creationId xmlns:a16="http://schemas.microsoft.com/office/drawing/2014/main" id="{DACB8AB4-1258-EA30-31A5-77EEA5A000F2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4" name="Title 1">
            <a:extLst>
              <a:ext uri="{FF2B5EF4-FFF2-40B4-BE49-F238E27FC236}">
                <a16:creationId xmlns:a16="http://schemas.microsoft.com/office/drawing/2014/main" id="{659AE26C-55EC-A139-FEFB-5E8B79ECFD3A}"/>
              </a:ext>
            </a:extLst>
          </p:cNvPr>
          <p:cNvSpPr txBox="1">
            <a:spLocks/>
          </p:cNvSpPr>
          <p:nvPr/>
        </p:nvSpPr>
        <p:spPr>
          <a:xfrm>
            <a:off x="-253388" y="85619"/>
            <a:ext cx="12153316" cy="1299685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/>
              <a:t>Vocabulary Focus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86FA3C6-53FE-7451-6D4F-7009D38010D4}"/>
              </a:ext>
            </a:extLst>
          </p:cNvPr>
          <p:cNvSpPr txBox="1"/>
          <p:nvPr/>
        </p:nvSpPr>
        <p:spPr>
          <a:xfrm>
            <a:off x="2442576" y="1217529"/>
            <a:ext cx="75032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/>
              <a:t>Are there any words you feel confident to explain the meaning of (definition)? Are there any where you are less confident?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D7A6C68-D614-2377-056B-781707D2F236}"/>
              </a:ext>
            </a:extLst>
          </p:cNvPr>
          <p:cNvGraphicFramePr>
            <a:graphicFrameLocks noGrp="1"/>
          </p:cNvGraphicFramePr>
          <p:nvPr/>
        </p:nvGraphicFramePr>
        <p:xfrm>
          <a:off x="647700" y="2173922"/>
          <a:ext cx="10663199" cy="3429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4160592141"/>
                    </a:ext>
                  </a:extLst>
                </a:gridCol>
                <a:gridCol w="9024899">
                  <a:extLst>
                    <a:ext uri="{9D8B030D-6E8A-4147-A177-3AD203B41FA5}">
                      <a16:colId xmlns:a16="http://schemas.microsoft.com/office/drawing/2014/main" val="3033414289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conclude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 decide something is true based on what you have found out.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344156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variable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Something in an experiment that can change or be changed.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418729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evidence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Information or facts that help prove whether something is true.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738106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accurate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Completely correct and without mistakes.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10434475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investigate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 find out about something by looking closely and asking questions.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1865700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114E80EC-EDEA-A9B8-0AA7-BDF4DBA738D9}"/>
              </a:ext>
            </a:extLst>
          </p:cNvPr>
          <p:cNvSpPr/>
          <p:nvPr/>
        </p:nvSpPr>
        <p:spPr>
          <a:xfrm>
            <a:off x="2312410" y="21739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F9C0CB-B38A-8B6C-0680-46BD300AE1DC}"/>
              </a:ext>
            </a:extLst>
          </p:cNvPr>
          <p:cNvSpPr/>
          <p:nvPr/>
        </p:nvSpPr>
        <p:spPr>
          <a:xfrm>
            <a:off x="2312410" y="28597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BF34747-0A22-7E80-CA39-94571BB7D672}"/>
              </a:ext>
            </a:extLst>
          </p:cNvPr>
          <p:cNvSpPr/>
          <p:nvPr/>
        </p:nvSpPr>
        <p:spPr>
          <a:xfrm>
            <a:off x="2312410" y="35455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910803-A54A-5B45-8345-8FFD7AC1C67C}"/>
              </a:ext>
            </a:extLst>
          </p:cNvPr>
          <p:cNvSpPr/>
          <p:nvPr/>
        </p:nvSpPr>
        <p:spPr>
          <a:xfrm>
            <a:off x="2312410" y="42313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B05B3E1-CB09-5A78-B03C-31610DE59A67}"/>
              </a:ext>
            </a:extLst>
          </p:cNvPr>
          <p:cNvSpPr/>
          <p:nvPr/>
        </p:nvSpPr>
        <p:spPr>
          <a:xfrm>
            <a:off x="2312410" y="4917122"/>
            <a:ext cx="8985789" cy="685800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287233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  <p:seq concurrent="1" nextAc="seek">
              <p:cTn id="12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seq concurrent="1" nextAc="seek">
              <p:cTn id="22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</p:childTnLst>
        </p:cTn>
      </p:par>
    </p:tnLst>
    <p:bldLst>
      <p:bldP spid="16" grpId="0" animBg="1"/>
      <p:bldP spid="13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C497C-5676-F0CE-9C15-81908FA1F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DCBDDC3-E8B4-5DB7-95EB-E4EB767438DF}"/>
              </a:ext>
            </a:extLst>
          </p:cNvPr>
          <p:cNvGrpSpPr/>
          <p:nvPr/>
        </p:nvGrpSpPr>
        <p:grpSpPr>
          <a:xfrm>
            <a:off x="38684" y="68473"/>
            <a:ext cx="1316831" cy="1316831"/>
            <a:chOff x="5180554" y="1026138"/>
            <a:chExt cx="1316831" cy="131683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4D7EC211-6C19-B85F-7D0D-25A8FEEA3637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6358CBDE-7D41-F226-3072-41F208B4D98A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  <p:sp>
        <p:nvSpPr>
          <p:cNvPr id="13" name="Title 1">
            <a:extLst>
              <a:ext uri="{FF2B5EF4-FFF2-40B4-BE49-F238E27FC236}">
                <a16:creationId xmlns:a16="http://schemas.microsoft.com/office/drawing/2014/main" id="{9CDE4E57-6664-84F7-C8E9-8F4381A4D091}"/>
              </a:ext>
            </a:extLst>
          </p:cNvPr>
          <p:cNvSpPr txBox="1">
            <a:spLocks/>
          </p:cNvSpPr>
          <p:nvPr/>
        </p:nvSpPr>
        <p:spPr>
          <a:xfrm>
            <a:off x="2535882" y="918780"/>
            <a:ext cx="5559247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en-GB" sz="280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3B86A135-C8BF-2285-F3AA-0B4C5706CE90}"/>
              </a:ext>
            </a:extLst>
          </p:cNvPr>
          <p:cNvSpPr txBox="1">
            <a:spLocks/>
          </p:cNvSpPr>
          <p:nvPr/>
        </p:nvSpPr>
        <p:spPr>
          <a:xfrm>
            <a:off x="0" y="85619"/>
            <a:ext cx="12192000" cy="1498214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50000"/>
              </a:lnSpc>
            </a:pPr>
            <a:r>
              <a:rPr lang="en-GB" sz="4000"/>
              <a:t>Vocabulary Focus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07FF75F1-41FF-EEA3-B802-ED64112A7D02}"/>
              </a:ext>
            </a:extLst>
          </p:cNvPr>
          <p:cNvSpPr txBox="1">
            <a:spLocks/>
          </p:cNvSpPr>
          <p:nvPr/>
        </p:nvSpPr>
        <p:spPr>
          <a:xfrm>
            <a:off x="5590032" y="604264"/>
            <a:ext cx="1873406" cy="97956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GB" sz="4000" b="1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98F68A2F-1F77-2878-BCF5-883045F2802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727002"/>
          <a:ext cx="8128000" cy="49228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1132683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773647625"/>
                    </a:ext>
                  </a:extLst>
                </a:gridCol>
              </a:tblGrid>
              <a:tr h="2461426">
                <a:tc>
                  <a:txBody>
                    <a:bodyPr/>
                    <a:lstStyle/>
                    <a:p>
                      <a:r>
                        <a:rPr lang="en-GB" b="0">
                          <a:solidFill>
                            <a:schemeClr val="tx1"/>
                          </a:solidFill>
                        </a:rPr>
                        <a:t>Write it 5 times</a:t>
                      </a:r>
                    </a:p>
                    <a:p>
                      <a:endParaRPr lang="en-GB" b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GB" sz="3200" b="0">
                          <a:solidFill>
                            <a:schemeClr val="tx1"/>
                          </a:solidFill>
                          <a:latin typeface="XCCW Joined 4a" panose="03050602040000000000" pitchFamily="66" charset="77"/>
                        </a:rPr>
                        <a:t>evidence</a:t>
                      </a:r>
                    </a:p>
                    <a:p>
                      <a:endParaRPr lang="en-GB" b="0">
                        <a:solidFill>
                          <a:schemeClr val="tx1"/>
                        </a:solidFill>
                        <a:latin typeface="XCCW Joined 4a" panose="03050602040000000000" pitchFamily="66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400">
                          <a:solidFill>
                            <a:schemeClr val="tx1"/>
                          </a:solidFill>
                        </a:rPr>
                        <a:t>Use it in a sentence</a:t>
                      </a:r>
                    </a:p>
                    <a:p>
                      <a:endParaRPr lang="en-GB" sz="2400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4313380"/>
                  </a:ext>
                </a:extLst>
              </a:tr>
              <a:tr h="2461426">
                <a:tc gridSpan="2">
                  <a:txBody>
                    <a:bodyPr/>
                    <a:lstStyle/>
                    <a:p>
                      <a:r>
                        <a:rPr lang="en-GB">
                          <a:solidFill>
                            <a:schemeClr val="tx1"/>
                          </a:solidFill>
                        </a:rPr>
                        <a:t>Other linked words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372939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55B9240-8989-B9DB-0B3B-B8D062E07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916" y="134700"/>
            <a:ext cx="1616752" cy="69798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904627B-45D6-BE36-7042-C69B53AD1828}"/>
              </a:ext>
            </a:extLst>
          </p:cNvPr>
          <p:cNvSpPr txBox="1"/>
          <p:nvPr/>
        </p:nvSpPr>
        <p:spPr>
          <a:xfrm>
            <a:off x="4766154" y="5299847"/>
            <a:ext cx="2400000" cy="480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GB"/>
              <a:t>evidence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83F9876-11CA-68D4-B5B9-503CB1452DDF}"/>
              </a:ext>
            </a:extLst>
          </p:cNvPr>
          <p:cNvCxnSpPr/>
          <p:nvPr/>
        </p:nvCxnSpPr>
        <p:spPr>
          <a:xfrm flipV="1">
            <a:off x="6391527" y="4613658"/>
            <a:ext cx="807506" cy="7821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7DD069-433E-BF48-9167-8E5BCC114624}"/>
              </a:ext>
            </a:extLst>
          </p:cNvPr>
          <p:cNvCxnSpPr>
            <a:cxnSpLocks/>
          </p:cNvCxnSpPr>
          <p:nvPr/>
        </p:nvCxnSpPr>
        <p:spPr>
          <a:xfrm>
            <a:off x="6532910" y="5656722"/>
            <a:ext cx="930528" cy="2169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D37026A-B5E7-A43B-7015-F91BED67059F}"/>
              </a:ext>
            </a:extLst>
          </p:cNvPr>
          <p:cNvCxnSpPr>
            <a:cxnSpLocks/>
          </p:cNvCxnSpPr>
          <p:nvPr/>
        </p:nvCxnSpPr>
        <p:spPr>
          <a:xfrm flipV="1">
            <a:off x="4786339" y="5656722"/>
            <a:ext cx="791952" cy="56539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7576966-8817-48AF-F837-0832462F5E46}"/>
              </a:ext>
            </a:extLst>
          </p:cNvPr>
          <p:cNvCxnSpPr>
            <a:cxnSpLocks/>
          </p:cNvCxnSpPr>
          <p:nvPr/>
        </p:nvCxnSpPr>
        <p:spPr>
          <a:xfrm>
            <a:off x="4688753" y="5010683"/>
            <a:ext cx="852027" cy="38297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6EE6038E-2E20-39E1-51AA-382FB77B2D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2757" y="2982841"/>
            <a:ext cx="3184743" cy="794571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9342315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5969F-42F3-CF1B-BACC-500D36B4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164607-F416-6B33-CEB1-238026B8CC9B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9555" y="90546"/>
            <a:ext cx="1691129" cy="711848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FDB3BEB-0563-28A6-9CAE-FC32A90283E1}"/>
              </a:ext>
            </a:extLst>
          </p:cNvPr>
          <p:cNvSpPr/>
          <p:nvPr/>
        </p:nvSpPr>
        <p:spPr>
          <a:xfrm>
            <a:off x="8019658" y="6325456"/>
            <a:ext cx="4026568" cy="4313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Show / Hide Extract</a:t>
            </a:r>
          </a:p>
        </p:txBody>
      </p:sp>
      <p:pic>
        <p:nvPicPr>
          <p:cNvPr id="30" name="Activity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421" y="939485"/>
            <a:ext cx="1656000" cy="1152000"/>
          </a:xfrm>
          <a:prstGeom prst="rect">
            <a:avLst/>
          </a:prstGeom>
        </p:spPr>
      </p:pic>
      <p:sp>
        <p:nvSpPr>
          <p:cNvPr id="31" name="ActivityText"/>
          <p:cNvSpPr txBox="1"/>
          <p:nvPr/>
        </p:nvSpPr>
        <p:spPr>
          <a:xfrm>
            <a:off x="1852421" y="939485"/>
            <a:ext cx="9092000" cy="14989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r>
              <a:rPr lang="en-GB" sz="1800" b="1"/>
              <a:t>Fluency Activity</a:t>
            </a:r>
          </a:p>
          <a:p>
            <a:r>
              <a:rPr lang="en-GB" sz="1400"/>
              <a:t>Key ideas: use pace deliberately to help your listener catch the important parts — slow down for key facts, move more quickly through supporting detail.</a:t>
            </a:r>
          </a:p>
        </p:txBody>
      </p:sp>
      <p:pic>
        <p:nvPicPr>
          <p:cNvPr id="21" name="RubricTabl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78" y="2504555"/>
            <a:ext cx="11030400" cy="1609200"/>
          </a:xfrm>
          <a:prstGeom prst="rect">
            <a:avLst/>
          </a:prstGeom>
        </p:spPr>
      </p:pic>
      <p:sp>
        <p:nvSpPr>
          <p:cNvPr id="22" name="BgBox"/>
          <p:cNvSpPr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98538D7-B169-3DEA-6C8A-FF02A8B749B5}"/>
              </a:ext>
            </a:extLst>
          </p:cNvPr>
          <p:cNvSpPr txBox="1">
            <a:spLocks/>
          </p:cNvSpPr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</p:spPr>
        <p:txBody>
          <a:bodyPr wrap="square" rtlCol="0" anchor="t"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2F8A4C-3A6C-EAB6-8539-FFC9F15CF25D}"/>
              </a:ext>
            </a:extLst>
          </p:cNvPr>
          <p:cNvSpPr txBox="1"/>
          <p:nvPr/>
        </p:nvSpPr>
        <p:spPr>
          <a:xfrm>
            <a:off x="144378" y="4519360"/>
            <a:ext cx="11880000" cy="132519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Aim to read at a pace which sounds like you are talking, not reading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Re-read sentences where words or phrases impacted you pace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Identify parts of the text which should be read with more, or less pace </a:t>
            </a:r>
          </a:p>
        </p:txBody>
      </p:sp>
      <p:sp>
        <p:nvSpPr>
          <p:cNvPr id="40" name="ExtractBox"/>
          <p:cNvSpPr txBox="1"/>
          <p:nvPr/>
        </p:nvSpPr>
        <p:spPr>
          <a:xfrm>
            <a:off x="30000" y="784800"/>
            <a:ext cx="12132000" cy="5508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txBody>
          <a:bodyPr wrap="square" rtlCol="0" anchor="t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2554819"/>
      </p:ext>
    </p:extLst>
  </p:cSld>
  <p:clrMapOvr>
    <a:masterClrMapping/>
  </p:clrMapOvr>
  <p:timing>
    <p:tnLst>
      <p:par>
        <p:cTn id="1" dur="indefinite" restart="never" nodeType="tmRoot">
          <p:childTnLst>
            <p:par>
              <p:cTn id="2" fill="hold">
                <p:stCondLst>
                  <p:cond delay="0"/>
                </p:stCondLst>
                <p:childTnLst>
                  <p:set>
                    <p:cBhvr>
                      <p:cTn id="3" dur="1" fill="hold"/>
                      <p:tgtEl>
                        <p:spTgt spid="40"/>
                      </p:tgtEl>
                      <p:attrNameLst>
                        <p:attrName>style.visibility</p:attrName>
                      </p:attrNameLst>
                    </p:cBhvr>
                    <p:to>
                      <p:strVal val="hidden"/>
                    </p:to>
                  </p:set>
                </p:childTnLst>
              </p:cTn>
            </p:par>
            <p:seq concurrent="1" nextAc="seek">
              <p:cTn id="4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" fill="hold">
                      <p:stCondLst>
                        <p:cond delay="0"/>
                      </p:stCondLst>
                      <p:childTnLst>
                        <p:par>
                          <p:cTn id="6" presetID="1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presetID="1" presetClass="exit" presetSubtype="0" fill="hold" grpId="1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hidden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  <p:bldLst>
      <p:bldP spid="40" grpId="0" animBg="1"/>
      <p:bldP spid="40" grpId="1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215917-BDE9-A483-7A0D-AC15BA636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3E3AA9AF-9E3C-B821-0C95-D4AA63DFFCBB}"/>
              </a:ext>
            </a:extLst>
          </p:cNvPr>
          <p:cNvSpPr/>
          <p:nvPr/>
        </p:nvSpPr>
        <p:spPr>
          <a:xfrm>
            <a:off x="2609369" y="1646785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C8D8944-1BCF-D4B0-7DAF-EF76646CCF50}"/>
              </a:ext>
            </a:extLst>
          </p:cNvPr>
          <p:cNvSpPr/>
          <p:nvPr/>
        </p:nvSpPr>
        <p:spPr>
          <a:xfrm>
            <a:off x="2057663" y="2106659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EE8B722-85CC-7111-AF8B-97EEBEE9A272}"/>
              </a:ext>
            </a:extLst>
          </p:cNvPr>
          <p:cNvGrpSpPr/>
          <p:nvPr/>
        </p:nvGrpSpPr>
        <p:grpSpPr>
          <a:xfrm>
            <a:off x="3003018" y="1125085"/>
            <a:ext cx="1838188" cy="1169519"/>
            <a:chOff x="2644385" y="2866760"/>
            <a:chExt cx="1838188" cy="138452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D3569E1-8E04-B7BA-0398-4180BE3B0EE3}"/>
                </a:ext>
              </a:extLst>
            </p:cNvPr>
            <p:cNvSpPr/>
            <p:nvPr/>
          </p:nvSpPr>
          <p:spPr>
            <a:xfrm>
              <a:off x="2644386" y="2866760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b="1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FC19485-EC34-F070-3B3F-978F61587575}"/>
                </a:ext>
              </a:extLst>
            </p:cNvPr>
            <p:cNvSpPr txBox="1"/>
            <p:nvPr/>
          </p:nvSpPr>
          <p:spPr>
            <a:xfrm>
              <a:off x="2644385" y="3160918"/>
              <a:ext cx="1838187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What am I learning?</a:t>
              </a:r>
            </a:p>
          </p:txBody>
        </p:sp>
      </p:grpSp>
      <p:pic>
        <p:nvPicPr>
          <p:cNvPr id="11" name="Picture 10" descr="A picture containing room  Description automatically generated">
            <a:extLst>
              <a:ext uri="{FF2B5EF4-FFF2-40B4-BE49-F238E27FC236}">
                <a16:creationId xmlns:a16="http://schemas.microsoft.com/office/drawing/2014/main" id="{3C0DDE4A-9E8B-5BE3-65C1-A3FA2705ACB2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896" y="2018390"/>
            <a:ext cx="1451414" cy="2106656"/>
          </a:xfrm>
          <a:prstGeom prst="rect">
            <a:avLst/>
          </a:prstGeom>
          <a:ln>
            <a:noFill/>
          </a:ln>
        </p:spPr>
      </p:pic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0F1A2A6-045F-00C7-688E-E6D0A25D5652}"/>
              </a:ext>
            </a:extLst>
          </p:cNvPr>
          <p:cNvSpPr/>
          <p:nvPr/>
        </p:nvSpPr>
        <p:spPr>
          <a:xfrm>
            <a:off x="2797615" y="2918463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08A8433-A9BE-1E56-2965-99A3B5625947}"/>
              </a:ext>
            </a:extLst>
          </p:cNvPr>
          <p:cNvSpPr/>
          <p:nvPr/>
        </p:nvSpPr>
        <p:spPr>
          <a:xfrm>
            <a:off x="2458854" y="2918501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7A24A2D-2408-EB9E-5F70-46F514294503}"/>
              </a:ext>
            </a:extLst>
          </p:cNvPr>
          <p:cNvGrpSpPr/>
          <p:nvPr/>
        </p:nvGrpSpPr>
        <p:grpSpPr>
          <a:xfrm>
            <a:off x="3618760" y="2676281"/>
            <a:ext cx="2097602" cy="1251349"/>
            <a:chOff x="6125888" y="3028716"/>
            <a:chExt cx="1838187" cy="1384526"/>
          </a:xfrm>
          <a:solidFill>
            <a:schemeClr val="accent6">
              <a:lumMod val="60000"/>
              <a:lumOff val="40000"/>
            </a:schemeClr>
          </a:solidFill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946C962-D08C-0F71-45B1-FA00B59721B8}"/>
                </a:ext>
              </a:extLst>
            </p:cNvPr>
            <p:cNvSpPr/>
            <p:nvPr/>
          </p:nvSpPr>
          <p:spPr>
            <a:xfrm>
              <a:off x="6125888" y="3028716"/>
              <a:ext cx="1838187" cy="1384526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2400" b="1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0E1483D-26A7-A33B-B0CD-B1044C4A76B4}"/>
                </a:ext>
              </a:extLst>
            </p:cNvPr>
            <p:cNvSpPr txBox="1"/>
            <p:nvPr/>
          </p:nvSpPr>
          <p:spPr>
            <a:xfrm>
              <a:off x="6263965" y="3326148"/>
              <a:ext cx="1595765" cy="707886"/>
            </a:xfrm>
            <a:prstGeom prst="rect">
              <a:avLst/>
            </a:prstGeom>
            <a:noFill/>
            <a:ln w="38100">
              <a:noFill/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algn="ctr">
                <a:defRPr b="1">
                  <a:solidFill>
                    <a:schemeClr val="lt1"/>
                  </a:solidFill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>
                  <a:solidFill>
                    <a:schemeClr val="tx1"/>
                  </a:solidFill>
                </a:rPr>
                <a:t>Why am I learning this ?</a:t>
              </a:r>
            </a:p>
          </p:txBody>
        </p:sp>
      </p:grp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ED4713C7-97EE-A5B0-8FC6-4CE70EA350BC}"/>
              </a:ext>
            </a:extLst>
          </p:cNvPr>
          <p:cNvSpPr/>
          <p:nvPr/>
        </p:nvSpPr>
        <p:spPr>
          <a:xfrm>
            <a:off x="2490079" y="3963955"/>
            <a:ext cx="200648" cy="240777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2843B94-CA11-5143-DFB7-BE14CB303150}"/>
              </a:ext>
            </a:extLst>
          </p:cNvPr>
          <p:cNvSpPr/>
          <p:nvPr/>
        </p:nvSpPr>
        <p:spPr>
          <a:xfrm>
            <a:off x="2258697" y="3780606"/>
            <a:ext cx="79485" cy="85162"/>
          </a:xfrm>
          <a:prstGeom prst="ellipse">
            <a:avLst/>
          </a:pr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DA984DD-4FC4-64A0-887A-0A817B977071}"/>
              </a:ext>
            </a:extLst>
          </p:cNvPr>
          <p:cNvSpPr txBox="1"/>
          <p:nvPr/>
        </p:nvSpPr>
        <p:spPr>
          <a:xfrm>
            <a:off x="5068949" y="1230333"/>
            <a:ext cx="53112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+mj-lt"/>
              </a:rPr>
              <a:t>I  am learning to understand and take meaning from a text.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23222B-35F4-3CDC-5FEA-1C58CE4A933A}"/>
              </a:ext>
            </a:extLst>
          </p:cNvPr>
          <p:cNvSpPr/>
          <p:nvPr/>
        </p:nvSpPr>
        <p:spPr>
          <a:xfrm>
            <a:off x="5597291" y="4824722"/>
            <a:ext cx="558368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>
                <a:latin typeface="+mj-lt"/>
              </a:rPr>
              <a:t>I will show this by answering questions which relate to the vocabulary used throughout the text.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F0FA508C-6CB1-E76E-F0A8-B64E6C4CD90D}"/>
              </a:ext>
            </a:extLst>
          </p:cNvPr>
          <p:cNvGrpSpPr/>
          <p:nvPr/>
        </p:nvGrpSpPr>
        <p:grpSpPr>
          <a:xfrm>
            <a:off x="2968729" y="4615048"/>
            <a:ext cx="2401890" cy="1148058"/>
            <a:chOff x="10001131" y="2709337"/>
            <a:chExt cx="1838187" cy="1105414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F558219-13F1-436A-59AF-11B90D95ABA1}"/>
                </a:ext>
              </a:extLst>
            </p:cNvPr>
            <p:cNvSpPr/>
            <p:nvPr/>
          </p:nvSpPr>
          <p:spPr>
            <a:xfrm>
              <a:off x="10001131" y="2709337"/>
              <a:ext cx="1838187" cy="1105414"/>
            </a:xfrm>
            <a:custGeom>
              <a:avLst/>
              <a:gdLst>
                <a:gd name="connsiteX0" fmla="*/ 602901 w 5220119"/>
                <a:gd name="connsiteY0" fmla="*/ 2054888 h 5436158"/>
                <a:gd name="connsiteX1" fmla="*/ 346668 w 5220119"/>
                <a:gd name="connsiteY1" fmla="*/ 1934307 h 5436158"/>
                <a:gd name="connsiteX2" fmla="*/ 185895 w 5220119"/>
                <a:gd name="connsiteY2" fmla="*/ 1723292 h 5436158"/>
                <a:gd name="connsiteX3" fmla="*/ 50242 w 5220119"/>
                <a:gd name="connsiteY3" fmla="*/ 1421842 h 5436158"/>
                <a:gd name="connsiteX4" fmla="*/ 0 w 5220119"/>
                <a:gd name="connsiteY4" fmla="*/ 1115367 h 5436158"/>
                <a:gd name="connsiteX5" fmla="*/ 80387 w 5220119"/>
                <a:gd name="connsiteY5" fmla="*/ 828989 h 5436158"/>
                <a:gd name="connsiteX6" fmla="*/ 251209 w 5220119"/>
                <a:gd name="connsiteY6" fmla="*/ 557683 h 5436158"/>
                <a:gd name="connsiteX7" fmla="*/ 512466 w 5220119"/>
                <a:gd name="connsiteY7" fmla="*/ 386861 h 5436158"/>
                <a:gd name="connsiteX8" fmla="*/ 934497 w 5220119"/>
                <a:gd name="connsiteY8" fmla="*/ 296426 h 5436158"/>
                <a:gd name="connsiteX9" fmla="*/ 1251020 w 5220119"/>
                <a:gd name="connsiteY9" fmla="*/ 326571 h 5436158"/>
                <a:gd name="connsiteX10" fmla="*/ 1457011 w 5220119"/>
                <a:gd name="connsiteY10" fmla="*/ 401934 h 5436158"/>
                <a:gd name="connsiteX11" fmla="*/ 1688123 w 5220119"/>
                <a:gd name="connsiteY11" fmla="*/ 512466 h 5436158"/>
                <a:gd name="connsiteX12" fmla="*/ 1753438 w 5220119"/>
                <a:gd name="connsiteY12" fmla="*/ 331595 h 5436158"/>
                <a:gd name="connsiteX13" fmla="*/ 1944356 w 5220119"/>
                <a:gd name="connsiteY13" fmla="*/ 140677 h 5436158"/>
                <a:gd name="connsiteX14" fmla="*/ 2120202 w 5220119"/>
                <a:gd name="connsiteY14" fmla="*/ 50242 h 5436158"/>
                <a:gd name="connsiteX15" fmla="*/ 2336242 w 5220119"/>
                <a:gd name="connsiteY15" fmla="*/ 10048 h 5436158"/>
                <a:gd name="connsiteX16" fmla="*/ 2507064 w 5220119"/>
                <a:gd name="connsiteY16" fmla="*/ 0 h 5436158"/>
                <a:gd name="connsiteX17" fmla="*/ 2682910 w 5220119"/>
                <a:gd name="connsiteY17" fmla="*/ 55266 h 5436158"/>
                <a:gd name="connsiteX18" fmla="*/ 2808515 w 5220119"/>
                <a:gd name="connsiteY18" fmla="*/ 160773 h 5436158"/>
                <a:gd name="connsiteX19" fmla="*/ 2903974 w 5220119"/>
                <a:gd name="connsiteY19" fmla="*/ 261257 h 5436158"/>
                <a:gd name="connsiteX20" fmla="*/ 2954216 w 5220119"/>
                <a:gd name="connsiteY20" fmla="*/ 396910 h 5436158"/>
                <a:gd name="connsiteX21" fmla="*/ 2989385 w 5220119"/>
                <a:gd name="connsiteY21" fmla="*/ 482321 h 5436158"/>
                <a:gd name="connsiteX22" fmla="*/ 3235570 w 5220119"/>
                <a:gd name="connsiteY22" fmla="*/ 331595 h 5436158"/>
                <a:gd name="connsiteX23" fmla="*/ 3567165 w 5220119"/>
                <a:gd name="connsiteY23" fmla="*/ 246184 h 5436158"/>
                <a:gd name="connsiteX24" fmla="*/ 3913833 w 5220119"/>
                <a:gd name="connsiteY24" fmla="*/ 226088 h 5436158"/>
                <a:gd name="connsiteX25" fmla="*/ 4165042 w 5220119"/>
                <a:gd name="connsiteY25" fmla="*/ 291402 h 5436158"/>
                <a:gd name="connsiteX26" fmla="*/ 4431323 w 5220119"/>
                <a:gd name="connsiteY26" fmla="*/ 447151 h 5436158"/>
                <a:gd name="connsiteX27" fmla="*/ 4607170 w 5220119"/>
                <a:gd name="connsiteY27" fmla="*/ 668215 h 5436158"/>
                <a:gd name="connsiteX28" fmla="*/ 4707653 w 5220119"/>
                <a:gd name="connsiteY28" fmla="*/ 869182 h 5436158"/>
                <a:gd name="connsiteX29" fmla="*/ 4747846 w 5220119"/>
                <a:gd name="connsiteY29" fmla="*/ 1075173 h 5436158"/>
                <a:gd name="connsiteX30" fmla="*/ 4747846 w 5220119"/>
                <a:gd name="connsiteY30" fmla="*/ 1306286 h 5436158"/>
                <a:gd name="connsiteX31" fmla="*/ 4717701 w 5220119"/>
                <a:gd name="connsiteY31" fmla="*/ 1507253 h 5436158"/>
                <a:gd name="connsiteX32" fmla="*/ 4657411 w 5220119"/>
                <a:gd name="connsiteY32" fmla="*/ 1617784 h 5436158"/>
                <a:gd name="connsiteX33" fmla="*/ 4858378 w 5220119"/>
                <a:gd name="connsiteY33" fmla="*/ 1642905 h 5436158"/>
                <a:gd name="connsiteX34" fmla="*/ 5054321 w 5220119"/>
                <a:gd name="connsiteY34" fmla="*/ 1818751 h 5436158"/>
                <a:gd name="connsiteX35" fmla="*/ 5134708 w 5220119"/>
                <a:gd name="connsiteY35" fmla="*/ 1979525 h 5436158"/>
                <a:gd name="connsiteX36" fmla="*/ 5179926 w 5220119"/>
                <a:gd name="connsiteY36" fmla="*/ 2145323 h 5436158"/>
                <a:gd name="connsiteX37" fmla="*/ 5220119 w 5220119"/>
                <a:gd name="connsiteY37" fmla="*/ 2275951 h 5436158"/>
                <a:gd name="connsiteX38" fmla="*/ 5220119 w 5220119"/>
                <a:gd name="connsiteY38" fmla="*/ 2461846 h 5436158"/>
                <a:gd name="connsiteX39" fmla="*/ 5179926 w 5220119"/>
                <a:gd name="connsiteY39" fmla="*/ 2642716 h 5436158"/>
                <a:gd name="connsiteX40" fmla="*/ 5084466 w 5220119"/>
                <a:gd name="connsiteY40" fmla="*/ 2778369 h 5436158"/>
                <a:gd name="connsiteX41" fmla="*/ 5084466 w 5220119"/>
                <a:gd name="connsiteY41" fmla="*/ 2828611 h 5436158"/>
                <a:gd name="connsiteX42" fmla="*/ 5139732 w 5220119"/>
                <a:gd name="connsiteY42" fmla="*/ 2954215 h 5436158"/>
                <a:gd name="connsiteX43" fmla="*/ 5194998 w 5220119"/>
                <a:gd name="connsiteY43" fmla="*/ 3120013 h 5436158"/>
                <a:gd name="connsiteX44" fmla="*/ 5194998 w 5220119"/>
                <a:gd name="connsiteY44" fmla="*/ 3285811 h 5436158"/>
                <a:gd name="connsiteX45" fmla="*/ 5154805 w 5220119"/>
                <a:gd name="connsiteY45" fmla="*/ 3471705 h 5436158"/>
                <a:gd name="connsiteX46" fmla="*/ 5109587 w 5220119"/>
                <a:gd name="connsiteY46" fmla="*/ 3622431 h 5436158"/>
                <a:gd name="connsiteX47" fmla="*/ 5014128 w 5220119"/>
                <a:gd name="connsiteY47" fmla="*/ 3798277 h 5436158"/>
                <a:gd name="connsiteX48" fmla="*/ 4868427 w 5220119"/>
                <a:gd name="connsiteY48" fmla="*/ 3938954 h 5436158"/>
                <a:gd name="connsiteX49" fmla="*/ 4727750 w 5220119"/>
                <a:gd name="connsiteY49" fmla="*/ 4044461 h 5436158"/>
                <a:gd name="connsiteX50" fmla="*/ 4531807 w 5220119"/>
                <a:gd name="connsiteY50" fmla="*/ 4099727 h 5436158"/>
                <a:gd name="connsiteX51" fmla="*/ 4531807 w 5220119"/>
                <a:gd name="connsiteY51" fmla="*/ 4260501 h 5436158"/>
                <a:gd name="connsiteX52" fmla="*/ 4511710 w 5220119"/>
                <a:gd name="connsiteY52" fmla="*/ 4456444 h 5436158"/>
                <a:gd name="connsiteX53" fmla="*/ 4441372 w 5220119"/>
                <a:gd name="connsiteY53" fmla="*/ 4592096 h 5436158"/>
                <a:gd name="connsiteX54" fmla="*/ 4335864 w 5220119"/>
                <a:gd name="connsiteY54" fmla="*/ 4687556 h 5436158"/>
                <a:gd name="connsiteX55" fmla="*/ 4195187 w 5220119"/>
                <a:gd name="connsiteY55" fmla="*/ 4783015 h 5436158"/>
                <a:gd name="connsiteX56" fmla="*/ 3999244 w 5220119"/>
                <a:gd name="connsiteY56" fmla="*/ 4863402 h 5436158"/>
                <a:gd name="connsiteX57" fmla="*/ 3773156 w 5220119"/>
                <a:gd name="connsiteY57" fmla="*/ 4888523 h 5436158"/>
                <a:gd name="connsiteX58" fmla="*/ 3602334 w 5220119"/>
                <a:gd name="connsiteY58" fmla="*/ 4858378 h 5436158"/>
                <a:gd name="connsiteX59" fmla="*/ 3481754 w 5220119"/>
                <a:gd name="connsiteY59" fmla="*/ 4783015 h 5436158"/>
                <a:gd name="connsiteX60" fmla="*/ 3486778 w 5220119"/>
                <a:gd name="connsiteY60" fmla="*/ 4893547 h 5436158"/>
                <a:gd name="connsiteX61" fmla="*/ 3461657 w 5220119"/>
                <a:gd name="connsiteY61" fmla="*/ 5034224 h 5436158"/>
                <a:gd name="connsiteX62" fmla="*/ 3361174 w 5220119"/>
                <a:gd name="connsiteY62" fmla="*/ 5169877 h 5436158"/>
                <a:gd name="connsiteX63" fmla="*/ 3260690 w 5220119"/>
                <a:gd name="connsiteY63" fmla="*/ 5280409 h 5436158"/>
                <a:gd name="connsiteX64" fmla="*/ 3049675 w 5220119"/>
                <a:gd name="connsiteY64" fmla="*/ 5390940 h 5436158"/>
                <a:gd name="connsiteX65" fmla="*/ 2768321 w 5220119"/>
                <a:gd name="connsiteY65" fmla="*/ 5436158 h 5436158"/>
                <a:gd name="connsiteX66" fmla="*/ 2497016 w 5220119"/>
                <a:gd name="connsiteY66" fmla="*/ 5375868 h 5436158"/>
                <a:gd name="connsiteX67" fmla="*/ 2250831 w 5220119"/>
                <a:gd name="connsiteY67" fmla="*/ 5295481 h 5436158"/>
                <a:gd name="connsiteX68" fmla="*/ 2125227 w 5220119"/>
                <a:gd name="connsiteY68" fmla="*/ 5169877 h 5436158"/>
                <a:gd name="connsiteX69" fmla="*/ 2029767 w 5220119"/>
                <a:gd name="connsiteY69" fmla="*/ 5079442 h 5436158"/>
                <a:gd name="connsiteX70" fmla="*/ 2009671 w 5220119"/>
                <a:gd name="connsiteY70" fmla="*/ 4938765 h 5436158"/>
                <a:gd name="connsiteX71" fmla="*/ 1989574 w 5220119"/>
                <a:gd name="connsiteY71" fmla="*/ 4918668 h 5436158"/>
                <a:gd name="connsiteX72" fmla="*/ 1863970 w 5220119"/>
                <a:gd name="connsiteY72" fmla="*/ 4978958 h 5436158"/>
                <a:gd name="connsiteX73" fmla="*/ 1728317 w 5220119"/>
                <a:gd name="connsiteY73" fmla="*/ 5044272 h 5436158"/>
                <a:gd name="connsiteX74" fmla="*/ 1507253 w 5220119"/>
                <a:gd name="connsiteY74" fmla="*/ 5014127 h 5436158"/>
                <a:gd name="connsiteX75" fmla="*/ 1306286 w 5220119"/>
                <a:gd name="connsiteY75" fmla="*/ 4928716 h 5436158"/>
                <a:gd name="connsiteX76" fmla="*/ 1190730 w 5220119"/>
                <a:gd name="connsiteY76" fmla="*/ 4767943 h 5436158"/>
                <a:gd name="connsiteX77" fmla="*/ 1120392 w 5220119"/>
                <a:gd name="connsiteY77" fmla="*/ 4592096 h 5436158"/>
                <a:gd name="connsiteX78" fmla="*/ 1120392 w 5220119"/>
                <a:gd name="connsiteY78" fmla="*/ 4421275 h 5436158"/>
                <a:gd name="connsiteX79" fmla="*/ 1120392 w 5220119"/>
                <a:gd name="connsiteY79" fmla="*/ 4315767 h 5436158"/>
                <a:gd name="connsiteX80" fmla="*/ 974690 w 5220119"/>
                <a:gd name="connsiteY80" fmla="*/ 4386105 h 5436158"/>
                <a:gd name="connsiteX81" fmla="*/ 738554 w 5220119"/>
                <a:gd name="connsiteY81" fmla="*/ 4406202 h 5436158"/>
                <a:gd name="connsiteX82" fmla="*/ 532563 w 5220119"/>
                <a:gd name="connsiteY82" fmla="*/ 4376057 h 5436158"/>
                <a:gd name="connsiteX83" fmla="*/ 386862 w 5220119"/>
                <a:gd name="connsiteY83" fmla="*/ 4285622 h 5436158"/>
                <a:gd name="connsiteX84" fmla="*/ 281354 w 5220119"/>
                <a:gd name="connsiteY84" fmla="*/ 4119824 h 5436158"/>
                <a:gd name="connsiteX85" fmla="*/ 251209 w 5220119"/>
                <a:gd name="connsiteY85" fmla="*/ 3969099 h 5436158"/>
                <a:gd name="connsiteX86" fmla="*/ 256233 w 5220119"/>
                <a:gd name="connsiteY86" fmla="*/ 3873639 h 5436158"/>
                <a:gd name="connsiteX87" fmla="*/ 266282 w 5220119"/>
                <a:gd name="connsiteY87" fmla="*/ 3707842 h 5436158"/>
                <a:gd name="connsiteX88" fmla="*/ 306475 w 5220119"/>
                <a:gd name="connsiteY88" fmla="*/ 3567165 h 5436158"/>
                <a:gd name="connsiteX89" fmla="*/ 371789 w 5220119"/>
                <a:gd name="connsiteY89" fmla="*/ 3491802 h 5436158"/>
                <a:gd name="connsiteX90" fmla="*/ 411983 w 5220119"/>
                <a:gd name="connsiteY90" fmla="*/ 3451609 h 5436158"/>
                <a:gd name="connsiteX91" fmla="*/ 422031 w 5220119"/>
                <a:gd name="connsiteY91" fmla="*/ 3416439 h 5436158"/>
                <a:gd name="connsiteX92" fmla="*/ 261257 w 5220119"/>
                <a:gd name="connsiteY92" fmla="*/ 3315956 h 5436158"/>
                <a:gd name="connsiteX93" fmla="*/ 165798 w 5220119"/>
                <a:gd name="connsiteY93" fmla="*/ 3180303 h 5436158"/>
                <a:gd name="connsiteX94" fmla="*/ 90435 w 5220119"/>
                <a:gd name="connsiteY94" fmla="*/ 2994409 h 5436158"/>
                <a:gd name="connsiteX95" fmla="*/ 80387 w 5220119"/>
                <a:gd name="connsiteY95" fmla="*/ 2793442 h 5436158"/>
                <a:gd name="connsiteX96" fmla="*/ 115556 w 5220119"/>
                <a:gd name="connsiteY96" fmla="*/ 2642716 h 5436158"/>
                <a:gd name="connsiteX97" fmla="*/ 165798 w 5220119"/>
                <a:gd name="connsiteY97" fmla="*/ 2431701 h 5436158"/>
                <a:gd name="connsiteX98" fmla="*/ 261257 w 5220119"/>
                <a:gd name="connsiteY98" fmla="*/ 2301072 h 5436158"/>
                <a:gd name="connsiteX99" fmla="*/ 361741 w 5220119"/>
                <a:gd name="connsiteY99" fmla="*/ 2195565 h 5436158"/>
                <a:gd name="connsiteX100" fmla="*/ 442128 w 5220119"/>
                <a:gd name="connsiteY100" fmla="*/ 2140299 h 5436158"/>
                <a:gd name="connsiteX101" fmla="*/ 602901 w 5220119"/>
                <a:gd name="connsiteY101" fmla="*/ 2054888 h 5436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</a:cxnLst>
              <a:rect l="l" t="t" r="r" b="b"/>
              <a:pathLst>
                <a:path w="5220119" h="5436158">
                  <a:moveTo>
                    <a:pt x="602901" y="2054888"/>
                  </a:moveTo>
                  <a:lnTo>
                    <a:pt x="346668" y="1934307"/>
                  </a:lnTo>
                  <a:lnTo>
                    <a:pt x="185895" y="1723292"/>
                  </a:lnTo>
                  <a:lnTo>
                    <a:pt x="50242" y="1421842"/>
                  </a:lnTo>
                  <a:lnTo>
                    <a:pt x="0" y="1115367"/>
                  </a:lnTo>
                  <a:lnTo>
                    <a:pt x="80387" y="828989"/>
                  </a:lnTo>
                  <a:lnTo>
                    <a:pt x="251209" y="557683"/>
                  </a:lnTo>
                  <a:lnTo>
                    <a:pt x="512466" y="386861"/>
                  </a:lnTo>
                  <a:lnTo>
                    <a:pt x="934497" y="296426"/>
                  </a:lnTo>
                  <a:lnTo>
                    <a:pt x="1251020" y="326571"/>
                  </a:lnTo>
                  <a:lnTo>
                    <a:pt x="1457011" y="401934"/>
                  </a:lnTo>
                  <a:lnTo>
                    <a:pt x="1688123" y="512466"/>
                  </a:lnTo>
                  <a:lnTo>
                    <a:pt x="1753438" y="331595"/>
                  </a:lnTo>
                  <a:lnTo>
                    <a:pt x="1944356" y="140677"/>
                  </a:lnTo>
                  <a:lnTo>
                    <a:pt x="2120202" y="50242"/>
                  </a:lnTo>
                  <a:lnTo>
                    <a:pt x="2336242" y="10048"/>
                  </a:lnTo>
                  <a:lnTo>
                    <a:pt x="2507064" y="0"/>
                  </a:lnTo>
                  <a:lnTo>
                    <a:pt x="2682910" y="55266"/>
                  </a:lnTo>
                  <a:lnTo>
                    <a:pt x="2808515" y="160773"/>
                  </a:lnTo>
                  <a:lnTo>
                    <a:pt x="2903974" y="261257"/>
                  </a:lnTo>
                  <a:lnTo>
                    <a:pt x="2954216" y="396910"/>
                  </a:lnTo>
                  <a:lnTo>
                    <a:pt x="2989385" y="482321"/>
                  </a:lnTo>
                  <a:lnTo>
                    <a:pt x="3235570" y="331595"/>
                  </a:lnTo>
                  <a:lnTo>
                    <a:pt x="3567165" y="246184"/>
                  </a:lnTo>
                  <a:lnTo>
                    <a:pt x="3913833" y="226088"/>
                  </a:lnTo>
                  <a:lnTo>
                    <a:pt x="4165042" y="291402"/>
                  </a:lnTo>
                  <a:lnTo>
                    <a:pt x="4431323" y="447151"/>
                  </a:lnTo>
                  <a:lnTo>
                    <a:pt x="4607170" y="668215"/>
                  </a:lnTo>
                  <a:lnTo>
                    <a:pt x="4707653" y="869182"/>
                  </a:lnTo>
                  <a:lnTo>
                    <a:pt x="4747846" y="1075173"/>
                  </a:lnTo>
                  <a:lnTo>
                    <a:pt x="4747846" y="1306286"/>
                  </a:lnTo>
                  <a:lnTo>
                    <a:pt x="4717701" y="1507253"/>
                  </a:lnTo>
                  <a:lnTo>
                    <a:pt x="4657411" y="1617784"/>
                  </a:lnTo>
                  <a:lnTo>
                    <a:pt x="4858378" y="1642905"/>
                  </a:lnTo>
                  <a:lnTo>
                    <a:pt x="5054321" y="1818751"/>
                  </a:lnTo>
                  <a:lnTo>
                    <a:pt x="5134708" y="1979525"/>
                  </a:lnTo>
                  <a:lnTo>
                    <a:pt x="5179926" y="2145323"/>
                  </a:lnTo>
                  <a:lnTo>
                    <a:pt x="5220119" y="2275951"/>
                  </a:lnTo>
                  <a:lnTo>
                    <a:pt x="5220119" y="2461846"/>
                  </a:lnTo>
                  <a:lnTo>
                    <a:pt x="5179926" y="2642716"/>
                  </a:lnTo>
                  <a:lnTo>
                    <a:pt x="5084466" y="2778369"/>
                  </a:lnTo>
                  <a:lnTo>
                    <a:pt x="5084466" y="2828611"/>
                  </a:lnTo>
                  <a:lnTo>
                    <a:pt x="5139732" y="2954215"/>
                  </a:lnTo>
                  <a:lnTo>
                    <a:pt x="5194998" y="3120013"/>
                  </a:lnTo>
                  <a:lnTo>
                    <a:pt x="5194998" y="3285811"/>
                  </a:lnTo>
                  <a:lnTo>
                    <a:pt x="5154805" y="3471705"/>
                  </a:lnTo>
                  <a:lnTo>
                    <a:pt x="5109587" y="3622431"/>
                  </a:lnTo>
                  <a:lnTo>
                    <a:pt x="5014128" y="3798277"/>
                  </a:lnTo>
                  <a:lnTo>
                    <a:pt x="4868427" y="3938954"/>
                  </a:lnTo>
                  <a:lnTo>
                    <a:pt x="4727750" y="4044461"/>
                  </a:lnTo>
                  <a:lnTo>
                    <a:pt x="4531807" y="4099727"/>
                  </a:lnTo>
                  <a:lnTo>
                    <a:pt x="4531807" y="4260501"/>
                  </a:lnTo>
                  <a:lnTo>
                    <a:pt x="4511710" y="4456444"/>
                  </a:lnTo>
                  <a:lnTo>
                    <a:pt x="4441372" y="4592096"/>
                  </a:lnTo>
                  <a:lnTo>
                    <a:pt x="4335864" y="4687556"/>
                  </a:lnTo>
                  <a:lnTo>
                    <a:pt x="4195187" y="4783015"/>
                  </a:lnTo>
                  <a:lnTo>
                    <a:pt x="3999244" y="4863402"/>
                  </a:lnTo>
                  <a:lnTo>
                    <a:pt x="3773156" y="4888523"/>
                  </a:lnTo>
                  <a:lnTo>
                    <a:pt x="3602334" y="4858378"/>
                  </a:lnTo>
                  <a:lnTo>
                    <a:pt x="3481754" y="4783015"/>
                  </a:lnTo>
                  <a:lnTo>
                    <a:pt x="3486778" y="4893547"/>
                  </a:lnTo>
                  <a:lnTo>
                    <a:pt x="3461657" y="5034224"/>
                  </a:lnTo>
                  <a:lnTo>
                    <a:pt x="3361174" y="5169877"/>
                  </a:lnTo>
                  <a:lnTo>
                    <a:pt x="3260690" y="5280409"/>
                  </a:lnTo>
                  <a:lnTo>
                    <a:pt x="3049675" y="5390940"/>
                  </a:lnTo>
                  <a:lnTo>
                    <a:pt x="2768321" y="5436158"/>
                  </a:lnTo>
                  <a:lnTo>
                    <a:pt x="2497016" y="5375868"/>
                  </a:lnTo>
                  <a:lnTo>
                    <a:pt x="2250831" y="5295481"/>
                  </a:lnTo>
                  <a:lnTo>
                    <a:pt x="2125227" y="5169877"/>
                  </a:lnTo>
                  <a:lnTo>
                    <a:pt x="2029767" y="5079442"/>
                  </a:lnTo>
                  <a:lnTo>
                    <a:pt x="2009671" y="4938765"/>
                  </a:lnTo>
                  <a:lnTo>
                    <a:pt x="1989574" y="4918668"/>
                  </a:lnTo>
                  <a:lnTo>
                    <a:pt x="1863970" y="4978958"/>
                  </a:lnTo>
                  <a:lnTo>
                    <a:pt x="1728317" y="5044272"/>
                  </a:lnTo>
                  <a:lnTo>
                    <a:pt x="1507253" y="5014127"/>
                  </a:lnTo>
                  <a:lnTo>
                    <a:pt x="1306286" y="4928716"/>
                  </a:lnTo>
                  <a:lnTo>
                    <a:pt x="1190730" y="4767943"/>
                  </a:lnTo>
                  <a:lnTo>
                    <a:pt x="1120392" y="4592096"/>
                  </a:lnTo>
                  <a:lnTo>
                    <a:pt x="1120392" y="4421275"/>
                  </a:lnTo>
                  <a:lnTo>
                    <a:pt x="1120392" y="4315767"/>
                  </a:lnTo>
                  <a:lnTo>
                    <a:pt x="974690" y="4386105"/>
                  </a:lnTo>
                  <a:lnTo>
                    <a:pt x="738554" y="4406202"/>
                  </a:lnTo>
                  <a:lnTo>
                    <a:pt x="532563" y="4376057"/>
                  </a:lnTo>
                  <a:lnTo>
                    <a:pt x="386862" y="4285622"/>
                  </a:lnTo>
                  <a:lnTo>
                    <a:pt x="281354" y="4119824"/>
                  </a:lnTo>
                  <a:lnTo>
                    <a:pt x="251209" y="3969099"/>
                  </a:lnTo>
                  <a:lnTo>
                    <a:pt x="256233" y="3873639"/>
                  </a:lnTo>
                  <a:lnTo>
                    <a:pt x="266282" y="3707842"/>
                  </a:lnTo>
                  <a:lnTo>
                    <a:pt x="306475" y="3567165"/>
                  </a:lnTo>
                  <a:lnTo>
                    <a:pt x="371789" y="3491802"/>
                  </a:lnTo>
                  <a:lnTo>
                    <a:pt x="411983" y="3451609"/>
                  </a:lnTo>
                  <a:lnTo>
                    <a:pt x="422031" y="3416439"/>
                  </a:lnTo>
                  <a:lnTo>
                    <a:pt x="261257" y="3315956"/>
                  </a:lnTo>
                  <a:lnTo>
                    <a:pt x="165798" y="3180303"/>
                  </a:lnTo>
                  <a:lnTo>
                    <a:pt x="90435" y="2994409"/>
                  </a:lnTo>
                  <a:lnTo>
                    <a:pt x="80387" y="2793442"/>
                  </a:lnTo>
                  <a:lnTo>
                    <a:pt x="115556" y="2642716"/>
                  </a:lnTo>
                  <a:lnTo>
                    <a:pt x="165798" y="2431701"/>
                  </a:lnTo>
                  <a:lnTo>
                    <a:pt x="261257" y="2301072"/>
                  </a:lnTo>
                  <a:lnTo>
                    <a:pt x="361741" y="2195565"/>
                  </a:lnTo>
                  <a:lnTo>
                    <a:pt x="442128" y="2140299"/>
                  </a:lnTo>
                  <a:lnTo>
                    <a:pt x="602901" y="2054888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905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600" b="1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3569914-364A-6AF1-85F1-0BFCF4FDB1A8}"/>
                </a:ext>
              </a:extLst>
            </p:cNvPr>
            <p:cNvSpPr txBox="1"/>
            <p:nvPr/>
          </p:nvSpPr>
          <p:spPr>
            <a:xfrm>
              <a:off x="10146498" y="2857389"/>
              <a:ext cx="1547451" cy="622324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>
                  <a:latin typeface="Sassoon Primary Rg" panose="02000606020000020004" pitchFamily="2" charset="0"/>
                </a:rPr>
                <a:t>How will I know when I get there?</a:t>
              </a:r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B90D4CDA-08E3-0ED1-C1FB-0242710F0D9A}"/>
              </a:ext>
            </a:extLst>
          </p:cNvPr>
          <p:cNvSpPr/>
          <p:nvPr/>
        </p:nvSpPr>
        <p:spPr>
          <a:xfrm>
            <a:off x="2767911" y="4261260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139F2B2-DE54-7CE1-CCBE-1C4164F07AC7}"/>
              </a:ext>
            </a:extLst>
          </p:cNvPr>
          <p:cNvSpPr/>
          <p:nvPr/>
        </p:nvSpPr>
        <p:spPr>
          <a:xfrm>
            <a:off x="3206304" y="2991789"/>
            <a:ext cx="266024" cy="319228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721B1AA3-17DD-506B-9B14-CDFF5EA0BECB}"/>
              </a:ext>
            </a:extLst>
          </p:cNvPr>
          <p:cNvSpPr/>
          <p:nvPr/>
        </p:nvSpPr>
        <p:spPr>
          <a:xfrm>
            <a:off x="2271587" y="1913146"/>
            <a:ext cx="206619" cy="247942"/>
          </a:xfrm>
          <a:custGeom>
            <a:avLst/>
            <a:gdLst>
              <a:gd name="connsiteX0" fmla="*/ 167780 w 1887523"/>
              <a:gd name="connsiteY0" fmla="*/ 1182847 h 2265027"/>
              <a:gd name="connsiteX1" fmla="*/ 58723 w 1887523"/>
              <a:gd name="connsiteY1" fmla="*/ 989900 h 2265027"/>
              <a:gd name="connsiteX2" fmla="*/ 0 w 1887523"/>
              <a:gd name="connsiteY2" fmla="*/ 788565 h 2265027"/>
              <a:gd name="connsiteX3" fmla="*/ 50334 w 1887523"/>
              <a:gd name="connsiteY3" fmla="*/ 612396 h 2265027"/>
              <a:gd name="connsiteX4" fmla="*/ 134224 w 1887523"/>
              <a:gd name="connsiteY4" fmla="*/ 402671 h 2265027"/>
              <a:gd name="connsiteX5" fmla="*/ 251669 w 1887523"/>
              <a:gd name="connsiteY5" fmla="*/ 310392 h 2265027"/>
              <a:gd name="connsiteX6" fmla="*/ 385893 w 1887523"/>
              <a:gd name="connsiteY6" fmla="*/ 243280 h 2265027"/>
              <a:gd name="connsiteX7" fmla="*/ 578840 w 1887523"/>
              <a:gd name="connsiteY7" fmla="*/ 251669 h 2265027"/>
              <a:gd name="connsiteX8" fmla="*/ 713064 w 1887523"/>
              <a:gd name="connsiteY8" fmla="*/ 100667 h 2265027"/>
              <a:gd name="connsiteX9" fmla="*/ 872455 w 1887523"/>
              <a:gd name="connsiteY9" fmla="*/ 16778 h 2265027"/>
              <a:gd name="connsiteX10" fmla="*/ 1065402 w 1887523"/>
              <a:gd name="connsiteY10" fmla="*/ 0 h 2265027"/>
              <a:gd name="connsiteX11" fmla="*/ 1191236 w 1887523"/>
              <a:gd name="connsiteY11" fmla="*/ 33555 h 2265027"/>
              <a:gd name="connsiteX12" fmla="*/ 1342238 w 1887523"/>
              <a:gd name="connsiteY12" fmla="*/ 100667 h 2265027"/>
              <a:gd name="connsiteX13" fmla="*/ 1417739 w 1887523"/>
              <a:gd name="connsiteY13" fmla="*/ 192946 h 2265027"/>
              <a:gd name="connsiteX14" fmla="*/ 1426128 w 1887523"/>
              <a:gd name="connsiteY14" fmla="*/ 260058 h 2265027"/>
              <a:gd name="connsiteX15" fmla="*/ 1426128 w 1887523"/>
              <a:gd name="connsiteY15" fmla="*/ 469783 h 2265027"/>
              <a:gd name="connsiteX16" fmla="*/ 1560352 w 1887523"/>
              <a:gd name="connsiteY16" fmla="*/ 486561 h 2265027"/>
              <a:gd name="connsiteX17" fmla="*/ 1744910 w 1887523"/>
              <a:gd name="connsiteY17" fmla="*/ 536895 h 2265027"/>
              <a:gd name="connsiteX18" fmla="*/ 1803633 w 1887523"/>
              <a:gd name="connsiteY18" fmla="*/ 604007 h 2265027"/>
              <a:gd name="connsiteX19" fmla="*/ 1887523 w 1887523"/>
              <a:gd name="connsiteY19" fmla="*/ 855677 h 2265027"/>
              <a:gd name="connsiteX20" fmla="*/ 1887523 w 1887523"/>
              <a:gd name="connsiteY20" fmla="*/ 1082179 h 2265027"/>
              <a:gd name="connsiteX21" fmla="*/ 1845578 w 1887523"/>
              <a:gd name="connsiteY21" fmla="*/ 1258348 h 2265027"/>
              <a:gd name="connsiteX22" fmla="*/ 1778466 w 1887523"/>
              <a:gd name="connsiteY22" fmla="*/ 1409350 h 2265027"/>
              <a:gd name="connsiteX23" fmla="*/ 1661020 w 1887523"/>
              <a:gd name="connsiteY23" fmla="*/ 1493240 h 2265027"/>
              <a:gd name="connsiteX24" fmla="*/ 1560352 w 1887523"/>
              <a:gd name="connsiteY24" fmla="*/ 1526796 h 2265027"/>
              <a:gd name="connsiteX25" fmla="*/ 1619075 w 1887523"/>
              <a:gd name="connsiteY25" fmla="*/ 1619075 h 2265027"/>
              <a:gd name="connsiteX26" fmla="*/ 1627464 w 1887523"/>
              <a:gd name="connsiteY26" fmla="*/ 1719743 h 2265027"/>
              <a:gd name="connsiteX27" fmla="*/ 1568741 w 1887523"/>
              <a:gd name="connsiteY27" fmla="*/ 1912689 h 2265027"/>
              <a:gd name="connsiteX28" fmla="*/ 1493240 w 1887523"/>
              <a:gd name="connsiteY28" fmla="*/ 2038524 h 2265027"/>
              <a:gd name="connsiteX29" fmla="*/ 1417739 w 1887523"/>
              <a:gd name="connsiteY29" fmla="*/ 2122414 h 2265027"/>
              <a:gd name="connsiteX30" fmla="*/ 1333849 w 1887523"/>
              <a:gd name="connsiteY30" fmla="*/ 2189526 h 2265027"/>
              <a:gd name="connsiteX31" fmla="*/ 1157680 w 1887523"/>
              <a:gd name="connsiteY31" fmla="*/ 2265027 h 2265027"/>
              <a:gd name="connsiteX32" fmla="*/ 914400 w 1887523"/>
              <a:gd name="connsiteY32" fmla="*/ 2248249 h 2265027"/>
              <a:gd name="connsiteX33" fmla="*/ 805343 w 1887523"/>
              <a:gd name="connsiteY33" fmla="*/ 2147581 h 2265027"/>
              <a:gd name="connsiteX34" fmla="*/ 696286 w 1887523"/>
              <a:gd name="connsiteY34" fmla="*/ 2004968 h 2265027"/>
              <a:gd name="connsiteX35" fmla="*/ 511728 w 1887523"/>
              <a:gd name="connsiteY35" fmla="*/ 2072080 h 2265027"/>
              <a:gd name="connsiteX36" fmla="*/ 302003 w 1887523"/>
              <a:gd name="connsiteY36" fmla="*/ 2072080 h 2265027"/>
              <a:gd name="connsiteX37" fmla="*/ 83890 w 1887523"/>
              <a:gd name="connsiteY37" fmla="*/ 1887522 h 2265027"/>
              <a:gd name="connsiteX38" fmla="*/ 16778 w 1887523"/>
              <a:gd name="connsiteY38" fmla="*/ 1702965 h 2265027"/>
              <a:gd name="connsiteX39" fmla="*/ 25167 w 1887523"/>
              <a:gd name="connsiteY39" fmla="*/ 1451295 h 2265027"/>
              <a:gd name="connsiteX40" fmla="*/ 58723 w 1887523"/>
              <a:gd name="connsiteY40" fmla="*/ 1350627 h 2265027"/>
              <a:gd name="connsiteX41" fmla="*/ 117446 w 1887523"/>
              <a:gd name="connsiteY41" fmla="*/ 1233181 h 2265027"/>
              <a:gd name="connsiteX42" fmla="*/ 167780 w 1887523"/>
              <a:gd name="connsiteY42" fmla="*/ 1182847 h 2265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887523" h="2265027">
                <a:moveTo>
                  <a:pt x="167780" y="1182847"/>
                </a:moveTo>
                <a:lnTo>
                  <a:pt x="58723" y="989900"/>
                </a:lnTo>
                <a:lnTo>
                  <a:pt x="0" y="788565"/>
                </a:lnTo>
                <a:lnTo>
                  <a:pt x="50334" y="612396"/>
                </a:lnTo>
                <a:lnTo>
                  <a:pt x="134224" y="402671"/>
                </a:lnTo>
                <a:lnTo>
                  <a:pt x="251669" y="310392"/>
                </a:lnTo>
                <a:lnTo>
                  <a:pt x="385893" y="243280"/>
                </a:lnTo>
                <a:lnTo>
                  <a:pt x="578840" y="251669"/>
                </a:lnTo>
                <a:lnTo>
                  <a:pt x="713064" y="100667"/>
                </a:lnTo>
                <a:lnTo>
                  <a:pt x="872455" y="16778"/>
                </a:lnTo>
                <a:lnTo>
                  <a:pt x="1065402" y="0"/>
                </a:lnTo>
                <a:lnTo>
                  <a:pt x="1191236" y="33555"/>
                </a:lnTo>
                <a:lnTo>
                  <a:pt x="1342238" y="100667"/>
                </a:lnTo>
                <a:lnTo>
                  <a:pt x="1417739" y="192946"/>
                </a:lnTo>
                <a:lnTo>
                  <a:pt x="1426128" y="260058"/>
                </a:lnTo>
                <a:lnTo>
                  <a:pt x="1426128" y="469783"/>
                </a:lnTo>
                <a:lnTo>
                  <a:pt x="1560352" y="486561"/>
                </a:lnTo>
                <a:lnTo>
                  <a:pt x="1744910" y="536895"/>
                </a:lnTo>
                <a:lnTo>
                  <a:pt x="1803633" y="604007"/>
                </a:lnTo>
                <a:lnTo>
                  <a:pt x="1887523" y="855677"/>
                </a:lnTo>
                <a:lnTo>
                  <a:pt x="1887523" y="1082179"/>
                </a:lnTo>
                <a:lnTo>
                  <a:pt x="1845578" y="1258348"/>
                </a:lnTo>
                <a:lnTo>
                  <a:pt x="1778466" y="1409350"/>
                </a:lnTo>
                <a:lnTo>
                  <a:pt x="1661020" y="1493240"/>
                </a:lnTo>
                <a:lnTo>
                  <a:pt x="1560352" y="1526796"/>
                </a:lnTo>
                <a:lnTo>
                  <a:pt x="1619075" y="1619075"/>
                </a:lnTo>
                <a:lnTo>
                  <a:pt x="1627464" y="1719743"/>
                </a:lnTo>
                <a:lnTo>
                  <a:pt x="1568741" y="1912689"/>
                </a:lnTo>
                <a:lnTo>
                  <a:pt x="1493240" y="2038524"/>
                </a:lnTo>
                <a:lnTo>
                  <a:pt x="1417739" y="2122414"/>
                </a:lnTo>
                <a:lnTo>
                  <a:pt x="1333849" y="2189526"/>
                </a:lnTo>
                <a:lnTo>
                  <a:pt x="1157680" y="2265027"/>
                </a:lnTo>
                <a:lnTo>
                  <a:pt x="914400" y="2248249"/>
                </a:lnTo>
                <a:lnTo>
                  <a:pt x="805343" y="2147581"/>
                </a:lnTo>
                <a:lnTo>
                  <a:pt x="696286" y="2004968"/>
                </a:lnTo>
                <a:lnTo>
                  <a:pt x="511728" y="2072080"/>
                </a:lnTo>
                <a:lnTo>
                  <a:pt x="302003" y="2072080"/>
                </a:lnTo>
                <a:lnTo>
                  <a:pt x="83890" y="1887522"/>
                </a:lnTo>
                <a:lnTo>
                  <a:pt x="16778" y="1702965"/>
                </a:lnTo>
                <a:lnTo>
                  <a:pt x="25167" y="1451295"/>
                </a:lnTo>
                <a:lnTo>
                  <a:pt x="58723" y="1350627"/>
                </a:lnTo>
                <a:lnTo>
                  <a:pt x="117446" y="1233181"/>
                </a:lnTo>
                <a:lnTo>
                  <a:pt x="167780" y="1182847"/>
                </a:lnTo>
                <a:close/>
              </a:path>
            </a:pathLst>
          </a:custGeom>
          <a:noFill/>
          <a:ln w="1905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69BFB0-E1DC-E3FA-6EA3-821A27D46522}"/>
              </a:ext>
            </a:extLst>
          </p:cNvPr>
          <p:cNvSpPr txBox="1"/>
          <p:nvPr/>
        </p:nvSpPr>
        <p:spPr>
          <a:xfrm>
            <a:off x="5873925" y="2665439"/>
            <a:ext cx="55070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>
                <a:latin typeface="Sassoon Infant Rg" panose="02000503030000020003" pitchFamily="2" charset="0"/>
                <a:ea typeface="Sassoon Infant Rg" panose="02000503030000020003" pitchFamily="2" charset="0"/>
              </a:rPr>
              <a:t>I am learning this because it will help me to develop my understanding of vocabulary at a sentence and text level.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B1D5BFC-9C6F-78FE-BB55-8A787A315711}"/>
              </a:ext>
            </a:extLst>
          </p:cNvPr>
          <p:cNvGrpSpPr/>
          <p:nvPr/>
        </p:nvGrpSpPr>
        <p:grpSpPr>
          <a:xfrm>
            <a:off x="10607910" y="233361"/>
            <a:ext cx="1316831" cy="1316831"/>
            <a:chOff x="5180554" y="1026138"/>
            <a:chExt cx="1316831" cy="1316831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30C90C35-E0BE-7AD4-92BC-8EFF113E4DB8}"/>
                </a:ext>
              </a:extLst>
            </p:cNvPr>
            <p:cNvSpPr/>
            <p:nvPr/>
          </p:nvSpPr>
          <p:spPr>
            <a:xfrm>
              <a:off x="5180554" y="1026138"/>
              <a:ext cx="1316831" cy="1316831"/>
            </a:xfrm>
            <a:prstGeom prst="ellipse">
              <a:avLst/>
            </a:prstGeom>
            <a:solidFill>
              <a:srgbClr val="DFF2C0"/>
            </a:solidFill>
            <a:ln w="38100">
              <a:solidFill>
                <a:srgbClr val="82BB27"/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GB"/>
            </a:p>
          </p:txBody>
        </p:sp>
        <p:sp>
          <p:nvSpPr>
            <p:cNvPr id="21" name="Oval 4">
              <a:extLst>
                <a:ext uri="{FF2B5EF4-FFF2-40B4-BE49-F238E27FC236}">
                  <a16:creationId xmlns:a16="http://schemas.microsoft.com/office/drawing/2014/main" id="{D5E138FF-7604-1E33-555D-87C2C96CBE05}"/>
                </a:ext>
              </a:extLst>
            </p:cNvPr>
            <p:cNvSpPr txBox="1"/>
            <p:nvPr/>
          </p:nvSpPr>
          <p:spPr>
            <a:xfrm>
              <a:off x="5373399" y="1218983"/>
              <a:ext cx="931141" cy="93114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6510" tIns="16510" rIns="16510" bIns="1651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GB" sz="1300" b="1" kern="1200">
                  <a:solidFill>
                    <a:srgbClr val="82BB27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rPr>
                <a:t>Vocabulary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26104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01C88-283F-E824-B529-69F7695458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76EFFF-BB53-CBCD-C110-0DBD0B3F03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Sassoon Infant Rg"/>
        <a:ea typeface=""/>
        <a:cs typeface=""/>
      </a:majorFont>
      <a:minorFont>
        <a:latin typeface="Sassoon Infant Rg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848fd07-94db-4308-8950-9cb0e230b958" xsi:nil="true"/>
    <lcf76f155ced4ddcb4097134ff3c332f xmlns="9e6dd442-da5e-411e-833f-0fee7dcd7819">
      <Terms xmlns="http://schemas.microsoft.com/office/infopath/2007/PartnerControls"/>
    </lcf76f155ced4ddcb4097134ff3c332f>
    <SharedWithUsers xmlns="4848fd07-94db-4308-8950-9cb0e230b958">
      <UserInfo>
        <DisplayName>Jo Hewitt - WFA</DisplayName>
        <AccountId>40</AccountId>
        <AccountType/>
      </UserInfo>
      <UserInfo>
        <DisplayName>Jonathan Miller - WFA</DisplayName>
        <AccountId>57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5AAA2B-1185-4CA6-878D-532686679D9F}">
  <ds:schemaRefs>
    <ds:schemaRef ds:uri="http://purl.org/dc/terms/"/>
    <ds:schemaRef ds:uri="9e6dd442-da5e-411e-833f-0fee7dcd7819"/>
    <ds:schemaRef ds:uri="4848fd07-94db-4308-8950-9cb0e230b958"/>
    <ds:schemaRef ds:uri="http://purl.org/dc/elements/1.1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E02CAFD-7AEC-4FCB-8049-4FEF8A0D00D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D150B1-45AA-4FD4-8213-B2AC8AE18B93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1163</Words>
  <Application>Microsoft Macintosh PowerPoint</Application>
  <PresentationFormat>Widescreen</PresentationFormat>
  <Paragraphs>168</Paragraphs>
  <Slides>22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Sassoon Infant Rg</vt:lpstr>
      <vt:lpstr>Sassoon Primary Rg</vt:lpstr>
      <vt:lpstr>Twinkl Cursive Looped Light</vt:lpstr>
      <vt:lpstr>XCCW Joined 4a</vt:lpstr>
      <vt:lpstr>Office Theme</vt:lpstr>
      <vt:lpstr>PowerPoint Presentation</vt:lpstr>
      <vt:lpstr>Being a Reader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Being a Reader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Being a Reader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Helen Rea - WFA</dc:creator>
  <cp:lastModifiedBy>innes mclean</cp:lastModifiedBy>
  <cp:revision>1</cp:revision>
  <cp:lastPrinted>2024-09-12T11:50:42Z</cp:lastPrinted>
  <dcterms:created xsi:type="dcterms:W3CDTF">2024-01-22T14:53:27Z</dcterms:created>
  <dcterms:modified xsi:type="dcterms:W3CDTF">2026-07-15T16:02:24Z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0x010100AC71695694772F44B387615DF8DED97F</vt:lpwstr>
  </property>
</Properties>
</file>