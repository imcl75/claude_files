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1923" r:id="rId5"/>
    <p:sldId id="1817" r:id="rId6"/>
    <p:sldId id="1884" r:id="rId7"/>
    <p:sldId id="1912" r:id="rId8"/>
    <p:sldId id="1907" r:id="rId9"/>
    <p:sldId id="1887" r:id="rId10"/>
    <p:sldId id="1800" r:id="rId11"/>
    <p:sldId id="1904" r:id="rId12"/>
    <p:sldId id="407" r:id="rId13"/>
    <p:sldId id="1799" r:id="rId14"/>
    <p:sldId id="1885" r:id="rId15"/>
    <p:sldId id="1903" r:id="rId16"/>
    <p:sldId id="1804" r:id="rId17"/>
    <p:sldId id="1902" r:id="rId18"/>
    <p:sldId id="1924" r:id="rId19"/>
    <p:sldId id="2001" r:id="rId20"/>
    <p:sldId id="2002" r:id="rId21"/>
    <p:sldId id="2003" r:id="rId22"/>
    <p:sldId id="2004" r:id="rId23"/>
    <p:sldId id="2005" r:id="rId24"/>
    <p:sldId id="2006" r:id="rId25"/>
    <p:sldId id="2007" r:id="rId26"/>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FFFF00"/>
    <a:srgbClr val="DEECF8"/>
    <a:srgbClr val="DFF2C0"/>
    <a:srgbClr val="FFDD99"/>
    <a:srgbClr val="A2CFFC"/>
    <a:srgbClr val="CD007A"/>
    <a:srgbClr val="FFD5EE"/>
    <a:srgbClr val="D463AF"/>
    <a:srgbClr val="FFAF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8F9E1-8AEB-AB46-9CD9-DB6366D0DBFF}" v="5" dt="2026-06-03T14:27:42.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nes Mclean - WFA" userId="cffa568d-066a-4903-b028-bafd937e5ea6" providerId="ADAL" clId="{BBC503F0-0109-47F6-B1DF-E0A271B1FB53}"/>
    <pc:docChg chg="modSld">
      <pc:chgData name="Innes Mclean - WFA" userId="cffa568d-066a-4903-b028-bafd937e5ea6" providerId="ADAL" clId="{BBC503F0-0109-47F6-B1DF-E0A271B1FB53}" dt="2026-06-03T06:58:27.153" v="57" actId="14100"/>
      <pc:docMkLst>
        <pc:docMk/>
      </pc:docMkLst>
      <pc:sldChg chg="modSp mod">
        <pc:chgData name="Innes Mclean - WFA" userId="cffa568d-066a-4903-b028-bafd937e5ea6" providerId="ADAL" clId="{BBC503F0-0109-47F6-B1DF-E0A271B1FB53}" dt="2026-06-03T06:58:07.416" v="56" actId="20577"/>
        <pc:sldMkLst>
          <pc:docMk/>
          <pc:sldMk cId="3303693540" sldId="407"/>
        </pc:sldMkLst>
        <pc:spChg chg="mod">
          <ac:chgData name="Innes Mclean - WFA" userId="cffa568d-066a-4903-b028-bafd937e5ea6" providerId="ADAL" clId="{BBC503F0-0109-47F6-B1DF-E0A271B1FB53}" dt="2026-06-03T06:58:07.416" v="56" actId="20577"/>
          <ac:spMkLst>
            <pc:docMk/>
            <pc:sldMk cId="3303693540" sldId="407"/>
            <ac:spMk id="6" creationId="{2B18F8C8-4B63-E425-87CE-D13C91BCA056}"/>
          </ac:spMkLst>
        </pc:spChg>
      </pc:sldChg>
      <pc:sldChg chg="modSp mod">
        <pc:chgData name="Innes Mclean - WFA" userId="cffa568d-066a-4903-b028-bafd937e5ea6" providerId="ADAL" clId="{BBC503F0-0109-47F6-B1DF-E0A271B1FB53}" dt="2026-06-03T06:58:27.153" v="57" actId="14100"/>
        <pc:sldMkLst>
          <pc:docMk/>
          <pc:sldMk cId="1979448493" sldId="1804"/>
        </pc:sldMkLst>
        <pc:spChg chg="mod">
          <ac:chgData name="Innes Mclean - WFA" userId="cffa568d-066a-4903-b028-bafd937e5ea6" providerId="ADAL" clId="{BBC503F0-0109-47F6-B1DF-E0A271B1FB53}" dt="2026-06-03T06:58:27.153" v="57" actId="14100"/>
          <ac:spMkLst>
            <pc:docMk/>
            <pc:sldMk cId="1979448493" sldId="1804"/>
            <ac:spMk id="15" creationId="{E15A5C10-306D-554F-EAA6-B73E5AF3D6C7}"/>
          </ac:spMkLst>
        </pc:spChg>
      </pc:sldChg>
      <pc:sldChg chg="modSp mod">
        <pc:chgData name="Innes Mclean - WFA" userId="cffa568d-066a-4903-b028-bafd937e5ea6" providerId="ADAL" clId="{BBC503F0-0109-47F6-B1DF-E0A271B1FB53}" dt="2026-05-06T07:16:05.639" v="50" actId="403"/>
        <pc:sldMkLst>
          <pc:docMk/>
          <pc:sldMk cId="3172617500" sldId="1817"/>
        </pc:sldMkLst>
        <pc:spChg chg="mod">
          <ac:chgData name="Innes Mclean - WFA" userId="cffa568d-066a-4903-b028-bafd937e5ea6" providerId="ADAL" clId="{BBC503F0-0109-47F6-B1DF-E0A271B1FB53}" dt="2026-05-06T07:16:05.639" v="50" actId="403"/>
          <ac:spMkLst>
            <pc:docMk/>
            <pc:sldMk cId="3172617500" sldId="1817"/>
            <ac:spMk id="8" creationId="{E3C356D1-4D69-6789-D9E9-77C69F82E055}"/>
          </ac:spMkLst>
        </pc:spChg>
      </pc:sldChg>
    </pc:docChg>
  </pc:docChgLst>
  <pc:docChgLst>
    <pc:chgData name="Innes Mclean - WFA" userId="cffa568d-066a-4903-b028-bafd937e5ea6" providerId="ADAL" clId="{BAFB47AA-30B1-57EF-A3A9-D4A2AD815BD7}"/>
    <pc:docChg chg="custSel addSld delSld modSld">
      <pc:chgData name="Innes Mclean - WFA" userId="cffa568d-066a-4903-b028-bafd937e5ea6" providerId="ADAL" clId="{BAFB47AA-30B1-57EF-A3A9-D4A2AD815BD7}" dt="2026-06-03T14:27:42.532" v="87" actId="20577"/>
      <pc:docMkLst>
        <pc:docMk/>
      </pc:docMkLst>
      <pc:sldChg chg="addSp modSp add mod modShow">
        <pc:chgData name="Innes Mclean - WFA" userId="cffa568d-066a-4903-b028-bafd937e5ea6" providerId="ADAL" clId="{BAFB47AA-30B1-57EF-A3A9-D4A2AD815BD7}" dt="2026-05-21T16:23:12.533" v="81" actId="1076"/>
        <pc:sldMkLst>
          <pc:docMk/>
          <pc:sldMk cId="3303693540" sldId="407"/>
        </pc:sldMkLst>
        <pc:spChg chg="mod">
          <ac:chgData name="Innes Mclean - WFA" userId="cffa568d-066a-4903-b028-bafd937e5ea6" providerId="ADAL" clId="{BAFB47AA-30B1-57EF-A3A9-D4A2AD815BD7}" dt="2026-05-21T16:22:57.742" v="60" actId="20577"/>
          <ac:spMkLst>
            <pc:docMk/>
            <pc:sldMk cId="3303693540" sldId="407"/>
            <ac:spMk id="3" creationId="{9AA1DE16-8C7B-4868-2DE3-9C9C7D7D4324}"/>
          </ac:spMkLst>
        </pc:spChg>
        <pc:spChg chg="add mod">
          <ac:chgData name="Innes Mclean - WFA" userId="cffa568d-066a-4903-b028-bafd937e5ea6" providerId="ADAL" clId="{BAFB47AA-30B1-57EF-A3A9-D4A2AD815BD7}" dt="2026-05-21T16:23:12.533" v="81" actId="1076"/>
          <ac:spMkLst>
            <pc:docMk/>
            <pc:sldMk cId="3303693540" sldId="407"/>
            <ac:spMk id="6" creationId="{2B18F8C8-4B63-E425-87CE-D13C91BCA056}"/>
          </ac:spMkLst>
        </pc:spChg>
      </pc:sldChg>
      <pc:sldChg chg="add mod modShow">
        <pc:chgData name="Innes Mclean - WFA" userId="cffa568d-066a-4903-b028-bafd937e5ea6" providerId="ADAL" clId="{BAFB47AA-30B1-57EF-A3A9-D4A2AD815BD7}" dt="2026-05-21T16:22:52.831" v="59" actId="34476"/>
        <pc:sldMkLst>
          <pc:docMk/>
          <pc:sldMk cId="2855788608" sldId="1799"/>
        </pc:sldMkLst>
      </pc:sldChg>
      <pc:sldChg chg="modSp add mod modShow">
        <pc:chgData name="Innes Mclean - WFA" userId="cffa568d-066a-4903-b028-bafd937e5ea6" providerId="ADAL" clId="{BAFB47AA-30B1-57EF-A3A9-D4A2AD815BD7}" dt="2026-05-21T16:23:20.305" v="82" actId="1076"/>
        <pc:sldMkLst>
          <pc:docMk/>
          <pc:sldMk cId="1979448493" sldId="1804"/>
        </pc:sldMkLst>
        <pc:spChg chg="mod">
          <ac:chgData name="Innes Mclean - WFA" userId="cffa568d-066a-4903-b028-bafd937e5ea6" providerId="ADAL" clId="{BAFB47AA-30B1-57EF-A3A9-D4A2AD815BD7}" dt="2026-05-21T16:23:20.305" v="82" actId="1076"/>
          <ac:spMkLst>
            <pc:docMk/>
            <pc:sldMk cId="1979448493" sldId="1804"/>
            <ac:spMk id="22" creationId="{BBE494B4-E4A1-C48A-15E2-3683EA0AD086}"/>
          </ac:spMkLst>
        </pc:spChg>
      </pc:sldChg>
      <pc:sldChg chg="modSp mod">
        <pc:chgData name="Innes Mclean - WFA" userId="cffa568d-066a-4903-b028-bafd937e5ea6" providerId="ADAL" clId="{BAFB47AA-30B1-57EF-A3A9-D4A2AD815BD7}" dt="2026-05-18T15:47:23.455" v="55" actId="20577"/>
        <pc:sldMkLst>
          <pc:docMk/>
          <pc:sldMk cId="3172617500" sldId="1817"/>
        </pc:sldMkLst>
        <pc:spChg chg="mod">
          <ac:chgData name="Innes Mclean - WFA" userId="cffa568d-066a-4903-b028-bafd937e5ea6" providerId="ADAL" clId="{BAFB47AA-30B1-57EF-A3A9-D4A2AD815BD7}" dt="2026-05-18T15:47:23.455" v="55" actId="20577"/>
          <ac:spMkLst>
            <pc:docMk/>
            <pc:sldMk cId="3172617500" sldId="1817"/>
            <ac:spMk id="6" creationId="{BB00753D-C189-01CA-44B1-B484F954D600}"/>
          </ac:spMkLst>
        </pc:spChg>
        <pc:grpChg chg="mod">
          <ac:chgData name="Innes Mclean - WFA" userId="cffa568d-066a-4903-b028-bafd937e5ea6" providerId="ADAL" clId="{BAFB47AA-30B1-57EF-A3A9-D4A2AD815BD7}" dt="2026-05-09T18:39:05.256" v="26" actId="1076"/>
          <ac:grpSpMkLst>
            <pc:docMk/>
            <pc:sldMk cId="3172617500" sldId="1817"/>
            <ac:grpSpMk id="4" creationId="{5F3F8467-5724-D86C-FDA4-D49533DEC4F0}"/>
          </ac:grpSpMkLst>
        </pc:grpChg>
        <pc:picChg chg="mod">
          <ac:chgData name="Innes Mclean - WFA" userId="cffa568d-066a-4903-b028-bafd937e5ea6" providerId="ADAL" clId="{BAFB47AA-30B1-57EF-A3A9-D4A2AD815BD7}" dt="2026-05-09T18:39:05.256" v="26" actId="1076"/>
          <ac:picMkLst>
            <pc:docMk/>
            <pc:sldMk cId="3172617500" sldId="1817"/>
            <ac:picMk id="5" creationId="{2B1C2540-38D6-7D21-7288-1F3B603531FB}"/>
          </ac:picMkLst>
        </pc:picChg>
        <pc:picChg chg="mod">
          <ac:chgData name="Innes Mclean - WFA" userId="cffa568d-066a-4903-b028-bafd937e5ea6" providerId="ADAL" clId="{BAFB47AA-30B1-57EF-A3A9-D4A2AD815BD7}" dt="2026-05-09T18:39:05.256" v="26" actId="1076"/>
          <ac:picMkLst>
            <pc:docMk/>
            <pc:sldMk cId="3172617500" sldId="1817"/>
            <ac:picMk id="7" creationId="{8F3344A5-4924-D3BC-68C4-52E2EB3B6D65}"/>
          </ac:picMkLst>
        </pc:picChg>
      </pc:sldChg>
      <pc:sldChg chg="add mod modShow">
        <pc:chgData name="Innes Mclean - WFA" userId="cffa568d-066a-4903-b028-bafd937e5ea6" providerId="ADAL" clId="{BAFB47AA-30B1-57EF-A3A9-D4A2AD815BD7}" dt="2026-05-21T16:22:52.831" v="59" actId="34476"/>
        <pc:sldMkLst>
          <pc:docMk/>
          <pc:sldMk cId="3287233457" sldId="1885"/>
        </pc:sldMkLst>
      </pc:sldChg>
      <pc:sldChg chg="modSp mod">
        <pc:chgData name="Innes Mclean - WFA" userId="cffa568d-066a-4903-b028-bafd937e5ea6" providerId="ADAL" clId="{BAFB47AA-30B1-57EF-A3A9-D4A2AD815BD7}" dt="2026-05-09T18:38:17.522" v="20" actId="1076"/>
        <pc:sldMkLst>
          <pc:docMk/>
          <pc:sldMk cId="303222904" sldId="1887"/>
        </pc:sldMkLst>
        <pc:spChg chg="mod">
          <ac:chgData name="Innes Mclean - WFA" userId="cffa568d-066a-4903-b028-bafd937e5ea6" providerId="ADAL" clId="{BAFB47AA-30B1-57EF-A3A9-D4A2AD815BD7}" dt="2026-05-09T18:38:17.522" v="20" actId="1076"/>
          <ac:spMkLst>
            <pc:docMk/>
            <pc:sldMk cId="303222904" sldId="1887"/>
            <ac:spMk id="15" creationId="{DB1CFDC9-8812-2D57-F259-9934E0E81FC7}"/>
          </ac:spMkLst>
        </pc:spChg>
      </pc:sldChg>
      <pc:sldChg chg="add mod modShow">
        <pc:chgData name="Innes Mclean - WFA" userId="cffa568d-066a-4903-b028-bafd937e5ea6" providerId="ADAL" clId="{BAFB47AA-30B1-57EF-A3A9-D4A2AD815BD7}" dt="2026-05-21T16:22:52.831" v="59" actId="34476"/>
        <pc:sldMkLst>
          <pc:docMk/>
          <pc:sldMk cId="2842610468" sldId="1902"/>
        </pc:sldMkLst>
      </pc:sldChg>
      <pc:sldChg chg="add mod modShow">
        <pc:chgData name="Innes Mclean - WFA" userId="cffa568d-066a-4903-b028-bafd937e5ea6" providerId="ADAL" clId="{BAFB47AA-30B1-57EF-A3A9-D4A2AD815BD7}" dt="2026-05-21T16:22:52.831" v="59" actId="34476"/>
        <pc:sldMkLst>
          <pc:docMk/>
          <pc:sldMk cId="3934231579" sldId="1903"/>
        </pc:sldMkLst>
      </pc:sldChg>
      <pc:sldChg chg="modSp mod">
        <pc:chgData name="Innes Mclean - WFA" userId="cffa568d-066a-4903-b028-bafd937e5ea6" providerId="ADAL" clId="{BAFB47AA-30B1-57EF-A3A9-D4A2AD815BD7}" dt="2026-05-21T16:22:48.227" v="58" actId="27636"/>
        <pc:sldMkLst>
          <pc:docMk/>
          <pc:sldMk cId="4127022080" sldId="1904"/>
        </pc:sldMkLst>
        <pc:spChg chg="mod">
          <ac:chgData name="Innes Mclean - WFA" userId="cffa568d-066a-4903-b028-bafd937e5ea6" providerId="ADAL" clId="{BAFB47AA-30B1-57EF-A3A9-D4A2AD815BD7}" dt="2026-05-21T16:22:48.227" v="58" actId="27636"/>
          <ac:spMkLst>
            <pc:docMk/>
            <pc:sldMk cId="4127022080" sldId="1904"/>
            <ac:spMk id="9" creationId="{C39F0976-7660-64BA-E055-E6E60B65E8BB}"/>
          </ac:spMkLst>
        </pc:spChg>
      </pc:sldChg>
      <pc:sldChg chg="add mod modShow">
        <pc:chgData name="Innes Mclean - WFA" userId="cffa568d-066a-4903-b028-bafd937e5ea6" providerId="ADAL" clId="{BAFB47AA-30B1-57EF-A3A9-D4A2AD815BD7}" dt="2026-05-21T16:22:52.831" v="59" actId="34476"/>
        <pc:sldMkLst>
          <pc:docMk/>
          <pc:sldMk cId="2161724486" sldId="1924"/>
        </pc:sldMkLst>
      </pc:sldChg>
      <pc:sldChg chg="modSp mod">
        <pc:chgData name="Innes Mclean - WFA" userId="cffa568d-066a-4903-b028-bafd937e5ea6" providerId="ADAL" clId="{BAFB47AA-30B1-57EF-A3A9-D4A2AD815BD7}" dt="2026-06-03T14:27:42.532" v="87" actId="20577"/>
        <pc:sldMkLst>
          <pc:docMk/>
          <pc:sldMk cId="3303693540" sldId="2001"/>
        </pc:sldMkLst>
        <pc:spChg chg="mod">
          <ac:chgData name="Innes Mclean - WFA" userId="cffa568d-066a-4903-b028-bafd937e5ea6" providerId="ADAL" clId="{BAFB47AA-30B1-57EF-A3A9-D4A2AD815BD7}" dt="2026-06-03T14:27:42.532" v="87" actId="20577"/>
          <ac:spMkLst>
            <pc:docMk/>
            <pc:sldMk cId="3303693540" sldId="2001"/>
            <ac:spMk id="6" creationId="{2B18F8C8-4B63-E425-87CE-D13C91BCA056}"/>
          </ac:spMkLst>
        </pc:spChg>
      </pc:sldChg>
    </pc:docChg>
  </pc:docChgLst>
</pc:chgInfo>
</file>

<file path=ppt/ink/ink1.xml><?xml version="1.0" encoding="utf-8"?>
<inkml:ink xmlns:inkml="http://www.w3.org/2003/InkML">
  <inkml:definitions>
    <inkml:context xml:id="ctx0">
      <inkml:inkSource xml:id="inkSrc0">
        <inkml:traceFormat>
          <inkml:channel name="X" type="integer" max="26395" units="cm"/>
          <inkml:channel name="Y" type="integer" max="14847" units="cm"/>
          <inkml:channel name="T" type="integer" max="2.14748E9" units="dev"/>
        </inkml:traceFormat>
        <inkml:channelProperties>
          <inkml:channelProperty channel="X" name="resolution" value="159.99879" units="1/cm"/>
          <inkml:channelProperty channel="Y" name="resolution" value="160.00647" units="1/cm"/>
          <inkml:channelProperty channel="T" name="resolution" value="1" units="1/dev"/>
        </inkml:channelProperties>
      </inkml:inkSource>
      <inkml:timestamp xml:id="ts0" timeString="2025-09-17T12:45:34.864"/>
    </inkml:context>
    <inkml:brush xml:id="br0">
      <inkml:brushProperty name="width" value="0.05292" units="cm"/>
      <inkml:brushProperty name="height" value="0.05292" units="cm"/>
      <inkml:brushProperty name="color" value="#FF0000"/>
    </inkml:brush>
  </inkml:definitions>
  <inkml:trace contextRef="#ctx0" brushRef="#br0">27383 10603 0,'0'0'0</inkml:trace>
</inkml:ink>
</file>

<file path=ppt/ink/ink2.xml><?xml version="1.0" encoding="utf-8"?>
<inkml:ink xmlns:inkml="http://www.w3.org/2003/InkML">
  <inkml:definitions>
    <inkml:context xml:id="ctx0">
      <inkml:inkSource xml:id="inkSrc0">
        <inkml:traceFormat>
          <inkml:channel name="X" type="integer" max="26395" units="cm"/>
          <inkml:channel name="Y" type="integer" max="14847" units="cm"/>
          <inkml:channel name="T" type="integer" max="2.14748E9" units="dev"/>
        </inkml:traceFormat>
        <inkml:channelProperties>
          <inkml:channelProperty channel="X" name="resolution" value="159.99879" units="1/cm"/>
          <inkml:channelProperty channel="Y" name="resolution" value="160.00647" units="1/cm"/>
          <inkml:channelProperty channel="T" name="resolution" value="1" units="1/dev"/>
        </inkml:channelProperties>
      </inkml:inkSource>
      <inkml:timestamp xml:id="ts0" timeString="2025-09-17T12:45:34.864"/>
    </inkml:context>
    <inkml:brush xml:id="br0">
      <inkml:brushProperty name="width" value="0.05292" units="cm"/>
      <inkml:brushProperty name="height" value="0.05292" units="cm"/>
      <inkml:brushProperty name="color" value="#FF0000"/>
    </inkml:brush>
  </inkml:definitions>
  <inkml:trace contextRef="#ctx0" brushRef="#br0">27383 10603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D225DB60-C16B-446D-B5DB-6D7125925E95}" type="datetimeFigureOut">
              <a:rPr lang="en-GB" smtClean="0"/>
              <a:t>03/06/2026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7E8E8B9-ADA3-45E0-8420-BE5E8FCCF1F7}" type="slidenum">
              <a:rPr lang="en-GB" smtClean="0"/>
              <a:t>‹#›</a:t>
            </a:fld>
            <a:endParaRPr lang="en-GB"/>
          </a:p>
        </p:txBody>
      </p:sp>
    </p:spTree>
    <p:extLst>
      <p:ext uri="{BB962C8B-B14F-4D97-AF65-F5344CB8AC3E}">
        <p14:creationId xmlns:p14="http://schemas.microsoft.com/office/powerpoint/2010/main" val="857138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11416-2BF0-1BF0-993C-D7EDF44CE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AD52C-A15F-345E-DEC9-153A113F16D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F11A5D-2009-B729-C92B-9C76C84A13B9}"/>
              </a:ext>
            </a:extLst>
          </p:cNvPr>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a:extLst>
              <a:ext uri="{FF2B5EF4-FFF2-40B4-BE49-F238E27FC236}">
                <a16:creationId xmlns:a16="http://schemas.microsoft.com/office/drawing/2014/main" id="{19A8A58E-928C-8E71-2814-F5DCBF204BB4}"/>
              </a:ext>
            </a:extLst>
          </p:cNvPr>
          <p:cNvSpPr>
            <a:spLocks noGrp="1"/>
          </p:cNvSpPr>
          <p:nvPr>
            <p:ph type="sldNum" sz="quarter" idx="5"/>
          </p:nvPr>
        </p:nvSpPr>
        <p:spPr/>
        <p:txBody>
          <a:bodyPr/>
          <a:lstStyle/>
          <a:p>
            <a:fld id="{B7E8E8B9-ADA3-45E0-8420-BE5E8FCCF1F7}" type="slidenum">
              <a:rPr lang="en-GB" smtClean="0"/>
              <a:t>3</a:t>
            </a:fld>
            <a:endParaRPr lang="en-GB"/>
          </a:p>
        </p:txBody>
      </p:sp>
    </p:spTree>
    <p:extLst>
      <p:ext uri="{BB962C8B-B14F-4D97-AF65-F5344CB8AC3E}">
        <p14:creationId xmlns:p14="http://schemas.microsoft.com/office/powerpoint/2010/main" val="3293585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93071-2F46-9644-A2D0-B7A516A87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F26A4-4C33-FD41-8664-9FFE0D6857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023575B-F319-685A-F4EB-043ABE52686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6D2E282-AD31-3D4D-FFE7-ECB14224B778}"/>
              </a:ext>
            </a:extLst>
          </p:cNvPr>
          <p:cNvSpPr>
            <a:spLocks noGrp="1"/>
          </p:cNvSpPr>
          <p:nvPr>
            <p:ph type="sldNum" sz="quarter" idx="5"/>
          </p:nvPr>
        </p:nvSpPr>
        <p:spPr/>
        <p:txBody>
          <a:bodyPr/>
          <a:lstStyle/>
          <a:p>
            <a:fld id="{B7E8E8B9-ADA3-45E0-8420-BE5E8FCCF1F7}" type="slidenum">
              <a:rPr lang="en-GB" smtClean="0"/>
              <a:t>4</a:t>
            </a:fld>
            <a:endParaRPr lang="en-GB"/>
          </a:p>
        </p:txBody>
      </p:sp>
    </p:spTree>
    <p:extLst>
      <p:ext uri="{BB962C8B-B14F-4D97-AF65-F5344CB8AC3E}">
        <p14:creationId xmlns:p14="http://schemas.microsoft.com/office/powerpoint/2010/main" val="2304213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E6B0-A6BD-A747-E971-48B8368E9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0842B-70A3-6A87-DE71-DC5CDBBC8C2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84E4DBC-5075-4DA5-C90B-BB7261D9738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90E457-613E-E4B9-F2D4-8EB91F55A8B1}"/>
              </a:ext>
            </a:extLst>
          </p:cNvPr>
          <p:cNvSpPr>
            <a:spLocks noGrp="1"/>
          </p:cNvSpPr>
          <p:nvPr>
            <p:ph type="sldNum" sz="quarter" idx="5"/>
          </p:nvPr>
        </p:nvSpPr>
        <p:spPr/>
        <p:txBody>
          <a:bodyPr/>
          <a:lstStyle/>
          <a:p>
            <a:fld id="{B7E8E8B9-ADA3-45E0-8420-BE5E8FCCF1F7}" type="slidenum">
              <a:rPr lang="en-GB" smtClean="0"/>
              <a:t>5</a:t>
            </a:fld>
            <a:endParaRPr lang="en-GB"/>
          </a:p>
        </p:txBody>
      </p:sp>
    </p:spTree>
    <p:extLst>
      <p:ext uri="{BB962C8B-B14F-4D97-AF65-F5344CB8AC3E}">
        <p14:creationId xmlns:p14="http://schemas.microsoft.com/office/powerpoint/2010/main" val="732070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BE0DF-E15F-5B7F-F1A7-97D7767E0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DCBFC-DD36-F38E-02CE-18E5BFA080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BA88D1-8153-ACA0-4EC1-0560A2F1293A}"/>
              </a:ext>
            </a:extLst>
          </p:cNvPr>
          <p:cNvSpPr>
            <a:spLocks noGrp="1"/>
          </p:cNvSpPr>
          <p:nvPr>
            <p:ph type="body" idx="1"/>
          </p:nvPr>
        </p:nvSpPr>
        <p:spPr/>
        <p:txBody>
          <a:bodyPr/>
          <a:lstStyle/>
          <a:p>
            <a:r>
              <a:rPr lang="en-GB"/>
              <a:t>OH ES &amp; KW reading phonically decodable version with TP</a:t>
            </a:r>
          </a:p>
        </p:txBody>
      </p:sp>
      <p:sp>
        <p:nvSpPr>
          <p:cNvPr id="4" name="Slide Number Placeholder 3">
            <a:extLst>
              <a:ext uri="{FF2B5EF4-FFF2-40B4-BE49-F238E27FC236}">
                <a16:creationId xmlns:a16="http://schemas.microsoft.com/office/drawing/2014/main" id="{AEDBB03C-83C0-8406-0E5B-977918F0DAB0}"/>
              </a:ext>
            </a:extLst>
          </p:cNvPr>
          <p:cNvSpPr>
            <a:spLocks noGrp="1"/>
          </p:cNvSpPr>
          <p:nvPr>
            <p:ph type="sldNum" sz="quarter" idx="5"/>
          </p:nvPr>
        </p:nvSpPr>
        <p:spPr/>
        <p:txBody>
          <a:bodyPr/>
          <a:lstStyle/>
          <a:p>
            <a:fld id="{B7E8E8B9-ADA3-45E0-8420-BE5E8FCCF1F7}" type="slidenum">
              <a:rPr lang="en-GB" smtClean="0"/>
              <a:t>6</a:t>
            </a:fld>
            <a:endParaRPr lang="en-GB"/>
          </a:p>
        </p:txBody>
      </p:sp>
    </p:spTree>
    <p:extLst>
      <p:ext uri="{BB962C8B-B14F-4D97-AF65-F5344CB8AC3E}">
        <p14:creationId xmlns:p14="http://schemas.microsoft.com/office/powerpoint/2010/main" val="4012600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9</a:t>
            </a:fld>
            <a:endParaRPr lang="en-GB"/>
          </a:p>
        </p:txBody>
      </p:sp>
    </p:spTree>
    <p:extLst>
      <p:ext uri="{BB962C8B-B14F-4D97-AF65-F5344CB8AC3E}">
        <p14:creationId xmlns:p14="http://schemas.microsoft.com/office/powerpoint/2010/main" val="1911006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10</a:t>
            </a:fld>
            <a:endParaRPr lang="en-GB"/>
          </a:p>
        </p:txBody>
      </p:sp>
    </p:spTree>
    <p:extLst>
      <p:ext uri="{BB962C8B-B14F-4D97-AF65-F5344CB8AC3E}">
        <p14:creationId xmlns:p14="http://schemas.microsoft.com/office/powerpoint/2010/main" val="3624498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90C4-3F63-5CE3-40C0-37C3972A6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53583-2126-636C-06E9-AC409DB6976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94D933-7CA1-A8E0-3C7B-D224B672327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BF62738-39F3-90E4-2B16-74770B32C315}"/>
              </a:ext>
            </a:extLst>
          </p:cNvPr>
          <p:cNvSpPr>
            <a:spLocks noGrp="1"/>
          </p:cNvSpPr>
          <p:nvPr>
            <p:ph type="sldNum" sz="quarter" idx="5"/>
          </p:nvPr>
        </p:nvSpPr>
        <p:spPr/>
        <p:txBody>
          <a:bodyPr/>
          <a:lstStyle/>
          <a:p>
            <a:fld id="{B7E8E8B9-ADA3-45E0-8420-BE5E8FCCF1F7}" type="slidenum">
              <a:rPr lang="en-GB" smtClean="0"/>
              <a:t>11</a:t>
            </a:fld>
            <a:endParaRPr lang="en-GB"/>
          </a:p>
        </p:txBody>
      </p:sp>
    </p:spTree>
    <p:extLst>
      <p:ext uri="{BB962C8B-B14F-4D97-AF65-F5344CB8AC3E}">
        <p14:creationId xmlns:p14="http://schemas.microsoft.com/office/powerpoint/2010/main" val="2480005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91006-C5AD-CE9A-768D-97FEB0FA1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318E-FA05-39EA-68AF-6B9E723A00D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AEEA19-065F-0F91-7D7E-3BF88230403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651696-B6F4-AA2A-3057-6BD30C08333F}"/>
              </a:ext>
            </a:extLst>
          </p:cNvPr>
          <p:cNvSpPr>
            <a:spLocks noGrp="1"/>
          </p:cNvSpPr>
          <p:nvPr>
            <p:ph type="sldNum" sz="quarter" idx="5"/>
          </p:nvPr>
        </p:nvSpPr>
        <p:spPr/>
        <p:txBody>
          <a:bodyPr/>
          <a:lstStyle/>
          <a:p>
            <a:fld id="{B7E8E8B9-ADA3-45E0-8420-BE5E8FCCF1F7}" type="slidenum">
              <a:rPr lang="en-GB" smtClean="0"/>
              <a:t>12</a:t>
            </a:fld>
            <a:endParaRPr lang="en-GB"/>
          </a:p>
        </p:txBody>
      </p:sp>
    </p:spTree>
    <p:extLst>
      <p:ext uri="{BB962C8B-B14F-4D97-AF65-F5344CB8AC3E}">
        <p14:creationId xmlns:p14="http://schemas.microsoft.com/office/powerpoint/2010/main" val="1894965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OH ES &amp; KW reading phonically decodable version with TP</a:t>
            </a:r>
          </a:p>
        </p:txBody>
      </p:sp>
      <p:sp>
        <p:nvSpPr>
          <p:cNvPr id="4" name="Slide Number Placeholder 3"/>
          <p:cNvSpPr>
            <a:spLocks noGrp="1"/>
          </p:cNvSpPr>
          <p:nvPr>
            <p:ph type="sldNum" sz="quarter" idx="5"/>
          </p:nvPr>
        </p:nvSpPr>
        <p:spPr/>
        <p:txBody>
          <a:bodyPr/>
          <a:lstStyle/>
          <a:p>
            <a:fld id="{B7E8E8B9-ADA3-45E0-8420-BE5E8FCCF1F7}" type="slidenum">
              <a:rPr lang="en-GB" smtClean="0"/>
              <a:t>13</a:t>
            </a:fld>
            <a:endParaRPr lang="en-GB"/>
          </a:p>
        </p:txBody>
      </p:sp>
    </p:spTree>
    <p:extLst>
      <p:ext uri="{BB962C8B-B14F-4D97-AF65-F5344CB8AC3E}">
        <p14:creationId xmlns:p14="http://schemas.microsoft.com/office/powerpoint/2010/main" val="2681672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16</a:t>
            </a:fld>
            <a:endParaRPr lang="en-GB"/>
          </a:p>
        </p:txBody>
      </p:sp>
    </p:spTree>
    <p:extLst>
      <p:ext uri="{BB962C8B-B14F-4D97-AF65-F5344CB8AC3E}">
        <p14:creationId xmlns:p14="http://schemas.microsoft.com/office/powerpoint/2010/main" val="1911006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17</a:t>
            </a:fld>
            <a:endParaRPr lang="en-GB"/>
          </a:p>
        </p:txBody>
      </p:sp>
    </p:spTree>
    <p:extLst>
      <p:ext uri="{BB962C8B-B14F-4D97-AF65-F5344CB8AC3E}">
        <p14:creationId xmlns:p14="http://schemas.microsoft.com/office/powerpoint/2010/main" val="3624498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90C4-3F63-5CE3-40C0-37C3972A6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53583-2126-636C-06E9-AC409DB6976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94D933-7CA1-A8E0-3C7B-D224B672327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BF62738-39F3-90E4-2B16-74770B32C315}"/>
              </a:ext>
            </a:extLst>
          </p:cNvPr>
          <p:cNvSpPr>
            <a:spLocks noGrp="1"/>
          </p:cNvSpPr>
          <p:nvPr>
            <p:ph type="sldNum" sz="quarter" idx="5"/>
          </p:nvPr>
        </p:nvSpPr>
        <p:spPr/>
        <p:txBody>
          <a:bodyPr/>
          <a:lstStyle/>
          <a:p>
            <a:fld id="{B7E8E8B9-ADA3-45E0-8420-BE5E8FCCF1F7}" type="slidenum">
              <a:rPr lang="en-GB" smtClean="0"/>
              <a:t>18</a:t>
            </a:fld>
            <a:endParaRPr lang="en-GB"/>
          </a:p>
        </p:txBody>
      </p:sp>
    </p:spTree>
    <p:extLst>
      <p:ext uri="{BB962C8B-B14F-4D97-AF65-F5344CB8AC3E}">
        <p14:creationId xmlns:p14="http://schemas.microsoft.com/office/powerpoint/2010/main" val="2480005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91006-C5AD-CE9A-768D-97FEB0FA1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318E-FA05-39EA-68AF-6B9E723A00D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AEEA19-065F-0F91-7D7E-3BF88230403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651696-B6F4-AA2A-3057-6BD30C08333F}"/>
              </a:ext>
            </a:extLst>
          </p:cNvPr>
          <p:cNvSpPr>
            <a:spLocks noGrp="1"/>
          </p:cNvSpPr>
          <p:nvPr>
            <p:ph type="sldNum" sz="quarter" idx="5"/>
          </p:nvPr>
        </p:nvSpPr>
        <p:spPr/>
        <p:txBody>
          <a:bodyPr/>
          <a:lstStyle/>
          <a:p>
            <a:fld id="{B7E8E8B9-ADA3-45E0-8420-BE5E8FCCF1F7}" type="slidenum">
              <a:rPr lang="en-GB" smtClean="0"/>
              <a:t>19</a:t>
            </a:fld>
            <a:endParaRPr lang="en-GB"/>
          </a:p>
        </p:txBody>
      </p:sp>
    </p:spTree>
    <p:extLst>
      <p:ext uri="{BB962C8B-B14F-4D97-AF65-F5344CB8AC3E}">
        <p14:creationId xmlns:p14="http://schemas.microsoft.com/office/powerpoint/2010/main" val="1894965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OH ES &amp; KW reading phonically decodable version with TP</a:t>
            </a:r>
          </a:p>
        </p:txBody>
      </p:sp>
      <p:sp>
        <p:nvSpPr>
          <p:cNvPr id="4" name="Slide Number Placeholder 3"/>
          <p:cNvSpPr>
            <a:spLocks noGrp="1"/>
          </p:cNvSpPr>
          <p:nvPr>
            <p:ph type="sldNum" sz="quarter" idx="5"/>
          </p:nvPr>
        </p:nvSpPr>
        <p:spPr/>
        <p:txBody>
          <a:bodyPr/>
          <a:lstStyle/>
          <a:p>
            <a:fld id="{B7E8E8B9-ADA3-45E0-8420-BE5E8FCCF1F7}" type="slidenum">
              <a:rPr lang="en-GB" smtClean="0"/>
              <a:t>20</a:t>
            </a:fld>
            <a:endParaRPr lang="en-GB"/>
          </a:p>
        </p:txBody>
      </p:sp>
    </p:spTree>
    <p:extLst>
      <p:ext uri="{BB962C8B-B14F-4D97-AF65-F5344CB8AC3E}">
        <p14:creationId xmlns:p14="http://schemas.microsoft.com/office/powerpoint/2010/main" val="2681672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21</a:t>
            </a:fld>
            <a:endParaRPr lang="en-GB"/>
          </a:p>
        </p:txBody>
      </p:sp>
    </p:spTree>
    <p:extLst>
      <p:ext uri="{BB962C8B-B14F-4D97-AF65-F5344CB8AC3E}">
        <p14:creationId xmlns:p14="http://schemas.microsoft.com/office/powerpoint/2010/main" val="1911006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22</a:t>
            </a:fld>
            <a:endParaRPr lang="en-GB"/>
          </a:p>
        </p:txBody>
      </p:sp>
    </p:spTree>
    <p:extLst>
      <p:ext uri="{BB962C8B-B14F-4D97-AF65-F5344CB8AC3E}">
        <p14:creationId xmlns:p14="http://schemas.microsoft.com/office/powerpoint/2010/main" val="3624498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5A21D-2FCA-5103-944C-97A33EAB49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451915-D313-134F-3B39-E2202692B0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0492851-C45E-2C62-1686-35F05261BF4A}"/>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5" name="Footer Placeholder 4">
            <a:extLst>
              <a:ext uri="{FF2B5EF4-FFF2-40B4-BE49-F238E27FC236}">
                <a16:creationId xmlns:a16="http://schemas.microsoft.com/office/drawing/2014/main" id="{5565C8CD-ED83-6186-0E09-D60B801105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1FC3CD-1629-3981-C514-EA809A6DA1BC}"/>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17367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F554-C9DF-1E20-73BD-9BEBF65F853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C7DEC16-6EFE-8F98-D786-F7FA33F73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F50926-EAE1-8CBC-B944-95606793B845}"/>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5" name="Footer Placeholder 4">
            <a:extLst>
              <a:ext uri="{FF2B5EF4-FFF2-40B4-BE49-F238E27FC236}">
                <a16:creationId xmlns:a16="http://schemas.microsoft.com/office/drawing/2014/main" id="{80EDD0ED-4188-0860-8E6D-81E93458E3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AE27D8-31F7-1112-ED89-AD6BFC9E010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48879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DCD8-D0E7-C7D8-C221-D51F0B6814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84F57CA-859A-366E-BD81-B51EB9F3F1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816810-0B04-441A-BDC2-5334A4ED6B8F}"/>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5" name="Footer Placeholder 4">
            <a:extLst>
              <a:ext uri="{FF2B5EF4-FFF2-40B4-BE49-F238E27FC236}">
                <a16:creationId xmlns:a16="http://schemas.microsoft.com/office/drawing/2014/main" id="{967743A6-7DF3-3A54-9EA1-0818278D5B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0B308D-ED7A-41CA-CE45-BFD4B52EE3FF}"/>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569579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C61B-06CA-A5BD-FF28-522B3C1C5EC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6A4604E-C7F9-DE00-FC0E-9D0430CBD1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2FC8481-8445-D097-8868-FEBEF36308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AA810B-D0B6-055B-A7B2-A91D9312431E}"/>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6" name="Footer Placeholder 5">
            <a:extLst>
              <a:ext uri="{FF2B5EF4-FFF2-40B4-BE49-F238E27FC236}">
                <a16:creationId xmlns:a16="http://schemas.microsoft.com/office/drawing/2014/main" id="{A3AD80D6-ABB1-0B43-2EF6-728A9BF7FF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1F566E-8C59-14B0-1B4A-013D19195555}"/>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1311204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D8B9-6D91-0488-0B6B-D8925368CB7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3EC770-FFE0-0BCE-D25B-ED842005CA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ACAE04-0440-4429-84C8-7BB448E061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9013C1A-78C5-C6A1-01F4-1F918414BE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5F05FB-98EA-3A71-20AF-C01DB3BD78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A7D365-8161-72FD-ABB1-1B60E1F31FF2}"/>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8" name="Footer Placeholder 7">
            <a:extLst>
              <a:ext uri="{FF2B5EF4-FFF2-40B4-BE49-F238E27FC236}">
                <a16:creationId xmlns:a16="http://schemas.microsoft.com/office/drawing/2014/main" id="{DD4C5E40-7DE8-3AB1-5251-3786AB7A839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28ECA8F-EE24-6FAE-06B6-EAB0AA8C899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117855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966A-38F6-03A2-7850-CBC3564D366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AC653EE-AB8C-20D9-EBAD-D2C658811A8D}"/>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4" name="Footer Placeholder 3">
            <a:extLst>
              <a:ext uri="{FF2B5EF4-FFF2-40B4-BE49-F238E27FC236}">
                <a16:creationId xmlns:a16="http://schemas.microsoft.com/office/drawing/2014/main" id="{4B8671EA-7A81-2488-CC64-F7AA1FA5BC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D3FA76E-F712-5B71-1F05-B2754EBC1D19}"/>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21796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7460A9-9D13-270B-29A4-50F492C07A7C}"/>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3" name="Footer Placeholder 2">
            <a:extLst>
              <a:ext uri="{FF2B5EF4-FFF2-40B4-BE49-F238E27FC236}">
                <a16:creationId xmlns:a16="http://schemas.microsoft.com/office/drawing/2014/main" id="{3A1BD67B-379B-C75C-2673-E3D7E24073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727B918-0F9C-09A3-037D-B8A188A3028B}"/>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75554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DC67F-FB8D-658E-598C-C851430A8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BFDB75E-8915-32DA-B58D-D893D67450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52C66A0-5168-1295-9EEA-6F4269952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462D3-A952-91CB-DCE0-30ED606AE43C}"/>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6" name="Footer Placeholder 5">
            <a:extLst>
              <a:ext uri="{FF2B5EF4-FFF2-40B4-BE49-F238E27FC236}">
                <a16:creationId xmlns:a16="http://schemas.microsoft.com/office/drawing/2014/main" id="{7AECD06D-C0FC-9664-2ACD-9DF3C518AB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F2D1BB-BAD7-3C27-EF7C-8769CDC6FC62}"/>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349846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3220F-DE75-7293-BA54-A820732EB0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A7D88C-152E-EE3F-9132-C786827FA5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4B973C0-9031-5A51-8DC0-CD8C2DBD6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C7FE28-2AB1-A1AE-1DC1-2891CD211974}"/>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6" name="Footer Placeholder 5">
            <a:extLst>
              <a:ext uri="{FF2B5EF4-FFF2-40B4-BE49-F238E27FC236}">
                <a16:creationId xmlns:a16="http://schemas.microsoft.com/office/drawing/2014/main" id="{4CFC7DF7-EE0C-A96A-0A71-4A20704DA6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F354D7-FA08-FBD4-1D6D-7C0D0115C50D}"/>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364942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DE38-C159-DD3F-3419-061EC2706C5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4A78D7-9DB6-9FE7-D6A5-0D8C511397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38ECF6-30BD-892C-0F30-CDFA8424ACF6}"/>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5" name="Footer Placeholder 4">
            <a:extLst>
              <a:ext uri="{FF2B5EF4-FFF2-40B4-BE49-F238E27FC236}">
                <a16:creationId xmlns:a16="http://schemas.microsoft.com/office/drawing/2014/main" id="{A79E0C5A-96D4-3102-5A52-240B1FD840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C3AA66-3D0D-0085-C81D-088B396324C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1953395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868FC3-86B3-8BF7-3C43-D7286B46EA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EA911C-6657-35D6-8679-F5861CAE8D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7097C1-61F4-5117-4F0F-D1B0C168769E}"/>
              </a:ext>
            </a:extLst>
          </p:cNvPr>
          <p:cNvSpPr>
            <a:spLocks noGrp="1"/>
          </p:cNvSpPr>
          <p:nvPr>
            <p:ph type="dt" sz="half" idx="10"/>
          </p:nvPr>
        </p:nvSpPr>
        <p:spPr/>
        <p:txBody>
          <a:bodyPr/>
          <a:lstStyle/>
          <a:p>
            <a:fld id="{8B72D5E0-039A-4068-97A9-A3C4BF080BAA}" type="datetimeFigureOut">
              <a:rPr lang="en-GB" smtClean="0"/>
              <a:t>03/06/2026</a:t>
            </a:fld>
            <a:endParaRPr lang="en-GB"/>
          </a:p>
        </p:txBody>
      </p:sp>
      <p:sp>
        <p:nvSpPr>
          <p:cNvPr id="5" name="Footer Placeholder 4">
            <a:extLst>
              <a:ext uri="{FF2B5EF4-FFF2-40B4-BE49-F238E27FC236}">
                <a16:creationId xmlns:a16="http://schemas.microsoft.com/office/drawing/2014/main" id="{B2F7DD80-E551-6693-517F-57C80BD89A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C51674-A2E1-4818-8900-91FBB812AB3E}"/>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74756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5C16C3-8E98-21FD-43ED-3AA697B77A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9AA3022-3424-75B4-F2EC-7CEB8FA07C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EC25384-14A1-0395-EDE6-D2A60BCE49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72D5E0-039A-4068-97A9-A3C4BF080BAA}" type="datetimeFigureOut">
              <a:rPr lang="en-GB" smtClean="0"/>
              <a:t>03/06/2026</a:t>
            </a:fld>
            <a:endParaRPr lang="en-GB"/>
          </a:p>
        </p:txBody>
      </p:sp>
      <p:sp>
        <p:nvSpPr>
          <p:cNvPr id="5" name="Footer Placeholder 4">
            <a:extLst>
              <a:ext uri="{FF2B5EF4-FFF2-40B4-BE49-F238E27FC236}">
                <a16:creationId xmlns:a16="http://schemas.microsoft.com/office/drawing/2014/main" id="{09290F1D-4E4C-69C6-26A7-CE1716791C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B634093-083B-3EA6-BBB8-95BE7409B0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D7094B-D2BC-452F-93E3-9C4A8FC9449E}" type="slidenum">
              <a:rPr lang="en-GB" smtClean="0"/>
              <a:t>‹#›</a:t>
            </a:fld>
            <a:endParaRPr lang="en-GB"/>
          </a:p>
        </p:txBody>
      </p:sp>
    </p:spTree>
    <p:extLst>
      <p:ext uri="{BB962C8B-B14F-4D97-AF65-F5344CB8AC3E}">
        <p14:creationId xmlns:p14="http://schemas.microsoft.com/office/powerpoint/2010/main" val="699722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customXml" Target="../ink/ink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customXml" Target="../ink/ink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white grid with black text  Description automatically generated">
            <a:extLst>
              <a:ext uri="{FF2B5EF4-FFF2-40B4-BE49-F238E27FC236}">
                <a16:creationId xmlns:a16="http://schemas.microsoft.com/office/drawing/2014/main" id="{1B42834E-5B1E-8CE4-BEEE-8784E10AE2DF}"/>
              </a:ext>
            </a:extLst>
          </p:cNvPr>
          <p:cNvPicPr>
            <a:picLocks noChangeAspect="1"/>
          </p:cNvPicPr>
          <p:nvPr/>
        </p:nvPicPr>
        <p:blipFill>
          <a:blip r:embed="rId2"/>
          <a:stretch>
            <a:fillRect/>
          </a:stretch>
        </p:blipFill>
        <p:spPr>
          <a:xfrm>
            <a:off x="343349" y="169879"/>
            <a:ext cx="10272264" cy="6455163"/>
          </a:xfrm>
          <a:prstGeom prst="rect">
            <a:avLst/>
          </a:prstGeom>
        </p:spPr>
      </p:pic>
    </p:spTree>
    <p:extLst>
      <p:ext uri="{BB962C8B-B14F-4D97-AF65-F5344CB8AC3E}">
        <p14:creationId xmlns:p14="http://schemas.microsoft.com/office/powerpoint/2010/main" val="1269628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810699" y="542637"/>
            <a:ext cx="2570602" cy="2802616"/>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6" name="TextBox 5">
            <a:extLst>
              <a:ext uri="{FF2B5EF4-FFF2-40B4-BE49-F238E27FC236}">
                <a16:creationId xmlns:a16="http://schemas.microsoft.com/office/drawing/2014/main" id="{BB00753D-C189-01CA-44B1-B484F954D600}"/>
              </a:ext>
            </a:extLst>
          </p:cNvPr>
          <p:cNvSpPr txBox="1"/>
          <p:nvPr/>
        </p:nvSpPr>
        <p:spPr>
          <a:xfrm>
            <a:off x="0" y="4552141"/>
            <a:ext cx="12192000" cy="584775"/>
          </a:xfrm>
          <a:prstGeom prst="rect">
            <a:avLst/>
          </a:prstGeom>
          <a:noFill/>
        </p:spPr>
        <p:txBody>
          <a:bodyPr wrap="square">
            <a:spAutoFit/>
          </a:bodyPr>
          <a:lstStyle/>
          <a:p>
            <a:pPr algn="ctr"/>
            <a:r>
              <a:rPr lang="en-GB" sz="3200"/>
              <a:t>Vocabulary</a:t>
            </a:r>
          </a:p>
        </p:txBody>
      </p:sp>
      <p:sp>
        <p:nvSpPr>
          <p:cNvPr id="8" name="TextBox 7">
            <a:extLst>
              <a:ext uri="{FF2B5EF4-FFF2-40B4-BE49-F238E27FC236}">
                <a16:creationId xmlns:a16="http://schemas.microsoft.com/office/drawing/2014/main" id="{E3C356D1-4D69-6789-D9E9-77C69F82E055}"/>
              </a:ext>
            </a:extLst>
          </p:cNvPr>
          <p:cNvSpPr txBox="1"/>
          <p:nvPr/>
        </p:nvSpPr>
        <p:spPr>
          <a:xfrm>
            <a:off x="4423577" y="5199610"/>
            <a:ext cx="3329758" cy="1446550"/>
          </a:xfrm>
          <a:prstGeom prst="rect">
            <a:avLst/>
          </a:prstGeom>
          <a:noFill/>
        </p:spPr>
        <p:txBody>
          <a:bodyPr wrap="none" rtlCol="0" anchor="ctr">
            <a:spAutoFit/>
          </a:bodyPr>
          <a:lstStyle/>
          <a:p>
            <a:pPr algn="ctr"/>
            <a:r>
              <a:rPr lang="en-GB" sz="8800"/>
              <a:t>Tuesday</a:t>
            </a:r>
          </a:p>
        </p:txBody>
      </p:sp>
    </p:spTree>
    <p:extLst>
      <p:ext uri="{BB962C8B-B14F-4D97-AF65-F5344CB8AC3E}">
        <p14:creationId xmlns:p14="http://schemas.microsoft.com/office/powerpoint/2010/main" val="3172617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DFFE-43F9-9789-7910-83BEEE3A3818}"/>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3E87004-6E1A-D1FF-FF85-9A712A9BB7B3}"/>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081EF958-1030-773B-A7D6-6CEB89A8F58A}"/>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CB992496-7EDE-333E-5CB0-3C40245FED5D}"/>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the world around me.</a:t>
            </a:r>
          </a:p>
        </p:txBody>
      </p:sp>
      <p:pic>
        <p:nvPicPr>
          <p:cNvPr id="7" name="Picture 6">
            <a:extLst>
              <a:ext uri="{FF2B5EF4-FFF2-40B4-BE49-F238E27FC236}">
                <a16:creationId xmlns:a16="http://schemas.microsoft.com/office/drawing/2014/main" id="{79FB5223-15E3-4844-7748-101D3E2F6D73}"/>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5594475F-C636-A29B-742C-0F17DB69B1FF}"/>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C934D238-3C31-683C-09D6-F097B09592C0}"/>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We love to read, learn to read and read to learn! </a:t>
            </a:r>
          </a:p>
        </p:txBody>
      </p:sp>
      <p:pic>
        <p:nvPicPr>
          <p:cNvPr id="3" name="Picture 2">
            <a:extLst>
              <a:ext uri="{FF2B5EF4-FFF2-40B4-BE49-F238E27FC236}">
                <a16:creationId xmlns:a16="http://schemas.microsoft.com/office/drawing/2014/main" id="{4C8634C0-C6DD-1B8E-85A5-094729686CE0}"/>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420021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EC2FE-E3EF-97C8-F7DC-C0A25E1D163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AA7E159-E28C-77BB-73A2-F381C7A90837}"/>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91C39609-0D86-A5B7-4D8A-1F527D92392F}"/>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84199F61-4B0B-8E0F-2DB2-ED5EBBDF58E5}"/>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FC3196E5-5551-D86F-2179-6878DD23429F}"/>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BDA4AF79-C1C4-8EFA-F1F6-B418570C55CC}"/>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DB2EAE7E-9AF9-75F2-CFE5-9905D0F16B0E}"/>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p:graphicFrame>
        <p:nvGraphicFramePr>
          <p:cNvPr id="13" name="Table 12">
            <a:extLst>
              <a:ext uri="{FF2B5EF4-FFF2-40B4-BE49-F238E27FC236}">
                <a16:creationId xmlns:a16="http://schemas.microsoft.com/office/drawing/2014/main" id="{9464E341-C007-5632-B326-45797112EDA2}"/>
              </a:ext>
            </a:extLst>
          </p:cNvPr>
          <p:cNvGraphicFramePr>
            <a:graphicFrameLocks noGrp="1"/>
          </p:cNvGraphicFramePr>
          <p:nvPr>
            <p:extLst>
              <p:ext uri="{D42A27DB-BD31-4B8C-83A1-F6EECF244321}">
                <p14:modId xmlns:p14="http://schemas.microsoft.com/office/powerpoint/2010/main" val="3344407260"/>
              </p:ext>
            </p:extLst>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trembling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1800" b="0" i="0" u="none" strike="noStrike">
                          <a:solidFill>
                            <a:srgbClr val="000000"/>
                          </a:solidFill>
                          <a:effectLst/>
                          <a:latin typeface="Calibri" panose="020F0502020204030204" pitchFamily="34" charset="0"/>
                        </a:rPr>
                        <a:t>shaking slightly because of fear or excitement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overwhelmed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feeling as though something is too much to cope with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cautiously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carefully, trying to avoid danger or making a mistake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horizon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the line in the distance where the sky seems to meet the land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uncertain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not sure what is going to happen; unsure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E459C5E2-5BCA-E6D1-3FA2-4EE65FF057B2}"/>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7" name="Rectangle 16">
            <a:extLst>
              <a:ext uri="{FF2B5EF4-FFF2-40B4-BE49-F238E27FC236}">
                <a16:creationId xmlns:a16="http://schemas.microsoft.com/office/drawing/2014/main" id="{8378AAAA-9509-6BC5-9C3F-9C67043451B7}"/>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8" name="Rectangle 17">
            <a:extLst>
              <a:ext uri="{FF2B5EF4-FFF2-40B4-BE49-F238E27FC236}">
                <a16:creationId xmlns:a16="http://schemas.microsoft.com/office/drawing/2014/main" id="{483E4D50-B122-CB47-766E-B5E7AC2451E9}"/>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9" name="Rectangle 18">
            <a:extLst>
              <a:ext uri="{FF2B5EF4-FFF2-40B4-BE49-F238E27FC236}">
                <a16:creationId xmlns:a16="http://schemas.microsoft.com/office/drawing/2014/main" id="{4F499D47-C8D0-1D00-07CE-6BF9DF183DEF}"/>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20" name="Rectangle 19">
            <a:extLst>
              <a:ext uri="{FF2B5EF4-FFF2-40B4-BE49-F238E27FC236}">
                <a16:creationId xmlns:a16="http://schemas.microsoft.com/office/drawing/2014/main" id="{FB71A36C-7A6A-7242-D64C-17151302D893}"/>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Tree>
    <p:extLst>
      <p:ext uri="{BB962C8B-B14F-4D97-AF65-F5344CB8AC3E}">
        <p14:creationId xmlns:p14="http://schemas.microsoft.com/office/powerpoint/2010/main" val="405517483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7"/>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2" restart="whenNotActive" fill="hold" evtFilter="cancelBubble" nodeType="interactiveSeq">
                <p:stCondLst>
                  <p:cond evt="onClick" delay="0">
                    <p:tgtEl>
                      <p:spTgt spid="18"/>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17" restart="whenNotActive" fill="hold" evtFilter="cancelBubble" nodeType="interactiveSeq">
                <p:stCondLst>
                  <p:cond evt="onClick" delay="0">
                    <p:tgtEl>
                      <p:spTgt spid="19"/>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2" restart="whenNotActive" fill="hold" evtFilter="cancelBubble" nodeType="interactiveSeq">
                <p:stCondLst>
                  <p:cond evt="onClick" delay="0">
                    <p:tgtEl>
                      <p:spTgt spid="20"/>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6" grpId="0" animBg="1"/>
      <p:bldP spid="17"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D4AD-39BF-E719-97C7-B9FE8F2F1D2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1EC62D8-35F3-692D-E010-0DC4232EB396}"/>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F8888C4F-1616-8D90-191F-5F1D6A12B17C}"/>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A3B5DDCC-932B-F66F-471E-38658DC395B0}"/>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733E3EE1-243D-DB63-04F2-FFCC4E6120EC}"/>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2DCF07E4-FAD7-AFAB-73D7-E54C6A426087}"/>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532B7159-F539-A363-45FE-8B91401BE68F}"/>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1BDE9717-27F4-D48A-5961-BBB082A50FA4}"/>
              </a:ext>
            </a:extLst>
          </p:cNvPr>
          <p:cNvGraphicFramePr>
            <a:graphicFrameLocks noGrp="1"/>
          </p:cNvGraphicFramePr>
          <p:nvPr>
            <p:extLst>
              <p:ext uri="{D42A27DB-BD31-4B8C-83A1-F6EECF244321}">
                <p14:modId xmlns:p14="http://schemas.microsoft.com/office/powerpoint/2010/main" val="394122683"/>
              </p:ext>
            </p:extLst>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sz="3200" b="0">
                        <a:solidFill>
                          <a:schemeClr val="tx1"/>
                        </a:solidFill>
                        <a:latin typeface="Twinkl Cursive Looped Light" panose="02000000000000000000" pitchFamily="2" charset="77"/>
                      </a:endParaRPr>
                    </a:p>
                    <a:p>
                      <a:pPr algn="ctr"/>
                      <a:r>
                        <a:rPr lang="en-GB" sz="3200" b="0">
                          <a:solidFill>
                            <a:schemeClr val="tx1"/>
                          </a:solidFill>
                          <a:latin typeface="Twinkl Cursive Looped Light" panose="02000000000000000000" pitchFamily="2" charset="77"/>
                        </a:rPr>
                        <a:t>trembling</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DCA91193-1537-0657-E11E-503EF19A61E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D4A4253D-E3B5-EFA7-4B1C-50AA791A86AA}"/>
              </a:ext>
            </a:extLst>
          </p:cNvPr>
          <p:cNvSpPr txBox="1"/>
          <p:nvPr/>
        </p:nvSpPr>
        <p:spPr>
          <a:xfrm>
            <a:off x="4788984" y="5296822"/>
            <a:ext cx="2400000" cy="480000"/>
          </a:xfrm>
          <a:prstGeom prst="rect">
            <a:avLst/>
          </a:prstGeom>
          <a:noFill/>
        </p:spPr>
        <p:txBody>
          <a:bodyPr wrap="square" rtlCol="0" anchor="ctr"/>
          <a:lstStyle/>
          <a:p>
            <a:pPr algn="ctr"/>
            <a:r>
              <a:rPr lang="en-GB"/>
              <a:t>trembling</a:t>
            </a:r>
          </a:p>
        </p:txBody>
      </p:sp>
      <p:cxnSp>
        <p:nvCxnSpPr>
          <p:cNvPr id="12" name="Straight Connector 11">
            <a:extLst>
              <a:ext uri="{FF2B5EF4-FFF2-40B4-BE49-F238E27FC236}">
                <a16:creationId xmlns:a16="http://schemas.microsoft.com/office/drawing/2014/main" id="{7C8845E9-B967-EA4D-1D1A-9AF3DDA85380}"/>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EB3BFB0-1A1A-2A77-4CC9-C8E227413B3E}"/>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EF585B9-9A59-4AD6-3B99-DB66AC0BC1C7}"/>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8E2FC65-99A3-B206-BA2E-B45AABD7E835}"/>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F0396BA-9A50-9215-C8CB-0B99470EF9F5}"/>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3943437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40D69-2A3E-AC4D-476F-E48DC49AB51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9D004C-6476-A163-CC76-9EB710752DEA}"/>
              </a:ext>
            </a:extLst>
          </p:cNvPr>
          <p:cNvPicPr>
            <a:picLocks noChangeAspect="1"/>
          </p:cNvPicPr>
          <p:nvPr/>
        </p:nvPicPr>
        <p:blipFill>
          <a:blip r:embed="rId3"/>
          <a:stretch>
            <a:fillRect/>
          </a:stretch>
        </p:blipFill>
        <p:spPr>
          <a:xfrm>
            <a:off x="525593" y="1980987"/>
            <a:ext cx="9243932" cy="1349566"/>
          </a:xfrm>
          <a:prstGeom prst="rect">
            <a:avLst/>
          </a:prstGeom>
        </p:spPr>
      </p:pic>
      <p:pic>
        <p:nvPicPr>
          <p:cNvPr id="11" name="Picture 10">
            <a:extLst>
              <a:ext uri="{FF2B5EF4-FFF2-40B4-BE49-F238E27FC236}">
                <a16:creationId xmlns:a16="http://schemas.microsoft.com/office/drawing/2014/main" id="{6B7C83CA-03D0-7626-308E-7CE111534218}"/>
              </a:ext>
            </a:extLst>
          </p:cNvPr>
          <p:cNvPicPr/>
          <p:nvPr/>
        </p:nvPicPr>
        <p:blipFill>
          <a:blip r:embed="rId4">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F0092A21-3382-F255-270E-BE0BDE056D4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1800" b="1">
                <a:effectLst/>
                <a:latin typeface="Sassoon Infant Rg" panose="02000503030000020003" pitchFamily="2" charset="0"/>
                <a:ea typeface="Sassoon Infant Rg" panose="02000503030000020003" pitchFamily="2" charset="0"/>
                <a:cs typeface="Times New Roman" panose="02020603050405020304" pitchFamily="18" charset="0"/>
              </a:rPr>
              <a:t>Paired reading</a:t>
            </a:r>
            <a:r>
              <a:rPr lang="en-GB" sz="1800">
                <a:effectLst/>
                <a:latin typeface="Sassoon Infant Rg" panose="02000503030000020003" pitchFamily="2" charset="0"/>
                <a:ea typeface="Sassoon Infant Rg" panose="02000503030000020003" pitchFamily="2" charset="0"/>
                <a:cs typeface="Times New Roman" panose="02020603050405020304" pitchFamily="18" charset="0"/>
              </a:rPr>
              <a:t>.  </a:t>
            </a:r>
            <a:r>
              <a:rPr lang="en-GB" sz="1800">
                <a:latin typeface="Sassoon Infant Rg" panose="02000503030000020003" pitchFamily="2" charset="0"/>
                <a:ea typeface="Sassoon Infant Rg" panose="02000503030000020003" pitchFamily="2" charset="0"/>
                <a:cs typeface="Times New Roman" panose="02020603050405020304" pitchFamily="18" charset="0"/>
              </a:rPr>
              <a:t>Read the text with a partner, taking turns sentence by sentence. Focus on reading smoothly and clearly, matching your pace to the punctuation.</a:t>
            </a:r>
            <a:endParaRPr lang="en-GB" b="1"/>
          </a:p>
        </p:txBody>
      </p:sp>
      <p:grpSp>
        <p:nvGrpSpPr>
          <p:cNvPr id="7" name="Group 6">
            <a:extLst>
              <a:ext uri="{FF2B5EF4-FFF2-40B4-BE49-F238E27FC236}">
                <a16:creationId xmlns:a16="http://schemas.microsoft.com/office/drawing/2014/main" id="{2F4A7F38-FB96-EA15-05EC-03CFFB5CBE42}"/>
              </a:ext>
            </a:extLst>
          </p:cNvPr>
          <p:cNvGrpSpPr/>
          <p:nvPr/>
        </p:nvGrpSpPr>
        <p:grpSpPr>
          <a:xfrm>
            <a:off x="10349575" y="2457302"/>
            <a:ext cx="1316831" cy="1316831"/>
            <a:chOff x="5180554" y="3075697"/>
            <a:chExt cx="1316831" cy="1316831"/>
          </a:xfrm>
        </p:grpSpPr>
        <p:sp>
          <p:nvSpPr>
            <p:cNvPr id="9" name="Oval 8">
              <a:extLst>
                <a:ext uri="{FF2B5EF4-FFF2-40B4-BE49-F238E27FC236}">
                  <a16:creationId xmlns:a16="http://schemas.microsoft.com/office/drawing/2014/main" id="{230C30F1-14D6-3E62-897A-05259DF04DDD}"/>
                </a:ext>
              </a:extLst>
            </p:cNvPr>
            <p:cNvSpPr/>
            <p:nvPr/>
          </p:nvSpPr>
          <p:spPr>
            <a:xfrm>
              <a:off x="5180554" y="3075697"/>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0" name="Oval 4">
              <a:extLst>
                <a:ext uri="{FF2B5EF4-FFF2-40B4-BE49-F238E27FC236}">
                  <a16:creationId xmlns:a16="http://schemas.microsoft.com/office/drawing/2014/main" id="{94AC7F2E-0C00-B939-4106-51835EB2A269}"/>
                </a:ext>
              </a:extLst>
            </p:cNvPr>
            <p:cNvSpPr txBox="1"/>
            <p:nvPr/>
          </p:nvSpPr>
          <p:spPr>
            <a:xfrm>
              <a:off x="5373399" y="326854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effectLst/>
                  <a:latin typeface="Sassoon Infant Rg" panose="02000503030000020003" pitchFamily="2" charset="0"/>
                  <a:ea typeface="Sassoon Infant Rg" panose="02000503030000020003" pitchFamily="2" charset="0"/>
                </a:rPr>
                <a:t>Fluency &amp; Expression</a:t>
              </a:r>
            </a:p>
          </p:txBody>
        </p:sp>
      </p:grpSp>
      <p:sp>
        <p:nvSpPr>
          <p:cNvPr id="6" name="Rounded Rectangle 5">
            <a:extLst>
              <a:ext uri="{FF2B5EF4-FFF2-40B4-BE49-F238E27FC236}">
                <a16:creationId xmlns:a16="http://schemas.microsoft.com/office/drawing/2014/main" id="{D7466D49-4660-7227-B771-06F3B6102B62}"/>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5" name="TextBox 14">
            <a:extLst>
              <a:ext uri="{FF2B5EF4-FFF2-40B4-BE49-F238E27FC236}">
                <a16:creationId xmlns:a16="http://schemas.microsoft.com/office/drawing/2014/main" id="{DB1CFDC9-8812-2D57-F259-9934E0E81FC7}"/>
              </a:ext>
            </a:extLst>
          </p:cNvPr>
          <p:cNvSpPr txBox="1"/>
          <p:nvPr/>
        </p:nvSpPr>
        <p:spPr>
          <a:xfrm>
            <a:off x="183063" y="1034693"/>
            <a:ext cx="11864557" cy="5093190"/>
          </a:xfrm>
          <a:prstGeom prst="rect">
            <a:avLst/>
          </a:prstGeom>
          <a:solidFill>
            <a:schemeClr val="accent5">
              <a:lumMod val="20000"/>
              <a:lumOff val="80000"/>
            </a:schemeClr>
          </a:solidFill>
          <a:ln>
            <a:noFill/>
          </a:ln>
        </p:spPr>
        <p:txBody>
          <a:bodyPr wrap="square" anchor="ctr">
            <a:normAutofit lnSpcReduction="10000"/>
          </a:bodyPr>
          <a:lstStyle/>
          <a:p>
            <a:r>
              <a:rPr lang="en-GB" sz="2200"/>
              <a:t>Varjak had never left the tower before. For all of his short life, the ancient building had been his entire world — its cool stone corridors, its familiar smells, its safe, predictable rhythms. But now he stood at the great entrance, and the world beyond stretched out before him, vast and trembling in the early morning light. He felt overwhelmed. The sounds alone were enough to make his whiskers shake: the low rumble of distant engines, the clatter of pigeons overhead, the whisper of wind threading through the alleyways below. His paws pressed flat against the cold step as he cautiously peered outward, trying to make sense of what lay ahead. There was no map for this. No elder cat had told him what the city truly looked like from the ground, how enormous and uncertain it felt when you were standing inside it rather than gazing down from above. The horizon seemed impossibly far away, a smudge of grey and amber where the rooftops finally gave way to sky. Part of him wanted to turn back, to find his mother and curl up close. But somewhere deeper, in a place he had not known existed, something pulled him forward. He took one cautious breath. Then another. Then, trembling from his ears to the tip of his tail, Varjak Paw stepped out into the world.</a:t>
            </a:r>
            <a:endParaRPr lang="en-GB" sz="2200" noProof="0"/>
          </a:p>
        </p:txBody>
      </p:sp>
    </p:spTree>
    <p:extLst>
      <p:ext uri="{BB962C8B-B14F-4D97-AF65-F5344CB8AC3E}">
        <p14:creationId xmlns:p14="http://schemas.microsoft.com/office/powerpoint/2010/main" val="3032229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15" grpId="0" animBg="1"/>
      <p:bldP spid="15"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023D4CD-427D-4829-87ED-E2CC3EF8D760}"/>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A35914BD-597C-4EC9-A8CC-64938F558A31}"/>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FE91008D-524B-4E64-AED8-DADBF402F1F1}"/>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3B1F94B5-AE2B-4839-8A01-9D2FC48647A0}"/>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01F4601C-78F0-408A-BFB4-D2C386D5BE41}"/>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0F52BAE7-58D2-4ABA-B083-76155F063DF0}"/>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2308B9F9-02B7-4539-8FBF-46AC5DCEA9AA}"/>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6A1CB78E-9D4B-4986-8879-83568C225091}"/>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CF45870B-7F74-4D54-8596-BFA710ED989D}"/>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EA65950C-D815-47D7-8502-EDD27BCB7185}"/>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9616B4D3-C46F-48F5-8695-1B7F3A82ADA3}"/>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03BB604F-2FA6-4611-A323-4B2AD52B72FE}"/>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198215EB-E5DE-4419-AF3E-61B06E6ECF56}"/>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5002CF86-309B-4BC1-AAB4-D91F81D726FF}"/>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find and extract information from within a text.</a:t>
            </a:r>
          </a:p>
        </p:txBody>
      </p:sp>
      <p:sp>
        <p:nvSpPr>
          <p:cNvPr id="20" name="Rectangle 19">
            <a:extLst>
              <a:ext uri="{FF2B5EF4-FFF2-40B4-BE49-F238E27FC236}">
                <a16:creationId xmlns:a16="http://schemas.microsoft.com/office/drawing/2014/main" id="{06F95318-6BA1-4E64-BFC4-CA399BC0C6E8}"/>
              </a:ext>
            </a:extLst>
          </p:cNvPr>
          <p:cNvSpPr/>
          <p:nvPr/>
        </p:nvSpPr>
        <p:spPr>
          <a:xfrm>
            <a:off x="5597291" y="4824722"/>
            <a:ext cx="5583685" cy="830997"/>
          </a:xfrm>
          <a:prstGeom prst="rect">
            <a:avLst/>
          </a:prstGeom>
          <a:noFill/>
        </p:spPr>
        <p:txBody>
          <a:bodyPr wrap="square">
            <a:spAutoFit/>
          </a:bodyPr>
          <a:lstStyle/>
          <a:p>
            <a:r>
              <a:rPr lang="en-GB" sz="2400">
                <a:latin typeface="+mj-lt"/>
              </a:rPr>
              <a:t>I will show this by answering questions, making reference to the text.</a:t>
            </a:r>
          </a:p>
        </p:txBody>
      </p:sp>
      <p:grpSp>
        <p:nvGrpSpPr>
          <p:cNvPr id="26" name="Group 25">
            <a:extLst>
              <a:ext uri="{FF2B5EF4-FFF2-40B4-BE49-F238E27FC236}">
                <a16:creationId xmlns:a16="http://schemas.microsoft.com/office/drawing/2014/main" id="{2B08C31D-ED97-4B43-811F-A2D5B7EC5D3F}"/>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4A04811F-4042-449A-B9D1-E2A88F2EF32C}"/>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4CFC6DFC-1FF7-406B-91CA-DEF258FBDA0F}"/>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5B068E6C-5697-4CD7-B539-8E733F24A280}"/>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D8ECF509-D074-4A96-BD14-1B7F8C9EF352}"/>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E3884F2F-92E8-4449-B9C6-4BB79443B2D3}"/>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54230F3D-A112-7284-873F-C56C8ED18544}"/>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a clear understanding of what I am reading.</a:t>
            </a:r>
          </a:p>
        </p:txBody>
      </p:sp>
      <p:grpSp>
        <p:nvGrpSpPr>
          <p:cNvPr id="2" name="Group 1">
            <a:extLst>
              <a:ext uri="{FF2B5EF4-FFF2-40B4-BE49-F238E27FC236}">
                <a16:creationId xmlns:a16="http://schemas.microsoft.com/office/drawing/2014/main" id="{63BCCA52-B2F9-1150-2EC2-A8A910DE6CDF}"/>
              </a:ext>
            </a:extLst>
          </p:cNvPr>
          <p:cNvGrpSpPr/>
          <p:nvPr/>
        </p:nvGrpSpPr>
        <p:grpSpPr>
          <a:xfrm>
            <a:off x="10604358" y="118545"/>
            <a:ext cx="1530874" cy="2012378"/>
            <a:chOff x="8657485" y="829505"/>
            <a:chExt cx="1316831" cy="1668805"/>
          </a:xfrm>
        </p:grpSpPr>
        <p:grpSp>
          <p:nvGrpSpPr>
            <p:cNvPr id="24" name="Group 23">
              <a:extLst>
                <a:ext uri="{FF2B5EF4-FFF2-40B4-BE49-F238E27FC236}">
                  <a16:creationId xmlns:a16="http://schemas.microsoft.com/office/drawing/2014/main" id="{9DF1F7D1-5BF2-255E-1221-DF66584F31C4}"/>
                </a:ext>
              </a:extLst>
            </p:cNvPr>
            <p:cNvGrpSpPr/>
            <p:nvPr/>
          </p:nvGrpSpPr>
          <p:grpSpPr>
            <a:xfrm>
              <a:off x="8657485" y="829505"/>
              <a:ext cx="1316831" cy="1316831"/>
              <a:chOff x="3405584" y="4100477"/>
              <a:chExt cx="1316831" cy="1316831"/>
            </a:xfrm>
          </p:grpSpPr>
          <p:sp>
            <p:nvSpPr>
              <p:cNvPr id="31" name="Oval 30">
                <a:extLst>
                  <a:ext uri="{FF2B5EF4-FFF2-40B4-BE49-F238E27FC236}">
                    <a16:creationId xmlns:a16="http://schemas.microsoft.com/office/drawing/2014/main" id="{36527B03-E8B0-B308-5625-5D60701BABC9}"/>
                  </a:ext>
                </a:extLst>
              </p:cNvPr>
              <p:cNvSpPr/>
              <p:nvPr/>
            </p:nvSpPr>
            <p:spPr>
              <a:xfrm>
                <a:off x="3405584" y="4100477"/>
                <a:ext cx="1316831" cy="1316831"/>
              </a:xfrm>
              <a:prstGeom prst="ellipse">
                <a:avLst/>
              </a:prstGeom>
              <a:solidFill>
                <a:srgbClr val="FFD5EE"/>
              </a:solidFill>
              <a:ln w="38100">
                <a:solidFill>
                  <a:srgbClr val="CD007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2" name="Oval 4">
                <a:extLst>
                  <a:ext uri="{FF2B5EF4-FFF2-40B4-BE49-F238E27FC236}">
                    <a16:creationId xmlns:a16="http://schemas.microsoft.com/office/drawing/2014/main" id="{311692BE-7960-B1C4-FAA2-65AA32C03A40}"/>
                  </a:ext>
                </a:extLst>
              </p:cNvPr>
              <p:cNvSpPr txBox="1"/>
              <p:nvPr/>
            </p:nvSpPr>
            <p:spPr>
              <a:xfrm>
                <a:off x="3598429" y="429332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a:solidFill>
                      <a:srgbClr val="CD007A"/>
                    </a:solidFill>
                    <a:latin typeface="Sassoon Infant Rg" panose="02000503030000020003" pitchFamily="2" charset="0"/>
                    <a:ea typeface="Sassoon Infant Rg" panose="02000503030000020003" pitchFamily="2" charset="0"/>
                  </a:rPr>
                  <a:t>Discuss &amp; explain thinking &amp; understanding</a:t>
                </a:r>
              </a:p>
            </p:txBody>
          </p:sp>
        </p:grpSp>
        <p:sp>
          <p:nvSpPr>
            <p:cNvPr id="25" name="TextBox 24">
              <a:extLst>
                <a:ext uri="{FF2B5EF4-FFF2-40B4-BE49-F238E27FC236}">
                  <a16:creationId xmlns:a16="http://schemas.microsoft.com/office/drawing/2014/main" id="{0E3DBC74-DEF3-15BE-F488-6929DEE9B83C}"/>
                </a:ext>
              </a:extLst>
            </p:cNvPr>
            <p:cNvSpPr txBox="1"/>
            <p:nvPr/>
          </p:nvSpPr>
          <p:spPr>
            <a:xfrm>
              <a:off x="8826392" y="2243080"/>
              <a:ext cx="979015" cy="255230"/>
            </a:xfrm>
            <a:prstGeom prst="rect">
              <a:avLst/>
            </a:prstGeom>
            <a:noFill/>
          </p:spPr>
          <p:txBody>
            <a:bodyPr wrap="square" rtlCol="0">
              <a:spAutoFit/>
            </a:bodyPr>
            <a:lstStyle/>
            <a:p>
              <a:pPr algn="ctr"/>
              <a:r>
                <a:rPr lang="en-GB" sz="1400" b="1">
                  <a:solidFill>
                    <a:srgbClr val="CD007A"/>
                  </a:solidFill>
                </a:rPr>
                <a:t>retrieve</a:t>
              </a:r>
            </a:p>
          </p:txBody>
        </p:sp>
      </p:grpSp>
    </p:spTree>
    <p:extLst>
      <p:ext uri="{BB962C8B-B14F-4D97-AF65-F5344CB8AC3E}">
        <p14:creationId xmlns:p14="http://schemas.microsoft.com/office/powerpoint/2010/main" val="1917154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DB52-DA63-044E-52E1-B8873C55D6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83BB0C-F58E-DA56-564A-0BADE2422FC9}"/>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2" name="TextBox 1">
            <a:extLst>
              <a:ext uri="{FF2B5EF4-FFF2-40B4-BE49-F238E27FC236}">
                <a16:creationId xmlns:a16="http://schemas.microsoft.com/office/drawing/2014/main" id="{640BB64A-1496-7976-37EB-DCEEC8FBF17F}"/>
              </a:ext>
            </a:extLst>
          </p:cNvPr>
          <p:cNvSpPr txBox="1"/>
          <p:nvPr/>
        </p:nvSpPr>
        <p:spPr>
          <a:xfrm>
            <a:off x="378830" y="1843059"/>
            <a:ext cx="11713854" cy="3429144"/>
          </a:xfrm>
          <a:prstGeom prst="rect">
            <a:avLst/>
          </a:prstGeom>
          <a:noFill/>
        </p:spPr>
        <p:txBody>
          <a:bodyPr wrap="square" rtlCol="0">
            <a:spAutoFit/>
          </a:bodyPr>
          <a:lstStyle/>
          <a:p>
            <a:pPr lvl="1">
              <a:spcAft>
                <a:spcPts val="500"/>
              </a:spcAft>
            </a:pPr>
            <a:r>
              <a:rPr lang="en-GB" sz="2200"/>
              <a:t>What sounds does Varjak hear when he looks outside?</a:t>
            </a:r>
          </a:p>
          <a:p>
            <a:pPr lvl="1">
              <a:spcAft>
                <a:spcPts val="500"/>
              </a:spcAft>
            </a:pPr>
            <a:r>
              <a:rPr lang="en-GB" sz="2200"/>
              <a:t>He hears the low rumble of distant engines, the clatter of pigeons overhead and the whisper of wind threading through the alleyways below.</a:t>
            </a:r>
          </a:p>
          <a:p>
            <a:pPr lvl="1">
              <a:spcAft>
                <a:spcPts val="500"/>
              </a:spcAft>
            </a:pPr>
            <a:endParaRPr lang="en-GB" sz="2200"/>
          </a:p>
          <a:p>
            <a:pPr lvl="1">
              <a:spcAft>
                <a:spcPts val="500"/>
              </a:spcAft>
            </a:pPr>
            <a:r>
              <a:rPr lang="en-GB" sz="2200"/>
              <a:t>What does the word 'trembling' mean? Use the context of the text to help you.</a:t>
            </a:r>
          </a:p>
          <a:p>
            <a:pPr lvl="1">
              <a:spcAft>
                <a:spcPts val="500"/>
              </a:spcAft>
            </a:pPr>
            <a:r>
              <a:rPr lang="en-GB" sz="2200"/>
              <a:t>Trembling means shaking slightly. The text tells us Varjak is frightened by the outside world and at the end he is shaking 'from his ears to the tip of his tail', which shows the word describes frightened shaking.</a:t>
            </a:r>
          </a:p>
          <a:p>
            <a:pPr lvl="1">
              <a:spcAft>
                <a:spcPts val="500"/>
              </a:spcAft>
            </a:pPr>
            <a:endParaRPr lang="en-GB" sz="2200"/>
          </a:p>
        </p:txBody>
      </p:sp>
      <p:sp>
        <p:nvSpPr>
          <p:cNvPr id="6" name="TextBox 5">
            <a:extLst>
              <a:ext uri="{FF2B5EF4-FFF2-40B4-BE49-F238E27FC236}">
                <a16:creationId xmlns:a16="http://schemas.microsoft.com/office/drawing/2014/main" id="{5BDAB0E7-50E0-A284-5814-9D1241C67513}"/>
              </a:ext>
            </a:extLst>
          </p:cNvPr>
          <p:cNvSpPr txBox="1"/>
          <p:nvPr/>
        </p:nvSpPr>
        <p:spPr>
          <a:xfrm>
            <a:off x="288098" y="335454"/>
            <a:ext cx="6329618" cy="707886"/>
          </a:xfrm>
          <a:prstGeom prst="rect">
            <a:avLst/>
          </a:prstGeom>
          <a:noFill/>
        </p:spPr>
        <p:txBody>
          <a:bodyPr wrap="none" rtlCol="0">
            <a:spAutoFit/>
          </a:bodyPr>
          <a:lstStyle/>
          <a:p>
            <a:r>
              <a:rPr lang="en-GB" sz="4000" b="1" u="sng"/>
              <a:t>Practice questions - Vocabulary</a:t>
            </a:r>
          </a:p>
        </p:txBody>
      </p:sp>
      <p:sp>
        <p:nvSpPr>
          <p:cNvPr id="3" name="TextBox 2">
            <a:extLst>
              <a:ext uri="{FF2B5EF4-FFF2-40B4-BE49-F238E27FC236}">
                <a16:creationId xmlns:a16="http://schemas.microsoft.com/office/drawing/2014/main" id="{68036728-B080-EA83-ECF1-479482CB4A6C}"/>
              </a:ext>
            </a:extLst>
          </p:cNvPr>
          <p:cNvSpPr txBox="1"/>
          <p:nvPr/>
        </p:nvSpPr>
        <p:spPr>
          <a:xfrm>
            <a:off x="288098" y="937015"/>
            <a:ext cx="10156370" cy="369332"/>
          </a:xfrm>
          <a:prstGeom prst="rect">
            <a:avLst/>
          </a:prstGeom>
          <a:noFill/>
        </p:spPr>
        <p:txBody>
          <a:bodyPr wrap="none" rtlCol="0">
            <a:spAutoFit/>
          </a:bodyPr>
          <a:lstStyle/>
          <a:p>
            <a:r>
              <a:rPr lang="en-GB"/>
              <a:t>Scanning the text – I am trying to find the parts in the text where I will retrieve the answer to the question.</a:t>
            </a:r>
          </a:p>
        </p:txBody>
      </p:sp>
      <p:sp>
        <p:nvSpPr>
          <p:cNvPr id="7" name="TextBox 6">
            <a:extLst>
              <a:ext uri="{FF2B5EF4-FFF2-40B4-BE49-F238E27FC236}">
                <a16:creationId xmlns:a16="http://schemas.microsoft.com/office/drawing/2014/main" id="{62ABBBA0-AF7C-8A47-0810-0E93014D5573}"/>
              </a:ext>
            </a:extLst>
          </p:cNvPr>
          <p:cNvSpPr txBox="1"/>
          <p:nvPr/>
        </p:nvSpPr>
        <p:spPr>
          <a:xfrm>
            <a:off x="739293" y="5447777"/>
            <a:ext cx="10292816" cy="830997"/>
          </a:xfrm>
          <a:prstGeom prst="rect">
            <a:avLst/>
          </a:prstGeom>
          <a:noFill/>
        </p:spPr>
        <p:txBody>
          <a:bodyPr wrap="square" rtlCol="0">
            <a:spAutoFit/>
          </a:bodyPr>
          <a:lstStyle/>
          <a:p>
            <a:r>
              <a:rPr lang="en-GB" sz="2400"/>
              <a:t>Checking my answers – does my answer match the question and use information from the text?</a:t>
            </a:r>
          </a:p>
        </p:txBody>
      </p:sp>
      <p:sp>
        <p:nvSpPr>
          <p:cNvPr id="9" name="TextBox 8">
            <a:extLst>
              <a:ext uri="{FF2B5EF4-FFF2-40B4-BE49-F238E27FC236}">
                <a16:creationId xmlns:a16="http://schemas.microsoft.com/office/drawing/2014/main" id="{C39F0976-7660-64BA-E055-E6E60B65E8BB}"/>
              </a:ext>
            </a:extLst>
          </p:cNvPr>
          <p:cNvSpPr txBox="1"/>
          <p:nvPr/>
        </p:nvSpPr>
        <p:spPr>
          <a:xfrm>
            <a:off x="378830" y="1512948"/>
            <a:ext cx="11434340" cy="3853893"/>
          </a:xfrm>
          <a:prstGeom prst="rect">
            <a:avLst/>
          </a:prstGeom>
          <a:solidFill>
            <a:schemeClr val="accent5">
              <a:lumMod val="20000"/>
              <a:lumOff val="80000"/>
            </a:schemeClr>
          </a:solidFill>
        </p:spPr>
        <p:txBody>
          <a:bodyPr wrap="square" anchor="ctr">
            <a:normAutofit fontScale="92500"/>
          </a:bodyPr>
          <a:lstStyle/>
          <a:p>
            <a:r>
              <a:rPr lang="en-GB" sz="2200"/>
              <a:t>Varjak had never left the tower before. For all of his short life, the ancient building had been his entire world — its cool stone corridors, its familiar smells, its safe, predictable rhythms. But now he stood at the great entrance, and the world beyond stretched out before him, vast and trembling in the early morning light. He felt overwhelmed. The sounds alone were enough to make his whiskers shake: the low rumble of distant engines, the clatter of pigeons overhead, the whisper of wind threading through the alleyways below. His paws pressed flat against the cold step as he cautiously peered outward, trying to make sense of what lay ahead. There was no map for this. No elder cat had told him what the city truly looked like from the ground, how enormous and uncertain it felt when you were standing inside it rather than gazing down from above. The horizon seemed impossibly far away, a smudge of grey and amber where the rooftops finally gave way to sky. Part of him wanted to turn back, to find his mother and curl up close. But somewhere deeper, in a place he had not known existed, something pulled him forward. He took one cautious breath. Then another. Then, trembling from his ears to the tip of his tail, Varjak Paw stepped out into the world.</a:t>
            </a:r>
          </a:p>
        </p:txBody>
      </p:sp>
      <p:sp>
        <p:nvSpPr>
          <p:cNvPr id="8" name="Rounded Rectangle 7">
            <a:extLst>
              <a:ext uri="{FF2B5EF4-FFF2-40B4-BE49-F238E27FC236}">
                <a16:creationId xmlns:a16="http://schemas.microsoft.com/office/drawing/2014/main" id="{1F9C4591-5FD6-13A6-965E-8E77A5CE3342}"/>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pic>
        <p:nvPicPr>
          <p:cNvPr id="4" name="Picture 3">
            <a:extLst>
              <a:ext uri="{FF2B5EF4-FFF2-40B4-BE49-F238E27FC236}">
                <a16:creationId xmlns:a16="http://schemas.microsoft.com/office/drawing/2014/main" id="{98C313D4-3635-57FE-CBB6-13AFE64BC9F7}"/>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Tree>
    <p:extLst>
      <p:ext uri="{BB962C8B-B14F-4D97-AF65-F5344CB8AC3E}">
        <p14:creationId xmlns:p14="http://schemas.microsoft.com/office/powerpoint/2010/main" val="412702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restart="whenNotActive" fill="hold" evtFilter="cancelBubble" nodeType="interactiveSeq">
                <p:stCondLst>
                  <p:cond evt="onClick" delay="0">
                    <p:tgtEl>
                      <p:spTgt spid="8"/>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7" grpId="0"/>
      <p:bldP spid="9" grpId="0" animBg="1"/>
      <p:bldP spid="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568895" y="211840"/>
            <a:ext cx="3039122" cy="3522775"/>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3" name="TextBox 2">
            <a:extLst>
              <a:ext uri="{FF2B5EF4-FFF2-40B4-BE49-F238E27FC236}">
                <a16:creationId xmlns:a16="http://schemas.microsoft.com/office/drawing/2014/main" id="{9AA1DE16-8C7B-4868-2DE3-9C9C7D7D4324}"/>
              </a:ext>
            </a:extLst>
          </p:cNvPr>
          <p:cNvSpPr txBox="1"/>
          <p:nvPr/>
        </p:nvSpPr>
        <p:spPr>
          <a:xfrm>
            <a:off x="0" y="4552141"/>
            <a:ext cx="12192000" cy="707886"/>
          </a:xfrm>
          <a:prstGeom prst="rect">
            <a:avLst/>
          </a:prstGeom>
          <a:noFill/>
        </p:spPr>
        <p:txBody>
          <a:bodyPr wrap="square" rtlCol="0">
            <a:spAutoFit/>
          </a:bodyPr>
          <a:lstStyle/>
          <a:p>
            <a:pPr algn="ctr"/>
            <a:r>
              <a:rPr lang="en-GB" sz="4000"/>
              <a:t>Retrieval</a:t>
            </a:r>
            <a:endParaRPr lang="en-GB"/>
          </a:p>
        </p:txBody>
      </p:sp>
      <p:sp>
        <p:nvSpPr>
          <p:cNvPr id="6" name="TextBox 5">
            <a:extLst>
              <a:ext uri="{FF2B5EF4-FFF2-40B4-BE49-F238E27FC236}">
                <a16:creationId xmlns:a16="http://schemas.microsoft.com/office/drawing/2014/main" id="{2B18F8C8-4B63-E425-87CE-D13C91BCA056}"/>
              </a:ext>
            </a:extLst>
          </p:cNvPr>
          <p:cNvSpPr txBox="1"/>
          <p:nvPr/>
        </p:nvSpPr>
        <p:spPr>
          <a:xfrm>
            <a:off x="3402145" y="5199610"/>
            <a:ext cx="5372625" cy="1446550"/>
          </a:xfrm>
          <a:prstGeom prst="rect">
            <a:avLst/>
          </a:prstGeom>
          <a:noFill/>
        </p:spPr>
        <p:txBody>
          <a:bodyPr wrap="none" rtlCol="0" anchor="ctr">
            <a:spAutoFit/>
          </a:bodyPr>
          <a:lstStyle/>
          <a:p>
            <a:pPr algn="ctr"/>
            <a:r>
              <a:rPr lang="en-GB" sz="8800"/>
              <a:t>Wednesday</a:t>
            </a:r>
          </a:p>
        </p:txBody>
      </p:sp>
    </p:spTree>
    <p:extLst>
      <p:ext uri="{BB962C8B-B14F-4D97-AF65-F5344CB8AC3E}">
        <p14:creationId xmlns:p14="http://schemas.microsoft.com/office/powerpoint/2010/main" val="3303693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ACEAB2A-6943-1061-22CF-9EC0847829D7}"/>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D9DEE78A-07A9-5FF3-9D78-C0D9D21EEFB2}"/>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16D2B17F-CF26-33D2-B6F6-70299CA1A763}"/>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the world around me.</a:t>
            </a:r>
          </a:p>
        </p:txBody>
      </p:sp>
      <p:pic>
        <p:nvPicPr>
          <p:cNvPr id="7" name="Picture 6">
            <a:extLst>
              <a:ext uri="{FF2B5EF4-FFF2-40B4-BE49-F238E27FC236}">
                <a16:creationId xmlns:a16="http://schemas.microsoft.com/office/drawing/2014/main" id="{3DF6A32D-163D-40C2-BACF-C964E0035D2E}"/>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A25D9A8A-09E0-BBBE-0C18-2E1880E52773}"/>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950C5C2B-42CC-39EC-6847-EE394E29BB3C}"/>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We love to read, learn to read and read to learn! </a:t>
            </a:r>
          </a:p>
        </p:txBody>
      </p:sp>
      <p:pic>
        <p:nvPicPr>
          <p:cNvPr id="3" name="Picture 2">
            <a:extLst>
              <a:ext uri="{FF2B5EF4-FFF2-40B4-BE49-F238E27FC236}">
                <a16:creationId xmlns:a16="http://schemas.microsoft.com/office/drawing/2014/main" id="{121AB0E8-B43D-DFDE-C896-2046E6E618BA}"/>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85578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3C5AD-3309-A9A5-F848-B93CB7BC5FD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B9D8A55-04E7-0528-A165-9FB98DB89054}"/>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2E1FDC99-0FE5-B42D-815D-42276802132E}"/>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1E5DC868-7EB8-4F7D-7DAE-A2A8DBE0A20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DACB8AB4-1258-EA30-31A5-77EEA5A000F2}"/>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659AE26C-55EC-A139-FEFB-5E8B79ECFD3A}"/>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086FA3C6-53FE-7451-6D4F-7009D38010D4}"/>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F75FCCA-8003-024B-2B29-0EDF6D801F3D}"/>
                  </a:ext>
                </a:extLst>
              </p14:cNvPr>
              <p14:cNvContentPartPr/>
              <p14:nvPr/>
            </p14:nvContentPartPr>
            <p14:xfrm>
              <a:off x="9034477" y="550400"/>
              <a:ext cx="360" cy="360"/>
            </p14:xfrm>
          </p:contentPart>
        </mc:Choice>
        <mc:Fallback>
          <p:pic>
            <p:nvPicPr>
              <p:cNvPr id="3" name="Ink 2">
                <a:extLst>
                  <a:ext uri="{FF2B5EF4-FFF2-40B4-BE49-F238E27FC236}">
                    <a16:creationId xmlns:a16="http://schemas.microsoft.com/office/drawing/2014/main" id="{9F75FCCA-8003-024B-2B29-0EDF6D801F3D}"/>
                  </a:ext>
                </a:extLst>
              </p:cNvPr>
              <p:cNvPicPr/>
              <p:nvPr/>
            </p:nvPicPr>
            <p:blipFill>
              <a:blip r:embed="rId5"/>
              <a:stretch>
                <a:fillRect/>
              </a:stretch>
            </p:blipFill>
            <p:spPr>
              <a:xfrm>
                <a:off x="9025117" y="541040"/>
                <a:ext cx="19080" cy="19080"/>
              </a:xfrm>
              <a:prstGeom prst="rect">
                <a:avLst/>
              </a:prstGeom>
            </p:spPr>
          </p:pic>
        </mc:Fallback>
      </mc:AlternateContent>
      <p:graphicFrame>
        <p:nvGraphicFramePr>
          <p:cNvPr id="7" name="Table 6">
            <a:extLst>
              <a:ext uri="{FF2B5EF4-FFF2-40B4-BE49-F238E27FC236}">
                <a16:creationId xmlns:a16="http://schemas.microsoft.com/office/drawing/2014/main" id="{AD7A6C68-D614-2377-056B-781707D2F236}"/>
              </a:ext>
            </a:extLst>
          </p:cNvPr>
          <p:cNvGraphicFramePr>
            <a:graphicFrameLocks noGrp="1"/>
          </p:cNvGraphicFramePr>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relentless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never stopping or giving up; continuing with great force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instinct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 natural feeling that tells you what to do without thinking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desperate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feeling as though you need something so badly you will do anything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hesitated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paused for a moment because you were unsure what to do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alert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fully awake and paying close attention to everything around you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114E80EC-EDEA-A9B8-0AA7-BDF4DBA738D9}"/>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3" name="Rectangle 12">
            <a:extLst>
              <a:ext uri="{FF2B5EF4-FFF2-40B4-BE49-F238E27FC236}">
                <a16:creationId xmlns:a16="http://schemas.microsoft.com/office/drawing/2014/main" id="{2CF9C0CB-B38A-8B6C-0680-46BD300AE1DC}"/>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7" name="Rectangle 16">
            <a:extLst>
              <a:ext uri="{FF2B5EF4-FFF2-40B4-BE49-F238E27FC236}">
                <a16:creationId xmlns:a16="http://schemas.microsoft.com/office/drawing/2014/main" id="{4BF34747-0A22-7E80-CA39-94571BB7D672}"/>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8" name="Rectangle 17">
            <a:extLst>
              <a:ext uri="{FF2B5EF4-FFF2-40B4-BE49-F238E27FC236}">
                <a16:creationId xmlns:a16="http://schemas.microsoft.com/office/drawing/2014/main" id="{FB910803-A54A-5B45-8345-8FFD7AC1C67C}"/>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9" name="Rectangle 18">
            <a:extLst>
              <a:ext uri="{FF2B5EF4-FFF2-40B4-BE49-F238E27FC236}">
                <a16:creationId xmlns:a16="http://schemas.microsoft.com/office/drawing/2014/main" id="{DB05B3E1-CB09-5A78-B03C-31610DE59A67}"/>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Tree>
    <p:extLst>
      <p:ext uri="{BB962C8B-B14F-4D97-AF65-F5344CB8AC3E}">
        <p14:creationId xmlns:p14="http://schemas.microsoft.com/office/powerpoint/2010/main" val="32872334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2" restart="whenNotActive" fill="hold" evtFilter="cancelBubble" nodeType="interactiveSeq">
                <p:stCondLst>
                  <p:cond evt="onClick" delay="0">
                    <p:tgtEl>
                      <p:spTgt spid="1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7" restart="whenNotActive" fill="hold" evtFilter="cancelBubble" nodeType="interactiveSeq">
                <p:stCondLst>
                  <p:cond evt="onClick" delay="0">
                    <p:tgtEl>
                      <p:spTgt spid="1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2" restart="whenNotActive" fill="hold" evtFilter="cancelBubble" nodeType="interactiveSeq">
                <p:stCondLst>
                  <p:cond evt="onClick" delay="0">
                    <p:tgtEl>
                      <p:spTgt spid="1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6" grpId="0" animBg="1"/>
      <p:bldP spid="13" grpId="0" animBg="1"/>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C497C-5676-F0CE-9C15-81908FA1F34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DCBDDC3-E8B4-5DB7-95EB-E4EB767438DF}"/>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4D7EC211-6C19-B85F-7D0D-25A8FEEA3637}"/>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6358CBDE-7D41-F226-3072-41F208B4D98A}"/>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9CDE4E57-6664-84F7-C8E9-8F4381A4D091}"/>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3B86A135-C8BF-2285-F3AA-0B4C5706CE90}"/>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07FF75F1-41FF-EEA3-B802-ED64112A7D02}"/>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98F68A2F-1F77-2878-BCF5-883045F28026}"/>
              </a:ext>
            </a:extLst>
          </p:cNvPr>
          <p:cNvGraphicFramePr>
            <a:graphicFrameLocks noGrp="1"/>
          </p:cNvGraphicFramePr>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b="0">
                        <a:solidFill>
                          <a:schemeClr val="tx1"/>
                        </a:solidFill>
                      </a:endParaRPr>
                    </a:p>
                    <a:p>
                      <a:pPr algn="ctr"/>
                      <a:r>
                        <a:rPr lang="en-GB" sz="3200" b="0">
                          <a:solidFill>
                            <a:schemeClr val="tx1"/>
                          </a:solidFill>
                          <a:latin typeface="XCCW Joined 4a" panose="03050602040000000000" pitchFamily="66" charset="77"/>
                        </a:rPr>
                        <a:t>desperate</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755B9240-8989-B9DB-0B3B-B8D062E07BC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7904627B-45D6-BE36-7042-C69B53AD1828}"/>
              </a:ext>
            </a:extLst>
          </p:cNvPr>
          <p:cNvSpPr txBox="1"/>
          <p:nvPr/>
        </p:nvSpPr>
        <p:spPr>
          <a:xfrm>
            <a:off x="4766154" y="5299847"/>
            <a:ext cx="2400000" cy="480000"/>
          </a:xfrm>
          <a:prstGeom prst="rect">
            <a:avLst/>
          </a:prstGeom>
          <a:noFill/>
        </p:spPr>
        <p:txBody>
          <a:bodyPr wrap="square" rtlCol="0" anchor="ctr"/>
          <a:lstStyle/>
          <a:p>
            <a:pPr algn="ctr"/>
            <a:r>
              <a:rPr lang="en-GB"/>
              <a:t>desperate</a:t>
            </a:r>
          </a:p>
        </p:txBody>
      </p:sp>
      <p:cxnSp>
        <p:nvCxnSpPr>
          <p:cNvPr id="12" name="Straight Connector 11">
            <a:extLst>
              <a:ext uri="{FF2B5EF4-FFF2-40B4-BE49-F238E27FC236}">
                <a16:creationId xmlns:a16="http://schemas.microsoft.com/office/drawing/2014/main" id="{483F9876-11CA-68D4-B5B9-503CB1452DDF}"/>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7DD069-433E-BF48-9167-8E5BCC114624}"/>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37026A-B5E7-A43B-7015-F91BED67059F}"/>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7576966-8817-48AF-F837-0832462F5E46}"/>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EE6038E-2E20-39E1-51AA-382FB77B2D40}"/>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3934231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C8F1879-9C69-AABD-5D27-70A3FD61C54F}"/>
              </a:ext>
            </a:extLst>
          </p:cNvPr>
          <p:cNvGrpSpPr/>
          <p:nvPr/>
        </p:nvGrpSpPr>
        <p:grpSpPr>
          <a:xfrm>
            <a:off x="43957" y="90546"/>
            <a:ext cx="963274" cy="909579"/>
            <a:chOff x="1630613" y="1026138"/>
            <a:chExt cx="1316831" cy="1316831"/>
          </a:xfrm>
        </p:grpSpPr>
        <p:sp>
          <p:nvSpPr>
            <p:cNvPr id="4" name="Oval 3">
              <a:extLst>
                <a:ext uri="{FF2B5EF4-FFF2-40B4-BE49-F238E27FC236}">
                  <a16:creationId xmlns:a16="http://schemas.microsoft.com/office/drawing/2014/main" id="{C5A04DD0-FF30-895F-0ED9-888B47B1A02D}"/>
                </a:ext>
              </a:extLst>
            </p:cNvPr>
            <p:cNvSpPr/>
            <p:nvPr/>
          </p:nvSpPr>
          <p:spPr>
            <a:xfrm>
              <a:off x="1630613" y="1026138"/>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5" name="Oval 4">
              <a:extLst>
                <a:ext uri="{FF2B5EF4-FFF2-40B4-BE49-F238E27FC236}">
                  <a16:creationId xmlns:a16="http://schemas.microsoft.com/office/drawing/2014/main" id="{8EBD88F1-D64A-0A71-7434-4A250ABBD4E6}"/>
                </a:ext>
              </a:extLst>
            </p:cNvPr>
            <p:cNvSpPr txBox="1"/>
            <p:nvPr/>
          </p:nvSpPr>
          <p:spPr>
            <a:xfrm>
              <a:off x="1823458"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latin typeface="Sassoon Infant Rg" panose="02000503030000020003" pitchFamily="2" charset="0"/>
                  <a:ea typeface="Sassoon Infant Rg" panose="02000503030000020003" pitchFamily="2" charset="0"/>
                </a:rPr>
                <a:t>Decoding &amp; phonics</a:t>
              </a:r>
            </a:p>
          </p:txBody>
        </p:sp>
      </p:grpSp>
      <p:pic>
        <p:nvPicPr>
          <p:cNvPr id="11" name="Picture 10">
            <a:extLst>
              <a:ext uri="{FF2B5EF4-FFF2-40B4-BE49-F238E27FC236}">
                <a16:creationId xmlns:a16="http://schemas.microsoft.com/office/drawing/2014/main" id="{5B88EF2C-3893-9BD5-87F9-6BF0F699F9A5}"/>
              </a:ext>
            </a:extLst>
          </p:cNvPr>
          <p:cNvPicPr/>
          <p:nvPr/>
        </p:nvPicPr>
        <p:blipFill>
          <a:blip r:embed="rId3">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D07968F0-1915-728F-1F6D-2CB9277677F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Independent Read</a:t>
            </a:r>
          </a:p>
        </p:txBody>
      </p:sp>
      <p:sp>
        <p:nvSpPr>
          <p:cNvPr id="22" name="TextBox 21">
            <a:extLst>
              <a:ext uri="{FF2B5EF4-FFF2-40B4-BE49-F238E27FC236}">
                <a16:creationId xmlns:a16="http://schemas.microsoft.com/office/drawing/2014/main" id="{BBE494B4-E4A1-C48A-15E2-3683EA0AD086}"/>
              </a:ext>
            </a:extLst>
          </p:cNvPr>
          <p:cNvSpPr txBox="1"/>
          <p:nvPr/>
        </p:nvSpPr>
        <p:spPr>
          <a:xfrm>
            <a:off x="1" y="931322"/>
            <a:ext cx="12191999" cy="830997"/>
          </a:xfrm>
          <a:prstGeom prst="rect">
            <a:avLst/>
          </a:prstGeom>
          <a:noFill/>
        </p:spPr>
        <p:txBody>
          <a:bodyPr wrap="square">
            <a:spAutoFit/>
          </a:bodyPr>
          <a:lstStyle/>
          <a:p>
            <a:pPr algn="ctr"/>
            <a:r>
              <a:rPr lang="en-GB" sz="1800">
                <a:effectLst/>
                <a:latin typeface="Sassoon Infant Rg" panose="02000503030000020003" pitchFamily="2" charset="0"/>
                <a:ea typeface="Sassoon Infant Rg" panose="02000503030000020003" pitchFamily="2" charset="0"/>
                <a:cs typeface="Times New Roman" panose="02020603050405020304" pitchFamily="18" charset="0"/>
              </a:rPr>
              <a:t>Read the complete text – underline any words or phrases you don’t understand.  Re-read full sentences for any parts you couldn’t read smoothly on the first attempt. </a:t>
            </a:r>
            <a:endParaRPr lang="en-GB" b="1"/>
          </a:p>
        </p:txBody>
      </p:sp>
      <p:sp>
        <p:nvSpPr>
          <p:cNvPr id="6" name="TextBox 5">
            <a:extLst>
              <a:ext uri="{FF2B5EF4-FFF2-40B4-BE49-F238E27FC236}">
                <a16:creationId xmlns:a16="http://schemas.microsoft.com/office/drawing/2014/main" id="{38C25E62-7AE0-A783-1D87-77105CAB659E}"/>
              </a:ext>
            </a:extLst>
          </p:cNvPr>
          <p:cNvSpPr txBox="1"/>
          <p:nvPr/>
        </p:nvSpPr>
        <p:spPr>
          <a:xfrm>
            <a:off x="2226896" y="3673314"/>
            <a:ext cx="7629665" cy="2308324"/>
          </a:xfrm>
          <a:prstGeom prst="rect">
            <a:avLst/>
          </a:prstGeom>
          <a:noFill/>
        </p:spPr>
        <p:txBody>
          <a:bodyPr wrap="square" rtlCol="0">
            <a:spAutoFit/>
          </a:bodyPr>
          <a:lstStyle/>
          <a:p>
            <a:endParaRPr lang="en-GB"/>
          </a:p>
          <a:p>
            <a:pPr marL="342900" indent="-342900">
              <a:buFont typeface="+mj-lt"/>
              <a:buAutoNum type="arabicPeriod"/>
            </a:pPr>
            <a:r>
              <a:rPr lang="en-GB"/>
              <a:t>Read by segmenting into phonemes and syllables</a:t>
            </a:r>
          </a:p>
          <a:p>
            <a:pPr marL="342900" indent="-342900">
              <a:buFont typeface="+mj-lt"/>
              <a:buAutoNum type="arabicPeriod"/>
            </a:pPr>
            <a:r>
              <a:rPr lang="en-GB"/>
              <a:t>Make a sensible attempt, making sure you blend ALL the sounds as you read.</a:t>
            </a:r>
          </a:p>
          <a:p>
            <a:pPr marL="342900" indent="-342900">
              <a:buFont typeface="+mj-lt"/>
              <a:buAutoNum type="arabicPeriod"/>
            </a:pPr>
            <a:r>
              <a:rPr lang="en-GB"/>
              <a:t>Use the context and parts of the word to make a sensible attempt at a definition.</a:t>
            </a:r>
          </a:p>
          <a:p>
            <a:pPr marL="342900" indent="-342900">
              <a:buFont typeface="+mj-lt"/>
              <a:buAutoNum type="arabicPeriod"/>
            </a:pPr>
            <a:endParaRPr lang="en-GB"/>
          </a:p>
          <a:p>
            <a:r>
              <a:rPr lang="en-GB"/>
              <a:t>Remember to re-read the entire sentence again.</a:t>
            </a:r>
          </a:p>
        </p:txBody>
      </p:sp>
      <p:pic>
        <p:nvPicPr>
          <p:cNvPr id="2" name="Picture 1">
            <a:extLst>
              <a:ext uri="{FF2B5EF4-FFF2-40B4-BE49-F238E27FC236}">
                <a16:creationId xmlns:a16="http://schemas.microsoft.com/office/drawing/2014/main" id="{4A238304-94B7-D6B3-84C9-8D8F6CDD2BB4}"/>
              </a:ext>
            </a:extLst>
          </p:cNvPr>
          <p:cNvPicPr>
            <a:picLocks noChangeAspect="1"/>
          </p:cNvPicPr>
          <p:nvPr/>
        </p:nvPicPr>
        <p:blipFill>
          <a:blip r:embed="rId4"/>
          <a:stretch>
            <a:fillRect/>
          </a:stretch>
        </p:blipFill>
        <p:spPr>
          <a:xfrm>
            <a:off x="866163" y="2097530"/>
            <a:ext cx="10351133" cy="1434810"/>
          </a:xfrm>
          <a:prstGeom prst="rect">
            <a:avLst/>
          </a:prstGeom>
        </p:spPr>
      </p:pic>
      <p:sp>
        <p:nvSpPr>
          <p:cNvPr id="13" name="TextBox 12">
            <a:extLst>
              <a:ext uri="{FF2B5EF4-FFF2-40B4-BE49-F238E27FC236}">
                <a16:creationId xmlns:a16="http://schemas.microsoft.com/office/drawing/2014/main" id="{A473D780-1F99-6094-42B5-9820D9017C99}"/>
              </a:ext>
            </a:extLst>
          </p:cNvPr>
          <p:cNvSpPr txBox="1"/>
          <p:nvPr/>
        </p:nvSpPr>
        <p:spPr>
          <a:xfrm>
            <a:off x="-2406316" y="1524000"/>
            <a:ext cx="184731" cy="369332"/>
          </a:xfrm>
          <a:prstGeom prst="rect">
            <a:avLst/>
          </a:prstGeom>
          <a:noFill/>
        </p:spPr>
        <p:txBody>
          <a:bodyPr wrap="none" rtlCol="0">
            <a:spAutoFit/>
          </a:bodyPr>
          <a:lstStyle/>
          <a:p>
            <a:endParaRPr lang="en-GB"/>
          </a:p>
        </p:txBody>
      </p:sp>
      <p:sp>
        <p:nvSpPr>
          <p:cNvPr id="15" name="TextBox 14">
            <a:extLst>
              <a:ext uri="{FF2B5EF4-FFF2-40B4-BE49-F238E27FC236}">
                <a16:creationId xmlns:a16="http://schemas.microsoft.com/office/drawing/2014/main" id="{E15A5C10-306D-554F-EAA6-B73E5AF3D6C7}"/>
              </a:ext>
            </a:extLst>
          </p:cNvPr>
          <p:cNvSpPr txBox="1"/>
          <p:nvPr/>
        </p:nvSpPr>
        <p:spPr>
          <a:xfrm>
            <a:off x="209488" y="1865628"/>
            <a:ext cx="11861201" cy="4241257"/>
          </a:xfrm>
          <a:prstGeom prst="rect">
            <a:avLst/>
          </a:prstGeom>
          <a:solidFill>
            <a:schemeClr val="accent5">
              <a:lumMod val="20000"/>
              <a:lumOff val="80000"/>
            </a:schemeClr>
          </a:solidFill>
        </p:spPr>
        <p:txBody>
          <a:bodyPr wrap="square" anchor="ctr">
            <a:noAutofit/>
          </a:bodyPr>
          <a:lstStyle/>
          <a:p>
            <a:r>
              <a:rPr lang="en-US" sz="2200"/>
              <a:t>The alley was narrow and dark, and Varjak pressed himself against the damp wall, trying to make himself as small as possible. He had heard them before he saw them — two large dogs, moving with a relentless, heavy certainty, their paws thudding against the wet cobblestones. Every instinct Varjak had was screaming at him to run, but he forced himself to stay still. His mentor's words rang in his head: be the stillness at the centre of the storm. He was desperate. He had no food, no shelter and no idea where he was going. The dogs paused at the end of the alley, their heads swinging left and right as they sniffed the cold air. One of them was enormous, with a barrel chest and a low growl that Varjak felt more than heard. He hesitated, uncertain whether to stay hidden or bolt for the gap between the bins ahead. His heart hammered. He forced himself to breathe slowly, to stay alert, to notice every detail the way Jalal's teaching had shown him. The big dog took one step towards the alley. Then another. Varjak's claws bit into the ground. He was ready. But then, without warning, a car horn blared from the road and both dogs flinched and turned away, trotting off into the yellow evening light. Varjak let out a long, shaking breath. He was safe. For now.</a:t>
            </a:r>
          </a:p>
        </p:txBody>
      </p:sp>
      <p:sp>
        <p:nvSpPr>
          <p:cNvPr id="10" name="Rounded Rectangle 9">
            <a:extLst>
              <a:ext uri="{FF2B5EF4-FFF2-40B4-BE49-F238E27FC236}">
                <a16:creationId xmlns:a16="http://schemas.microsoft.com/office/drawing/2014/main" id="{911D3733-5EF2-7482-D164-B776AE41E9CC}"/>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Tree>
    <p:extLst>
      <p:ext uri="{BB962C8B-B14F-4D97-AF65-F5344CB8AC3E}">
        <p14:creationId xmlns:p14="http://schemas.microsoft.com/office/powerpoint/2010/main" val="19794484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5" grpId="0" animBg="1"/>
      <p:bldP spid="1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5917-BDE9-A483-7A0D-AC15BA636611}"/>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3E3AA9AF-9E3C-B821-0C95-D4AA63DFFCBB}"/>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BC8D8944-1BCF-D4B0-7DAF-EF76646CCF50}"/>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6EE8B722-85CC-7111-AF8B-97EEBEE9A272}"/>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AD3569E1-8E04-B7BA-0398-4180BE3B0EE3}"/>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FFC19485-EC34-F070-3B3F-978F61587575}"/>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3C0DDE4A-9E8B-5BE3-65C1-A3FA2705ACB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A0F1A2A6-045F-00C7-688E-E6D0A25D5652}"/>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408A8433-A9BE-1E56-2965-99A3B5625947}"/>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27A24A2D-2408-EB9E-5F70-46F514294503}"/>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2946C962-D08C-0F71-45B1-FA00B59721B8}"/>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60E1483D-26A7-A33B-B0CD-B1044C4A76B4}"/>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ED4713C7-97EE-A5B0-8FC6-4CE70EA350BC}"/>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72843B94-CA11-5143-DFB7-BE14CB303150}"/>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CDA984DD-4FC4-64A0-887A-0A817B977071}"/>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understand and take meaning from a text.</a:t>
            </a:r>
          </a:p>
        </p:txBody>
      </p:sp>
      <p:sp>
        <p:nvSpPr>
          <p:cNvPr id="20" name="Rectangle 19">
            <a:extLst>
              <a:ext uri="{FF2B5EF4-FFF2-40B4-BE49-F238E27FC236}">
                <a16:creationId xmlns:a16="http://schemas.microsoft.com/office/drawing/2014/main" id="{3A23222B-35F4-3CDC-5FEA-1C58CE4A933A}"/>
              </a:ext>
            </a:extLst>
          </p:cNvPr>
          <p:cNvSpPr/>
          <p:nvPr/>
        </p:nvSpPr>
        <p:spPr>
          <a:xfrm>
            <a:off x="5597291" y="4824722"/>
            <a:ext cx="5583685" cy="1200329"/>
          </a:xfrm>
          <a:prstGeom prst="rect">
            <a:avLst/>
          </a:prstGeom>
          <a:noFill/>
        </p:spPr>
        <p:txBody>
          <a:bodyPr wrap="square">
            <a:spAutoFit/>
          </a:bodyPr>
          <a:lstStyle/>
          <a:p>
            <a:r>
              <a:rPr lang="en-GB" sz="2400">
                <a:latin typeface="+mj-lt"/>
              </a:rPr>
              <a:t>I will show this by answering questions which relate to the vocabulary used throughout the text.</a:t>
            </a:r>
          </a:p>
        </p:txBody>
      </p:sp>
      <p:grpSp>
        <p:nvGrpSpPr>
          <p:cNvPr id="26" name="Group 25">
            <a:extLst>
              <a:ext uri="{FF2B5EF4-FFF2-40B4-BE49-F238E27FC236}">
                <a16:creationId xmlns:a16="http://schemas.microsoft.com/office/drawing/2014/main" id="{F0FA508C-6CB1-E76E-F0A8-B64E6C4CD90D}"/>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3F558219-13F1-436A-59AF-11B90D95ABA1}"/>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33569914-364A-6AF1-85F1-0BFCF4FDB1A8}"/>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B90D4CDA-08E3-0ED1-C1FB-0242710F0D9A}"/>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8139F2B2-DE54-7CE1-CCBE-1C4164F07AC7}"/>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721B1AA3-17DD-506B-9B14-CDFF5EA0BECB}"/>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3A69BFB0-E1DC-E3FA-6EA3-821A27D46522}"/>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my understanding of vocabulary at a sentence and text level.</a:t>
            </a:r>
          </a:p>
        </p:txBody>
      </p:sp>
      <p:grpSp>
        <p:nvGrpSpPr>
          <p:cNvPr id="3" name="Group 2">
            <a:extLst>
              <a:ext uri="{FF2B5EF4-FFF2-40B4-BE49-F238E27FC236}">
                <a16:creationId xmlns:a16="http://schemas.microsoft.com/office/drawing/2014/main" id="{AB1D5BFC-9C6F-78FE-BB55-8A787A315711}"/>
              </a:ext>
            </a:extLst>
          </p:cNvPr>
          <p:cNvGrpSpPr/>
          <p:nvPr/>
        </p:nvGrpSpPr>
        <p:grpSpPr>
          <a:xfrm>
            <a:off x="10607910" y="233361"/>
            <a:ext cx="1316831" cy="1316831"/>
            <a:chOff x="5180554" y="1026138"/>
            <a:chExt cx="1316831" cy="1316831"/>
          </a:xfrm>
        </p:grpSpPr>
        <p:sp>
          <p:nvSpPr>
            <p:cNvPr id="4" name="Oval 3">
              <a:extLst>
                <a:ext uri="{FF2B5EF4-FFF2-40B4-BE49-F238E27FC236}">
                  <a16:creationId xmlns:a16="http://schemas.microsoft.com/office/drawing/2014/main" id="{30C90C35-E0BE-7AD4-92BC-8EFF113E4DB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1" name="Oval 4">
              <a:extLst>
                <a:ext uri="{FF2B5EF4-FFF2-40B4-BE49-F238E27FC236}">
                  <a16:creationId xmlns:a16="http://schemas.microsoft.com/office/drawing/2014/main" id="{D5E138FF-7604-1E33-555D-87C2C96CBE05}"/>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Tree>
    <p:extLst>
      <p:ext uri="{BB962C8B-B14F-4D97-AF65-F5344CB8AC3E}">
        <p14:creationId xmlns:p14="http://schemas.microsoft.com/office/powerpoint/2010/main" val="2842610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F7DB-6538-E176-FE28-8F1AD25656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F21690-854A-3024-D098-1C56DE57443E}"/>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6" name="TextBox 5">
            <a:extLst>
              <a:ext uri="{FF2B5EF4-FFF2-40B4-BE49-F238E27FC236}">
                <a16:creationId xmlns:a16="http://schemas.microsoft.com/office/drawing/2014/main" id="{AEC30692-9C94-A8DB-4755-85FE74DE9821}"/>
              </a:ext>
            </a:extLst>
          </p:cNvPr>
          <p:cNvSpPr txBox="1"/>
          <p:nvPr/>
        </p:nvSpPr>
        <p:spPr>
          <a:xfrm>
            <a:off x="288098" y="335454"/>
            <a:ext cx="6864956" cy="707886"/>
          </a:xfrm>
          <a:prstGeom prst="rect">
            <a:avLst/>
          </a:prstGeom>
          <a:noFill/>
        </p:spPr>
        <p:txBody>
          <a:bodyPr wrap="none" rtlCol="0">
            <a:spAutoFit/>
          </a:bodyPr>
          <a:lstStyle/>
          <a:p>
            <a:r>
              <a:rPr lang="en-GB" sz="4000" b="1" u="sng"/>
              <a:t>Practice questions - Retrieval</a:t>
            </a:r>
          </a:p>
        </p:txBody>
      </p:sp>
      <p:pic>
        <p:nvPicPr>
          <p:cNvPr id="7" name="Picture 6">
            <a:extLst>
              <a:ext uri="{FF2B5EF4-FFF2-40B4-BE49-F238E27FC236}">
                <a16:creationId xmlns:a16="http://schemas.microsoft.com/office/drawing/2014/main" id="{E0AB4FA0-4B96-F850-DD50-18A5FD657BB8}"/>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
        <p:nvSpPr>
          <p:cNvPr id="4" name="Rounded Rectangle 9">
            <a:extLst>
              <a:ext uri="{FF2B5EF4-FFF2-40B4-BE49-F238E27FC236}">
                <a16:creationId xmlns:a16="http://schemas.microsoft.com/office/drawing/2014/main" id="{2A06B04F-B021-4121-0C16-7A5BACEFBC1B}"/>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0" name="TextBox 9">
            <a:extLst>
              <a:ext uri="{FF2B5EF4-FFF2-40B4-BE49-F238E27FC236}">
                <a16:creationId xmlns:a16="http://schemas.microsoft.com/office/drawing/2014/main" id="{C064352E-4E96-13BD-C58F-5EEC5E15F4B5}"/>
              </a:ext>
            </a:extLst>
          </p:cNvPr>
          <p:cNvSpPr txBox="1"/>
          <p:nvPr/>
        </p:nvSpPr>
        <p:spPr>
          <a:xfrm>
            <a:off x="418368" y="1463046"/>
            <a:ext cx="11355262" cy="2246769"/>
          </a:xfrm>
          <a:prstGeom prst="rect">
            <a:avLst/>
          </a:prstGeom>
          <a:noFill/>
        </p:spPr>
        <p:txBody>
          <a:bodyPr wrap="square" rtlCol="0">
            <a:spAutoFit/>
          </a:bodyPr>
          <a:lstStyle/>
          <a:p>
            <a:r>
              <a:rPr lang="en-US" sz="1900"/>
              <a:t>Give two reasons from the text why Varjak is feeling desperate.</a:t>
            </a:r>
          </a:p>
          <a:p>
            <a:r>
              <a:rPr lang="en-US" sz="1900"/>
              <a:t>Varjak is desperate because he has no food, no shelter and no idea where he is going.</a:t>
            </a:r>
          </a:p>
          <a:p>
            <a:endParaRPr lang="en-US" sz="1900"/>
          </a:p>
          <a:p>
            <a:r>
              <a:rPr lang="en-US" sz="1900"/>
              <a:t>What does Varjak do to try to stay calm when the dogs approach?</a:t>
            </a:r>
          </a:p>
          <a:p>
            <a:r>
              <a:rPr lang="en-US" sz="1900"/>
              <a:t>He forces himself to breathe slowly, stay alert and notice every detail around him, just as Jalal's teaching had shown him.</a:t>
            </a:r>
          </a:p>
        </p:txBody>
      </p:sp>
      <p:sp>
        <p:nvSpPr>
          <p:cNvPr id="3" name="TextBox 2">
            <a:extLst>
              <a:ext uri="{FF2B5EF4-FFF2-40B4-BE49-F238E27FC236}">
                <a16:creationId xmlns:a16="http://schemas.microsoft.com/office/drawing/2014/main" id="{EBAE955F-2F2B-1B4A-4719-6AB782D998C5}"/>
              </a:ext>
            </a:extLst>
          </p:cNvPr>
          <p:cNvSpPr txBox="1"/>
          <p:nvPr/>
        </p:nvSpPr>
        <p:spPr>
          <a:xfrm>
            <a:off x="145774" y="1043340"/>
            <a:ext cx="12046226" cy="4585423"/>
          </a:xfrm>
          <a:prstGeom prst="rect">
            <a:avLst/>
          </a:prstGeom>
          <a:solidFill>
            <a:schemeClr val="accent5">
              <a:lumMod val="20000"/>
              <a:lumOff val="80000"/>
            </a:schemeClr>
          </a:solidFill>
        </p:spPr>
        <p:txBody>
          <a:bodyPr wrap="square" anchor="ctr">
            <a:noAutofit/>
          </a:bodyPr>
          <a:lstStyle/>
          <a:p>
            <a:r>
              <a:rPr lang="en-US" sz="2200"/>
              <a:t>The alley was narrow and dark, and Varjak pressed himself against the damp wall, trying to make himself as small as possible. He had heard them before he saw them — two large dogs, moving with a relentless, heavy certainty, their paws thudding against the wet cobblestones. Every instinct Varjak had was screaming at him to run, but he forced himself to stay still. His mentor's words rang in his head: be the stillness at the centre of the storm. He was desperate. He had no food, no shelter and no idea where he was going. The dogs paused at the end of the alley, their heads swinging left and right as they sniffed the cold air. One of them was enormous, with a barrel chest and a low growl that Varjak felt more than heard. He hesitated, uncertain whether to stay hidden or bolt for the gap between the bins ahead. His heart hammered. He forced himself to breathe slowly, to stay alert, to notice every detail the way Jalal's teaching had shown him. The big dog took one step towards the alley. Then another. Varjak's claws bit into the ground. He was ready. But then, without warning, a car horn blared from the road and both dogs flinched and turned away, trotting off into the yellow evening light. Varjak let out a long, shaking breath. He was safe. For now.</a:t>
            </a:r>
          </a:p>
        </p:txBody>
      </p:sp>
    </p:spTree>
    <p:extLst>
      <p:ext uri="{BB962C8B-B14F-4D97-AF65-F5344CB8AC3E}">
        <p14:creationId xmlns:p14="http://schemas.microsoft.com/office/powerpoint/2010/main" val="216172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4"/>
                    </p:tgtEl>
                  </p:cond>
                </p:stCondLst>
                <p:endSync evt="end" delay="0">
                  <p:rtn val="all"/>
                </p:endSync>
                <p:childTnLst>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3" grpId="0" animBg="1"/>
      <p:bldP spid="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568895" y="211840"/>
            <a:ext cx="3039122" cy="3522775"/>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3" name="TextBox 2">
            <a:extLst>
              <a:ext uri="{FF2B5EF4-FFF2-40B4-BE49-F238E27FC236}">
                <a16:creationId xmlns:a16="http://schemas.microsoft.com/office/drawing/2014/main" id="{9AA1DE16-8C7B-4868-2DE3-9C9C7D7D4324}"/>
              </a:ext>
            </a:extLst>
          </p:cNvPr>
          <p:cNvSpPr txBox="1"/>
          <p:nvPr/>
        </p:nvSpPr>
        <p:spPr>
          <a:xfrm>
            <a:off x="0" y="4552141"/>
            <a:ext cx="12192000" cy="707886"/>
          </a:xfrm>
          <a:prstGeom prst="rect">
            <a:avLst/>
          </a:prstGeom>
          <a:noFill/>
        </p:spPr>
        <p:txBody>
          <a:bodyPr wrap="square" rtlCol="0">
            <a:spAutoFit/>
          </a:bodyPr>
          <a:lstStyle/>
          <a:p>
            <a:pPr algn="ctr"/>
            <a:r>
              <a:rPr lang="en-GB" sz="4000"/>
              <a:t>Inference</a:t>
            </a:r>
            <a:endParaRPr lang="en-GB"/>
          </a:p>
        </p:txBody>
      </p:sp>
      <p:sp>
        <p:nvSpPr>
          <p:cNvPr id="6" name="TextBox 5">
            <a:extLst>
              <a:ext uri="{FF2B5EF4-FFF2-40B4-BE49-F238E27FC236}">
                <a16:creationId xmlns:a16="http://schemas.microsoft.com/office/drawing/2014/main" id="{2B18F8C8-4B63-E425-87CE-D13C91BCA056}"/>
              </a:ext>
            </a:extLst>
          </p:cNvPr>
          <p:cNvSpPr txBox="1"/>
          <p:nvPr/>
        </p:nvSpPr>
        <p:spPr>
          <a:xfrm>
            <a:off x="3891028" y="5199610"/>
            <a:ext cx="4394857" cy="1446550"/>
          </a:xfrm>
          <a:prstGeom prst="rect">
            <a:avLst/>
          </a:prstGeom>
          <a:noFill/>
        </p:spPr>
        <p:txBody>
          <a:bodyPr wrap="none" rtlCol="0" anchor="ctr">
            <a:spAutoFit/>
          </a:bodyPr>
          <a:lstStyle/>
          <a:p>
            <a:pPr algn="ctr"/>
            <a:r>
              <a:rPr lang="en-GB" sz="8800"/>
              <a:t>Thursday</a:t>
            </a:r>
          </a:p>
        </p:txBody>
      </p:sp>
    </p:spTree>
    <p:extLst>
      <p:ext uri="{BB962C8B-B14F-4D97-AF65-F5344CB8AC3E}">
        <p14:creationId xmlns:p14="http://schemas.microsoft.com/office/powerpoint/2010/main" val="3303693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ACEAB2A-6943-1061-22CF-9EC0847829D7}"/>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D9DEE78A-07A9-5FF3-9D78-C0D9D21EEFB2}"/>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16D2B17F-CF26-33D2-B6F6-70299CA1A763}"/>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the world around me.</a:t>
            </a:r>
          </a:p>
        </p:txBody>
      </p:sp>
      <p:pic>
        <p:nvPicPr>
          <p:cNvPr id="7" name="Picture 6">
            <a:extLst>
              <a:ext uri="{FF2B5EF4-FFF2-40B4-BE49-F238E27FC236}">
                <a16:creationId xmlns:a16="http://schemas.microsoft.com/office/drawing/2014/main" id="{3DF6A32D-163D-40C2-BACF-C964E0035D2E}"/>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A25D9A8A-09E0-BBBE-0C18-2E1880E52773}"/>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950C5C2B-42CC-39EC-6847-EE394E29BB3C}"/>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We love to read, learn to read and read to learn! </a:t>
            </a:r>
          </a:p>
        </p:txBody>
      </p:sp>
      <p:pic>
        <p:nvPicPr>
          <p:cNvPr id="3" name="Picture 2">
            <a:extLst>
              <a:ext uri="{FF2B5EF4-FFF2-40B4-BE49-F238E27FC236}">
                <a16:creationId xmlns:a16="http://schemas.microsoft.com/office/drawing/2014/main" id="{121AB0E8-B43D-DFDE-C896-2046E6E618BA}"/>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85578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3C5AD-3309-A9A5-F848-B93CB7BC5FD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B9D8A55-04E7-0528-A165-9FB98DB89054}"/>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2E1FDC99-0FE5-B42D-815D-42276802132E}"/>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1E5DC868-7EB8-4F7D-7DAE-A2A8DBE0A20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DACB8AB4-1258-EA30-31A5-77EEA5A000F2}"/>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659AE26C-55EC-A139-FEFB-5E8B79ECFD3A}"/>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086FA3C6-53FE-7451-6D4F-7009D38010D4}"/>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F75FCCA-8003-024B-2B29-0EDF6D801F3D}"/>
                  </a:ext>
                </a:extLst>
              </p14:cNvPr>
              <p14:cNvContentPartPr/>
              <p14:nvPr/>
            </p14:nvContentPartPr>
            <p14:xfrm>
              <a:off x="9034477" y="550400"/>
              <a:ext cx="360" cy="360"/>
            </p14:xfrm>
          </p:contentPart>
        </mc:Choice>
        <mc:Fallback>
          <p:pic>
            <p:nvPicPr>
              <p:cNvPr id="3" name="Ink 2">
                <a:extLst>
                  <a:ext uri="{FF2B5EF4-FFF2-40B4-BE49-F238E27FC236}">
                    <a16:creationId xmlns:a16="http://schemas.microsoft.com/office/drawing/2014/main" id="{9F75FCCA-8003-024B-2B29-0EDF6D801F3D}"/>
                  </a:ext>
                </a:extLst>
              </p:cNvPr>
              <p:cNvPicPr/>
              <p:nvPr/>
            </p:nvPicPr>
            <p:blipFill>
              <a:blip r:embed="rId5"/>
              <a:stretch>
                <a:fillRect/>
              </a:stretch>
            </p:blipFill>
            <p:spPr>
              <a:xfrm>
                <a:off x="9025117" y="541040"/>
                <a:ext cx="19080" cy="19080"/>
              </a:xfrm>
              <a:prstGeom prst="rect">
                <a:avLst/>
              </a:prstGeom>
            </p:spPr>
          </p:pic>
        </mc:Fallback>
      </mc:AlternateContent>
      <p:graphicFrame>
        <p:nvGraphicFramePr>
          <p:cNvPr id="7" name="Table 6">
            <a:extLst>
              <a:ext uri="{FF2B5EF4-FFF2-40B4-BE49-F238E27FC236}">
                <a16:creationId xmlns:a16="http://schemas.microsoft.com/office/drawing/2014/main" id="{AD7A6C68-D614-2377-056B-781707D2F236}"/>
              </a:ext>
            </a:extLst>
          </p:cNvPr>
          <p:cNvGraphicFramePr>
            <a:graphicFrameLocks noGrp="1"/>
          </p:cNvGraphicFramePr>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yearned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wanted something deeply and with great feeling, like an ache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solitary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alone, without anyone else around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flinched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made a small, sharp movement in reaction to pain or a sudden feeling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distant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far away, either in place or in feeling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resolve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 strong, firm decision that you will do something no matter what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114E80EC-EDEA-A9B8-0AA7-BDF4DBA738D9}"/>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3" name="Rectangle 12">
            <a:extLst>
              <a:ext uri="{FF2B5EF4-FFF2-40B4-BE49-F238E27FC236}">
                <a16:creationId xmlns:a16="http://schemas.microsoft.com/office/drawing/2014/main" id="{2CF9C0CB-B38A-8B6C-0680-46BD300AE1DC}"/>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7" name="Rectangle 16">
            <a:extLst>
              <a:ext uri="{FF2B5EF4-FFF2-40B4-BE49-F238E27FC236}">
                <a16:creationId xmlns:a16="http://schemas.microsoft.com/office/drawing/2014/main" id="{4BF34747-0A22-7E80-CA39-94571BB7D672}"/>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8" name="Rectangle 17">
            <a:extLst>
              <a:ext uri="{FF2B5EF4-FFF2-40B4-BE49-F238E27FC236}">
                <a16:creationId xmlns:a16="http://schemas.microsoft.com/office/drawing/2014/main" id="{FB910803-A54A-5B45-8345-8FFD7AC1C67C}"/>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9" name="Rectangle 18">
            <a:extLst>
              <a:ext uri="{FF2B5EF4-FFF2-40B4-BE49-F238E27FC236}">
                <a16:creationId xmlns:a16="http://schemas.microsoft.com/office/drawing/2014/main" id="{DB05B3E1-CB09-5A78-B03C-31610DE59A67}"/>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Tree>
    <p:extLst>
      <p:ext uri="{BB962C8B-B14F-4D97-AF65-F5344CB8AC3E}">
        <p14:creationId xmlns:p14="http://schemas.microsoft.com/office/powerpoint/2010/main" val="32872334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2" restart="whenNotActive" fill="hold" evtFilter="cancelBubble" nodeType="interactiveSeq">
                <p:stCondLst>
                  <p:cond evt="onClick" delay="0">
                    <p:tgtEl>
                      <p:spTgt spid="1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7" restart="whenNotActive" fill="hold" evtFilter="cancelBubble" nodeType="interactiveSeq">
                <p:stCondLst>
                  <p:cond evt="onClick" delay="0">
                    <p:tgtEl>
                      <p:spTgt spid="1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2" restart="whenNotActive" fill="hold" evtFilter="cancelBubble" nodeType="interactiveSeq">
                <p:stCondLst>
                  <p:cond evt="onClick" delay="0">
                    <p:tgtEl>
                      <p:spTgt spid="1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6" grpId="0" animBg="1"/>
      <p:bldP spid="13"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C497C-5676-F0CE-9C15-81908FA1F34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DCBDDC3-E8B4-5DB7-95EB-E4EB767438DF}"/>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4D7EC211-6C19-B85F-7D0D-25A8FEEA3637}"/>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6358CBDE-7D41-F226-3072-41F208B4D98A}"/>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9CDE4E57-6664-84F7-C8E9-8F4381A4D091}"/>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3B86A135-C8BF-2285-F3AA-0B4C5706CE90}"/>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07FF75F1-41FF-EEA3-B802-ED64112A7D02}"/>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98F68A2F-1F77-2878-BCF5-883045F28026}"/>
              </a:ext>
            </a:extLst>
          </p:cNvPr>
          <p:cNvGraphicFramePr>
            <a:graphicFrameLocks noGrp="1"/>
          </p:cNvGraphicFramePr>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b="0">
                        <a:solidFill>
                          <a:schemeClr val="tx1"/>
                        </a:solidFill>
                      </a:endParaRPr>
                    </a:p>
                    <a:p>
                      <a:pPr algn="ctr"/>
                      <a:r>
                        <a:rPr lang="en-GB" sz="3200" b="0">
                          <a:solidFill>
                            <a:schemeClr val="tx1"/>
                          </a:solidFill>
                          <a:latin typeface="XCCW Joined 4a" panose="03050602040000000000" pitchFamily="66" charset="77"/>
                        </a:rPr>
                        <a:t>yearned</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755B9240-8989-B9DB-0B3B-B8D062E07BC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7904627B-45D6-BE36-7042-C69B53AD1828}"/>
              </a:ext>
            </a:extLst>
          </p:cNvPr>
          <p:cNvSpPr txBox="1"/>
          <p:nvPr/>
        </p:nvSpPr>
        <p:spPr>
          <a:xfrm>
            <a:off x="4766154" y="5299847"/>
            <a:ext cx="2400000" cy="480000"/>
          </a:xfrm>
          <a:prstGeom prst="rect">
            <a:avLst/>
          </a:prstGeom>
          <a:noFill/>
        </p:spPr>
        <p:txBody>
          <a:bodyPr wrap="square" rtlCol="0" anchor="ctr"/>
          <a:lstStyle/>
          <a:p>
            <a:pPr algn="ctr"/>
            <a:r>
              <a:rPr lang="en-GB"/>
              <a:t>yearned</a:t>
            </a:r>
          </a:p>
        </p:txBody>
      </p:sp>
      <p:cxnSp>
        <p:nvCxnSpPr>
          <p:cNvPr id="12" name="Straight Connector 11">
            <a:extLst>
              <a:ext uri="{FF2B5EF4-FFF2-40B4-BE49-F238E27FC236}">
                <a16:creationId xmlns:a16="http://schemas.microsoft.com/office/drawing/2014/main" id="{483F9876-11CA-68D4-B5B9-503CB1452DDF}"/>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7DD069-433E-BF48-9167-8E5BCC114624}"/>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37026A-B5E7-A43B-7015-F91BED67059F}"/>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7576966-8817-48AF-F837-0832462F5E46}"/>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EE6038E-2E20-39E1-51AA-382FB77B2D40}"/>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3934231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C8F1879-9C69-AABD-5D27-70A3FD61C54F}"/>
              </a:ext>
            </a:extLst>
          </p:cNvPr>
          <p:cNvGrpSpPr/>
          <p:nvPr/>
        </p:nvGrpSpPr>
        <p:grpSpPr>
          <a:xfrm>
            <a:off x="43957" y="90546"/>
            <a:ext cx="963274" cy="909579"/>
            <a:chOff x="1630613" y="1026138"/>
            <a:chExt cx="1316831" cy="1316831"/>
          </a:xfrm>
        </p:grpSpPr>
        <p:sp>
          <p:nvSpPr>
            <p:cNvPr id="4" name="Oval 3">
              <a:extLst>
                <a:ext uri="{FF2B5EF4-FFF2-40B4-BE49-F238E27FC236}">
                  <a16:creationId xmlns:a16="http://schemas.microsoft.com/office/drawing/2014/main" id="{C5A04DD0-FF30-895F-0ED9-888B47B1A02D}"/>
                </a:ext>
              </a:extLst>
            </p:cNvPr>
            <p:cNvSpPr/>
            <p:nvPr/>
          </p:nvSpPr>
          <p:spPr>
            <a:xfrm>
              <a:off x="1630613" y="1026138"/>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5" name="Oval 4">
              <a:extLst>
                <a:ext uri="{FF2B5EF4-FFF2-40B4-BE49-F238E27FC236}">
                  <a16:creationId xmlns:a16="http://schemas.microsoft.com/office/drawing/2014/main" id="{8EBD88F1-D64A-0A71-7434-4A250ABBD4E6}"/>
                </a:ext>
              </a:extLst>
            </p:cNvPr>
            <p:cNvSpPr txBox="1"/>
            <p:nvPr/>
          </p:nvSpPr>
          <p:spPr>
            <a:xfrm>
              <a:off x="1823458"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latin typeface="Sassoon Infant Rg" panose="02000503030000020003" pitchFamily="2" charset="0"/>
                  <a:ea typeface="Sassoon Infant Rg" panose="02000503030000020003" pitchFamily="2" charset="0"/>
                </a:rPr>
                <a:t>Decoding &amp; phonics</a:t>
              </a:r>
            </a:p>
          </p:txBody>
        </p:sp>
      </p:grpSp>
      <p:pic>
        <p:nvPicPr>
          <p:cNvPr id="11" name="Picture 10">
            <a:extLst>
              <a:ext uri="{FF2B5EF4-FFF2-40B4-BE49-F238E27FC236}">
                <a16:creationId xmlns:a16="http://schemas.microsoft.com/office/drawing/2014/main" id="{5B88EF2C-3893-9BD5-87F9-6BF0F699F9A5}"/>
              </a:ext>
            </a:extLst>
          </p:cNvPr>
          <p:cNvPicPr/>
          <p:nvPr/>
        </p:nvPicPr>
        <p:blipFill>
          <a:blip r:embed="rId3">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D07968F0-1915-728F-1F6D-2CB9277677F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Independent Read</a:t>
            </a:r>
          </a:p>
        </p:txBody>
      </p:sp>
      <p:sp>
        <p:nvSpPr>
          <p:cNvPr id="22" name="TextBox 21">
            <a:extLst>
              <a:ext uri="{FF2B5EF4-FFF2-40B4-BE49-F238E27FC236}">
                <a16:creationId xmlns:a16="http://schemas.microsoft.com/office/drawing/2014/main" id="{BBE494B4-E4A1-C48A-15E2-3683EA0AD086}"/>
              </a:ext>
            </a:extLst>
          </p:cNvPr>
          <p:cNvSpPr txBox="1"/>
          <p:nvPr/>
        </p:nvSpPr>
        <p:spPr>
          <a:xfrm>
            <a:off x="1" y="931322"/>
            <a:ext cx="12191999" cy="830997"/>
          </a:xfrm>
          <a:prstGeom prst="rect">
            <a:avLst/>
          </a:prstGeom>
          <a:noFill/>
        </p:spPr>
        <p:txBody>
          <a:bodyPr wrap="square">
            <a:spAutoFit/>
          </a:bodyPr>
          <a:lstStyle/>
          <a:p>
            <a:pPr algn="ctr"/>
            <a:r>
              <a:rPr lang="en-GB" sz="1800">
                <a:effectLst/>
                <a:latin typeface="Sassoon Infant Rg" panose="02000503030000020003" pitchFamily="2" charset="0"/>
                <a:ea typeface="Sassoon Infant Rg" panose="02000503030000020003" pitchFamily="2" charset="0"/>
                <a:cs typeface="Times New Roman" panose="02020603050405020304" pitchFamily="18" charset="0"/>
              </a:rPr>
              <a:t>Read the complete text – underline any words or phrases you don’t understand.  Re-read full sentences for any parts you couldn’t read smoothly on the first attempt. </a:t>
            </a:r>
            <a:endParaRPr lang="en-GB" b="1"/>
          </a:p>
        </p:txBody>
      </p:sp>
      <p:sp>
        <p:nvSpPr>
          <p:cNvPr id="6" name="TextBox 5">
            <a:extLst>
              <a:ext uri="{FF2B5EF4-FFF2-40B4-BE49-F238E27FC236}">
                <a16:creationId xmlns:a16="http://schemas.microsoft.com/office/drawing/2014/main" id="{38C25E62-7AE0-A783-1D87-77105CAB659E}"/>
              </a:ext>
            </a:extLst>
          </p:cNvPr>
          <p:cNvSpPr txBox="1"/>
          <p:nvPr/>
        </p:nvSpPr>
        <p:spPr>
          <a:xfrm>
            <a:off x="2226896" y="3673314"/>
            <a:ext cx="7629665" cy="2308324"/>
          </a:xfrm>
          <a:prstGeom prst="rect">
            <a:avLst/>
          </a:prstGeom>
          <a:noFill/>
        </p:spPr>
        <p:txBody>
          <a:bodyPr wrap="square" rtlCol="0">
            <a:spAutoFit/>
          </a:bodyPr>
          <a:lstStyle/>
          <a:p>
            <a:endParaRPr lang="en-GB"/>
          </a:p>
          <a:p>
            <a:pPr marL="342900" indent="-342900">
              <a:buFont typeface="+mj-lt"/>
              <a:buAutoNum type="arabicPeriod"/>
            </a:pPr>
            <a:r>
              <a:rPr lang="en-GB"/>
              <a:t>Read by segmenting into phonemes and syllables</a:t>
            </a:r>
          </a:p>
          <a:p>
            <a:pPr marL="342900" indent="-342900">
              <a:buFont typeface="+mj-lt"/>
              <a:buAutoNum type="arabicPeriod"/>
            </a:pPr>
            <a:r>
              <a:rPr lang="en-GB"/>
              <a:t>Make a sensible attempt, making sure you blend ALL the sounds as you read.</a:t>
            </a:r>
          </a:p>
          <a:p>
            <a:pPr marL="342900" indent="-342900">
              <a:buFont typeface="+mj-lt"/>
              <a:buAutoNum type="arabicPeriod"/>
            </a:pPr>
            <a:r>
              <a:rPr lang="en-GB"/>
              <a:t>Use the context and parts of the word to make a sensible attempt at a definition.</a:t>
            </a:r>
          </a:p>
          <a:p>
            <a:pPr marL="342900" indent="-342900">
              <a:buFont typeface="+mj-lt"/>
              <a:buAutoNum type="arabicPeriod"/>
            </a:pPr>
            <a:endParaRPr lang="en-GB"/>
          </a:p>
          <a:p>
            <a:r>
              <a:rPr lang="en-GB"/>
              <a:t>Remember to re-read the entire sentence again.</a:t>
            </a:r>
          </a:p>
        </p:txBody>
      </p:sp>
      <p:pic>
        <p:nvPicPr>
          <p:cNvPr id="2" name="Picture 1">
            <a:extLst>
              <a:ext uri="{FF2B5EF4-FFF2-40B4-BE49-F238E27FC236}">
                <a16:creationId xmlns:a16="http://schemas.microsoft.com/office/drawing/2014/main" id="{4A238304-94B7-D6B3-84C9-8D8F6CDD2BB4}"/>
              </a:ext>
            </a:extLst>
          </p:cNvPr>
          <p:cNvPicPr>
            <a:picLocks noChangeAspect="1"/>
          </p:cNvPicPr>
          <p:nvPr/>
        </p:nvPicPr>
        <p:blipFill>
          <a:blip r:embed="rId4"/>
          <a:stretch>
            <a:fillRect/>
          </a:stretch>
        </p:blipFill>
        <p:spPr>
          <a:xfrm>
            <a:off x="866163" y="2097530"/>
            <a:ext cx="10351133" cy="1434810"/>
          </a:xfrm>
          <a:prstGeom prst="rect">
            <a:avLst/>
          </a:prstGeom>
        </p:spPr>
      </p:pic>
      <p:sp>
        <p:nvSpPr>
          <p:cNvPr id="13" name="TextBox 12">
            <a:extLst>
              <a:ext uri="{FF2B5EF4-FFF2-40B4-BE49-F238E27FC236}">
                <a16:creationId xmlns:a16="http://schemas.microsoft.com/office/drawing/2014/main" id="{A473D780-1F99-6094-42B5-9820D9017C99}"/>
              </a:ext>
            </a:extLst>
          </p:cNvPr>
          <p:cNvSpPr txBox="1"/>
          <p:nvPr/>
        </p:nvSpPr>
        <p:spPr>
          <a:xfrm>
            <a:off x="-2406316" y="1524000"/>
            <a:ext cx="184731" cy="369332"/>
          </a:xfrm>
          <a:prstGeom prst="rect">
            <a:avLst/>
          </a:prstGeom>
          <a:noFill/>
        </p:spPr>
        <p:txBody>
          <a:bodyPr wrap="none" rtlCol="0">
            <a:spAutoFit/>
          </a:bodyPr>
          <a:lstStyle/>
          <a:p>
            <a:endParaRPr lang="en-GB"/>
          </a:p>
        </p:txBody>
      </p:sp>
      <p:sp>
        <p:nvSpPr>
          <p:cNvPr id="15" name="TextBox 14">
            <a:extLst>
              <a:ext uri="{FF2B5EF4-FFF2-40B4-BE49-F238E27FC236}">
                <a16:creationId xmlns:a16="http://schemas.microsoft.com/office/drawing/2014/main" id="{E15A5C10-306D-554F-EAA6-B73E5AF3D6C7}"/>
              </a:ext>
            </a:extLst>
          </p:cNvPr>
          <p:cNvSpPr txBox="1"/>
          <p:nvPr/>
        </p:nvSpPr>
        <p:spPr>
          <a:xfrm>
            <a:off x="209488" y="1865629"/>
            <a:ext cx="11861201" cy="3985274"/>
          </a:xfrm>
          <a:prstGeom prst="rect">
            <a:avLst/>
          </a:prstGeom>
          <a:solidFill>
            <a:schemeClr val="accent5">
              <a:lumMod val="20000"/>
              <a:lumOff val="80000"/>
            </a:schemeClr>
          </a:solidFill>
        </p:spPr>
        <p:txBody>
          <a:bodyPr wrap="square" anchor="ctr">
            <a:noAutofit/>
          </a:bodyPr>
          <a:lstStyle/>
          <a:p>
            <a:r>
              <a:rPr lang="en-US" sz="2200"/>
              <a:t>The city never truly slept. Even in the small hours, when most humans had retreated behind their lit windows, the streets below still hummed and clicked and breathed. Varjak crouched on a fire escape above it all, his tail wrapped around his paws, watching. He was completely alone. He had not eaten properly in two days, and the cold was beginning to bite at the edges of everything. He yearned for the tower with an ache that surprised him — not for the tower itself, exactly, but for the smell of it, the warmth of his brothers pressed close on either side, his mother's voice low and steady in the dark. He flinched at the memory, as though it had edges. Below him, a solitary figure crossed the empty road and disappeared into a doorway. Varjak watched until they were gone. Then he looked up. Above the yellow smear of city light, he could just make out a handful of stars — distant, cold, barely there. His grandfather had spoken of a sky full of stars. The world must have been a different place then, Varjak thought. But the thought did not break him. Instead, something hardened quietly in his chest. He had come too far to go back now. He did not know if he would succeed. He only knew that he would not stop. That resolve, small and solid and certain, was enough for tonight.</a:t>
            </a:r>
          </a:p>
        </p:txBody>
      </p:sp>
      <p:sp>
        <p:nvSpPr>
          <p:cNvPr id="10" name="Rounded Rectangle 9">
            <a:extLst>
              <a:ext uri="{FF2B5EF4-FFF2-40B4-BE49-F238E27FC236}">
                <a16:creationId xmlns:a16="http://schemas.microsoft.com/office/drawing/2014/main" id="{911D3733-5EF2-7482-D164-B776AE41E9CC}"/>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Tree>
    <p:extLst>
      <p:ext uri="{BB962C8B-B14F-4D97-AF65-F5344CB8AC3E}">
        <p14:creationId xmlns:p14="http://schemas.microsoft.com/office/powerpoint/2010/main" val="19794484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5" grpId="0" animBg="1"/>
      <p:bldP spid="1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5917-BDE9-A483-7A0D-AC15BA636611}"/>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3E3AA9AF-9E3C-B821-0C95-D4AA63DFFCBB}"/>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BC8D8944-1BCF-D4B0-7DAF-EF76646CCF50}"/>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6EE8B722-85CC-7111-AF8B-97EEBEE9A272}"/>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AD3569E1-8E04-B7BA-0398-4180BE3B0EE3}"/>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FFC19485-EC34-F070-3B3F-978F61587575}"/>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3C0DDE4A-9E8B-5BE3-65C1-A3FA2705ACB2}"/>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A0F1A2A6-045F-00C7-688E-E6D0A25D5652}"/>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408A8433-A9BE-1E56-2965-99A3B5625947}"/>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27A24A2D-2408-EB9E-5F70-46F514294503}"/>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2946C962-D08C-0F71-45B1-FA00B59721B8}"/>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60E1483D-26A7-A33B-B0CD-B1044C4A76B4}"/>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ED4713C7-97EE-A5B0-8FC6-4CE70EA350BC}"/>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72843B94-CA11-5143-DFB7-BE14CB303150}"/>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CDA984DD-4FC4-64A0-887A-0A817B977071}"/>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understand and take meaning from a text.</a:t>
            </a:r>
          </a:p>
        </p:txBody>
      </p:sp>
      <p:sp>
        <p:nvSpPr>
          <p:cNvPr id="20" name="Rectangle 19">
            <a:extLst>
              <a:ext uri="{FF2B5EF4-FFF2-40B4-BE49-F238E27FC236}">
                <a16:creationId xmlns:a16="http://schemas.microsoft.com/office/drawing/2014/main" id="{3A23222B-35F4-3CDC-5FEA-1C58CE4A933A}"/>
              </a:ext>
            </a:extLst>
          </p:cNvPr>
          <p:cNvSpPr/>
          <p:nvPr/>
        </p:nvSpPr>
        <p:spPr>
          <a:xfrm>
            <a:off x="5597291" y="4824722"/>
            <a:ext cx="5583685" cy="1200329"/>
          </a:xfrm>
          <a:prstGeom prst="rect">
            <a:avLst/>
          </a:prstGeom>
          <a:noFill/>
        </p:spPr>
        <p:txBody>
          <a:bodyPr wrap="square">
            <a:spAutoFit/>
          </a:bodyPr>
          <a:lstStyle/>
          <a:p>
            <a:r>
              <a:rPr lang="en-GB" sz="2400">
                <a:latin typeface="+mj-lt"/>
              </a:rPr>
              <a:t>I will show this by answering questions which relate to the vocabulary used throughout the text.</a:t>
            </a:r>
          </a:p>
        </p:txBody>
      </p:sp>
      <p:grpSp>
        <p:nvGrpSpPr>
          <p:cNvPr id="26" name="Group 25">
            <a:extLst>
              <a:ext uri="{FF2B5EF4-FFF2-40B4-BE49-F238E27FC236}">
                <a16:creationId xmlns:a16="http://schemas.microsoft.com/office/drawing/2014/main" id="{F0FA508C-6CB1-E76E-F0A8-B64E6C4CD90D}"/>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3F558219-13F1-436A-59AF-11B90D95ABA1}"/>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33569914-364A-6AF1-85F1-0BFCF4FDB1A8}"/>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B90D4CDA-08E3-0ED1-C1FB-0242710F0D9A}"/>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8139F2B2-DE54-7CE1-CCBE-1C4164F07AC7}"/>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721B1AA3-17DD-506B-9B14-CDFF5EA0BECB}"/>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3A69BFB0-E1DC-E3FA-6EA3-821A27D46522}"/>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my understanding of vocabulary at a sentence and text level.</a:t>
            </a:r>
          </a:p>
        </p:txBody>
      </p:sp>
      <p:grpSp>
        <p:nvGrpSpPr>
          <p:cNvPr id="3" name="Group 2">
            <a:extLst>
              <a:ext uri="{FF2B5EF4-FFF2-40B4-BE49-F238E27FC236}">
                <a16:creationId xmlns:a16="http://schemas.microsoft.com/office/drawing/2014/main" id="{AB1D5BFC-9C6F-78FE-BB55-8A787A315711}"/>
              </a:ext>
            </a:extLst>
          </p:cNvPr>
          <p:cNvGrpSpPr/>
          <p:nvPr/>
        </p:nvGrpSpPr>
        <p:grpSpPr>
          <a:xfrm>
            <a:off x="10607910" y="233361"/>
            <a:ext cx="1316831" cy="1316831"/>
            <a:chOff x="5180554" y="1026138"/>
            <a:chExt cx="1316831" cy="1316831"/>
          </a:xfrm>
        </p:grpSpPr>
        <p:sp>
          <p:nvSpPr>
            <p:cNvPr id="4" name="Oval 3">
              <a:extLst>
                <a:ext uri="{FF2B5EF4-FFF2-40B4-BE49-F238E27FC236}">
                  <a16:creationId xmlns:a16="http://schemas.microsoft.com/office/drawing/2014/main" id="{30C90C35-E0BE-7AD4-92BC-8EFF113E4DB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1" name="Oval 4">
              <a:extLst>
                <a:ext uri="{FF2B5EF4-FFF2-40B4-BE49-F238E27FC236}">
                  <a16:creationId xmlns:a16="http://schemas.microsoft.com/office/drawing/2014/main" id="{D5E138FF-7604-1E33-555D-87C2C96CBE05}"/>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Tree>
    <p:extLst>
      <p:ext uri="{BB962C8B-B14F-4D97-AF65-F5344CB8AC3E}">
        <p14:creationId xmlns:p14="http://schemas.microsoft.com/office/powerpoint/2010/main" val="2842610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F7DB-6538-E176-FE28-8F1AD25656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F21690-854A-3024-D098-1C56DE57443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6" name="TextBox 5">
            <a:extLst>
              <a:ext uri="{FF2B5EF4-FFF2-40B4-BE49-F238E27FC236}">
                <a16:creationId xmlns:a16="http://schemas.microsoft.com/office/drawing/2014/main" id="{AEC30692-9C94-A8DB-4755-85FE74DE9821}"/>
              </a:ext>
            </a:extLst>
          </p:cNvPr>
          <p:cNvSpPr txBox="1"/>
          <p:nvPr/>
        </p:nvSpPr>
        <p:spPr>
          <a:xfrm>
            <a:off x="288098" y="335454"/>
            <a:ext cx="6864956" cy="707886"/>
          </a:xfrm>
          <a:prstGeom prst="rect">
            <a:avLst/>
          </a:prstGeom>
          <a:noFill/>
        </p:spPr>
        <p:txBody>
          <a:bodyPr wrap="none" rtlCol="0">
            <a:spAutoFit/>
          </a:bodyPr>
          <a:lstStyle/>
          <a:p>
            <a:r>
              <a:rPr lang="en-GB" sz="4000" b="1" u="sng"/>
              <a:t>Practice questions - Inference</a:t>
            </a:r>
          </a:p>
        </p:txBody>
      </p:sp>
      <p:pic>
        <p:nvPicPr>
          <p:cNvPr id="7" name="Picture 6">
            <a:extLst>
              <a:ext uri="{FF2B5EF4-FFF2-40B4-BE49-F238E27FC236}">
                <a16:creationId xmlns:a16="http://schemas.microsoft.com/office/drawing/2014/main" id="{E0AB4FA0-4B96-F850-DD50-18A5FD657BB8}"/>
              </a:ext>
            </a:extLst>
          </p:cNvPr>
          <p:cNvPicPr/>
          <p:nvPr/>
        </p:nvPicPr>
        <p:blipFill>
          <a:blip r:embed="rId4">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
        <p:nvSpPr>
          <p:cNvPr id="4" name="Rounded Rectangle 9">
            <a:extLst>
              <a:ext uri="{FF2B5EF4-FFF2-40B4-BE49-F238E27FC236}">
                <a16:creationId xmlns:a16="http://schemas.microsoft.com/office/drawing/2014/main" id="{2A06B04F-B021-4121-0C16-7A5BACEFBC1B}"/>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0" name="TextBox 9">
            <a:extLst>
              <a:ext uri="{FF2B5EF4-FFF2-40B4-BE49-F238E27FC236}">
                <a16:creationId xmlns:a16="http://schemas.microsoft.com/office/drawing/2014/main" id="{C064352E-4E96-13BD-C58F-5EEC5E15F4B5}"/>
              </a:ext>
            </a:extLst>
          </p:cNvPr>
          <p:cNvSpPr txBox="1"/>
          <p:nvPr/>
        </p:nvSpPr>
        <p:spPr>
          <a:xfrm>
            <a:off x="418368" y="1463046"/>
            <a:ext cx="11355262" cy="2246769"/>
          </a:xfrm>
          <a:prstGeom prst="rect">
            <a:avLst/>
          </a:prstGeom>
          <a:noFill/>
        </p:spPr>
        <p:txBody>
          <a:bodyPr wrap="square" rtlCol="0">
            <a:spAutoFit/>
          </a:bodyPr>
          <a:lstStyle/>
          <a:p>
            <a:r>
              <a:rPr lang="en-US" sz="1900"/>
              <a:t>What three things does Varjak miss from the tower?</a:t>
            </a:r>
          </a:p>
          <a:p>
            <a:r>
              <a:rPr lang="en-US" sz="1900"/>
              <a:t>He misses the smell of the tower, the warmth of his brothers pressed close on either side and his mother's voice low and steady in the dark.</a:t>
            </a:r>
          </a:p>
          <a:p>
            <a:endParaRPr lang="en-US" sz="1900"/>
          </a:p>
          <a:p>
            <a:r>
              <a:rPr lang="en-US" sz="1900"/>
              <a:t>What does the word 'yearned' mean? How does the context help you work this out?</a:t>
            </a:r>
          </a:p>
          <a:p>
            <a:r>
              <a:rPr lang="en-US" sz="1900"/>
              <a:t>Yearned means wanting something deeply, like an ache. The text describes it as 'an ache that surprised him', and Varjak is clearly missing his family very much, which tells us the word means a deep, painful kind of longing.</a:t>
            </a:r>
          </a:p>
        </p:txBody>
      </p:sp>
      <p:sp>
        <p:nvSpPr>
          <p:cNvPr id="3" name="TextBox 2">
            <a:extLst>
              <a:ext uri="{FF2B5EF4-FFF2-40B4-BE49-F238E27FC236}">
                <a16:creationId xmlns:a16="http://schemas.microsoft.com/office/drawing/2014/main" id="{EBAE955F-2F2B-1B4A-4719-6AB782D998C5}"/>
              </a:ext>
            </a:extLst>
          </p:cNvPr>
          <p:cNvSpPr txBox="1"/>
          <p:nvPr/>
        </p:nvSpPr>
        <p:spPr>
          <a:xfrm>
            <a:off x="145774" y="1043340"/>
            <a:ext cx="12046226" cy="4585423"/>
          </a:xfrm>
          <a:prstGeom prst="rect">
            <a:avLst/>
          </a:prstGeom>
          <a:solidFill>
            <a:schemeClr val="accent5">
              <a:lumMod val="20000"/>
              <a:lumOff val="80000"/>
            </a:schemeClr>
          </a:solidFill>
        </p:spPr>
        <p:txBody>
          <a:bodyPr wrap="square" anchor="ctr">
            <a:noAutofit/>
          </a:bodyPr>
          <a:lstStyle/>
          <a:p>
            <a:r>
              <a:rPr lang="en-US" sz="2200"/>
              <a:t>The city never truly slept. Even in the small hours, when most humans had retreated behind their lit windows, the streets below still hummed and clicked and breathed. Varjak crouched on a fire escape above it all, his tail wrapped around his paws, watching. He was completely alone. He had not eaten properly in two days, and the cold was beginning to bite at the edges of everything. He yearned for the tower with an ache that surprised him — not for the tower itself, exactly, but for the smell of it, the warmth of his brothers pressed close on either side, his mother's voice low and steady in the dark. He flinched at the memory, as though it had edges. Below him, a solitary figure crossed the empty road and disappeared into a doorway. Varjak watched until they were gone. Then he looked up. Above the yellow smear of city light, he could just make out a handful of stars — distant, cold, barely there. His grandfather had spoken of a sky full of stars. The world must have been a different place then, Varjak thought. But the thought did not break him. Instead, something hardened quietly in his chest. He had come too far to go back now. He did not know if he would succeed. He only knew that he would not stop. That resolve, small and solid and certain, was enough for tonight.</a:t>
            </a:r>
          </a:p>
        </p:txBody>
      </p:sp>
    </p:spTree>
    <p:extLst>
      <p:ext uri="{BB962C8B-B14F-4D97-AF65-F5344CB8AC3E}">
        <p14:creationId xmlns:p14="http://schemas.microsoft.com/office/powerpoint/2010/main" val="216172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4"/>
                    </p:tgtEl>
                  </p:cond>
                </p:stCondLst>
                <p:endSync evt="end" delay="0">
                  <p:rtn val="all"/>
                </p:endSync>
                <p:childTnLst>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3" grpId="0" animBg="1"/>
      <p:bldP spid="3"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assoon Infant Rg"/>
        <a:ea typeface=""/>
        <a:cs typeface=""/>
      </a:majorFont>
      <a:minorFont>
        <a:latin typeface="Sassoon Infant R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848fd07-94db-4308-8950-9cb0e230b958" xsi:nil="true"/>
    <lcf76f155ced4ddcb4097134ff3c332f xmlns="9e6dd442-da5e-411e-833f-0fee7dcd7819">
      <Terms xmlns="http://schemas.microsoft.com/office/infopath/2007/PartnerControls"/>
    </lcf76f155ced4ddcb4097134ff3c332f>
    <SharedWithUsers xmlns="4848fd07-94db-4308-8950-9cb0e230b958">
      <UserInfo>
        <DisplayName>Jo Hewitt - WFA</DisplayName>
        <AccountId>40</AccountId>
        <AccountType/>
      </UserInfo>
      <UserInfo>
        <DisplayName>Jonathan Miller - WFA</DisplayName>
        <AccountId>57</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71695694772F44B387615DF8DED97F" ma:contentTypeVersion="16" ma:contentTypeDescription="Create a new document." ma:contentTypeScope="" ma:versionID="6b988a150421d80c99f84aa2bfb3de38">
  <xsd:schema xmlns:xsd="http://www.w3.org/2001/XMLSchema" xmlns:xs="http://www.w3.org/2001/XMLSchema" xmlns:p="http://schemas.microsoft.com/office/2006/metadata/properties" xmlns:ns2="9e6dd442-da5e-411e-833f-0fee7dcd7819" xmlns:ns3="4848fd07-94db-4308-8950-9cb0e230b958" targetNamespace="http://schemas.microsoft.com/office/2006/metadata/properties" ma:root="true" ma:fieldsID="0840e1ae8104f568f88bbc0ee80d0ce2" ns2:_="" ns3:_="">
    <xsd:import namespace="9e6dd442-da5e-411e-833f-0fee7dcd7819"/>
    <xsd:import namespace="4848fd07-94db-4308-8950-9cb0e230b9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6dd442-da5e-411e-833f-0fee7dcd78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08261e-ebf2-489e-9cf5-3c5ddf1ef55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48fd07-94db-4308-8950-9cb0e230b95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0903c9d-9125-4551-886d-abbd3fd64318}" ma:internalName="TaxCatchAll" ma:showField="CatchAllData" ma:web="4848fd07-94db-4308-8950-9cb0e230b958">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02CAFD-7AEC-4FCB-8049-4FEF8A0D00D8}">
  <ds:schemaRefs>
    <ds:schemaRef ds:uri="http://schemas.microsoft.com/sharepoint/v3/contenttype/forms"/>
  </ds:schemaRefs>
</ds:datastoreItem>
</file>

<file path=customXml/itemProps2.xml><?xml version="1.0" encoding="utf-8"?>
<ds:datastoreItem xmlns:ds="http://schemas.openxmlformats.org/officeDocument/2006/customXml" ds:itemID="{D45AAA2B-1185-4CA6-878D-532686679D9F}">
  <ds:schemaRefs>
    <ds:schemaRef ds:uri="4848fd07-94db-4308-8950-9cb0e230b958"/>
    <ds:schemaRef ds:uri="9e6dd442-da5e-411e-833f-0fee7dcd781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1D150B1-45AA-4FD4-8213-B2AC8AE18B93}">
  <ds:schemaRefs>
    <ds:schemaRef ds:uri="4848fd07-94db-4308-8950-9cb0e230b958"/>
    <ds:schemaRef ds:uri="9e6dd442-da5e-411e-833f-0fee7dcd78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16</Notes>
  <HiddenSlides>1</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Helen Rea - WFA</dc:creator>
  <cp:revision>1</cp:revision>
  <cp:lastPrinted>2024-09-12T11:50:42Z</cp:lastPrinted>
  <dcterms:created xsi:type="dcterms:W3CDTF">2024-01-22T14:53:27Z</dcterms:created>
  <dcterms:modified xsi:type="dcterms:W3CDTF">2026-06-03T14:28:06Z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0x010100AC71695694772F44B387615DF8DED97F</vt:lpwstr>
  </property>
</Properties>
</file>