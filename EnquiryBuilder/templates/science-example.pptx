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2"/>
  </p:notesMasterIdLst>
  <p:sldIdLst>
    <p:sldId id="256" r:id="rId5"/>
    <p:sldId id="328" r:id="rId6"/>
    <p:sldId id="257" r:id="rId7"/>
    <p:sldId id="326" r:id="rId8"/>
    <p:sldId id="2080" r:id="rId9"/>
    <p:sldId id="2081" r:id="rId10"/>
    <p:sldId id="2082" r:id="rId11"/>
    <p:sldId id="2083" r:id="rId12"/>
    <p:sldId id="258" r:id="rId13"/>
    <p:sldId id="259" r:id="rId14"/>
    <p:sldId id="330" r:id="rId15"/>
    <p:sldId id="2086" r:id="rId16"/>
    <p:sldId id="2088" r:id="rId17"/>
    <p:sldId id="2089" r:id="rId18"/>
    <p:sldId id="2090" r:id="rId19"/>
    <p:sldId id="2079" r:id="rId20"/>
    <p:sldId id="2092" r:id="rId21"/>
  </p:sldIdLst>
  <p:sldSz cx="12192000" cy="6858000"/>
  <p:notesSz cx="6797675" cy="9926638"/>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source Slides" id="{CEF8FBF2-344B-BB4E-982A-03D4563613E1}">
          <p14:sldIdLst>
            <p14:sldId id="256"/>
            <p14:sldId id="328"/>
            <p14:sldId id="257"/>
            <p14:sldId id="326"/>
            <p14:sldId id="2080"/>
            <p14:sldId id="2081"/>
            <p14:sldId id="2082"/>
            <p14:sldId id="2083"/>
            <p14:sldId id="258"/>
          </p14:sldIdLst>
        </p14:section>
        <p14:section name="Lesson Slides" id="{642C3F51-7772-FE4A-AB12-7B1259B3E2DC}">
          <p14:sldIdLst>
            <p14:sldId id="259"/>
            <p14:sldId id="330"/>
            <p14:sldId id="2086"/>
            <p14:sldId id="2088"/>
            <p14:sldId id="2089"/>
            <p14:sldId id="2090"/>
            <p14:sldId id="2079"/>
            <p14:sldId id="20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D2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43"/>
    <p:restoredTop sz="94658"/>
  </p:normalViewPr>
  <p:slideViewPr>
    <p:cSldViewPr snapToGrid="0">
      <p:cViewPr varScale="1">
        <p:scale>
          <a:sx n="116" d="100"/>
          <a:sy n="116" d="100"/>
        </p:scale>
        <p:origin x="85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F650F699-13CA-4A28-B0BE-386DAA6B8EEB}" type="datetimeFigureOut">
              <a:rPr lang="en-GB" smtClean="0"/>
              <a:t>09/07/2026</a:t>
            </a:fld>
            <a:endParaRPr lang="en-GB"/>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CF629491-41F3-4D9B-8AFE-07B5E093E5E9}" type="slidenum">
              <a:rPr lang="en-GB" smtClean="0"/>
              <a:t>‹#›</a:t>
            </a:fld>
            <a:endParaRPr lang="en-GB"/>
          </a:p>
        </p:txBody>
      </p:sp>
    </p:spTree>
    <p:extLst>
      <p:ext uri="{BB962C8B-B14F-4D97-AF65-F5344CB8AC3E}">
        <p14:creationId xmlns:p14="http://schemas.microsoft.com/office/powerpoint/2010/main" val="22168041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States of being icons to be included as necessary</a:t>
            </a:r>
          </a:p>
        </p:txBody>
      </p:sp>
      <p:sp>
        <p:nvSpPr>
          <p:cNvPr id="4" name="Slide Number Placeholder 3"/>
          <p:cNvSpPr>
            <a:spLocks noGrp="1"/>
          </p:cNvSpPr>
          <p:nvPr>
            <p:ph type="sldNum" sz="quarter" idx="5"/>
          </p:nvPr>
        </p:nvSpPr>
        <p:spPr/>
        <p:txBody>
          <a:bodyPr/>
          <a:lstStyle/>
          <a:p>
            <a:fld id="{B7E8E8B9-ADA3-45E0-8420-BE5E8FCCF1F7}" type="slidenum">
              <a:rPr lang="en-GB" smtClean="0"/>
              <a:t>4</a:t>
            </a:fld>
            <a:endParaRPr lang="en-GB"/>
          </a:p>
        </p:txBody>
      </p:sp>
    </p:spTree>
    <p:extLst>
      <p:ext uri="{BB962C8B-B14F-4D97-AF65-F5344CB8AC3E}">
        <p14:creationId xmlns:p14="http://schemas.microsoft.com/office/powerpoint/2010/main" val="3236026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F83A3-D732-2334-8FA4-B7CE2E1DA4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00B94A-3BFE-3098-1066-3B2090C77C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43F005-F3C3-442A-6100-8F5C8E0CA424}"/>
              </a:ext>
            </a:extLst>
          </p:cNvPr>
          <p:cNvSpPr>
            <a:spLocks noGrp="1"/>
          </p:cNvSpPr>
          <p:nvPr>
            <p:ph type="body" idx="1"/>
          </p:nvPr>
        </p:nvSpPr>
        <p:spPr/>
        <p:txBody>
          <a:bodyPr/>
          <a:lstStyle/>
          <a:p>
            <a:r>
              <a:rPr lang="en-GB"/>
              <a:t>New enquiry session 1 – look back at the building blocks of learning explored so far for this substantive concept.</a:t>
            </a:r>
          </a:p>
        </p:txBody>
      </p:sp>
      <p:sp>
        <p:nvSpPr>
          <p:cNvPr id="4" name="Slide Number Placeholder 3">
            <a:extLst>
              <a:ext uri="{FF2B5EF4-FFF2-40B4-BE49-F238E27FC236}">
                <a16:creationId xmlns:a16="http://schemas.microsoft.com/office/drawing/2014/main" id="{07EF7FCA-272C-EC26-78CF-55D5927C5338}"/>
              </a:ext>
            </a:extLst>
          </p:cNvPr>
          <p:cNvSpPr>
            <a:spLocks noGrp="1"/>
          </p:cNvSpPr>
          <p:nvPr>
            <p:ph type="sldNum" sz="quarter" idx="5"/>
          </p:nvPr>
        </p:nvSpPr>
        <p:spPr/>
        <p:txBody>
          <a:bodyPr/>
          <a:lstStyle/>
          <a:p>
            <a:fld id="{B7E8E8B9-ADA3-45E0-8420-BE5E8FCCF1F7}" type="slidenum">
              <a:rPr lang="en-GB" smtClean="0"/>
              <a:t>5</a:t>
            </a:fld>
            <a:endParaRPr lang="en-GB"/>
          </a:p>
        </p:txBody>
      </p:sp>
    </p:spTree>
    <p:extLst>
      <p:ext uri="{BB962C8B-B14F-4D97-AF65-F5344CB8AC3E}">
        <p14:creationId xmlns:p14="http://schemas.microsoft.com/office/powerpoint/2010/main" val="12568051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EE634A-02B3-F5B5-46F5-F87FDB4774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7905C1-96B4-4C6B-8CC8-497F12C3EE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6E1C9D-1589-08D8-1C1F-1EA6708F1869}"/>
              </a:ext>
            </a:extLst>
          </p:cNvPr>
          <p:cNvSpPr>
            <a:spLocks noGrp="1"/>
          </p:cNvSpPr>
          <p:nvPr>
            <p:ph type="body" idx="1"/>
          </p:nvPr>
        </p:nvSpPr>
        <p:spPr/>
        <p:txBody>
          <a:bodyPr/>
          <a:lstStyle/>
          <a:p>
            <a:r>
              <a:rPr lang="en-GB"/>
              <a:t>New enquiry session 1 – look back at the building blocks of learning explored so far for this substantive concept.</a:t>
            </a:r>
          </a:p>
        </p:txBody>
      </p:sp>
      <p:sp>
        <p:nvSpPr>
          <p:cNvPr id="4" name="Slide Number Placeholder 3">
            <a:extLst>
              <a:ext uri="{FF2B5EF4-FFF2-40B4-BE49-F238E27FC236}">
                <a16:creationId xmlns:a16="http://schemas.microsoft.com/office/drawing/2014/main" id="{0BE79616-D333-2DA2-3634-63F5ED2AC3BA}"/>
              </a:ext>
            </a:extLst>
          </p:cNvPr>
          <p:cNvSpPr>
            <a:spLocks noGrp="1"/>
          </p:cNvSpPr>
          <p:nvPr>
            <p:ph type="sldNum" sz="quarter" idx="5"/>
          </p:nvPr>
        </p:nvSpPr>
        <p:spPr/>
        <p:txBody>
          <a:bodyPr/>
          <a:lstStyle/>
          <a:p>
            <a:fld id="{B7E8E8B9-ADA3-45E0-8420-BE5E8FCCF1F7}" type="slidenum">
              <a:rPr lang="en-GB" smtClean="0"/>
              <a:t>6</a:t>
            </a:fld>
            <a:endParaRPr lang="en-GB"/>
          </a:p>
        </p:txBody>
      </p:sp>
    </p:spTree>
    <p:extLst>
      <p:ext uri="{BB962C8B-B14F-4D97-AF65-F5344CB8AC3E}">
        <p14:creationId xmlns:p14="http://schemas.microsoft.com/office/powerpoint/2010/main" val="11161948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BCBC1-9105-5D73-6302-DCE67646A8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E9B4D4-2247-6C72-692E-E32D689F3A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C8969A-2A82-ECB6-20FF-1492A3EC6C97}"/>
              </a:ext>
            </a:extLst>
          </p:cNvPr>
          <p:cNvSpPr>
            <a:spLocks noGrp="1"/>
          </p:cNvSpPr>
          <p:nvPr>
            <p:ph type="body" idx="1"/>
          </p:nvPr>
        </p:nvSpPr>
        <p:spPr/>
        <p:txBody>
          <a:bodyPr/>
          <a:lstStyle/>
          <a:p>
            <a:r>
              <a:rPr lang="en-GB"/>
              <a:t>New enquiry session 1 – look back at the building blocks of learning explored so far for this substantive concept.</a:t>
            </a:r>
          </a:p>
        </p:txBody>
      </p:sp>
      <p:sp>
        <p:nvSpPr>
          <p:cNvPr id="4" name="Slide Number Placeholder 3">
            <a:extLst>
              <a:ext uri="{FF2B5EF4-FFF2-40B4-BE49-F238E27FC236}">
                <a16:creationId xmlns:a16="http://schemas.microsoft.com/office/drawing/2014/main" id="{8F99A6FF-6BC1-2BA0-20AE-CF2FE0320FA6}"/>
              </a:ext>
            </a:extLst>
          </p:cNvPr>
          <p:cNvSpPr>
            <a:spLocks noGrp="1"/>
          </p:cNvSpPr>
          <p:nvPr>
            <p:ph type="sldNum" sz="quarter" idx="5"/>
          </p:nvPr>
        </p:nvSpPr>
        <p:spPr/>
        <p:txBody>
          <a:bodyPr/>
          <a:lstStyle/>
          <a:p>
            <a:fld id="{B7E8E8B9-ADA3-45E0-8420-BE5E8FCCF1F7}" type="slidenum">
              <a:rPr lang="en-GB" smtClean="0"/>
              <a:t>7</a:t>
            </a:fld>
            <a:endParaRPr lang="en-GB"/>
          </a:p>
        </p:txBody>
      </p:sp>
    </p:spTree>
    <p:extLst>
      <p:ext uri="{BB962C8B-B14F-4D97-AF65-F5344CB8AC3E}">
        <p14:creationId xmlns:p14="http://schemas.microsoft.com/office/powerpoint/2010/main" val="28955816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91601-D44A-5325-F8F7-B286CE827C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EDF716-C7EA-9669-D1EB-153726CAB6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EFBED7-030F-69F5-1B09-CC41DEA45974}"/>
              </a:ext>
            </a:extLst>
          </p:cNvPr>
          <p:cNvSpPr>
            <a:spLocks noGrp="1"/>
          </p:cNvSpPr>
          <p:nvPr>
            <p:ph type="body" idx="1"/>
          </p:nvPr>
        </p:nvSpPr>
        <p:spPr/>
        <p:txBody>
          <a:bodyPr/>
          <a:lstStyle/>
          <a:p>
            <a:r>
              <a:rPr lang="en-GB"/>
              <a:t>New enquiry session 1 – look back at the building blocks of learning explored so far for this substantive concept.</a:t>
            </a:r>
          </a:p>
        </p:txBody>
      </p:sp>
      <p:sp>
        <p:nvSpPr>
          <p:cNvPr id="4" name="Slide Number Placeholder 3">
            <a:extLst>
              <a:ext uri="{FF2B5EF4-FFF2-40B4-BE49-F238E27FC236}">
                <a16:creationId xmlns:a16="http://schemas.microsoft.com/office/drawing/2014/main" id="{63B34425-E6A3-FBD8-2475-0944051D34A8}"/>
              </a:ext>
            </a:extLst>
          </p:cNvPr>
          <p:cNvSpPr>
            <a:spLocks noGrp="1"/>
          </p:cNvSpPr>
          <p:nvPr>
            <p:ph type="sldNum" sz="quarter" idx="5"/>
          </p:nvPr>
        </p:nvSpPr>
        <p:spPr/>
        <p:txBody>
          <a:bodyPr/>
          <a:lstStyle/>
          <a:p>
            <a:fld id="{B7E8E8B9-ADA3-45E0-8420-BE5E8FCCF1F7}" type="slidenum">
              <a:rPr lang="en-GB" smtClean="0"/>
              <a:t>8</a:t>
            </a:fld>
            <a:endParaRPr lang="en-GB"/>
          </a:p>
        </p:txBody>
      </p:sp>
    </p:spTree>
    <p:extLst>
      <p:ext uri="{BB962C8B-B14F-4D97-AF65-F5344CB8AC3E}">
        <p14:creationId xmlns:p14="http://schemas.microsoft.com/office/powerpoint/2010/main" val="32964607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Slide icons for use </a:t>
            </a:r>
            <a:r>
              <a:rPr lang="en-GB" err="1"/>
              <a:t>thoughout</a:t>
            </a:r>
            <a:endParaRPr lang="en-GB"/>
          </a:p>
        </p:txBody>
      </p:sp>
      <p:sp>
        <p:nvSpPr>
          <p:cNvPr id="4" name="Slide Number Placeholder 3"/>
          <p:cNvSpPr>
            <a:spLocks noGrp="1"/>
          </p:cNvSpPr>
          <p:nvPr>
            <p:ph type="sldNum" sz="quarter" idx="5"/>
          </p:nvPr>
        </p:nvSpPr>
        <p:spPr/>
        <p:txBody>
          <a:bodyPr/>
          <a:lstStyle/>
          <a:p>
            <a:fld id="{CF629491-41F3-4D9B-8AFE-07B5E093E5E9}" type="slidenum">
              <a:rPr lang="en-GB" smtClean="0"/>
              <a:t>9</a:t>
            </a:fld>
            <a:endParaRPr lang="en-GB"/>
          </a:p>
        </p:txBody>
      </p:sp>
    </p:spTree>
    <p:extLst>
      <p:ext uri="{BB962C8B-B14F-4D97-AF65-F5344CB8AC3E}">
        <p14:creationId xmlns:p14="http://schemas.microsoft.com/office/powerpoint/2010/main" val="2212656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KWL grid as part of the first lesson.</a:t>
            </a:r>
          </a:p>
        </p:txBody>
      </p:sp>
      <p:sp>
        <p:nvSpPr>
          <p:cNvPr id="4" name="Slide Number Placeholder 3"/>
          <p:cNvSpPr>
            <a:spLocks noGrp="1"/>
          </p:cNvSpPr>
          <p:nvPr>
            <p:ph type="sldNum" sz="quarter" idx="5"/>
          </p:nvPr>
        </p:nvSpPr>
        <p:spPr/>
        <p:txBody>
          <a:bodyPr/>
          <a:lstStyle/>
          <a:p>
            <a:fld id="{CF629491-41F3-4D9B-8AFE-07B5E093E5E9}" type="slidenum">
              <a:rPr lang="en-GB" smtClean="0"/>
              <a:t>13</a:t>
            </a:fld>
            <a:endParaRPr lang="en-GB"/>
          </a:p>
        </p:txBody>
      </p:sp>
    </p:spTree>
    <p:extLst>
      <p:ext uri="{BB962C8B-B14F-4D97-AF65-F5344CB8AC3E}">
        <p14:creationId xmlns:p14="http://schemas.microsoft.com/office/powerpoint/2010/main" val="36425296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F629491-41F3-4D9B-8AFE-07B5E093E5E9}" type="slidenum">
              <a:rPr lang="en-GB" smtClean="0"/>
              <a:t>15</a:t>
            </a:fld>
            <a:endParaRPr lang="en-GB"/>
          </a:p>
        </p:txBody>
      </p:sp>
    </p:spTree>
    <p:extLst>
      <p:ext uri="{BB962C8B-B14F-4D97-AF65-F5344CB8AC3E}">
        <p14:creationId xmlns:p14="http://schemas.microsoft.com/office/powerpoint/2010/main" val="17735151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F5836-AE83-DAD9-02DD-63C4E455BB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91C009-A303-42D6-D8AD-5B729021F7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23C40A-5400-ED34-87B4-408072500A25}"/>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009D5C93-E332-E543-BD49-40EE5438750F}"/>
              </a:ext>
            </a:extLst>
          </p:cNvPr>
          <p:cNvSpPr>
            <a:spLocks noGrp="1"/>
          </p:cNvSpPr>
          <p:nvPr>
            <p:ph type="sldNum" sz="quarter" idx="5"/>
          </p:nvPr>
        </p:nvSpPr>
        <p:spPr/>
        <p:txBody>
          <a:bodyPr/>
          <a:lstStyle/>
          <a:p>
            <a:fld id="{CF629491-41F3-4D9B-8AFE-07B5E093E5E9}" type="slidenum">
              <a:rPr lang="en-GB" smtClean="0"/>
              <a:t>16</a:t>
            </a:fld>
            <a:endParaRPr lang="en-GB"/>
          </a:p>
        </p:txBody>
      </p:sp>
    </p:spTree>
    <p:extLst>
      <p:ext uri="{BB962C8B-B14F-4D97-AF65-F5344CB8AC3E}">
        <p14:creationId xmlns:p14="http://schemas.microsoft.com/office/powerpoint/2010/main" val="41662253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09/07/2026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 d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A8DF3-7887-0D25-6299-663E5BEA1D88}"/>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F6A55B19-5A9C-777C-3A0B-C53B6B60790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85E581F-BFF5-CC21-546B-C47CA19FB819}"/>
              </a:ext>
            </a:extLst>
          </p:cNvPr>
          <p:cNvSpPr>
            <a:spLocks noGrp="1"/>
          </p:cNvSpPr>
          <p:nvPr>
            <p:ph type="dt" sz="half" idx="10"/>
          </p:nvPr>
        </p:nvSpPr>
        <p:spPr/>
        <p:txBody>
          <a:bodyPr/>
          <a:lstStyle/>
          <a:p>
            <a:fld id="{50FFC714-CD1F-1F47-9B04-0D0894B2988C}" type="datetimeFigureOut">
              <a:rPr lang="en-GB" smtClean="0"/>
              <a:t>09/07/2026</a:t>
            </a:fld>
            <a:endParaRPr lang="en-GB"/>
          </a:p>
        </p:txBody>
      </p:sp>
      <p:sp>
        <p:nvSpPr>
          <p:cNvPr id="5" name="Footer Placeholder 4">
            <a:extLst>
              <a:ext uri="{FF2B5EF4-FFF2-40B4-BE49-F238E27FC236}">
                <a16:creationId xmlns:a16="http://schemas.microsoft.com/office/drawing/2014/main" id="{2CF4A786-B768-14C5-BAA7-7D8A832338D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C94674A-8FE0-36C3-AD71-04588B4CB53B}"/>
              </a:ext>
            </a:extLst>
          </p:cNvPr>
          <p:cNvSpPr>
            <a:spLocks noGrp="1"/>
          </p:cNvSpPr>
          <p:nvPr>
            <p:ph type="sldNum" sz="quarter" idx="12"/>
          </p:nvPr>
        </p:nvSpPr>
        <p:spPr/>
        <p:txBody>
          <a:bodyPr/>
          <a:lstStyle/>
          <a:p>
            <a:fld id="{2082E964-443D-C44D-AA24-C6EC26BE89C8}" type="slidenum">
              <a:rPr lang="en-GB" smtClean="0"/>
              <a:t>‹#›</a:t>
            </a:fld>
            <a:endParaRPr lang="en-GB"/>
          </a:p>
        </p:txBody>
      </p:sp>
      <p:pic>
        <p:nvPicPr>
          <p:cNvPr id="7" name="Picture 6" descr="A close-up of a card&#10;&#10;Description automatically generated">
            <a:extLst>
              <a:ext uri="{FF2B5EF4-FFF2-40B4-BE49-F238E27FC236}">
                <a16:creationId xmlns:a16="http://schemas.microsoft.com/office/drawing/2014/main" id="{FD25676D-13E6-C1C0-5C8A-5986F283234E}"/>
              </a:ext>
            </a:extLst>
          </p:cNvPr>
          <p:cNvPicPr>
            <a:picLocks noChangeAspect="1"/>
          </p:cNvPicPr>
          <p:nvPr userDrawn="1"/>
        </p:nvPicPr>
        <p:blipFill>
          <a:blip r:embed="rId2"/>
          <a:stretch>
            <a:fillRect/>
          </a:stretch>
        </p:blipFill>
        <p:spPr>
          <a:xfrm>
            <a:off x="10674211" y="136525"/>
            <a:ext cx="1359177" cy="670279"/>
          </a:xfrm>
          <a:prstGeom prst="rect">
            <a:avLst/>
          </a:prstGeom>
        </p:spPr>
      </p:pic>
      <p:sp>
        <p:nvSpPr>
          <p:cNvPr id="8" name="Media Placeholder 8">
            <a:extLst>
              <a:ext uri="{FF2B5EF4-FFF2-40B4-BE49-F238E27FC236}">
                <a16:creationId xmlns:a16="http://schemas.microsoft.com/office/drawing/2014/main" id="{F312437F-7809-0AAA-2C7B-8774A55DF303}"/>
              </a:ext>
            </a:extLst>
          </p:cNvPr>
          <p:cNvSpPr>
            <a:spLocks noGrp="1"/>
          </p:cNvSpPr>
          <p:nvPr>
            <p:ph type="media" sz="quarter" idx="13"/>
          </p:nvPr>
        </p:nvSpPr>
        <p:spPr>
          <a:xfrm>
            <a:off x="10963275" y="6356350"/>
            <a:ext cx="1098550" cy="365125"/>
          </a:xfrm>
        </p:spPr>
        <p:txBody>
          <a:bodyPr/>
          <a:lstStyle/>
          <a:p>
            <a:r>
              <a:rPr lang="en-GB"/>
              <a:t>Click icon to add media</a:t>
            </a:r>
            <a:endParaRPr lang="en-US"/>
          </a:p>
        </p:txBody>
      </p:sp>
    </p:spTree>
    <p:extLst>
      <p:ext uri="{BB962C8B-B14F-4D97-AF65-F5344CB8AC3E}">
        <p14:creationId xmlns:p14="http://schemas.microsoft.com/office/powerpoint/2010/main" val="58771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e d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A8DF3-7887-0D25-6299-663E5BEA1D88}"/>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F6A55B19-5A9C-777C-3A0B-C53B6B60790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85E581F-BFF5-CC21-546B-C47CA19FB819}"/>
              </a:ext>
            </a:extLst>
          </p:cNvPr>
          <p:cNvSpPr>
            <a:spLocks noGrp="1"/>
          </p:cNvSpPr>
          <p:nvPr>
            <p:ph type="dt" sz="half" idx="10"/>
          </p:nvPr>
        </p:nvSpPr>
        <p:spPr/>
        <p:txBody>
          <a:bodyPr/>
          <a:lstStyle/>
          <a:p>
            <a:fld id="{50FFC714-CD1F-1F47-9B04-0D0894B2988C}" type="datetimeFigureOut">
              <a:rPr lang="en-GB" smtClean="0"/>
              <a:t>09/07/2026</a:t>
            </a:fld>
            <a:endParaRPr lang="en-GB"/>
          </a:p>
        </p:txBody>
      </p:sp>
      <p:sp>
        <p:nvSpPr>
          <p:cNvPr id="5" name="Footer Placeholder 4">
            <a:extLst>
              <a:ext uri="{FF2B5EF4-FFF2-40B4-BE49-F238E27FC236}">
                <a16:creationId xmlns:a16="http://schemas.microsoft.com/office/drawing/2014/main" id="{2CF4A786-B768-14C5-BAA7-7D8A832338D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C94674A-8FE0-36C3-AD71-04588B4CB53B}"/>
              </a:ext>
            </a:extLst>
          </p:cNvPr>
          <p:cNvSpPr>
            <a:spLocks noGrp="1"/>
          </p:cNvSpPr>
          <p:nvPr>
            <p:ph type="sldNum" sz="quarter" idx="12"/>
          </p:nvPr>
        </p:nvSpPr>
        <p:spPr/>
        <p:txBody>
          <a:bodyPr/>
          <a:lstStyle/>
          <a:p>
            <a:fld id="{2082E964-443D-C44D-AA24-C6EC26BE89C8}" type="slidenum">
              <a:rPr lang="en-GB" smtClean="0"/>
              <a:t>‹#›</a:t>
            </a:fld>
            <a:endParaRPr lang="en-GB"/>
          </a:p>
        </p:txBody>
      </p:sp>
      <p:pic>
        <p:nvPicPr>
          <p:cNvPr id="8" name="Picture 7" descr="A close-up of a pink sign&#10;&#10;Description automatically generated">
            <a:extLst>
              <a:ext uri="{FF2B5EF4-FFF2-40B4-BE49-F238E27FC236}">
                <a16:creationId xmlns:a16="http://schemas.microsoft.com/office/drawing/2014/main" id="{6BAA6382-4CD1-57C8-5CE1-796DB9D5EA25}"/>
              </a:ext>
            </a:extLst>
          </p:cNvPr>
          <p:cNvPicPr>
            <a:picLocks noChangeAspect="1"/>
          </p:cNvPicPr>
          <p:nvPr userDrawn="1"/>
        </p:nvPicPr>
        <p:blipFill>
          <a:blip r:embed="rId2"/>
          <a:stretch>
            <a:fillRect/>
          </a:stretch>
        </p:blipFill>
        <p:spPr>
          <a:xfrm>
            <a:off x="10690078" y="136525"/>
            <a:ext cx="1501922" cy="645454"/>
          </a:xfrm>
          <a:prstGeom prst="rect">
            <a:avLst/>
          </a:prstGeom>
        </p:spPr>
      </p:pic>
      <p:sp>
        <p:nvSpPr>
          <p:cNvPr id="7" name="Media Placeholder 8">
            <a:extLst>
              <a:ext uri="{FF2B5EF4-FFF2-40B4-BE49-F238E27FC236}">
                <a16:creationId xmlns:a16="http://schemas.microsoft.com/office/drawing/2014/main" id="{E4E89A89-3CFD-194C-3963-C8547EE8F89F}"/>
              </a:ext>
            </a:extLst>
          </p:cNvPr>
          <p:cNvSpPr>
            <a:spLocks noGrp="1"/>
          </p:cNvSpPr>
          <p:nvPr>
            <p:ph type="media" sz="quarter" idx="13"/>
          </p:nvPr>
        </p:nvSpPr>
        <p:spPr>
          <a:xfrm>
            <a:off x="10963275" y="6356350"/>
            <a:ext cx="1098550" cy="365125"/>
          </a:xfrm>
        </p:spPr>
        <p:txBody>
          <a:bodyPr/>
          <a:lstStyle/>
          <a:p>
            <a:r>
              <a:rPr lang="en-GB"/>
              <a:t>Click icon to add media</a:t>
            </a:r>
            <a:endParaRPr lang="en-US"/>
          </a:p>
        </p:txBody>
      </p:sp>
    </p:spTree>
    <p:extLst>
      <p:ext uri="{BB962C8B-B14F-4D97-AF65-F5344CB8AC3E}">
        <p14:creationId xmlns:p14="http://schemas.microsoft.com/office/powerpoint/2010/main" val="230376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You Do Tri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A8DF3-7887-0D25-6299-663E5BEA1D88}"/>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F6A55B19-5A9C-777C-3A0B-C53B6B60790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85E581F-BFF5-CC21-546B-C47CA19FB819}"/>
              </a:ext>
            </a:extLst>
          </p:cNvPr>
          <p:cNvSpPr>
            <a:spLocks noGrp="1"/>
          </p:cNvSpPr>
          <p:nvPr>
            <p:ph type="dt" sz="half" idx="10"/>
          </p:nvPr>
        </p:nvSpPr>
        <p:spPr/>
        <p:txBody>
          <a:bodyPr/>
          <a:lstStyle/>
          <a:p>
            <a:fld id="{50FFC714-CD1F-1F47-9B04-0D0894B2988C}" type="datetimeFigureOut">
              <a:rPr lang="en-GB" smtClean="0"/>
              <a:t>09/07/2026</a:t>
            </a:fld>
            <a:endParaRPr lang="en-GB"/>
          </a:p>
        </p:txBody>
      </p:sp>
      <p:sp>
        <p:nvSpPr>
          <p:cNvPr id="5" name="Footer Placeholder 4">
            <a:extLst>
              <a:ext uri="{FF2B5EF4-FFF2-40B4-BE49-F238E27FC236}">
                <a16:creationId xmlns:a16="http://schemas.microsoft.com/office/drawing/2014/main" id="{2CF4A786-B768-14C5-BAA7-7D8A832338D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C94674A-8FE0-36C3-AD71-04588B4CB53B}"/>
              </a:ext>
            </a:extLst>
          </p:cNvPr>
          <p:cNvSpPr>
            <a:spLocks noGrp="1"/>
          </p:cNvSpPr>
          <p:nvPr>
            <p:ph type="sldNum" sz="quarter" idx="12"/>
          </p:nvPr>
        </p:nvSpPr>
        <p:spPr/>
        <p:txBody>
          <a:bodyPr/>
          <a:lstStyle/>
          <a:p>
            <a:fld id="{2082E964-443D-C44D-AA24-C6EC26BE89C8}" type="slidenum">
              <a:rPr lang="en-GB" smtClean="0"/>
              <a:t>‹#›</a:t>
            </a:fld>
            <a:endParaRPr lang="en-GB"/>
          </a:p>
        </p:txBody>
      </p:sp>
      <p:pic>
        <p:nvPicPr>
          <p:cNvPr id="9" name="Picture 8" descr="A pink background with a cartoon character&#10;&#10;Description automatically generated">
            <a:extLst>
              <a:ext uri="{FF2B5EF4-FFF2-40B4-BE49-F238E27FC236}">
                <a16:creationId xmlns:a16="http://schemas.microsoft.com/office/drawing/2014/main" id="{471E7CCF-06E5-C5ED-10F1-3AADDF1B2966}"/>
              </a:ext>
            </a:extLst>
          </p:cNvPr>
          <p:cNvPicPr>
            <a:picLocks noChangeAspect="1"/>
          </p:cNvPicPr>
          <p:nvPr userDrawn="1"/>
        </p:nvPicPr>
        <p:blipFill>
          <a:blip r:embed="rId2"/>
          <a:stretch>
            <a:fillRect/>
          </a:stretch>
        </p:blipFill>
        <p:spPr>
          <a:xfrm>
            <a:off x="10714904" y="136525"/>
            <a:ext cx="1477096" cy="608216"/>
          </a:xfrm>
          <a:prstGeom prst="rect">
            <a:avLst/>
          </a:prstGeom>
        </p:spPr>
      </p:pic>
      <p:sp>
        <p:nvSpPr>
          <p:cNvPr id="7" name="Media Placeholder 8">
            <a:extLst>
              <a:ext uri="{FF2B5EF4-FFF2-40B4-BE49-F238E27FC236}">
                <a16:creationId xmlns:a16="http://schemas.microsoft.com/office/drawing/2014/main" id="{537CE4E2-4EA9-23E1-026D-E9644C05F12F}"/>
              </a:ext>
            </a:extLst>
          </p:cNvPr>
          <p:cNvSpPr>
            <a:spLocks noGrp="1"/>
          </p:cNvSpPr>
          <p:nvPr>
            <p:ph type="media" sz="quarter" idx="13"/>
          </p:nvPr>
        </p:nvSpPr>
        <p:spPr>
          <a:xfrm>
            <a:off x="10963275" y="6356350"/>
            <a:ext cx="1098550" cy="365125"/>
          </a:xfrm>
        </p:spPr>
        <p:txBody>
          <a:bodyPr/>
          <a:lstStyle/>
          <a:p>
            <a:r>
              <a:rPr lang="en-GB"/>
              <a:t>Click icon to add media</a:t>
            </a:r>
            <a:endParaRPr lang="en-US"/>
          </a:p>
        </p:txBody>
      </p:sp>
    </p:spTree>
    <p:extLst>
      <p:ext uri="{BB962C8B-B14F-4D97-AF65-F5344CB8AC3E}">
        <p14:creationId xmlns:p14="http://schemas.microsoft.com/office/powerpoint/2010/main" val="499756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You do I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A8DF3-7887-0D25-6299-663E5BEA1D88}"/>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F6A55B19-5A9C-777C-3A0B-C53B6B60790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85E581F-BFF5-CC21-546B-C47CA19FB819}"/>
              </a:ext>
            </a:extLst>
          </p:cNvPr>
          <p:cNvSpPr>
            <a:spLocks noGrp="1"/>
          </p:cNvSpPr>
          <p:nvPr>
            <p:ph type="dt" sz="half" idx="10"/>
          </p:nvPr>
        </p:nvSpPr>
        <p:spPr/>
        <p:txBody>
          <a:bodyPr/>
          <a:lstStyle/>
          <a:p>
            <a:fld id="{50FFC714-CD1F-1F47-9B04-0D0894B2988C}" type="datetimeFigureOut">
              <a:rPr lang="en-GB" smtClean="0"/>
              <a:t>09/07/2026</a:t>
            </a:fld>
            <a:endParaRPr lang="en-GB"/>
          </a:p>
        </p:txBody>
      </p:sp>
      <p:sp>
        <p:nvSpPr>
          <p:cNvPr id="5" name="Footer Placeholder 4">
            <a:extLst>
              <a:ext uri="{FF2B5EF4-FFF2-40B4-BE49-F238E27FC236}">
                <a16:creationId xmlns:a16="http://schemas.microsoft.com/office/drawing/2014/main" id="{2CF4A786-B768-14C5-BAA7-7D8A832338D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C94674A-8FE0-36C3-AD71-04588B4CB53B}"/>
              </a:ext>
            </a:extLst>
          </p:cNvPr>
          <p:cNvSpPr>
            <a:spLocks noGrp="1"/>
          </p:cNvSpPr>
          <p:nvPr>
            <p:ph type="sldNum" sz="quarter" idx="12"/>
          </p:nvPr>
        </p:nvSpPr>
        <p:spPr/>
        <p:txBody>
          <a:bodyPr/>
          <a:lstStyle/>
          <a:p>
            <a:fld id="{2082E964-443D-C44D-AA24-C6EC26BE89C8}" type="slidenum">
              <a:rPr lang="en-GB" smtClean="0"/>
              <a:t>‹#›</a:t>
            </a:fld>
            <a:endParaRPr lang="en-GB"/>
          </a:p>
        </p:txBody>
      </p:sp>
      <p:pic>
        <p:nvPicPr>
          <p:cNvPr id="10" name="Picture 9" descr="A green background with black text&#10;&#10;Description automatically generated">
            <a:extLst>
              <a:ext uri="{FF2B5EF4-FFF2-40B4-BE49-F238E27FC236}">
                <a16:creationId xmlns:a16="http://schemas.microsoft.com/office/drawing/2014/main" id="{0B5E4881-D395-D820-8C55-3FE63D4D97EE}"/>
              </a:ext>
            </a:extLst>
          </p:cNvPr>
          <p:cNvPicPr>
            <a:picLocks noChangeAspect="1"/>
          </p:cNvPicPr>
          <p:nvPr userDrawn="1"/>
        </p:nvPicPr>
        <p:blipFill>
          <a:blip r:embed="rId2"/>
          <a:stretch>
            <a:fillRect/>
          </a:stretch>
        </p:blipFill>
        <p:spPr>
          <a:xfrm>
            <a:off x="10714905" y="136525"/>
            <a:ext cx="1477095" cy="614422"/>
          </a:xfrm>
          <a:prstGeom prst="rect">
            <a:avLst/>
          </a:prstGeom>
        </p:spPr>
      </p:pic>
      <p:sp>
        <p:nvSpPr>
          <p:cNvPr id="7" name="Media Placeholder 8">
            <a:extLst>
              <a:ext uri="{FF2B5EF4-FFF2-40B4-BE49-F238E27FC236}">
                <a16:creationId xmlns:a16="http://schemas.microsoft.com/office/drawing/2014/main" id="{F7EB1FDF-CC20-386A-D505-4F002F47DE9C}"/>
              </a:ext>
            </a:extLst>
          </p:cNvPr>
          <p:cNvSpPr>
            <a:spLocks noGrp="1"/>
          </p:cNvSpPr>
          <p:nvPr>
            <p:ph type="media" sz="quarter" idx="13"/>
          </p:nvPr>
        </p:nvSpPr>
        <p:spPr>
          <a:xfrm>
            <a:off x="10963275" y="6356350"/>
            <a:ext cx="1098550" cy="365125"/>
          </a:xfrm>
        </p:spPr>
        <p:txBody>
          <a:bodyPr/>
          <a:lstStyle/>
          <a:p>
            <a:r>
              <a:rPr lang="en-GB"/>
              <a:t>Click icon to add media</a:t>
            </a:r>
            <a:endParaRPr lang="en-US"/>
          </a:p>
        </p:txBody>
      </p:sp>
    </p:spTree>
    <p:extLst>
      <p:ext uri="{BB962C8B-B14F-4D97-AF65-F5344CB8AC3E}">
        <p14:creationId xmlns:p14="http://schemas.microsoft.com/office/powerpoint/2010/main" val="831247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 Do - Blank">
    <p:spTree>
      <p:nvGrpSpPr>
        <p:cNvPr id="1" name=""/>
        <p:cNvGrpSpPr/>
        <p:nvPr/>
      </p:nvGrpSpPr>
      <p:grpSpPr>
        <a:xfrm>
          <a:off x="0" y="0"/>
          <a:ext cx="0" cy="0"/>
          <a:chOff x="0" y="0"/>
          <a:chExt cx="0" cy="0"/>
        </a:xfrm>
      </p:grpSpPr>
      <p:pic>
        <p:nvPicPr>
          <p:cNvPr id="8" name="Picture 7" descr="A close-up of a card&#10;&#10;Description automatically generated">
            <a:extLst>
              <a:ext uri="{FF2B5EF4-FFF2-40B4-BE49-F238E27FC236}">
                <a16:creationId xmlns:a16="http://schemas.microsoft.com/office/drawing/2014/main" id="{A27BF2D0-CE5F-8C02-9C76-B79D75933648}"/>
              </a:ext>
            </a:extLst>
          </p:cNvPr>
          <p:cNvPicPr>
            <a:picLocks noChangeAspect="1"/>
          </p:cNvPicPr>
          <p:nvPr userDrawn="1"/>
        </p:nvPicPr>
        <p:blipFill>
          <a:blip r:embed="rId2"/>
          <a:stretch>
            <a:fillRect/>
          </a:stretch>
        </p:blipFill>
        <p:spPr>
          <a:xfrm>
            <a:off x="10674211" y="136525"/>
            <a:ext cx="1359177" cy="670279"/>
          </a:xfrm>
          <a:prstGeom prst="rect">
            <a:avLst/>
          </a:prstGeom>
        </p:spPr>
      </p:pic>
    </p:spTree>
    <p:extLst>
      <p:ext uri="{BB962C8B-B14F-4D97-AF65-F5344CB8AC3E}">
        <p14:creationId xmlns:p14="http://schemas.microsoft.com/office/powerpoint/2010/main" val="5915079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We do - Blank">
    <p:spTree>
      <p:nvGrpSpPr>
        <p:cNvPr id="1" name=""/>
        <p:cNvGrpSpPr/>
        <p:nvPr/>
      </p:nvGrpSpPr>
      <p:grpSpPr>
        <a:xfrm>
          <a:off x="0" y="0"/>
          <a:ext cx="0" cy="0"/>
          <a:chOff x="0" y="0"/>
          <a:chExt cx="0" cy="0"/>
        </a:xfrm>
      </p:grpSpPr>
      <p:pic>
        <p:nvPicPr>
          <p:cNvPr id="8" name="Picture 7" descr="A close-up of a pink sign&#10;&#10;Description automatically generated">
            <a:extLst>
              <a:ext uri="{FF2B5EF4-FFF2-40B4-BE49-F238E27FC236}">
                <a16:creationId xmlns:a16="http://schemas.microsoft.com/office/drawing/2014/main" id="{6BAA6382-4CD1-57C8-5CE1-796DB9D5EA25}"/>
              </a:ext>
            </a:extLst>
          </p:cNvPr>
          <p:cNvPicPr>
            <a:picLocks noChangeAspect="1"/>
          </p:cNvPicPr>
          <p:nvPr userDrawn="1"/>
        </p:nvPicPr>
        <p:blipFill>
          <a:blip r:embed="rId2"/>
          <a:stretch>
            <a:fillRect/>
          </a:stretch>
        </p:blipFill>
        <p:spPr>
          <a:xfrm>
            <a:off x="10690078" y="136525"/>
            <a:ext cx="1501922" cy="645454"/>
          </a:xfrm>
          <a:prstGeom prst="rect">
            <a:avLst/>
          </a:prstGeom>
        </p:spPr>
      </p:pic>
    </p:spTree>
    <p:extLst>
      <p:ext uri="{BB962C8B-B14F-4D97-AF65-F5344CB8AC3E}">
        <p14:creationId xmlns:p14="http://schemas.microsoft.com/office/powerpoint/2010/main" val="25625740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You Do Trio - Blank">
    <p:spTree>
      <p:nvGrpSpPr>
        <p:cNvPr id="1" name=""/>
        <p:cNvGrpSpPr/>
        <p:nvPr/>
      </p:nvGrpSpPr>
      <p:grpSpPr>
        <a:xfrm>
          <a:off x="0" y="0"/>
          <a:ext cx="0" cy="0"/>
          <a:chOff x="0" y="0"/>
          <a:chExt cx="0" cy="0"/>
        </a:xfrm>
      </p:grpSpPr>
      <p:pic>
        <p:nvPicPr>
          <p:cNvPr id="9" name="Picture 8" descr="A pink background with a cartoon character&#10;&#10;Description automatically generated">
            <a:extLst>
              <a:ext uri="{FF2B5EF4-FFF2-40B4-BE49-F238E27FC236}">
                <a16:creationId xmlns:a16="http://schemas.microsoft.com/office/drawing/2014/main" id="{471E7CCF-06E5-C5ED-10F1-3AADDF1B2966}"/>
              </a:ext>
            </a:extLst>
          </p:cNvPr>
          <p:cNvPicPr>
            <a:picLocks noChangeAspect="1"/>
          </p:cNvPicPr>
          <p:nvPr userDrawn="1"/>
        </p:nvPicPr>
        <p:blipFill>
          <a:blip r:embed="rId2"/>
          <a:stretch>
            <a:fillRect/>
          </a:stretch>
        </p:blipFill>
        <p:spPr>
          <a:xfrm>
            <a:off x="10714904" y="136525"/>
            <a:ext cx="1477096" cy="608216"/>
          </a:xfrm>
          <a:prstGeom prst="rect">
            <a:avLst/>
          </a:prstGeom>
        </p:spPr>
      </p:pic>
    </p:spTree>
    <p:extLst>
      <p:ext uri="{BB962C8B-B14F-4D97-AF65-F5344CB8AC3E}">
        <p14:creationId xmlns:p14="http://schemas.microsoft.com/office/powerpoint/2010/main" val="22372953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You do Ind - Blank">
    <p:spTree>
      <p:nvGrpSpPr>
        <p:cNvPr id="1" name=""/>
        <p:cNvGrpSpPr/>
        <p:nvPr/>
      </p:nvGrpSpPr>
      <p:grpSpPr>
        <a:xfrm>
          <a:off x="0" y="0"/>
          <a:ext cx="0" cy="0"/>
          <a:chOff x="0" y="0"/>
          <a:chExt cx="0" cy="0"/>
        </a:xfrm>
      </p:grpSpPr>
      <p:pic>
        <p:nvPicPr>
          <p:cNvPr id="10" name="Picture 9" descr="A green background with black text&#10;&#10;Description automatically generated">
            <a:extLst>
              <a:ext uri="{FF2B5EF4-FFF2-40B4-BE49-F238E27FC236}">
                <a16:creationId xmlns:a16="http://schemas.microsoft.com/office/drawing/2014/main" id="{0B5E4881-D395-D820-8C55-3FE63D4D97EE}"/>
              </a:ext>
            </a:extLst>
          </p:cNvPr>
          <p:cNvPicPr>
            <a:picLocks noChangeAspect="1"/>
          </p:cNvPicPr>
          <p:nvPr userDrawn="1"/>
        </p:nvPicPr>
        <p:blipFill>
          <a:blip r:embed="rId2"/>
          <a:stretch>
            <a:fillRect/>
          </a:stretch>
        </p:blipFill>
        <p:spPr>
          <a:xfrm>
            <a:off x="10714905" y="136525"/>
            <a:ext cx="1477095" cy="614422"/>
          </a:xfrm>
          <a:prstGeom prst="rect">
            <a:avLst/>
          </a:prstGeom>
        </p:spPr>
      </p:pic>
    </p:spTree>
    <p:extLst>
      <p:ext uri="{BB962C8B-B14F-4D97-AF65-F5344CB8AC3E}">
        <p14:creationId xmlns:p14="http://schemas.microsoft.com/office/powerpoint/2010/main" val="1596919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09/07/2026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09/07/2026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p:cNvSpPr>
            <a:spLocks noGrp="1"/>
          </p:cNvSpPr>
          <p:nvPr>
            <p:ph type="dt" sz="half" idx="10"/>
          </p:nvPr>
        </p:nvSpPr>
        <p:spPr/>
        <p:txBody>
          <a:bodyPr/>
          <a:lstStyle/>
          <a:p>
            <a:fld id="{846CE7D5-CF57-46EF-B807-FDD0502418D4}" type="datetimeFigureOut">
              <a:rPr lang="en-GB" smtClean="0"/>
              <a:t>09/07/2026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p:cNvSpPr>
            <a:spLocks noGrp="1"/>
          </p:cNvSpPr>
          <p:nvPr>
            <p:ph type="dt" sz="half" idx="10"/>
          </p:nvPr>
        </p:nvSpPr>
        <p:spPr/>
        <p:txBody>
          <a:bodyPr/>
          <a:lstStyle/>
          <a:p>
            <a:fld id="{846CE7D5-CF57-46EF-B807-FDD0502418D4}" type="datetimeFigureOut">
              <a:rPr lang="en-GB" smtClean="0"/>
              <a:t>09/07/2026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GB" smtClean="0"/>
              <a:t>09/07/2026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09/07/2026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09/07/2026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09/07/2026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09/07/2026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10"/>
          </p:nvPr>
        </p:nvSpPr>
        <p:spPr/>
        <p:txBody>
          <a:bodyPr/>
          <a:lstStyle/>
          <a:p>
            <a:fld id="{846CE7D5-CF57-46EF-B807-FDD0502418D4}" type="datetimeFigureOut">
              <a:rPr lang="en-GB" smtClean="0"/>
              <a:t>09/07/2026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latin typeface="Twinkl Cursive Looped Light" panose="02000000000000000000" pitchFamily="2" charset="77"/>
              </a:defRPr>
            </a:lvl1pPr>
          </a:lstStyle>
          <a:p>
            <a:fld id="{846CE7D5-CF57-46EF-B807-FDD0502418D4}" type="datetimeFigureOut">
              <a:rPr lang="en-GB" smtClean="0"/>
              <a:pPr/>
              <a:t>09/07/2026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latin typeface="Twinkl Cursive Looped Light" panose="02000000000000000000" pitchFamily="2" charset="77"/>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Twinkl Cursive Looped Light" panose="02000000000000000000" pitchFamily="2" charset="77"/>
              </a:defRPr>
            </a:lvl1pPr>
          </a:lstStyle>
          <a:p>
            <a:fld id="{330EA680-D336-4FF7-8B7A-9848BB0A1C32}" type="slidenum">
              <a:rPr lang="en-GB" smtClean="0"/>
              <a:pPr/>
              <a:t>‹#›</a:t>
            </a:fld>
            <a:endParaRPr lang="en-GB"/>
          </a:p>
        </p:txBody>
      </p:sp>
      <p:sp>
        <p:nvSpPr>
          <p:cNvPr id="7" name="Frame 6">
            <a:extLst>
              <a:ext uri="{FF2B5EF4-FFF2-40B4-BE49-F238E27FC236}">
                <a16:creationId xmlns:a16="http://schemas.microsoft.com/office/drawing/2014/main" id="{1677E68B-BB67-F80C-9274-EFB7DAA5AA10}"/>
              </a:ext>
            </a:extLst>
          </p:cNvPr>
          <p:cNvSpPr/>
          <p:nvPr userDrawn="1"/>
        </p:nvSpPr>
        <p:spPr>
          <a:xfrm>
            <a:off x="0" y="0"/>
            <a:ext cx="12192000" cy="6858000"/>
          </a:xfrm>
          <a:prstGeom prst="frame">
            <a:avLst>
              <a:gd name="adj1" fmla="val 1241"/>
            </a:avLst>
          </a:prstGeom>
          <a:solidFill>
            <a:schemeClr val="accent6">
              <a:lumMod val="5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Twinkl Cursive Looped Light" panose="02000000000000000000" pitchFamily="2" charset="77"/>
            </a:endParaRPr>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88" r:id="rId2"/>
    <p:sldLayoutId id="2147483689" r:id="rId3"/>
    <p:sldLayoutId id="2147483690" r:id="rId4"/>
    <p:sldLayoutId id="2147483691" r:id="rId5"/>
    <p:sldLayoutId id="2147483672" r:id="rId6"/>
    <p:sldLayoutId id="2147483692" r:id="rId7"/>
    <p:sldLayoutId id="2147483693" r:id="rId8"/>
    <p:sldLayoutId id="2147483694" r:id="rId9"/>
    <p:sldLayoutId id="2147483662" r:id="rId10"/>
    <p:sldLayoutId id="2147483663" r:id="rId11"/>
    <p:sldLayoutId id="2147483664" r:id="rId12"/>
    <p:sldLayoutId id="2147483665" r:id="rId13"/>
    <p:sldLayoutId id="2147483666" r:id="rId14"/>
    <p:sldLayoutId id="2147483667" r:id="rId15"/>
    <p:sldLayoutId id="2147483668" r:id="rId16"/>
    <p:sldLayoutId id="2147483669" r:id="rId17"/>
    <p:sldLayoutId id="2147483670" r:id="rId18"/>
    <p:sldLayoutId id="2147483671" r:id="rId19"/>
  </p:sldLayoutIdLst>
  <p:txStyles>
    <p:titleStyle>
      <a:lvl1pPr algn="l" defTabSz="914400" rtl="0" eaLnBrk="1" latinLnBrk="0" hangingPunct="1">
        <a:lnSpc>
          <a:spcPct val="90000"/>
        </a:lnSpc>
        <a:spcBef>
          <a:spcPct val="0"/>
        </a:spcBef>
        <a:buNone/>
        <a:defRPr sz="4400" kern="1200">
          <a:solidFill>
            <a:schemeClr val="tx1"/>
          </a:solidFill>
          <a:latin typeface="Twinkl Cursive Looped Light" panose="02000000000000000000" pitchFamily="2"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winkl Cursive Looped Light" panose="02000000000000000000" pitchFamily="2"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winkl Cursive Looped Light" panose="02000000000000000000" pitchFamily="2"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winkl Cursive Looped Light" panose="02000000000000000000" pitchFamily="2"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winkl Cursive Looped Light" panose="02000000000000000000" pitchFamily="2"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winkl Cursive Looped Light" panose="02000000000000000000"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0.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sv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0.xml"/><Relationship Id="rId5" Type="http://schemas.openxmlformats.org/officeDocument/2006/relationships/image" Target="../media/image18.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10.xml"/><Relationship Id="rId5" Type="http://schemas.openxmlformats.org/officeDocument/2006/relationships/image" Target="../media/image18.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10.xml"/><Relationship Id="rId5" Type="http://schemas.openxmlformats.org/officeDocument/2006/relationships/image" Target="../media/image18.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0.xml"/><Relationship Id="rId5" Type="http://schemas.openxmlformats.org/officeDocument/2006/relationships/image" Target="../media/image18.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4.svg"/><Relationship Id="rId3" Type="http://schemas.openxmlformats.org/officeDocument/2006/relationships/image" Target="../media/image1.png"/><Relationship Id="rId7" Type="http://schemas.openxmlformats.org/officeDocument/2006/relationships/image" Target="../media/image19.png"/><Relationship Id="rId12" Type="http://schemas.openxmlformats.org/officeDocument/2006/relationships/image" Target="../media/image23.jpeg"/><Relationship Id="rId17" Type="http://schemas.openxmlformats.org/officeDocument/2006/relationships/hyperlink" Target="https://www.planassessment.com/" TargetMode="External"/><Relationship Id="rId2" Type="http://schemas.openxmlformats.org/officeDocument/2006/relationships/notesSlide" Target="../notesSlides/notesSlide6.xml"/><Relationship Id="rId16" Type="http://schemas.openxmlformats.org/officeDocument/2006/relationships/image" Target="../media/image27.sv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22.png"/><Relationship Id="rId5" Type="http://schemas.openxmlformats.org/officeDocument/2006/relationships/image" Target="../media/image3.png"/><Relationship Id="rId15" Type="http://schemas.openxmlformats.org/officeDocument/2006/relationships/image" Target="../media/image26.png"/><Relationship Id="rId10" Type="http://schemas.openxmlformats.org/officeDocument/2006/relationships/image" Target="../media/image21.png"/><Relationship Id="rId4" Type="http://schemas.openxmlformats.org/officeDocument/2006/relationships/image" Target="../media/image2.png"/><Relationship Id="rId9" Type="http://schemas.microsoft.com/office/2007/relationships/hdphoto" Target="../media/hdphoto2.wdp"/><Relationship Id="rId14" Type="http://schemas.openxmlformats.org/officeDocument/2006/relationships/image" Target="../media/image25.sv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5.xml"/><Relationship Id="rId6" Type="http://schemas.openxmlformats.org/officeDocument/2006/relationships/image" Target="../media/image21.png"/><Relationship Id="rId5" Type="http://schemas.openxmlformats.org/officeDocument/2006/relationships/image" Target="../media/image19.png"/><Relationship Id="rId4" Type="http://schemas.microsoft.com/office/2007/relationships/hdphoto" Target="../media/hdphoto2.wdp"/></Relationships>
</file>

<file path=ppt/slides/_rels/slide1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png"/><Relationship Id="rId1" Type="http://schemas.openxmlformats.org/officeDocument/2006/relationships/slideLayout" Target="../slideLayouts/slideLayout15.xml"/><Relationship Id="rId6" Type="http://schemas.openxmlformats.org/officeDocument/2006/relationships/image" Target="../media/image38.png"/><Relationship Id="rId11" Type="http://schemas.openxmlformats.org/officeDocument/2006/relationships/image" Target="../media/image43.jpg"/><Relationship Id="rId5" Type="http://schemas.openxmlformats.org/officeDocument/2006/relationships/image" Target="../media/image37.png"/><Relationship Id="rId10" Type="http://schemas.openxmlformats.org/officeDocument/2006/relationships/image" Target="../media/image42.jpg"/><Relationship Id="rId4" Type="http://schemas.openxmlformats.org/officeDocument/2006/relationships/image" Target="../media/image36.png"/><Relationship Id="rId9"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AA58416-12DE-F42A-1BA3-DF6B69D61D10}"/>
              </a:ext>
            </a:extLst>
          </p:cNvPr>
          <p:cNvSpPr txBox="1"/>
          <p:nvPr/>
        </p:nvSpPr>
        <p:spPr>
          <a:xfrm>
            <a:off x="404533" y="389293"/>
            <a:ext cx="11382933" cy="41549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u="sng">
                <a:solidFill>
                  <a:srgbClr val="242424"/>
                </a:solidFill>
              </a:rPr>
              <a:t>Structure of Being a scientist Slides and LOE</a:t>
            </a:r>
          </a:p>
          <a:p>
            <a:endParaRPr lang="en-US" sz="2000" b="1" u="sng"/>
          </a:p>
          <a:p>
            <a:pPr>
              <a:buFont typeface=""/>
              <a:buChar char="•"/>
            </a:pPr>
            <a:r>
              <a:rPr lang="en-US" sz="2000">
                <a:solidFill>
                  <a:srgbClr val="242424"/>
                </a:solidFill>
              </a:rPr>
              <a:t>Slide one – show curriculum (first lesson and start of 2</a:t>
            </a:r>
            <a:r>
              <a:rPr lang="en-US" sz="2000" baseline="30000">
                <a:solidFill>
                  <a:srgbClr val="242424"/>
                </a:solidFill>
              </a:rPr>
              <a:t>nd</a:t>
            </a:r>
            <a:r>
              <a:rPr lang="en-US" sz="2000">
                <a:solidFill>
                  <a:srgbClr val="242424"/>
                </a:solidFill>
              </a:rPr>
              <a:t> week – make links</a:t>
            </a:r>
          </a:p>
          <a:p>
            <a:pPr>
              <a:buFont typeface=""/>
              <a:buChar char="•"/>
            </a:pPr>
            <a:r>
              <a:rPr lang="en-US" sz="2000">
                <a:solidFill>
                  <a:srgbClr val="242424"/>
                </a:solidFill>
              </a:rPr>
              <a:t>What is a scientist / being a scientist – focus on scientific skills</a:t>
            </a:r>
          </a:p>
          <a:p>
            <a:pPr>
              <a:buFont typeface=""/>
              <a:buChar char="•"/>
            </a:pPr>
            <a:r>
              <a:rPr lang="en-US" sz="2000">
                <a:solidFill>
                  <a:srgbClr val="242424"/>
                </a:solidFill>
              </a:rPr>
              <a:t>What, why, how? Of this lesson</a:t>
            </a:r>
          </a:p>
          <a:p>
            <a:pPr>
              <a:buFont typeface=""/>
              <a:buChar char="•"/>
            </a:pPr>
            <a:r>
              <a:rPr lang="en-US" sz="2000">
                <a:solidFill>
                  <a:srgbClr val="242424"/>
                </a:solidFill>
              </a:rPr>
              <a:t>Knowledge </a:t>
            </a:r>
            <a:r>
              <a:rPr lang="en-US" sz="2000" err="1">
                <a:solidFill>
                  <a:srgbClr val="242424"/>
                </a:solidFill>
              </a:rPr>
              <a:t>organisers</a:t>
            </a:r>
            <a:r>
              <a:rPr lang="en-US" sz="2000">
                <a:solidFill>
                  <a:srgbClr val="242424"/>
                </a:solidFill>
              </a:rPr>
              <a:t>  – update from previous lesson’s learning self populated by learners or constructed as a whole class on slides</a:t>
            </a:r>
          </a:p>
          <a:p>
            <a:pPr>
              <a:buFont typeface=""/>
              <a:buChar char="•"/>
            </a:pPr>
            <a:r>
              <a:rPr lang="en-US" sz="2000">
                <a:solidFill>
                  <a:srgbClr val="242424"/>
                </a:solidFill>
              </a:rPr>
              <a:t>Linked questions (x2 key pieces of knowledge from previous lesson)</a:t>
            </a:r>
          </a:p>
          <a:p>
            <a:pPr>
              <a:buFont typeface=""/>
              <a:buChar char="•"/>
            </a:pPr>
            <a:r>
              <a:rPr lang="en-US" sz="2000">
                <a:solidFill>
                  <a:srgbClr val="242424"/>
                </a:solidFill>
              </a:rPr>
              <a:t>In 1</a:t>
            </a:r>
            <a:r>
              <a:rPr lang="en-US" sz="2000" baseline="30000">
                <a:solidFill>
                  <a:srgbClr val="242424"/>
                </a:solidFill>
              </a:rPr>
              <a:t>st</a:t>
            </a:r>
            <a:r>
              <a:rPr lang="en-US" sz="2000">
                <a:solidFill>
                  <a:srgbClr val="242424"/>
                </a:solidFill>
              </a:rPr>
              <a:t> or 2</a:t>
            </a:r>
            <a:r>
              <a:rPr lang="en-US" sz="2000" baseline="30000">
                <a:solidFill>
                  <a:srgbClr val="242424"/>
                </a:solidFill>
              </a:rPr>
              <a:t>nd</a:t>
            </a:r>
            <a:r>
              <a:rPr lang="en-US" sz="2000">
                <a:solidFill>
                  <a:srgbClr val="242424"/>
                </a:solidFill>
              </a:rPr>
              <a:t> lesson introduce subject specific vocabulary (activity idea fed in facts) and provide opportunities to use it through out to ensure acquisition.</a:t>
            </a:r>
          </a:p>
          <a:p>
            <a:pPr>
              <a:buFont typeface=""/>
              <a:buChar char="•"/>
            </a:pPr>
            <a:r>
              <a:rPr lang="en-US" sz="2000">
                <a:solidFill>
                  <a:srgbClr val="242424"/>
                </a:solidFill>
              </a:rPr>
              <a:t>lesson slides following I do, we do, you do structure max 20 mins</a:t>
            </a:r>
          </a:p>
          <a:p>
            <a:pPr>
              <a:buFont typeface=""/>
              <a:buChar char="•"/>
            </a:pPr>
            <a:r>
              <a:rPr lang="en-US" sz="2000">
                <a:solidFill>
                  <a:srgbClr val="242424"/>
                </a:solidFill>
              </a:rPr>
              <a:t>Plenary: 2 questions at the end of lesson that can be used at start of next lesson</a:t>
            </a:r>
          </a:p>
          <a:p>
            <a:pPr>
              <a:buFont typeface=""/>
              <a:buChar char="•"/>
            </a:pPr>
            <a:r>
              <a:rPr lang="en-US" sz="2000">
                <a:solidFill>
                  <a:srgbClr val="242424"/>
                </a:solidFill>
              </a:rPr>
              <a:t>Quiz at end of enquiry with all the 2x questions from plenaries</a:t>
            </a:r>
            <a:endParaRPr lang="en-US" sz="2400">
              <a:solidFill>
                <a:srgbClr val="242424"/>
              </a:solidFill>
            </a:endParaRPr>
          </a:p>
        </p:txBody>
      </p:sp>
      <p:sp>
        <p:nvSpPr>
          <p:cNvPr id="2" name="Frame 1">
            <a:extLst>
              <a:ext uri="{FF2B5EF4-FFF2-40B4-BE49-F238E27FC236}">
                <a16:creationId xmlns:a16="http://schemas.microsoft.com/office/drawing/2014/main" id="{DB29E237-3ED3-D81E-EC51-25063668D150}"/>
              </a:ext>
            </a:extLst>
          </p:cNvPr>
          <p:cNvSpPr/>
          <p:nvPr/>
        </p:nvSpPr>
        <p:spPr>
          <a:xfrm>
            <a:off x="0" y="0"/>
            <a:ext cx="12192000" cy="6858000"/>
          </a:xfrm>
          <a:prstGeom prst="frame">
            <a:avLst>
              <a:gd name="adj1" fmla="val 1241"/>
            </a:avLst>
          </a:prstGeom>
          <a:solidFill>
            <a:schemeClr val="accent6">
              <a:lumMod val="5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B2BF7FE-2927-FE68-C5C5-A393D29CD862}"/>
              </a:ext>
            </a:extLst>
          </p:cNvPr>
          <p:cNvSpPr txBox="1"/>
          <p:nvPr/>
        </p:nvSpPr>
        <p:spPr>
          <a:xfrm>
            <a:off x="368831" y="112233"/>
            <a:ext cx="11688490" cy="6463308"/>
          </a:xfrm>
          <a:prstGeom prst="rect">
            <a:avLst/>
          </a:prstGeom>
          <a:noFill/>
        </p:spPr>
        <p:txBody>
          <a:bodyPr wrap="square" rtlCol="0">
            <a:spAutoFit/>
          </a:bodyPr>
          <a:lstStyle/>
          <a:p>
            <a:r>
              <a:rPr lang="en-GB"/>
              <a:t>Notes for the delivery of Science learning:</a:t>
            </a:r>
          </a:p>
          <a:p>
            <a:endParaRPr lang="en-GB"/>
          </a:p>
          <a:p>
            <a:r>
              <a:rPr lang="en-GB"/>
              <a:t>Each learning objective or every lesson should be recorded in the Learning journey in some form this might be photos of practical activities.</a:t>
            </a:r>
          </a:p>
          <a:p>
            <a:endParaRPr lang="en-GB"/>
          </a:p>
          <a:p>
            <a:r>
              <a:rPr lang="en-GB"/>
              <a:t>Please use </a:t>
            </a:r>
            <a:r>
              <a:rPr lang="en-GB" b="1"/>
              <a:t>Knowledge Organisers</a:t>
            </a:r>
          </a:p>
          <a:p>
            <a:pPr marL="742950" lvl="1" indent="-285750">
              <a:buFontTx/>
              <a:buChar char="-"/>
            </a:pPr>
            <a:r>
              <a:rPr lang="en-GB"/>
              <a:t> Ks1 use whole class KOs</a:t>
            </a:r>
          </a:p>
          <a:p>
            <a:pPr marL="742950" lvl="1" indent="-285750">
              <a:buFontTx/>
              <a:buChar char="-"/>
            </a:pPr>
            <a:r>
              <a:rPr lang="en-GB"/>
              <a:t>Vocabulary focused with oracy based teaching of the vocabulary</a:t>
            </a:r>
          </a:p>
          <a:p>
            <a:pPr marL="742950" lvl="1" indent="-285750">
              <a:buFontTx/>
              <a:buChar char="-"/>
            </a:pPr>
            <a:r>
              <a:rPr lang="en-GB"/>
              <a:t>Ks2 individual with space and time to add details built into lessons </a:t>
            </a:r>
          </a:p>
          <a:p>
            <a:pPr marL="742950" lvl="1" indent="-285750">
              <a:buFontTx/>
              <a:buChar char="-"/>
            </a:pPr>
            <a:r>
              <a:rPr lang="en-GB"/>
              <a:t>Adapted for individual needs (SEN, EAL)</a:t>
            </a:r>
          </a:p>
          <a:p>
            <a:pPr marL="285750" indent="-285750">
              <a:buFontTx/>
              <a:buChar char="-"/>
            </a:pPr>
            <a:endParaRPr lang="en-GB"/>
          </a:p>
          <a:p>
            <a:pPr marL="285750" indent="-285750">
              <a:buFontTx/>
              <a:buChar char="-"/>
            </a:pPr>
            <a:r>
              <a:rPr lang="en-GB"/>
              <a:t>How do we record the discussions that we have? Can we be strategic about how record discussion e.g. typed directly onto the plenary slide</a:t>
            </a:r>
          </a:p>
          <a:p>
            <a:pPr marL="285750" indent="-285750">
              <a:buFontTx/>
              <a:buChar char="-"/>
            </a:pPr>
            <a:endParaRPr lang="en-GB"/>
          </a:p>
          <a:p>
            <a:pPr marL="285750" indent="-285750">
              <a:buFontTx/>
              <a:buChar char="-"/>
            </a:pPr>
            <a:r>
              <a:rPr lang="en-GB"/>
              <a:t>How do we attend to misconceptions – questions at the start of each lesson.</a:t>
            </a:r>
          </a:p>
          <a:p>
            <a:pPr marL="285750" indent="-285750">
              <a:buFontTx/>
              <a:buChar char="-"/>
            </a:pPr>
            <a:endParaRPr lang="en-GB"/>
          </a:p>
          <a:p>
            <a:pPr marL="285750" indent="-285750">
              <a:buFontTx/>
              <a:buChar char="-"/>
            </a:pPr>
            <a:r>
              <a:rPr lang="en-GB"/>
              <a:t>Ensure that working scientifically skills are covered over the year and consider tasks and outcome to achieve this. </a:t>
            </a:r>
          </a:p>
          <a:p>
            <a:pPr marL="285750" indent="-285750">
              <a:buFontTx/>
              <a:buChar char="-"/>
            </a:pPr>
            <a:r>
              <a:rPr lang="en-GB"/>
              <a:t>I know and I remember slides should be used to activate prior knowledge and can be a useful assessment tool at the start of an Enquiry.</a:t>
            </a:r>
          </a:p>
          <a:p>
            <a:pPr marL="285750" indent="-285750">
              <a:buFontTx/>
              <a:buChar char="-"/>
            </a:pPr>
            <a:r>
              <a:rPr lang="en-GB"/>
              <a:t>Pick a skill to focus on and have several opportunities for learners to practise use the curriculum documents to support you to do this. There are a lot of ideas that work available.</a:t>
            </a:r>
          </a:p>
          <a:p>
            <a:pPr marL="285750" indent="-285750">
              <a:buFontTx/>
              <a:buChar char="-"/>
            </a:pPr>
            <a:r>
              <a:rPr lang="en-GB"/>
              <a:t>Consider the outcome writing objectives can be met in short bursts throughout the enquiry so that the big challenge isn’t 3 days of writing.</a:t>
            </a:r>
          </a:p>
        </p:txBody>
      </p:sp>
    </p:spTree>
    <p:extLst>
      <p:ext uri="{BB962C8B-B14F-4D97-AF65-F5344CB8AC3E}">
        <p14:creationId xmlns:p14="http://schemas.microsoft.com/office/powerpoint/2010/main" val="2286773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8532FDBC-8933-FAB5-4A74-082970B6ACDB}"/>
              </a:ext>
            </a:extLst>
          </p:cNvPr>
          <p:cNvSpPr/>
          <p:nvPr/>
        </p:nvSpPr>
        <p:spPr>
          <a:xfrm>
            <a:off x="241583" y="862942"/>
            <a:ext cx="11656503" cy="113067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TextBox 3">
            <a:extLst>
              <a:ext uri="{FF2B5EF4-FFF2-40B4-BE49-F238E27FC236}">
                <a16:creationId xmlns:a16="http://schemas.microsoft.com/office/drawing/2014/main" id="{04E9EC29-A000-9F04-814F-56BD2FE2715F}"/>
              </a:ext>
            </a:extLst>
          </p:cNvPr>
          <p:cNvSpPr txBox="1"/>
          <p:nvPr/>
        </p:nvSpPr>
        <p:spPr>
          <a:xfrm>
            <a:off x="197225" y="178811"/>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Working Scientifically Skills by Key Stage </a:t>
            </a:r>
          </a:p>
        </p:txBody>
      </p:sp>
      <p:grpSp>
        <p:nvGrpSpPr>
          <p:cNvPr id="2" name="Group 1">
            <a:extLst>
              <a:ext uri="{FF2B5EF4-FFF2-40B4-BE49-F238E27FC236}">
                <a16:creationId xmlns:a16="http://schemas.microsoft.com/office/drawing/2014/main" id="{8B93E756-580A-F442-B10F-948CB959A3DE}"/>
              </a:ext>
            </a:extLst>
          </p:cNvPr>
          <p:cNvGrpSpPr/>
          <p:nvPr/>
        </p:nvGrpSpPr>
        <p:grpSpPr>
          <a:xfrm>
            <a:off x="1421478" y="993635"/>
            <a:ext cx="10231445" cy="987792"/>
            <a:chOff x="2275973" y="794446"/>
            <a:chExt cx="9337957" cy="1399223"/>
          </a:xfrm>
        </p:grpSpPr>
        <p:sp>
          <p:nvSpPr>
            <p:cNvPr id="6" name="TextBox 5">
              <a:extLst>
                <a:ext uri="{FF2B5EF4-FFF2-40B4-BE49-F238E27FC236}">
                  <a16:creationId xmlns:a16="http://schemas.microsoft.com/office/drawing/2014/main" id="{949C2FFA-6E06-DBF1-B6FD-5B17B1F6F115}"/>
                </a:ext>
              </a:extLst>
            </p:cNvPr>
            <p:cNvSpPr txBox="1"/>
            <p:nvPr/>
          </p:nvSpPr>
          <p:spPr>
            <a:xfrm>
              <a:off x="4233324" y="915895"/>
              <a:ext cx="163559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b="1"/>
                <a:t>Test</a:t>
              </a:r>
            </a:p>
            <a:p>
              <a:r>
                <a:rPr lang="en-US" sz="1200"/>
                <a:t>Perform a simple test </a:t>
              </a:r>
            </a:p>
          </p:txBody>
        </p:sp>
        <p:sp>
          <p:nvSpPr>
            <p:cNvPr id="7" name="TextBox 6">
              <a:extLst>
                <a:ext uri="{FF2B5EF4-FFF2-40B4-BE49-F238E27FC236}">
                  <a16:creationId xmlns:a16="http://schemas.microsoft.com/office/drawing/2014/main" id="{2B5C14AD-70DD-4A9D-FFB1-6C26EED44365}"/>
                </a:ext>
              </a:extLst>
            </p:cNvPr>
            <p:cNvSpPr txBox="1"/>
            <p:nvPr/>
          </p:nvSpPr>
          <p:spPr>
            <a:xfrm>
              <a:off x="5938367" y="879127"/>
              <a:ext cx="1904536" cy="646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b="1"/>
                <a:t>Observe and measure</a:t>
              </a:r>
            </a:p>
            <a:p>
              <a:r>
                <a:rPr lang="en-US" sz="1200"/>
                <a:t> Observe using simple equipment </a:t>
              </a:r>
            </a:p>
          </p:txBody>
        </p:sp>
        <p:sp>
          <p:nvSpPr>
            <p:cNvPr id="8" name="TextBox 7">
              <a:extLst>
                <a:ext uri="{FF2B5EF4-FFF2-40B4-BE49-F238E27FC236}">
                  <a16:creationId xmlns:a16="http://schemas.microsoft.com/office/drawing/2014/main" id="{3E1F50F4-6C0E-63DD-1BD2-21F4951205FB}"/>
                </a:ext>
              </a:extLst>
            </p:cNvPr>
            <p:cNvSpPr txBox="1"/>
            <p:nvPr/>
          </p:nvSpPr>
          <p:spPr>
            <a:xfrm>
              <a:off x="7712859" y="808674"/>
              <a:ext cx="2363977"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Record and present</a:t>
              </a:r>
            </a:p>
            <a:p>
              <a:r>
                <a:rPr lang="en-US" sz="1200"/>
                <a:t>Use observations to suggest answers to questions Gather and record to help answer a question Sort and classify information </a:t>
              </a:r>
            </a:p>
            <a:p>
              <a:endParaRPr lang="en-GB" sz="1200"/>
            </a:p>
            <a:p>
              <a:endParaRPr lang="en-GB" sz="1200"/>
            </a:p>
          </p:txBody>
        </p:sp>
        <p:sp>
          <p:nvSpPr>
            <p:cNvPr id="9" name="TextBox 8">
              <a:extLst>
                <a:ext uri="{FF2B5EF4-FFF2-40B4-BE49-F238E27FC236}">
                  <a16:creationId xmlns:a16="http://schemas.microsoft.com/office/drawing/2014/main" id="{6CADB8D3-0C87-80B0-D659-F13C8B7C8F76}"/>
                </a:ext>
              </a:extLst>
            </p:cNvPr>
            <p:cNvSpPr txBox="1"/>
            <p:nvPr/>
          </p:nvSpPr>
          <p:spPr>
            <a:xfrm>
              <a:off x="9877482" y="941472"/>
              <a:ext cx="173644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Conclude </a:t>
              </a:r>
            </a:p>
            <a:p>
              <a:r>
                <a:rPr lang="en-US" sz="1200"/>
                <a:t>Say what you found out</a:t>
              </a:r>
            </a:p>
          </p:txBody>
        </p:sp>
        <p:sp>
          <p:nvSpPr>
            <p:cNvPr id="10" name="TextBox 9">
              <a:extLst>
                <a:ext uri="{FF2B5EF4-FFF2-40B4-BE49-F238E27FC236}">
                  <a16:creationId xmlns:a16="http://schemas.microsoft.com/office/drawing/2014/main" id="{73AC5EA3-CE81-1062-095D-24F0B9A0F6EE}"/>
                </a:ext>
              </a:extLst>
            </p:cNvPr>
            <p:cNvSpPr txBox="1"/>
            <p:nvPr/>
          </p:nvSpPr>
          <p:spPr>
            <a:xfrm>
              <a:off x="2275973" y="794446"/>
              <a:ext cx="2014819" cy="8422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Plan, and Ask Question</a:t>
              </a:r>
              <a:r>
                <a:rPr lang="en-US" sz="1200"/>
                <a:t>s</a:t>
              </a:r>
            </a:p>
            <a:p>
              <a:r>
                <a:rPr lang="en-US" sz="1200"/>
                <a:t> Asking simple questions </a:t>
              </a:r>
            </a:p>
            <a:p>
              <a:r>
                <a:rPr lang="en-US" sz="1200" err="1"/>
                <a:t>Recognise</a:t>
              </a:r>
              <a:r>
                <a:rPr lang="en-US" sz="1200"/>
                <a:t> they can be answered in different ways </a:t>
              </a:r>
            </a:p>
          </p:txBody>
        </p:sp>
      </p:grpSp>
      <p:grpSp>
        <p:nvGrpSpPr>
          <p:cNvPr id="3" name="Group 2">
            <a:extLst>
              <a:ext uri="{FF2B5EF4-FFF2-40B4-BE49-F238E27FC236}">
                <a16:creationId xmlns:a16="http://schemas.microsoft.com/office/drawing/2014/main" id="{FBB645EC-F26F-6536-AFB4-80E93E23D97C}"/>
              </a:ext>
            </a:extLst>
          </p:cNvPr>
          <p:cNvGrpSpPr/>
          <p:nvPr/>
        </p:nvGrpSpPr>
        <p:grpSpPr>
          <a:xfrm>
            <a:off x="1773818" y="2122164"/>
            <a:ext cx="9884470" cy="1938992"/>
            <a:chOff x="1773818" y="2122164"/>
            <a:chExt cx="9884470" cy="1938992"/>
          </a:xfrm>
        </p:grpSpPr>
        <p:sp>
          <p:nvSpPr>
            <p:cNvPr id="12" name="TextBox 11">
              <a:extLst>
                <a:ext uri="{FF2B5EF4-FFF2-40B4-BE49-F238E27FC236}">
                  <a16:creationId xmlns:a16="http://schemas.microsoft.com/office/drawing/2014/main" id="{F16CAC67-5107-F68A-EA4D-074B4836A6AE}"/>
                </a:ext>
              </a:extLst>
            </p:cNvPr>
            <p:cNvSpPr txBox="1"/>
            <p:nvPr/>
          </p:nvSpPr>
          <p:spPr>
            <a:xfrm>
              <a:off x="3894841" y="2187369"/>
              <a:ext cx="163559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b="1"/>
                <a:t>Test</a:t>
              </a:r>
            </a:p>
            <a:p>
              <a:r>
                <a:rPr lang="en-US" sz="1200">
                  <a:ea typeface="+mn-lt"/>
                  <a:cs typeface="+mn-lt"/>
                </a:rPr>
                <a:t>• Set up simple fair </a:t>
              </a:r>
            </a:p>
            <a:p>
              <a:r>
                <a:rPr lang="en-US" sz="1200">
                  <a:ea typeface="+mn-lt"/>
                  <a:cs typeface="+mn-lt"/>
                </a:rPr>
                <a:t>tests</a:t>
              </a:r>
            </a:p>
          </p:txBody>
        </p:sp>
        <p:sp>
          <p:nvSpPr>
            <p:cNvPr id="13" name="TextBox 12">
              <a:extLst>
                <a:ext uri="{FF2B5EF4-FFF2-40B4-BE49-F238E27FC236}">
                  <a16:creationId xmlns:a16="http://schemas.microsoft.com/office/drawing/2014/main" id="{43C7D4AA-4A10-4AC5-B444-14DAEAAABCD7}"/>
                </a:ext>
              </a:extLst>
            </p:cNvPr>
            <p:cNvSpPr txBox="1"/>
            <p:nvPr/>
          </p:nvSpPr>
          <p:spPr>
            <a:xfrm>
              <a:off x="5530436" y="2134351"/>
              <a:ext cx="1904536"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200" b="1"/>
                <a:t>Observe and measure</a:t>
              </a:r>
            </a:p>
            <a:p>
              <a:r>
                <a:rPr lang="en-US" sz="1200">
                  <a:ea typeface="+mn-lt"/>
                  <a:cs typeface="+mn-lt"/>
                </a:rPr>
                <a:t>• Make careful </a:t>
              </a:r>
              <a:endParaRPr lang="en-US" sz="1200"/>
            </a:p>
            <a:p>
              <a:r>
                <a:rPr lang="en-US" sz="1200">
                  <a:ea typeface="+mn-lt"/>
                  <a:cs typeface="+mn-lt"/>
                </a:rPr>
                <a:t>observations </a:t>
              </a:r>
              <a:endParaRPr lang="en-US" sz="1200"/>
            </a:p>
            <a:p>
              <a:r>
                <a:rPr lang="en-US" sz="1200">
                  <a:ea typeface="+mn-lt"/>
                  <a:cs typeface="+mn-lt"/>
                </a:rPr>
                <a:t>• Take accurate </a:t>
              </a:r>
              <a:endParaRPr lang="en-US" sz="1200"/>
            </a:p>
            <a:p>
              <a:r>
                <a:rPr lang="en-US" sz="1200">
                  <a:ea typeface="+mn-lt"/>
                  <a:cs typeface="+mn-lt"/>
                </a:rPr>
                <a:t>measurements</a:t>
              </a:r>
              <a:endParaRPr lang="en-US" sz="1200"/>
            </a:p>
            <a:p>
              <a:r>
                <a:rPr lang="en-US" sz="1200">
                  <a:ea typeface="+mn-lt"/>
                  <a:cs typeface="+mn-lt"/>
                </a:rPr>
                <a:t>• Use a range of </a:t>
              </a:r>
              <a:endParaRPr lang="en-US" sz="1200"/>
            </a:p>
            <a:p>
              <a:r>
                <a:rPr lang="en-US" sz="1200">
                  <a:ea typeface="+mn-lt"/>
                  <a:cs typeface="+mn-lt"/>
                </a:rPr>
                <a:t>equipment including </a:t>
              </a:r>
              <a:endParaRPr lang="en-US" sz="1200"/>
            </a:p>
            <a:p>
              <a:r>
                <a:rPr lang="en-US" sz="1200">
                  <a:ea typeface="+mn-lt"/>
                  <a:cs typeface="+mn-lt"/>
                </a:rPr>
                <a:t>thermometers and data </a:t>
              </a:r>
              <a:endParaRPr lang="en-US" sz="1200"/>
            </a:p>
            <a:p>
              <a:r>
                <a:rPr lang="en-US" sz="1200">
                  <a:ea typeface="+mn-lt"/>
                  <a:cs typeface="+mn-lt"/>
                </a:rPr>
                <a:t>loggers</a:t>
              </a:r>
              <a:endParaRPr lang="en-US" sz="1200"/>
            </a:p>
          </p:txBody>
        </p:sp>
        <p:sp>
          <p:nvSpPr>
            <p:cNvPr id="14" name="TextBox 13">
              <a:extLst>
                <a:ext uri="{FF2B5EF4-FFF2-40B4-BE49-F238E27FC236}">
                  <a16:creationId xmlns:a16="http://schemas.microsoft.com/office/drawing/2014/main" id="{485BF274-5554-DDD8-EAF0-1BA37FD43B57}"/>
                </a:ext>
              </a:extLst>
            </p:cNvPr>
            <p:cNvSpPr txBox="1"/>
            <p:nvPr/>
          </p:nvSpPr>
          <p:spPr>
            <a:xfrm>
              <a:off x="7386349" y="2122164"/>
              <a:ext cx="2363977"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Record and present</a:t>
              </a:r>
            </a:p>
            <a:p>
              <a:r>
                <a:rPr lang="en-US" sz="1200">
                  <a:ea typeface="+mn-lt"/>
                  <a:cs typeface="+mn-lt"/>
                </a:rPr>
                <a:t>• Collect, record and present results, using bar charts and tables</a:t>
              </a:r>
              <a:endParaRPr lang="en-US" sz="1200"/>
            </a:p>
            <a:p>
              <a:r>
                <a:rPr lang="en-US" sz="1200">
                  <a:ea typeface="+mn-lt"/>
                  <a:cs typeface="+mn-lt"/>
                </a:rPr>
                <a:t>• Suggest criteria for grouping, sorting and classifying/use a </a:t>
              </a:r>
              <a:endParaRPr lang="en-US" sz="1200"/>
            </a:p>
            <a:p>
              <a:r>
                <a:rPr lang="en-US" sz="1200">
                  <a:ea typeface="+mn-lt"/>
                  <a:cs typeface="+mn-lt"/>
                </a:rPr>
                <a:t>simple key</a:t>
              </a:r>
              <a:endParaRPr lang="en-US" sz="1200"/>
            </a:p>
            <a:p>
              <a:r>
                <a:rPr lang="en-US" sz="1200">
                  <a:ea typeface="+mn-lt"/>
                  <a:cs typeface="+mn-lt"/>
                </a:rPr>
                <a:t>• Write a simple scientific report with a plan, method, results </a:t>
              </a:r>
              <a:endParaRPr lang="en-US" sz="1200"/>
            </a:p>
            <a:p>
              <a:r>
                <a:rPr lang="en-US" sz="1200">
                  <a:ea typeface="+mn-lt"/>
                  <a:cs typeface="+mn-lt"/>
                </a:rPr>
                <a:t>and conclusion</a:t>
              </a:r>
              <a:endParaRPr lang="en-GB" sz="1200"/>
            </a:p>
          </p:txBody>
        </p:sp>
        <p:sp>
          <p:nvSpPr>
            <p:cNvPr id="15" name="TextBox 14">
              <a:extLst>
                <a:ext uri="{FF2B5EF4-FFF2-40B4-BE49-F238E27FC236}">
                  <a16:creationId xmlns:a16="http://schemas.microsoft.com/office/drawing/2014/main" id="{2A6AFAB0-C023-1B8F-C3B9-27A448B0074B}"/>
                </a:ext>
              </a:extLst>
            </p:cNvPr>
            <p:cNvSpPr txBox="1"/>
            <p:nvPr/>
          </p:nvSpPr>
          <p:spPr>
            <a:xfrm>
              <a:off x="9610013" y="2210177"/>
              <a:ext cx="204827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Conclude </a:t>
              </a:r>
            </a:p>
            <a:p>
              <a:r>
                <a:rPr lang="en-US" sz="1200">
                  <a:ea typeface="+mn-lt"/>
                  <a:cs typeface="+mn-lt"/>
                </a:rPr>
                <a:t>• Draw conclusions </a:t>
              </a:r>
              <a:endParaRPr lang="en-US" sz="1200"/>
            </a:p>
            <a:p>
              <a:r>
                <a:rPr lang="en-US" sz="1200">
                  <a:ea typeface="+mn-lt"/>
                  <a:cs typeface="+mn-lt"/>
                </a:rPr>
                <a:t>• Use scientific language in discussions</a:t>
              </a:r>
              <a:endParaRPr lang="en-US" sz="1200"/>
            </a:p>
            <a:p>
              <a:r>
                <a:rPr lang="en-US" sz="1200">
                  <a:ea typeface="+mn-lt"/>
                  <a:cs typeface="+mn-lt"/>
                </a:rPr>
                <a:t>• Make predictions </a:t>
              </a:r>
              <a:endParaRPr lang="en-US" sz="1200"/>
            </a:p>
            <a:p>
              <a:r>
                <a:rPr lang="en-US" sz="1200">
                  <a:ea typeface="+mn-lt"/>
                  <a:cs typeface="+mn-lt"/>
                </a:rPr>
                <a:t>• Look for patterns in results</a:t>
              </a:r>
              <a:endParaRPr lang="en-US" sz="1200"/>
            </a:p>
          </p:txBody>
        </p:sp>
        <p:sp>
          <p:nvSpPr>
            <p:cNvPr id="16" name="TextBox 15">
              <a:extLst>
                <a:ext uri="{FF2B5EF4-FFF2-40B4-BE49-F238E27FC236}">
                  <a16:creationId xmlns:a16="http://schemas.microsoft.com/office/drawing/2014/main" id="{018CC04C-4C53-BD2C-7F2C-EA5D27D604FE}"/>
                </a:ext>
              </a:extLst>
            </p:cNvPr>
            <p:cNvSpPr txBox="1"/>
            <p:nvPr/>
          </p:nvSpPr>
          <p:spPr>
            <a:xfrm>
              <a:off x="1773818" y="2211983"/>
              <a:ext cx="2014819"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Plan, and Ask Question</a:t>
              </a:r>
              <a:r>
                <a:rPr lang="en-US" sz="1200"/>
                <a:t>s</a:t>
              </a:r>
            </a:p>
            <a:p>
              <a:r>
                <a:rPr lang="en-US" sz="1200"/>
                <a:t> </a:t>
              </a:r>
              <a:r>
                <a:rPr lang="en-US" sz="1200">
                  <a:ea typeface="+mn-lt"/>
                  <a:cs typeface="+mn-lt"/>
                </a:rPr>
                <a:t>• Ask relevant questions </a:t>
              </a:r>
            </a:p>
            <a:p>
              <a:r>
                <a:rPr lang="en-US" sz="1200">
                  <a:ea typeface="+mn-lt"/>
                  <a:cs typeface="+mn-lt"/>
                </a:rPr>
                <a:t>• Answer relevant questions</a:t>
              </a:r>
              <a:endParaRPr lang="en-US" sz="1200"/>
            </a:p>
            <a:p>
              <a:r>
                <a:rPr lang="en-US" sz="1200">
                  <a:ea typeface="+mn-lt"/>
                  <a:cs typeface="+mn-lt"/>
                </a:rPr>
                <a:t>• Select appropriate equipment to help answer </a:t>
              </a:r>
              <a:endParaRPr lang="en-US" sz="1200"/>
            </a:p>
            <a:p>
              <a:r>
                <a:rPr lang="en-US" sz="1200">
                  <a:ea typeface="+mn-lt"/>
                  <a:cs typeface="+mn-lt"/>
                </a:rPr>
                <a:t>questions/enquiries</a:t>
              </a:r>
              <a:r>
                <a:rPr lang="en-US" sz="1200"/>
                <a:t> </a:t>
              </a:r>
            </a:p>
          </p:txBody>
        </p:sp>
      </p:grpSp>
      <p:grpSp>
        <p:nvGrpSpPr>
          <p:cNvPr id="5" name="Group 4">
            <a:extLst>
              <a:ext uri="{FF2B5EF4-FFF2-40B4-BE49-F238E27FC236}">
                <a16:creationId xmlns:a16="http://schemas.microsoft.com/office/drawing/2014/main" id="{05F62060-0DDF-A6FD-9EDD-582766B97733}"/>
              </a:ext>
            </a:extLst>
          </p:cNvPr>
          <p:cNvGrpSpPr/>
          <p:nvPr/>
        </p:nvGrpSpPr>
        <p:grpSpPr>
          <a:xfrm>
            <a:off x="1045464" y="4422954"/>
            <a:ext cx="11090455" cy="2123658"/>
            <a:chOff x="1045464" y="4157637"/>
            <a:chExt cx="11090455" cy="2123658"/>
          </a:xfrm>
        </p:grpSpPr>
        <p:sp>
          <p:nvSpPr>
            <p:cNvPr id="18" name="TextBox 17">
              <a:extLst>
                <a:ext uri="{FF2B5EF4-FFF2-40B4-BE49-F238E27FC236}">
                  <a16:creationId xmlns:a16="http://schemas.microsoft.com/office/drawing/2014/main" id="{9689398F-1D70-2813-F060-BC6C033FBB23}"/>
                </a:ext>
              </a:extLst>
            </p:cNvPr>
            <p:cNvSpPr txBox="1"/>
            <p:nvPr/>
          </p:nvSpPr>
          <p:spPr>
            <a:xfrm>
              <a:off x="1045464" y="4452251"/>
              <a:ext cx="2216523"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Plan and Questions </a:t>
              </a:r>
            </a:p>
            <a:p>
              <a:r>
                <a:rPr lang="en-US" sz="1200"/>
                <a:t>• Ask relevant questions </a:t>
              </a:r>
            </a:p>
            <a:p>
              <a:r>
                <a:rPr lang="en-US" sz="1200"/>
                <a:t>• Answer relevant questions </a:t>
              </a:r>
            </a:p>
            <a:p>
              <a:r>
                <a:rPr lang="en-US" sz="1200"/>
                <a:t>• Select appropriate enquiry to help answer questions/equipment </a:t>
              </a:r>
            </a:p>
          </p:txBody>
        </p:sp>
        <p:sp>
          <p:nvSpPr>
            <p:cNvPr id="19" name="TextBox 18">
              <a:extLst>
                <a:ext uri="{FF2B5EF4-FFF2-40B4-BE49-F238E27FC236}">
                  <a16:creationId xmlns:a16="http://schemas.microsoft.com/office/drawing/2014/main" id="{AC23E6E9-84E9-12C8-412B-AF49F22B297C}"/>
                </a:ext>
              </a:extLst>
            </p:cNvPr>
            <p:cNvSpPr txBox="1"/>
            <p:nvPr/>
          </p:nvSpPr>
          <p:spPr>
            <a:xfrm>
              <a:off x="3109998" y="4441562"/>
              <a:ext cx="224821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cs typeface="Segoe UI"/>
                </a:rPr>
                <a:t>Test</a:t>
              </a:r>
              <a:r>
                <a:rPr lang="en-US" sz="1200">
                  <a:cs typeface="Segoe UI"/>
                </a:rPr>
                <a:t> ​</a:t>
              </a:r>
            </a:p>
            <a:p>
              <a:r>
                <a:rPr lang="en-US" sz="1200">
                  <a:cs typeface="Segoe UI"/>
                </a:rPr>
                <a:t>• Set up simple fair tests by controlling variables </a:t>
              </a:r>
            </a:p>
            <a:p>
              <a:r>
                <a:rPr lang="en-US" sz="1200">
                  <a:cs typeface="Segoe UI"/>
                </a:rPr>
                <a:t>• Sort evidence into two categories: supporting or disproving a scientific idea</a:t>
              </a:r>
            </a:p>
          </p:txBody>
        </p:sp>
        <p:sp>
          <p:nvSpPr>
            <p:cNvPr id="20" name="TextBox 19">
              <a:extLst>
                <a:ext uri="{FF2B5EF4-FFF2-40B4-BE49-F238E27FC236}">
                  <a16:creationId xmlns:a16="http://schemas.microsoft.com/office/drawing/2014/main" id="{07FA914C-D633-CA6F-88CB-CBB3A7D7EA24}"/>
                </a:ext>
              </a:extLst>
            </p:cNvPr>
            <p:cNvSpPr txBox="1"/>
            <p:nvPr/>
          </p:nvSpPr>
          <p:spPr>
            <a:xfrm>
              <a:off x="5101864" y="4480877"/>
              <a:ext cx="1988269"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cs typeface="Segoe UI"/>
                </a:rPr>
                <a:t> Observe and measure </a:t>
              </a:r>
            </a:p>
            <a:p>
              <a:r>
                <a:rPr lang="en-US" sz="1200">
                  <a:cs typeface="Segoe UI"/>
                </a:rPr>
                <a:t>• Make careful observations </a:t>
              </a:r>
            </a:p>
            <a:p>
              <a:r>
                <a:rPr lang="en-US" sz="1200">
                  <a:cs typeface="Segoe UI"/>
                </a:rPr>
                <a:t>• Take accurate measurements</a:t>
              </a:r>
            </a:p>
            <a:p>
              <a:r>
                <a:rPr lang="en-US" sz="1200">
                  <a:cs typeface="Segoe UI"/>
                </a:rPr>
                <a:t> • Use a range of precise scientific equipment​</a:t>
              </a:r>
              <a:endParaRPr lang="en-US" sz="1200"/>
            </a:p>
          </p:txBody>
        </p:sp>
        <p:sp>
          <p:nvSpPr>
            <p:cNvPr id="22" name="TextBox 21">
              <a:extLst>
                <a:ext uri="{FF2B5EF4-FFF2-40B4-BE49-F238E27FC236}">
                  <a16:creationId xmlns:a16="http://schemas.microsoft.com/office/drawing/2014/main" id="{2653587B-C90A-B8DA-5215-78DD12D3BFE4}"/>
                </a:ext>
              </a:extLst>
            </p:cNvPr>
            <p:cNvSpPr txBox="1"/>
            <p:nvPr/>
          </p:nvSpPr>
          <p:spPr>
            <a:xfrm>
              <a:off x="7019292" y="4157637"/>
              <a:ext cx="2437840"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cs typeface="Segoe UI"/>
                </a:rPr>
                <a:t> Record and Present </a:t>
              </a:r>
            </a:p>
            <a:p>
              <a:r>
                <a:rPr lang="en-US" sz="1200">
                  <a:cs typeface="Segoe UI"/>
                </a:rPr>
                <a:t>• Collect, record and present results, including the use of line graphs, scatter graphs, bar charts and tables where appropriate </a:t>
              </a:r>
            </a:p>
            <a:p>
              <a:r>
                <a:rPr lang="en-US" sz="1200">
                  <a:cs typeface="Segoe UI"/>
                </a:rPr>
                <a:t>• Suggest criteria for grouping, sorting and classifying/use a simple key </a:t>
              </a:r>
            </a:p>
            <a:p>
              <a:r>
                <a:rPr lang="en-US" sz="1200">
                  <a:cs typeface="Segoe UI"/>
                </a:rPr>
                <a:t>• Write a simple scientific report with a plan, method, results and conclusion</a:t>
              </a:r>
            </a:p>
          </p:txBody>
        </p:sp>
        <p:sp>
          <p:nvSpPr>
            <p:cNvPr id="23" name="TextBox 22">
              <a:extLst>
                <a:ext uri="{FF2B5EF4-FFF2-40B4-BE49-F238E27FC236}">
                  <a16:creationId xmlns:a16="http://schemas.microsoft.com/office/drawing/2014/main" id="{DC1CDE3E-1CDB-8E5C-A10F-4DD00F4FBEA9}"/>
                </a:ext>
              </a:extLst>
            </p:cNvPr>
            <p:cNvSpPr txBox="1"/>
            <p:nvPr/>
          </p:nvSpPr>
          <p:spPr>
            <a:xfrm>
              <a:off x="9694966" y="4157637"/>
              <a:ext cx="2440953"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t>Conclude</a:t>
              </a:r>
              <a:r>
                <a:rPr lang="en-US" sz="1200"/>
                <a:t> </a:t>
              </a:r>
              <a:endParaRPr lang="en-GB" sz="1200"/>
            </a:p>
            <a:p>
              <a:r>
                <a:rPr lang="en-US" sz="1200"/>
                <a:t>• Draw conclusions </a:t>
              </a:r>
              <a:endParaRPr lang="en-GB" sz="1200"/>
            </a:p>
            <a:p>
              <a:r>
                <a:rPr lang="en-US" sz="1200"/>
                <a:t>• Use scientific language in discussions </a:t>
              </a:r>
              <a:endParaRPr lang="en-GB" sz="1200"/>
            </a:p>
            <a:p>
              <a:r>
                <a:rPr lang="en-US" sz="1200"/>
                <a:t>• Look and describe patterns in results</a:t>
              </a:r>
              <a:endParaRPr lang="en-GB" sz="1200"/>
            </a:p>
            <a:p>
              <a:r>
                <a:rPr lang="en-US" sz="1200"/>
                <a:t> • Use patterns to make predictions and design further tests </a:t>
              </a:r>
              <a:endParaRPr lang="en-GB" sz="1200"/>
            </a:p>
            <a:p>
              <a:r>
                <a:rPr lang="en-US" sz="1200"/>
                <a:t>• Reflect on the reliability of results​</a:t>
              </a:r>
              <a:r>
                <a:rPr lang="en-GB" sz="1200"/>
                <a:t>​</a:t>
              </a:r>
            </a:p>
          </p:txBody>
        </p:sp>
      </p:grpSp>
      <p:sp>
        <p:nvSpPr>
          <p:cNvPr id="21" name="TextBox 20">
            <a:extLst>
              <a:ext uri="{FF2B5EF4-FFF2-40B4-BE49-F238E27FC236}">
                <a16:creationId xmlns:a16="http://schemas.microsoft.com/office/drawing/2014/main" id="{4EC7F498-72E2-2B6D-6B09-53D6ED04D5B3}"/>
              </a:ext>
            </a:extLst>
          </p:cNvPr>
          <p:cNvSpPr txBox="1"/>
          <p:nvPr/>
        </p:nvSpPr>
        <p:spPr>
          <a:xfrm>
            <a:off x="533198" y="1181350"/>
            <a:ext cx="566822" cy="369332"/>
          </a:xfrm>
          <a:prstGeom prst="rect">
            <a:avLst/>
          </a:prstGeom>
          <a:noFill/>
        </p:spPr>
        <p:txBody>
          <a:bodyPr wrap="none" rtlCol="0">
            <a:spAutoFit/>
          </a:bodyPr>
          <a:lstStyle/>
          <a:p>
            <a:r>
              <a:rPr lang="en-GB"/>
              <a:t>KS1</a:t>
            </a:r>
          </a:p>
        </p:txBody>
      </p:sp>
      <p:sp>
        <p:nvSpPr>
          <p:cNvPr id="24" name="Rectangle: Rounded Corners 23">
            <a:extLst>
              <a:ext uri="{FF2B5EF4-FFF2-40B4-BE49-F238E27FC236}">
                <a16:creationId xmlns:a16="http://schemas.microsoft.com/office/drawing/2014/main" id="{349541AF-46D8-288B-895B-02778ACE66C4}"/>
              </a:ext>
            </a:extLst>
          </p:cNvPr>
          <p:cNvSpPr/>
          <p:nvPr/>
        </p:nvSpPr>
        <p:spPr>
          <a:xfrm>
            <a:off x="267748" y="2159576"/>
            <a:ext cx="11656503" cy="1933529"/>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TextBox 24">
            <a:extLst>
              <a:ext uri="{FF2B5EF4-FFF2-40B4-BE49-F238E27FC236}">
                <a16:creationId xmlns:a16="http://schemas.microsoft.com/office/drawing/2014/main" id="{F9838A47-8601-4515-8A28-CDCF2F730025}"/>
              </a:ext>
            </a:extLst>
          </p:cNvPr>
          <p:cNvSpPr txBox="1"/>
          <p:nvPr/>
        </p:nvSpPr>
        <p:spPr>
          <a:xfrm>
            <a:off x="338545" y="2860424"/>
            <a:ext cx="682238" cy="369332"/>
          </a:xfrm>
          <a:prstGeom prst="rect">
            <a:avLst/>
          </a:prstGeom>
          <a:noFill/>
        </p:spPr>
        <p:txBody>
          <a:bodyPr wrap="none" rtlCol="0">
            <a:spAutoFit/>
          </a:bodyPr>
          <a:lstStyle/>
          <a:p>
            <a:r>
              <a:rPr lang="en-GB"/>
              <a:t>LKS2</a:t>
            </a:r>
          </a:p>
        </p:txBody>
      </p:sp>
      <p:sp>
        <p:nvSpPr>
          <p:cNvPr id="26" name="Rectangle: Rounded Corners 25">
            <a:extLst>
              <a:ext uri="{FF2B5EF4-FFF2-40B4-BE49-F238E27FC236}">
                <a16:creationId xmlns:a16="http://schemas.microsoft.com/office/drawing/2014/main" id="{1B7CBED7-9041-83F4-49CC-97483176561B}"/>
              </a:ext>
            </a:extLst>
          </p:cNvPr>
          <p:cNvSpPr/>
          <p:nvPr/>
        </p:nvSpPr>
        <p:spPr>
          <a:xfrm>
            <a:off x="241582" y="4350969"/>
            <a:ext cx="11656503" cy="232822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TextBox 26">
            <a:extLst>
              <a:ext uri="{FF2B5EF4-FFF2-40B4-BE49-F238E27FC236}">
                <a16:creationId xmlns:a16="http://schemas.microsoft.com/office/drawing/2014/main" id="{025CA59A-69DE-6946-BF7B-B732B4F1981C}"/>
              </a:ext>
            </a:extLst>
          </p:cNvPr>
          <p:cNvSpPr txBox="1"/>
          <p:nvPr/>
        </p:nvSpPr>
        <p:spPr>
          <a:xfrm>
            <a:off x="376632" y="5254025"/>
            <a:ext cx="723916" cy="369332"/>
          </a:xfrm>
          <a:prstGeom prst="rect">
            <a:avLst/>
          </a:prstGeom>
          <a:noFill/>
        </p:spPr>
        <p:txBody>
          <a:bodyPr wrap="none" rtlCol="0">
            <a:spAutoFit/>
          </a:bodyPr>
          <a:lstStyle/>
          <a:p>
            <a:r>
              <a:rPr lang="en-GB"/>
              <a:t>UKS2</a:t>
            </a:r>
          </a:p>
        </p:txBody>
      </p:sp>
    </p:spTree>
    <p:extLst>
      <p:ext uri="{BB962C8B-B14F-4D97-AF65-F5344CB8AC3E}">
        <p14:creationId xmlns:p14="http://schemas.microsoft.com/office/powerpoint/2010/main" val="3530367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945F9C42-29FC-F23C-1BBB-1C8036CD17A1}"/>
              </a:ext>
            </a:extLst>
          </p:cNvPr>
          <p:cNvGraphicFramePr>
            <a:graphicFrameLocks noGrp="1"/>
          </p:cNvGraphicFramePr>
          <p:nvPr/>
        </p:nvGraphicFramePr>
        <p:xfrm>
          <a:off x="335279" y="264160"/>
          <a:ext cx="11521440" cy="4815840"/>
        </p:xfrm>
        <a:graphic>
          <a:graphicData uri="http://schemas.openxmlformats.org/drawingml/2006/table">
            <a:tbl>
              <a:tblPr firstRow="1" bandRow="1">
                <a:tableStyleId>{5940675A-B579-460E-94D1-54222C63F5DA}</a:tableStyleId>
              </a:tblPr>
              <a:tblGrid>
                <a:gridCol w="2304288">
                  <a:extLst>
                    <a:ext uri="{9D8B030D-6E8A-4147-A177-3AD203B41FA5}">
                      <a16:colId xmlns:a16="http://schemas.microsoft.com/office/drawing/2014/main" val="709030840"/>
                    </a:ext>
                  </a:extLst>
                </a:gridCol>
                <a:gridCol w="2304288">
                  <a:extLst>
                    <a:ext uri="{9D8B030D-6E8A-4147-A177-3AD203B41FA5}">
                      <a16:colId xmlns:a16="http://schemas.microsoft.com/office/drawing/2014/main" val="3681655293"/>
                    </a:ext>
                  </a:extLst>
                </a:gridCol>
                <a:gridCol w="2304288">
                  <a:extLst>
                    <a:ext uri="{9D8B030D-6E8A-4147-A177-3AD203B41FA5}">
                      <a16:colId xmlns:a16="http://schemas.microsoft.com/office/drawing/2014/main" val="4121556772"/>
                    </a:ext>
                  </a:extLst>
                </a:gridCol>
                <a:gridCol w="2304288">
                  <a:extLst>
                    <a:ext uri="{9D8B030D-6E8A-4147-A177-3AD203B41FA5}">
                      <a16:colId xmlns:a16="http://schemas.microsoft.com/office/drawing/2014/main" val="705841786"/>
                    </a:ext>
                  </a:extLst>
                </a:gridCol>
                <a:gridCol w="2304288">
                  <a:extLst>
                    <a:ext uri="{9D8B030D-6E8A-4147-A177-3AD203B41FA5}">
                      <a16:colId xmlns:a16="http://schemas.microsoft.com/office/drawing/2014/main" val="2179451184"/>
                    </a:ext>
                  </a:extLst>
                </a:gridCol>
              </a:tblGrid>
              <a:tr h="1605280">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657547995"/>
                  </a:ext>
                </a:extLst>
              </a:tr>
              <a:tr h="1605280">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3627293696"/>
                  </a:ext>
                </a:extLst>
              </a:tr>
              <a:tr h="1605280">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tc>
                  <a:txBody>
                    <a:bodyPr/>
                    <a:lstStyle/>
                    <a:p>
                      <a:endParaRPr lang="en-GB"/>
                    </a:p>
                  </a:txBody>
                  <a:tcPr/>
                </a:tc>
                <a:extLst>
                  <a:ext uri="{0D108BD9-81ED-4DB2-BD59-A6C34878D82A}">
                    <a16:rowId xmlns:a16="http://schemas.microsoft.com/office/drawing/2014/main" val="1553428929"/>
                  </a:ext>
                </a:extLst>
              </a:tr>
            </a:tbl>
          </a:graphicData>
        </a:graphic>
      </p:graphicFrame>
      <p:pic>
        <p:nvPicPr>
          <p:cNvPr id="4" name="Picture 3">
            <a:extLst>
              <a:ext uri="{FF2B5EF4-FFF2-40B4-BE49-F238E27FC236}">
                <a16:creationId xmlns:a16="http://schemas.microsoft.com/office/drawing/2014/main" id="{B55FF0BE-2921-831A-E5A0-FBCA62B0DF15}"/>
              </a:ext>
            </a:extLst>
          </p:cNvPr>
          <p:cNvPicPr>
            <a:picLocks noChangeAspect="1"/>
          </p:cNvPicPr>
          <p:nvPr/>
        </p:nvPicPr>
        <p:blipFill>
          <a:blip r:embed="rId3"/>
          <a:stretch>
            <a:fillRect/>
          </a:stretch>
        </p:blipFill>
        <p:spPr>
          <a:xfrm>
            <a:off x="3403351" y="409010"/>
            <a:ext cx="944705" cy="944705"/>
          </a:xfrm>
          <a:prstGeom prst="rect">
            <a:avLst/>
          </a:prstGeom>
        </p:spPr>
      </p:pic>
      <p:pic>
        <p:nvPicPr>
          <p:cNvPr id="5" name="Picture 4">
            <a:extLst>
              <a:ext uri="{FF2B5EF4-FFF2-40B4-BE49-F238E27FC236}">
                <a16:creationId xmlns:a16="http://schemas.microsoft.com/office/drawing/2014/main" id="{B4ABCD95-01D6-03A0-6C57-C09F4E6728C2}"/>
              </a:ext>
            </a:extLst>
          </p:cNvPr>
          <p:cNvPicPr>
            <a:picLocks noChangeAspect="1"/>
          </p:cNvPicPr>
          <p:nvPr/>
        </p:nvPicPr>
        <p:blipFill>
          <a:blip r:embed="rId4"/>
          <a:stretch>
            <a:fillRect/>
          </a:stretch>
        </p:blipFill>
        <p:spPr>
          <a:xfrm>
            <a:off x="5567862" y="415790"/>
            <a:ext cx="1048710" cy="944705"/>
          </a:xfrm>
          <a:prstGeom prst="rect">
            <a:avLst/>
          </a:prstGeom>
        </p:spPr>
      </p:pic>
      <p:pic>
        <p:nvPicPr>
          <p:cNvPr id="6" name="Picture 5">
            <a:extLst>
              <a:ext uri="{FF2B5EF4-FFF2-40B4-BE49-F238E27FC236}">
                <a16:creationId xmlns:a16="http://schemas.microsoft.com/office/drawing/2014/main" id="{2614CABE-DF30-7765-1B60-10698210EF8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1564" y="297610"/>
            <a:ext cx="1415740" cy="1092480"/>
          </a:xfrm>
          <a:prstGeom prst="rect">
            <a:avLst/>
          </a:prstGeom>
        </p:spPr>
      </p:pic>
      <p:sp>
        <p:nvSpPr>
          <p:cNvPr id="8" name="TextBox 7">
            <a:extLst>
              <a:ext uri="{FF2B5EF4-FFF2-40B4-BE49-F238E27FC236}">
                <a16:creationId xmlns:a16="http://schemas.microsoft.com/office/drawing/2014/main" id="{6EE1E2C2-54B7-FAFD-B2BD-ACF41D906391}"/>
              </a:ext>
            </a:extLst>
          </p:cNvPr>
          <p:cNvSpPr txBox="1"/>
          <p:nvPr/>
        </p:nvSpPr>
        <p:spPr>
          <a:xfrm>
            <a:off x="335280" y="1403317"/>
            <a:ext cx="2285999" cy="392413"/>
          </a:xfrm>
          <a:prstGeom prst="rect">
            <a:avLst/>
          </a:prstGeom>
          <a:noFill/>
        </p:spPr>
        <p:txBody>
          <a:bodyPr wrap="square" rtlCol="0">
            <a:spAutoFit/>
          </a:bodyPr>
          <a:lstStyle/>
          <a:p>
            <a:pPr algn="ctr"/>
            <a:r>
              <a:rPr lang="en-GB" sz="1950" b="1">
                <a:latin typeface="Sassoon Primary Rg" panose="02000606020000020004" pitchFamily="2" charset="0"/>
              </a:rPr>
              <a:t>Being a historian</a:t>
            </a:r>
          </a:p>
        </p:txBody>
      </p:sp>
      <p:sp>
        <p:nvSpPr>
          <p:cNvPr id="9" name="TextBox 8">
            <a:extLst>
              <a:ext uri="{FF2B5EF4-FFF2-40B4-BE49-F238E27FC236}">
                <a16:creationId xmlns:a16="http://schemas.microsoft.com/office/drawing/2014/main" id="{8F54FCE4-F5EF-D2E8-1979-3F79B5068538}"/>
              </a:ext>
            </a:extLst>
          </p:cNvPr>
          <p:cNvSpPr txBox="1"/>
          <p:nvPr/>
        </p:nvSpPr>
        <p:spPr>
          <a:xfrm>
            <a:off x="2659333" y="1403315"/>
            <a:ext cx="2285999" cy="392413"/>
          </a:xfrm>
          <a:prstGeom prst="rect">
            <a:avLst/>
          </a:prstGeom>
          <a:noFill/>
        </p:spPr>
        <p:txBody>
          <a:bodyPr wrap="square" rtlCol="0">
            <a:spAutoFit/>
          </a:bodyPr>
          <a:lstStyle/>
          <a:p>
            <a:pPr algn="ctr"/>
            <a:r>
              <a:rPr lang="en-GB" sz="1950" b="1">
                <a:latin typeface="Sassoon Primary Rg" panose="02000606020000020004" pitchFamily="2" charset="0"/>
              </a:rPr>
              <a:t>Being an artist</a:t>
            </a:r>
          </a:p>
        </p:txBody>
      </p:sp>
      <p:sp>
        <p:nvSpPr>
          <p:cNvPr id="10" name="TextBox 9">
            <a:extLst>
              <a:ext uri="{FF2B5EF4-FFF2-40B4-BE49-F238E27FC236}">
                <a16:creationId xmlns:a16="http://schemas.microsoft.com/office/drawing/2014/main" id="{C562209E-4A8D-DD24-4373-00B0810E31BC}"/>
              </a:ext>
            </a:extLst>
          </p:cNvPr>
          <p:cNvSpPr txBox="1"/>
          <p:nvPr/>
        </p:nvSpPr>
        <p:spPr>
          <a:xfrm>
            <a:off x="4916323" y="1417180"/>
            <a:ext cx="2285999" cy="389945"/>
          </a:xfrm>
          <a:prstGeom prst="rect">
            <a:avLst/>
          </a:prstGeom>
          <a:noFill/>
        </p:spPr>
        <p:txBody>
          <a:bodyPr wrap="square" rtlCol="0">
            <a:spAutoFit/>
          </a:bodyPr>
          <a:lstStyle/>
          <a:p>
            <a:pPr algn="ctr"/>
            <a:r>
              <a:rPr lang="en-GB" sz="1950" b="1">
                <a:latin typeface="Sassoon Primary Rg" panose="02000606020000020004" pitchFamily="2" charset="0"/>
              </a:rPr>
              <a:t>Being an athlete</a:t>
            </a:r>
          </a:p>
        </p:txBody>
      </p:sp>
      <p:pic>
        <p:nvPicPr>
          <p:cNvPr id="14" name="Picture 13">
            <a:extLst>
              <a:ext uri="{FF2B5EF4-FFF2-40B4-BE49-F238E27FC236}">
                <a16:creationId xmlns:a16="http://schemas.microsoft.com/office/drawing/2014/main" id="{0F213D17-7C1B-A762-26A7-EF2310406DC4}"/>
              </a:ext>
            </a:extLst>
          </p:cNvPr>
          <p:cNvPicPr>
            <a:picLocks noChangeAspect="1"/>
          </p:cNvPicPr>
          <p:nvPr/>
        </p:nvPicPr>
        <p:blipFill>
          <a:blip r:embed="rId6"/>
          <a:stretch>
            <a:fillRect/>
          </a:stretch>
        </p:blipFill>
        <p:spPr>
          <a:xfrm>
            <a:off x="8071057" y="465913"/>
            <a:ext cx="868476" cy="830898"/>
          </a:xfrm>
          <a:prstGeom prst="rect">
            <a:avLst/>
          </a:prstGeom>
        </p:spPr>
      </p:pic>
      <p:sp>
        <p:nvSpPr>
          <p:cNvPr id="15" name="TextBox 14">
            <a:extLst>
              <a:ext uri="{FF2B5EF4-FFF2-40B4-BE49-F238E27FC236}">
                <a16:creationId xmlns:a16="http://schemas.microsoft.com/office/drawing/2014/main" id="{F8FDF6AD-6005-8488-BAF2-AA57A49F76E6}"/>
              </a:ext>
            </a:extLst>
          </p:cNvPr>
          <p:cNvSpPr txBox="1"/>
          <p:nvPr/>
        </p:nvSpPr>
        <p:spPr>
          <a:xfrm>
            <a:off x="7240376" y="1431045"/>
            <a:ext cx="2285998" cy="389945"/>
          </a:xfrm>
          <a:prstGeom prst="rect">
            <a:avLst/>
          </a:prstGeom>
          <a:noFill/>
        </p:spPr>
        <p:txBody>
          <a:bodyPr wrap="square" rtlCol="0">
            <a:spAutoFit/>
          </a:bodyPr>
          <a:lstStyle/>
          <a:p>
            <a:pPr algn="ctr"/>
            <a:r>
              <a:rPr lang="en-GB" sz="1950" b="1">
                <a:latin typeface="Sassoon Primary Rg" panose="02000606020000020004" pitchFamily="2" charset="0"/>
              </a:rPr>
              <a:t>Being a writer</a:t>
            </a:r>
          </a:p>
        </p:txBody>
      </p:sp>
      <p:pic>
        <p:nvPicPr>
          <p:cNvPr id="16" name="Picture 15">
            <a:extLst>
              <a:ext uri="{FF2B5EF4-FFF2-40B4-BE49-F238E27FC236}">
                <a16:creationId xmlns:a16="http://schemas.microsoft.com/office/drawing/2014/main" id="{51E81D53-A6D1-67EB-567C-590E11C65AC4}"/>
              </a:ext>
            </a:extLst>
          </p:cNvPr>
          <p:cNvPicPr>
            <a:picLocks noChangeAspect="1"/>
          </p:cNvPicPr>
          <p:nvPr/>
        </p:nvPicPr>
        <p:blipFill>
          <a:blip r:embed="rId7"/>
          <a:stretch>
            <a:fillRect/>
          </a:stretch>
        </p:blipFill>
        <p:spPr>
          <a:xfrm>
            <a:off x="10105757" y="385555"/>
            <a:ext cx="1111149" cy="1045490"/>
          </a:xfrm>
          <a:prstGeom prst="rect">
            <a:avLst/>
          </a:prstGeom>
        </p:spPr>
      </p:pic>
      <p:sp>
        <p:nvSpPr>
          <p:cNvPr id="17" name="TextBox 16">
            <a:extLst>
              <a:ext uri="{FF2B5EF4-FFF2-40B4-BE49-F238E27FC236}">
                <a16:creationId xmlns:a16="http://schemas.microsoft.com/office/drawing/2014/main" id="{9ABB87DC-4402-B1AF-7357-9C055418AC52}"/>
              </a:ext>
            </a:extLst>
          </p:cNvPr>
          <p:cNvSpPr txBox="1"/>
          <p:nvPr/>
        </p:nvSpPr>
        <p:spPr>
          <a:xfrm>
            <a:off x="9564428" y="1436905"/>
            <a:ext cx="2285998" cy="392415"/>
          </a:xfrm>
          <a:prstGeom prst="rect">
            <a:avLst/>
          </a:prstGeom>
          <a:noFill/>
        </p:spPr>
        <p:txBody>
          <a:bodyPr wrap="square" rtlCol="0">
            <a:spAutoFit/>
          </a:bodyPr>
          <a:lstStyle/>
          <a:p>
            <a:pPr algn="ctr"/>
            <a:r>
              <a:rPr lang="en-GB" sz="1950" b="1">
                <a:latin typeface="Sassoon Primary Rg" panose="02000606020000020004" pitchFamily="2" charset="0"/>
              </a:rPr>
              <a:t>Being an engineer</a:t>
            </a:r>
          </a:p>
        </p:txBody>
      </p:sp>
      <p:pic>
        <p:nvPicPr>
          <p:cNvPr id="19" name="Picture 18">
            <a:extLst>
              <a:ext uri="{FF2B5EF4-FFF2-40B4-BE49-F238E27FC236}">
                <a16:creationId xmlns:a16="http://schemas.microsoft.com/office/drawing/2014/main" id="{94282FD0-8B46-8D61-B0AE-0E5CD8237E16}"/>
              </a:ext>
            </a:extLst>
          </p:cNvPr>
          <p:cNvPicPr>
            <a:picLocks noChangeAspect="1"/>
          </p:cNvPicPr>
          <p:nvPr/>
        </p:nvPicPr>
        <p:blipFill>
          <a:blip r:embed="rId8"/>
          <a:stretch>
            <a:fillRect/>
          </a:stretch>
        </p:blipFill>
        <p:spPr>
          <a:xfrm>
            <a:off x="971658" y="2048393"/>
            <a:ext cx="961708" cy="961708"/>
          </a:xfrm>
          <a:prstGeom prst="rect">
            <a:avLst/>
          </a:prstGeom>
        </p:spPr>
      </p:pic>
      <p:sp>
        <p:nvSpPr>
          <p:cNvPr id="20" name="TextBox 19">
            <a:extLst>
              <a:ext uri="{FF2B5EF4-FFF2-40B4-BE49-F238E27FC236}">
                <a16:creationId xmlns:a16="http://schemas.microsoft.com/office/drawing/2014/main" id="{A7EAB2A5-3C9E-84E9-FAD0-A553E53F3303}"/>
              </a:ext>
            </a:extLst>
          </p:cNvPr>
          <p:cNvSpPr txBox="1"/>
          <p:nvPr/>
        </p:nvSpPr>
        <p:spPr>
          <a:xfrm>
            <a:off x="335278" y="3036587"/>
            <a:ext cx="2286001" cy="392413"/>
          </a:xfrm>
          <a:prstGeom prst="rect">
            <a:avLst/>
          </a:prstGeom>
          <a:noFill/>
        </p:spPr>
        <p:txBody>
          <a:bodyPr wrap="square" rtlCol="0">
            <a:spAutoFit/>
          </a:bodyPr>
          <a:lstStyle/>
          <a:p>
            <a:pPr algn="ctr"/>
            <a:r>
              <a:rPr lang="en-GB" sz="1950" b="1">
                <a:latin typeface="Sassoon Primary Rg" panose="02000606020000020004" pitchFamily="2" charset="0"/>
              </a:rPr>
              <a:t>Being a geographer</a:t>
            </a:r>
          </a:p>
        </p:txBody>
      </p:sp>
      <p:sp>
        <p:nvSpPr>
          <p:cNvPr id="21" name="TextBox 20">
            <a:extLst>
              <a:ext uri="{FF2B5EF4-FFF2-40B4-BE49-F238E27FC236}">
                <a16:creationId xmlns:a16="http://schemas.microsoft.com/office/drawing/2014/main" id="{E1AE83F5-AE51-6699-6F5E-3DA305E64AE5}"/>
              </a:ext>
            </a:extLst>
          </p:cNvPr>
          <p:cNvSpPr txBox="1"/>
          <p:nvPr/>
        </p:nvSpPr>
        <p:spPr>
          <a:xfrm>
            <a:off x="2651759" y="3036586"/>
            <a:ext cx="2286001" cy="369332"/>
          </a:xfrm>
          <a:prstGeom prst="rect">
            <a:avLst/>
          </a:prstGeom>
          <a:noFill/>
        </p:spPr>
        <p:txBody>
          <a:bodyPr wrap="square" rtlCol="0">
            <a:spAutoFit/>
          </a:bodyPr>
          <a:lstStyle/>
          <a:p>
            <a:pPr algn="ctr"/>
            <a:r>
              <a:rPr lang="en-GB" b="1">
                <a:latin typeface="Sassoon Primary Rg" panose="02000606020000020004" pitchFamily="2" charset="0"/>
              </a:rPr>
              <a:t>Being a mathematician</a:t>
            </a:r>
          </a:p>
        </p:txBody>
      </p:sp>
      <p:sp>
        <p:nvSpPr>
          <p:cNvPr id="22" name="TextBox 21">
            <a:extLst>
              <a:ext uri="{FF2B5EF4-FFF2-40B4-BE49-F238E27FC236}">
                <a16:creationId xmlns:a16="http://schemas.microsoft.com/office/drawing/2014/main" id="{AE8FEE89-8802-6E26-E7C7-01D3FDEF67BC}"/>
              </a:ext>
            </a:extLst>
          </p:cNvPr>
          <p:cNvSpPr txBox="1"/>
          <p:nvPr/>
        </p:nvSpPr>
        <p:spPr>
          <a:xfrm>
            <a:off x="4954375" y="3062813"/>
            <a:ext cx="2286001" cy="392413"/>
          </a:xfrm>
          <a:prstGeom prst="rect">
            <a:avLst/>
          </a:prstGeom>
          <a:noFill/>
        </p:spPr>
        <p:txBody>
          <a:bodyPr wrap="square" rtlCol="0">
            <a:spAutoFit/>
          </a:bodyPr>
          <a:lstStyle/>
          <a:p>
            <a:pPr algn="ctr"/>
            <a:r>
              <a:rPr lang="en-GB" sz="1950" b="1">
                <a:latin typeface="Sassoon Primary Rg" panose="02000606020000020004" pitchFamily="2" charset="0"/>
              </a:rPr>
              <a:t>Being a musician</a:t>
            </a:r>
          </a:p>
        </p:txBody>
      </p:sp>
      <p:sp>
        <p:nvSpPr>
          <p:cNvPr id="24" name="TextBox 23">
            <a:extLst>
              <a:ext uri="{FF2B5EF4-FFF2-40B4-BE49-F238E27FC236}">
                <a16:creationId xmlns:a16="http://schemas.microsoft.com/office/drawing/2014/main" id="{A16946F9-EBC7-DFE1-B9AC-3F6A07236BFD}"/>
              </a:ext>
            </a:extLst>
          </p:cNvPr>
          <p:cNvSpPr txBox="1"/>
          <p:nvPr/>
        </p:nvSpPr>
        <p:spPr>
          <a:xfrm>
            <a:off x="9540241" y="3071143"/>
            <a:ext cx="2286001" cy="392413"/>
          </a:xfrm>
          <a:prstGeom prst="rect">
            <a:avLst/>
          </a:prstGeom>
          <a:noFill/>
        </p:spPr>
        <p:txBody>
          <a:bodyPr wrap="square" rtlCol="0">
            <a:spAutoFit/>
          </a:bodyPr>
          <a:lstStyle/>
          <a:p>
            <a:pPr algn="ctr"/>
            <a:r>
              <a:rPr lang="en-GB" sz="1950" b="1">
                <a:latin typeface="Sassoon Primary Rg" panose="02000606020000020004" pitchFamily="2" charset="0"/>
              </a:rPr>
              <a:t>Being a scientist</a:t>
            </a:r>
          </a:p>
        </p:txBody>
      </p:sp>
      <p:pic>
        <p:nvPicPr>
          <p:cNvPr id="27" name="Picture 26" descr="A black background with graphics and symbols&#10;&#10;Description automatically generated">
            <a:extLst>
              <a:ext uri="{FF2B5EF4-FFF2-40B4-BE49-F238E27FC236}">
                <a16:creationId xmlns:a16="http://schemas.microsoft.com/office/drawing/2014/main" id="{2B211C41-3FB4-5220-E21D-DB693BFD21D9}"/>
              </a:ext>
            </a:extLst>
          </p:cNvPr>
          <p:cNvPicPr>
            <a:picLocks noChangeAspect="1"/>
          </p:cNvPicPr>
          <p:nvPr/>
        </p:nvPicPr>
        <p:blipFill>
          <a:blip r:embed="rId9"/>
          <a:stretch>
            <a:fillRect/>
          </a:stretch>
        </p:blipFill>
        <p:spPr>
          <a:xfrm>
            <a:off x="3241543" y="2012016"/>
            <a:ext cx="1106431" cy="961708"/>
          </a:xfrm>
          <a:prstGeom prst="rect">
            <a:avLst/>
          </a:prstGeom>
        </p:spPr>
      </p:pic>
      <p:pic>
        <p:nvPicPr>
          <p:cNvPr id="29" name="Picture 28">
            <a:extLst>
              <a:ext uri="{FF2B5EF4-FFF2-40B4-BE49-F238E27FC236}">
                <a16:creationId xmlns:a16="http://schemas.microsoft.com/office/drawing/2014/main" id="{C56149D5-1E89-FF08-E7A3-5FA100D4B792}"/>
              </a:ext>
            </a:extLst>
          </p:cNvPr>
          <p:cNvPicPr>
            <a:picLocks noChangeAspect="1"/>
          </p:cNvPicPr>
          <p:nvPr/>
        </p:nvPicPr>
        <p:blipFill>
          <a:blip r:embed="rId10"/>
          <a:stretch>
            <a:fillRect/>
          </a:stretch>
        </p:blipFill>
        <p:spPr>
          <a:xfrm>
            <a:off x="5539001" y="2012016"/>
            <a:ext cx="1106431" cy="1000598"/>
          </a:xfrm>
          <a:prstGeom prst="rect">
            <a:avLst/>
          </a:prstGeom>
        </p:spPr>
      </p:pic>
      <p:pic>
        <p:nvPicPr>
          <p:cNvPr id="31" name="Picture 30">
            <a:extLst>
              <a:ext uri="{FF2B5EF4-FFF2-40B4-BE49-F238E27FC236}">
                <a16:creationId xmlns:a16="http://schemas.microsoft.com/office/drawing/2014/main" id="{346CFD0A-7DFA-54B3-4DD8-772A4B52BF6A}"/>
              </a:ext>
            </a:extLst>
          </p:cNvPr>
          <p:cNvPicPr>
            <a:picLocks noChangeAspect="1"/>
          </p:cNvPicPr>
          <p:nvPr/>
        </p:nvPicPr>
        <p:blipFill>
          <a:blip r:embed="rId11"/>
          <a:stretch>
            <a:fillRect/>
          </a:stretch>
        </p:blipFill>
        <p:spPr>
          <a:xfrm>
            <a:off x="10046968" y="2057601"/>
            <a:ext cx="1228725" cy="952500"/>
          </a:xfrm>
          <a:prstGeom prst="rect">
            <a:avLst/>
          </a:prstGeom>
        </p:spPr>
      </p:pic>
      <p:pic>
        <p:nvPicPr>
          <p:cNvPr id="32" name="Picture 31" descr="A picture containing shape&#10;&#10;Description automatically generated">
            <a:extLst>
              <a:ext uri="{FF2B5EF4-FFF2-40B4-BE49-F238E27FC236}">
                <a16:creationId xmlns:a16="http://schemas.microsoft.com/office/drawing/2014/main" id="{2609782D-EEAE-58E1-C14B-43BD954EF789}"/>
              </a:ext>
            </a:extLst>
          </p:cNvPr>
          <p:cNvPicPr>
            <a:picLocks noChangeAspect="1"/>
          </p:cNvPicPr>
          <p:nvPr/>
        </p:nvPicPr>
        <p:blipFill rotWithShape="1">
          <a:blip r:embed="rId12" cstate="screen">
            <a:extLst>
              <a:ext uri="{28A0092B-C50C-407E-A947-70E740481C1C}">
                <a14:useLocalDpi xmlns:a14="http://schemas.microsoft.com/office/drawing/2010/main" val="0"/>
              </a:ext>
            </a:extLst>
          </a:blip>
          <a:srcRect/>
          <a:stretch/>
        </p:blipFill>
        <p:spPr>
          <a:xfrm>
            <a:off x="878685" y="3582988"/>
            <a:ext cx="1147653" cy="1159058"/>
          </a:xfrm>
          <a:prstGeom prst="rect">
            <a:avLst/>
          </a:prstGeom>
        </p:spPr>
      </p:pic>
      <p:sp>
        <p:nvSpPr>
          <p:cNvPr id="33" name="TextBox 32">
            <a:extLst>
              <a:ext uri="{FF2B5EF4-FFF2-40B4-BE49-F238E27FC236}">
                <a16:creationId xmlns:a16="http://schemas.microsoft.com/office/drawing/2014/main" id="{47D43D76-17A3-4807-EDA2-6EF551E289DD}"/>
              </a:ext>
            </a:extLst>
          </p:cNvPr>
          <p:cNvSpPr txBox="1"/>
          <p:nvPr/>
        </p:nvSpPr>
        <p:spPr>
          <a:xfrm>
            <a:off x="335278" y="4691916"/>
            <a:ext cx="2286001" cy="392413"/>
          </a:xfrm>
          <a:prstGeom prst="rect">
            <a:avLst/>
          </a:prstGeom>
          <a:noFill/>
        </p:spPr>
        <p:txBody>
          <a:bodyPr wrap="square" rtlCol="0">
            <a:spAutoFit/>
          </a:bodyPr>
          <a:lstStyle/>
          <a:p>
            <a:pPr algn="ctr"/>
            <a:r>
              <a:rPr lang="en-GB" sz="1950" b="1">
                <a:latin typeface="Sassoon Primary Rg" panose="02000606020000020004" pitchFamily="2" charset="0"/>
              </a:rPr>
              <a:t>Being a citizen</a:t>
            </a:r>
          </a:p>
        </p:txBody>
      </p:sp>
      <p:sp>
        <p:nvSpPr>
          <p:cNvPr id="37" name="TextBox 36">
            <a:extLst>
              <a:ext uri="{FF2B5EF4-FFF2-40B4-BE49-F238E27FC236}">
                <a16:creationId xmlns:a16="http://schemas.microsoft.com/office/drawing/2014/main" id="{F19D7D66-5174-49FD-D0DD-A852DDD9811D}"/>
              </a:ext>
            </a:extLst>
          </p:cNvPr>
          <p:cNvSpPr txBox="1"/>
          <p:nvPr/>
        </p:nvSpPr>
        <p:spPr>
          <a:xfrm>
            <a:off x="7202322" y="3083693"/>
            <a:ext cx="2286001" cy="392413"/>
          </a:xfrm>
          <a:prstGeom prst="rect">
            <a:avLst/>
          </a:prstGeom>
          <a:noFill/>
        </p:spPr>
        <p:txBody>
          <a:bodyPr wrap="square" rtlCol="0">
            <a:spAutoFit/>
          </a:bodyPr>
          <a:lstStyle/>
          <a:p>
            <a:pPr algn="ctr"/>
            <a:r>
              <a:rPr lang="en-GB" sz="1950" b="1">
                <a:latin typeface="Sassoon Primary Rg" panose="02000606020000020004" pitchFamily="2" charset="0"/>
              </a:rPr>
              <a:t>Being a reader</a:t>
            </a:r>
          </a:p>
        </p:txBody>
      </p:sp>
      <p:pic>
        <p:nvPicPr>
          <p:cNvPr id="11" name="Picture 8" descr="Reading Icon 2954745">
            <a:extLst>
              <a:ext uri="{FF2B5EF4-FFF2-40B4-BE49-F238E27FC236}">
                <a16:creationId xmlns:a16="http://schemas.microsoft.com/office/drawing/2014/main" id="{1FB7E6A2-C49F-AE0D-696C-D177706EDC4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961005" y="2132590"/>
            <a:ext cx="952500" cy="952500"/>
          </a:xfrm>
          <a:prstGeom prst="rect">
            <a:avLst/>
          </a:prstGeom>
          <a:noFill/>
          <a:extLst>
            <a:ext uri="{909E8E84-426E-40DD-AFC4-6F175D3DCCD1}">
              <a14:hiddenFill xmlns:a14="http://schemas.microsoft.com/office/drawing/2010/main">
                <a:solidFill>
                  <a:srgbClr val="FFFFFF"/>
                </a:solidFill>
              </a14:hiddenFill>
            </a:ext>
          </a:extLst>
        </p:spPr>
      </p:pic>
      <p:pic>
        <p:nvPicPr>
          <p:cNvPr id="13" name="Graphic 12" descr="Lights On with solid fill">
            <a:extLst>
              <a:ext uri="{FF2B5EF4-FFF2-40B4-BE49-F238E27FC236}">
                <a16:creationId xmlns:a16="http://schemas.microsoft.com/office/drawing/2014/main" id="{2D9036FF-3311-3400-6D41-2D94715BBDA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625840" y="1955225"/>
            <a:ext cx="390762" cy="390762"/>
          </a:xfrm>
          <a:prstGeom prst="rect">
            <a:avLst/>
          </a:prstGeom>
        </p:spPr>
      </p:pic>
      <p:pic>
        <p:nvPicPr>
          <p:cNvPr id="2" name="Picture 1">
            <a:extLst>
              <a:ext uri="{FF2B5EF4-FFF2-40B4-BE49-F238E27FC236}">
                <a16:creationId xmlns:a16="http://schemas.microsoft.com/office/drawing/2014/main" id="{62F2EA69-D9F3-8E1F-1AB1-ABCC799B075E}"/>
              </a:ext>
            </a:extLst>
          </p:cNvPr>
          <p:cNvPicPr>
            <a:picLocks noChangeAspect="1"/>
          </p:cNvPicPr>
          <p:nvPr/>
        </p:nvPicPr>
        <p:blipFill>
          <a:blip r:embed="rId6"/>
          <a:stretch>
            <a:fillRect/>
          </a:stretch>
        </p:blipFill>
        <p:spPr>
          <a:xfrm>
            <a:off x="8071057" y="474243"/>
            <a:ext cx="868476" cy="830898"/>
          </a:xfrm>
          <a:prstGeom prst="rect">
            <a:avLst/>
          </a:prstGeom>
        </p:spPr>
      </p:pic>
      <p:sp>
        <p:nvSpPr>
          <p:cNvPr id="3" name="TextBox 2">
            <a:extLst>
              <a:ext uri="{FF2B5EF4-FFF2-40B4-BE49-F238E27FC236}">
                <a16:creationId xmlns:a16="http://schemas.microsoft.com/office/drawing/2014/main" id="{7CFB4866-A566-B03A-B267-5DC73E7A4244}"/>
              </a:ext>
            </a:extLst>
          </p:cNvPr>
          <p:cNvSpPr txBox="1"/>
          <p:nvPr/>
        </p:nvSpPr>
        <p:spPr>
          <a:xfrm>
            <a:off x="7240376" y="1439375"/>
            <a:ext cx="2285998" cy="389945"/>
          </a:xfrm>
          <a:prstGeom prst="rect">
            <a:avLst/>
          </a:prstGeom>
          <a:noFill/>
        </p:spPr>
        <p:txBody>
          <a:bodyPr wrap="square" rtlCol="0">
            <a:spAutoFit/>
          </a:bodyPr>
          <a:lstStyle/>
          <a:p>
            <a:pPr algn="ctr"/>
            <a:r>
              <a:rPr lang="en-GB" sz="1950" b="1">
                <a:latin typeface="Sassoon Primary Rg" panose="02000606020000020004" pitchFamily="2" charset="0"/>
              </a:rPr>
              <a:t>Being a writer</a:t>
            </a:r>
          </a:p>
        </p:txBody>
      </p:sp>
    </p:spTree>
    <p:extLst>
      <p:ext uri="{BB962C8B-B14F-4D97-AF65-F5344CB8AC3E}">
        <p14:creationId xmlns:p14="http://schemas.microsoft.com/office/powerpoint/2010/main" val="39667976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7291118-93E5-7487-0C5D-B028D320F265}"/>
            </a:ext>
          </a:extLst>
        </p:cNvPr>
        <p:cNvGrpSpPr/>
        <p:nvPr/>
      </p:nvGrpSpPr>
      <p:grpSpPr>
        <a:xfrm>
          <a:off x="0" y="0"/>
          <a:ext cx="0" cy="0"/>
          <a:chOff x="0" y="0"/>
          <a:chExt cx="0" cy="0"/>
        </a:xfrm>
      </p:grpSpPr>
      <p:sp>
        <p:nvSpPr>
          <p:cNvPr id="273" name="Freeform: Shape 272">
            <a:extLst>
              <a:ext uri="{FF2B5EF4-FFF2-40B4-BE49-F238E27FC236}">
                <a16:creationId xmlns:a16="http://schemas.microsoft.com/office/drawing/2014/main" id="{34D76479-EE9E-38A5-6A3C-BBC942D86C10}"/>
              </a:ext>
            </a:extLst>
          </p:cNvPr>
          <p:cNvSpPr/>
          <p:nvPr/>
        </p:nvSpPr>
        <p:spPr>
          <a:xfrm>
            <a:off x="6801640" y="168470"/>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6"/>
                  <a:pt x="131059" y="64883"/>
                </a:cubicBezTo>
                <a:cubicBezTo>
                  <a:pt x="131059" y="29049"/>
                  <a:pt x="101721" y="0"/>
                  <a:pt x="65530" y="0"/>
                </a:cubicBezTo>
                <a:cubicBezTo>
                  <a:pt x="29338" y="0"/>
                  <a:pt x="0" y="29049"/>
                  <a:pt x="0" y="64883"/>
                </a:cubicBezTo>
                <a:cubicBezTo>
                  <a:pt x="0" y="100716"/>
                  <a:pt x="29338" y="129765"/>
                  <a:pt x="65530" y="129765"/>
                </a:cubicBezTo>
                <a:close/>
                <a:moveTo>
                  <a:pt x="65530" y="43255"/>
                </a:moveTo>
                <a:cubicBezTo>
                  <a:pt x="77594" y="43255"/>
                  <a:pt x="87373" y="52938"/>
                  <a:pt x="87373" y="64883"/>
                </a:cubicBezTo>
                <a:cubicBezTo>
                  <a:pt x="87373" y="76827"/>
                  <a:pt x="77594" y="86510"/>
                  <a:pt x="65530" y="86510"/>
                </a:cubicBezTo>
                <a:cubicBezTo>
                  <a:pt x="53466" y="86510"/>
                  <a:pt x="43686" y="76827"/>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p>
        </p:txBody>
      </p:sp>
      <p:sp>
        <p:nvSpPr>
          <p:cNvPr id="284" name="Freeform: Shape 283">
            <a:extLst>
              <a:ext uri="{FF2B5EF4-FFF2-40B4-BE49-F238E27FC236}">
                <a16:creationId xmlns:a16="http://schemas.microsoft.com/office/drawing/2014/main" id="{EFCEF4A7-C58C-75EF-EF4C-769717FC73F2}"/>
              </a:ext>
            </a:extLst>
          </p:cNvPr>
          <p:cNvSpPr/>
          <p:nvPr/>
        </p:nvSpPr>
        <p:spPr>
          <a:xfrm>
            <a:off x="9467674" y="224090"/>
            <a:ext cx="233165" cy="341044"/>
          </a:xfrm>
          <a:custGeom>
            <a:avLst/>
            <a:gdLst>
              <a:gd name="connsiteX0" fmla="*/ 87373 w 174745"/>
              <a:gd name="connsiteY0" fmla="*/ 173021 h 173020"/>
              <a:gd name="connsiteX1" fmla="*/ 174745 w 174745"/>
              <a:gd name="connsiteY1" fmla="*/ 86510 h 173020"/>
              <a:gd name="connsiteX2" fmla="*/ 87373 w 174745"/>
              <a:gd name="connsiteY2" fmla="*/ 0 h 173020"/>
              <a:gd name="connsiteX3" fmla="*/ 0 w 174745"/>
              <a:gd name="connsiteY3" fmla="*/ 86510 h 173020"/>
              <a:gd name="connsiteX4" fmla="*/ 87373 w 174745"/>
              <a:gd name="connsiteY4" fmla="*/ 173021 h 173020"/>
              <a:gd name="connsiteX5" fmla="*/ 87373 w 174745"/>
              <a:gd name="connsiteY5" fmla="*/ 43255 h 173020"/>
              <a:gd name="connsiteX6" fmla="*/ 131059 w 174745"/>
              <a:gd name="connsiteY6" fmla="*/ 86510 h 173020"/>
              <a:gd name="connsiteX7" fmla="*/ 87373 w 174745"/>
              <a:gd name="connsiteY7" fmla="*/ 129765 h 173020"/>
              <a:gd name="connsiteX8" fmla="*/ 43686 w 174745"/>
              <a:gd name="connsiteY8" fmla="*/ 86510 h 173020"/>
              <a:gd name="connsiteX9" fmla="*/ 87373 w 174745"/>
              <a:gd name="connsiteY9" fmla="*/ 43255 h 173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4745" h="173020">
                <a:moveTo>
                  <a:pt x="87373" y="173021"/>
                </a:moveTo>
                <a:cubicBezTo>
                  <a:pt x="135626" y="173021"/>
                  <a:pt x="174745" y="134288"/>
                  <a:pt x="174745" y="86510"/>
                </a:cubicBezTo>
                <a:cubicBezTo>
                  <a:pt x="174745" y="38732"/>
                  <a:pt x="135626" y="0"/>
                  <a:pt x="87373" y="0"/>
                </a:cubicBezTo>
                <a:cubicBezTo>
                  <a:pt x="39119" y="0"/>
                  <a:pt x="0" y="38732"/>
                  <a:pt x="0" y="86510"/>
                </a:cubicBezTo>
                <a:cubicBezTo>
                  <a:pt x="0" y="134288"/>
                  <a:pt x="39119" y="173021"/>
                  <a:pt x="87373" y="173021"/>
                </a:cubicBezTo>
                <a:close/>
                <a:moveTo>
                  <a:pt x="87373" y="43255"/>
                </a:moveTo>
                <a:cubicBezTo>
                  <a:pt x="111501" y="43255"/>
                  <a:pt x="131059" y="62620"/>
                  <a:pt x="131059" y="86510"/>
                </a:cubicBezTo>
                <a:cubicBezTo>
                  <a:pt x="131059" y="110400"/>
                  <a:pt x="111501" y="129765"/>
                  <a:pt x="87373" y="129765"/>
                </a:cubicBezTo>
                <a:cubicBezTo>
                  <a:pt x="63245" y="129765"/>
                  <a:pt x="43686" y="110400"/>
                  <a:pt x="43686" y="86510"/>
                </a:cubicBezTo>
                <a:cubicBezTo>
                  <a:pt x="43686" y="62620"/>
                  <a:pt x="63245" y="43255"/>
                  <a:pt x="87373" y="43255"/>
                </a:cubicBezTo>
                <a:close/>
              </a:path>
            </a:pathLst>
          </a:custGeom>
          <a:solidFill>
            <a:srgbClr val="000000"/>
          </a:solidFill>
          <a:ln w="21828" cap="flat">
            <a:noFill/>
            <a:prstDash val="solid"/>
            <a:miter/>
          </a:ln>
        </p:spPr>
        <p:txBody>
          <a:bodyPr rtlCol="0" anchor="ctr"/>
          <a:lstStyle/>
          <a:p>
            <a:endParaRPr lang="en-GB"/>
          </a:p>
        </p:txBody>
      </p:sp>
      <p:sp>
        <p:nvSpPr>
          <p:cNvPr id="285" name="Freeform: Shape 284">
            <a:extLst>
              <a:ext uri="{FF2B5EF4-FFF2-40B4-BE49-F238E27FC236}">
                <a16:creationId xmlns:a16="http://schemas.microsoft.com/office/drawing/2014/main" id="{237A04A2-ED47-445C-AAF2-7FD276886170}"/>
              </a:ext>
            </a:extLst>
          </p:cNvPr>
          <p:cNvSpPr/>
          <p:nvPr/>
        </p:nvSpPr>
        <p:spPr>
          <a:xfrm>
            <a:off x="8109740" y="434950"/>
            <a:ext cx="349748" cy="511568"/>
          </a:xfrm>
          <a:custGeom>
            <a:avLst/>
            <a:gdLst>
              <a:gd name="connsiteX0" fmla="*/ 131059 w 262118"/>
              <a:gd name="connsiteY0" fmla="*/ 259531 h 259530"/>
              <a:gd name="connsiteX1" fmla="*/ 262118 w 262118"/>
              <a:gd name="connsiteY1" fmla="*/ 129765 h 259530"/>
              <a:gd name="connsiteX2" fmla="*/ 131059 w 262118"/>
              <a:gd name="connsiteY2" fmla="*/ 0 h 259530"/>
              <a:gd name="connsiteX3" fmla="*/ 0 w 262118"/>
              <a:gd name="connsiteY3" fmla="*/ 129765 h 259530"/>
              <a:gd name="connsiteX4" fmla="*/ 131059 w 262118"/>
              <a:gd name="connsiteY4" fmla="*/ 259531 h 259530"/>
              <a:gd name="connsiteX5" fmla="*/ 131059 w 262118"/>
              <a:gd name="connsiteY5" fmla="*/ 43255 h 259530"/>
              <a:gd name="connsiteX6" fmla="*/ 218432 w 262118"/>
              <a:gd name="connsiteY6" fmla="*/ 129765 h 259530"/>
              <a:gd name="connsiteX7" fmla="*/ 131059 w 262118"/>
              <a:gd name="connsiteY7" fmla="*/ 216276 h 259530"/>
              <a:gd name="connsiteX8" fmla="*/ 43686 w 262118"/>
              <a:gd name="connsiteY8" fmla="*/ 129765 h 259530"/>
              <a:gd name="connsiteX9" fmla="*/ 131059 w 262118"/>
              <a:gd name="connsiteY9" fmla="*/ 43255 h 259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2118" h="259530">
                <a:moveTo>
                  <a:pt x="131059" y="259531"/>
                </a:moveTo>
                <a:cubicBezTo>
                  <a:pt x="203441" y="259531"/>
                  <a:pt x="262118" y="201433"/>
                  <a:pt x="262118" y="129765"/>
                </a:cubicBezTo>
                <a:cubicBezTo>
                  <a:pt x="262118" y="58098"/>
                  <a:pt x="203441" y="0"/>
                  <a:pt x="131059" y="0"/>
                </a:cubicBezTo>
                <a:cubicBezTo>
                  <a:pt x="58677" y="0"/>
                  <a:pt x="0" y="58098"/>
                  <a:pt x="0" y="129765"/>
                </a:cubicBezTo>
                <a:cubicBezTo>
                  <a:pt x="85" y="201398"/>
                  <a:pt x="58712" y="259446"/>
                  <a:pt x="131059" y="259531"/>
                </a:cubicBezTo>
                <a:close/>
                <a:moveTo>
                  <a:pt x="131059" y="43255"/>
                </a:moveTo>
                <a:cubicBezTo>
                  <a:pt x="179313" y="43255"/>
                  <a:pt x="218432" y="81988"/>
                  <a:pt x="218432" y="129765"/>
                </a:cubicBezTo>
                <a:cubicBezTo>
                  <a:pt x="218432" y="177543"/>
                  <a:pt x="179313" y="216276"/>
                  <a:pt x="131059" y="216276"/>
                </a:cubicBezTo>
                <a:cubicBezTo>
                  <a:pt x="82805" y="216276"/>
                  <a:pt x="43686" y="177543"/>
                  <a:pt x="43686" y="129765"/>
                </a:cubicBezTo>
                <a:cubicBezTo>
                  <a:pt x="43686" y="81988"/>
                  <a:pt x="82805" y="43255"/>
                  <a:pt x="131059" y="43255"/>
                </a:cubicBezTo>
                <a:close/>
              </a:path>
            </a:pathLst>
          </a:custGeom>
          <a:solidFill>
            <a:srgbClr val="000000"/>
          </a:solidFill>
          <a:ln w="21828" cap="flat">
            <a:noFill/>
            <a:prstDash val="solid"/>
            <a:miter/>
          </a:ln>
        </p:spPr>
        <p:txBody>
          <a:bodyPr rtlCol="0" anchor="ctr"/>
          <a:lstStyle/>
          <a:p>
            <a:endParaRPr lang="en-GB"/>
          </a:p>
        </p:txBody>
      </p:sp>
      <p:sp>
        <p:nvSpPr>
          <p:cNvPr id="286" name="Freeform: Shape 285">
            <a:extLst>
              <a:ext uri="{FF2B5EF4-FFF2-40B4-BE49-F238E27FC236}">
                <a16:creationId xmlns:a16="http://schemas.microsoft.com/office/drawing/2014/main" id="{6E1BEB7A-5540-326B-0026-CDADDB025BD0}"/>
              </a:ext>
            </a:extLst>
          </p:cNvPr>
          <p:cNvSpPr/>
          <p:nvPr/>
        </p:nvSpPr>
        <p:spPr>
          <a:xfrm>
            <a:off x="7186402" y="549370"/>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7"/>
                  <a:pt x="131059" y="64883"/>
                </a:cubicBezTo>
                <a:cubicBezTo>
                  <a:pt x="131059" y="29048"/>
                  <a:pt x="101721" y="0"/>
                  <a:pt x="65530" y="0"/>
                </a:cubicBezTo>
                <a:cubicBezTo>
                  <a:pt x="29338" y="0"/>
                  <a:pt x="0" y="29048"/>
                  <a:pt x="0" y="64883"/>
                </a:cubicBezTo>
                <a:cubicBezTo>
                  <a:pt x="0" y="100717"/>
                  <a:pt x="29338" y="129765"/>
                  <a:pt x="65530" y="129765"/>
                </a:cubicBezTo>
                <a:close/>
                <a:moveTo>
                  <a:pt x="65530" y="43255"/>
                </a:moveTo>
                <a:cubicBezTo>
                  <a:pt x="77594" y="43255"/>
                  <a:pt x="87373" y="52938"/>
                  <a:pt x="87373" y="64883"/>
                </a:cubicBezTo>
                <a:cubicBezTo>
                  <a:pt x="87373" y="76828"/>
                  <a:pt x="77594" y="86510"/>
                  <a:pt x="65530" y="86510"/>
                </a:cubicBezTo>
                <a:cubicBezTo>
                  <a:pt x="53466" y="86510"/>
                  <a:pt x="43686" y="76828"/>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p>
        </p:txBody>
      </p:sp>
      <p:grpSp>
        <p:nvGrpSpPr>
          <p:cNvPr id="6" name="Group 5">
            <a:extLst>
              <a:ext uri="{FF2B5EF4-FFF2-40B4-BE49-F238E27FC236}">
                <a16:creationId xmlns:a16="http://schemas.microsoft.com/office/drawing/2014/main" id="{14E316A8-B46B-D574-6289-7C40BCC3C059}"/>
              </a:ext>
            </a:extLst>
          </p:cNvPr>
          <p:cNvGrpSpPr/>
          <p:nvPr/>
        </p:nvGrpSpPr>
        <p:grpSpPr>
          <a:xfrm>
            <a:off x="6417190" y="5097492"/>
            <a:ext cx="4969774" cy="661583"/>
            <a:chOff x="1999694" y="1717038"/>
            <a:chExt cx="1713901" cy="2885442"/>
          </a:xfrm>
        </p:grpSpPr>
        <p:sp>
          <p:nvSpPr>
            <p:cNvPr id="10" name="Rectangle: Rounded Corners 9">
              <a:extLst>
                <a:ext uri="{FF2B5EF4-FFF2-40B4-BE49-F238E27FC236}">
                  <a16:creationId xmlns:a16="http://schemas.microsoft.com/office/drawing/2014/main" id="{24A83FC5-2F96-0E5B-A5FF-A9E61F42A3B0}"/>
                </a:ext>
              </a:extLst>
            </p:cNvPr>
            <p:cNvSpPr/>
            <p:nvPr/>
          </p:nvSpPr>
          <p:spPr>
            <a:xfrm>
              <a:off x="1999694" y="1717038"/>
              <a:ext cx="1713901" cy="2885442"/>
            </a:xfrm>
            <a:prstGeom prst="roundRect">
              <a:avLst/>
            </a:prstGeom>
            <a:solidFill>
              <a:schemeClr val="accent6">
                <a:lumMod val="40000"/>
                <a:lumOff val="60000"/>
              </a:schemeClr>
            </a:solidFill>
            <a:ln>
              <a:solidFill>
                <a:schemeClr val="accent6">
                  <a:lumMod val="40000"/>
                  <a:lumOff val="6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1" name="Rectangle: Rounded Corners 4">
              <a:extLst>
                <a:ext uri="{FF2B5EF4-FFF2-40B4-BE49-F238E27FC236}">
                  <a16:creationId xmlns:a16="http://schemas.microsoft.com/office/drawing/2014/main" id="{A20B0B1A-F5F2-56C9-B32E-B6241B29A979}"/>
                </a:ext>
              </a:extLst>
            </p:cNvPr>
            <p:cNvSpPr txBox="1"/>
            <p:nvPr/>
          </p:nvSpPr>
          <p:spPr>
            <a:xfrm>
              <a:off x="2302269" y="1800703"/>
              <a:ext cx="1309138" cy="271811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lvl="0" defTabSz="1244600">
                <a:lnSpc>
                  <a:spcPct val="90000"/>
                </a:lnSpc>
                <a:spcBef>
                  <a:spcPct val="0"/>
                </a:spcBef>
                <a:spcAft>
                  <a:spcPct val="35000"/>
                </a:spcAft>
              </a:pPr>
              <a:r>
                <a:rPr lang="en-GB" sz="1600">
                  <a:solidFill>
                    <a:schemeClr val="tx1"/>
                  </a:solidFill>
                  <a:latin typeface="Sassoon Infant Rg" panose="02000503030000020003" pitchFamily="2" charset="0"/>
                  <a:ea typeface="Sassoon Infant Rg" panose="02000503030000020003" pitchFamily="2" charset="0"/>
                </a:rPr>
                <a:t>Living things and their habitats environment; The Human Body &amp; Systems</a:t>
              </a:r>
              <a:endParaRPr lang="en-GB" kern="1200">
                <a:solidFill>
                  <a:schemeClr val="tx1"/>
                </a:solidFill>
                <a:latin typeface="Sassoon Infant Rg" panose="02000503030000020003" pitchFamily="2" charset="0"/>
                <a:ea typeface="Sassoon Infant Rg" panose="02000503030000020003" pitchFamily="2" charset="0"/>
              </a:endParaRPr>
            </a:p>
          </p:txBody>
        </p:sp>
      </p:grpSp>
      <p:grpSp>
        <p:nvGrpSpPr>
          <p:cNvPr id="30" name="Group 29">
            <a:extLst>
              <a:ext uri="{FF2B5EF4-FFF2-40B4-BE49-F238E27FC236}">
                <a16:creationId xmlns:a16="http://schemas.microsoft.com/office/drawing/2014/main" id="{5B133C5C-38EE-AE8D-949B-3F2D2F1CD6C4}"/>
              </a:ext>
            </a:extLst>
          </p:cNvPr>
          <p:cNvGrpSpPr/>
          <p:nvPr/>
        </p:nvGrpSpPr>
        <p:grpSpPr>
          <a:xfrm>
            <a:off x="6532989" y="5035884"/>
            <a:ext cx="752715" cy="748493"/>
            <a:chOff x="4462145" y="450020"/>
            <a:chExt cx="801261" cy="903352"/>
          </a:xfrm>
        </p:grpSpPr>
        <p:pic>
          <p:nvPicPr>
            <p:cNvPr id="31" name="Picture 30">
              <a:extLst>
                <a:ext uri="{FF2B5EF4-FFF2-40B4-BE49-F238E27FC236}">
                  <a16:creationId xmlns:a16="http://schemas.microsoft.com/office/drawing/2014/main" id="{F10776FC-2A9B-1EB5-ACB9-A4399DAEE80B}"/>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32" name="TextBox 31">
              <a:extLst>
                <a:ext uri="{FF2B5EF4-FFF2-40B4-BE49-F238E27FC236}">
                  <a16:creationId xmlns:a16="http://schemas.microsoft.com/office/drawing/2014/main" id="{B4576314-5AF3-07EB-449A-5F09F903DFD1}"/>
                </a:ext>
              </a:extLst>
            </p:cNvPr>
            <p:cNvSpPr txBox="1"/>
            <p:nvPr/>
          </p:nvSpPr>
          <p:spPr>
            <a:xfrm>
              <a:off x="4704080" y="708024"/>
              <a:ext cx="375920" cy="502429"/>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2</a:t>
              </a:r>
            </a:p>
          </p:txBody>
        </p:sp>
      </p:grpSp>
      <p:grpSp>
        <p:nvGrpSpPr>
          <p:cNvPr id="12" name="Group 11">
            <a:extLst>
              <a:ext uri="{FF2B5EF4-FFF2-40B4-BE49-F238E27FC236}">
                <a16:creationId xmlns:a16="http://schemas.microsoft.com/office/drawing/2014/main" id="{FCBD5ADA-E56B-980F-3658-5760517FB88F}"/>
              </a:ext>
            </a:extLst>
          </p:cNvPr>
          <p:cNvGrpSpPr/>
          <p:nvPr/>
        </p:nvGrpSpPr>
        <p:grpSpPr>
          <a:xfrm>
            <a:off x="6450333" y="4413131"/>
            <a:ext cx="4827428" cy="661583"/>
            <a:chOff x="3999246" y="1747524"/>
            <a:chExt cx="1713901" cy="2824471"/>
          </a:xfrm>
        </p:grpSpPr>
        <p:sp>
          <p:nvSpPr>
            <p:cNvPr id="13" name="Rectangle: Rounded Corners 12">
              <a:extLst>
                <a:ext uri="{FF2B5EF4-FFF2-40B4-BE49-F238E27FC236}">
                  <a16:creationId xmlns:a16="http://schemas.microsoft.com/office/drawing/2014/main" id="{5145B862-1392-CE6C-ED83-B93089391743}"/>
                </a:ext>
              </a:extLst>
            </p:cNvPr>
            <p:cNvSpPr/>
            <p:nvPr/>
          </p:nvSpPr>
          <p:spPr>
            <a:xfrm>
              <a:off x="3999246" y="1747524"/>
              <a:ext cx="1713901" cy="2824471"/>
            </a:xfrm>
            <a:prstGeom prst="roundRect">
              <a:avLst/>
            </a:prstGeom>
            <a:solidFill>
              <a:srgbClr val="F892BB"/>
            </a:solidFill>
            <a:ln>
              <a:solidFill>
                <a:srgbClr val="F892BB"/>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4" name="Rectangle: Rounded Corners 4">
              <a:extLst>
                <a:ext uri="{FF2B5EF4-FFF2-40B4-BE49-F238E27FC236}">
                  <a16:creationId xmlns:a16="http://schemas.microsoft.com/office/drawing/2014/main" id="{1F8A3850-03B3-041E-8237-B6BB2B7835A5}"/>
                </a:ext>
              </a:extLst>
            </p:cNvPr>
            <p:cNvSpPr txBox="1"/>
            <p:nvPr/>
          </p:nvSpPr>
          <p:spPr>
            <a:xfrm>
              <a:off x="4298936" y="1831189"/>
              <a:ext cx="1330545" cy="265713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lvl="0" defTabSz="1244600">
                <a:lnSpc>
                  <a:spcPct val="90000"/>
                </a:lnSpc>
                <a:spcBef>
                  <a:spcPct val="0"/>
                </a:spcBef>
                <a:spcAft>
                  <a:spcPct val="35000"/>
                </a:spcAft>
              </a:pPr>
              <a:r>
                <a:rPr lang="en-GB">
                  <a:solidFill>
                    <a:schemeClr val="tx1"/>
                  </a:solidFill>
                  <a:latin typeface="Sassoon Infant Rg" panose="02000503030000020003" pitchFamily="2" charset="0"/>
                  <a:ea typeface="Sassoon Infant Rg" panose="02000503030000020003" pitchFamily="2" charset="0"/>
                </a:rPr>
                <a:t>The human body: Cells, systems, and health. Insects &amp; Plants</a:t>
              </a:r>
              <a:endParaRPr lang="en-GB" kern="1200">
                <a:solidFill>
                  <a:schemeClr val="tx1"/>
                </a:solidFill>
                <a:latin typeface="Sassoon Infant Rg" panose="02000503030000020003" pitchFamily="2" charset="0"/>
                <a:ea typeface="Sassoon Infant Rg" panose="02000503030000020003" pitchFamily="2" charset="0"/>
              </a:endParaRPr>
            </a:p>
          </p:txBody>
        </p:sp>
      </p:grpSp>
      <p:grpSp>
        <p:nvGrpSpPr>
          <p:cNvPr id="33" name="Group 32">
            <a:extLst>
              <a:ext uri="{FF2B5EF4-FFF2-40B4-BE49-F238E27FC236}">
                <a16:creationId xmlns:a16="http://schemas.microsoft.com/office/drawing/2014/main" id="{91BA62AB-C2C2-3996-084E-A2A001383FEC}"/>
              </a:ext>
            </a:extLst>
          </p:cNvPr>
          <p:cNvGrpSpPr/>
          <p:nvPr/>
        </p:nvGrpSpPr>
        <p:grpSpPr>
          <a:xfrm>
            <a:off x="6486751" y="4356793"/>
            <a:ext cx="752715" cy="748493"/>
            <a:chOff x="4462145" y="450020"/>
            <a:chExt cx="801261" cy="903352"/>
          </a:xfrm>
        </p:grpSpPr>
        <p:pic>
          <p:nvPicPr>
            <p:cNvPr id="34" name="Picture 33">
              <a:extLst>
                <a:ext uri="{FF2B5EF4-FFF2-40B4-BE49-F238E27FC236}">
                  <a16:creationId xmlns:a16="http://schemas.microsoft.com/office/drawing/2014/main" id="{AC93363F-9728-990A-C9CC-A5C01A5E8B96}"/>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35" name="TextBox 34">
              <a:extLst>
                <a:ext uri="{FF2B5EF4-FFF2-40B4-BE49-F238E27FC236}">
                  <a16:creationId xmlns:a16="http://schemas.microsoft.com/office/drawing/2014/main" id="{C4B02DCA-AEC9-3704-A959-2DACD6323EAC}"/>
                </a:ext>
              </a:extLst>
            </p:cNvPr>
            <p:cNvSpPr txBox="1"/>
            <p:nvPr/>
          </p:nvSpPr>
          <p:spPr>
            <a:xfrm>
              <a:off x="4704080" y="708024"/>
              <a:ext cx="375920" cy="502429"/>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3</a:t>
              </a:r>
            </a:p>
          </p:txBody>
        </p:sp>
      </p:grpSp>
      <p:grpSp>
        <p:nvGrpSpPr>
          <p:cNvPr id="15" name="Group 14">
            <a:extLst>
              <a:ext uri="{FF2B5EF4-FFF2-40B4-BE49-F238E27FC236}">
                <a16:creationId xmlns:a16="http://schemas.microsoft.com/office/drawing/2014/main" id="{B770FF0C-87CC-D90D-5A7E-01F56141DEF7}"/>
              </a:ext>
            </a:extLst>
          </p:cNvPr>
          <p:cNvGrpSpPr/>
          <p:nvPr/>
        </p:nvGrpSpPr>
        <p:grpSpPr>
          <a:xfrm>
            <a:off x="6431265" y="3709371"/>
            <a:ext cx="4865561" cy="661583"/>
            <a:chOff x="5998798" y="1737362"/>
            <a:chExt cx="1713901" cy="2844795"/>
          </a:xfrm>
          <a:solidFill>
            <a:schemeClr val="accent4">
              <a:lumMod val="20000"/>
              <a:lumOff val="80000"/>
            </a:schemeClr>
          </a:solidFill>
        </p:grpSpPr>
        <p:sp>
          <p:nvSpPr>
            <p:cNvPr id="16" name="Rectangle: Rounded Corners 15">
              <a:extLst>
                <a:ext uri="{FF2B5EF4-FFF2-40B4-BE49-F238E27FC236}">
                  <a16:creationId xmlns:a16="http://schemas.microsoft.com/office/drawing/2014/main" id="{09AC8915-4C12-A6BD-9FE3-F4C696F2F2A2}"/>
                </a:ext>
              </a:extLst>
            </p:cNvPr>
            <p:cNvSpPr/>
            <p:nvPr/>
          </p:nvSpPr>
          <p:spPr>
            <a:xfrm>
              <a:off x="5998798" y="1737362"/>
              <a:ext cx="1713901" cy="2844795"/>
            </a:xfrm>
            <a:prstGeom prst="roundRect">
              <a:avLst/>
            </a:prstGeom>
            <a:grpFill/>
            <a:ln>
              <a:solidFill>
                <a:schemeClr val="tx2">
                  <a:lumMod val="10000"/>
                  <a:lumOff val="9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7" name="Rectangle: Rounded Corners 4">
              <a:extLst>
                <a:ext uri="{FF2B5EF4-FFF2-40B4-BE49-F238E27FC236}">
                  <a16:creationId xmlns:a16="http://schemas.microsoft.com/office/drawing/2014/main" id="{0ED85846-3CF6-550A-90D4-8944413F1002}"/>
                </a:ext>
              </a:extLst>
            </p:cNvPr>
            <p:cNvSpPr txBox="1"/>
            <p:nvPr/>
          </p:nvSpPr>
          <p:spPr>
            <a:xfrm>
              <a:off x="6253268" y="1821027"/>
              <a:ext cx="1375765" cy="2344260"/>
            </a:xfrm>
            <a:prstGeom prst="rect">
              <a:avLst/>
            </a:prstGeom>
            <a:grpFill/>
            <a:ln>
              <a:solidFill>
                <a:schemeClr val="tx2">
                  <a:lumMod val="10000"/>
                  <a:lumOff val="90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lvl="0" defTabSz="1244600">
                <a:lnSpc>
                  <a:spcPct val="90000"/>
                </a:lnSpc>
                <a:spcBef>
                  <a:spcPct val="0"/>
                </a:spcBef>
                <a:spcAft>
                  <a:spcPct val="35000"/>
                </a:spcAft>
              </a:pPr>
              <a:r>
                <a:rPr lang="en-GB">
                  <a:solidFill>
                    <a:schemeClr val="tx1"/>
                  </a:solidFill>
                  <a:latin typeface="Sassoon Infant Rg" panose="02000503030000020003" pitchFamily="2" charset="0"/>
                  <a:ea typeface="Sassoon Infant Rg" panose="02000503030000020003" pitchFamily="2" charset="0"/>
                </a:rPr>
                <a:t>Classification of animals. Muscular and skeletal system</a:t>
              </a:r>
              <a:endParaRPr lang="en-GB" kern="1200">
                <a:solidFill>
                  <a:schemeClr val="tx1"/>
                </a:solidFill>
                <a:latin typeface="Sassoon Infant Rg" panose="02000503030000020003" pitchFamily="2" charset="0"/>
                <a:ea typeface="Sassoon Infant Rg" panose="02000503030000020003" pitchFamily="2" charset="0"/>
              </a:endParaRPr>
            </a:p>
          </p:txBody>
        </p:sp>
      </p:grpSp>
      <p:grpSp>
        <p:nvGrpSpPr>
          <p:cNvPr id="36" name="Group 35">
            <a:extLst>
              <a:ext uri="{FF2B5EF4-FFF2-40B4-BE49-F238E27FC236}">
                <a16:creationId xmlns:a16="http://schemas.microsoft.com/office/drawing/2014/main" id="{9DC10C70-A39B-A86D-75EF-4FD43DE0EC94}"/>
              </a:ext>
            </a:extLst>
          </p:cNvPr>
          <p:cNvGrpSpPr/>
          <p:nvPr/>
        </p:nvGrpSpPr>
        <p:grpSpPr>
          <a:xfrm>
            <a:off x="6400961" y="3638841"/>
            <a:ext cx="752715" cy="748493"/>
            <a:chOff x="4462145" y="450020"/>
            <a:chExt cx="801261" cy="903352"/>
          </a:xfrm>
        </p:grpSpPr>
        <p:pic>
          <p:nvPicPr>
            <p:cNvPr id="37" name="Picture 36">
              <a:extLst>
                <a:ext uri="{FF2B5EF4-FFF2-40B4-BE49-F238E27FC236}">
                  <a16:creationId xmlns:a16="http://schemas.microsoft.com/office/drawing/2014/main" id="{601D84D3-AE1D-E17C-C2CB-EB3C28459A65}"/>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38" name="TextBox 37">
              <a:extLst>
                <a:ext uri="{FF2B5EF4-FFF2-40B4-BE49-F238E27FC236}">
                  <a16:creationId xmlns:a16="http://schemas.microsoft.com/office/drawing/2014/main" id="{8AD32282-918A-72E3-D4B8-71929FD03F7F}"/>
                </a:ext>
              </a:extLst>
            </p:cNvPr>
            <p:cNvSpPr txBox="1"/>
            <p:nvPr/>
          </p:nvSpPr>
          <p:spPr>
            <a:xfrm>
              <a:off x="4704080" y="708024"/>
              <a:ext cx="375920" cy="502429"/>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4</a:t>
              </a:r>
            </a:p>
          </p:txBody>
        </p:sp>
      </p:grpSp>
      <p:grpSp>
        <p:nvGrpSpPr>
          <p:cNvPr id="23" name="Group 22">
            <a:extLst>
              <a:ext uri="{FF2B5EF4-FFF2-40B4-BE49-F238E27FC236}">
                <a16:creationId xmlns:a16="http://schemas.microsoft.com/office/drawing/2014/main" id="{CE632BC0-AE39-78F1-655C-038D8B09C2CD}"/>
              </a:ext>
            </a:extLst>
          </p:cNvPr>
          <p:cNvGrpSpPr/>
          <p:nvPr/>
        </p:nvGrpSpPr>
        <p:grpSpPr>
          <a:xfrm>
            <a:off x="6532989" y="2250383"/>
            <a:ext cx="4791567" cy="814202"/>
            <a:chOff x="1999694" y="1449695"/>
            <a:chExt cx="1713901" cy="3152785"/>
          </a:xfrm>
        </p:grpSpPr>
        <p:sp>
          <p:nvSpPr>
            <p:cNvPr id="24" name="Rectangle: Rounded Corners 23">
              <a:extLst>
                <a:ext uri="{FF2B5EF4-FFF2-40B4-BE49-F238E27FC236}">
                  <a16:creationId xmlns:a16="http://schemas.microsoft.com/office/drawing/2014/main" id="{F4979915-BB96-58CB-E0B5-58B87BED2308}"/>
                </a:ext>
              </a:extLst>
            </p:cNvPr>
            <p:cNvSpPr/>
            <p:nvPr/>
          </p:nvSpPr>
          <p:spPr>
            <a:xfrm>
              <a:off x="1999694" y="1717038"/>
              <a:ext cx="1713901" cy="2885442"/>
            </a:xfrm>
            <a:prstGeom prst="roundRect">
              <a:avLst/>
            </a:prstGeom>
            <a:solidFill>
              <a:schemeClr val="accent6">
                <a:lumMod val="40000"/>
                <a:lumOff val="60000"/>
              </a:schemeClr>
            </a:solidFill>
            <a:ln>
              <a:solidFill>
                <a:schemeClr val="accent6">
                  <a:lumMod val="40000"/>
                  <a:lumOff val="6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25" name="Rectangle: Rounded Corners 4">
              <a:extLst>
                <a:ext uri="{FF2B5EF4-FFF2-40B4-BE49-F238E27FC236}">
                  <a16:creationId xmlns:a16="http://schemas.microsoft.com/office/drawing/2014/main" id="{D9B56019-1DDF-80D0-7F30-76AE6D862F75}"/>
                </a:ext>
              </a:extLst>
            </p:cNvPr>
            <p:cNvSpPr txBox="1"/>
            <p:nvPr/>
          </p:nvSpPr>
          <p:spPr>
            <a:xfrm>
              <a:off x="2233414" y="1449695"/>
              <a:ext cx="1480181" cy="271811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lvl="0" defTabSz="1244600">
                <a:lnSpc>
                  <a:spcPct val="90000"/>
                </a:lnSpc>
                <a:spcBef>
                  <a:spcPct val="0"/>
                </a:spcBef>
                <a:spcAft>
                  <a:spcPct val="35000"/>
                </a:spcAft>
              </a:pPr>
              <a:r>
                <a:rPr lang="en-GB" sz="1600">
                  <a:solidFill>
                    <a:schemeClr val="tx1"/>
                  </a:solidFill>
                  <a:latin typeface="Sassoon Infant Rg" panose="02000503030000020003" pitchFamily="2" charset="0"/>
                  <a:ea typeface="Sassoon Infant Rg" panose="02000503030000020003" pitchFamily="2" charset="0"/>
                </a:rPr>
                <a:t>Plant Structures &amp; Processes; Classifying Living Things; Human Body: Hormones &amp; Reproduction, evolution &amp; inheritance.</a:t>
              </a:r>
              <a:endParaRPr lang="en-GB" sz="1600" kern="1200">
                <a:solidFill>
                  <a:schemeClr val="tx1"/>
                </a:solidFill>
                <a:latin typeface="Sassoon Infant Rg" panose="02000503030000020003" pitchFamily="2" charset="0"/>
                <a:ea typeface="Sassoon Infant Rg" panose="02000503030000020003" pitchFamily="2" charset="0"/>
              </a:endParaRPr>
            </a:p>
          </p:txBody>
        </p:sp>
      </p:grpSp>
      <p:grpSp>
        <p:nvGrpSpPr>
          <p:cNvPr id="42" name="Group 41">
            <a:extLst>
              <a:ext uri="{FF2B5EF4-FFF2-40B4-BE49-F238E27FC236}">
                <a16:creationId xmlns:a16="http://schemas.microsoft.com/office/drawing/2014/main" id="{01EB6582-CD84-FA9C-22C2-32980C63AD26}"/>
              </a:ext>
            </a:extLst>
          </p:cNvPr>
          <p:cNvGrpSpPr/>
          <p:nvPr/>
        </p:nvGrpSpPr>
        <p:grpSpPr>
          <a:xfrm>
            <a:off x="6467851" y="2298689"/>
            <a:ext cx="752715" cy="748493"/>
            <a:chOff x="1721712" y="2823332"/>
            <a:chExt cx="801261" cy="903352"/>
          </a:xfrm>
        </p:grpSpPr>
        <p:pic>
          <p:nvPicPr>
            <p:cNvPr id="43" name="Picture 42">
              <a:extLst>
                <a:ext uri="{FF2B5EF4-FFF2-40B4-BE49-F238E27FC236}">
                  <a16:creationId xmlns:a16="http://schemas.microsoft.com/office/drawing/2014/main" id="{8138D93F-1D72-68FE-9673-A97DD1004075}"/>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1721712" y="2823332"/>
              <a:ext cx="801261" cy="903352"/>
            </a:xfrm>
            <a:prstGeom prst="rect">
              <a:avLst/>
            </a:prstGeom>
          </p:spPr>
        </p:pic>
        <p:sp>
          <p:nvSpPr>
            <p:cNvPr id="44" name="TextBox 43">
              <a:extLst>
                <a:ext uri="{FF2B5EF4-FFF2-40B4-BE49-F238E27FC236}">
                  <a16:creationId xmlns:a16="http://schemas.microsoft.com/office/drawing/2014/main" id="{657B80E2-8197-A4EB-D8AD-FF709522E487}"/>
                </a:ext>
              </a:extLst>
            </p:cNvPr>
            <p:cNvSpPr txBox="1"/>
            <p:nvPr/>
          </p:nvSpPr>
          <p:spPr>
            <a:xfrm>
              <a:off x="1959488" y="3052739"/>
              <a:ext cx="375920" cy="502429"/>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6</a:t>
              </a:r>
            </a:p>
          </p:txBody>
        </p:sp>
      </p:grpSp>
      <p:grpSp>
        <p:nvGrpSpPr>
          <p:cNvPr id="18" name="Group 17">
            <a:extLst>
              <a:ext uri="{FF2B5EF4-FFF2-40B4-BE49-F238E27FC236}">
                <a16:creationId xmlns:a16="http://schemas.microsoft.com/office/drawing/2014/main" id="{E87EE75B-6832-635B-7A17-4F5F5C67D2AB}"/>
              </a:ext>
            </a:extLst>
          </p:cNvPr>
          <p:cNvGrpSpPr/>
          <p:nvPr/>
        </p:nvGrpSpPr>
        <p:grpSpPr>
          <a:xfrm>
            <a:off x="6419256" y="3046473"/>
            <a:ext cx="4827428" cy="661583"/>
            <a:chOff x="7998350" y="1737362"/>
            <a:chExt cx="1713901" cy="2844795"/>
          </a:xfrm>
        </p:grpSpPr>
        <p:sp>
          <p:nvSpPr>
            <p:cNvPr id="19" name="Rectangle: Rounded Corners 18">
              <a:extLst>
                <a:ext uri="{FF2B5EF4-FFF2-40B4-BE49-F238E27FC236}">
                  <a16:creationId xmlns:a16="http://schemas.microsoft.com/office/drawing/2014/main" id="{E74BED76-C184-E10E-5C41-B7CC09DF96BA}"/>
                </a:ext>
              </a:extLst>
            </p:cNvPr>
            <p:cNvSpPr/>
            <p:nvPr/>
          </p:nvSpPr>
          <p:spPr>
            <a:xfrm>
              <a:off x="7998350" y="1737362"/>
              <a:ext cx="1713901" cy="2844795"/>
            </a:xfrm>
            <a:prstGeom prst="roundRect">
              <a:avLst/>
            </a:prstGeom>
            <a:solidFill>
              <a:srgbClr val="F9D2B5"/>
            </a:solidFill>
            <a:ln>
              <a:solidFill>
                <a:srgbClr val="F9D2B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20" name="Rectangle: Rounded Corners 4">
              <a:extLst>
                <a:ext uri="{FF2B5EF4-FFF2-40B4-BE49-F238E27FC236}">
                  <a16:creationId xmlns:a16="http://schemas.microsoft.com/office/drawing/2014/main" id="{8C34420A-FD4A-81ED-A4D7-6DF20531A6CA}"/>
                </a:ext>
              </a:extLst>
            </p:cNvPr>
            <p:cNvSpPr txBox="1"/>
            <p:nvPr/>
          </p:nvSpPr>
          <p:spPr>
            <a:xfrm>
              <a:off x="8322864" y="1821027"/>
              <a:ext cx="1305721" cy="267746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lvl="0" defTabSz="1244600">
                <a:lnSpc>
                  <a:spcPct val="90000"/>
                </a:lnSpc>
                <a:spcBef>
                  <a:spcPct val="0"/>
                </a:spcBef>
                <a:spcAft>
                  <a:spcPct val="35000"/>
                </a:spcAft>
              </a:pPr>
              <a:r>
                <a:rPr lang="en-GB">
                  <a:solidFill>
                    <a:schemeClr val="tx1"/>
                  </a:solidFill>
                  <a:latin typeface="Sassoon Infant Rg" panose="02000503030000020003" pitchFamily="2" charset="0"/>
                  <a:ea typeface="Sassoon Infant Rg" panose="02000503030000020003" pitchFamily="2" charset="0"/>
                </a:rPr>
                <a:t>Circulatory and Respiratory System. Life cycles and seasonal changes.</a:t>
              </a:r>
              <a:endParaRPr lang="en-GB" kern="1200">
                <a:solidFill>
                  <a:schemeClr val="tx1"/>
                </a:solidFill>
                <a:latin typeface="Sassoon Infant Rg" panose="02000503030000020003" pitchFamily="2" charset="0"/>
                <a:ea typeface="Sassoon Infant Rg" panose="02000503030000020003" pitchFamily="2" charset="0"/>
              </a:endParaRPr>
            </a:p>
          </p:txBody>
        </p:sp>
      </p:grpSp>
      <p:grpSp>
        <p:nvGrpSpPr>
          <p:cNvPr id="39" name="Group 38">
            <a:extLst>
              <a:ext uri="{FF2B5EF4-FFF2-40B4-BE49-F238E27FC236}">
                <a16:creationId xmlns:a16="http://schemas.microsoft.com/office/drawing/2014/main" id="{9B6D55F9-861A-2A53-241B-0EDEA6118D1C}"/>
              </a:ext>
            </a:extLst>
          </p:cNvPr>
          <p:cNvGrpSpPr/>
          <p:nvPr/>
        </p:nvGrpSpPr>
        <p:grpSpPr>
          <a:xfrm>
            <a:off x="6499917" y="2981007"/>
            <a:ext cx="752715" cy="748493"/>
            <a:chOff x="4462145" y="450020"/>
            <a:chExt cx="801261" cy="903352"/>
          </a:xfrm>
        </p:grpSpPr>
        <p:pic>
          <p:nvPicPr>
            <p:cNvPr id="40" name="Picture 39">
              <a:extLst>
                <a:ext uri="{FF2B5EF4-FFF2-40B4-BE49-F238E27FC236}">
                  <a16:creationId xmlns:a16="http://schemas.microsoft.com/office/drawing/2014/main" id="{EBCA3CC3-813C-1F0E-B0EE-B26FBE08FDFF}"/>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41" name="TextBox 40">
              <a:extLst>
                <a:ext uri="{FF2B5EF4-FFF2-40B4-BE49-F238E27FC236}">
                  <a16:creationId xmlns:a16="http://schemas.microsoft.com/office/drawing/2014/main" id="{CF0D9F23-429D-1C98-F530-A8F942FE0521}"/>
                </a:ext>
              </a:extLst>
            </p:cNvPr>
            <p:cNvSpPr txBox="1"/>
            <p:nvPr/>
          </p:nvSpPr>
          <p:spPr>
            <a:xfrm>
              <a:off x="4704080" y="708024"/>
              <a:ext cx="375920" cy="502429"/>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5</a:t>
              </a:r>
            </a:p>
          </p:txBody>
        </p:sp>
      </p:grpSp>
      <p:grpSp>
        <p:nvGrpSpPr>
          <p:cNvPr id="306" name="Group 305">
            <a:extLst>
              <a:ext uri="{FF2B5EF4-FFF2-40B4-BE49-F238E27FC236}">
                <a16:creationId xmlns:a16="http://schemas.microsoft.com/office/drawing/2014/main" id="{5A6F5BC7-3108-72DF-D5AD-0A9C83311EEB}"/>
              </a:ext>
            </a:extLst>
          </p:cNvPr>
          <p:cNvGrpSpPr/>
          <p:nvPr/>
        </p:nvGrpSpPr>
        <p:grpSpPr>
          <a:xfrm>
            <a:off x="6524130" y="5781853"/>
            <a:ext cx="4791569" cy="706284"/>
            <a:chOff x="7998350" y="1737362"/>
            <a:chExt cx="1713901" cy="2844795"/>
          </a:xfrm>
        </p:grpSpPr>
        <p:sp>
          <p:nvSpPr>
            <p:cNvPr id="307" name="Rectangle: Rounded Corners 306">
              <a:extLst>
                <a:ext uri="{FF2B5EF4-FFF2-40B4-BE49-F238E27FC236}">
                  <a16:creationId xmlns:a16="http://schemas.microsoft.com/office/drawing/2014/main" id="{F99FC556-827C-9BD8-AF3D-B6D791E87BB1}"/>
                </a:ext>
              </a:extLst>
            </p:cNvPr>
            <p:cNvSpPr/>
            <p:nvPr/>
          </p:nvSpPr>
          <p:spPr>
            <a:xfrm>
              <a:off x="7998350" y="1737362"/>
              <a:ext cx="1713901" cy="2844795"/>
            </a:xfrm>
            <a:prstGeom prst="roundRect">
              <a:avLst/>
            </a:prstGeom>
            <a:solidFill>
              <a:srgbClr val="F9D2B5"/>
            </a:solidFill>
            <a:ln>
              <a:solidFill>
                <a:srgbClr val="F9D2B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308" name="Rectangle: Rounded Corners 4">
              <a:extLst>
                <a:ext uri="{FF2B5EF4-FFF2-40B4-BE49-F238E27FC236}">
                  <a16:creationId xmlns:a16="http://schemas.microsoft.com/office/drawing/2014/main" id="{6C3E11ED-1BD8-1EAB-5DCF-AB39B1086B68}"/>
                </a:ext>
              </a:extLst>
            </p:cNvPr>
            <p:cNvSpPr txBox="1"/>
            <p:nvPr/>
          </p:nvSpPr>
          <p:spPr>
            <a:xfrm>
              <a:off x="8300036" y="1821028"/>
              <a:ext cx="1328549" cy="26774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lvl="0" defTabSz="1244600">
                <a:lnSpc>
                  <a:spcPct val="90000"/>
                </a:lnSpc>
                <a:spcBef>
                  <a:spcPct val="0"/>
                </a:spcBef>
                <a:spcAft>
                  <a:spcPct val="35000"/>
                </a:spcAft>
              </a:pPr>
              <a:r>
                <a:rPr lang="en-GB">
                  <a:solidFill>
                    <a:schemeClr val="tx1"/>
                  </a:solidFill>
                  <a:latin typeface="Sassoon Infant Rg" panose="02000503030000020003" pitchFamily="2" charset="0"/>
                  <a:ea typeface="Sassoon Infant Rg" panose="02000503030000020003" pitchFamily="2" charset="0"/>
                </a:rPr>
                <a:t>Animals, Humans &amp; Plants</a:t>
              </a:r>
              <a:endParaRPr lang="en-GB" b="1" u="sng" kern="1200">
                <a:solidFill>
                  <a:schemeClr val="tx1"/>
                </a:solidFill>
                <a:latin typeface="Sassoon Infant Rg" panose="02000503030000020003" pitchFamily="2" charset="0"/>
                <a:ea typeface="Sassoon Infant Rg" panose="02000503030000020003" pitchFamily="2" charset="0"/>
              </a:endParaRPr>
            </a:p>
          </p:txBody>
        </p:sp>
      </p:grpSp>
      <p:grpSp>
        <p:nvGrpSpPr>
          <p:cNvPr id="312" name="Group 311">
            <a:extLst>
              <a:ext uri="{FF2B5EF4-FFF2-40B4-BE49-F238E27FC236}">
                <a16:creationId xmlns:a16="http://schemas.microsoft.com/office/drawing/2014/main" id="{2E535EF8-EAF6-42BE-6AF6-CD5E31CC150B}"/>
              </a:ext>
            </a:extLst>
          </p:cNvPr>
          <p:cNvGrpSpPr/>
          <p:nvPr/>
        </p:nvGrpSpPr>
        <p:grpSpPr>
          <a:xfrm>
            <a:off x="6569485" y="5750072"/>
            <a:ext cx="752715" cy="748493"/>
            <a:chOff x="6450334" y="5317226"/>
            <a:chExt cx="801261" cy="903352"/>
          </a:xfrm>
        </p:grpSpPr>
        <p:sp>
          <p:nvSpPr>
            <p:cNvPr id="29" name="TextBox 28">
              <a:extLst>
                <a:ext uri="{FF2B5EF4-FFF2-40B4-BE49-F238E27FC236}">
                  <a16:creationId xmlns:a16="http://schemas.microsoft.com/office/drawing/2014/main" id="{46D4F665-8737-CFA1-C0E5-5048E92C7FAF}"/>
                </a:ext>
              </a:extLst>
            </p:cNvPr>
            <p:cNvSpPr txBox="1"/>
            <p:nvPr/>
          </p:nvSpPr>
          <p:spPr>
            <a:xfrm>
              <a:off x="6671572" y="5599207"/>
              <a:ext cx="389673" cy="502429"/>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1</a:t>
              </a:r>
            </a:p>
          </p:txBody>
        </p:sp>
        <p:pic>
          <p:nvPicPr>
            <p:cNvPr id="310" name="Picture 309">
              <a:extLst>
                <a:ext uri="{FF2B5EF4-FFF2-40B4-BE49-F238E27FC236}">
                  <a16:creationId xmlns:a16="http://schemas.microsoft.com/office/drawing/2014/main" id="{DE87F784-23FD-9034-E680-567B36501DB1}"/>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6450334" y="5317226"/>
              <a:ext cx="801261" cy="903352"/>
            </a:xfrm>
            <a:prstGeom prst="rect">
              <a:avLst/>
            </a:prstGeom>
          </p:spPr>
        </p:pic>
      </p:grpSp>
      <p:sp>
        <p:nvSpPr>
          <p:cNvPr id="320" name="Freeform: Shape 319">
            <a:extLst>
              <a:ext uri="{FF2B5EF4-FFF2-40B4-BE49-F238E27FC236}">
                <a16:creationId xmlns:a16="http://schemas.microsoft.com/office/drawing/2014/main" id="{299CCE66-29BC-4E21-9E2C-3A2E2289C8E2}"/>
              </a:ext>
            </a:extLst>
          </p:cNvPr>
          <p:cNvSpPr/>
          <p:nvPr/>
        </p:nvSpPr>
        <p:spPr>
          <a:xfrm>
            <a:off x="5838826" y="1098925"/>
            <a:ext cx="6099174" cy="5606668"/>
          </a:xfrm>
          <a:custGeom>
            <a:avLst/>
            <a:gdLst>
              <a:gd name="connsiteX0" fmla="*/ 513624 w 514349"/>
              <a:gd name="connsiteY0" fmla="*/ 5877 h 571500"/>
              <a:gd name="connsiteX1" fmla="*/ 504823 w 514349"/>
              <a:gd name="connsiteY1" fmla="*/ 0 h 571500"/>
              <a:gd name="connsiteX2" fmla="*/ 9523 w 514349"/>
              <a:gd name="connsiteY2" fmla="*/ 0 h 571500"/>
              <a:gd name="connsiteX3" fmla="*/ 0 w 514349"/>
              <a:gd name="connsiteY3" fmla="*/ 9527 h 571500"/>
              <a:gd name="connsiteX4" fmla="*/ 2789 w 514349"/>
              <a:gd name="connsiteY4" fmla="*/ 16259 h 571500"/>
              <a:gd name="connsiteX5" fmla="*/ 24144 w 514349"/>
              <a:gd name="connsiteY5" fmla="*/ 37624 h 571500"/>
              <a:gd name="connsiteX6" fmla="*/ 38098 w 514349"/>
              <a:gd name="connsiteY6" fmla="*/ 71295 h 571500"/>
              <a:gd name="connsiteX7" fmla="*/ 38098 w 514349"/>
              <a:gd name="connsiteY7" fmla="*/ 523875 h 571500"/>
              <a:gd name="connsiteX8" fmla="*/ 85723 w 514349"/>
              <a:gd name="connsiteY8" fmla="*/ 571500 h 571500"/>
              <a:gd name="connsiteX9" fmla="*/ 428623 w 514349"/>
              <a:gd name="connsiteY9" fmla="*/ 571500 h 571500"/>
              <a:gd name="connsiteX10" fmla="*/ 476248 w 514349"/>
              <a:gd name="connsiteY10" fmla="*/ 523875 h 571500"/>
              <a:gd name="connsiteX11" fmla="*/ 476248 w 514349"/>
              <a:gd name="connsiteY11" fmla="*/ 71295 h 571500"/>
              <a:gd name="connsiteX12" fmla="*/ 490202 w 514349"/>
              <a:gd name="connsiteY12" fmla="*/ 37624 h 571500"/>
              <a:gd name="connsiteX13" fmla="*/ 511557 w 514349"/>
              <a:gd name="connsiteY13" fmla="*/ 16259 h 571500"/>
              <a:gd name="connsiteX14" fmla="*/ 513624 w 514349"/>
              <a:gd name="connsiteY14" fmla="*/ 5877 h 571500"/>
              <a:gd name="connsiteX15" fmla="*/ 428623 w 514349"/>
              <a:gd name="connsiteY15" fmla="*/ 552450 h 571500"/>
              <a:gd name="connsiteX16" fmla="*/ 85723 w 514349"/>
              <a:gd name="connsiteY16" fmla="*/ 552450 h 571500"/>
              <a:gd name="connsiteX17" fmla="*/ 57148 w 514349"/>
              <a:gd name="connsiteY17" fmla="*/ 523875 h 571500"/>
              <a:gd name="connsiteX18" fmla="*/ 57148 w 514349"/>
              <a:gd name="connsiteY18" fmla="*/ 123739 h 571500"/>
              <a:gd name="connsiteX19" fmla="*/ 234113 w 514349"/>
              <a:gd name="connsiteY19" fmla="*/ 100013 h 571500"/>
              <a:gd name="connsiteX20" fmla="*/ 323848 w 514349"/>
              <a:gd name="connsiteY20" fmla="*/ 85725 h 571500"/>
              <a:gd name="connsiteX21" fmla="*/ 438348 w 514349"/>
              <a:gd name="connsiteY21" fmla="*/ 106804 h 571500"/>
              <a:gd name="connsiteX22" fmla="*/ 457198 w 514349"/>
              <a:gd name="connsiteY22" fmla="*/ 112919 h 571500"/>
              <a:gd name="connsiteX23" fmla="*/ 457198 w 514349"/>
              <a:gd name="connsiteY23" fmla="*/ 523875 h 571500"/>
              <a:gd name="connsiteX24" fmla="*/ 428623 w 514349"/>
              <a:gd name="connsiteY24" fmla="*/ 552450 h 571500"/>
              <a:gd name="connsiteX25" fmla="*/ 476715 w 514349"/>
              <a:gd name="connsiteY25" fmla="*/ 24165 h 571500"/>
              <a:gd name="connsiteX26" fmla="*/ 457198 w 514349"/>
              <a:gd name="connsiteY26" fmla="*/ 71295 h 571500"/>
              <a:gd name="connsiteX27" fmla="*/ 457198 w 514349"/>
              <a:gd name="connsiteY27" fmla="*/ 93202 h 571500"/>
              <a:gd name="connsiteX28" fmla="*/ 444816 w 514349"/>
              <a:gd name="connsiteY28" fmla="*/ 88897 h 571500"/>
              <a:gd name="connsiteX29" fmla="*/ 323848 w 514349"/>
              <a:gd name="connsiteY29" fmla="*/ 66675 h 571500"/>
              <a:gd name="connsiteX30" fmla="*/ 229312 w 514349"/>
              <a:gd name="connsiteY30" fmla="*/ 81563 h 571500"/>
              <a:gd name="connsiteX31" fmla="*/ 57148 w 514349"/>
              <a:gd name="connsiteY31" fmla="*/ 104699 h 571500"/>
              <a:gd name="connsiteX32" fmla="*/ 57148 w 514349"/>
              <a:gd name="connsiteY32" fmla="*/ 71295 h 571500"/>
              <a:gd name="connsiteX33" fmla="*/ 37641 w 514349"/>
              <a:gd name="connsiteY33" fmla="*/ 24184 h 571500"/>
              <a:gd name="connsiteX34" fmla="*/ 32678 w 514349"/>
              <a:gd name="connsiteY34" fmla="*/ 19212 h 571500"/>
              <a:gd name="connsiteX35" fmla="*/ 32745 w 514349"/>
              <a:gd name="connsiteY35" fmla="*/ 19050 h 571500"/>
              <a:gd name="connsiteX36" fmla="*/ 481601 w 514349"/>
              <a:gd name="connsiteY36" fmla="*/ 19050 h 571500"/>
              <a:gd name="connsiteX37" fmla="*/ 481668 w 514349"/>
              <a:gd name="connsiteY37" fmla="*/ 19212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14349" h="571500">
                <a:moveTo>
                  <a:pt x="513624" y="5877"/>
                </a:moveTo>
                <a:cubicBezTo>
                  <a:pt x="512149" y="2318"/>
                  <a:pt x="508675" y="-1"/>
                  <a:pt x="504823" y="0"/>
                </a:cubicBezTo>
                <a:lnTo>
                  <a:pt x="9523" y="0"/>
                </a:lnTo>
                <a:cubicBezTo>
                  <a:pt x="4262" y="1"/>
                  <a:pt x="-1" y="4266"/>
                  <a:pt x="0" y="9527"/>
                </a:cubicBezTo>
                <a:cubicBezTo>
                  <a:pt x="1" y="12052"/>
                  <a:pt x="1004" y="14473"/>
                  <a:pt x="2789" y="16259"/>
                </a:cubicBezTo>
                <a:lnTo>
                  <a:pt x="24144" y="37624"/>
                </a:lnTo>
                <a:cubicBezTo>
                  <a:pt x="33105" y="46533"/>
                  <a:pt x="38130" y="58658"/>
                  <a:pt x="38098" y="71295"/>
                </a:cubicBezTo>
                <a:lnTo>
                  <a:pt x="38098" y="523875"/>
                </a:lnTo>
                <a:cubicBezTo>
                  <a:pt x="38130" y="550165"/>
                  <a:pt x="59433" y="571469"/>
                  <a:pt x="85723" y="571500"/>
                </a:cubicBezTo>
                <a:lnTo>
                  <a:pt x="428623" y="571500"/>
                </a:lnTo>
                <a:cubicBezTo>
                  <a:pt x="454913" y="571469"/>
                  <a:pt x="476217" y="550165"/>
                  <a:pt x="476248" y="523875"/>
                </a:cubicBezTo>
                <a:lnTo>
                  <a:pt x="476248" y="71295"/>
                </a:lnTo>
                <a:cubicBezTo>
                  <a:pt x="476216" y="58658"/>
                  <a:pt x="481241" y="46533"/>
                  <a:pt x="490202" y="37624"/>
                </a:cubicBezTo>
                <a:lnTo>
                  <a:pt x="511557" y="16259"/>
                </a:lnTo>
                <a:cubicBezTo>
                  <a:pt x="514283" y="13535"/>
                  <a:pt x="515099" y="9437"/>
                  <a:pt x="513624" y="5877"/>
                </a:cubicBezTo>
                <a:close/>
                <a:moveTo>
                  <a:pt x="428623" y="552450"/>
                </a:moveTo>
                <a:lnTo>
                  <a:pt x="85723" y="552450"/>
                </a:lnTo>
                <a:cubicBezTo>
                  <a:pt x="69941" y="552450"/>
                  <a:pt x="57148" y="539657"/>
                  <a:pt x="57148" y="523875"/>
                </a:cubicBezTo>
                <a:lnTo>
                  <a:pt x="57148" y="123739"/>
                </a:lnTo>
                <a:cubicBezTo>
                  <a:pt x="116951" y="124062"/>
                  <a:pt x="176508" y="116077"/>
                  <a:pt x="234113" y="100013"/>
                </a:cubicBezTo>
                <a:cubicBezTo>
                  <a:pt x="263218" y="91110"/>
                  <a:pt x="293419" y="86302"/>
                  <a:pt x="323848" y="85725"/>
                </a:cubicBezTo>
                <a:cubicBezTo>
                  <a:pt x="363013" y="85345"/>
                  <a:pt x="401885" y="92501"/>
                  <a:pt x="438348" y="106804"/>
                </a:cubicBezTo>
                <a:cubicBezTo>
                  <a:pt x="444517" y="109177"/>
                  <a:pt x="450811" y="111219"/>
                  <a:pt x="457198" y="112919"/>
                </a:cubicBezTo>
                <a:lnTo>
                  <a:pt x="457198" y="523875"/>
                </a:lnTo>
                <a:cubicBezTo>
                  <a:pt x="457198" y="539657"/>
                  <a:pt x="444405" y="552450"/>
                  <a:pt x="428623" y="552450"/>
                </a:cubicBezTo>
                <a:close/>
                <a:moveTo>
                  <a:pt x="476715" y="24165"/>
                </a:moveTo>
                <a:cubicBezTo>
                  <a:pt x="464219" y="36666"/>
                  <a:pt x="457199" y="53619"/>
                  <a:pt x="457198" y="71295"/>
                </a:cubicBezTo>
                <a:lnTo>
                  <a:pt x="457198" y="93202"/>
                </a:lnTo>
                <a:cubicBezTo>
                  <a:pt x="453626" y="92069"/>
                  <a:pt x="449492" y="90583"/>
                  <a:pt x="444816" y="88897"/>
                </a:cubicBezTo>
                <a:cubicBezTo>
                  <a:pt x="406263" y="73898"/>
                  <a:pt x="365214" y="66357"/>
                  <a:pt x="323848" y="66675"/>
                </a:cubicBezTo>
                <a:cubicBezTo>
                  <a:pt x="291796" y="67197"/>
                  <a:pt x="259974" y="72208"/>
                  <a:pt x="229312" y="81563"/>
                </a:cubicBezTo>
                <a:cubicBezTo>
                  <a:pt x="173292" y="97306"/>
                  <a:pt x="115337" y="105093"/>
                  <a:pt x="57148" y="104699"/>
                </a:cubicBezTo>
                <a:lnTo>
                  <a:pt x="57148" y="71295"/>
                </a:lnTo>
                <a:cubicBezTo>
                  <a:pt x="57151" y="53626"/>
                  <a:pt x="50134" y="36679"/>
                  <a:pt x="37641" y="24184"/>
                </a:cubicBezTo>
                <a:lnTo>
                  <a:pt x="32678" y="19212"/>
                </a:lnTo>
                <a:cubicBezTo>
                  <a:pt x="32593" y="19126"/>
                  <a:pt x="32621" y="19050"/>
                  <a:pt x="32745" y="19050"/>
                </a:cubicBezTo>
                <a:lnTo>
                  <a:pt x="481601" y="19050"/>
                </a:lnTo>
                <a:cubicBezTo>
                  <a:pt x="481725" y="19050"/>
                  <a:pt x="481754" y="19126"/>
                  <a:pt x="481668" y="19212"/>
                </a:cubicBezTo>
                <a:close/>
              </a:path>
            </a:pathLst>
          </a:custGeom>
          <a:solidFill>
            <a:srgbClr val="000000"/>
          </a:solidFill>
          <a:ln w="9525" cap="flat">
            <a:noFill/>
            <a:prstDash val="solid"/>
            <a:miter/>
          </a:ln>
        </p:spPr>
        <p:txBody>
          <a:bodyPr rtlCol="0" anchor="ctr"/>
          <a:lstStyle/>
          <a:p>
            <a:endParaRPr lang="en-GB"/>
          </a:p>
        </p:txBody>
      </p:sp>
      <p:sp>
        <p:nvSpPr>
          <p:cNvPr id="326" name="Freeform: Shape 325">
            <a:extLst>
              <a:ext uri="{FF2B5EF4-FFF2-40B4-BE49-F238E27FC236}">
                <a16:creationId xmlns:a16="http://schemas.microsoft.com/office/drawing/2014/main" id="{943D619F-8E4C-2972-7EF7-24DBFFE87697}"/>
              </a:ext>
            </a:extLst>
          </p:cNvPr>
          <p:cNvSpPr/>
          <p:nvPr/>
        </p:nvSpPr>
        <p:spPr>
          <a:xfrm>
            <a:off x="10249380" y="250021"/>
            <a:ext cx="349748" cy="511568"/>
          </a:xfrm>
          <a:custGeom>
            <a:avLst/>
            <a:gdLst>
              <a:gd name="connsiteX0" fmla="*/ 131059 w 262118"/>
              <a:gd name="connsiteY0" fmla="*/ 259531 h 259530"/>
              <a:gd name="connsiteX1" fmla="*/ 262118 w 262118"/>
              <a:gd name="connsiteY1" fmla="*/ 129765 h 259530"/>
              <a:gd name="connsiteX2" fmla="*/ 131059 w 262118"/>
              <a:gd name="connsiteY2" fmla="*/ 0 h 259530"/>
              <a:gd name="connsiteX3" fmla="*/ 0 w 262118"/>
              <a:gd name="connsiteY3" fmla="*/ 129765 h 259530"/>
              <a:gd name="connsiteX4" fmla="*/ 131059 w 262118"/>
              <a:gd name="connsiteY4" fmla="*/ 259531 h 259530"/>
              <a:gd name="connsiteX5" fmla="*/ 131059 w 262118"/>
              <a:gd name="connsiteY5" fmla="*/ 43255 h 259530"/>
              <a:gd name="connsiteX6" fmla="*/ 218432 w 262118"/>
              <a:gd name="connsiteY6" fmla="*/ 129765 h 259530"/>
              <a:gd name="connsiteX7" fmla="*/ 131059 w 262118"/>
              <a:gd name="connsiteY7" fmla="*/ 216276 h 259530"/>
              <a:gd name="connsiteX8" fmla="*/ 43686 w 262118"/>
              <a:gd name="connsiteY8" fmla="*/ 129765 h 259530"/>
              <a:gd name="connsiteX9" fmla="*/ 131059 w 262118"/>
              <a:gd name="connsiteY9" fmla="*/ 43255 h 259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2118" h="259530">
                <a:moveTo>
                  <a:pt x="131059" y="259531"/>
                </a:moveTo>
                <a:cubicBezTo>
                  <a:pt x="203441" y="259531"/>
                  <a:pt x="262118" y="201433"/>
                  <a:pt x="262118" y="129765"/>
                </a:cubicBezTo>
                <a:cubicBezTo>
                  <a:pt x="262118" y="58098"/>
                  <a:pt x="203441" y="0"/>
                  <a:pt x="131059" y="0"/>
                </a:cubicBezTo>
                <a:cubicBezTo>
                  <a:pt x="58677" y="0"/>
                  <a:pt x="0" y="58098"/>
                  <a:pt x="0" y="129765"/>
                </a:cubicBezTo>
                <a:cubicBezTo>
                  <a:pt x="85" y="201398"/>
                  <a:pt x="58712" y="259446"/>
                  <a:pt x="131059" y="259531"/>
                </a:cubicBezTo>
                <a:close/>
                <a:moveTo>
                  <a:pt x="131059" y="43255"/>
                </a:moveTo>
                <a:cubicBezTo>
                  <a:pt x="179313" y="43255"/>
                  <a:pt x="218432" y="81988"/>
                  <a:pt x="218432" y="129765"/>
                </a:cubicBezTo>
                <a:cubicBezTo>
                  <a:pt x="218432" y="177543"/>
                  <a:pt x="179313" y="216276"/>
                  <a:pt x="131059" y="216276"/>
                </a:cubicBezTo>
                <a:cubicBezTo>
                  <a:pt x="82805" y="216276"/>
                  <a:pt x="43686" y="177543"/>
                  <a:pt x="43686" y="129765"/>
                </a:cubicBezTo>
                <a:cubicBezTo>
                  <a:pt x="43686" y="81988"/>
                  <a:pt x="82805" y="43255"/>
                  <a:pt x="131059" y="43255"/>
                </a:cubicBezTo>
                <a:close/>
              </a:path>
            </a:pathLst>
          </a:custGeom>
          <a:solidFill>
            <a:srgbClr val="000000"/>
          </a:solidFill>
          <a:ln w="21828" cap="flat">
            <a:noFill/>
            <a:prstDash val="solid"/>
            <a:miter/>
          </a:ln>
        </p:spPr>
        <p:txBody>
          <a:bodyPr rtlCol="0" anchor="ctr"/>
          <a:lstStyle/>
          <a:p>
            <a:endParaRPr lang="en-GB"/>
          </a:p>
        </p:txBody>
      </p:sp>
      <p:sp>
        <p:nvSpPr>
          <p:cNvPr id="327" name="Freeform: Shape 326">
            <a:extLst>
              <a:ext uri="{FF2B5EF4-FFF2-40B4-BE49-F238E27FC236}">
                <a16:creationId xmlns:a16="http://schemas.microsoft.com/office/drawing/2014/main" id="{55CFEFD2-F3F0-FBAB-0EE2-BE15D09E0F1D}"/>
              </a:ext>
            </a:extLst>
          </p:cNvPr>
          <p:cNvSpPr/>
          <p:nvPr/>
        </p:nvSpPr>
        <p:spPr>
          <a:xfrm>
            <a:off x="9879186" y="663515"/>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6"/>
                  <a:pt x="131059" y="64883"/>
                </a:cubicBezTo>
                <a:cubicBezTo>
                  <a:pt x="131059" y="29049"/>
                  <a:pt x="101721" y="0"/>
                  <a:pt x="65530" y="0"/>
                </a:cubicBezTo>
                <a:cubicBezTo>
                  <a:pt x="29338" y="0"/>
                  <a:pt x="0" y="29049"/>
                  <a:pt x="0" y="64883"/>
                </a:cubicBezTo>
                <a:cubicBezTo>
                  <a:pt x="0" y="100716"/>
                  <a:pt x="29338" y="129765"/>
                  <a:pt x="65530" y="129765"/>
                </a:cubicBezTo>
                <a:close/>
                <a:moveTo>
                  <a:pt x="65530" y="43255"/>
                </a:moveTo>
                <a:cubicBezTo>
                  <a:pt x="77594" y="43255"/>
                  <a:pt x="87373" y="52938"/>
                  <a:pt x="87373" y="64883"/>
                </a:cubicBezTo>
                <a:cubicBezTo>
                  <a:pt x="87373" y="76827"/>
                  <a:pt x="77594" y="86510"/>
                  <a:pt x="65530" y="86510"/>
                </a:cubicBezTo>
                <a:cubicBezTo>
                  <a:pt x="53466" y="86510"/>
                  <a:pt x="43686" y="76827"/>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p>
        </p:txBody>
      </p:sp>
      <p:sp>
        <p:nvSpPr>
          <p:cNvPr id="328" name="Freeform: Shape 327">
            <a:extLst>
              <a:ext uri="{FF2B5EF4-FFF2-40B4-BE49-F238E27FC236}">
                <a16:creationId xmlns:a16="http://schemas.microsoft.com/office/drawing/2014/main" id="{247BB69D-37AD-C1C0-6DCA-FB0CB29D9A3F}"/>
              </a:ext>
            </a:extLst>
          </p:cNvPr>
          <p:cNvSpPr/>
          <p:nvPr/>
        </p:nvSpPr>
        <p:spPr>
          <a:xfrm>
            <a:off x="8705483" y="233286"/>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6"/>
                  <a:pt x="131059" y="64883"/>
                </a:cubicBezTo>
                <a:cubicBezTo>
                  <a:pt x="131059" y="29049"/>
                  <a:pt x="101721" y="0"/>
                  <a:pt x="65530" y="0"/>
                </a:cubicBezTo>
                <a:cubicBezTo>
                  <a:pt x="29338" y="0"/>
                  <a:pt x="0" y="29049"/>
                  <a:pt x="0" y="64883"/>
                </a:cubicBezTo>
                <a:cubicBezTo>
                  <a:pt x="0" y="100716"/>
                  <a:pt x="29338" y="129765"/>
                  <a:pt x="65530" y="129765"/>
                </a:cubicBezTo>
                <a:close/>
                <a:moveTo>
                  <a:pt x="65530" y="43255"/>
                </a:moveTo>
                <a:cubicBezTo>
                  <a:pt x="77594" y="43255"/>
                  <a:pt x="87373" y="52938"/>
                  <a:pt x="87373" y="64883"/>
                </a:cubicBezTo>
                <a:cubicBezTo>
                  <a:pt x="87373" y="76827"/>
                  <a:pt x="77594" y="86510"/>
                  <a:pt x="65530" y="86510"/>
                </a:cubicBezTo>
                <a:cubicBezTo>
                  <a:pt x="53466" y="86510"/>
                  <a:pt x="43686" y="76827"/>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p>
        </p:txBody>
      </p:sp>
      <p:sp>
        <p:nvSpPr>
          <p:cNvPr id="329" name="Freeform: Shape 328">
            <a:extLst>
              <a:ext uri="{FF2B5EF4-FFF2-40B4-BE49-F238E27FC236}">
                <a16:creationId xmlns:a16="http://schemas.microsoft.com/office/drawing/2014/main" id="{2D2393D7-2772-B98E-85B4-76DAC7C02CBC}"/>
              </a:ext>
            </a:extLst>
          </p:cNvPr>
          <p:cNvSpPr/>
          <p:nvPr/>
        </p:nvSpPr>
        <p:spPr>
          <a:xfrm>
            <a:off x="6579005" y="641948"/>
            <a:ext cx="233165" cy="341044"/>
          </a:xfrm>
          <a:custGeom>
            <a:avLst/>
            <a:gdLst>
              <a:gd name="connsiteX0" fmla="*/ 87373 w 174745"/>
              <a:gd name="connsiteY0" fmla="*/ 173021 h 173020"/>
              <a:gd name="connsiteX1" fmla="*/ 174745 w 174745"/>
              <a:gd name="connsiteY1" fmla="*/ 86510 h 173020"/>
              <a:gd name="connsiteX2" fmla="*/ 87373 w 174745"/>
              <a:gd name="connsiteY2" fmla="*/ 0 h 173020"/>
              <a:gd name="connsiteX3" fmla="*/ 0 w 174745"/>
              <a:gd name="connsiteY3" fmla="*/ 86510 h 173020"/>
              <a:gd name="connsiteX4" fmla="*/ 87373 w 174745"/>
              <a:gd name="connsiteY4" fmla="*/ 173021 h 173020"/>
              <a:gd name="connsiteX5" fmla="*/ 87373 w 174745"/>
              <a:gd name="connsiteY5" fmla="*/ 43255 h 173020"/>
              <a:gd name="connsiteX6" fmla="*/ 131059 w 174745"/>
              <a:gd name="connsiteY6" fmla="*/ 86510 h 173020"/>
              <a:gd name="connsiteX7" fmla="*/ 87373 w 174745"/>
              <a:gd name="connsiteY7" fmla="*/ 129765 h 173020"/>
              <a:gd name="connsiteX8" fmla="*/ 43686 w 174745"/>
              <a:gd name="connsiteY8" fmla="*/ 86510 h 173020"/>
              <a:gd name="connsiteX9" fmla="*/ 87373 w 174745"/>
              <a:gd name="connsiteY9" fmla="*/ 43255 h 173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4745" h="173020">
                <a:moveTo>
                  <a:pt x="87373" y="173021"/>
                </a:moveTo>
                <a:cubicBezTo>
                  <a:pt x="135626" y="173021"/>
                  <a:pt x="174745" y="134288"/>
                  <a:pt x="174745" y="86510"/>
                </a:cubicBezTo>
                <a:cubicBezTo>
                  <a:pt x="174745" y="38732"/>
                  <a:pt x="135626" y="0"/>
                  <a:pt x="87373" y="0"/>
                </a:cubicBezTo>
                <a:cubicBezTo>
                  <a:pt x="39119" y="0"/>
                  <a:pt x="0" y="38732"/>
                  <a:pt x="0" y="86510"/>
                </a:cubicBezTo>
                <a:cubicBezTo>
                  <a:pt x="0" y="134288"/>
                  <a:pt x="39119" y="173021"/>
                  <a:pt x="87373" y="173021"/>
                </a:cubicBezTo>
                <a:close/>
                <a:moveTo>
                  <a:pt x="87373" y="43255"/>
                </a:moveTo>
                <a:cubicBezTo>
                  <a:pt x="111501" y="43255"/>
                  <a:pt x="131059" y="62620"/>
                  <a:pt x="131059" y="86510"/>
                </a:cubicBezTo>
                <a:cubicBezTo>
                  <a:pt x="131059" y="110400"/>
                  <a:pt x="111501" y="129765"/>
                  <a:pt x="87373" y="129765"/>
                </a:cubicBezTo>
                <a:cubicBezTo>
                  <a:pt x="63245" y="129765"/>
                  <a:pt x="43686" y="110400"/>
                  <a:pt x="43686" y="86510"/>
                </a:cubicBezTo>
                <a:cubicBezTo>
                  <a:pt x="43686" y="62620"/>
                  <a:pt x="63245" y="43255"/>
                  <a:pt x="87373" y="43255"/>
                </a:cubicBezTo>
                <a:close/>
              </a:path>
            </a:pathLst>
          </a:custGeom>
          <a:solidFill>
            <a:srgbClr val="000000"/>
          </a:solidFill>
          <a:ln w="21828" cap="flat">
            <a:noFill/>
            <a:prstDash val="solid"/>
            <a:miter/>
          </a:ln>
        </p:spPr>
        <p:txBody>
          <a:bodyPr rtlCol="0" anchor="ctr"/>
          <a:lstStyle/>
          <a:p>
            <a:endParaRPr lang="en-GB"/>
          </a:p>
        </p:txBody>
      </p:sp>
      <p:sp>
        <p:nvSpPr>
          <p:cNvPr id="2" name="TextBox 1">
            <a:extLst>
              <a:ext uri="{FF2B5EF4-FFF2-40B4-BE49-F238E27FC236}">
                <a16:creationId xmlns:a16="http://schemas.microsoft.com/office/drawing/2014/main" id="{5E22C269-2B8D-04AF-44D1-06FC52DCCA04}"/>
              </a:ext>
            </a:extLst>
          </p:cNvPr>
          <p:cNvSpPr txBox="1"/>
          <p:nvPr/>
        </p:nvSpPr>
        <p:spPr>
          <a:xfrm>
            <a:off x="144316" y="961919"/>
            <a:ext cx="5320278" cy="1413207"/>
          </a:xfrm>
          <a:prstGeom prst="rect">
            <a:avLst/>
          </a:prstGeom>
          <a:noFill/>
        </p:spPr>
        <p:txBody>
          <a:bodyPr wrap="square" rtlCol="0">
            <a:spAutoFit/>
          </a:bodyPr>
          <a:lstStyle/>
          <a:p>
            <a:pPr algn="l" rtl="0" fontAlgn="base">
              <a:lnSpc>
                <a:spcPts val="675"/>
              </a:lnSpc>
            </a:pPr>
            <a:r>
              <a:rPr lang="en-GB" sz="1800" b="1" i="0">
                <a:solidFill>
                  <a:srgbClr val="000000"/>
                </a:solidFill>
                <a:effectLst/>
                <a:latin typeface="Sassoon Infant Rg" panose="02000503030000020003" pitchFamily="2" charset="0"/>
                <a:ea typeface="Sassoon Infant Rg" panose="02000503030000020003" pitchFamily="2" charset="0"/>
              </a:rPr>
              <a:t> </a:t>
            </a:r>
            <a:endParaRPr lang="en-GB" b="1" i="0">
              <a:solidFill>
                <a:srgbClr val="000000"/>
              </a:solidFill>
              <a:effectLst/>
              <a:latin typeface="Sassoon Infant Rg" panose="02000503030000020003" pitchFamily="2" charset="0"/>
              <a:ea typeface="Sassoon Infant Rg" panose="02000503030000020003" pitchFamily="2" charset="0"/>
            </a:endParaRPr>
          </a:p>
          <a:p>
            <a:pPr algn="l" rtl="0" fontAlgn="base"/>
            <a:r>
              <a:rPr lang="en-GB" sz="2000" b="1" i="1">
                <a:solidFill>
                  <a:srgbClr val="000000"/>
                </a:solidFill>
                <a:effectLst/>
                <a:latin typeface="Sassoon Infant Rg" panose="02000503030000020003" pitchFamily="2" charset="0"/>
                <a:ea typeface="Sassoon Infant Rg" panose="02000503030000020003" pitchFamily="2" charset="0"/>
              </a:rPr>
              <a:t>About 3.8 years ago, on a planet called Earth, certain molecules combined to form particularly large and intricate structures called organisms. The story of organisms is called biology.</a:t>
            </a:r>
            <a:r>
              <a:rPr lang="en-GB" sz="2000" b="1" i="0">
                <a:solidFill>
                  <a:srgbClr val="000000"/>
                </a:solidFill>
                <a:effectLst/>
                <a:latin typeface="Sassoon Infant Rg" panose="02000503030000020003" pitchFamily="2" charset="0"/>
                <a:ea typeface="Sassoon Infant Rg" panose="02000503030000020003" pitchFamily="2" charset="0"/>
              </a:rPr>
              <a:t> </a:t>
            </a:r>
          </a:p>
        </p:txBody>
      </p:sp>
      <p:sp>
        <p:nvSpPr>
          <p:cNvPr id="3" name="TextBox 2">
            <a:extLst>
              <a:ext uri="{FF2B5EF4-FFF2-40B4-BE49-F238E27FC236}">
                <a16:creationId xmlns:a16="http://schemas.microsoft.com/office/drawing/2014/main" id="{321CCE1F-EE98-2AF3-6116-31B140F6DF0A}"/>
              </a:ext>
            </a:extLst>
          </p:cNvPr>
          <p:cNvSpPr txBox="1"/>
          <p:nvPr/>
        </p:nvSpPr>
        <p:spPr>
          <a:xfrm>
            <a:off x="1154787" y="348834"/>
            <a:ext cx="3831345" cy="523220"/>
          </a:xfrm>
          <a:prstGeom prst="rect">
            <a:avLst/>
          </a:prstGeom>
          <a:noFill/>
        </p:spPr>
        <p:txBody>
          <a:bodyPr wrap="square">
            <a:spAutoFit/>
          </a:bodyPr>
          <a:lstStyle/>
          <a:p>
            <a:pPr fontAlgn="base"/>
            <a:r>
              <a:rPr lang="en-GB" sz="2800" b="1">
                <a:solidFill>
                  <a:srgbClr val="000000"/>
                </a:solidFill>
                <a:latin typeface="Sassoon Infant Rg" panose="02000503030000020003" pitchFamily="2" charset="0"/>
                <a:ea typeface="Sassoon Infant Rg" panose="02000503030000020003" pitchFamily="2" charset="0"/>
              </a:rPr>
              <a:t>What is Biology?</a:t>
            </a:r>
            <a:r>
              <a:rPr lang="en-GB" sz="2800">
                <a:solidFill>
                  <a:srgbClr val="000000"/>
                </a:solidFill>
                <a:latin typeface="Sassoon Infant Rg" panose="02000503030000020003" pitchFamily="2" charset="0"/>
                <a:ea typeface="Sassoon Infant Rg" panose="02000503030000020003" pitchFamily="2" charset="0"/>
              </a:rPr>
              <a:t> </a:t>
            </a:r>
            <a:endParaRPr lang="en-GB" sz="6600" b="0" i="0">
              <a:solidFill>
                <a:srgbClr val="000000"/>
              </a:solidFill>
              <a:effectLst/>
              <a:latin typeface="Segoe UI" panose="020B0502040204020203" pitchFamily="34" charset="0"/>
            </a:endParaRPr>
          </a:p>
        </p:txBody>
      </p:sp>
      <p:pic>
        <p:nvPicPr>
          <p:cNvPr id="4" name="Picture 3">
            <a:extLst>
              <a:ext uri="{FF2B5EF4-FFF2-40B4-BE49-F238E27FC236}">
                <a16:creationId xmlns:a16="http://schemas.microsoft.com/office/drawing/2014/main" id="{2ADDE01E-59C9-3A47-6869-52505060A786}"/>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144316" y="105448"/>
            <a:ext cx="1104848" cy="856471"/>
          </a:xfrm>
          <a:prstGeom prst="rect">
            <a:avLst/>
          </a:prstGeom>
        </p:spPr>
      </p:pic>
      <p:sp>
        <p:nvSpPr>
          <p:cNvPr id="26" name="TextBox 25">
            <a:extLst>
              <a:ext uri="{FF2B5EF4-FFF2-40B4-BE49-F238E27FC236}">
                <a16:creationId xmlns:a16="http://schemas.microsoft.com/office/drawing/2014/main" id="{704E8855-FAF1-1650-B0F6-76C7E36AB251}"/>
              </a:ext>
            </a:extLst>
          </p:cNvPr>
          <p:cNvSpPr txBox="1"/>
          <p:nvPr/>
        </p:nvSpPr>
        <p:spPr>
          <a:xfrm>
            <a:off x="1585255" y="2582636"/>
            <a:ext cx="2438400" cy="461665"/>
          </a:xfrm>
          <a:prstGeom prst="rect">
            <a:avLst/>
          </a:prstGeom>
          <a:noFill/>
        </p:spPr>
        <p:txBody>
          <a:bodyPr wrap="square">
            <a:spAutoFit/>
          </a:bodyPr>
          <a:lstStyle/>
          <a:p>
            <a:pPr fontAlgn="base"/>
            <a:r>
              <a:rPr lang="en-GB" sz="2400" b="1" u="sng">
                <a:solidFill>
                  <a:srgbClr val="000000"/>
                </a:solidFill>
                <a:latin typeface="Sassoon Infant Rg" panose="02000503030000020003" pitchFamily="2" charset="0"/>
                <a:ea typeface="Sassoon Infant Rg" panose="02000503030000020003" pitchFamily="2" charset="0"/>
              </a:rPr>
              <a:t>Key concepts:</a:t>
            </a:r>
            <a:endParaRPr lang="en-GB" sz="6000" b="0" i="0" u="sng">
              <a:solidFill>
                <a:srgbClr val="000000"/>
              </a:solidFill>
              <a:effectLst/>
              <a:latin typeface="Segoe UI" panose="020B0502040204020203" pitchFamily="34" charset="0"/>
            </a:endParaRPr>
          </a:p>
        </p:txBody>
      </p:sp>
      <p:sp>
        <p:nvSpPr>
          <p:cNvPr id="53" name="Oval 52">
            <a:extLst>
              <a:ext uri="{FF2B5EF4-FFF2-40B4-BE49-F238E27FC236}">
                <a16:creationId xmlns:a16="http://schemas.microsoft.com/office/drawing/2014/main" id="{B051AB66-7349-1099-C751-9EC08CFE9B0C}"/>
              </a:ext>
            </a:extLst>
          </p:cNvPr>
          <p:cNvSpPr/>
          <p:nvPr/>
        </p:nvSpPr>
        <p:spPr>
          <a:xfrm>
            <a:off x="3608299" y="4711431"/>
            <a:ext cx="1773377" cy="160735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All organisms are classified based on how closely related they are on the tree of life.</a:t>
            </a:r>
          </a:p>
        </p:txBody>
      </p:sp>
      <p:sp>
        <p:nvSpPr>
          <p:cNvPr id="54" name="Oval 53">
            <a:extLst>
              <a:ext uri="{FF2B5EF4-FFF2-40B4-BE49-F238E27FC236}">
                <a16:creationId xmlns:a16="http://schemas.microsoft.com/office/drawing/2014/main" id="{C67A1233-1634-4036-D4CF-21DFD986BE87}"/>
              </a:ext>
            </a:extLst>
          </p:cNvPr>
          <p:cNvSpPr/>
          <p:nvPr/>
        </p:nvSpPr>
        <p:spPr>
          <a:xfrm>
            <a:off x="472935" y="2981007"/>
            <a:ext cx="1681918" cy="151115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All organisms share a common set of essential life processes</a:t>
            </a:r>
          </a:p>
        </p:txBody>
      </p:sp>
      <p:sp>
        <p:nvSpPr>
          <p:cNvPr id="55" name="Oval 54">
            <a:extLst>
              <a:ext uri="{FF2B5EF4-FFF2-40B4-BE49-F238E27FC236}">
                <a16:creationId xmlns:a16="http://schemas.microsoft.com/office/drawing/2014/main" id="{370DCC7D-F641-A58B-229C-6F3C8AC2C28D}"/>
              </a:ext>
            </a:extLst>
          </p:cNvPr>
          <p:cNvSpPr/>
          <p:nvPr/>
        </p:nvSpPr>
        <p:spPr>
          <a:xfrm>
            <a:off x="4201955" y="2904053"/>
            <a:ext cx="1537915" cy="136486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Species arise, change, and become extinct over time</a:t>
            </a:r>
          </a:p>
        </p:txBody>
      </p:sp>
      <p:sp>
        <p:nvSpPr>
          <p:cNvPr id="56" name="Oval 55">
            <a:extLst>
              <a:ext uri="{FF2B5EF4-FFF2-40B4-BE49-F238E27FC236}">
                <a16:creationId xmlns:a16="http://schemas.microsoft.com/office/drawing/2014/main" id="{CB6F2BC4-CB71-D7AB-D684-4AD7E36B3A05}"/>
              </a:ext>
            </a:extLst>
          </p:cNvPr>
          <p:cNvSpPr/>
          <p:nvPr/>
        </p:nvSpPr>
        <p:spPr>
          <a:xfrm>
            <a:off x="767803" y="4793887"/>
            <a:ext cx="1343333" cy="124247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Genetics maintain continuity plus allow for change</a:t>
            </a:r>
          </a:p>
        </p:txBody>
      </p:sp>
      <p:sp>
        <p:nvSpPr>
          <p:cNvPr id="57" name="Oval 56">
            <a:extLst>
              <a:ext uri="{FF2B5EF4-FFF2-40B4-BE49-F238E27FC236}">
                <a16:creationId xmlns:a16="http://schemas.microsoft.com/office/drawing/2014/main" id="{CB0B2F97-FC19-179C-B94C-F60BF98FB1ED}"/>
              </a:ext>
            </a:extLst>
          </p:cNvPr>
          <p:cNvSpPr/>
          <p:nvPr/>
        </p:nvSpPr>
        <p:spPr>
          <a:xfrm>
            <a:off x="2425204" y="3244990"/>
            <a:ext cx="1734454" cy="145080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Organisms interact with each other and with their environment</a:t>
            </a:r>
          </a:p>
        </p:txBody>
      </p:sp>
      <p:sp>
        <p:nvSpPr>
          <p:cNvPr id="7" name="TextBox 6">
            <a:extLst>
              <a:ext uri="{FF2B5EF4-FFF2-40B4-BE49-F238E27FC236}">
                <a16:creationId xmlns:a16="http://schemas.microsoft.com/office/drawing/2014/main" id="{1E4D715B-0080-0C2D-14AE-4ABA969BFD79}"/>
              </a:ext>
            </a:extLst>
          </p:cNvPr>
          <p:cNvSpPr txBox="1"/>
          <p:nvPr/>
        </p:nvSpPr>
        <p:spPr>
          <a:xfrm>
            <a:off x="8385348" y="1300852"/>
            <a:ext cx="2291560" cy="523220"/>
          </a:xfrm>
          <a:prstGeom prst="rect">
            <a:avLst/>
          </a:prstGeom>
          <a:noFill/>
        </p:spPr>
        <p:txBody>
          <a:bodyPr wrap="square">
            <a:spAutoFit/>
          </a:bodyPr>
          <a:lstStyle/>
          <a:p>
            <a:pPr fontAlgn="base"/>
            <a:r>
              <a:rPr lang="en-GB" sz="2800" b="1" u="sng">
                <a:solidFill>
                  <a:srgbClr val="000000"/>
                </a:solidFill>
                <a:latin typeface="Sassoon Infant Rg" panose="02000503030000020003" pitchFamily="2" charset="0"/>
                <a:ea typeface="Sassoon Infant Rg" panose="02000503030000020003" pitchFamily="2" charset="0"/>
              </a:rPr>
              <a:t>Contexts</a:t>
            </a:r>
            <a:endParaRPr lang="en-GB" sz="4800" b="0" i="0" u="sng">
              <a:solidFill>
                <a:srgbClr val="000000"/>
              </a:solidFill>
              <a:effectLst/>
              <a:latin typeface="Segoe UI" panose="020B0502040204020203" pitchFamily="34" charset="0"/>
            </a:endParaRPr>
          </a:p>
        </p:txBody>
      </p:sp>
    </p:spTree>
    <p:extLst>
      <p:ext uri="{BB962C8B-B14F-4D97-AF65-F5344CB8AC3E}">
        <p14:creationId xmlns:p14="http://schemas.microsoft.com/office/powerpoint/2010/main" val="2497796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37" presetClass="entr" presetSubtype="0" fill="hold" grpId="0" nodeType="clickEffect">
                                  <p:stCondLst>
                                    <p:cond delay="0"/>
                                  </p:stCondLst>
                                  <p:childTnLst>
                                    <p:set>
                                      <p:cBhvr>
                                        <p:cTn id="46" dur="1" fill="hold">
                                          <p:stCondLst>
                                            <p:cond delay="0"/>
                                          </p:stCondLst>
                                        </p:cTn>
                                        <p:tgtEl>
                                          <p:spTgt spid="57"/>
                                        </p:tgtEl>
                                        <p:attrNameLst>
                                          <p:attrName>style.visibility</p:attrName>
                                        </p:attrNameLst>
                                      </p:cBhvr>
                                      <p:to>
                                        <p:strVal val="visible"/>
                                      </p:to>
                                    </p:set>
                                    <p:animEffect transition="in" filter="fade">
                                      <p:cBhvr>
                                        <p:cTn id="47" dur="1000"/>
                                        <p:tgtEl>
                                          <p:spTgt spid="57"/>
                                        </p:tgtEl>
                                      </p:cBhvr>
                                    </p:animEffect>
                                    <p:anim calcmode="lin" valueType="num">
                                      <p:cBhvr>
                                        <p:cTn id="48" dur="1000" fill="hold"/>
                                        <p:tgtEl>
                                          <p:spTgt spid="57"/>
                                        </p:tgtEl>
                                        <p:attrNameLst>
                                          <p:attrName>ppt_x</p:attrName>
                                        </p:attrNameLst>
                                      </p:cBhvr>
                                      <p:tavLst>
                                        <p:tav tm="0">
                                          <p:val>
                                            <p:strVal val="#ppt_x"/>
                                          </p:val>
                                        </p:tav>
                                        <p:tav tm="100000">
                                          <p:val>
                                            <p:strVal val="#ppt_x"/>
                                          </p:val>
                                        </p:tav>
                                      </p:tavLst>
                                    </p:anim>
                                    <p:anim calcmode="lin" valueType="num">
                                      <p:cBhvr>
                                        <p:cTn id="49" dur="900" decel="100000" fill="hold"/>
                                        <p:tgtEl>
                                          <p:spTgt spid="57"/>
                                        </p:tgtEl>
                                        <p:attrNameLst>
                                          <p:attrName>ppt_y</p:attrName>
                                        </p:attrNameLst>
                                      </p:cBhvr>
                                      <p:tavLst>
                                        <p:tav tm="0">
                                          <p:val>
                                            <p:strVal val="#ppt_y+1"/>
                                          </p:val>
                                        </p:tav>
                                        <p:tav tm="100000">
                                          <p:val>
                                            <p:strVal val="#ppt_y-.03"/>
                                          </p:val>
                                        </p:tav>
                                      </p:tavLst>
                                    </p:anim>
                                    <p:anim calcmode="lin" valueType="num">
                                      <p:cBhvr>
                                        <p:cTn id="50" dur="100" accel="100000" fill="hold">
                                          <p:stCondLst>
                                            <p:cond delay="900"/>
                                          </p:stCondLst>
                                        </p:cTn>
                                        <p:tgtEl>
                                          <p:spTgt spid="57"/>
                                        </p:tgtEl>
                                        <p:attrNameLst>
                                          <p:attrName>ppt_y</p:attrName>
                                        </p:attrNameLst>
                                      </p:cBhvr>
                                      <p:tavLst>
                                        <p:tav tm="0">
                                          <p:val>
                                            <p:strVal val="#ppt_y-.03"/>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37" presetClass="entr" presetSubtype="0" fill="hold" grpId="0" nodeType="clickEffect">
                                  <p:stCondLst>
                                    <p:cond delay="0"/>
                                  </p:stCondLst>
                                  <p:childTnLst>
                                    <p:set>
                                      <p:cBhvr>
                                        <p:cTn id="54" dur="1" fill="hold">
                                          <p:stCondLst>
                                            <p:cond delay="0"/>
                                          </p:stCondLst>
                                        </p:cTn>
                                        <p:tgtEl>
                                          <p:spTgt spid="54"/>
                                        </p:tgtEl>
                                        <p:attrNameLst>
                                          <p:attrName>style.visibility</p:attrName>
                                        </p:attrNameLst>
                                      </p:cBhvr>
                                      <p:to>
                                        <p:strVal val="visible"/>
                                      </p:to>
                                    </p:set>
                                    <p:animEffect transition="in" filter="fade">
                                      <p:cBhvr>
                                        <p:cTn id="55" dur="1000"/>
                                        <p:tgtEl>
                                          <p:spTgt spid="54"/>
                                        </p:tgtEl>
                                      </p:cBhvr>
                                    </p:animEffect>
                                    <p:anim calcmode="lin" valueType="num">
                                      <p:cBhvr>
                                        <p:cTn id="56" dur="1000" fill="hold"/>
                                        <p:tgtEl>
                                          <p:spTgt spid="54"/>
                                        </p:tgtEl>
                                        <p:attrNameLst>
                                          <p:attrName>ppt_x</p:attrName>
                                        </p:attrNameLst>
                                      </p:cBhvr>
                                      <p:tavLst>
                                        <p:tav tm="0">
                                          <p:val>
                                            <p:strVal val="#ppt_x"/>
                                          </p:val>
                                        </p:tav>
                                        <p:tav tm="100000">
                                          <p:val>
                                            <p:strVal val="#ppt_x"/>
                                          </p:val>
                                        </p:tav>
                                      </p:tavLst>
                                    </p:anim>
                                    <p:anim calcmode="lin" valueType="num">
                                      <p:cBhvr>
                                        <p:cTn id="57" dur="900" decel="100000" fill="hold"/>
                                        <p:tgtEl>
                                          <p:spTgt spid="54"/>
                                        </p:tgtEl>
                                        <p:attrNameLst>
                                          <p:attrName>ppt_y</p:attrName>
                                        </p:attrNameLst>
                                      </p:cBhvr>
                                      <p:tavLst>
                                        <p:tav tm="0">
                                          <p:val>
                                            <p:strVal val="#ppt_y+1"/>
                                          </p:val>
                                        </p:tav>
                                        <p:tav tm="100000">
                                          <p:val>
                                            <p:strVal val="#ppt_y-.03"/>
                                          </p:val>
                                        </p:tav>
                                      </p:tavLst>
                                    </p:anim>
                                    <p:anim calcmode="lin" valueType="num">
                                      <p:cBhvr>
                                        <p:cTn id="58" dur="100" accel="100000" fill="hold">
                                          <p:stCondLst>
                                            <p:cond delay="900"/>
                                          </p:stCondLst>
                                        </p:cTn>
                                        <p:tgtEl>
                                          <p:spTgt spid="54"/>
                                        </p:tgtEl>
                                        <p:attrNameLst>
                                          <p:attrName>ppt_y</p:attrName>
                                        </p:attrNameLst>
                                      </p:cBhvr>
                                      <p:tavLst>
                                        <p:tav tm="0">
                                          <p:val>
                                            <p:strVal val="#ppt_y-.03"/>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37" presetClass="entr" presetSubtype="0" fill="hold" grpId="0" nodeType="clickEffect">
                                  <p:stCondLst>
                                    <p:cond delay="0"/>
                                  </p:stCondLst>
                                  <p:childTnLst>
                                    <p:set>
                                      <p:cBhvr>
                                        <p:cTn id="62" dur="1" fill="hold">
                                          <p:stCondLst>
                                            <p:cond delay="0"/>
                                          </p:stCondLst>
                                        </p:cTn>
                                        <p:tgtEl>
                                          <p:spTgt spid="53"/>
                                        </p:tgtEl>
                                        <p:attrNameLst>
                                          <p:attrName>style.visibility</p:attrName>
                                        </p:attrNameLst>
                                      </p:cBhvr>
                                      <p:to>
                                        <p:strVal val="visible"/>
                                      </p:to>
                                    </p:set>
                                    <p:animEffect transition="in" filter="fade">
                                      <p:cBhvr>
                                        <p:cTn id="63" dur="1000"/>
                                        <p:tgtEl>
                                          <p:spTgt spid="53"/>
                                        </p:tgtEl>
                                      </p:cBhvr>
                                    </p:animEffect>
                                    <p:anim calcmode="lin" valueType="num">
                                      <p:cBhvr>
                                        <p:cTn id="64" dur="1000" fill="hold"/>
                                        <p:tgtEl>
                                          <p:spTgt spid="53"/>
                                        </p:tgtEl>
                                        <p:attrNameLst>
                                          <p:attrName>ppt_x</p:attrName>
                                        </p:attrNameLst>
                                      </p:cBhvr>
                                      <p:tavLst>
                                        <p:tav tm="0">
                                          <p:val>
                                            <p:strVal val="#ppt_x"/>
                                          </p:val>
                                        </p:tav>
                                        <p:tav tm="100000">
                                          <p:val>
                                            <p:strVal val="#ppt_x"/>
                                          </p:val>
                                        </p:tav>
                                      </p:tavLst>
                                    </p:anim>
                                    <p:anim calcmode="lin" valueType="num">
                                      <p:cBhvr>
                                        <p:cTn id="65" dur="900" decel="100000" fill="hold"/>
                                        <p:tgtEl>
                                          <p:spTgt spid="53"/>
                                        </p:tgtEl>
                                        <p:attrNameLst>
                                          <p:attrName>ppt_y</p:attrName>
                                        </p:attrNameLst>
                                      </p:cBhvr>
                                      <p:tavLst>
                                        <p:tav tm="0">
                                          <p:val>
                                            <p:strVal val="#ppt_y+1"/>
                                          </p:val>
                                        </p:tav>
                                        <p:tav tm="100000">
                                          <p:val>
                                            <p:strVal val="#ppt_y-.03"/>
                                          </p:val>
                                        </p:tav>
                                      </p:tavLst>
                                    </p:anim>
                                    <p:anim calcmode="lin" valueType="num">
                                      <p:cBhvr>
                                        <p:cTn id="66" dur="100" accel="100000" fill="hold">
                                          <p:stCondLst>
                                            <p:cond delay="900"/>
                                          </p:stCondLst>
                                        </p:cTn>
                                        <p:tgtEl>
                                          <p:spTgt spid="53"/>
                                        </p:tgtEl>
                                        <p:attrNameLst>
                                          <p:attrName>ppt_y</p:attrName>
                                        </p:attrNameLst>
                                      </p:cBhvr>
                                      <p:tavLst>
                                        <p:tav tm="0">
                                          <p:val>
                                            <p:strVal val="#ppt_y-.03"/>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37" presetClass="entr" presetSubtype="0" fill="hold" grpId="0" nodeType="clickEffect">
                                  <p:stCondLst>
                                    <p:cond delay="0"/>
                                  </p:stCondLst>
                                  <p:childTnLst>
                                    <p:set>
                                      <p:cBhvr>
                                        <p:cTn id="70" dur="1" fill="hold">
                                          <p:stCondLst>
                                            <p:cond delay="0"/>
                                          </p:stCondLst>
                                        </p:cTn>
                                        <p:tgtEl>
                                          <p:spTgt spid="56"/>
                                        </p:tgtEl>
                                        <p:attrNameLst>
                                          <p:attrName>style.visibility</p:attrName>
                                        </p:attrNameLst>
                                      </p:cBhvr>
                                      <p:to>
                                        <p:strVal val="visible"/>
                                      </p:to>
                                    </p:set>
                                    <p:animEffect transition="in" filter="fade">
                                      <p:cBhvr>
                                        <p:cTn id="71" dur="1000"/>
                                        <p:tgtEl>
                                          <p:spTgt spid="56"/>
                                        </p:tgtEl>
                                      </p:cBhvr>
                                    </p:animEffect>
                                    <p:anim calcmode="lin" valueType="num">
                                      <p:cBhvr>
                                        <p:cTn id="72" dur="1000" fill="hold"/>
                                        <p:tgtEl>
                                          <p:spTgt spid="56"/>
                                        </p:tgtEl>
                                        <p:attrNameLst>
                                          <p:attrName>ppt_x</p:attrName>
                                        </p:attrNameLst>
                                      </p:cBhvr>
                                      <p:tavLst>
                                        <p:tav tm="0">
                                          <p:val>
                                            <p:strVal val="#ppt_x"/>
                                          </p:val>
                                        </p:tav>
                                        <p:tav tm="100000">
                                          <p:val>
                                            <p:strVal val="#ppt_x"/>
                                          </p:val>
                                        </p:tav>
                                      </p:tavLst>
                                    </p:anim>
                                    <p:anim calcmode="lin" valueType="num">
                                      <p:cBhvr>
                                        <p:cTn id="73" dur="900" decel="100000" fill="hold"/>
                                        <p:tgtEl>
                                          <p:spTgt spid="56"/>
                                        </p:tgtEl>
                                        <p:attrNameLst>
                                          <p:attrName>ppt_y</p:attrName>
                                        </p:attrNameLst>
                                      </p:cBhvr>
                                      <p:tavLst>
                                        <p:tav tm="0">
                                          <p:val>
                                            <p:strVal val="#ppt_y+1"/>
                                          </p:val>
                                        </p:tav>
                                        <p:tav tm="100000">
                                          <p:val>
                                            <p:strVal val="#ppt_y-.03"/>
                                          </p:val>
                                        </p:tav>
                                      </p:tavLst>
                                    </p:anim>
                                    <p:anim calcmode="lin" valueType="num">
                                      <p:cBhvr>
                                        <p:cTn id="74" dur="100" accel="100000" fill="hold">
                                          <p:stCondLst>
                                            <p:cond delay="900"/>
                                          </p:stCondLst>
                                        </p:cTn>
                                        <p:tgtEl>
                                          <p:spTgt spid="56"/>
                                        </p:tgtEl>
                                        <p:attrNameLst>
                                          <p:attrName>ppt_y</p:attrName>
                                        </p:attrNameLst>
                                      </p:cBhvr>
                                      <p:tavLst>
                                        <p:tav tm="0">
                                          <p:val>
                                            <p:strVal val="#ppt_y-.03"/>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37" presetClass="entr" presetSubtype="0" fill="hold" grpId="0" nodeType="clickEffect">
                                  <p:stCondLst>
                                    <p:cond delay="0"/>
                                  </p:stCondLst>
                                  <p:childTnLst>
                                    <p:set>
                                      <p:cBhvr>
                                        <p:cTn id="78" dur="1" fill="hold">
                                          <p:stCondLst>
                                            <p:cond delay="0"/>
                                          </p:stCondLst>
                                        </p:cTn>
                                        <p:tgtEl>
                                          <p:spTgt spid="55"/>
                                        </p:tgtEl>
                                        <p:attrNameLst>
                                          <p:attrName>style.visibility</p:attrName>
                                        </p:attrNameLst>
                                      </p:cBhvr>
                                      <p:to>
                                        <p:strVal val="visible"/>
                                      </p:to>
                                    </p:set>
                                    <p:animEffect transition="in" filter="fade">
                                      <p:cBhvr>
                                        <p:cTn id="79" dur="1000"/>
                                        <p:tgtEl>
                                          <p:spTgt spid="55"/>
                                        </p:tgtEl>
                                      </p:cBhvr>
                                    </p:animEffect>
                                    <p:anim calcmode="lin" valueType="num">
                                      <p:cBhvr>
                                        <p:cTn id="80" dur="1000" fill="hold"/>
                                        <p:tgtEl>
                                          <p:spTgt spid="55"/>
                                        </p:tgtEl>
                                        <p:attrNameLst>
                                          <p:attrName>ppt_x</p:attrName>
                                        </p:attrNameLst>
                                      </p:cBhvr>
                                      <p:tavLst>
                                        <p:tav tm="0">
                                          <p:val>
                                            <p:strVal val="#ppt_x"/>
                                          </p:val>
                                        </p:tav>
                                        <p:tav tm="100000">
                                          <p:val>
                                            <p:strVal val="#ppt_x"/>
                                          </p:val>
                                        </p:tav>
                                      </p:tavLst>
                                    </p:anim>
                                    <p:anim calcmode="lin" valueType="num">
                                      <p:cBhvr>
                                        <p:cTn id="81" dur="900" decel="100000" fill="hold"/>
                                        <p:tgtEl>
                                          <p:spTgt spid="55"/>
                                        </p:tgtEl>
                                        <p:attrNameLst>
                                          <p:attrName>ppt_y</p:attrName>
                                        </p:attrNameLst>
                                      </p:cBhvr>
                                      <p:tavLst>
                                        <p:tav tm="0">
                                          <p:val>
                                            <p:strVal val="#ppt_y+1"/>
                                          </p:val>
                                        </p:tav>
                                        <p:tav tm="100000">
                                          <p:val>
                                            <p:strVal val="#ppt_y-.03"/>
                                          </p:val>
                                        </p:tav>
                                      </p:tavLst>
                                    </p:anim>
                                    <p:anim calcmode="lin" valueType="num">
                                      <p:cBhvr>
                                        <p:cTn id="82" dur="100" accel="100000" fill="hold">
                                          <p:stCondLst>
                                            <p:cond delay="900"/>
                                          </p:stCondLst>
                                        </p:cTn>
                                        <p:tgtEl>
                                          <p:spTgt spid="55"/>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53" grpId="0" animBg="1"/>
      <p:bldP spid="54" grpId="0" animBg="1"/>
      <p:bldP spid="55" grpId="0" animBg="1"/>
      <p:bldP spid="56" grpId="0" animBg="1"/>
      <p:bldP spid="57"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5240231-85C4-B6F8-79B0-4D59DDA944B3}"/>
            </a:ext>
          </a:extLst>
        </p:cNvPr>
        <p:cNvGrpSpPr/>
        <p:nvPr/>
      </p:nvGrpSpPr>
      <p:grpSpPr>
        <a:xfrm>
          <a:off x="0" y="0"/>
          <a:ext cx="0" cy="0"/>
          <a:chOff x="0" y="0"/>
          <a:chExt cx="0" cy="0"/>
        </a:xfrm>
      </p:grpSpPr>
      <p:sp>
        <p:nvSpPr>
          <p:cNvPr id="273" name="Freeform: Shape 272">
            <a:extLst>
              <a:ext uri="{FF2B5EF4-FFF2-40B4-BE49-F238E27FC236}">
                <a16:creationId xmlns:a16="http://schemas.microsoft.com/office/drawing/2014/main" id="{F0001693-D043-CC3A-4272-AAF1EA1AC0E0}"/>
              </a:ext>
            </a:extLst>
          </p:cNvPr>
          <p:cNvSpPr/>
          <p:nvPr/>
        </p:nvSpPr>
        <p:spPr>
          <a:xfrm>
            <a:off x="6801640" y="168470"/>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6"/>
                  <a:pt x="131059" y="64883"/>
                </a:cubicBezTo>
                <a:cubicBezTo>
                  <a:pt x="131059" y="29049"/>
                  <a:pt x="101721" y="0"/>
                  <a:pt x="65530" y="0"/>
                </a:cubicBezTo>
                <a:cubicBezTo>
                  <a:pt x="29338" y="0"/>
                  <a:pt x="0" y="29049"/>
                  <a:pt x="0" y="64883"/>
                </a:cubicBezTo>
                <a:cubicBezTo>
                  <a:pt x="0" y="100716"/>
                  <a:pt x="29338" y="129765"/>
                  <a:pt x="65530" y="129765"/>
                </a:cubicBezTo>
                <a:close/>
                <a:moveTo>
                  <a:pt x="65530" y="43255"/>
                </a:moveTo>
                <a:cubicBezTo>
                  <a:pt x="77594" y="43255"/>
                  <a:pt x="87373" y="52938"/>
                  <a:pt x="87373" y="64883"/>
                </a:cubicBezTo>
                <a:cubicBezTo>
                  <a:pt x="87373" y="76827"/>
                  <a:pt x="77594" y="86510"/>
                  <a:pt x="65530" y="86510"/>
                </a:cubicBezTo>
                <a:cubicBezTo>
                  <a:pt x="53466" y="86510"/>
                  <a:pt x="43686" y="76827"/>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latin typeface="Sassoon Infant Rg" panose="02000503030000020003" pitchFamily="2" charset="0"/>
              <a:ea typeface="Sassoon Infant Rg" panose="02000503030000020003" pitchFamily="2" charset="0"/>
            </a:endParaRPr>
          </a:p>
        </p:txBody>
      </p:sp>
      <p:sp>
        <p:nvSpPr>
          <p:cNvPr id="284" name="Freeform: Shape 283">
            <a:extLst>
              <a:ext uri="{FF2B5EF4-FFF2-40B4-BE49-F238E27FC236}">
                <a16:creationId xmlns:a16="http://schemas.microsoft.com/office/drawing/2014/main" id="{4BC57085-968B-C9B0-2630-0D03D1084875}"/>
              </a:ext>
            </a:extLst>
          </p:cNvPr>
          <p:cNvSpPr/>
          <p:nvPr/>
        </p:nvSpPr>
        <p:spPr>
          <a:xfrm>
            <a:off x="9467674" y="224090"/>
            <a:ext cx="233165" cy="341044"/>
          </a:xfrm>
          <a:custGeom>
            <a:avLst/>
            <a:gdLst>
              <a:gd name="connsiteX0" fmla="*/ 87373 w 174745"/>
              <a:gd name="connsiteY0" fmla="*/ 173021 h 173020"/>
              <a:gd name="connsiteX1" fmla="*/ 174745 w 174745"/>
              <a:gd name="connsiteY1" fmla="*/ 86510 h 173020"/>
              <a:gd name="connsiteX2" fmla="*/ 87373 w 174745"/>
              <a:gd name="connsiteY2" fmla="*/ 0 h 173020"/>
              <a:gd name="connsiteX3" fmla="*/ 0 w 174745"/>
              <a:gd name="connsiteY3" fmla="*/ 86510 h 173020"/>
              <a:gd name="connsiteX4" fmla="*/ 87373 w 174745"/>
              <a:gd name="connsiteY4" fmla="*/ 173021 h 173020"/>
              <a:gd name="connsiteX5" fmla="*/ 87373 w 174745"/>
              <a:gd name="connsiteY5" fmla="*/ 43255 h 173020"/>
              <a:gd name="connsiteX6" fmla="*/ 131059 w 174745"/>
              <a:gd name="connsiteY6" fmla="*/ 86510 h 173020"/>
              <a:gd name="connsiteX7" fmla="*/ 87373 w 174745"/>
              <a:gd name="connsiteY7" fmla="*/ 129765 h 173020"/>
              <a:gd name="connsiteX8" fmla="*/ 43686 w 174745"/>
              <a:gd name="connsiteY8" fmla="*/ 86510 h 173020"/>
              <a:gd name="connsiteX9" fmla="*/ 87373 w 174745"/>
              <a:gd name="connsiteY9" fmla="*/ 43255 h 173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4745" h="173020">
                <a:moveTo>
                  <a:pt x="87373" y="173021"/>
                </a:moveTo>
                <a:cubicBezTo>
                  <a:pt x="135626" y="173021"/>
                  <a:pt x="174745" y="134288"/>
                  <a:pt x="174745" y="86510"/>
                </a:cubicBezTo>
                <a:cubicBezTo>
                  <a:pt x="174745" y="38732"/>
                  <a:pt x="135626" y="0"/>
                  <a:pt x="87373" y="0"/>
                </a:cubicBezTo>
                <a:cubicBezTo>
                  <a:pt x="39119" y="0"/>
                  <a:pt x="0" y="38732"/>
                  <a:pt x="0" y="86510"/>
                </a:cubicBezTo>
                <a:cubicBezTo>
                  <a:pt x="0" y="134288"/>
                  <a:pt x="39119" y="173021"/>
                  <a:pt x="87373" y="173021"/>
                </a:cubicBezTo>
                <a:close/>
                <a:moveTo>
                  <a:pt x="87373" y="43255"/>
                </a:moveTo>
                <a:cubicBezTo>
                  <a:pt x="111501" y="43255"/>
                  <a:pt x="131059" y="62620"/>
                  <a:pt x="131059" y="86510"/>
                </a:cubicBezTo>
                <a:cubicBezTo>
                  <a:pt x="131059" y="110400"/>
                  <a:pt x="111501" y="129765"/>
                  <a:pt x="87373" y="129765"/>
                </a:cubicBezTo>
                <a:cubicBezTo>
                  <a:pt x="63245" y="129765"/>
                  <a:pt x="43686" y="110400"/>
                  <a:pt x="43686" y="86510"/>
                </a:cubicBezTo>
                <a:cubicBezTo>
                  <a:pt x="43686" y="62620"/>
                  <a:pt x="63245" y="43255"/>
                  <a:pt x="87373" y="43255"/>
                </a:cubicBezTo>
                <a:close/>
              </a:path>
            </a:pathLst>
          </a:custGeom>
          <a:solidFill>
            <a:srgbClr val="000000"/>
          </a:solidFill>
          <a:ln w="21828" cap="flat">
            <a:noFill/>
            <a:prstDash val="solid"/>
            <a:miter/>
          </a:ln>
        </p:spPr>
        <p:txBody>
          <a:bodyPr rtlCol="0" anchor="ctr"/>
          <a:lstStyle/>
          <a:p>
            <a:endParaRPr lang="en-GB">
              <a:latin typeface="Sassoon Infant Rg" panose="02000503030000020003" pitchFamily="2" charset="0"/>
              <a:ea typeface="Sassoon Infant Rg" panose="02000503030000020003" pitchFamily="2" charset="0"/>
            </a:endParaRPr>
          </a:p>
        </p:txBody>
      </p:sp>
      <p:sp>
        <p:nvSpPr>
          <p:cNvPr id="285" name="Freeform: Shape 284">
            <a:extLst>
              <a:ext uri="{FF2B5EF4-FFF2-40B4-BE49-F238E27FC236}">
                <a16:creationId xmlns:a16="http://schemas.microsoft.com/office/drawing/2014/main" id="{621C901B-4600-DFE6-B8CD-B60790C600D7}"/>
              </a:ext>
            </a:extLst>
          </p:cNvPr>
          <p:cNvSpPr/>
          <p:nvPr/>
        </p:nvSpPr>
        <p:spPr>
          <a:xfrm>
            <a:off x="8109740" y="434950"/>
            <a:ext cx="349748" cy="511568"/>
          </a:xfrm>
          <a:custGeom>
            <a:avLst/>
            <a:gdLst>
              <a:gd name="connsiteX0" fmla="*/ 131059 w 262118"/>
              <a:gd name="connsiteY0" fmla="*/ 259531 h 259530"/>
              <a:gd name="connsiteX1" fmla="*/ 262118 w 262118"/>
              <a:gd name="connsiteY1" fmla="*/ 129765 h 259530"/>
              <a:gd name="connsiteX2" fmla="*/ 131059 w 262118"/>
              <a:gd name="connsiteY2" fmla="*/ 0 h 259530"/>
              <a:gd name="connsiteX3" fmla="*/ 0 w 262118"/>
              <a:gd name="connsiteY3" fmla="*/ 129765 h 259530"/>
              <a:gd name="connsiteX4" fmla="*/ 131059 w 262118"/>
              <a:gd name="connsiteY4" fmla="*/ 259531 h 259530"/>
              <a:gd name="connsiteX5" fmla="*/ 131059 w 262118"/>
              <a:gd name="connsiteY5" fmla="*/ 43255 h 259530"/>
              <a:gd name="connsiteX6" fmla="*/ 218432 w 262118"/>
              <a:gd name="connsiteY6" fmla="*/ 129765 h 259530"/>
              <a:gd name="connsiteX7" fmla="*/ 131059 w 262118"/>
              <a:gd name="connsiteY7" fmla="*/ 216276 h 259530"/>
              <a:gd name="connsiteX8" fmla="*/ 43686 w 262118"/>
              <a:gd name="connsiteY8" fmla="*/ 129765 h 259530"/>
              <a:gd name="connsiteX9" fmla="*/ 131059 w 262118"/>
              <a:gd name="connsiteY9" fmla="*/ 43255 h 259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2118" h="259530">
                <a:moveTo>
                  <a:pt x="131059" y="259531"/>
                </a:moveTo>
                <a:cubicBezTo>
                  <a:pt x="203441" y="259531"/>
                  <a:pt x="262118" y="201433"/>
                  <a:pt x="262118" y="129765"/>
                </a:cubicBezTo>
                <a:cubicBezTo>
                  <a:pt x="262118" y="58098"/>
                  <a:pt x="203441" y="0"/>
                  <a:pt x="131059" y="0"/>
                </a:cubicBezTo>
                <a:cubicBezTo>
                  <a:pt x="58677" y="0"/>
                  <a:pt x="0" y="58098"/>
                  <a:pt x="0" y="129765"/>
                </a:cubicBezTo>
                <a:cubicBezTo>
                  <a:pt x="85" y="201398"/>
                  <a:pt x="58712" y="259446"/>
                  <a:pt x="131059" y="259531"/>
                </a:cubicBezTo>
                <a:close/>
                <a:moveTo>
                  <a:pt x="131059" y="43255"/>
                </a:moveTo>
                <a:cubicBezTo>
                  <a:pt x="179313" y="43255"/>
                  <a:pt x="218432" y="81988"/>
                  <a:pt x="218432" y="129765"/>
                </a:cubicBezTo>
                <a:cubicBezTo>
                  <a:pt x="218432" y="177543"/>
                  <a:pt x="179313" y="216276"/>
                  <a:pt x="131059" y="216276"/>
                </a:cubicBezTo>
                <a:cubicBezTo>
                  <a:pt x="82805" y="216276"/>
                  <a:pt x="43686" y="177543"/>
                  <a:pt x="43686" y="129765"/>
                </a:cubicBezTo>
                <a:cubicBezTo>
                  <a:pt x="43686" y="81988"/>
                  <a:pt x="82805" y="43255"/>
                  <a:pt x="131059" y="43255"/>
                </a:cubicBezTo>
                <a:close/>
              </a:path>
            </a:pathLst>
          </a:custGeom>
          <a:solidFill>
            <a:srgbClr val="000000"/>
          </a:solidFill>
          <a:ln w="21828" cap="flat">
            <a:noFill/>
            <a:prstDash val="solid"/>
            <a:miter/>
          </a:ln>
        </p:spPr>
        <p:txBody>
          <a:bodyPr rtlCol="0" anchor="ctr"/>
          <a:lstStyle/>
          <a:p>
            <a:endParaRPr lang="en-GB">
              <a:latin typeface="Sassoon Infant Rg" panose="02000503030000020003" pitchFamily="2" charset="0"/>
              <a:ea typeface="Sassoon Infant Rg" panose="02000503030000020003" pitchFamily="2" charset="0"/>
            </a:endParaRPr>
          </a:p>
        </p:txBody>
      </p:sp>
      <p:sp>
        <p:nvSpPr>
          <p:cNvPr id="286" name="Freeform: Shape 285">
            <a:extLst>
              <a:ext uri="{FF2B5EF4-FFF2-40B4-BE49-F238E27FC236}">
                <a16:creationId xmlns:a16="http://schemas.microsoft.com/office/drawing/2014/main" id="{A7886F02-2B30-5974-8C68-CE0F3531B81E}"/>
              </a:ext>
            </a:extLst>
          </p:cNvPr>
          <p:cNvSpPr/>
          <p:nvPr/>
        </p:nvSpPr>
        <p:spPr>
          <a:xfrm>
            <a:off x="7186402" y="549370"/>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7"/>
                  <a:pt x="131059" y="64883"/>
                </a:cubicBezTo>
                <a:cubicBezTo>
                  <a:pt x="131059" y="29048"/>
                  <a:pt x="101721" y="0"/>
                  <a:pt x="65530" y="0"/>
                </a:cubicBezTo>
                <a:cubicBezTo>
                  <a:pt x="29338" y="0"/>
                  <a:pt x="0" y="29048"/>
                  <a:pt x="0" y="64883"/>
                </a:cubicBezTo>
                <a:cubicBezTo>
                  <a:pt x="0" y="100717"/>
                  <a:pt x="29338" y="129765"/>
                  <a:pt x="65530" y="129765"/>
                </a:cubicBezTo>
                <a:close/>
                <a:moveTo>
                  <a:pt x="65530" y="43255"/>
                </a:moveTo>
                <a:cubicBezTo>
                  <a:pt x="77594" y="43255"/>
                  <a:pt x="87373" y="52938"/>
                  <a:pt x="87373" y="64883"/>
                </a:cubicBezTo>
                <a:cubicBezTo>
                  <a:pt x="87373" y="76828"/>
                  <a:pt x="77594" y="86510"/>
                  <a:pt x="65530" y="86510"/>
                </a:cubicBezTo>
                <a:cubicBezTo>
                  <a:pt x="53466" y="86510"/>
                  <a:pt x="43686" y="76828"/>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latin typeface="Sassoon Infant Rg" panose="02000503030000020003" pitchFamily="2" charset="0"/>
              <a:ea typeface="Sassoon Infant Rg" panose="02000503030000020003" pitchFamily="2" charset="0"/>
            </a:endParaRPr>
          </a:p>
        </p:txBody>
      </p:sp>
      <p:sp>
        <p:nvSpPr>
          <p:cNvPr id="51" name="TextBox 50">
            <a:extLst>
              <a:ext uri="{FF2B5EF4-FFF2-40B4-BE49-F238E27FC236}">
                <a16:creationId xmlns:a16="http://schemas.microsoft.com/office/drawing/2014/main" id="{B8D6FF0D-6409-F09F-DCDD-E4B78D5F0A7C}"/>
              </a:ext>
            </a:extLst>
          </p:cNvPr>
          <p:cNvSpPr txBox="1"/>
          <p:nvPr/>
        </p:nvSpPr>
        <p:spPr>
          <a:xfrm>
            <a:off x="144316" y="961919"/>
            <a:ext cx="5440510" cy="1200329"/>
          </a:xfrm>
          <a:prstGeom prst="rect">
            <a:avLst/>
          </a:prstGeom>
          <a:noFill/>
        </p:spPr>
        <p:txBody>
          <a:bodyPr wrap="square" rtlCol="0">
            <a:spAutoFit/>
          </a:bodyPr>
          <a:lstStyle/>
          <a:p>
            <a:pPr algn="just"/>
            <a:r>
              <a:rPr lang="en-GB" sz="1800" b="1" i="1">
                <a:solidFill>
                  <a:srgbClr val="000000"/>
                </a:solidFill>
                <a:effectLst/>
                <a:latin typeface="Sassoon Infant Rg" panose="02000503030000020003" pitchFamily="2" charset="0"/>
                <a:ea typeface="Sassoon Infant Rg" panose="02000503030000020003" pitchFamily="2" charset="0"/>
              </a:rPr>
              <a:t>About 13.8 billion years ago, matter, energy, time and space came into being in what is known as the Big Bang. The story of these fundamental features of our universe is called Physics.</a:t>
            </a:r>
            <a:r>
              <a:rPr lang="en-GB" sz="1800" b="1" i="0">
                <a:solidFill>
                  <a:srgbClr val="000000"/>
                </a:solidFill>
                <a:effectLst/>
                <a:latin typeface="Sassoon Infant Rg" panose="02000503030000020003" pitchFamily="2" charset="0"/>
                <a:ea typeface="Sassoon Infant Rg" panose="02000503030000020003" pitchFamily="2" charset="0"/>
              </a:rPr>
              <a:t> </a:t>
            </a:r>
            <a:endParaRPr lang="en-GB" sz="1400" b="1">
              <a:latin typeface="Sassoon Infant Rg" panose="02000503030000020003" pitchFamily="2" charset="0"/>
              <a:ea typeface="Sassoon Infant Rg" panose="02000503030000020003" pitchFamily="2" charset="0"/>
            </a:endParaRPr>
          </a:p>
        </p:txBody>
      </p:sp>
      <p:grpSp>
        <p:nvGrpSpPr>
          <p:cNvPr id="6" name="Group 5">
            <a:extLst>
              <a:ext uri="{FF2B5EF4-FFF2-40B4-BE49-F238E27FC236}">
                <a16:creationId xmlns:a16="http://schemas.microsoft.com/office/drawing/2014/main" id="{F32E556E-711E-F9BF-1714-1CA3C5C1057E}"/>
              </a:ext>
            </a:extLst>
          </p:cNvPr>
          <p:cNvGrpSpPr/>
          <p:nvPr/>
        </p:nvGrpSpPr>
        <p:grpSpPr>
          <a:xfrm>
            <a:off x="6417190" y="5097492"/>
            <a:ext cx="4969774" cy="661583"/>
            <a:chOff x="1999694" y="1717038"/>
            <a:chExt cx="1713901" cy="2885442"/>
          </a:xfrm>
        </p:grpSpPr>
        <p:sp>
          <p:nvSpPr>
            <p:cNvPr id="10" name="Rectangle: Rounded Corners 9">
              <a:extLst>
                <a:ext uri="{FF2B5EF4-FFF2-40B4-BE49-F238E27FC236}">
                  <a16:creationId xmlns:a16="http://schemas.microsoft.com/office/drawing/2014/main" id="{9A52FC88-4923-D105-FF34-2215FC7016E4}"/>
                </a:ext>
              </a:extLst>
            </p:cNvPr>
            <p:cNvSpPr/>
            <p:nvPr/>
          </p:nvSpPr>
          <p:spPr>
            <a:xfrm>
              <a:off x="1999694" y="1717038"/>
              <a:ext cx="1713901" cy="2885442"/>
            </a:xfrm>
            <a:prstGeom prst="roundRect">
              <a:avLst/>
            </a:prstGeom>
            <a:solidFill>
              <a:schemeClr val="accent6">
                <a:lumMod val="40000"/>
                <a:lumOff val="60000"/>
              </a:schemeClr>
            </a:solidFill>
            <a:ln>
              <a:solidFill>
                <a:schemeClr val="accent6">
                  <a:lumMod val="40000"/>
                  <a:lumOff val="6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latin typeface="Sassoon Infant Rg" panose="02000503030000020003" pitchFamily="2" charset="0"/>
                <a:ea typeface="Sassoon Infant Rg" panose="02000503030000020003" pitchFamily="2" charset="0"/>
              </a:endParaRPr>
            </a:p>
          </p:txBody>
        </p:sp>
        <p:sp>
          <p:nvSpPr>
            <p:cNvPr id="11" name="Rectangle: Rounded Corners 4">
              <a:extLst>
                <a:ext uri="{FF2B5EF4-FFF2-40B4-BE49-F238E27FC236}">
                  <a16:creationId xmlns:a16="http://schemas.microsoft.com/office/drawing/2014/main" id="{FF520679-74AF-BA43-DCCD-A3587F5A3565}"/>
                </a:ext>
              </a:extLst>
            </p:cNvPr>
            <p:cNvSpPr txBox="1"/>
            <p:nvPr/>
          </p:nvSpPr>
          <p:spPr>
            <a:xfrm>
              <a:off x="2264968" y="1800703"/>
              <a:ext cx="1364961" cy="271811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lvl="0" defTabSz="1244600">
                <a:lnSpc>
                  <a:spcPct val="90000"/>
                </a:lnSpc>
                <a:spcBef>
                  <a:spcPct val="0"/>
                </a:spcBef>
                <a:spcAft>
                  <a:spcPct val="35000"/>
                </a:spcAft>
              </a:pPr>
              <a:r>
                <a:rPr lang="en-GB">
                  <a:solidFill>
                    <a:schemeClr val="tx1"/>
                  </a:solidFill>
                  <a:latin typeface="Sassoon Infant Rg" panose="02000503030000020003" pitchFamily="2" charset="0"/>
                  <a:ea typeface="Sassoon Infant Rg" panose="02000503030000020003" pitchFamily="2" charset="0"/>
                </a:rPr>
                <a:t>The Earth and its place in the solar system &amp; Electricity</a:t>
              </a:r>
              <a:endParaRPr lang="en-GB" sz="2000" kern="1200">
                <a:solidFill>
                  <a:schemeClr val="tx1"/>
                </a:solidFill>
                <a:latin typeface="Sassoon Infant Rg" panose="02000503030000020003" pitchFamily="2" charset="0"/>
                <a:ea typeface="Sassoon Infant Rg" panose="02000503030000020003" pitchFamily="2" charset="0"/>
              </a:endParaRPr>
            </a:p>
          </p:txBody>
        </p:sp>
      </p:grpSp>
      <p:grpSp>
        <p:nvGrpSpPr>
          <p:cNvPr id="30" name="Group 29">
            <a:extLst>
              <a:ext uri="{FF2B5EF4-FFF2-40B4-BE49-F238E27FC236}">
                <a16:creationId xmlns:a16="http://schemas.microsoft.com/office/drawing/2014/main" id="{17E7D3A0-9979-E6A6-1013-06E16FD73CE3}"/>
              </a:ext>
            </a:extLst>
          </p:cNvPr>
          <p:cNvGrpSpPr/>
          <p:nvPr/>
        </p:nvGrpSpPr>
        <p:grpSpPr>
          <a:xfrm>
            <a:off x="6532989" y="5035884"/>
            <a:ext cx="752715" cy="748493"/>
            <a:chOff x="4462145" y="450020"/>
            <a:chExt cx="801261" cy="903352"/>
          </a:xfrm>
        </p:grpSpPr>
        <p:pic>
          <p:nvPicPr>
            <p:cNvPr id="31" name="Picture 30">
              <a:extLst>
                <a:ext uri="{FF2B5EF4-FFF2-40B4-BE49-F238E27FC236}">
                  <a16:creationId xmlns:a16="http://schemas.microsoft.com/office/drawing/2014/main" id="{736777AB-2BDD-D388-3289-9FD132A52F25}"/>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32" name="TextBox 31">
              <a:extLst>
                <a:ext uri="{FF2B5EF4-FFF2-40B4-BE49-F238E27FC236}">
                  <a16:creationId xmlns:a16="http://schemas.microsoft.com/office/drawing/2014/main" id="{D86E68B7-4B17-4F2D-9F91-BC75723FCFBC}"/>
                </a:ext>
              </a:extLst>
            </p:cNvPr>
            <p:cNvSpPr txBox="1"/>
            <p:nvPr/>
          </p:nvSpPr>
          <p:spPr>
            <a:xfrm>
              <a:off x="4704080" y="708024"/>
              <a:ext cx="375920" cy="445745"/>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2</a:t>
              </a:r>
            </a:p>
          </p:txBody>
        </p:sp>
      </p:grpSp>
      <p:grpSp>
        <p:nvGrpSpPr>
          <p:cNvPr id="12" name="Group 11">
            <a:extLst>
              <a:ext uri="{FF2B5EF4-FFF2-40B4-BE49-F238E27FC236}">
                <a16:creationId xmlns:a16="http://schemas.microsoft.com/office/drawing/2014/main" id="{D909B65F-E280-8EC8-21F6-188B3E83611B}"/>
              </a:ext>
            </a:extLst>
          </p:cNvPr>
          <p:cNvGrpSpPr/>
          <p:nvPr/>
        </p:nvGrpSpPr>
        <p:grpSpPr>
          <a:xfrm>
            <a:off x="6450333" y="4413131"/>
            <a:ext cx="4827428" cy="661583"/>
            <a:chOff x="3999246" y="1747524"/>
            <a:chExt cx="1713901" cy="2824471"/>
          </a:xfrm>
        </p:grpSpPr>
        <p:sp>
          <p:nvSpPr>
            <p:cNvPr id="13" name="Rectangle: Rounded Corners 12">
              <a:extLst>
                <a:ext uri="{FF2B5EF4-FFF2-40B4-BE49-F238E27FC236}">
                  <a16:creationId xmlns:a16="http://schemas.microsoft.com/office/drawing/2014/main" id="{C8DB1201-42F0-2F33-40F6-C1C36936D15D}"/>
                </a:ext>
              </a:extLst>
            </p:cNvPr>
            <p:cNvSpPr/>
            <p:nvPr/>
          </p:nvSpPr>
          <p:spPr>
            <a:xfrm>
              <a:off x="3999246" y="1747524"/>
              <a:ext cx="1713901" cy="2824471"/>
            </a:xfrm>
            <a:prstGeom prst="roundRect">
              <a:avLst/>
            </a:prstGeom>
            <a:solidFill>
              <a:srgbClr val="F892BB"/>
            </a:solidFill>
            <a:ln>
              <a:solidFill>
                <a:srgbClr val="F892BB"/>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latin typeface="Sassoon Infant Rg" panose="02000503030000020003" pitchFamily="2" charset="0"/>
                <a:ea typeface="Sassoon Infant Rg" panose="02000503030000020003" pitchFamily="2" charset="0"/>
              </a:endParaRPr>
            </a:p>
          </p:txBody>
        </p:sp>
        <p:sp>
          <p:nvSpPr>
            <p:cNvPr id="14" name="Rectangle: Rounded Corners 4">
              <a:extLst>
                <a:ext uri="{FF2B5EF4-FFF2-40B4-BE49-F238E27FC236}">
                  <a16:creationId xmlns:a16="http://schemas.microsoft.com/office/drawing/2014/main" id="{DC86BEE0-2FD3-92EF-B0A6-FCBFE577707F}"/>
                </a:ext>
              </a:extLst>
            </p:cNvPr>
            <p:cNvSpPr txBox="1"/>
            <p:nvPr/>
          </p:nvSpPr>
          <p:spPr>
            <a:xfrm>
              <a:off x="4082912" y="1831190"/>
              <a:ext cx="1546569" cy="2657139"/>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endParaRPr lang="en-GB" sz="2000" b="1" u="sng" kern="1200">
                <a:solidFill>
                  <a:schemeClr val="tx1"/>
                </a:solidFill>
                <a:latin typeface="Sassoon Infant Rg" panose="02000503030000020003" pitchFamily="2" charset="0"/>
                <a:ea typeface="Sassoon Infant Rg" panose="02000503030000020003" pitchFamily="2" charset="0"/>
              </a:endParaRPr>
            </a:p>
          </p:txBody>
        </p:sp>
      </p:grpSp>
      <p:grpSp>
        <p:nvGrpSpPr>
          <p:cNvPr id="33" name="Group 32">
            <a:extLst>
              <a:ext uri="{FF2B5EF4-FFF2-40B4-BE49-F238E27FC236}">
                <a16:creationId xmlns:a16="http://schemas.microsoft.com/office/drawing/2014/main" id="{ECD5D015-889C-A7A2-5C7D-5E6350CD468A}"/>
              </a:ext>
            </a:extLst>
          </p:cNvPr>
          <p:cNvGrpSpPr/>
          <p:nvPr/>
        </p:nvGrpSpPr>
        <p:grpSpPr>
          <a:xfrm>
            <a:off x="6486751" y="4356793"/>
            <a:ext cx="752715" cy="748493"/>
            <a:chOff x="4462145" y="450020"/>
            <a:chExt cx="801261" cy="903352"/>
          </a:xfrm>
        </p:grpSpPr>
        <p:pic>
          <p:nvPicPr>
            <p:cNvPr id="34" name="Picture 33">
              <a:extLst>
                <a:ext uri="{FF2B5EF4-FFF2-40B4-BE49-F238E27FC236}">
                  <a16:creationId xmlns:a16="http://schemas.microsoft.com/office/drawing/2014/main" id="{AD9C7853-211B-DB89-DDD3-3DD24DACA186}"/>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35" name="TextBox 34">
              <a:extLst>
                <a:ext uri="{FF2B5EF4-FFF2-40B4-BE49-F238E27FC236}">
                  <a16:creationId xmlns:a16="http://schemas.microsoft.com/office/drawing/2014/main" id="{B67E146F-0A66-F812-9B4A-C3ABF6411409}"/>
                </a:ext>
              </a:extLst>
            </p:cNvPr>
            <p:cNvSpPr txBox="1"/>
            <p:nvPr/>
          </p:nvSpPr>
          <p:spPr>
            <a:xfrm>
              <a:off x="4704080" y="708024"/>
              <a:ext cx="375920" cy="445745"/>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3</a:t>
              </a:r>
            </a:p>
          </p:txBody>
        </p:sp>
      </p:grpSp>
      <p:grpSp>
        <p:nvGrpSpPr>
          <p:cNvPr id="15" name="Group 14">
            <a:extLst>
              <a:ext uri="{FF2B5EF4-FFF2-40B4-BE49-F238E27FC236}">
                <a16:creationId xmlns:a16="http://schemas.microsoft.com/office/drawing/2014/main" id="{CB3EC47B-CE70-DED6-768E-FCA6808DF75B}"/>
              </a:ext>
            </a:extLst>
          </p:cNvPr>
          <p:cNvGrpSpPr/>
          <p:nvPr/>
        </p:nvGrpSpPr>
        <p:grpSpPr>
          <a:xfrm>
            <a:off x="6431265" y="3709371"/>
            <a:ext cx="4865561" cy="661583"/>
            <a:chOff x="5998798" y="1737362"/>
            <a:chExt cx="1713901" cy="2844795"/>
          </a:xfrm>
          <a:solidFill>
            <a:schemeClr val="accent4">
              <a:lumMod val="20000"/>
              <a:lumOff val="80000"/>
            </a:schemeClr>
          </a:solidFill>
        </p:grpSpPr>
        <p:sp>
          <p:nvSpPr>
            <p:cNvPr id="16" name="Rectangle: Rounded Corners 15">
              <a:extLst>
                <a:ext uri="{FF2B5EF4-FFF2-40B4-BE49-F238E27FC236}">
                  <a16:creationId xmlns:a16="http://schemas.microsoft.com/office/drawing/2014/main" id="{3551F458-4773-9E87-E7DA-682E608CEF8D}"/>
                </a:ext>
              </a:extLst>
            </p:cNvPr>
            <p:cNvSpPr/>
            <p:nvPr/>
          </p:nvSpPr>
          <p:spPr>
            <a:xfrm>
              <a:off x="5998798" y="1737362"/>
              <a:ext cx="1713901" cy="2844795"/>
            </a:xfrm>
            <a:prstGeom prst="roundRect">
              <a:avLst/>
            </a:prstGeom>
            <a:grpFill/>
            <a:ln>
              <a:solidFill>
                <a:schemeClr val="tx2">
                  <a:lumMod val="10000"/>
                  <a:lumOff val="9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latin typeface="Sassoon Infant Rg" panose="02000503030000020003" pitchFamily="2" charset="0"/>
                <a:ea typeface="Sassoon Infant Rg" panose="02000503030000020003" pitchFamily="2" charset="0"/>
              </a:endParaRPr>
            </a:p>
          </p:txBody>
        </p:sp>
        <p:sp>
          <p:nvSpPr>
            <p:cNvPr id="17" name="Rectangle: Rounded Corners 4">
              <a:extLst>
                <a:ext uri="{FF2B5EF4-FFF2-40B4-BE49-F238E27FC236}">
                  <a16:creationId xmlns:a16="http://schemas.microsoft.com/office/drawing/2014/main" id="{25DF00DF-98FB-4CE6-AB1B-C756245CE25B}"/>
                </a:ext>
              </a:extLst>
            </p:cNvPr>
            <p:cNvSpPr txBox="1"/>
            <p:nvPr/>
          </p:nvSpPr>
          <p:spPr>
            <a:xfrm>
              <a:off x="6082464" y="1821028"/>
              <a:ext cx="1546569" cy="2344261"/>
            </a:xfrm>
            <a:prstGeom prst="rect">
              <a:avLst/>
            </a:prstGeom>
            <a:grpFill/>
            <a:ln>
              <a:solidFill>
                <a:schemeClr val="tx2">
                  <a:lumMod val="10000"/>
                  <a:lumOff val="90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endParaRPr lang="en-GB" sz="2000" b="1" u="sng" kern="1200">
                <a:solidFill>
                  <a:schemeClr val="tx1"/>
                </a:solidFill>
                <a:latin typeface="Sassoon Infant Rg" panose="02000503030000020003" pitchFamily="2" charset="0"/>
                <a:ea typeface="Sassoon Infant Rg" panose="02000503030000020003" pitchFamily="2" charset="0"/>
              </a:endParaRPr>
            </a:p>
          </p:txBody>
        </p:sp>
      </p:grpSp>
      <p:grpSp>
        <p:nvGrpSpPr>
          <p:cNvPr id="36" name="Group 35">
            <a:extLst>
              <a:ext uri="{FF2B5EF4-FFF2-40B4-BE49-F238E27FC236}">
                <a16:creationId xmlns:a16="http://schemas.microsoft.com/office/drawing/2014/main" id="{66750A8B-2C96-2E34-F1D3-511214DD480A}"/>
              </a:ext>
            </a:extLst>
          </p:cNvPr>
          <p:cNvGrpSpPr/>
          <p:nvPr/>
        </p:nvGrpSpPr>
        <p:grpSpPr>
          <a:xfrm>
            <a:off x="6514242" y="3640129"/>
            <a:ext cx="752715" cy="748493"/>
            <a:chOff x="4462145" y="450020"/>
            <a:chExt cx="801261" cy="903352"/>
          </a:xfrm>
        </p:grpSpPr>
        <p:pic>
          <p:nvPicPr>
            <p:cNvPr id="37" name="Picture 36">
              <a:extLst>
                <a:ext uri="{FF2B5EF4-FFF2-40B4-BE49-F238E27FC236}">
                  <a16:creationId xmlns:a16="http://schemas.microsoft.com/office/drawing/2014/main" id="{541E3903-B700-39A8-10C8-318E090101F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38" name="TextBox 37">
              <a:extLst>
                <a:ext uri="{FF2B5EF4-FFF2-40B4-BE49-F238E27FC236}">
                  <a16:creationId xmlns:a16="http://schemas.microsoft.com/office/drawing/2014/main" id="{FD0DB9C7-145B-1242-AD9B-0477BAF2BDDF}"/>
                </a:ext>
              </a:extLst>
            </p:cNvPr>
            <p:cNvSpPr txBox="1"/>
            <p:nvPr/>
          </p:nvSpPr>
          <p:spPr>
            <a:xfrm>
              <a:off x="4704080" y="708024"/>
              <a:ext cx="375920" cy="445745"/>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4</a:t>
              </a:r>
            </a:p>
          </p:txBody>
        </p:sp>
      </p:grpSp>
      <p:grpSp>
        <p:nvGrpSpPr>
          <p:cNvPr id="23" name="Group 22">
            <a:extLst>
              <a:ext uri="{FF2B5EF4-FFF2-40B4-BE49-F238E27FC236}">
                <a16:creationId xmlns:a16="http://schemas.microsoft.com/office/drawing/2014/main" id="{F4013C5B-3A1C-7FD5-CD65-D7F82D0A2450}"/>
              </a:ext>
            </a:extLst>
          </p:cNvPr>
          <p:cNvGrpSpPr/>
          <p:nvPr/>
        </p:nvGrpSpPr>
        <p:grpSpPr>
          <a:xfrm>
            <a:off x="6532989" y="2319424"/>
            <a:ext cx="4791567" cy="745161"/>
            <a:chOff x="1999694" y="1717038"/>
            <a:chExt cx="1713901" cy="2885442"/>
          </a:xfrm>
        </p:grpSpPr>
        <p:sp>
          <p:nvSpPr>
            <p:cNvPr id="24" name="Rectangle: Rounded Corners 23">
              <a:extLst>
                <a:ext uri="{FF2B5EF4-FFF2-40B4-BE49-F238E27FC236}">
                  <a16:creationId xmlns:a16="http://schemas.microsoft.com/office/drawing/2014/main" id="{248BE6E5-84E2-9541-4489-BE93F2105346}"/>
                </a:ext>
              </a:extLst>
            </p:cNvPr>
            <p:cNvSpPr/>
            <p:nvPr/>
          </p:nvSpPr>
          <p:spPr>
            <a:xfrm>
              <a:off x="1999694" y="1717038"/>
              <a:ext cx="1713901" cy="2885442"/>
            </a:xfrm>
            <a:prstGeom prst="roundRect">
              <a:avLst/>
            </a:prstGeom>
            <a:solidFill>
              <a:schemeClr val="accent6">
                <a:lumMod val="40000"/>
                <a:lumOff val="60000"/>
              </a:schemeClr>
            </a:solidFill>
            <a:ln>
              <a:solidFill>
                <a:schemeClr val="accent6">
                  <a:lumMod val="40000"/>
                  <a:lumOff val="6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latin typeface="Sassoon Infant Rg" panose="02000503030000020003" pitchFamily="2" charset="0"/>
                <a:ea typeface="Sassoon Infant Rg" panose="02000503030000020003" pitchFamily="2" charset="0"/>
              </a:endParaRPr>
            </a:p>
          </p:txBody>
        </p:sp>
        <p:sp>
          <p:nvSpPr>
            <p:cNvPr id="25" name="Rectangle: Rounded Corners 4">
              <a:extLst>
                <a:ext uri="{FF2B5EF4-FFF2-40B4-BE49-F238E27FC236}">
                  <a16:creationId xmlns:a16="http://schemas.microsoft.com/office/drawing/2014/main" id="{FECC4E0A-820B-FA37-C426-24A014DAED69}"/>
                </a:ext>
              </a:extLst>
            </p:cNvPr>
            <p:cNvSpPr txBox="1"/>
            <p:nvPr/>
          </p:nvSpPr>
          <p:spPr>
            <a:xfrm>
              <a:off x="2083360" y="1800704"/>
              <a:ext cx="1546569" cy="271811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endParaRPr lang="en-GB" sz="2000" b="1" u="sng" kern="1200">
                <a:solidFill>
                  <a:schemeClr val="tx1"/>
                </a:solidFill>
                <a:latin typeface="Sassoon Infant Rg" panose="02000503030000020003" pitchFamily="2" charset="0"/>
                <a:ea typeface="Sassoon Infant Rg" panose="02000503030000020003" pitchFamily="2" charset="0"/>
              </a:endParaRPr>
            </a:p>
          </p:txBody>
        </p:sp>
      </p:grpSp>
      <p:grpSp>
        <p:nvGrpSpPr>
          <p:cNvPr id="42" name="Group 41">
            <a:extLst>
              <a:ext uri="{FF2B5EF4-FFF2-40B4-BE49-F238E27FC236}">
                <a16:creationId xmlns:a16="http://schemas.microsoft.com/office/drawing/2014/main" id="{09AF526E-AE56-D0F8-AAFE-1EAD8748E2A5}"/>
              </a:ext>
            </a:extLst>
          </p:cNvPr>
          <p:cNvGrpSpPr/>
          <p:nvPr/>
        </p:nvGrpSpPr>
        <p:grpSpPr>
          <a:xfrm>
            <a:off x="6467851" y="2298689"/>
            <a:ext cx="752715" cy="748493"/>
            <a:chOff x="1721712" y="2823332"/>
            <a:chExt cx="801261" cy="903352"/>
          </a:xfrm>
        </p:grpSpPr>
        <p:pic>
          <p:nvPicPr>
            <p:cNvPr id="43" name="Picture 42">
              <a:extLst>
                <a:ext uri="{FF2B5EF4-FFF2-40B4-BE49-F238E27FC236}">
                  <a16:creationId xmlns:a16="http://schemas.microsoft.com/office/drawing/2014/main" id="{98A18FCD-CBCD-DF84-AC14-92AEC7245A61}"/>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1721712" y="2823332"/>
              <a:ext cx="801261" cy="903352"/>
            </a:xfrm>
            <a:prstGeom prst="rect">
              <a:avLst/>
            </a:prstGeom>
          </p:spPr>
        </p:pic>
        <p:sp>
          <p:nvSpPr>
            <p:cNvPr id="44" name="TextBox 43">
              <a:extLst>
                <a:ext uri="{FF2B5EF4-FFF2-40B4-BE49-F238E27FC236}">
                  <a16:creationId xmlns:a16="http://schemas.microsoft.com/office/drawing/2014/main" id="{2502EE2D-BBEE-959A-87A9-72CD43902D59}"/>
                </a:ext>
              </a:extLst>
            </p:cNvPr>
            <p:cNvSpPr txBox="1"/>
            <p:nvPr/>
          </p:nvSpPr>
          <p:spPr>
            <a:xfrm>
              <a:off x="1959488" y="3052738"/>
              <a:ext cx="375920" cy="445745"/>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6</a:t>
              </a:r>
            </a:p>
          </p:txBody>
        </p:sp>
      </p:grpSp>
      <p:grpSp>
        <p:nvGrpSpPr>
          <p:cNvPr id="18" name="Group 17">
            <a:extLst>
              <a:ext uri="{FF2B5EF4-FFF2-40B4-BE49-F238E27FC236}">
                <a16:creationId xmlns:a16="http://schemas.microsoft.com/office/drawing/2014/main" id="{B120CEF0-000E-2C4F-D87F-F5B736CB542E}"/>
              </a:ext>
            </a:extLst>
          </p:cNvPr>
          <p:cNvGrpSpPr/>
          <p:nvPr/>
        </p:nvGrpSpPr>
        <p:grpSpPr>
          <a:xfrm>
            <a:off x="6419256" y="3046473"/>
            <a:ext cx="4827428" cy="661583"/>
            <a:chOff x="7998350" y="1737362"/>
            <a:chExt cx="1713901" cy="2844795"/>
          </a:xfrm>
        </p:grpSpPr>
        <p:sp>
          <p:nvSpPr>
            <p:cNvPr id="19" name="Rectangle: Rounded Corners 18">
              <a:extLst>
                <a:ext uri="{FF2B5EF4-FFF2-40B4-BE49-F238E27FC236}">
                  <a16:creationId xmlns:a16="http://schemas.microsoft.com/office/drawing/2014/main" id="{370B1C5D-21C9-F6F4-398F-73B96D62D518}"/>
                </a:ext>
              </a:extLst>
            </p:cNvPr>
            <p:cNvSpPr/>
            <p:nvPr/>
          </p:nvSpPr>
          <p:spPr>
            <a:xfrm>
              <a:off x="7998350" y="1737362"/>
              <a:ext cx="1713901" cy="2844795"/>
            </a:xfrm>
            <a:prstGeom prst="roundRect">
              <a:avLst/>
            </a:prstGeom>
            <a:solidFill>
              <a:srgbClr val="F9D2B5"/>
            </a:solidFill>
            <a:ln>
              <a:solidFill>
                <a:srgbClr val="F9D2B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latin typeface="Sassoon Infant Rg" panose="02000503030000020003" pitchFamily="2" charset="0"/>
                <a:ea typeface="Sassoon Infant Rg" panose="02000503030000020003" pitchFamily="2" charset="0"/>
              </a:endParaRPr>
            </a:p>
          </p:txBody>
        </p:sp>
        <p:sp>
          <p:nvSpPr>
            <p:cNvPr id="20" name="Rectangle: Rounded Corners 4">
              <a:extLst>
                <a:ext uri="{FF2B5EF4-FFF2-40B4-BE49-F238E27FC236}">
                  <a16:creationId xmlns:a16="http://schemas.microsoft.com/office/drawing/2014/main" id="{D021619B-5DF9-4082-6ECE-D206E038A5DB}"/>
                </a:ext>
              </a:extLst>
            </p:cNvPr>
            <p:cNvSpPr txBox="1"/>
            <p:nvPr/>
          </p:nvSpPr>
          <p:spPr>
            <a:xfrm>
              <a:off x="8082016" y="1821028"/>
              <a:ext cx="1546569" cy="26774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endParaRPr lang="en-GB" sz="2000" b="1" u="sng" kern="1200">
                <a:solidFill>
                  <a:schemeClr val="tx1"/>
                </a:solidFill>
                <a:latin typeface="Sassoon Infant Rg" panose="02000503030000020003" pitchFamily="2" charset="0"/>
                <a:ea typeface="Sassoon Infant Rg" panose="02000503030000020003" pitchFamily="2" charset="0"/>
              </a:endParaRPr>
            </a:p>
          </p:txBody>
        </p:sp>
      </p:grpSp>
      <p:grpSp>
        <p:nvGrpSpPr>
          <p:cNvPr id="39" name="Group 38">
            <a:extLst>
              <a:ext uri="{FF2B5EF4-FFF2-40B4-BE49-F238E27FC236}">
                <a16:creationId xmlns:a16="http://schemas.microsoft.com/office/drawing/2014/main" id="{5A838070-630C-EE1E-C1A7-A9266D148117}"/>
              </a:ext>
            </a:extLst>
          </p:cNvPr>
          <p:cNvGrpSpPr/>
          <p:nvPr/>
        </p:nvGrpSpPr>
        <p:grpSpPr>
          <a:xfrm>
            <a:off x="6499917" y="2981007"/>
            <a:ext cx="752715" cy="748493"/>
            <a:chOff x="4462145" y="450020"/>
            <a:chExt cx="801261" cy="903352"/>
          </a:xfrm>
        </p:grpSpPr>
        <p:pic>
          <p:nvPicPr>
            <p:cNvPr id="40" name="Picture 39">
              <a:extLst>
                <a:ext uri="{FF2B5EF4-FFF2-40B4-BE49-F238E27FC236}">
                  <a16:creationId xmlns:a16="http://schemas.microsoft.com/office/drawing/2014/main" id="{BF9B5AB6-8CEE-AFE9-4293-3986E2B323C5}"/>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41" name="TextBox 40">
              <a:extLst>
                <a:ext uri="{FF2B5EF4-FFF2-40B4-BE49-F238E27FC236}">
                  <a16:creationId xmlns:a16="http://schemas.microsoft.com/office/drawing/2014/main" id="{12DA4B67-B543-40A3-E3BD-606FA039AA4E}"/>
                </a:ext>
              </a:extLst>
            </p:cNvPr>
            <p:cNvSpPr txBox="1"/>
            <p:nvPr/>
          </p:nvSpPr>
          <p:spPr>
            <a:xfrm>
              <a:off x="4704080" y="708024"/>
              <a:ext cx="375920" cy="445745"/>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5</a:t>
              </a:r>
            </a:p>
          </p:txBody>
        </p:sp>
      </p:grpSp>
      <p:sp>
        <p:nvSpPr>
          <p:cNvPr id="204" name="TextBox 203">
            <a:extLst>
              <a:ext uri="{FF2B5EF4-FFF2-40B4-BE49-F238E27FC236}">
                <a16:creationId xmlns:a16="http://schemas.microsoft.com/office/drawing/2014/main" id="{BFB353AD-6B58-FAD2-9E85-47B3707F84FE}"/>
              </a:ext>
            </a:extLst>
          </p:cNvPr>
          <p:cNvSpPr txBox="1"/>
          <p:nvPr/>
        </p:nvSpPr>
        <p:spPr>
          <a:xfrm>
            <a:off x="1271961" y="224090"/>
            <a:ext cx="2438400" cy="830997"/>
          </a:xfrm>
          <a:prstGeom prst="rect">
            <a:avLst/>
          </a:prstGeom>
          <a:noFill/>
        </p:spPr>
        <p:txBody>
          <a:bodyPr wrap="square">
            <a:spAutoFit/>
          </a:bodyPr>
          <a:lstStyle/>
          <a:p>
            <a:pPr algn="l" rtl="0" fontAlgn="base"/>
            <a:r>
              <a:rPr lang="en-GB" sz="2400" b="1" i="0">
                <a:solidFill>
                  <a:srgbClr val="000000"/>
                </a:solidFill>
                <a:effectLst/>
                <a:latin typeface="Sassoon Infant Rg" panose="02000503030000020003" pitchFamily="2" charset="0"/>
                <a:ea typeface="Sassoon Infant Rg" panose="02000503030000020003" pitchFamily="2" charset="0"/>
              </a:rPr>
              <a:t>What is Physics?</a:t>
            </a:r>
            <a:r>
              <a:rPr lang="en-GB" sz="2400" b="0" i="0">
                <a:solidFill>
                  <a:srgbClr val="000000"/>
                </a:solidFill>
                <a:effectLst/>
                <a:latin typeface="Sassoon Infant Rg" panose="02000503030000020003" pitchFamily="2" charset="0"/>
                <a:ea typeface="Sassoon Infant Rg" panose="02000503030000020003" pitchFamily="2" charset="0"/>
              </a:rPr>
              <a:t> </a:t>
            </a:r>
            <a:endParaRPr lang="en-GB" sz="6000" b="0" i="0">
              <a:solidFill>
                <a:srgbClr val="000000"/>
              </a:solidFill>
              <a:effectLst/>
              <a:latin typeface="Sassoon Infant Rg" panose="02000503030000020003" pitchFamily="2" charset="0"/>
              <a:ea typeface="Sassoon Infant Rg" panose="02000503030000020003" pitchFamily="2" charset="0"/>
            </a:endParaRPr>
          </a:p>
          <a:p>
            <a:pPr algn="l" rtl="0" fontAlgn="base"/>
            <a:r>
              <a:rPr lang="en-GB" sz="2400" b="0" i="0">
                <a:solidFill>
                  <a:srgbClr val="000000"/>
                </a:solidFill>
                <a:effectLst/>
                <a:latin typeface="Sassoon Infant Rg" panose="02000503030000020003" pitchFamily="2" charset="0"/>
                <a:ea typeface="Sassoon Infant Rg" panose="02000503030000020003" pitchFamily="2" charset="0"/>
              </a:rPr>
              <a:t> </a:t>
            </a:r>
            <a:endParaRPr lang="en-GB" sz="6000" b="0" i="0">
              <a:solidFill>
                <a:srgbClr val="000000"/>
              </a:solidFill>
              <a:effectLst/>
              <a:latin typeface="Sassoon Infant Rg" panose="02000503030000020003" pitchFamily="2" charset="0"/>
              <a:ea typeface="Sassoon Infant Rg" panose="02000503030000020003" pitchFamily="2" charset="0"/>
            </a:endParaRPr>
          </a:p>
        </p:txBody>
      </p:sp>
      <p:pic>
        <p:nvPicPr>
          <p:cNvPr id="269" name="Picture 268">
            <a:extLst>
              <a:ext uri="{FF2B5EF4-FFF2-40B4-BE49-F238E27FC236}">
                <a16:creationId xmlns:a16="http://schemas.microsoft.com/office/drawing/2014/main" id="{8B68B45E-0745-5D68-15A2-6CD12DAC65BB}"/>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144316" y="105448"/>
            <a:ext cx="1104848" cy="856471"/>
          </a:xfrm>
          <a:prstGeom prst="rect">
            <a:avLst/>
          </a:prstGeom>
        </p:spPr>
      </p:pic>
      <p:grpSp>
        <p:nvGrpSpPr>
          <p:cNvPr id="306" name="Group 305">
            <a:extLst>
              <a:ext uri="{FF2B5EF4-FFF2-40B4-BE49-F238E27FC236}">
                <a16:creationId xmlns:a16="http://schemas.microsoft.com/office/drawing/2014/main" id="{9CCBC783-26E6-4A5D-CE71-AF53879EEA8C}"/>
              </a:ext>
            </a:extLst>
          </p:cNvPr>
          <p:cNvGrpSpPr/>
          <p:nvPr/>
        </p:nvGrpSpPr>
        <p:grpSpPr>
          <a:xfrm>
            <a:off x="6524130" y="5781853"/>
            <a:ext cx="4791569" cy="706284"/>
            <a:chOff x="7998350" y="1737362"/>
            <a:chExt cx="1713901" cy="2844795"/>
          </a:xfrm>
        </p:grpSpPr>
        <p:sp>
          <p:nvSpPr>
            <p:cNvPr id="307" name="Rectangle: Rounded Corners 306">
              <a:extLst>
                <a:ext uri="{FF2B5EF4-FFF2-40B4-BE49-F238E27FC236}">
                  <a16:creationId xmlns:a16="http://schemas.microsoft.com/office/drawing/2014/main" id="{32A24D7E-C56A-B0DB-A3DB-EDA6DB3B16F1}"/>
                </a:ext>
              </a:extLst>
            </p:cNvPr>
            <p:cNvSpPr/>
            <p:nvPr/>
          </p:nvSpPr>
          <p:spPr>
            <a:xfrm>
              <a:off x="7998350" y="1737362"/>
              <a:ext cx="1713901" cy="2844795"/>
            </a:xfrm>
            <a:prstGeom prst="roundRect">
              <a:avLst/>
            </a:prstGeom>
            <a:solidFill>
              <a:srgbClr val="F9D2B5"/>
            </a:solidFill>
            <a:ln>
              <a:solidFill>
                <a:srgbClr val="F9D2B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latin typeface="Sassoon Infant Rg" panose="02000503030000020003" pitchFamily="2" charset="0"/>
                <a:ea typeface="Sassoon Infant Rg" panose="02000503030000020003" pitchFamily="2" charset="0"/>
              </a:endParaRPr>
            </a:p>
          </p:txBody>
        </p:sp>
        <p:sp>
          <p:nvSpPr>
            <p:cNvPr id="308" name="Rectangle: Rounded Corners 4">
              <a:extLst>
                <a:ext uri="{FF2B5EF4-FFF2-40B4-BE49-F238E27FC236}">
                  <a16:creationId xmlns:a16="http://schemas.microsoft.com/office/drawing/2014/main" id="{FA9D63E4-E880-B000-012F-9E88E7EDA92E}"/>
                </a:ext>
              </a:extLst>
            </p:cNvPr>
            <p:cNvSpPr txBox="1"/>
            <p:nvPr/>
          </p:nvSpPr>
          <p:spPr>
            <a:xfrm>
              <a:off x="8082016" y="1821028"/>
              <a:ext cx="1546569" cy="26774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lvl="0" algn="ctr" defTabSz="1244600">
                <a:lnSpc>
                  <a:spcPct val="90000"/>
                </a:lnSpc>
                <a:spcBef>
                  <a:spcPct val="0"/>
                </a:spcBef>
                <a:spcAft>
                  <a:spcPct val="35000"/>
                </a:spcAft>
              </a:pPr>
              <a:r>
                <a:rPr lang="en-GB">
                  <a:solidFill>
                    <a:schemeClr val="tx1"/>
                  </a:solidFill>
                  <a:latin typeface="Sassoon Infant Rg" panose="02000503030000020003" pitchFamily="2" charset="0"/>
                  <a:ea typeface="Sassoon Infant Rg" panose="02000503030000020003" pitchFamily="2" charset="0"/>
                </a:rPr>
                <a:t>Magnetism</a:t>
              </a:r>
              <a:endParaRPr lang="en-GB" sz="2000" kern="1200">
                <a:solidFill>
                  <a:schemeClr val="tx1"/>
                </a:solidFill>
                <a:latin typeface="Sassoon Infant Rg" panose="02000503030000020003" pitchFamily="2" charset="0"/>
                <a:ea typeface="Sassoon Infant Rg" panose="02000503030000020003" pitchFamily="2" charset="0"/>
              </a:endParaRPr>
            </a:p>
          </p:txBody>
        </p:sp>
      </p:grpSp>
      <p:grpSp>
        <p:nvGrpSpPr>
          <p:cNvPr id="312" name="Group 311">
            <a:extLst>
              <a:ext uri="{FF2B5EF4-FFF2-40B4-BE49-F238E27FC236}">
                <a16:creationId xmlns:a16="http://schemas.microsoft.com/office/drawing/2014/main" id="{4502F954-3FE0-D09F-E2C0-4F9C0508B588}"/>
              </a:ext>
            </a:extLst>
          </p:cNvPr>
          <p:cNvGrpSpPr/>
          <p:nvPr/>
        </p:nvGrpSpPr>
        <p:grpSpPr>
          <a:xfrm>
            <a:off x="6569485" y="5750072"/>
            <a:ext cx="752715" cy="748493"/>
            <a:chOff x="6450334" y="5317226"/>
            <a:chExt cx="801261" cy="903352"/>
          </a:xfrm>
        </p:grpSpPr>
        <p:sp>
          <p:nvSpPr>
            <p:cNvPr id="29" name="TextBox 28">
              <a:extLst>
                <a:ext uri="{FF2B5EF4-FFF2-40B4-BE49-F238E27FC236}">
                  <a16:creationId xmlns:a16="http://schemas.microsoft.com/office/drawing/2014/main" id="{4F2BEC9B-36E1-C7CD-BE73-EA19D6F53542}"/>
                </a:ext>
              </a:extLst>
            </p:cNvPr>
            <p:cNvSpPr txBox="1"/>
            <p:nvPr/>
          </p:nvSpPr>
          <p:spPr>
            <a:xfrm>
              <a:off x="6671572" y="5599207"/>
              <a:ext cx="389673" cy="445745"/>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1</a:t>
              </a:r>
            </a:p>
          </p:txBody>
        </p:sp>
        <p:pic>
          <p:nvPicPr>
            <p:cNvPr id="310" name="Picture 309">
              <a:extLst>
                <a:ext uri="{FF2B5EF4-FFF2-40B4-BE49-F238E27FC236}">
                  <a16:creationId xmlns:a16="http://schemas.microsoft.com/office/drawing/2014/main" id="{AAFF8A26-1100-E70E-568D-95313C69997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6450334" y="5317226"/>
              <a:ext cx="801261" cy="903352"/>
            </a:xfrm>
            <a:prstGeom prst="rect">
              <a:avLst/>
            </a:prstGeom>
          </p:spPr>
        </p:pic>
      </p:grpSp>
      <p:sp>
        <p:nvSpPr>
          <p:cNvPr id="320" name="Freeform: Shape 319">
            <a:extLst>
              <a:ext uri="{FF2B5EF4-FFF2-40B4-BE49-F238E27FC236}">
                <a16:creationId xmlns:a16="http://schemas.microsoft.com/office/drawing/2014/main" id="{94B1C70A-B006-6C51-65C7-9E65013B02C3}"/>
              </a:ext>
            </a:extLst>
          </p:cNvPr>
          <p:cNvSpPr/>
          <p:nvPr/>
        </p:nvSpPr>
        <p:spPr>
          <a:xfrm>
            <a:off x="5838826" y="1098925"/>
            <a:ext cx="6099174" cy="5606668"/>
          </a:xfrm>
          <a:custGeom>
            <a:avLst/>
            <a:gdLst>
              <a:gd name="connsiteX0" fmla="*/ 513624 w 514349"/>
              <a:gd name="connsiteY0" fmla="*/ 5877 h 571500"/>
              <a:gd name="connsiteX1" fmla="*/ 504823 w 514349"/>
              <a:gd name="connsiteY1" fmla="*/ 0 h 571500"/>
              <a:gd name="connsiteX2" fmla="*/ 9523 w 514349"/>
              <a:gd name="connsiteY2" fmla="*/ 0 h 571500"/>
              <a:gd name="connsiteX3" fmla="*/ 0 w 514349"/>
              <a:gd name="connsiteY3" fmla="*/ 9527 h 571500"/>
              <a:gd name="connsiteX4" fmla="*/ 2789 w 514349"/>
              <a:gd name="connsiteY4" fmla="*/ 16259 h 571500"/>
              <a:gd name="connsiteX5" fmla="*/ 24144 w 514349"/>
              <a:gd name="connsiteY5" fmla="*/ 37624 h 571500"/>
              <a:gd name="connsiteX6" fmla="*/ 38098 w 514349"/>
              <a:gd name="connsiteY6" fmla="*/ 71295 h 571500"/>
              <a:gd name="connsiteX7" fmla="*/ 38098 w 514349"/>
              <a:gd name="connsiteY7" fmla="*/ 523875 h 571500"/>
              <a:gd name="connsiteX8" fmla="*/ 85723 w 514349"/>
              <a:gd name="connsiteY8" fmla="*/ 571500 h 571500"/>
              <a:gd name="connsiteX9" fmla="*/ 428623 w 514349"/>
              <a:gd name="connsiteY9" fmla="*/ 571500 h 571500"/>
              <a:gd name="connsiteX10" fmla="*/ 476248 w 514349"/>
              <a:gd name="connsiteY10" fmla="*/ 523875 h 571500"/>
              <a:gd name="connsiteX11" fmla="*/ 476248 w 514349"/>
              <a:gd name="connsiteY11" fmla="*/ 71295 h 571500"/>
              <a:gd name="connsiteX12" fmla="*/ 490202 w 514349"/>
              <a:gd name="connsiteY12" fmla="*/ 37624 h 571500"/>
              <a:gd name="connsiteX13" fmla="*/ 511557 w 514349"/>
              <a:gd name="connsiteY13" fmla="*/ 16259 h 571500"/>
              <a:gd name="connsiteX14" fmla="*/ 513624 w 514349"/>
              <a:gd name="connsiteY14" fmla="*/ 5877 h 571500"/>
              <a:gd name="connsiteX15" fmla="*/ 428623 w 514349"/>
              <a:gd name="connsiteY15" fmla="*/ 552450 h 571500"/>
              <a:gd name="connsiteX16" fmla="*/ 85723 w 514349"/>
              <a:gd name="connsiteY16" fmla="*/ 552450 h 571500"/>
              <a:gd name="connsiteX17" fmla="*/ 57148 w 514349"/>
              <a:gd name="connsiteY17" fmla="*/ 523875 h 571500"/>
              <a:gd name="connsiteX18" fmla="*/ 57148 w 514349"/>
              <a:gd name="connsiteY18" fmla="*/ 123739 h 571500"/>
              <a:gd name="connsiteX19" fmla="*/ 234113 w 514349"/>
              <a:gd name="connsiteY19" fmla="*/ 100013 h 571500"/>
              <a:gd name="connsiteX20" fmla="*/ 323848 w 514349"/>
              <a:gd name="connsiteY20" fmla="*/ 85725 h 571500"/>
              <a:gd name="connsiteX21" fmla="*/ 438348 w 514349"/>
              <a:gd name="connsiteY21" fmla="*/ 106804 h 571500"/>
              <a:gd name="connsiteX22" fmla="*/ 457198 w 514349"/>
              <a:gd name="connsiteY22" fmla="*/ 112919 h 571500"/>
              <a:gd name="connsiteX23" fmla="*/ 457198 w 514349"/>
              <a:gd name="connsiteY23" fmla="*/ 523875 h 571500"/>
              <a:gd name="connsiteX24" fmla="*/ 428623 w 514349"/>
              <a:gd name="connsiteY24" fmla="*/ 552450 h 571500"/>
              <a:gd name="connsiteX25" fmla="*/ 476715 w 514349"/>
              <a:gd name="connsiteY25" fmla="*/ 24165 h 571500"/>
              <a:gd name="connsiteX26" fmla="*/ 457198 w 514349"/>
              <a:gd name="connsiteY26" fmla="*/ 71295 h 571500"/>
              <a:gd name="connsiteX27" fmla="*/ 457198 w 514349"/>
              <a:gd name="connsiteY27" fmla="*/ 93202 h 571500"/>
              <a:gd name="connsiteX28" fmla="*/ 444816 w 514349"/>
              <a:gd name="connsiteY28" fmla="*/ 88897 h 571500"/>
              <a:gd name="connsiteX29" fmla="*/ 323848 w 514349"/>
              <a:gd name="connsiteY29" fmla="*/ 66675 h 571500"/>
              <a:gd name="connsiteX30" fmla="*/ 229312 w 514349"/>
              <a:gd name="connsiteY30" fmla="*/ 81563 h 571500"/>
              <a:gd name="connsiteX31" fmla="*/ 57148 w 514349"/>
              <a:gd name="connsiteY31" fmla="*/ 104699 h 571500"/>
              <a:gd name="connsiteX32" fmla="*/ 57148 w 514349"/>
              <a:gd name="connsiteY32" fmla="*/ 71295 h 571500"/>
              <a:gd name="connsiteX33" fmla="*/ 37641 w 514349"/>
              <a:gd name="connsiteY33" fmla="*/ 24184 h 571500"/>
              <a:gd name="connsiteX34" fmla="*/ 32678 w 514349"/>
              <a:gd name="connsiteY34" fmla="*/ 19212 h 571500"/>
              <a:gd name="connsiteX35" fmla="*/ 32745 w 514349"/>
              <a:gd name="connsiteY35" fmla="*/ 19050 h 571500"/>
              <a:gd name="connsiteX36" fmla="*/ 481601 w 514349"/>
              <a:gd name="connsiteY36" fmla="*/ 19050 h 571500"/>
              <a:gd name="connsiteX37" fmla="*/ 481668 w 514349"/>
              <a:gd name="connsiteY37" fmla="*/ 19212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14349" h="571500">
                <a:moveTo>
                  <a:pt x="513624" y="5877"/>
                </a:moveTo>
                <a:cubicBezTo>
                  <a:pt x="512149" y="2318"/>
                  <a:pt x="508675" y="-1"/>
                  <a:pt x="504823" y="0"/>
                </a:cubicBezTo>
                <a:lnTo>
                  <a:pt x="9523" y="0"/>
                </a:lnTo>
                <a:cubicBezTo>
                  <a:pt x="4262" y="1"/>
                  <a:pt x="-1" y="4266"/>
                  <a:pt x="0" y="9527"/>
                </a:cubicBezTo>
                <a:cubicBezTo>
                  <a:pt x="1" y="12052"/>
                  <a:pt x="1004" y="14473"/>
                  <a:pt x="2789" y="16259"/>
                </a:cubicBezTo>
                <a:lnTo>
                  <a:pt x="24144" y="37624"/>
                </a:lnTo>
                <a:cubicBezTo>
                  <a:pt x="33105" y="46533"/>
                  <a:pt x="38130" y="58658"/>
                  <a:pt x="38098" y="71295"/>
                </a:cubicBezTo>
                <a:lnTo>
                  <a:pt x="38098" y="523875"/>
                </a:lnTo>
                <a:cubicBezTo>
                  <a:pt x="38130" y="550165"/>
                  <a:pt x="59433" y="571469"/>
                  <a:pt x="85723" y="571500"/>
                </a:cubicBezTo>
                <a:lnTo>
                  <a:pt x="428623" y="571500"/>
                </a:lnTo>
                <a:cubicBezTo>
                  <a:pt x="454913" y="571469"/>
                  <a:pt x="476217" y="550165"/>
                  <a:pt x="476248" y="523875"/>
                </a:cubicBezTo>
                <a:lnTo>
                  <a:pt x="476248" y="71295"/>
                </a:lnTo>
                <a:cubicBezTo>
                  <a:pt x="476216" y="58658"/>
                  <a:pt x="481241" y="46533"/>
                  <a:pt x="490202" y="37624"/>
                </a:cubicBezTo>
                <a:lnTo>
                  <a:pt x="511557" y="16259"/>
                </a:lnTo>
                <a:cubicBezTo>
                  <a:pt x="514283" y="13535"/>
                  <a:pt x="515099" y="9437"/>
                  <a:pt x="513624" y="5877"/>
                </a:cubicBezTo>
                <a:close/>
                <a:moveTo>
                  <a:pt x="428623" y="552450"/>
                </a:moveTo>
                <a:lnTo>
                  <a:pt x="85723" y="552450"/>
                </a:lnTo>
                <a:cubicBezTo>
                  <a:pt x="69941" y="552450"/>
                  <a:pt x="57148" y="539657"/>
                  <a:pt x="57148" y="523875"/>
                </a:cubicBezTo>
                <a:lnTo>
                  <a:pt x="57148" y="123739"/>
                </a:lnTo>
                <a:cubicBezTo>
                  <a:pt x="116951" y="124062"/>
                  <a:pt x="176508" y="116077"/>
                  <a:pt x="234113" y="100013"/>
                </a:cubicBezTo>
                <a:cubicBezTo>
                  <a:pt x="263218" y="91110"/>
                  <a:pt x="293419" y="86302"/>
                  <a:pt x="323848" y="85725"/>
                </a:cubicBezTo>
                <a:cubicBezTo>
                  <a:pt x="363013" y="85345"/>
                  <a:pt x="401885" y="92501"/>
                  <a:pt x="438348" y="106804"/>
                </a:cubicBezTo>
                <a:cubicBezTo>
                  <a:pt x="444517" y="109177"/>
                  <a:pt x="450811" y="111219"/>
                  <a:pt x="457198" y="112919"/>
                </a:cubicBezTo>
                <a:lnTo>
                  <a:pt x="457198" y="523875"/>
                </a:lnTo>
                <a:cubicBezTo>
                  <a:pt x="457198" y="539657"/>
                  <a:pt x="444405" y="552450"/>
                  <a:pt x="428623" y="552450"/>
                </a:cubicBezTo>
                <a:close/>
                <a:moveTo>
                  <a:pt x="476715" y="24165"/>
                </a:moveTo>
                <a:cubicBezTo>
                  <a:pt x="464219" y="36666"/>
                  <a:pt x="457199" y="53619"/>
                  <a:pt x="457198" y="71295"/>
                </a:cubicBezTo>
                <a:lnTo>
                  <a:pt x="457198" y="93202"/>
                </a:lnTo>
                <a:cubicBezTo>
                  <a:pt x="453626" y="92069"/>
                  <a:pt x="449492" y="90583"/>
                  <a:pt x="444816" y="88897"/>
                </a:cubicBezTo>
                <a:cubicBezTo>
                  <a:pt x="406263" y="73898"/>
                  <a:pt x="365214" y="66357"/>
                  <a:pt x="323848" y="66675"/>
                </a:cubicBezTo>
                <a:cubicBezTo>
                  <a:pt x="291796" y="67197"/>
                  <a:pt x="259974" y="72208"/>
                  <a:pt x="229312" y="81563"/>
                </a:cubicBezTo>
                <a:cubicBezTo>
                  <a:pt x="173292" y="97306"/>
                  <a:pt x="115337" y="105093"/>
                  <a:pt x="57148" y="104699"/>
                </a:cubicBezTo>
                <a:lnTo>
                  <a:pt x="57148" y="71295"/>
                </a:lnTo>
                <a:cubicBezTo>
                  <a:pt x="57151" y="53626"/>
                  <a:pt x="50134" y="36679"/>
                  <a:pt x="37641" y="24184"/>
                </a:cubicBezTo>
                <a:lnTo>
                  <a:pt x="32678" y="19212"/>
                </a:lnTo>
                <a:cubicBezTo>
                  <a:pt x="32593" y="19126"/>
                  <a:pt x="32621" y="19050"/>
                  <a:pt x="32745" y="19050"/>
                </a:cubicBezTo>
                <a:lnTo>
                  <a:pt x="481601" y="19050"/>
                </a:lnTo>
                <a:cubicBezTo>
                  <a:pt x="481725" y="19050"/>
                  <a:pt x="481754" y="19126"/>
                  <a:pt x="481668" y="19212"/>
                </a:cubicBezTo>
                <a:close/>
              </a:path>
            </a:pathLst>
          </a:custGeom>
          <a:solidFill>
            <a:srgbClr val="000000"/>
          </a:solidFill>
          <a:ln w="9525" cap="flat">
            <a:noFill/>
            <a:prstDash val="solid"/>
            <a:miter/>
          </a:ln>
        </p:spPr>
        <p:txBody>
          <a:bodyPr rtlCol="0" anchor="ctr"/>
          <a:lstStyle/>
          <a:p>
            <a:endParaRPr lang="en-GB">
              <a:latin typeface="Sassoon Infant Rg" panose="02000503030000020003" pitchFamily="2" charset="0"/>
              <a:ea typeface="Sassoon Infant Rg" panose="02000503030000020003" pitchFamily="2" charset="0"/>
            </a:endParaRPr>
          </a:p>
        </p:txBody>
      </p:sp>
      <p:sp>
        <p:nvSpPr>
          <p:cNvPr id="326" name="Freeform: Shape 325">
            <a:extLst>
              <a:ext uri="{FF2B5EF4-FFF2-40B4-BE49-F238E27FC236}">
                <a16:creationId xmlns:a16="http://schemas.microsoft.com/office/drawing/2014/main" id="{8A2F61F0-F4ED-7871-72B0-9FC05F3EC510}"/>
              </a:ext>
            </a:extLst>
          </p:cNvPr>
          <p:cNvSpPr/>
          <p:nvPr/>
        </p:nvSpPr>
        <p:spPr>
          <a:xfrm>
            <a:off x="10249380" y="250021"/>
            <a:ext cx="349748" cy="511568"/>
          </a:xfrm>
          <a:custGeom>
            <a:avLst/>
            <a:gdLst>
              <a:gd name="connsiteX0" fmla="*/ 131059 w 262118"/>
              <a:gd name="connsiteY0" fmla="*/ 259531 h 259530"/>
              <a:gd name="connsiteX1" fmla="*/ 262118 w 262118"/>
              <a:gd name="connsiteY1" fmla="*/ 129765 h 259530"/>
              <a:gd name="connsiteX2" fmla="*/ 131059 w 262118"/>
              <a:gd name="connsiteY2" fmla="*/ 0 h 259530"/>
              <a:gd name="connsiteX3" fmla="*/ 0 w 262118"/>
              <a:gd name="connsiteY3" fmla="*/ 129765 h 259530"/>
              <a:gd name="connsiteX4" fmla="*/ 131059 w 262118"/>
              <a:gd name="connsiteY4" fmla="*/ 259531 h 259530"/>
              <a:gd name="connsiteX5" fmla="*/ 131059 w 262118"/>
              <a:gd name="connsiteY5" fmla="*/ 43255 h 259530"/>
              <a:gd name="connsiteX6" fmla="*/ 218432 w 262118"/>
              <a:gd name="connsiteY6" fmla="*/ 129765 h 259530"/>
              <a:gd name="connsiteX7" fmla="*/ 131059 w 262118"/>
              <a:gd name="connsiteY7" fmla="*/ 216276 h 259530"/>
              <a:gd name="connsiteX8" fmla="*/ 43686 w 262118"/>
              <a:gd name="connsiteY8" fmla="*/ 129765 h 259530"/>
              <a:gd name="connsiteX9" fmla="*/ 131059 w 262118"/>
              <a:gd name="connsiteY9" fmla="*/ 43255 h 259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2118" h="259530">
                <a:moveTo>
                  <a:pt x="131059" y="259531"/>
                </a:moveTo>
                <a:cubicBezTo>
                  <a:pt x="203441" y="259531"/>
                  <a:pt x="262118" y="201433"/>
                  <a:pt x="262118" y="129765"/>
                </a:cubicBezTo>
                <a:cubicBezTo>
                  <a:pt x="262118" y="58098"/>
                  <a:pt x="203441" y="0"/>
                  <a:pt x="131059" y="0"/>
                </a:cubicBezTo>
                <a:cubicBezTo>
                  <a:pt x="58677" y="0"/>
                  <a:pt x="0" y="58098"/>
                  <a:pt x="0" y="129765"/>
                </a:cubicBezTo>
                <a:cubicBezTo>
                  <a:pt x="85" y="201398"/>
                  <a:pt x="58712" y="259446"/>
                  <a:pt x="131059" y="259531"/>
                </a:cubicBezTo>
                <a:close/>
                <a:moveTo>
                  <a:pt x="131059" y="43255"/>
                </a:moveTo>
                <a:cubicBezTo>
                  <a:pt x="179313" y="43255"/>
                  <a:pt x="218432" y="81988"/>
                  <a:pt x="218432" y="129765"/>
                </a:cubicBezTo>
                <a:cubicBezTo>
                  <a:pt x="218432" y="177543"/>
                  <a:pt x="179313" y="216276"/>
                  <a:pt x="131059" y="216276"/>
                </a:cubicBezTo>
                <a:cubicBezTo>
                  <a:pt x="82805" y="216276"/>
                  <a:pt x="43686" y="177543"/>
                  <a:pt x="43686" y="129765"/>
                </a:cubicBezTo>
                <a:cubicBezTo>
                  <a:pt x="43686" y="81988"/>
                  <a:pt x="82805" y="43255"/>
                  <a:pt x="131059" y="43255"/>
                </a:cubicBezTo>
                <a:close/>
              </a:path>
            </a:pathLst>
          </a:custGeom>
          <a:solidFill>
            <a:srgbClr val="000000"/>
          </a:solidFill>
          <a:ln w="21828" cap="flat">
            <a:noFill/>
            <a:prstDash val="solid"/>
            <a:miter/>
          </a:ln>
        </p:spPr>
        <p:txBody>
          <a:bodyPr rtlCol="0" anchor="ctr"/>
          <a:lstStyle/>
          <a:p>
            <a:endParaRPr lang="en-GB">
              <a:latin typeface="Sassoon Infant Rg" panose="02000503030000020003" pitchFamily="2" charset="0"/>
              <a:ea typeface="Sassoon Infant Rg" panose="02000503030000020003" pitchFamily="2" charset="0"/>
            </a:endParaRPr>
          </a:p>
        </p:txBody>
      </p:sp>
      <p:sp>
        <p:nvSpPr>
          <p:cNvPr id="327" name="Freeform: Shape 326">
            <a:extLst>
              <a:ext uri="{FF2B5EF4-FFF2-40B4-BE49-F238E27FC236}">
                <a16:creationId xmlns:a16="http://schemas.microsoft.com/office/drawing/2014/main" id="{481F49A7-3343-32A0-BB6C-C4C55D1536D4}"/>
              </a:ext>
            </a:extLst>
          </p:cNvPr>
          <p:cNvSpPr/>
          <p:nvPr/>
        </p:nvSpPr>
        <p:spPr>
          <a:xfrm>
            <a:off x="9879186" y="663515"/>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6"/>
                  <a:pt x="131059" y="64883"/>
                </a:cubicBezTo>
                <a:cubicBezTo>
                  <a:pt x="131059" y="29049"/>
                  <a:pt x="101721" y="0"/>
                  <a:pt x="65530" y="0"/>
                </a:cubicBezTo>
                <a:cubicBezTo>
                  <a:pt x="29338" y="0"/>
                  <a:pt x="0" y="29049"/>
                  <a:pt x="0" y="64883"/>
                </a:cubicBezTo>
                <a:cubicBezTo>
                  <a:pt x="0" y="100716"/>
                  <a:pt x="29338" y="129765"/>
                  <a:pt x="65530" y="129765"/>
                </a:cubicBezTo>
                <a:close/>
                <a:moveTo>
                  <a:pt x="65530" y="43255"/>
                </a:moveTo>
                <a:cubicBezTo>
                  <a:pt x="77594" y="43255"/>
                  <a:pt x="87373" y="52938"/>
                  <a:pt x="87373" y="64883"/>
                </a:cubicBezTo>
                <a:cubicBezTo>
                  <a:pt x="87373" y="76827"/>
                  <a:pt x="77594" y="86510"/>
                  <a:pt x="65530" y="86510"/>
                </a:cubicBezTo>
                <a:cubicBezTo>
                  <a:pt x="53466" y="86510"/>
                  <a:pt x="43686" y="76827"/>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latin typeface="Sassoon Infant Rg" panose="02000503030000020003" pitchFamily="2" charset="0"/>
              <a:ea typeface="Sassoon Infant Rg" panose="02000503030000020003" pitchFamily="2" charset="0"/>
            </a:endParaRPr>
          </a:p>
        </p:txBody>
      </p:sp>
      <p:sp>
        <p:nvSpPr>
          <p:cNvPr id="328" name="Freeform: Shape 327">
            <a:extLst>
              <a:ext uri="{FF2B5EF4-FFF2-40B4-BE49-F238E27FC236}">
                <a16:creationId xmlns:a16="http://schemas.microsoft.com/office/drawing/2014/main" id="{E7105A3C-7ECA-BEA0-8377-C5964BACF560}"/>
              </a:ext>
            </a:extLst>
          </p:cNvPr>
          <p:cNvSpPr/>
          <p:nvPr/>
        </p:nvSpPr>
        <p:spPr>
          <a:xfrm>
            <a:off x="8705483" y="233286"/>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6"/>
                  <a:pt x="131059" y="64883"/>
                </a:cubicBezTo>
                <a:cubicBezTo>
                  <a:pt x="131059" y="29049"/>
                  <a:pt x="101721" y="0"/>
                  <a:pt x="65530" y="0"/>
                </a:cubicBezTo>
                <a:cubicBezTo>
                  <a:pt x="29338" y="0"/>
                  <a:pt x="0" y="29049"/>
                  <a:pt x="0" y="64883"/>
                </a:cubicBezTo>
                <a:cubicBezTo>
                  <a:pt x="0" y="100716"/>
                  <a:pt x="29338" y="129765"/>
                  <a:pt x="65530" y="129765"/>
                </a:cubicBezTo>
                <a:close/>
                <a:moveTo>
                  <a:pt x="65530" y="43255"/>
                </a:moveTo>
                <a:cubicBezTo>
                  <a:pt x="77594" y="43255"/>
                  <a:pt x="87373" y="52938"/>
                  <a:pt x="87373" y="64883"/>
                </a:cubicBezTo>
                <a:cubicBezTo>
                  <a:pt x="87373" y="76827"/>
                  <a:pt x="77594" y="86510"/>
                  <a:pt x="65530" y="86510"/>
                </a:cubicBezTo>
                <a:cubicBezTo>
                  <a:pt x="53466" y="86510"/>
                  <a:pt x="43686" y="76827"/>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latin typeface="Sassoon Infant Rg" panose="02000503030000020003" pitchFamily="2" charset="0"/>
              <a:ea typeface="Sassoon Infant Rg" panose="02000503030000020003" pitchFamily="2" charset="0"/>
            </a:endParaRPr>
          </a:p>
        </p:txBody>
      </p:sp>
      <p:sp>
        <p:nvSpPr>
          <p:cNvPr id="329" name="Freeform: Shape 328">
            <a:extLst>
              <a:ext uri="{FF2B5EF4-FFF2-40B4-BE49-F238E27FC236}">
                <a16:creationId xmlns:a16="http://schemas.microsoft.com/office/drawing/2014/main" id="{BF71ECF1-DD49-B054-91BE-6650C6A9A0F1}"/>
              </a:ext>
            </a:extLst>
          </p:cNvPr>
          <p:cNvSpPr/>
          <p:nvPr/>
        </p:nvSpPr>
        <p:spPr>
          <a:xfrm>
            <a:off x="6579005" y="641948"/>
            <a:ext cx="233165" cy="341044"/>
          </a:xfrm>
          <a:custGeom>
            <a:avLst/>
            <a:gdLst>
              <a:gd name="connsiteX0" fmla="*/ 87373 w 174745"/>
              <a:gd name="connsiteY0" fmla="*/ 173021 h 173020"/>
              <a:gd name="connsiteX1" fmla="*/ 174745 w 174745"/>
              <a:gd name="connsiteY1" fmla="*/ 86510 h 173020"/>
              <a:gd name="connsiteX2" fmla="*/ 87373 w 174745"/>
              <a:gd name="connsiteY2" fmla="*/ 0 h 173020"/>
              <a:gd name="connsiteX3" fmla="*/ 0 w 174745"/>
              <a:gd name="connsiteY3" fmla="*/ 86510 h 173020"/>
              <a:gd name="connsiteX4" fmla="*/ 87373 w 174745"/>
              <a:gd name="connsiteY4" fmla="*/ 173021 h 173020"/>
              <a:gd name="connsiteX5" fmla="*/ 87373 w 174745"/>
              <a:gd name="connsiteY5" fmla="*/ 43255 h 173020"/>
              <a:gd name="connsiteX6" fmla="*/ 131059 w 174745"/>
              <a:gd name="connsiteY6" fmla="*/ 86510 h 173020"/>
              <a:gd name="connsiteX7" fmla="*/ 87373 w 174745"/>
              <a:gd name="connsiteY7" fmla="*/ 129765 h 173020"/>
              <a:gd name="connsiteX8" fmla="*/ 43686 w 174745"/>
              <a:gd name="connsiteY8" fmla="*/ 86510 h 173020"/>
              <a:gd name="connsiteX9" fmla="*/ 87373 w 174745"/>
              <a:gd name="connsiteY9" fmla="*/ 43255 h 173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4745" h="173020">
                <a:moveTo>
                  <a:pt x="87373" y="173021"/>
                </a:moveTo>
                <a:cubicBezTo>
                  <a:pt x="135626" y="173021"/>
                  <a:pt x="174745" y="134288"/>
                  <a:pt x="174745" y="86510"/>
                </a:cubicBezTo>
                <a:cubicBezTo>
                  <a:pt x="174745" y="38732"/>
                  <a:pt x="135626" y="0"/>
                  <a:pt x="87373" y="0"/>
                </a:cubicBezTo>
                <a:cubicBezTo>
                  <a:pt x="39119" y="0"/>
                  <a:pt x="0" y="38732"/>
                  <a:pt x="0" y="86510"/>
                </a:cubicBezTo>
                <a:cubicBezTo>
                  <a:pt x="0" y="134288"/>
                  <a:pt x="39119" y="173021"/>
                  <a:pt x="87373" y="173021"/>
                </a:cubicBezTo>
                <a:close/>
                <a:moveTo>
                  <a:pt x="87373" y="43255"/>
                </a:moveTo>
                <a:cubicBezTo>
                  <a:pt x="111501" y="43255"/>
                  <a:pt x="131059" y="62620"/>
                  <a:pt x="131059" y="86510"/>
                </a:cubicBezTo>
                <a:cubicBezTo>
                  <a:pt x="131059" y="110400"/>
                  <a:pt x="111501" y="129765"/>
                  <a:pt x="87373" y="129765"/>
                </a:cubicBezTo>
                <a:cubicBezTo>
                  <a:pt x="63245" y="129765"/>
                  <a:pt x="43686" y="110400"/>
                  <a:pt x="43686" y="86510"/>
                </a:cubicBezTo>
                <a:cubicBezTo>
                  <a:pt x="43686" y="62620"/>
                  <a:pt x="63245" y="43255"/>
                  <a:pt x="87373" y="43255"/>
                </a:cubicBezTo>
                <a:close/>
              </a:path>
            </a:pathLst>
          </a:custGeom>
          <a:solidFill>
            <a:srgbClr val="000000"/>
          </a:solidFill>
          <a:ln w="21828" cap="flat">
            <a:noFill/>
            <a:prstDash val="solid"/>
            <a:miter/>
          </a:ln>
        </p:spPr>
        <p:txBody>
          <a:bodyPr rtlCol="0" anchor="ctr"/>
          <a:lstStyle/>
          <a:p>
            <a:endParaRPr lang="en-GB">
              <a:latin typeface="Sassoon Infant Rg" panose="02000503030000020003" pitchFamily="2" charset="0"/>
              <a:ea typeface="Sassoon Infant Rg" panose="02000503030000020003" pitchFamily="2" charset="0"/>
            </a:endParaRPr>
          </a:p>
        </p:txBody>
      </p:sp>
      <p:sp>
        <p:nvSpPr>
          <p:cNvPr id="330" name="TextBox 329">
            <a:extLst>
              <a:ext uri="{FF2B5EF4-FFF2-40B4-BE49-F238E27FC236}">
                <a16:creationId xmlns:a16="http://schemas.microsoft.com/office/drawing/2014/main" id="{A87507C3-59AD-93BA-936E-A950E1DFACC6}"/>
              </a:ext>
            </a:extLst>
          </p:cNvPr>
          <p:cNvSpPr txBox="1"/>
          <p:nvPr/>
        </p:nvSpPr>
        <p:spPr>
          <a:xfrm>
            <a:off x="7321283" y="3804532"/>
            <a:ext cx="3689743" cy="369332"/>
          </a:xfrm>
          <a:prstGeom prst="rect">
            <a:avLst/>
          </a:prstGeom>
          <a:noFill/>
        </p:spPr>
        <p:txBody>
          <a:bodyPr wrap="square" rtlCol="0">
            <a:spAutoFit/>
          </a:bodyPr>
          <a:lstStyle/>
          <a:p>
            <a:r>
              <a:rPr lang="en-GB" i="0">
                <a:solidFill>
                  <a:srgbClr val="000000"/>
                </a:solidFill>
                <a:effectLst/>
                <a:latin typeface="Sassoon Infant Rg" panose="02000503030000020003" pitchFamily="2" charset="0"/>
                <a:ea typeface="Sassoon Infant Rg" panose="02000503030000020003" pitchFamily="2" charset="0"/>
              </a:rPr>
              <a:t>Sound &amp; light, Materials, Electricity</a:t>
            </a:r>
            <a:endParaRPr lang="en-GB">
              <a:latin typeface="Sassoon Infant Rg" panose="02000503030000020003" pitchFamily="2" charset="0"/>
              <a:ea typeface="Sassoon Infant Rg" panose="02000503030000020003" pitchFamily="2" charset="0"/>
            </a:endParaRPr>
          </a:p>
        </p:txBody>
      </p:sp>
      <p:sp>
        <p:nvSpPr>
          <p:cNvPr id="331" name="TextBox 330">
            <a:extLst>
              <a:ext uri="{FF2B5EF4-FFF2-40B4-BE49-F238E27FC236}">
                <a16:creationId xmlns:a16="http://schemas.microsoft.com/office/drawing/2014/main" id="{EB6C4367-02CA-8455-C965-7D13096CA8F4}"/>
              </a:ext>
            </a:extLst>
          </p:cNvPr>
          <p:cNvSpPr txBox="1"/>
          <p:nvPr/>
        </p:nvSpPr>
        <p:spPr>
          <a:xfrm>
            <a:off x="7337980" y="4578806"/>
            <a:ext cx="3806379" cy="369332"/>
          </a:xfrm>
          <a:prstGeom prst="rect">
            <a:avLst/>
          </a:prstGeom>
          <a:noFill/>
        </p:spPr>
        <p:txBody>
          <a:bodyPr wrap="square" rtlCol="0">
            <a:spAutoFit/>
          </a:bodyPr>
          <a:lstStyle/>
          <a:p>
            <a:r>
              <a:rPr lang="en-GB" i="0">
                <a:solidFill>
                  <a:srgbClr val="000000"/>
                </a:solidFill>
                <a:effectLst/>
                <a:latin typeface="Sassoon Infant Rg" panose="02000503030000020003" pitchFamily="2" charset="0"/>
                <a:ea typeface="Sassoon Infant Rg" panose="02000503030000020003" pitchFamily="2" charset="0"/>
              </a:rPr>
              <a:t>Forces and magnets</a:t>
            </a:r>
            <a:endParaRPr lang="en-GB">
              <a:latin typeface="Sassoon Infant Rg" panose="02000503030000020003" pitchFamily="2" charset="0"/>
              <a:ea typeface="Sassoon Infant Rg" panose="02000503030000020003" pitchFamily="2" charset="0"/>
            </a:endParaRPr>
          </a:p>
        </p:txBody>
      </p:sp>
      <p:sp>
        <p:nvSpPr>
          <p:cNvPr id="335" name="TextBox 334">
            <a:extLst>
              <a:ext uri="{FF2B5EF4-FFF2-40B4-BE49-F238E27FC236}">
                <a16:creationId xmlns:a16="http://schemas.microsoft.com/office/drawing/2014/main" id="{1478B6F0-8031-69CC-0DAB-AE2B1851DFFB}"/>
              </a:ext>
            </a:extLst>
          </p:cNvPr>
          <p:cNvSpPr txBox="1"/>
          <p:nvPr/>
        </p:nvSpPr>
        <p:spPr>
          <a:xfrm>
            <a:off x="7337980" y="2470164"/>
            <a:ext cx="3828041" cy="369332"/>
          </a:xfrm>
          <a:prstGeom prst="rect">
            <a:avLst/>
          </a:prstGeom>
          <a:noFill/>
        </p:spPr>
        <p:txBody>
          <a:bodyPr wrap="square">
            <a:spAutoFit/>
          </a:bodyPr>
          <a:lstStyle/>
          <a:p>
            <a:r>
              <a:rPr lang="en-GB" i="0">
                <a:solidFill>
                  <a:srgbClr val="000000"/>
                </a:solidFill>
                <a:effectLst/>
                <a:latin typeface="Sassoon Infant Rg" panose="02000503030000020003" pitchFamily="2" charset="0"/>
                <a:ea typeface="Sassoon Infant Rg" panose="02000503030000020003" pitchFamily="2" charset="0"/>
              </a:rPr>
              <a:t>Matter and change; chemistry</a:t>
            </a:r>
            <a:endParaRPr lang="en-GB">
              <a:latin typeface="Sassoon Infant Rg" panose="02000503030000020003" pitchFamily="2" charset="0"/>
              <a:ea typeface="Sassoon Infant Rg" panose="02000503030000020003" pitchFamily="2" charset="0"/>
            </a:endParaRPr>
          </a:p>
        </p:txBody>
      </p:sp>
      <p:sp>
        <p:nvSpPr>
          <p:cNvPr id="337" name="TextBox 336">
            <a:extLst>
              <a:ext uri="{FF2B5EF4-FFF2-40B4-BE49-F238E27FC236}">
                <a16:creationId xmlns:a16="http://schemas.microsoft.com/office/drawing/2014/main" id="{ECBDF57C-C97E-6D0B-6030-BF5DD4E4FD0A}"/>
              </a:ext>
            </a:extLst>
          </p:cNvPr>
          <p:cNvSpPr txBox="1"/>
          <p:nvPr/>
        </p:nvSpPr>
        <p:spPr>
          <a:xfrm>
            <a:off x="7321284" y="3179286"/>
            <a:ext cx="3873686" cy="369332"/>
          </a:xfrm>
          <a:prstGeom prst="rect">
            <a:avLst/>
          </a:prstGeom>
          <a:noFill/>
        </p:spPr>
        <p:txBody>
          <a:bodyPr wrap="square">
            <a:spAutoFit/>
          </a:bodyPr>
          <a:lstStyle/>
          <a:p>
            <a:r>
              <a:rPr lang="en-GB" i="0">
                <a:solidFill>
                  <a:srgbClr val="000000"/>
                </a:solidFill>
                <a:effectLst/>
                <a:latin typeface="Sassoon Infant Rg" panose="02000503030000020003" pitchFamily="2" charset="0"/>
                <a:ea typeface="Sassoon Infant Rg" panose="02000503030000020003" pitchFamily="2" charset="0"/>
              </a:rPr>
              <a:t>Chemistry, Astronomy and Force</a:t>
            </a:r>
            <a:endParaRPr lang="en-GB">
              <a:latin typeface="Sassoon Infant Rg" panose="02000503030000020003" pitchFamily="2" charset="0"/>
              <a:ea typeface="Sassoon Infant Rg" panose="02000503030000020003" pitchFamily="2" charset="0"/>
            </a:endParaRPr>
          </a:p>
        </p:txBody>
      </p:sp>
      <p:sp>
        <p:nvSpPr>
          <p:cNvPr id="2" name="TextBox 1">
            <a:extLst>
              <a:ext uri="{FF2B5EF4-FFF2-40B4-BE49-F238E27FC236}">
                <a16:creationId xmlns:a16="http://schemas.microsoft.com/office/drawing/2014/main" id="{D85CBDCD-1EEA-B745-89A5-12B0F1827389}"/>
              </a:ext>
            </a:extLst>
          </p:cNvPr>
          <p:cNvSpPr txBox="1"/>
          <p:nvPr/>
        </p:nvSpPr>
        <p:spPr>
          <a:xfrm>
            <a:off x="1585255" y="2582636"/>
            <a:ext cx="2438400" cy="461665"/>
          </a:xfrm>
          <a:prstGeom prst="rect">
            <a:avLst/>
          </a:prstGeom>
          <a:noFill/>
        </p:spPr>
        <p:txBody>
          <a:bodyPr wrap="square">
            <a:spAutoFit/>
          </a:bodyPr>
          <a:lstStyle/>
          <a:p>
            <a:pPr fontAlgn="base"/>
            <a:r>
              <a:rPr lang="en-GB" sz="2400" b="1" u="sng">
                <a:solidFill>
                  <a:srgbClr val="000000"/>
                </a:solidFill>
                <a:latin typeface="Sassoon Infant Rg" panose="02000503030000020003" pitchFamily="2" charset="0"/>
                <a:ea typeface="Sassoon Infant Rg" panose="02000503030000020003" pitchFamily="2" charset="0"/>
              </a:rPr>
              <a:t>Key concepts:</a:t>
            </a:r>
            <a:endParaRPr lang="en-GB" sz="6000" b="0" i="0" u="sng">
              <a:solidFill>
                <a:srgbClr val="000000"/>
              </a:solidFill>
              <a:effectLst/>
              <a:latin typeface="Sassoon Infant Rg" panose="02000503030000020003" pitchFamily="2" charset="0"/>
              <a:ea typeface="Sassoon Infant Rg" panose="02000503030000020003" pitchFamily="2" charset="0"/>
            </a:endParaRPr>
          </a:p>
        </p:txBody>
      </p:sp>
      <p:sp>
        <p:nvSpPr>
          <p:cNvPr id="3" name="Oval 2">
            <a:extLst>
              <a:ext uri="{FF2B5EF4-FFF2-40B4-BE49-F238E27FC236}">
                <a16:creationId xmlns:a16="http://schemas.microsoft.com/office/drawing/2014/main" id="{18A4211B-C5CA-2EFB-73D9-7664943A9168}"/>
              </a:ext>
            </a:extLst>
          </p:cNvPr>
          <p:cNvSpPr/>
          <p:nvPr/>
        </p:nvSpPr>
        <p:spPr>
          <a:xfrm>
            <a:off x="2275253" y="3782833"/>
            <a:ext cx="1343333" cy="127228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Waves carry energy</a:t>
            </a:r>
          </a:p>
        </p:txBody>
      </p:sp>
      <p:sp>
        <p:nvSpPr>
          <p:cNvPr id="4" name="Oval 3">
            <a:extLst>
              <a:ext uri="{FF2B5EF4-FFF2-40B4-BE49-F238E27FC236}">
                <a16:creationId xmlns:a16="http://schemas.microsoft.com/office/drawing/2014/main" id="{03AD17B4-5132-A936-88DB-86A3F6E10F10}"/>
              </a:ext>
            </a:extLst>
          </p:cNvPr>
          <p:cNvSpPr/>
          <p:nvPr/>
        </p:nvSpPr>
        <p:spPr>
          <a:xfrm>
            <a:off x="220664" y="3001698"/>
            <a:ext cx="1681918" cy="151115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The universe is made of matter and energy</a:t>
            </a:r>
          </a:p>
        </p:txBody>
      </p:sp>
      <p:sp>
        <p:nvSpPr>
          <p:cNvPr id="5" name="Oval 4">
            <a:extLst>
              <a:ext uri="{FF2B5EF4-FFF2-40B4-BE49-F238E27FC236}">
                <a16:creationId xmlns:a16="http://schemas.microsoft.com/office/drawing/2014/main" id="{A00C73B0-F4E5-AB93-E170-220F81DFFE32}"/>
              </a:ext>
            </a:extLst>
          </p:cNvPr>
          <p:cNvSpPr/>
          <p:nvPr/>
        </p:nvSpPr>
        <p:spPr>
          <a:xfrm>
            <a:off x="3915788" y="2801919"/>
            <a:ext cx="1309594" cy="120032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Some quantities are conserved</a:t>
            </a:r>
          </a:p>
        </p:txBody>
      </p:sp>
      <p:sp>
        <p:nvSpPr>
          <p:cNvPr id="7" name="Oval 6">
            <a:extLst>
              <a:ext uri="{FF2B5EF4-FFF2-40B4-BE49-F238E27FC236}">
                <a16:creationId xmlns:a16="http://schemas.microsoft.com/office/drawing/2014/main" id="{92A65AD6-67F7-74AA-37FC-53AA931EB5C2}"/>
              </a:ext>
            </a:extLst>
          </p:cNvPr>
          <p:cNvSpPr/>
          <p:nvPr/>
        </p:nvSpPr>
        <p:spPr>
          <a:xfrm>
            <a:off x="1079537" y="5122384"/>
            <a:ext cx="1343333" cy="124247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There are four fundamental forces</a:t>
            </a:r>
          </a:p>
        </p:txBody>
      </p:sp>
      <p:sp>
        <p:nvSpPr>
          <p:cNvPr id="8" name="Oval 7">
            <a:extLst>
              <a:ext uri="{FF2B5EF4-FFF2-40B4-BE49-F238E27FC236}">
                <a16:creationId xmlns:a16="http://schemas.microsoft.com/office/drawing/2014/main" id="{EABFF8A0-9E88-123E-1FA2-2247A88209F2}"/>
              </a:ext>
            </a:extLst>
          </p:cNvPr>
          <p:cNvSpPr/>
          <p:nvPr/>
        </p:nvSpPr>
        <p:spPr>
          <a:xfrm>
            <a:off x="3676486" y="5037329"/>
            <a:ext cx="1734454" cy="145080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The universe evolves by means of interactions</a:t>
            </a:r>
          </a:p>
        </p:txBody>
      </p:sp>
      <p:sp>
        <p:nvSpPr>
          <p:cNvPr id="21" name="TextBox 20">
            <a:extLst>
              <a:ext uri="{FF2B5EF4-FFF2-40B4-BE49-F238E27FC236}">
                <a16:creationId xmlns:a16="http://schemas.microsoft.com/office/drawing/2014/main" id="{ABDD51AB-4562-228F-FCBD-2A03789D0354}"/>
              </a:ext>
            </a:extLst>
          </p:cNvPr>
          <p:cNvSpPr txBox="1"/>
          <p:nvPr/>
        </p:nvSpPr>
        <p:spPr>
          <a:xfrm>
            <a:off x="7840982" y="1302594"/>
            <a:ext cx="1626692" cy="523220"/>
          </a:xfrm>
          <a:prstGeom prst="rect">
            <a:avLst/>
          </a:prstGeom>
          <a:noFill/>
        </p:spPr>
        <p:txBody>
          <a:bodyPr wrap="square">
            <a:spAutoFit/>
          </a:bodyPr>
          <a:lstStyle/>
          <a:p>
            <a:r>
              <a:rPr lang="en-GB" sz="2800" b="1" u="sng">
                <a:solidFill>
                  <a:srgbClr val="000000"/>
                </a:solidFill>
                <a:latin typeface="Sassoon Infant Rg" panose="02000503030000020003" pitchFamily="2" charset="0"/>
                <a:ea typeface="Sassoon Infant Rg" panose="02000503030000020003" pitchFamily="2" charset="0"/>
              </a:rPr>
              <a:t>Contexts</a:t>
            </a:r>
            <a:endParaRPr lang="en-GB">
              <a:latin typeface="Sassoon Infant Rg" panose="02000503030000020003" pitchFamily="2" charset="0"/>
              <a:ea typeface="Sassoon Infant Rg" panose="02000503030000020003" pitchFamily="2" charset="0"/>
            </a:endParaRPr>
          </a:p>
        </p:txBody>
      </p:sp>
    </p:spTree>
    <p:extLst>
      <p:ext uri="{BB962C8B-B14F-4D97-AF65-F5344CB8AC3E}">
        <p14:creationId xmlns:p14="http://schemas.microsoft.com/office/powerpoint/2010/main" val="1282329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7"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000"/>
                                        <p:tgtEl>
                                          <p:spTgt spid="8"/>
                                        </p:tgtEl>
                                      </p:cBhvr>
                                    </p:animEffect>
                                    <p:anim calcmode="lin" valueType="num">
                                      <p:cBhvr>
                                        <p:cTn id="12" dur="1000" fill="hold"/>
                                        <p:tgtEl>
                                          <p:spTgt spid="8"/>
                                        </p:tgtEl>
                                        <p:attrNameLst>
                                          <p:attrName>ppt_x</p:attrName>
                                        </p:attrNameLst>
                                      </p:cBhvr>
                                      <p:tavLst>
                                        <p:tav tm="0">
                                          <p:val>
                                            <p:strVal val="#ppt_x"/>
                                          </p:val>
                                        </p:tav>
                                        <p:tav tm="100000">
                                          <p:val>
                                            <p:strVal val="#ppt_x"/>
                                          </p:val>
                                        </p:tav>
                                      </p:tavLst>
                                    </p:anim>
                                    <p:anim calcmode="lin" valueType="num">
                                      <p:cBhvr>
                                        <p:cTn id="13" dur="900" decel="100000" fill="hold"/>
                                        <p:tgtEl>
                                          <p:spTgt spid="8"/>
                                        </p:tgtEl>
                                        <p:attrNameLst>
                                          <p:attrName>ppt_y</p:attrName>
                                        </p:attrNameLst>
                                      </p:cBhvr>
                                      <p:tavLst>
                                        <p:tav tm="0">
                                          <p:val>
                                            <p:strVal val="#ppt_y+1"/>
                                          </p:val>
                                        </p:tav>
                                        <p:tav tm="100000">
                                          <p:val>
                                            <p:strVal val="#ppt_y-.03"/>
                                          </p:val>
                                        </p:tav>
                                      </p:tavLst>
                                    </p:anim>
                                    <p:anim calcmode="lin" valueType="num">
                                      <p:cBhvr>
                                        <p:cTn id="14" dur="100" accel="100000" fill="hold">
                                          <p:stCondLst>
                                            <p:cond delay="900"/>
                                          </p:stCondLst>
                                        </p:cTn>
                                        <p:tgtEl>
                                          <p:spTgt spid="8"/>
                                        </p:tgtEl>
                                        <p:attrNameLst>
                                          <p:attrName>ppt_y</p:attrName>
                                        </p:attrNameLst>
                                      </p:cBhvr>
                                      <p:tavLst>
                                        <p:tav tm="0">
                                          <p:val>
                                            <p:strVal val="#ppt_y-.03"/>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7"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900" decel="100000" fill="hold"/>
                                        <p:tgtEl>
                                          <p:spTgt spid="4"/>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1000"/>
                                        <p:tgtEl>
                                          <p:spTgt spid="3"/>
                                        </p:tgtEl>
                                      </p:cBhvr>
                                    </p:animEffect>
                                    <p:anim calcmode="lin" valueType="num">
                                      <p:cBhvr>
                                        <p:cTn id="28" dur="1000" fill="hold"/>
                                        <p:tgtEl>
                                          <p:spTgt spid="3"/>
                                        </p:tgtEl>
                                        <p:attrNameLst>
                                          <p:attrName>ppt_x</p:attrName>
                                        </p:attrNameLst>
                                      </p:cBhvr>
                                      <p:tavLst>
                                        <p:tav tm="0">
                                          <p:val>
                                            <p:strVal val="#ppt_x"/>
                                          </p:val>
                                        </p:tav>
                                        <p:tav tm="100000">
                                          <p:val>
                                            <p:strVal val="#ppt_x"/>
                                          </p:val>
                                        </p:tav>
                                      </p:tavLst>
                                    </p:anim>
                                    <p:anim calcmode="lin" valueType="num">
                                      <p:cBhvr>
                                        <p:cTn id="29" dur="900" decel="100000" fill="hold"/>
                                        <p:tgtEl>
                                          <p:spTgt spid="3"/>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3"/>
                                        </p:tgtEl>
                                        <p:attrNameLst>
                                          <p:attrName>ppt_y</p:attrName>
                                        </p:attrNameLst>
                                      </p:cBhvr>
                                      <p:tavLst>
                                        <p:tav tm="0">
                                          <p:val>
                                            <p:strVal val="#ppt_y-.03"/>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7" presetClass="entr" presetSubtype="0" fill="hold" grpId="0" nodeType="clickEffect">
                                  <p:stCondLst>
                                    <p:cond delay="0"/>
                                  </p:stCondLst>
                                  <p:childTnLst>
                                    <p:set>
                                      <p:cBhvr>
                                        <p:cTn id="34" dur="1" fill="hold">
                                          <p:stCondLst>
                                            <p:cond delay="0"/>
                                          </p:stCondLst>
                                        </p:cTn>
                                        <p:tgtEl>
                                          <p:spTgt spid="7"/>
                                        </p:tgtEl>
                                        <p:attrNameLst>
                                          <p:attrName>style.visibility</p:attrName>
                                        </p:attrNameLst>
                                      </p:cBhvr>
                                      <p:to>
                                        <p:strVal val="visible"/>
                                      </p:to>
                                    </p:set>
                                    <p:animEffect transition="in" filter="fade">
                                      <p:cBhvr>
                                        <p:cTn id="35" dur="1000"/>
                                        <p:tgtEl>
                                          <p:spTgt spid="7"/>
                                        </p:tgtEl>
                                      </p:cBhvr>
                                    </p:animEffect>
                                    <p:anim calcmode="lin" valueType="num">
                                      <p:cBhvr>
                                        <p:cTn id="36" dur="1000" fill="hold"/>
                                        <p:tgtEl>
                                          <p:spTgt spid="7"/>
                                        </p:tgtEl>
                                        <p:attrNameLst>
                                          <p:attrName>ppt_x</p:attrName>
                                        </p:attrNameLst>
                                      </p:cBhvr>
                                      <p:tavLst>
                                        <p:tav tm="0">
                                          <p:val>
                                            <p:strVal val="#ppt_x"/>
                                          </p:val>
                                        </p:tav>
                                        <p:tav tm="100000">
                                          <p:val>
                                            <p:strVal val="#ppt_x"/>
                                          </p:val>
                                        </p:tav>
                                      </p:tavLst>
                                    </p:anim>
                                    <p:anim calcmode="lin" valueType="num">
                                      <p:cBhvr>
                                        <p:cTn id="37" dur="900" decel="100000" fill="hold"/>
                                        <p:tgtEl>
                                          <p:spTgt spid="7"/>
                                        </p:tgtEl>
                                        <p:attrNameLst>
                                          <p:attrName>ppt_y</p:attrName>
                                        </p:attrNameLst>
                                      </p:cBhvr>
                                      <p:tavLst>
                                        <p:tav tm="0">
                                          <p:val>
                                            <p:strVal val="#ppt_y+1"/>
                                          </p:val>
                                        </p:tav>
                                        <p:tav tm="100000">
                                          <p:val>
                                            <p:strVal val="#ppt_y-.03"/>
                                          </p:val>
                                        </p:tav>
                                      </p:tavLst>
                                    </p:anim>
                                    <p:anim calcmode="lin" valueType="num">
                                      <p:cBhvr>
                                        <p:cTn id="38"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7" presetClass="entr" presetSubtype="0" fill="hold" grpId="0"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fade">
                                      <p:cBhvr>
                                        <p:cTn id="43" dur="1000"/>
                                        <p:tgtEl>
                                          <p:spTgt spid="5"/>
                                        </p:tgtEl>
                                      </p:cBhvr>
                                    </p:animEffect>
                                    <p:anim calcmode="lin" valueType="num">
                                      <p:cBhvr>
                                        <p:cTn id="44" dur="1000" fill="hold"/>
                                        <p:tgtEl>
                                          <p:spTgt spid="5"/>
                                        </p:tgtEl>
                                        <p:attrNameLst>
                                          <p:attrName>ppt_x</p:attrName>
                                        </p:attrNameLst>
                                      </p:cBhvr>
                                      <p:tavLst>
                                        <p:tav tm="0">
                                          <p:val>
                                            <p:strVal val="#ppt_x"/>
                                          </p:val>
                                        </p:tav>
                                        <p:tav tm="100000">
                                          <p:val>
                                            <p:strVal val="#ppt_x"/>
                                          </p:val>
                                        </p:tav>
                                      </p:tavLst>
                                    </p:anim>
                                    <p:anim calcmode="lin" valueType="num">
                                      <p:cBhvr>
                                        <p:cTn id="45" dur="900" decel="100000" fill="hold"/>
                                        <p:tgtEl>
                                          <p:spTgt spid="5"/>
                                        </p:tgtEl>
                                        <p:attrNameLst>
                                          <p:attrName>ppt_y</p:attrName>
                                        </p:attrNameLst>
                                      </p:cBhvr>
                                      <p:tavLst>
                                        <p:tav tm="0">
                                          <p:val>
                                            <p:strVal val="#ppt_y+1"/>
                                          </p:val>
                                        </p:tav>
                                        <p:tav tm="100000">
                                          <p:val>
                                            <p:strVal val="#ppt_y-.03"/>
                                          </p:val>
                                        </p:tav>
                                      </p:tavLst>
                                    </p:anim>
                                    <p:anim calcmode="lin" valueType="num">
                                      <p:cBhvr>
                                        <p:cTn id="46" dur="100" accel="100000" fill="hold">
                                          <p:stCondLst>
                                            <p:cond delay="900"/>
                                          </p:stCondLst>
                                        </p:cTn>
                                        <p:tgtEl>
                                          <p:spTgt spid="5"/>
                                        </p:tgtEl>
                                        <p:attrNameLst>
                                          <p:attrName>ppt_y</p:attrName>
                                        </p:attrNameLst>
                                      </p:cBhvr>
                                      <p:tavLst>
                                        <p:tav tm="0">
                                          <p:val>
                                            <p:strVal val="#ppt_y-.03"/>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0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1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6"/>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3"/>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33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5"/>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330"/>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8"/>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9"/>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337"/>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23"/>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42"/>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3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 grpId="0"/>
      <p:bldP spid="331" grpId="0"/>
      <p:bldP spid="335" grpId="0"/>
      <p:bldP spid="337" grpId="0"/>
      <p:bldP spid="2" grpId="0"/>
      <p:bldP spid="3" grpId="0" animBg="1"/>
      <p:bldP spid="4" grpId="0" animBg="1"/>
      <p:bldP spid="5" grpId="0" animBg="1"/>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7E0998A-C7C7-BD93-10CC-5A5C323214AD}"/>
            </a:ext>
          </a:extLst>
        </p:cNvPr>
        <p:cNvGrpSpPr/>
        <p:nvPr/>
      </p:nvGrpSpPr>
      <p:grpSpPr>
        <a:xfrm>
          <a:off x="0" y="0"/>
          <a:ext cx="0" cy="0"/>
          <a:chOff x="0" y="0"/>
          <a:chExt cx="0" cy="0"/>
        </a:xfrm>
      </p:grpSpPr>
      <p:sp>
        <p:nvSpPr>
          <p:cNvPr id="273" name="Freeform: Shape 272">
            <a:extLst>
              <a:ext uri="{FF2B5EF4-FFF2-40B4-BE49-F238E27FC236}">
                <a16:creationId xmlns:a16="http://schemas.microsoft.com/office/drawing/2014/main" id="{18BBD4D0-8BEC-56E7-C478-277B88FCBCB3}"/>
              </a:ext>
            </a:extLst>
          </p:cNvPr>
          <p:cNvSpPr/>
          <p:nvPr/>
        </p:nvSpPr>
        <p:spPr>
          <a:xfrm>
            <a:off x="6801640" y="168470"/>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6"/>
                  <a:pt x="131059" y="64883"/>
                </a:cubicBezTo>
                <a:cubicBezTo>
                  <a:pt x="131059" y="29049"/>
                  <a:pt x="101721" y="0"/>
                  <a:pt x="65530" y="0"/>
                </a:cubicBezTo>
                <a:cubicBezTo>
                  <a:pt x="29338" y="0"/>
                  <a:pt x="0" y="29049"/>
                  <a:pt x="0" y="64883"/>
                </a:cubicBezTo>
                <a:cubicBezTo>
                  <a:pt x="0" y="100716"/>
                  <a:pt x="29338" y="129765"/>
                  <a:pt x="65530" y="129765"/>
                </a:cubicBezTo>
                <a:close/>
                <a:moveTo>
                  <a:pt x="65530" y="43255"/>
                </a:moveTo>
                <a:cubicBezTo>
                  <a:pt x="77594" y="43255"/>
                  <a:pt x="87373" y="52938"/>
                  <a:pt x="87373" y="64883"/>
                </a:cubicBezTo>
                <a:cubicBezTo>
                  <a:pt x="87373" y="76827"/>
                  <a:pt x="77594" y="86510"/>
                  <a:pt x="65530" y="86510"/>
                </a:cubicBezTo>
                <a:cubicBezTo>
                  <a:pt x="53466" y="86510"/>
                  <a:pt x="43686" y="76827"/>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p>
        </p:txBody>
      </p:sp>
      <p:sp>
        <p:nvSpPr>
          <p:cNvPr id="284" name="Freeform: Shape 283">
            <a:extLst>
              <a:ext uri="{FF2B5EF4-FFF2-40B4-BE49-F238E27FC236}">
                <a16:creationId xmlns:a16="http://schemas.microsoft.com/office/drawing/2014/main" id="{9F0C7FAD-8285-6476-70D2-D567D3A75BCC}"/>
              </a:ext>
            </a:extLst>
          </p:cNvPr>
          <p:cNvSpPr/>
          <p:nvPr/>
        </p:nvSpPr>
        <p:spPr>
          <a:xfrm>
            <a:off x="9467674" y="224090"/>
            <a:ext cx="233165" cy="341044"/>
          </a:xfrm>
          <a:custGeom>
            <a:avLst/>
            <a:gdLst>
              <a:gd name="connsiteX0" fmla="*/ 87373 w 174745"/>
              <a:gd name="connsiteY0" fmla="*/ 173021 h 173020"/>
              <a:gd name="connsiteX1" fmla="*/ 174745 w 174745"/>
              <a:gd name="connsiteY1" fmla="*/ 86510 h 173020"/>
              <a:gd name="connsiteX2" fmla="*/ 87373 w 174745"/>
              <a:gd name="connsiteY2" fmla="*/ 0 h 173020"/>
              <a:gd name="connsiteX3" fmla="*/ 0 w 174745"/>
              <a:gd name="connsiteY3" fmla="*/ 86510 h 173020"/>
              <a:gd name="connsiteX4" fmla="*/ 87373 w 174745"/>
              <a:gd name="connsiteY4" fmla="*/ 173021 h 173020"/>
              <a:gd name="connsiteX5" fmla="*/ 87373 w 174745"/>
              <a:gd name="connsiteY5" fmla="*/ 43255 h 173020"/>
              <a:gd name="connsiteX6" fmla="*/ 131059 w 174745"/>
              <a:gd name="connsiteY6" fmla="*/ 86510 h 173020"/>
              <a:gd name="connsiteX7" fmla="*/ 87373 w 174745"/>
              <a:gd name="connsiteY7" fmla="*/ 129765 h 173020"/>
              <a:gd name="connsiteX8" fmla="*/ 43686 w 174745"/>
              <a:gd name="connsiteY8" fmla="*/ 86510 h 173020"/>
              <a:gd name="connsiteX9" fmla="*/ 87373 w 174745"/>
              <a:gd name="connsiteY9" fmla="*/ 43255 h 173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4745" h="173020">
                <a:moveTo>
                  <a:pt x="87373" y="173021"/>
                </a:moveTo>
                <a:cubicBezTo>
                  <a:pt x="135626" y="173021"/>
                  <a:pt x="174745" y="134288"/>
                  <a:pt x="174745" y="86510"/>
                </a:cubicBezTo>
                <a:cubicBezTo>
                  <a:pt x="174745" y="38732"/>
                  <a:pt x="135626" y="0"/>
                  <a:pt x="87373" y="0"/>
                </a:cubicBezTo>
                <a:cubicBezTo>
                  <a:pt x="39119" y="0"/>
                  <a:pt x="0" y="38732"/>
                  <a:pt x="0" y="86510"/>
                </a:cubicBezTo>
                <a:cubicBezTo>
                  <a:pt x="0" y="134288"/>
                  <a:pt x="39119" y="173021"/>
                  <a:pt x="87373" y="173021"/>
                </a:cubicBezTo>
                <a:close/>
                <a:moveTo>
                  <a:pt x="87373" y="43255"/>
                </a:moveTo>
                <a:cubicBezTo>
                  <a:pt x="111501" y="43255"/>
                  <a:pt x="131059" y="62620"/>
                  <a:pt x="131059" y="86510"/>
                </a:cubicBezTo>
                <a:cubicBezTo>
                  <a:pt x="131059" y="110400"/>
                  <a:pt x="111501" y="129765"/>
                  <a:pt x="87373" y="129765"/>
                </a:cubicBezTo>
                <a:cubicBezTo>
                  <a:pt x="63245" y="129765"/>
                  <a:pt x="43686" y="110400"/>
                  <a:pt x="43686" y="86510"/>
                </a:cubicBezTo>
                <a:cubicBezTo>
                  <a:pt x="43686" y="62620"/>
                  <a:pt x="63245" y="43255"/>
                  <a:pt x="87373" y="43255"/>
                </a:cubicBezTo>
                <a:close/>
              </a:path>
            </a:pathLst>
          </a:custGeom>
          <a:solidFill>
            <a:srgbClr val="000000"/>
          </a:solidFill>
          <a:ln w="21828" cap="flat">
            <a:noFill/>
            <a:prstDash val="solid"/>
            <a:miter/>
          </a:ln>
        </p:spPr>
        <p:txBody>
          <a:bodyPr rtlCol="0" anchor="ctr"/>
          <a:lstStyle/>
          <a:p>
            <a:endParaRPr lang="en-GB"/>
          </a:p>
        </p:txBody>
      </p:sp>
      <p:sp>
        <p:nvSpPr>
          <p:cNvPr id="285" name="Freeform: Shape 284">
            <a:extLst>
              <a:ext uri="{FF2B5EF4-FFF2-40B4-BE49-F238E27FC236}">
                <a16:creationId xmlns:a16="http://schemas.microsoft.com/office/drawing/2014/main" id="{596E6448-25DC-7473-CB4D-940B7527ECF4}"/>
              </a:ext>
            </a:extLst>
          </p:cNvPr>
          <p:cNvSpPr/>
          <p:nvPr/>
        </p:nvSpPr>
        <p:spPr>
          <a:xfrm>
            <a:off x="8109740" y="434950"/>
            <a:ext cx="349748" cy="511568"/>
          </a:xfrm>
          <a:custGeom>
            <a:avLst/>
            <a:gdLst>
              <a:gd name="connsiteX0" fmla="*/ 131059 w 262118"/>
              <a:gd name="connsiteY0" fmla="*/ 259531 h 259530"/>
              <a:gd name="connsiteX1" fmla="*/ 262118 w 262118"/>
              <a:gd name="connsiteY1" fmla="*/ 129765 h 259530"/>
              <a:gd name="connsiteX2" fmla="*/ 131059 w 262118"/>
              <a:gd name="connsiteY2" fmla="*/ 0 h 259530"/>
              <a:gd name="connsiteX3" fmla="*/ 0 w 262118"/>
              <a:gd name="connsiteY3" fmla="*/ 129765 h 259530"/>
              <a:gd name="connsiteX4" fmla="*/ 131059 w 262118"/>
              <a:gd name="connsiteY4" fmla="*/ 259531 h 259530"/>
              <a:gd name="connsiteX5" fmla="*/ 131059 w 262118"/>
              <a:gd name="connsiteY5" fmla="*/ 43255 h 259530"/>
              <a:gd name="connsiteX6" fmla="*/ 218432 w 262118"/>
              <a:gd name="connsiteY6" fmla="*/ 129765 h 259530"/>
              <a:gd name="connsiteX7" fmla="*/ 131059 w 262118"/>
              <a:gd name="connsiteY7" fmla="*/ 216276 h 259530"/>
              <a:gd name="connsiteX8" fmla="*/ 43686 w 262118"/>
              <a:gd name="connsiteY8" fmla="*/ 129765 h 259530"/>
              <a:gd name="connsiteX9" fmla="*/ 131059 w 262118"/>
              <a:gd name="connsiteY9" fmla="*/ 43255 h 259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2118" h="259530">
                <a:moveTo>
                  <a:pt x="131059" y="259531"/>
                </a:moveTo>
                <a:cubicBezTo>
                  <a:pt x="203441" y="259531"/>
                  <a:pt x="262118" y="201433"/>
                  <a:pt x="262118" y="129765"/>
                </a:cubicBezTo>
                <a:cubicBezTo>
                  <a:pt x="262118" y="58098"/>
                  <a:pt x="203441" y="0"/>
                  <a:pt x="131059" y="0"/>
                </a:cubicBezTo>
                <a:cubicBezTo>
                  <a:pt x="58677" y="0"/>
                  <a:pt x="0" y="58098"/>
                  <a:pt x="0" y="129765"/>
                </a:cubicBezTo>
                <a:cubicBezTo>
                  <a:pt x="85" y="201398"/>
                  <a:pt x="58712" y="259446"/>
                  <a:pt x="131059" y="259531"/>
                </a:cubicBezTo>
                <a:close/>
                <a:moveTo>
                  <a:pt x="131059" y="43255"/>
                </a:moveTo>
                <a:cubicBezTo>
                  <a:pt x="179313" y="43255"/>
                  <a:pt x="218432" y="81988"/>
                  <a:pt x="218432" y="129765"/>
                </a:cubicBezTo>
                <a:cubicBezTo>
                  <a:pt x="218432" y="177543"/>
                  <a:pt x="179313" y="216276"/>
                  <a:pt x="131059" y="216276"/>
                </a:cubicBezTo>
                <a:cubicBezTo>
                  <a:pt x="82805" y="216276"/>
                  <a:pt x="43686" y="177543"/>
                  <a:pt x="43686" y="129765"/>
                </a:cubicBezTo>
                <a:cubicBezTo>
                  <a:pt x="43686" y="81988"/>
                  <a:pt x="82805" y="43255"/>
                  <a:pt x="131059" y="43255"/>
                </a:cubicBezTo>
                <a:close/>
              </a:path>
            </a:pathLst>
          </a:custGeom>
          <a:solidFill>
            <a:srgbClr val="000000"/>
          </a:solidFill>
          <a:ln w="21828" cap="flat">
            <a:noFill/>
            <a:prstDash val="solid"/>
            <a:miter/>
          </a:ln>
        </p:spPr>
        <p:txBody>
          <a:bodyPr rtlCol="0" anchor="ctr"/>
          <a:lstStyle/>
          <a:p>
            <a:endParaRPr lang="en-GB"/>
          </a:p>
        </p:txBody>
      </p:sp>
      <p:sp>
        <p:nvSpPr>
          <p:cNvPr id="286" name="Freeform: Shape 285">
            <a:extLst>
              <a:ext uri="{FF2B5EF4-FFF2-40B4-BE49-F238E27FC236}">
                <a16:creationId xmlns:a16="http://schemas.microsoft.com/office/drawing/2014/main" id="{EA8CBA17-EB7F-1386-916B-9CFAA6D6114A}"/>
              </a:ext>
            </a:extLst>
          </p:cNvPr>
          <p:cNvSpPr/>
          <p:nvPr/>
        </p:nvSpPr>
        <p:spPr>
          <a:xfrm>
            <a:off x="7186402" y="549370"/>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7"/>
                  <a:pt x="131059" y="64883"/>
                </a:cubicBezTo>
                <a:cubicBezTo>
                  <a:pt x="131059" y="29048"/>
                  <a:pt x="101721" y="0"/>
                  <a:pt x="65530" y="0"/>
                </a:cubicBezTo>
                <a:cubicBezTo>
                  <a:pt x="29338" y="0"/>
                  <a:pt x="0" y="29048"/>
                  <a:pt x="0" y="64883"/>
                </a:cubicBezTo>
                <a:cubicBezTo>
                  <a:pt x="0" y="100717"/>
                  <a:pt x="29338" y="129765"/>
                  <a:pt x="65530" y="129765"/>
                </a:cubicBezTo>
                <a:close/>
                <a:moveTo>
                  <a:pt x="65530" y="43255"/>
                </a:moveTo>
                <a:cubicBezTo>
                  <a:pt x="77594" y="43255"/>
                  <a:pt x="87373" y="52938"/>
                  <a:pt x="87373" y="64883"/>
                </a:cubicBezTo>
                <a:cubicBezTo>
                  <a:pt x="87373" y="76828"/>
                  <a:pt x="77594" y="86510"/>
                  <a:pt x="65530" y="86510"/>
                </a:cubicBezTo>
                <a:cubicBezTo>
                  <a:pt x="53466" y="86510"/>
                  <a:pt x="43686" y="76828"/>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p>
        </p:txBody>
      </p:sp>
      <p:grpSp>
        <p:nvGrpSpPr>
          <p:cNvPr id="6" name="Group 5">
            <a:extLst>
              <a:ext uri="{FF2B5EF4-FFF2-40B4-BE49-F238E27FC236}">
                <a16:creationId xmlns:a16="http://schemas.microsoft.com/office/drawing/2014/main" id="{56766148-BCA7-3EE1-3183-C0C2DC69ECF8}"/>
              </a:ext>
            </a:extLst>
          </p:cNvPr>
          <p:cNvGrpSpPr/>
          <p:nvPr/>
        </p:nvGrpSpPr>
        <p:grpSpPr>
          <a:xfrm>
            <a:off x="6417190" y="5097492"/>
            <a:ext cx="4969774" cy="661583"/>
            <a:chOff x="1999694" y="1717038"/>
            <a:chExt cx="1713901" cy="2885442"/>
          </a:xfrm>
        </p:grpSpPr>
        <p:sp>
          <p:nvSpPr>
            <p:cNvPr id="10" name="Rectangle: Rounded Corners 9">
              <a:extLst>
                <a:ext uri="{FF2B5EF4-FFF2-40B4-BE49-F238E27FC236}">
                  <a16:creationId xmlns:a16="http://schemas.microsoft.com/office/drawing/2014/main" id="{B47C5336-28EF-54E7-018B-11FEF621BC64}"/>
                </a:ext>
              </a:extLst>
            </p:cNvPr>
            <p:cNvSpPr/>
            <p:nvPr/>
          </p:nvSpPr>
          <p:spPr>
            <a:xfrm>
              <a:off x="1999694" y="1717038"/>
              <a:ext cx="1713901" cy="2885442"/>
            </a:xfrm>
            <a:prstGeom prst="roundRect">
              <a:avLst/>
            </a:prstGeom>
            <a:solidFill>
              <a:schemeClr val="accent6">
                <a:lumMod val="40000"/>
                <a:lumOff val="60000"/>
              </a:schemeClr>
            </a:solidFill>
            <a:ln>
              <a:solidFill>
                <a:schemeClr val="accent6">
                  <a:lumMod val="40000"/>
                  <a:lumOff val="6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sz="2000">
                <a:latin typeface="Sassoon Infant Rg" panose="02000503030000020003" pitchFamily="2" charset="0"/>
                <a:ea typeface="Sassoon Infant Rg" panose="02000503030000020003" pitchFamily="2" charset="0"/>
              </a:endParaRPr>
            </a:p>
          </p:txBody>
        </p:sp>
        <p:sp>
          <p:nvSpPr>
            <p:cNvPr id="11" name="Rectangle: Rounded Corners 4">
              <a:extLst>
                <a:ext uri="{FF2B5EF4-FFF2-40B4-BE49-F238E27FC236}">
                  <a16:creationId xmlns:a16="http://schemas.microsoft.com/office/drawing/2014/main" id="{4E6A16EC-7AE5-0AF7-FA0F-0C66144983B7}"/>
                </a:ext>
              </a:extLst>
            </p:cNvPr>
            <p:cNvSpPr txBox="1"/>
            <p:nvPr/>
          </p:nvSpPr>
          <p:spPr>
            <a:xfrm>
              <a:off x="2349996" y="1800703"/>
              <a:ext cx="1279933" cy="271811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lvl="0" defTabSz="1244600">
                <a:lnSpc>
                  <a:spcPct val="90000"/>
                </a:lnSpc>
                <a:spcBef>
                  <a:spcPct val="0"/>
                </a:spcBef>
                <a:spcAft>
                  <a:spcPct val="35000"/>
                </a:spcAft>
              </a:pPr>
              <a:r>
                <a:rPr lang="en-GB">
                  <a:solidFill>
                    <a:schemeClr val="tx1"/>
                  </a:solidFill>
                  <a:latin typeface="Sassoon Infant Rg" panose="02000503030000020003" pitchFamily="2" charset="0"/>
                  <a:ea typeface="Sassoon Infant Rg" panose="02000503030000020003" pitchFamily="2" charset="0"/>
                </a:rPr>
                <a:t>Matter &amp; Properties &amp; Measurements; Electricity</a:t>
              </a:r>
              <a:endParaRPr lang="en-GB" kern="1200">
                <a:solidFill>
                  <a:schemeClr val="tx1"/>
                </a:solidFill>
                <a:latin typeface="Sassoon Infant Rg" panose="02000503030000020003" pitchFamily="2" charset="0"/>
                <a:ea typeface="Sassoon Infant Rg" panose="02000503030000020003" pitchFamily="2" charset="0"/>
              </a:endParaRPr>
            </a:p>
          </p:txBody>
        </p:sp>
      </p:grpSp>
      <p:grpSp>
        <p:nvGrpSpPr>
          <p:cNvPr id="30" name="Group 29">
            <a:extLst>
              <a:ext uri="{FF2B5EF4-FFF2-40B4-BE49-F238E27FC236}">
                <a16:creationId xmlns:a16="http://schemas.microsoft.com/office/drawing/2014/main" id="{B5212E7D-4D7C-1A76-2319-E6E4F205DA0A}"/>
              </a:ext>
            </a:extLst>
          </p:cNvPr>
          <p:cNvGrpSpPr/>
          <p:nvPr/>
        </p:nvGrpSpPr>
        <p:grpSpPr>
          <a:xfrm>
            <a:off x="6532989" y="5035884"/>
            <a:ext cx="752715" cy="748493"/>
            <a:chOff x="4462145" y="450020"/>
            <a:chExt cx="801261" cy="903352"/>
          </a:xfrm>
        </p:grpSpPr>
        <p:pic>
          <p:nvPicPr>
            <p:cNvPr id="31" name="Picture 30">
              <a:extLst>
                <a:ext uri="{FF2B5EF4-FFF2-40B4-BE49-F238E27FC236}">
                  <a16:creationId xmlns:a16="http://schemas.microsoft.com/office/drawing/2014/main" id="{10010951-E477-0E80-E4FD-2E638046BF80}"/>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32" name="TextBox 31">
              <a:extLst>
                <a:ext uri="{FF2B5EF4-FFF2-40B4-BE49-F238E27FC236}">
                  <a16:creationId xmlns:a16="http://schemas.microsoft.com/office/drawing/2014/main" id="{A15EB89A-EA4D-FE5F-3004-E0EE6234A6E3}"/>
                </a:ext>
              </a:extLst>
            </p:cNvPr>
            <p:cNvSpPr txBox="1"/>
            <p:nvPr/>
          </p:nvSpPr>
          <p:spPr>
            <a:xfrm>
              <a:off x="4704080" y="708024"/>
              <a:ext cx="375920" cy="482891"/>
            </a:xfrm>
            <a:prstGeom prst="rect">
              <a:avLst/>
            </a:prstGeom>
            <a:noFill/>
          </p:spPr>
          <p:txBody>
            <a:bodyPr wrap="square" rtlCol="0">
              <a:spAutoFit/>
            </a:bodyPr>
            <a:lstStyle/>
            <a:p>
              <a:r>
                <a:rPr lang="en-GB" sz="2000" b="1">
                  <a:latin typeface="Sassoon Infant Rg" panose="02000503030000020003" pitchFamily="2" charset="0"/>
                  <a:ea typeface="Sassoon Infant Rg" panose="02000503030000020003" pitchFamily="2" charset="0"/>
                </a:rPr>
                <a:t>2</a:t>
              </a:r>
            </a:p>
          </p:txBody>
        </p:sp>
      </p:grpSp>
      <p:grpSp>
        <p:nvGrpSpPr>
          <p:cNvPr id="12" name="Group 11">
            <a:extLst>
              <a:ext uri="{FF2B5EF4-FFF2-40B4-BE49-F238E27FC236}">
                <a16:creationId xmlns:a16="http://schemas.microsoft.com/office/drawing/2014/main" id="{BE7036F1-BA79-96CA-0F44-B61D8A2061FE}"/>
              </a:ext>
            </a:extLst>
          </p:cNvPr>
          <p:cNvGrpSpPr/>
          <p:nvPr/>
        </p:nvGrpSpPr>
        <p:grpSpPr>
          <a:xfrm>
            <a:off x="6450333" y="4413131"/>
            <a:ext cx="4827428" cy="661583"/>
            <a:chOff x="3999246" y="1747524"/>
            <a:chExt cx="1713901" cy="2824471"/>
          </a:xfrm>
        </p:grpSpPr>
        <p:sp>
          <p:nvSpPr>
            <p:cNvPr id="13" name="Rectangle: Rounded Corners 12">
              <a:extLst>
                <a:ext uri="{FF2B5EF4-FFF2-40B4-BE49-F238E27FC236}">
                  <a16:creationId xmlns:a16="http://schemas.microsoft.com/office/drawing/2014/main" id="{DA8E09D6-B89F-F8B9-5CE1-964A47EDB329}"/>
                </a:ext>
              </a:extLst>
            </p:cNvPr>
            <p:cNvSpPr/>
            <p:nvPr/>
          </p:nvSpPr>
          <p:spPr>
            <a:xfrm>
              <a:off x="3999246" y="1747524"/>
              <a:ext cx="1713901" cy="2824471"/>
            </a:xfrm>
            <a:prstGeom prst="roundRect">
              <a:avLst/>
            </a:prstGeom>
            <a:solidFill>
              <a:srgbClr val="F892BB"/>
            </a:solidFill>
            <a:ln>
              <a:solidFill>
                <a:srgbClr val="F892BB"/>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sz="2000">
                <a:latin typeface="Sassoon Infant Rg" panose="02000503030000020003" pitchFamily="2" charset="0"/>
                <a:ea typeface="Sassoon Infant Rg" panose="02000503030000020003" pitchFamily="2" charset="0"/>
              </a:endParaRPr>
            </a:p>
          </p:txBody>
        </p:sp>
        <p:sp>
          <p:nvSpPr>
            <p:cNvPr id="14" name="Rectangle: Rounded Corners 4">
              <a:extLst>
                <a:ext uri="{FF2B5EF4-FFF2-40B4-BE49-F238E27FC236}">
                  <a16:creationId xmlns:a16="http://schemas.microsoft.com/office/drawing/2014/main" id="{D0CE765E-7AAA-D843-FEE2-FBAE36AED720}"/>
                </a:ext>
              </a:extLst>
            </p:cNvPr>
            <p:cNvSpPr txBox="1"/>
            <p:nvPr/>
          </p:nvSpPr>
          <p:spPr>
            <a:xfrm>
              <a:off x="4326919" y="1831189"/>
              <a:ext cx="1302562" cy="265713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lvl="0" indent="0" defTabSz="1244600">
                <a:lnSpc>
                  <a:spcPct val="90000"/>
                </a:lnSpc>
                <a:spcBef>
                  <a:spcPct val="0"/>
                </a:spcBef>
                <a:spcAft>
                  <a:spcPct val="35000"/>
                </a:spcAft>
                <a:buNone/>
              </a:pPr>
              <a:r>
                <a:rPr lang="en-GB">
                  <a:solidFill>
                    <a:schemeClr val="tx1"/>
                  </a:solidFill>
                  <a:latin typeface="Sassoon Infant Rg" panose="02000503030000020003" pitchFamily="2" charset="0"/>
                  <a:ea typeface="Sassoon Infant Rg" panose="02000503030000020003" pitchFamily="2" charset="0"/>
                </a:rPr>
                <a:t>Physics</a:t>
              </a:r>
              <a:endParaRPr lang="en-GB" sz="2400" kern="1200">
                <a:solidFill>
                  <a:schemeClr val="tx1"/>
                </a:solidFill>
                <a:latin typeface="Sassoon Infant Rg" panose="02000503030000020003" pitchFamily="2" charset="0"/>
                <a:ea typeface="Sassoon Infant Rg" panose="02000503030000020003" pitchFamily="2" charset="0"/>
              </a:endParaRPr>
            </a:p>
          </p:txBody>
        </p:sp>
      </p:grpSp>
      <p:grpSp>
        <p:nvGrpSpPr>
          <p:cNvPr id="33" name="Group 32">
            <a:extLst>
              <a:ext uri="{FF2B5EF4-FFF2-40B4-BE49-F238E27FC236}">
                <a16:creationId xmlns:a16="http://schemas.microsoft.com/office/drawing/2014/main" id="{D1C94305-2964-97E2-DC73-03FB700E72C9}"/>
              </a:ext>
            </a:extLst>
          </p:cNvPr>
          <p:cNvGrpSpPr/>
          <p:nvPr/>
        </p:nvGrpSpPr>
        <p:grpSpPr>
          <a:xfrm>
            <a:off x="6486751" y="4356793"/>
            <a:ext cx="752715" cy="748493"/>
            <a:chOff x="4462145" y="450020"/>
            <a:chExt cx="801261" cy="903352"/>
          </a:xfrm>
        </p:grpSpPr>
        <p:pic>
          <p:nvPicPr>
            <p:cNvPr id="34" name="Picture 33">
              <a:extLst>
                <a:ext uri="{FF2B5EF4-FFF2-40B4-BE49-F238E27FC236}">
                  <a16:creationId xmlns:a16="http://schemas.microsoft.com/office/drawing/2014/main" id="{B1999080-5737-17D3-C8CE-5B60C62955F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35" name="TextBox 34">
              <a:extLst>
                <a:ext uri="{FF2B5EF4-FFF2-40B4-BE49-F238E27FC236}">
                  <a16:creationId xmlns:a16="http://schemas.microsoft.com/office/drawing/2014/main" id="{1BA5B124-8B2A-D380-9A5B-9614CFA87DAE}"/>
                </a:ext>
              </a:extLst>
            </p:cNvPr>
            <p:cNvSpPr txBox="1"/>
            <p:nvPr/>
          </p:nvSpPr>
          <p:spPr>
            <a:xfrm>
              <a:off x="4704080" y="708024"/>
              <a:ext cx="375920" cy="482891"/>
            </a:xfrm>
            <a:prstGeom prst="rect">
              <a:avLst/>
            </a:prstGeom>
            <a:noFill/>
          </p:spPr>
          <p:txBody>
            <a:bodyPr wrap="square" rtlCol="0">
              <a:spAutoFit/>
            </a:bodyPr>
            <a:lstStyle/>
            <a:p>
              <a:r>
                <a:rPr lang="en-GB" sz="2000" b="1">
                  <a:latin typeface="Sassoon Infant Rg" panose="02000503030000020003" pitchFamily="2" charset="0"/>
                  <a:ea typeface="Sassoon Infant Rg" panose="02000503030000020003" pitchFamily="2" charset="0"/>
                </a:rPr>
                <a:t>3</a:t>
              </a:r>
            </a:p>
          </p:txBody>
        </p:sp>
      </p:grpSp>
      <p:grpSp>
        <p:nvGrpSpPr>
          <p:cNvPr id="15" name="Group 14">
            <a:extLst>
              <a:ext uri="{FF2B5EF4-FFF2-40B4-BE49-F238E27FC236}">
                <a16:creationId xmlns:a16="http://schemas.microsoft.com/office/drawing/2014/main" id="{BBFEAB79-CC0B-712C-FF51-8071EA5D72AC}"/>
              </a:ext>
            </a:extLst>
          </p:cNvPr>
          <p:cNvGrpSpPr/>
          <p:nvPr/>
        </p:nvGrpSpPr>
        <p:grpSpPr>
          <a:xfrm>
            <a:off x="6431265" y="3709371"/>
            <a:ext cx="4865561" cy="661583"/>
            <a:chOff x="5998798" y="1737362"/>
            <a:chExt cx="1713901" cy="2844795"/>
          </a:xfrm>
          <a:solidFill>
            <a:schemeClr val="accent4">
              <a:lumMod val="20000"/>
              <a:lumOff val="80000"/>
            </a:schemeClr>
          </a:solidFill>
        </p:grpSpPr>
        <p:sp>
          <p:nvSpPr>
            <p:cNvPr id="16" name="Rectangle: Rounded Corners 15">
              <a:extLst>
                <a:ext uri="{FF2B5EF4-FFF2-40B4-BE49-F238E27FC236}">
                  <a16:creationId xmlns:a16="http://schemas.microsoft.com/office/drawing/2014/main" id="{F476A850-7E7F-D655-EBF1-1D3F7546D0D0}"/>
                </a:ext>
              </a:extLst>
            </p:cNvPr>
            <p:cNvSpPr/>
            <p:nvPr/>
          </p:nvSpPr>
          <p:spPr>
            <a:xfrm>
              <a:off x="5998798" y="1737362"/>
              <a:ext cx="1713901" cy="2844795"/>
            </a:xfrm>
            <a:prstGeom prst="roundRect">
              <a:avLst/>
            </a:prstGeom>
            <a:grpFill/>
            <a:ln>
              <a:solidFill>
                <a:schemeClr val="tx2">
                  <a:lumMod val="10000"/>
                  <a:lumOff val="9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sz="2000">
                <a:latin typeface="Sassoon Infant Rg" panose="02000503030000020003" pitchFamily="2" charset="0"/>
                <a:ea typeface="Sassoon Infant Rg" panose="02000503030000020003" pitchFamily="2" charset="0"/>
              </a:endParaRPr>
            </a:p>
          </p:txBody>
        </p:sp>
        <p:sp>
          <p:nvSpPr>
            <p:cNvPr id="17" name="Rectangle: Rounded Corners 4">
              <a:extLst>
                <a:ext uri="{FF2B5EF4-FFF2-40B4-BE49-F238E27FC236}">
                  <a16:creationId xmlns:a16="http://schemas.microsoft.com/office/drawing/2014/main" id="{5BB85806-B253-CCA0-87CA-CA74A04DBED0}"/>
                </a:ext>
              </a:extLst>
            </p:cNvPr>
            <p:cNvSpPr txBox="1"/>
            <p:nvPr/>
          </p:nvSpPr>
          <p:spPr>
            <a:xfrm>
              <a:off x="6082464" y="1821028"/>
              <a:ext cx="1546569" cy="2344261"/>
            </a:xfrm>
            <a:prstGeom prst="rect">
              <a:avLst/>
            </a:prstGeom>
            <a:grpFill/>
            <a:ln>
              <a:solidFill>
                <a:schemeClr val="tx2">
                  <a:lumMod val="10000"/>
                  <a:lumOff val="90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endParaRPr lang="en-GB" sz="2400" b="1" u="sng" kern="1200">
                <a:solidFill>
                  <a:schemeClr val="tx1"/>
                </a:solidFill>
                <a:latin typeface="Sassoon Infant Rg" panose="02000503030000020003" pitchFamily="2" charset="0"/>
                <a:ea typeface="Sassoon Infant Rg" panose="02000503030000020003" pitchFamily="2" charset="0"/>
              </a:endParaRPr>
            </a:p>
          </p:txBody>
        </p:sp>
      </p:grpSp>
      <p:grpSp>
        <p:nvGrpSpPr>
          <p:cNvPr id="36" name="Group 35">
            <a:extLst>
              <a:ext uri="{FF2B5EF4-FFF2-40B4-BE49-F238E27FC236}">
                <a16:creationId xmlns:a16="http://schemas.microsoft.com/office/drawing/2014/main" id="{2662DB94-CD6C-5055-CCD3-E158326DF3F8}"/>
              </a:ext>
            </a:extLst>
          </p:cNvPr>
          <p:cNvGrpSpPr/>
          <p:nvPr/>
        </p:nvGrpSpPr>
        <p:grpSpPr>
          <a:xfrm>
            <a:off x="6400961" y="3638841"/>
            <a:ext cx="752715" cy="748493"/>
            <a:chOff x="4462145" y="450020"/>
            <a:chExt cx="801261" cy="903352"/>
          </a:xfrm>
        </p:grpSpPr>
        <p:pic>
          <p:nvPicPr>
            <p:cNvPr id="37" name="Picture 36">
              <a:extLst>
                <a:ext uri="{FF2B5EF4-FFF2-40B4-BE49-F238E27FC236}">
                  <a16:creationId xmlns:a16="http://schemas.microsoft.com/office/drawing/2014/main" id="{E5B42AF8-5B08-C8AA-E3B0-B268DD3B9F6F}"/>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38" name="TextBox 37">
              <a:extLst>
                <a:ext uri="{FF2B5EF4-FFF2-40B4-BE49-F238E27FC236}">
                  <a16:creationId xmlns:a16="http://schemas.microsoft.com/office/drawing/2014/main" id="{9805B206-DFDB-6633-B15B-BB40A3F523F0}"/>
                </a:ext>
              </a:extLst>
            </p:cNvPr>
            <p:cNvSpPr txBox="1"/>
            <p:nvPr/>
          </p:nvSpPr>
          <p:spPr>
            <a:xfrm>
              <a:off x="4704080" y="708024"/>
              <a:ext cx="375920" cy="482891"/>
            </a:xfrm>
            <a:prstGeom prst="rect">
              <a:avLst/>
            </a:prstGeom>
            <a:noFill/>
          </p:spPr>
          <p:txBody>
            <a:bodyPr wrap="square" rtlCol="0">
              <a:spAutoFit/>
            </a:bodyPr>
            <a:lstStyle/>
            <a:p>
              <a:r>
                <a:rPr lang="en-GB" sz="2000" b="1">
                  <a:latin typeface="Sassoon Infant Rg" panose="02000503030000020003" pitchFamily="2" charset="0"/>
                  <a:ea typeface="Sassoon Infant Rg" panose="02000503030000020003" pitchFamily="2" charset="0"/>
                </a:rPr>
                <a:t>4</a:t>
              </a:r>
            </a:p>
          </p:txBody>
        </p:sp>
      </p:grpSp>
      <p:grpSp>
        <p:nvGrpSpPr>
          <p:cNvPr id="23" name="Group 22">
            <a:extLst>
              <a:ext uri="{FF2B5EF4-FFF2-40B4-BE49-F238E27FC236}">
                <a16:creationId xmlns:a16="http://schemas.microsoft.com/office/drawing/2014/main" id="{57916B93-CCC0-9649-EE04-8C0D4E28A5B9}"/>
              </a:ext>
            </a:extLst>
          </p:cNvPr>
          <p:cNvGrpSpPr/>
          <p:nvPr/>
        </p:nvGrpSpPr>
        <p:grpSpPr>
          <a:xfrm>
            <a:off x="6532989" y="2319424"/>
            <a:ext cx="4791567" cy="745161"/>
            <a:chOff x="1999694" y="1717038"/>
            <a:chExt cx="1713901" cy="2885442"/>
          </a:xfrm>
        </p:grpSpPr>
        <p:sp>
          <p:nvSpPr>
            <p:cNvPr id="24" name="Rectangle: Rounded Corners 23">
              <a:extLst>
                <a:ext uri="{FF2B5EF4-FFF2-40B4-BE49-F238E27FC236}">
                  <a16:creationId xmlns:a16="http://schemas.microsoft.com/office/drawing/2014/main" id="{E53B173E-1E56-F5FD-695F-8F7E7A381E22}"/>
                </a:ext>
              </a:extLst>
            </p:cNvPr>
            <p:cNvSpPr/>
            <p:nvPr/>
          </p:nvSpPr>
          <p:spPr>
            <a:xfrm>
              <a:off x="1999694" y="1717038"/>
              <a:ext cx="1713901" cy="2885442"/>
            </a:xfrm>
            <a:prstGeom prst="roundRect">
              <a:avLst/>
            </a:prstGeom>
            <a:solidFill>
              <a:schemeClr val="accent6">
                <a:lumMod val="40000"/>
                <a:lumOff val="60000"/>
              </a:schemeClr>
            </a:solidFill>
            <a:ln>
              <a:solidFill>
                <a:schemeClr val="accent6">
                  <a:lumMod val="40000"/>
                  <a:lumOff val="6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sz="2000">
                <a:latin typeface="Sassoon Infant Rg" panose="02000503030000020003" pitchFamily="2" charset="0"/>
                <a:ea typeface="Sassoon Infant Rg" panose="02000503030000020003" pitchFamily="2" charset="0"/>
              </a:endParaRPr>
            </a:p>
          </p:txBody>
        </p:sp>
        <p:sp>
          <p:nvSpPr>
            <p:cNvPr id="25" name="Rectangle: Rounded Corners 4">
              <a:extLst>
                <a:ext uri="{FF2B5EF4-FFF2-40B4-BE49-F238E27FC236}">
                  <a16:creationId xmlns:a16="http://schemas.microsoft.com/office/drawing/2014/main" id="{882AAE6D-4D22-86CF-C855-E3D0FDB12DAD}"/>
                </a:ext>
              </a:extLst>
            </p:cNvPr>
            <p:cNvSpPr txBox="1"/>
            <p:nvPr/>
          </p:nvSpPr>
          <p:spPr>
            <a:xfrm>
              <a:off x="2083360" y="1800704"/>
              <a:ext cx="1546569" cy="271811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endParaRPr lang="en-GB" sz="2400" b="1" u="sng" kern="1200">
                <a:solidFill>
                  <a:schemeClr val="tx1"/>
                </a:solidFill>
                <a:latin typeface="Sassoon Infant Rg" panose="02000503030000020003" pitchFamily="2" charset="0"/>
                <a:ea typeface="Sassoon Infant Rg" panose="02000503030000020003" pitchFamily="2" charset="0"/>
              </a:endParaRPr>
            </a:p>
          </p:txBody>
        </p:sp>
      </p:grpSp>
      <p:grpSp>
        <p:nvGrpSpPr>
          <p:cNvPr id="42" name="Group 41">
            <a:extLst>
              <a:ext uri="{FF2B5EF4-FFF2-40B4-BE49-F238E27FC236}">
                <a16:creationId xmlns:a16="http://schemas.microsoft.com/office/drawing/2014/main" id="{705038C9-672B-917E-C432-C94B3C13096F}"/>
              </a:ext>
            </a:extLst>
          </p:cNvPr>
          <p:cNvGrpSpPr/>
          <p:nvPr/>
        </p:nvGrpSpPr>
        <p:grpSpPr>
          <a:xfrm>
            <a:off x="6467851" y="2298689"/>
            <a:ext cx="752715" cy="748493"/>
            <a:chOff x="1721712" y="2823332"/>
            <a:chExt cx="801261" cy="903352"/>
          </a:xfrm>
        </p:grpSpPr>
        <p:pic>
          <p:nvPicPr>
            <p:cNvPr id="43" name="Picture 42">
              <a:extLst>
                <a:ext uri="{FF2B5EF4-FFF2-40B4-BE49-F238E27FC236}">
                  <a16:creationId xmlns:a16="http://schemas.microsoft.com/office/drawing/2014/main" id="{EDD6E68D-F919-9335-D6B5-2EA53BC23C75}"/>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1721712" y="2823332"/>
              <a:ext cx="801261" cy="903352"/>
            </a:xfrm>
            <a:prstGeom prst="rect">
              <a:avLst/>
            </a:prstGeom>
          </p:spPr>
        </p:pic>
        <p:sp>
          <p:nvSpPr>
            <p:cNvPr id="44" name="TextBox 43">
              <a:extLst>
                <a:ext uri="{FF2B5EF4-FFF2-40B4-BE49-F238E27FC236}">
                  <a16:creationId xmlns:a16="http://schemas.microsoft.com/office/drawing/2014/main" id="{CE8F5197-3A33-4099-D9C0-7A4BDF458F99}"/>
                </a:ext>
              </a:extLst>
            </p:cNvPr>
            <p:cNvSpPr txBox="1"/>
            <p:nvPr/>
          </p:nvSpPr>
          <p:spPr>
            <a:xfrm>
              <a:off x="1959488" y="3052738"/>
              <a:ext cx="375920" cy="482891"/>
            </a:xfrm>
            <a:prstGeom prst="rect">
              <a:avLst/>
            </a:prstGeom>
            <a:noFill/>
          </p:spPr>
          <p:txBody>
            <a:bodyPr wrap="square" rtlCol="0">
              <a:spAutoFit/>
            </a:bodyPr>
            <a:lstStyle/>
            <a:p>
              <a:r>
                <a:rPr lang="en-GB" sz="2000" b="1">
                  <a:latin typeface="Sassoon Infant Rg" panose="02000503030000020003" pitchFamily="2" charset="0"/>
                  <a:ea typeface="Sassoon Infant Rg" panose="02000503030000020003" pitchFamily="2" charset="0"/>
                </a:rPr>
                <a:t>6</a:t>
              </a:r>
            </a:p>
          </p:txBody>
        </p:sp>
      </p:grpSp>
      <p:grpSp>
        <p:nvGrpSpPr>
          <p:cNvPr id="18" name="Group 17">
            <a:extLst>
              <a:ext uri="{FF2B5EF4-FFF2-40B4-BE49-F238E27FC236}">
                <a16:creationId xmlns:a16="http://schemas.microsoft.com/office/drawing/2014/main" id="{CBDA5EDA-0208-2951-CAB9-934649374FF1}"/>
              </a:ext>
            </a:extLst>
          </p:cNvPr>
          <p:cNvGrpSpPr/>
          <p:nvPr/>
        </p:nvGrpSpPr>
        <p:grpSpPr>
          <a:xfrm>
            <a:off x="6419256" y="3046473"/>
            <a:ext cx="4827428" cy="661583"/>
            <a:chOff x="7998350" y="1737362"/>
            <a:chExt cx="1713901" cy="2844795"/>
          </a:xfrm>
        </p:grpSpPr>
        <p:sp>
          <p:nvSpPr>
            <p:cNvPr id="19" name="Rectangle: Rounded Corners 18">
              <a:extLst>
                <a:ext uri="{FF2B5EF4-FFF2-40B4-BE49-F238E27FC236}">
                  <a16:creationId xmlns:a16="http://schemas.microsoft.com/office/drawing/2014/main" id="{A16EA2FA-3662-54C0-F14F-7972C5F38A0F}"/>
                </a:ext>
              </a:extLst>
            </p:cNvPr>
            <p:cNvSpPr/>
            <p:nvPr/>
          </p:nvSpPr>
          <p:spPr>
            <a:xfrm>
              <a:off x="7998350" y="1737362"/>
              <a:ext cx="1713901" cy="2844795"/>
            </a:xfrm>
            <a:prstGeom prst="roundRect">
              <a:avLst/>
            </a:prstGeom>
            <a:solidFill>
              <a:srgbClr val="F9D2B5"/>
            </a:solidFill>
            <a:ln>
              <a:solidFill>
                <a:srgbClr val="F9D2B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sz="2000">
                <a:latin typeface="Sassoon Infant Rg" panose="02000503030000020003" pitchFamily="2" charset="0"/>
                <a:ea typeface="Sassoon Infant Rg" panose="02000503030000020003" pitchFamily="2" charset="0"/>
              </a:endParaRPr>
            </a:p>
          </p:txBody>
        </p:sp>
        <p:sp>
          <p:nvSpPr>
            <p:cNvPr id="20" name="Rectangle: Rounded Corners 4">
              <a:extLst>
                <a:ext uri="{FF2B5EF4-FFF2-40B4-BE49-F238E27FC236}">
                  <a16:creationId xmlns:a16="http://schemas.microsoft.com/office/drawing/2014/main" id="{AD9B7A2A-4130-220B-F607-16B7B1DF477A}"/>
                </a:ext>
              </a:extLst>
            </p:cNvPr>
            <p:cNvSpPr txBox="1"/>
            <p:nvPr/>
          </p:nvSpPr>
          <p:spPr>
            <a:xfrm>
              <a:off x="8082016" y="1821028"/>
              <a:ext cx="1546569" cy="26774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endParaRPr lang="en-GB" sz="2400" b="1" u="sng" kern="1200">
                <a:solidFill>
                  <a:schemeClr val="tx1"/>
                </a:solidFill>
                <a:latin typeface="Sassoon Infant Rg" panose="02000503030000020003" pitchFamily="2" charset="0"/>
                <a:ea typeface="Sassoon Infant Rg" panose="02000503030000020003" pitchFamily="2" charset="0"/>
              </a:endParaRPr>
            </a:p>
          </p:txBody>
        </p:sp>
      </p:grpSp>
      <p:grpSp>
        <p:nvGrpSpPr>
          <p:cNvPr id="39" name="Group 38">
            <a:extLst>
              <a:ext uri="{FF2B5EF4-FFF2-40B4-BE49-F238E27FC236}">
                <a16:creationId xmlns:a16="http://schemas.microsoft.com/office/drawing/2014/main" id="{B05DC14A-5A2F-57E8-DB9C-EA40FB4B9151}"/>
              </a:ext>
            </a:extLst>
          </p:cNvPr>
          <p:cNvGrpSpPr/>
          <p:nvPr/>
        </p:nvGrpSpPr>
        <p:grpSpPr>
          <a:xfrm>
            <a:off x="6499917" y="2981007"/>
            <a:ext cx="752715" cy="748493"/>
            <a:chOff x="4462145" y="450020"/>
            <a:chExt cx="801261" cy="903352"/>
          </a:xfrm>
        </p:grpSpPr>
        <p:pic>
          <p:nvPicPr>
            <p:cNvPr id="40" name="Picture 39">
              <a:extLst>
                <a:ext uri="{FF2B5EF4-FFF2-40B4-BE49-F238E27FC236}">
                  <a16:creationId xmlns:a16="http://schemas.microsoft.com/office/drawing/2014/main" id="{1AF4FA57-9FD2-30B2-90E7-73688034B35C}"/>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41" name="TextBox 40">
              <a:extLst>
                <a:ext uri="{FF2B5EF4-FFF2-40B4-BE49-F238E27FC236}">
                  <a16:creationId xmlns:a16="http://schemas.microsoft.com/office/drawing/2014/main" id="{E0C34F5C-E2AC-5FA5-C450-C84F0CD5CA48}"/>
                </a:ext>
              </a:extLst>
            </p:cNvPr>
            <p:cNvSpPr txBox="1"/>
            <p:nvPr/>
          </p:nvSpPr>
          <p:spPr>
            <a:xfrm>
              <a:off x="4704080" y="708024"/>
              <a:ext cx="375920" cy="482891"/>
            </a:xfrm>
            <a:prstGeom prst="rect">
              <a:avLst/>
            </a:prstGeom>
            <a:noFill/>
          </p:spPr>
          <p:txBody>
            <a:bodyPr wrap="square" rtlCol="0">
              <a:spAutoFit/>
            </a:bodyPr>
            <a:lstStyle/>
            <a:p>
              <a:r>
                <a:rPr lang="en-GB" sz="2000" b="1">
                  <a:latin typeface="Sassoon Infant Rg" panose="02000503030000020003" pitchFamily="2" charset="0"/>
                  <a:ea typeface="Sassoon Infant Rg" panose="02000503030000020003" pitchFamily="2" charset="0"/>
                </a:rPr>
                <a:t>5</a:t>
              </a:r>
            </a:p>
          </p:txBody>
        </p:sp>
      </p:grpSp>
      <p:grpSp>
        <p:nvGrpSpPr>
          <p:cNvPr id="306" name="Group 305">
            <a:extLst>
              <a:ext uri="{FF2B5EF4-FFF2-40B4-BE49-F238E27FC236}">
                <a16:creationId xmlns:a16="http://schemas.microsoft.com/office/drawing/2014/main" id="{2F5B7928-0FEF-53EC-8C27-3439175798DC}"/>
              </a:ext>
            </a:extLst>
          </p:cNvPr>
          <p:cNvGrpSpPr/>
          <p:nvPr/>
        </p:nvGrpSpPr>
        <p:grpSpPr>
          <a:xfrm>
            <a:off x="6524130" y="5781853"/>
            <a:ext cx="4791569" cy="706284"/>
            <a:chOff x="7998350" y="1737362"/>
            <a:chExt cx="1713901" cy="2844795"/>
          </a:xfrm>
        </p:grpSpPr>
        <p:sp>
          <p:nvSpPr>
            <p:cNvPr id="307" name="Rectangle: Rounded Corners 306">
              <a:extLst>
                <a:ext uri="{FF2B5EF4-FFF2-40B4-BE49-F238E27FC236}">
                  <a16:creationId xmlns:a16="http://schemas.microsoft.com/office/drawing/2014/main" id="{AA6D931E-E9A8-4FFB-4C9C-A382B3C83B5A}"/>
                </a:ext>
              </a:extLst>
            </p:cNvPr>
            <p:cNvSpPr/>
            <p:nvPr/>
          </p:nvSpPr>
          <p:spPr>
            <a:xfrm>
              <a:off x="7998350" y="1737362"/>
              <a:ext cx="1713901" cy="2844795"/>
            </a:xfrm>
            <a:prstGeom prst="roundRect">
              <a:avLst/>
            </a:prstGeom>
            <a:solidFill>
              <a:srgbClr val="F9D2B5"/>
            </a:solidFill>
            <a:ln>
              <a:solidFill>
                <a:srgbClr val="F9D2B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sz="2000">
                <a:latin typeface="Sassoon Infant Rg" panose="02000503030000020003" pitchFamily="2" charset="0"/>
                <a:ea typeface="Sassoon Infant Rg" panose="02000503030000020003" pitchFamily="2" charset="0"/>
              </a:endParaRPr>
            </a:p>
          </p:txBody>
        </p:sp>
        <p:sp>
          <p:nvSpPr>
            <p:cNvPr id="308" name="Rectangle: Rounded Corners 4">
              <a:extLst>
                <a:ext uri="{FF2B5EF4-FFF2-40B4-BE49-F238E27FC236}">
                  <a16:creationId xmlns:a16="http://schemas.microsoft.com/office/drawing/2014/main" id="{C664D28A-B375-06F1-B2B2-6504E2061F7D}"/>
                </a:ext>
              </a:extLst>
            </p:cNvPr>
            <p:cNvSpPr txBox="1"/>
            <p:nvPr/>
          </p:nvSpPr>
          <p:spPr>
            <a:xfrm>
              <a:off x="8082016" y="1821028"/>
              <a:ext cx="1546569" cy="267746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endParaRPr lang="en-GB" sz="2400" b="1" u="sng" kern="1200">
                <a:solidFill>
                  <a:schemeClr val="tx1"/>
                </a:solidFill>
                <a:latin typeface="Sassoon Infant Rg" panose="02000503030000020003" pitchFamily="2" charset="0"/>
                <a:ea typeface="Sassoon Infant Rg" panose="02000503030000020003" pitchFamily="2" charset="0"/>
              </a:endParaRPr>
            </a:p>
          </p:txBody>
        </p:sp>
      </p:grpSp>
      <p:grpSp>
        <p:nvGrpSpPr>
          <p:cNvPr id="312" name="Group 311">
            <a:extLst>
              <a:ext uri="{FF2B5EF4-FFF2-40B4-BE49-F238E27FC236}">
                <a16:creationId xmlns:a16="http://schemas.microsoft.com/office/drawing/2014/main" id="{57583C5F-FAA5-9BA6-2208-C37A88F915DB}"/>
              </a:ext>
            </a:extLst>
          </p:cNvPr>
          <p:cNvGrpSpPr/>
          <p:nvPr/>
        </p:nvGrpSpPr>
        <p:grpSpPr>
          <a:xfrm>
            <a:off x="6569485" y="5750072"/>
            <a:ext cx="752715" cy="748493"/>
            <a:chOff x="6450334" y="5317226"/>
            <a:chExt cx="801261" cy="903352"/>
          </a:xfrm>
        </p:grpSpPr>
        <p:sp>
          <p:nvSpPr>
            <p:cNvPr id="29" name="TextBox 28">
              <a:extLst>
                <a:ext uri="{FF2B5EF4-FFF2-40B4-BE49-F238E27FC236}">
                  <a16:creationId xmlns:a16="http://schemas.microsoft.com/office/drawing/2014/main" id="{87D9AA60-E01C-8012-942B-B040134AFF77}"/>
                </a:ext>
              </a:extLst>
            </p:cNvPr>
            <p:cNvSpPr txBox="1"/>
            <p:nvPr/>
          </p:nvSpPr>
          <p:spPr>
            <a:xfrm>
              <a:off x="6671572" y="5599207"/>
              <a:ext cx="389673" cy="482891"/>
            </a:xfrm>
            <a:prstGeom prst="rect">
              <a:avLst/>
            </a:prstGeom>
            <a:noFill/>
          </p:spPr>
          <p:txBody>
            <a:bodyPr wrap="square" rtlCol="0">
              <a:spAutoFit/>
            </a:bodyPr>
            <a:lstStyle/>
            <a:p>
              <a:r>
                <a:rPr lang="en-GB" sz="2000" b="1">
                  <a:latin typeface="Sassoon Infant Rg" panose="02000503030000020003" pitchFamily="2" charset="0"/>
                  <a:ea typeface="Sassoon Infant Rg" panose="02000503030000020003" pitchFamily="2" charset="0"/>
                </a:rPr>
                <a:t>1</a:t>
              </a:r>
            </a:p>
          </p:txBody>
        </p:sp>
        <p:pic>
          <p:nvPicPr>
            <p:cNvPr id="310" name="Picture 309">
              <a:extLst>
                <a:ext uri="{FF2B5EF4-FFF2-40B4-BE49-F238E27FC236}">
                  <a16:creationId xmlns:a16="http://schemas.microsoft.com/office/drawing/2014/main" id="{34CC6B23-DEDE-632B-4079-5CB12E6D7522}"/>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6450334" y="5317226"/>
              <a:ext cx="801261" cy="903352"/>
            </a:xfrm>
            <a:prstGeom prst="rect">
              <a:avLst/>
            </a:prstGeom>
          </p:spPr>
        </p:pic>
      </p:grpSp>
      <p:sp>
        <p:nvSpPr>
          <p:cNvPr id="320" name="Freeform: Shape 319">
            <a:extLst>
              <a:ext uri="{FF2B5EF4-FFF2-40B4-BE49-F238E27FC236}">
                <a16:creationId xmlns:a16="http://schemas.microsoft.com/office/drawing/2014/main" id="{C9DD5537-CBED-6455-677E-B895DDD6640D}"/>
              </a:ext>
            </a:extLst>
          </p:cNvPr>
          <p:cNvSpPr/>
          <p:nvPr/>
        </p:nvSpPr>
        <p:spPr>
          <a:xfrm>
            <a:off x="5838826" y="1098925"/>
            <a:ext cx="6099174" cy="5606668"/>
          </a:xfrm>
          <a:custGeom>
            <a:avLst/>
            <a:gdLst>
              <a:gd name="connsiteX0" fmla="*/ 513624 w 514349"/>
              <a:gd name="connsiteY0" fmla="*/ 5877 h 571500"/>
              <a:gd name="connsiteX1" fmla="*/ 504823 w 514349"/>
              <a:gd name="connsiteY1" fmla="*/ 0 h 571500"/>
              <a:gd name="connsiteX2" fmla="*/ 9523 w 514349"/>
              <a:gd name="connsiteY2" fmla="*/ 0 h 571500"/>
              <a:gd name="connsiteX3" fmla="*/ 0 w 514349"/>
              <a:gd name="connsiteY3" fmla="*/ 9527 h 571500"/>
              <a:gd name="connsiteX4" fmla="*/ 2789 w 514349"/>
              <a:gd name="connsiteY4" fmla="*/ 16259 h 571500"/>
              <a:gd name="connsiteX5" fmla="*/ 24144 w 514349"/>
              <a:gd name="connsiteY5" fmla="*/ 37624 h 571500"/>
              <a:gd name="connsiteX6" fmla="*/ 38098 w 514349"/>
              <a:gd name="connsiteY6" fmla="*/ 71295 h 571500"/>
              <a:gd name="connsiteX7" fmla="*/ 38098 w 514349"/>
              <a:gd name="connsiteY7" fmla="*/ 523875 h 571500"/>
              <a:gd name="connsiteX8" fmla="*/ 85723 w 514349"/>
              <a:gd name="connsiteY8" fmla="*/ 571500 h 571500"/>
              <a:gd name="connsiteX9" fmla="*/ 428623 w 514349"/>
              <a:gd name="connsiteY9" fmla="*/ 571500 h 571500"/>
              <a:gd name="connsiteX10" fmla="*/ 476248 w 514349"/>
              <a:gd name="connsiteY10" fmla="*/ 523875 h 571500"/>
              <a:gd name="connsiteX11" fmla="*/ 476248 w 514349"/>
              <a:gd name="connsiteY11" fmla="*/ 71295 h 571500"/>
              <a:gd name="connsiteX12" fmla="*/ 490202 w 514349"/>
              <a:gd name="connsiteY12" fmla="*/ 37624 h 571500"/>
              <a:gd name="connsiteX13" fmla="*/ 511557 w 514349"/>
              <a:gd name="connsiteY13" fmla="*/ 16259 h 571500"/>
              <a:gd name="connsiteX14" fmla="*/ 513624 w 514349"/>
              <a:gd name="connsiteY14" fmla="*/ 5877 h 571500"/>
              <a:gd name="connsiteX15" fmla="*/ 428623 w 514349"/>
              <a:gd name="connsiteY15" fmla="*/ 552450 h 571500"/>
              <a:gd name="connsiteX16" fmla="*/ 85723 w 514349"/>
              <a:gd name="connsiteY16" fmla="*/ 552450 h 571500"/>
              <a:gd name="connsiteX17" fmla="*/ 57148 w 514349"/>
              <a:gd name="connsiteY17" fmla="*/ 523875 h 571500"/>
              <a:gd name="connsiteX18" fmla="*/ 57148 w 514349"/>
              <a:gd name="connsiteY18" fmla="*/ 123739 h 571500"/>
              <a:gd name="connsiteX19" fmla="*/ 234113 w 514349"/>
              <a:gd name="connsiteY19" fmla="*/ 100013 h 571500"/>
              <a:gd name="connsiteX20" fmla="*/ 323848 w 514349"/>
              <a:gd name="connsiteY20" fmla="*/ 85725 h 571500"/>
              <a:gd name="connsiteX21" fmla="*/ 438348 w 514349"/>
              <a:gd name="connsiteY21" fmla="*/ 106804 h 571500"/>
              <a:gd name="connsiteX22" fmla="*/ 457198 w 514349"/>
              <a:gd name="connsiteY22" fmla="*/ 112919 h 571500"/>
              <a:gd name="connsiteX23" fmla="*/ 457198 w 514349"/>
              <a:gd name="connsiteY23" fmla="*/ 523875 h 571500"/>
              <a:gd name="connsiteX24" fmla="*/ 428623 w 514349"/>
              <a:gd name="connsiteY24" fmla="*/ 552450 h 571500"/>
              <a:gd name="connsiteX25" fmla="*/ 476715 w 514349"/>
              <a:gd name="connsiteY25" fmla="*/ 24165 h 571500"/>
              <a:gd name="connsiteX26" fmla="*/ 457198 w 514349"/>
              <a:gd name="connsiteY26" fmla="*/ 71295 h 571500"/>
              <a:gd name="connsiteX27" fmla="*/ 457198 w 514349"/>
              <a:gd name="connsiteY27" fmla="*/ 93202 h 571500"/>
              <a:gd name="connsiteX28" fmla="*/ 444816 w 514349"/>
              <a:gd name="connsiteY28" fmla="*/ 88897 h 571500"/>
              <a:gd name="connsiteX29" fmla="*/ 323848 w 514349"/>
              <a:gd name="connsiteY29" fmla="*/ 66675 h 571500"/>
              <a:gd name="connsiteX30" fmla="*/ 229312 w 514349"/>
              <a:gd name="connsiteY30" fmla="*/ 81563 h 571500"/>
              <a:gd name="connsiteX31" fmla="*/ 57148 w 514349"/>
              <a:gd name="connsiteY31" fmla="*/ 104699 h 571500"/>
              <a:gd name="connsiteX32" fmla="*/ 57148 w 514349"/>
              <a:gd name="connsiteY32" fmla="*/ 71295 h 571500"/>
              <a:gd name="connsiteX33" fmla="*/ 37641 w 514349"/>
              <a:gd name="connsiteY33" fmla="*/ 24184 h 571500"/>
              <a:gd name="connsiteX34" fmla="*/ 32678 w 514349"/>
              <a:gd name="connsiteY34" fmla="*/ 19212 h 571500"/>
              <a:gd name="connsiteX35" fmla="*/ 32745 w 514349"/>
              <a:gd name="connsiteY35" fmla="*/ 19050 h 571500"/>
              <a:gd name="connsiteX36" fmla="*/ 481601 w 514349"/>
              <a:gd name="connsiteY36" fmla="*/ 19050 h 571500"/>
              <a:gd name="connsiteX37" fmla="*/ 481668 w 514349"/>
              <a:gd name="connsiteY37" fmla="*/ 19212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14349" h="571500">
                <a:moveTo>
                  <a:pt x="513624" y="5877"/>
                </a:moveTo>
                <a:cubicBezTo>
                  <a:pt x="512149" y="2318"/>
                  <a:pt x="508675" y="-1"/>
                  <a:pt x="504823" y="0"/>
                </a:cubicBezTo>
                <a:lnTo>
                  <a:pt x="9523" y="0"/>
                </a:lnTo>
                <a:cubicBezTo>
                  <a:pt x="4262" y="1"/>
                  <a:pt x="-1" y="4266"/>
                  <a:pt x="0" y="9527"/>
                </a:cubicBezTo>
                <a:cubicBezTo>
                  <a:pt x="1" y="12052"/>
                  <a:pt x="1004" y="14473"/>
                  <a:pt x="2789" y="16259"/>
                </a:cubicBezTo>
                <a:lnTo>
                  <a:pt x="24144" y="37624"/>
                </a:lnTo>
                <a:cubicBezTo>
                  <a:pt x="33105" y="46533"/>
                  <a:pt x="38130" y="58658"/>
                  <a:pt x="38098" y="71295"/>
                </a:cubicBezTo>
                <a:lnTo>
                  <a:pt x="38098" y="523875"/>
                </a:lnTo>
                <a:cubicBezTo>
                  <a:pt x="38130" y="550165"/>
                  <a:pt x="59433" y="571469"/>
                  <a:pt x="85723" y="571500"/>
                </a:cubicBezTo>
                <a:lnTo>
                  <a:pt x="428623" y="571500"/>
                </a:lnTo>
                <a:cubicBezTo>
                  <a:pt x="454913" y="571469"/>
                  <a:pt x="476217" y="550165"/>
                  <a:pt x="476248" y="523875"/>
                </a:cubicBezTo>
                <a:lnTo>
                  <a:pt x="476248" y="71295"/>
                </a:lnTo>
                <a:cubicBezTo>
                  <a:pt x="476216" y="58658"/>
                  <a:pt x="481241" y="46533"/>
                  <a:pt x="490202" y="37624"/>
                </a:cubicBezTo>
                <a:lnTo>
                  <a:pt x="511557" y="16259"/>
                </a:lnTo>
                <a:cubicBezTo>
                  <a:pt x="514283" y="13535"/>
                  <a:pt x="515099" y="9437"/>
                  <a:pt x="513624" y="5877"/>
                </a:cubicBezTo>
                <a:close/>
                <a:moveTo>
                  <a:pt x="428623" y="552450"/>
                </a:moveTo>
                <a:lnTo>
                  <a:pt x="85723" y="552450"/>
                </a:lnTo>
                <a:cubicBezTo>
                  <a:pt x="69941" y="552450"/>
                  <a:pt x="57148" y="539657"/>
                  <a:pt x="57148" y="523875"/>
                </a:cubicBezTo>
                <a:lnTo>
                  <a:pt x="57148" y="123739"/>
                </a:lnTo>
                <a:cubicBezTo>
                  <a:pt x="116951" y="124062"/>
                  <a:pt x="176508" y="116077"/>
                  <a:pt x="234113" y="100013"/>
                </a:cubicBezTo>
                <a:cubicBezTo>
                  <a:pt x="263218" y="91110"/>
                  <a:pt x="293419" y="86302"/>
                  <a:pt x="323848" y="85725"/>
                </a:cubicBezTo>
                <a:cubicBezTo>
                  <a:pt x="363013" y="85345"/>
                  <a:pt x="401885" y="92501"/>
                  <a:pt x="438348" y="106804"/>
                </a:cubicBezTo>
                <a:cubicBezTo>
                  <a:pt x="444517" y="109177"/>
                  <a:pt x="450811" y="111219"/>
                  <a:pt x="457198" y="112919"/>
                </a:cubicBezTo>
                <a:lnTo>
                  <a:pt x="457198" y="523875"/>
                </a:lnTo>
                <a:cubicBezTo>
                  <a:pt x="457198" y="539657"/>
                  <a:pt x="444405" y="552450"/>
                  <a:pt x="428623" y="552450"/>
                </a:cubicBezTo>
                <a:close/>
                <a:moveTo>
                  <a:pt x="476715" y="24165"/>
                </a:moveTo>
                <a:cubicBezTo>
                  <a:pt x="464219" y="36666"/>
                  <a:pt x="457199" y="53619"/>
                  <a:pt x="457198" y="71295"/>
                </a:cubicBezTo>
                <a:lnTo>
                  <a:pt x="457198" y="93202"/>
                </a:lnTo>
                <a:cubicBezTo>
                  <a:pt x="453626" y="92069"/>
                  <a:pt x="449492" y="90583"/>
                  <a:pt x="444816" y="88897"/>
                </a:cubicBezTo>
                <a:cubicBezTo>
                  <a:pt x="406263" y="73898"/>
                  <a:pt x="365214" y="66357"/>
                  <a:pt x="323848" y="66675"/>
                </a:cubicBezTo>
                <a:cubicBezTo>
                  <a:pt x="291796" y="67197"/>
                  <a:pt x="259974" y="72208"/>
                  <a:pt x="229312" y="81563"/>
                </a:cubicBezTo>
                <a:cubicBezTo>
                  <a:pt x="173292" y="97306"/>
                  <a:pt x="115337" y="105093"/>
                  <a:pt x="57148" y="104699"/>
                </a:cubicBezTo>
                <a:lnTo>
                  <a:pt x="57148" y="71295"/>
                </a:lnTo>
                <a:cubicBezTo>
                  <a:pt x="57151" y="53626"/>
                  <a:pt x="50134" y="36679"/>
                  <a:pt x="37641" y="24184"/>
                </a:cubicBezTo>
                <a:lnTo>
                  <a:pt x="32678" y="19212"/>
                </a:lnTo>
                <a:cubicBezTo>
                  <a:pt x="32593" y="19126"/>
                  <a:pt x="32621" y="19050"/>
                  <a:pt x="32745" y="19050"/>
                </a:cubicBezTo>
                <a:lnTo>
                  <a:pt x="481601" y="19050"/>
                </a:lnTo>
                <a:cubicBezTo>
                  <a:pt x="481725" y="19050"/>
                  <a:pt x="481754" y="19126"/>
                  <a:pt x="481668" y="19212"/>
                </a:cubicBezTo>
                <a:close/>
              </a:path>
            </a:pathLst>
          </a:custGeom>
          <a:solidFill>
            <a:srgbClr val="000000"/>
          </a:solidFill>
          <a:ln w="9525" cap="flat">
            <a:noFill/>
            <a:prstDash val="solid"/>
            <a:miter/>
          </a:ln>
        </p:spPr>
        <p:txBody>
          <a:bodyPr rtlCol="0" anchor="ctr"/>
          <a:lstStyle/>
          <a:p>
            <a:endParaRPr lang="en-GB"/>
          </a:p>
        </p:txBody>
      </p:sp>
      <p:sp>
        <p:nvSpPr>
          <p:cNvPr id="326" name="Freeform: Shape 325">
            <a:extLst>
              <a:ext uri="{FF2B5EF4-FFF2-40B4-BE49-F238E27FC236}">
                <a16:creationId xmlns:a16="http://schemas.microsoft.com/office/drawing/2014/main" id="{D2FF7BD3-7D6B-4FFB-708E-0BAB17C98EBC}"/>
              </a:ext>
            </a:extLst>
          </p:cNvPr>
          <p:cNvSpPr/>
          <p:nvPr/>
        </p:nvSpPr>
        <p:spPr>
          <a:xfrm>
            <a:off x="10249380" y="250021"/>
            <a:ext cx="349748" cy="511568"/>
          </a:xfrm>
          <a:custGeom>
            <a:avLst/>
            <a:gdLst>
              <a:gd name="connsiteX0" fmla="*/ 131059 w 262118"/>
              <a:gd name="connsiteY0" fmla="*/ 259531 h 259530"/>
              <a:gd name="connsiteX1" fmla="*/ 262118 w 262118"/>
              <a:gd name="connsiteY1" fmla="*/ 129765 h 259530"/>
              <a:gd name="connsiteX2" fmla="*/ 131059 w 262118"/>
              <a:gd name="connsiteY2" fmla="*/ 0 h 259530"/>
              <a:gd name="connsiteX3" fmla="*/ 0 w 262118"/>
              <a:gd name="connsiteY3" fmla="*/ 129765 h 259530"/>
              <a:gd name="connsiteX4" fmla="*/ 131059 w 262118"/>
              <a:gd name="connsiteY4" fmla="*/ 259531 h 259530"/>
              <a:gd name="connsiteX5" fmla="*/ 131059 w 262118"/>
              <a:gd name="connsiteY5" fmla="*/ 43255 h 259530"/>
              <a:gd name="connsiteX6" fmla="*/ 218432 w 262118"/>
              <a:gd name="connsiteY6" fmla="*/ 129765 h 259530"/>
              <a:gd name="connsiteX7" fmla="*/ 131059 w 262118"/>
              <a:gd name="connsiteY7" fmla="*/ 216276 h 259530"/>
              <a:gd name="connsiteX8" fmla="*/ 43686 w 262118"/>
              <a:gd name="connsiteY8" fmla="*/ 129765 h 259530"/>
              <a:gd name="connsiteX9" fmla="*/ 131059 w 262118"/>
              <a:gd name="connsiteY9" fmla="*/ 43255 h 259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2118" h="259530">
                <a:moveTo>
                  <a:pt x="131059" y="259531"/>
                </a:moveTo>
                <a:cubicBezTo>
                  <a:pt x="203441" y="259531"/>
                  <a:pt x="262118" y="201433"/>
                  <a:pt x="262118" y="129765"/>
                </a:cubicBezTo>
                <a:cubicBezTo>
                  <a:pt x="262118" y="58098"/>
                  <a:pt x="203441" y="0"/>
                  <a:pt x="131059" y="0"/>
                </a:cubicBezTo>
                <a:cubicBezTo>
                  <a:pt x="58677" y="0"/>
                  <a:pt x="0" y="58098"/>
                  <a:pt x="0" y="129765"/>
                </a:cubicBezTo>
                <a:cubicBezTo>
                  <a:pt x="85" y="201398"/>
                  <a:pt x="58712" y="259446"/>
                  <a:pt x="131059" y="259531"/>
                </a:cubicBezTo>
                <a:close/>
                <a:moveTo>
                  <a:pt x="131059" y="43255"/>
                </a:moveTo>
                <a:cubicBezTo>
                  <a:pt x="179313" y="43255"/>
                  <a:pt x="218432" y="81988"/>
                  <a:pt x="218432" y="129765"/>
                </a:cubicBezTo>
                <a:cubicBezTo>
                  <a:pt x="218432" y="177543"/>
                  <a:pt x="179313" y="216276"/>
                  <a:pt x="131059" y="216276"/>
                </a:cubicBezTo>
                <a:cubicBezTo>
                  <a:pt x="82805" y="216276"/>
                  <a:pt x="43686" y="177543"/>
                  <a:pt x="43686" y="129765"/>
                </a:cubicBezTo>
                <a:cubicBezTo>
                  <a:pt x="43686" y="81988"/>
                  <a:pt x="82805" y="43255"/>
                  <a:pt x="131059" y="43255"/>
                </a:cubicBezTo>
                <a:close/>
              </a:path>
            </a:pathLst>
          </a:custGeom>
          <a:solidFill>
            <a:srgbClr val="000000"/>
          </a:solidFill>
          <a:ln w="21828" cap="flat">
            <a:noFill/>
            <a:prstDash val="solid"/>
            <a:miter/>
          </a:ln>
        </p:spPr>
        <p:txBody>
          <a:bodyPr rtlCol="0" anchor="ctr"/>
          <a:lstStyle/>
          <a:p>
            <a:endParaRPr lang="en-GB"/>
          </a:p>
        </p:txBody>
      </p:sp>
      <p:sp>
        <p:nvSpPr>
          <p:cNvPr id="327" name="Freeform: Shape 326">
            <a:extLst>
              <a:ext uri="{FF2B5EF4-FFF2-40B4-BE49-F238E27FC236}">
                <a16:creationId xmlns:a16="http://schemas.microsoft.com/office/drawing/2014/main" id="{73C92E30-90E8-ADFE-0985-2C31B8FE3F90}"/>
              </a:ext>
            </a:extLst>
          </p:cNvPr>
          <p:cNvSpPr/>
          <p:nvPr/>
        </p:nvSpPr>
        <p:spPr>
          <a:xfrm>
            <a:off x="9879186" y="663515"/>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6"/>
                  <a:pt x="131059" y="64883"/>
                </a:cubicBezTo>
                <a:cubicBezTo>
                  <a:pt x="131059" y="29049"/>
                  <a:pt x="101721" y="0"/>
                  <a:pt x="65530" y="0"/>
                </a:cubicBezTo>
                <a:cubicBezTo>
                  <a:pt x="29338" y="0"/>
                  <a:pt x="0" y="29049"/>
                  <a:pt x="0" y="64883"/>
                </a:cubicBezTo>
                <a:cubicBezTo>
                  <a:pt x="0" y="100716"/>
                  <a:pt x="29338" y="129765"/>
                  <a:pt x="65530" y="129765"/>
                </a:cubicBezTo>
                <a:close/>
                <a:moveTo>
                  <a:pt x="65530" y="43255"/>
                </a:moveTo>
                <a:cubicBezTo>
                  <a:pt x="77594" y="43255"/>
                  <a:pt x="87373" y="52938"/>
                  <a:pt x="87373" y="64883"/>
                </a:cubicBezTo>
                <a:cubicBezTo>
                  <a:pt x="87373" y="76827"/>
                  <a:pt x="77594" y="86510"/>
                  <a:pt x="65530" y="86510"/>
                </a:cubicBezTo>
                <a:cubicBezTo>
                  <a:pt x="53466" y="86510"/>
                  <a:pt x="43686" y="76827"/>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p>
        </p:txBody>
      </p:sp>
      <p:sp>
        <p:nvSpPr>
          <p:cNvPr id="328" name="Freeform: Shape 327">
            <a:extLst>
              <a:ext uri="{FF2B5EF4-FFF2-40B4-BE49-F238E27FC236}">
                <a16:creationId xmlns:a16="http://schemas.microsoft.com/office/drawing/2014/main" id="{63964128-831E-1989-72D1-824C2EEFB664}"/>
              </a:ext>
            </a:extLst>
          </p:cNvPr>
          <p:cNvSpPr/>
          <p:nvPr/>
        </p:nvSpPr>
        <p:spPr>
          <a:xfrm>
            <a:off x="8705483" y="233286"/>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6"/>
                  <a:pt x="131059" y="64883"/>
                </a:cubicBezTo>
                <a:cubicBezTo>
                  <a:pt x="131059" y="29049"/>
                  <a:pt x="101721" y="0"/>
                  <a:pt x="65530" y="0"/>
                </a:cubicBezTo>
                <a:cubicBezTo>
                  <a:pt x="29338" y="0"/>
                  <a:pt x="0" y="29049"/>
                  <a:pt x="0" y="64883"/>
                </a:cubicBezTo>
                <a:cubicBezTo>
                  <a:pt x="0" y="100716"/>
                  <a:pt x="29338" y="129765"/>
                  <a:pt x="65530" y="129765"/>
                </a:cubicBezTo>
                <a:close/>
                <a:moveTo>
                  <a:pt x="65530" y="43255"/>
                </a:moveTo>
                <a:cubicBezTo>
                  <a:pt x="77594" y="43255"/>
                  <a:pt x="87373" y="52938"/>
                  <a:pt x="87373" y="64883"/>
                </a:cubicBezTo>
                <a:cubicBezTo>
                  <a:pt x="87373" y="76827"/>
                  <a:pt x="77594" y="86510"/>
                  <a:pt x="65530" y="86510"/>
                </a:cubicBezTo>
                <a:cubicBezTo>
                  <a:pt x="53466" y="86510"/>
                  <a:pt x="43686" y="76827"/>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p>
        </p:txBody>
      </p:sp>
      <p:sp>
        <p:nvSpPr>
          <p:cNvPr id="329" name="Freeform: Shape 328">
            <a:extLst>
              <a:ext uri="{FF2B5EF4-FFF2-40B4-BE49-F238E27FC236}">
                <a16:creationId xmlns:a16="http://schemas.microsoft.com/office/drawing/2014/main" id="{143FF0B4-B41F-D0C2-8F58-55CA433793A2}"/>
              </a:ext>
            </a:extLst>
          </p:cNvPr>
          <p:cNvSpPr/>
          <p:nvPr/>
        </p:nvSpPr>
        <p:spPr>
          <a:xfrm>
            <a:off x="6579005" y="641948"/>
            <a:ext cx="233165" cy="341044"/>
          </a:xfrm>
          <a:custGeom>
            <a:avLst/>
            <a:gdLst>
              <a:gd name="connsiteX0" fmla="*/ 87373 w 174745"/>
              <a:gd name="connsiteY0" fmla="*/ 173021 h 173020"/>
              <a:gd name="connsiteX1" fmla="*/ 174745 w 174745"/>
              <a:gd name="connsiteY1" fmla="*/ 86510 h 173020"/>
              <a:gd name="connsiteX2" fmla="*/ 87373 w 174745"/>
              <a:gd name="connsiteY2" fmla="*/ 0 h 173020"/>
              <a:gd name="connsiteX3" fmla="*/ 0 w 174745"/>
              <a:gd name="connsiteY3" fmla="*/ 86510 h 173020"/>
              <a:gd name="connsiteX4" fmla="*/ 87373 w 174745"/>
              <a:gd name="connsiteY4" fmla="*/ 173021 h 173020"/>
              <a:gd name="connsiteX5" fmla="*/ 87373 w 174745"/>
              <a:gd name="connsiteY5" fmla="*/ 43255 h 173020"/>
              <a:gd name="connsiteX6" fmla="*/ 131059 w 174745"/>
              <a:gd name="connsiteY6" fmla="*/ 86510 h 173020"/>
              <a:gd name="connsiteX7" fmla="*/ 87373 w 174745"/>
              <a:gd name="connsiteY7" fmla="*/ 129765 h 173020"/>
              <a:gd name="connsiteX8" fmla="*/ 43686 w 174745"/>
              <a:gd name="connsiteY8" fmla="*/ 86510 h 173020"/>
              <a:gd name="connsiteX9" fmla="*/ 87373 w 174745"/>
              <a:gd name="connsiteY9" fmla="*/ 43255 h 173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4745" h="173020">
                <a:moveTo>
                  <a:pt x="87373" y="173021"/>
                </a:moveTo>
                <a:cubicBezTo>
                  <a:pt x="135626" y="173021"/>
                  <a:pt x="174745" y="134288"/>
                  <a:pt x="174745" y="86510"/>
                </a:cubicBezTo>
                <a:cubicBezTo>
                  <a:pt x="174745" y="38732"/>
                  <a:pt x="135626" y="0"/>
                  <a:pt x="87373" y="0"/>
                </a:cubicBezTo>
                <a:cubicBezTo>
                  <a:pt x="39119" y="0"/>
                  <a:pt x="0" y="38732"/>
                  <a:pt x="0" y="86510"/>
                </a:cubicBezTo>
                <a:cubicBezTo>
                  <a:pt x="0" y="134288"/>
                  <a:pt x="39119" y="173021"/>
                  <a:pt x="87373" y="173021"/>
                </a:cubicBezTo>
                <a:close/>
                <a:moveTo>
                  <a:pt x="87373" y="43255"/>
                </a:moveTo>
                <a:cubicBezTo>
                  <a:pt x="111501" y="43255"/>
                  <a:pt x="131059" y="62620"/>
                  <a:pt x="131059" y="86510"/>
                </a:cubicBezTo>
                <a:cubicBezTo>
                  <a:pt x="131059" y="110400"/>
                  <a:pt x="111501" y="129765"/>
                  <a:pt x="87373" y="129765"/>
                </a:cubicBezTo>
                <a:cubicBezTo>
                  <a:pt x="63245" y="129765"/>
                  <a:pt x="43686" y="110400"/>
                  <a:pt x="43686" y="86510"/>
                </a:cubicBezTo>
                <a:cubicBezTo>
                  <a:pt x="43686" y="62620"/>
                  <a:pt x="63245" y="43255"/>
                  <a:pt x="87373" y="43255"/>
                </a:cubicBezTo>
                <a:close/>
              </a:path>
            </a:pathLst>
          </a:custGeom>
          <a:solidFill>
            <a:srgbClr val="000000"/>
          </a:solidFill>
          <a:ln w="21828" cap="flat">
            <a:noFill/>
            <a:prstDash val="solid"/>
            <a:miter/>
          </a:ln>
        </p:spPr>
        <p:txBody>
          <a:bodyPr rtlCol="0" anchor="ctr"/>
          <a:lstStyle/>
          <a:p>
            <a:endParaRPr lang="en-GB"/>
          </a:p>
        </p:txBody>
      </p:sp>
      <p:sp>
        <p:nvSpPr>
          <p:cNvPr id="2" name="TextBox 1">
            <a:extLst>
              <a:ext uri="{FF2B5EF4-FFF2-40B4-BE49-F238E27FC236}">
                <a16:creationId xmlns:a16="http://schemas.microsoft.com/office/drawing/2014/main" id="{39710A2C-2E22-8225-2B35-BF8AF0B707A6}"/>
              </a:ext>
            </a:extLst>
          </p:cNvPr>
          <p:cNvSpPr txBox="1"/>
          <p:nvPr/>
        </p:nvSpPr>
        <p:spPr>
          <a:xfrm>
            <a:off x="144316" y="961919"/>
            <a:ext cx="4618184" cy="1754326"/>
          </a:xfrm>
          <a:prstGeom prst="rect">
            <a:avLst/>
          </a:prstGeom>
          <a:noFill/>
        </p:spPr>
        <p:txBody>
          <a:bodyPr wrap="square" rtlCol="0">
            <a:spAutoFit/>
          </a:bodyPr>
          <a:lstStyle/>
          <a:p>
            <a:pPr algn="just"/>
            <a:r>
              <a:rPr lang="en-GB" i="1"/>
              <a:t>300, 000 years after their appearance matter and energy started to coalesce into complex structures called atoms, which then combined into molecules (13.2 billion years ago). The story of atoms, molecules and their interactions is called Chemistry</a:t>
            </a:r>
            <a:endParaRPr lang="en-GB" sz="1400">
              <a:latin typeface="Sassoon Infant Rg" panose="02000503030000020003" pitchFamily="2" charset="0"/>
              <a:ea typeface="Sassoon Infant Rg" panose="02000503030000020003" pitchFamily="2" charset="0"/>
            </a:endParaRPr>
          </a:p>
        </p:txBody>
      </p:sp>
      <p:sp>
        <p:nvSpPr>
          <p:cNvPr id="3" name="TextBox 2">
            <a:extLst>
              <a:ext uri="{FF2B5EF4-FFF2-40B4-BE49-F238E27FC236}">
                <a16:creationId xmlns:a16="http://schemas.microsoft.com/office/drawing/2014/main" id="{BD138CF0-472C-DBBA-8889-16E6430388B0}"/>
              </a:ext>
            </a:extLst>
          </p:cNvPr>
          <p:cNvSpPr txBox="1"/>
          <p:nvPr/>
        </p:nvSpPr>
        <p:spPr>
          <a:xfrm>
            <a:off x="1154787" y="348834"/>
            <a:ext cx="3155691" cy="461665"/>
          </a:xfrm>
          <a:prstGeom prst="rect">
            <a:avLst/>
          </a:prstGeom>
          <a:noFill/>
        </p:spPr>
        <p:txBody>
          <a:bodyPr wrap="square">
            <a:spAutoFit/>
          </a:bodyPr>
          <a:lstStyle/>
          <a:p>
            <a:pPr fontAlgn="base"/>
            <a:r>
              <a:rPr lang="en-GB" sz="2400" b="1"/>
              <a:t>What is Chemistry?</a:t>
            </a:r>
            <a:r>
              <a:rPr lang="en-GB" sz="2400"/>
              <a:t> </a:t>
            </a:r>
            <a:r>
              <a:rPr lang="en-GB" sz="2400" b="0" i="0">
                <a:solidFill>
                  <a:srgbClr val="000000"/>
                </a:solidFill>
                <a:effectLst/>
                <a:latin typeface="Calibri" panose="020F0502020204030204" pitchFamily="34" charset="0"/>
              </a:rPr>
              <a:t> </a:t>
            </a:r>
            <a:endParaRPr lang="en-GB" sz="2400" b="0" i="0">
              <a:solidFill>
                <a:srgbClr val="000000"/>
              </a:solidFill>
              <a:effectLst/>
              <a:latin typeface="Segoe UI" panose="020B0502040204020203" pitchFamily="34" charset="0"/>
            </a:endParaRPr>
          </a:p>
        </p:txBody>
      </p:sp>
      <p:pic>
        <p:nvPicPr>
          <p:cNvPr id="4" name="Picture 3">
            <a:extLst>
              <a:ext uri="{FF2B5EF4-FFF2-40B4-BE49-F238E27FC236}">
                <a16:creationId xmlns:a16="http://schemas.microsoft.com/office/drawing/2014/main" id="{D41A1600-D50B-BE7D-22A4-A6AF9EF5CC0B}"/>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144316" y="105448"/>
            <a:ext cx="1104848" cy="856471"/>
          </a:xfrm>
          <a:prstGeom prst="rect">
            <a:avLst/>
          </a:prstGeom>
        </p:spPr>
      </p:pic>
      <p:sp>
        <p:nvSpPr>
          <p:cNvPr id="8" name="TextBox 7">
            <a:extLst>
              <a:ext uri="{FF2B5EF4-FFF2-40B4-BE49-F238E27FC236}">
                <a16:creationId xmlns:a16="http://schemas.microsoft.com/office/drawing/2014/main" id="{FBA8591F-F63B-EFF6-90FE-07116797B6E7}"/>
              </a:ext>
            </a:extLst>
          </p:cNvPr>
          <p:cNvSpPr txBox="1"/>
          <p:nvPr/>
        </p:nvSpPr>
        <p:spPr>
          <a:xfrm>
            <a:off x="7322200" y="2478250"/>
            <a:ext cx="3822159" cy="369332"/>
          </a:xfrm>
          <a:prstGeom prst="rect">
            <a:avLst/>
          </a:prstGeom>
          <a:noFill/>
        </p:spPr>
        <p:txBody>
          <a:bodyPr wrap="square">
            <a:spAutoFit/>
          </a:bodyPr>
          <a:lstStyle/>
          <a:p>
            <a:r>
              <a:rPr lang="en-GB">
                <a:latin typeface="Sassoon Infant Rg" panose="02000503030000020003" pitchFamily="2" charset="0"/>
                <a:ea typeface="Sassoon Infant Rg" panose="02000503030000020003" pitchFamily="2" charset="0"/>
              </a:rPr>
              <a:t>Chemistry &amp; Matter change</a:t>
            </a:r>
          </a:p>
        </p:txBody>
      </p:sp>
      <p:sp>
        <p:nvSpPr>
          <p:cNvPr id="21" name="TextBox 20">
            <a:extLst>
              <a:ext uri="{FF2B5EF4-FFF2-40B4-BE49-F238E27FC236}">
                <a16:creationId xmlns:a16="http://schemas.microsoft.com/office/drawing/2014/main" id="{B00523EE-B358-EE47-9899-00536A4B7E9B}"/>
              </a:ext>
            </a:extLst>
          </p:cNvPr>
          <p:cNvSpPr txBox="1"/>
          <p:nvPr/>
        </p:nvSpPr>
        <p:spPr>
          <a:xfrm>
            <a:off x="7267324" y="3871274"/>
            <a:ext cx="3848861" cy="338554"/>
          </a:xfrm>
          <a:prstGeom prst="rect">
            <a:avLst/>
          </a:prstGeom>
          <a:noFill/>
        </p:spPr>
        <p:txBody>
          <a:bodyPr wrap="square">
            <a:spAutoFit/>
          </a:bodyPr>
          <a:lstStyle/>
          <a:p>
            <a:r>
              <a:rPr lang="en-GB" sz="1600">
                <a:latin typeface="Sassoon Infant Rg" panose="02000503030000020003" pitchFamily="2" charset="0"/>
                <a:ea typeface="Sassoon Infant Rg" panose="02000503030000020003" pitchFamily="2" charset="0"/>
              </a:rPr>
              <a:t>Electricity and Materials</a:t>
            </a:r>
          </a:p>
        </p:txBody>
      </p:sp>
      <p:sp>
        <p:nvSpPr>
          <p:cNvPr id="26" name="TextBox 25">
            <a:extLst>
              <a:ext uri="{FF2B5EF4-FFF2-40B4-BE49-F238E27FC236}">
                <a16:creationId xmlns:a16="http://schemas.microsoft.com/office/drawing/2014/main" id="{B844D1F6-D8D1-74FC-128B-DC2EC8A58770}"/>
              </a:ext>
            </a:extLst>
          </p:cNvPr>
          <p:cNvSpPr txBox="1"/>
          <p:nvPr/>
        </p:nvSpPr>
        <p:spPr>
          <a:xfrm>
            <a:off x="7432956" y="5875008"/>
            <a:ext cx="3813728" cy="369332"/>
          </a:xfrm>
          <a:prstGeom prst="rect">
            <a:avLst/>
          </a:prstGeom>
          <a:noFill/>
        </p:spPr>
        <p:txBody>
          <a:bodyPr wrap="square">
            <a:spAutoFit/>
          </a:bodyPr>
          <a:lstStyle/>
          <a:p>
            <a:r>
              <a:rPr lang="en-GB">
                <a:solidFill>
                  <a:srgbClr val="000000"/>
                </a:solidFill>
                <a:latin typeface="Sassoon Infant Rg" panose="02000503030000020003" pitchFamily="2" charset="0"/>
                <a:ea typeface="Sassoon Infant Rg" panose="02000503030000020003" pitchFamily="2" charset="0"/>
              </a:rPr>
              <a:t>Everyday materials &amp; magnetism</a:t>
            </a:r>
            <a:endParaRPr lang="en-GB" sz="4800">
              <a:latin typeface="Sassoon Infant Rg" panose="02000503030000020003" pitchFamily="2" charset="0"/>
              <a:ea typeface="Sassoon Infant Rg" panose="02000503030000020003" pitchFamily="2" charset="0"/>
            </a:endParaRPr>
          </a:p>
        </p:txBody>
      </p:sp>
      <p:sp>
        <p:nvSpPr>
          <p:cNvPr id="5" name="TextBox 4">
            <a:extLst>
              <a:ext uri="{FF2B5EF4-FFF2-40B4-BE49-F238E27FC236}">
                <a16:creationId xmlns:a16="http://schemas.microsoft.com/office/drawing/2014/main" id="{A709A034-14E5-0EC7-5F73-6427B559DF60}"/>
              </a:ext>
            </a:extLst>
          </p:cNvPr>
          <p:cNvSpPr txBox="1"/>
          <p:nvPr/>
        </p:nvSpPr>
        <p:spPr>
          <a:xfrm>
            <a:off x="7840982" y="1302594"/>
            <a:ext cx="1626692" cy="523220"/>
          </a:xfrm>
          <a:prstGeom prst="rect">
            <a:avLst/>
          </a:prstGeom>
          <a:noFill/>
        </p:spPr>
        <p:txBody>
          <a:bodyPr wrap="square">
            <a:spAutoFit/>
          </a:bodyPr>
          <a:lstStyle/>
          <a:p>
            <a:r>
              <a:rPr lang="en-GB" sz="2800" b="1" u="sng">
                <a:solidFill>
                  <a:srgbClr val="000000"/>
                </a:solidFill>
                <a:latin typeface="Sassoon Infant Rg" panose="02000503030000020003" pitchFamily="2" charset="0"/>
                <a:ea typeface="Sassoon Infant Rg" panose="02000503030000020003" pitchFamily="2" charset="0"/>
              </a:rPr>
              <a:t>Contexts</a:t>
            </a:r>
            <a:endParaRPr lang="en-GB"/>
          </a:p>
        </p:txBody>
      </p:sp>
      <p:sp>
        <p:nvSpPr>
          <p:cNvPr id="7" name="TextBox 6">
            <a:extLst>
              <a:ext uri="{FF2B5EF4-FFF2-40B4-BE49-F238E27FC236}">
                <a16:creationId xmlns:a16="http://schemas.microsoft.com/office/drawing/2014/main" id="{2F16E34B-E8CE-67EF-CD8B-EA5939E1ECF2}"/>
              </a:ext>
            </a:extLst>
          </p:cNvPr>
          <p:cNvSpPr txBox="1"/>
          <p:nvPr/>
        </p:nvSpPr>
        <p:spPr>
          <a:xfrm>
            <a:off x="1585255" y="2582636"/>
            <a:ext cx="2438400" cy="461665"/>
          </a:xfrm>
          <a:prstGeom prst="rect">
            <a:avLst/>
          </a:prstGeom>
          <a:noFill/>
        </p:spPr>
        <p:txBody>
          <a:bodyPr wrap="square">
            <a:spAutoFit/>
          </a:bodyPr>
          <a:lstStyle/>
          <a:p>
            <a:pPr fontAlgn="base"/>
            <a:r>
              <a:rPr lang="en-GB" sz="2400" b="1" u="sng">
                <a:solidFill>
                  <a:srgbClr val="000000"/>
                </a:solidFill>
                <a:latin typeface="Sassoon Infant Rg" panose="02000503030000020003" pitchFamily="2" charset="0"/>
                <a:ea typeface="Sassoon Infant Rg" panose="02000503030000020003" pitchFamily="2" charset="0"/>
              </a:rPr>
              <a:t>Key concepts:</a:t>
            </a:r>
            <a:endParaRPr lang="en-GB" sz="6000" b="0" i="0" u="sng">
              <a:solidFill>
                <a:srgbClr val="000000"/>
              </a:solidFill>
              <a:effectLst/>
              <a:latin typeface="Segoe UI" panose="020B0502040204020203" pitchFamily="34" charset="0"/>
            </a:endParaRPr>
          </a:p>
        </p:txBody>
      </p:sp>
      <p:sp>
        <p:nvSpPr>
          <p:cNvPr id="9" name="Oval 8">
            <a:extLst>
              <a:ext uri="{FF2B5EF4-FFF2-40B4-BE49-F238E27FC236}">
                <a16:creationId xmlns:a16="http://schemas.microsoft.com/office/drawing/2014/main" id="{FE524A25-12A5-3010-ADBC-D0D02DA68220}"/>
              </a:ext>
            </a:extLst>
          </p:cNvPr>
          <p:cNvSpPr/>
          <p:nvPr/>
        </p:nvSpPr>
        <p:spPr>
          <a:xfrm>
            <a:off x="3931648" y="4932669"/>
            <a:ext cx="1773377" cy="160735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400">
                <a:solidFill>
                  <a:srgbClr val="000000"/>
                </a:solidFill>
                <a:latin typeface="Sassoon Infant Rg" panose="02000503030000020003" pitchFamily="2" charset="0"/>
                <a:ea typeface="Sassoon Infant Rg" panose="02000503030000020003" pitchFamily="2" charset="0"/>
              </a:rPr>
              <a:t>Energy plays a key role in determining the changes that matter can undergo  </a:t>
            </a:r>
            <a:endParaRPr lang="en-GB" sz="4000">
              <a:latin typeface="Sassoon Infant Rg" panose="02000503030000020003" pitchFamily="2" charset="0"/>
              <a:ea typeface="Sassoon Infant Rg" panose="02000503030000020003" pitchFamily="2" charset="0"/>
            </a:endParaRPr>
          </a:p>
        </p:txBody>
      </p:sp>
      <p:sp>
        <p:nvSpPr>
          <p:cNvPr id="27" name="Oval 26">
            <a:extLst>
              <a:ext uri="{FF2B5EF4-FFF2-40B4-BE49-F238E27FC236}">
                <a16:creationId xmlns:a16="http://schemas.microsoft.com/office/drawing/2014/main" id="{4F2FC078-2487-421B-056F-339A4E6C89BC}"/>
              </a:ext>
            </a:extLst>
          </p:cNvPr>
          <p:cNvSpPr/>
          <p:nvPr/>
        </p:nvSpPr>
        <p:spPr>
          <a:xfrm>
            <a:off x="4032631" y="2962531"/>
            <a:ext cx="1520253" cy="123770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Chemistry is everywhere</a:t>
            </a:r>
          </a:p>
        </p:txBody>
      </p:sp>
      <p:sp>
        <p:nvSpPr>
          <p:cNvPr id="28" name="Oval 27">
            <a:extLst>
              <a:ext uri="{FF2B5EF4-FFF2-40B4-BE49-F238E27FC236}">
                <a16:creationId xmlns:a16="http://schemas.microsoft.com/office/drawing/2014/main" id="{B721D15E-A64B-9EA3-89A1-AF60D4AF191A}"/>
              </a:ext>
            </a:extLst>
          </p:cNvPr>
          <p:cNvSpPr/>
          <p:nvPr/>
        </p:nvSpPr>
        <p:spPr>
          <a:xfrm>
            <a:off x="389056" y="3067358"/>
            <a:ext cx="1343333" cy="1242479"/>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400">
                <a:solidFill>
                  <a:srgbClr val="000000"/>
                </a:solidFill>
                <a:latin typeface="Sassoon Infant Rg" panose="02000503030000020003" pitchFamily="2" charset="0"/>
                <a:ea typeface="Sassoon Infant Rg" panose="02000503030000020003" pitchFamily="2" charset="0"/>
              </a:rPr>
              <a:t>All matter is made of particles  </a:t>
            </a:r>
            <a:endParaRPr lang="en-GB" sz="4000">
              <a:latin typeface="Sassoon Infant Rg" panose="02000503030000020003" pitchFamily="2" charset="0"/>
              <a:ea typeface="Sassoon Infant Rg" panose="02000503030000020003" pitchFamily="2" charset="0"/>
            </a:endParaRPr>
          </a:p>
        </p:txBody>
      </p:sp>
      <p:sp>
        <p:nvSpPr>
          <p:cNvPr id="45" name="Oval 44">
            <a:extLst>
              <a:ext uri="{FF2B5EF4-FFF2-40B4-BE49-F238E27FC236}">
                <a16:creationId xmlns:a16="http://schemas.microsoft.com/office/drawing/2014/main" id="{C0C7EB12-5682-137C-DB0E-F47F0AF1630A}"/>
              </a:ext>
            </a:extLst>
          </p:cNvPr>
          <p:cNvSpPr/>
          <p:nvPr/>
        </p:nvSpPr>
        <p:spPr>
          <a:xfrm>
            <a:off x="1399688" y="4151721"/>
            <a:ext cx="2015547" cy="160735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400">
                <a:solidFill>
                  <a:srgbClr val="000000"/>
                </a:solidFill>
                <a:latin typeface="Sassoon Infant Rg" panose="02000503030000020003" pitchFamily="2" charset="0"/>
                <a:ea typeface="Sassoon Infant Rg" panose="02000503030000020003" pitchFamily="2" charset="0"/>
              </a:rPr>
              <a:t>The properties of materials derive from the identity and arrangement of particles  </a:t>
            </a:r>
            <a:endParaRPr lang="en-GB" sz="4000">
              <a:latin typeface="Sassoon Infant Rg" panose="02000503030000020003" pitchFamily="2" charset="0"/>
              <a:ea typeface="Sassoon Infant Rg" panose="02000503030000020003" pitchFamily="2" charset="0"/>
            </a:endParaRPr>
          </a:p>
        </p:txBody>
      </p:sp>
      <p:sp>
        <p:nvSpPr>
          <p:cNvPr id="46" name="TextBox 45">
            <a:extLst>
              <a:ext uri="{FF2B5EF4-FFF2-40B4-BE49-F238E27FC236}">
                <a16:creationId xmlns:a16="http://schemas.microsoft.com/office/drawing/2014/main" id="{A58D67A2-51E5-C06E-BB29-4F5CB3F6698F}"/>
              </a:ext>
            </a:extLst>
          </p:cNvPr>
          <p:cNvSpPr txBox="1"/>
          <p:nvPr/>
        </p:nvSpPr>
        <p:spPr>
          <a:xfrm>
            <a:off x="7333294" y="3177521"/>
            <a:ext cx="3860932" cy="369332"/>
          </a:xfrm>
          <a:prstGeom prst="rect">
            <a:avLst/>
          </a:prstGeom>
          <a:noFill/>
        </p:spPr>
        <p:txBody>
          <a:bodyPr wrap="square">
            <a:spAutoFit/>
          </a:bodyPr>
          <a:lstStyle/>
          <a:p>
            <a:r>
              <a:rPr lang="en-GB">
                <a:latin typeface="Sassoon Infant Rg" panose="02000503030000020003" pitchFamily="2" charset="0"/>
                <a:ea typeface="Sassoon Infant Rg" panose="02000503030000020003" pitchFamily="2" charset="0"/>
              </a:rPr>
              <a:t>Chemistry</a:t>
            </a:r>
          </a:p>
        </p:txBody>
      </p:sp>
    </p:spTree>
    <p:extLst>
      <p:ext uri="{BB962C8B-B14F-4D97-AF65-F5344CB8AC3E}">
        <p14:creationId xmlns:p14="http://schemas.microsoft.com/office/powerpoint/2010/main" val="1593555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7" presetClass="entr" presetSubtype="0" fill="hold" grpId="0" nodeType="click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fade">
                                      <p:cBhvr>
                                        <p:cTn id="11" dur="1000"/>
                                        <p:tgtEl>
                                          <p:spTgt spid="45"/>
                                        </p:tgtEl>
                                      </p:cBhvr>
                                    </p:animEffect>
                                    <p:anim calcmode="lin" valueType="num">
                                      <p:cBhvr>
                                        <p:cTn id="12" dur="1000" fill="hold"/>
                                        <p:tgtEl>
                                          <p:spTgt spid="45"/>
                                        </p:tgtEl>
                                        <p:attrNameLst>
                                          <p:attrName>ppt_x</p:attrName>
                                        </p:attrNameLst>
                                      </p:cBhvr>
                                      <p:tavLst>
                                        <p:tav tm="0">
                                          <p:val>
                                            <p:strVal val="#ppt_x"/>
                                          </p:val>
                                        </p:tav>
                                        <p:tav tm="100000">
                                          <p:val>
                                            <p:strVal val="#ppt_x"/>
                                          </p:val>
                                        </p:tav>
                                      </p:tavLst>
                                    </p:anim>
                                    <p:anim calcmode="lin" valueType="num">
                                      <p:cBhvr>
                                        <p:cTn id="13" dur="900" decel="100000" fill="hold"/>
                                        <p:tgtEl>
                                          <p:spTgt spid="45"/>
                                        </p:tgtEl>
                                        <p:attrNameLst>
                                          <p:attrName>ppt_y</p:attrName>
                                        </p:attrNameLst>
                                      </p:cBhvr>
                                      <p:tavLst>
                                        <p:tav tm="0">
                                          <p:val>
                                            <p:strVal val="#ppt_y+1"/>
                                          </p:val>
                                        </p:tav>
                                        <p:tav tm="100000">
                                          <p:val>
                                            <p:strVal val="#ppt_y-.03"/>
                                          </p:val>
                                        </p:tav>
                                      </p:tavLst>
                                    </p:anim>
                                    <p:anim calcmode="lin" valueType="num">
                                      <p:cBhvr>
                                        <p:cTn id="14" dur="100" accel="100000" fill="hold">
                                          <p:stCondLst>
                                            <p:cond delay="900"/>
                                          </p:stCondLst>
                                        </p:cTn>
                                        <p:tgtEl>
                                          <p:spTgt spid="45"/>
                                        </p:tgtEl>
                                        <p:attrNameLst>
                                          <p:attrName>ppt_y</p:attrName>
                                        </p:attrNameLst>
                                      </p:cBhvr>
                                      <p:tavLst>
                                        <p:tav tm="0">
                                          <p:val>
                                            <p:strVal val="#ppt_y-.03"/>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7"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900" decel="100000" fill="hold"/>
                                        <p:tgtEl>
                                          <p:spTgt spid="9"/>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grpId="0" nodeType="click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1000"/>
                                        <p:tgtEl>
                                          <p:spTgt spid="28"/>
                                        </p:tgtEl>
                                      </p:cBhvr>
                                    </p:animEffect>
                                    <p:anim calcmode="lin" valueType="num">
                                      <p:cBhvr>
                                        <p:cTn id="28" dur="1000" fill="hold"/>
                                        <p:tgtEl>
                                          <p:spTgt spid="28"/>
                                        </p:tgtEl>
                                        <p:attrNameLst>
                                          <p:attrName>ppt_x</p:attrName>
                                        </p:attrNameLst>
                                      </p:cBhvr>
                                      <p:tavLst>
                                        <p:tav tm="0">
                                          <p:val>
                                            <p:strVal val="#ppt_x"/>
                                          </p:val>
                                        </p:tav>
                                        <p:tav tm="100000">
                                          <p:val>
                                            <p:strVal val="#ppt_x"/>
                                          </p:val>
                                        </p:tav>
                                      </p:tavLst>
                                    </p:anim>
                                    <p:anim calcmode="lin" valueType="num">
                                      <p:cBhvr>
                                        <p:cTn id="29" dur="900" decel="100000" fill="hold"/>
                                        <p:tgtEl>
                                          <p:spTgt spid="28"/>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28"/>
                                        </p:tgtEl>
                                        <p:attrNameLst>
                                          <p:attrName>ppt_y</p:attrName>
                                        </p:attrNameLst>
                                      </p:cBhvr>
                                      <p:tavLst>
                                        <p:tav tm="0">
                                          <p:val>
                                            <p:strVal val="#ppt_y-.03"/>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7" presetClass="entr" presetSubtype="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1000"/>
                                        <p:tgtEl>
                                          <p:spTgt spid="27"/>
                                        </p:tgtEl>
                                      </p:cBhvr>
                                    </p:animEffect>
                                    <p:anim calcmode="lin" valueType="num">
                                      <p:cBhvr>
                                        <p:cTn id="36" dur="1000" fill="hold"/>
                                        <p:tgtEl>
                                          <p:spTgt spid="27"/>
                                        </p:tgtEl>
                                        <p:attrNameLst>
                                          <p:attrName>ppt_x</p:attrName>
                                        </p:attrNameLst>
                                      </p:cBhvr>
                                      <p:tavLst>
                                        <p:tav tm="0">
                                          <p:val>
                                            <p:strVal val="#ppt_x"/>
                                          </p:val>
                                        </p:tav>
                                        <p:tav tm="100000">
                                          <p:val>
                                            <p:strVal val="#ppt_x"/>
                                          </p:val>
                                        </p:tav>
                                      </p:tavLst>
                                    </p:anim>
                                    <p:anim calcmode="lin" valueType="num">
                                      <p:cBhvr>
                                        <p:cTn id="37" dur="900" decel="100000" fill="hold"/>
                                        <p:tgtEl>
                                          <p:spTgt spid="27"/>
                                        </p:tgtEl>
                                        <p:attrNameLst>
                                          <p:attrName>ppt_y</p:attrName>
                                        </p:attrNameLst>
                                      </p:cBhvr>
                                      <p:tavLst>
                                        <p:tav tm="0">
                                          <p:val>
                                            <p:strVal val="#ppt_y+1"/>
                                          </p:val>
                                        </p:tav>
                                        <p:tav tm="100000">
                                          <p:val>
                                            <p:strVal val="#ppt_y-.03"/>
                                          </p:val>
                                        </p:tav>
                                      </p:tavLst>
                                    </p:anim>
                                    <p:anim calcmode="lin" valueType="num">
                                      <p:cBhvr>
                                        <p:cTn id="38" dur="100" accel="100000" fill="hold">
                                          <p:stCondLst>
                                            <p:cond delay="900"/>
                                          </p:stCondLst>
                                        </p:cTn>
                                        <p:tgtEl>
                                          <p:spTgt spid="27"/>
                                        </p:tgtEl>
                                        <p:attrNameLst>
                                          <p:attrName>ppt_y</p:attrName>
                                        </p:attrNameLst>
                                      </p:cBhvr>
                                      <p:tavLst>
                                        <p:tav tm="0">
                                          <p:val>
                                            <p:strVal val="#ppt_y-.03"/>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06"/>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1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6"/>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6"/>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8"/>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39"/>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3"/>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2"/>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1" grpId="0"/>
      <p:bldP spid="26" grpId="0"/>
      <p:bldP spid="7" grpId="0"/>
      <p:bldP spid="9" grpId="0" animBg="1"/>
      <p:bldP spid="27" grpId="0" animBg="1"/>
      <p:bldP spid="28" grpId="0" animBg="1"/>
      <p:bldP spid="45" grpId="0" animBg="1"/>
      <p:bldP spid="46" grpId="0"/>
    </p:bld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5787D3A-0C5F-1265-5617-C18EF7E75170}"/>
            </a:ext>
          </a:extLst>
        </p:cNvPr>
        <p:cNvGrpSpPr/>
        <p:nvPr/>
      </p:nvGrpSpPr>
      <p:grpSpPr>
        <a:xfrm>
          <a:off x="0" y="0"/>
          <a:ext cx="0" cy="0"/>
          <a:chOff x="0" y="0"/>
          <a:chExt cx="0" cy="0"/>
        </a:xfrm>
      </p:grpSpPr>
      <p:sp>
        <p:nvSpPr>
          <p:cNvPr id="273" name="Freeform: Shape 272">
            <a:extLst>
              <a:ext uri="{FF2B5EF4-FFF2-40B4-BE49-F238E27FC236}">
                <a16:creationId xmlns:a16="http://schemas.microsoft.com/office/drawing/2014/main" id="{1108EC05-5A04-AED8-02F4-EDFABBE5B0A4}"/>
              </a:ext>
            </a:extLst>
          </p:cNvPr>
          <p:cNvSpPr/>
          <p:nvPr/>
        </p:nvSpPr>
        <p:spPr>
          <a:xfrm>
            <a:off x="6801640" y="168470"/>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6"/>
                  <a:pt x="131059" y="64883"/>
                </a:cubicBezTo>
                <a:cubicBezTo>
                  <a:pt x="131059" y="29049"/>
                  <a:pt x="101721" y="0"/>
                  <a:pt x="65530" y="0"/>
                </a:cubicBezTo>
                <a:cubicBezTo>
                  <a:pt x="29338" y="0"/>
                  <a:pt x="0" y="29049"/>
                  <a:pt x="0" y="64883"/>
                </a:cubicBezTo>
                <a:cubicBezTo>
                  <a:pt x="0" y="100716"/>
                  <a:pt x="29338" y="129765"/>
                  <a:pt x="65530" y="129765"/>
                </a:cubicBezTo>
                <a:close/>
                <a:moveTo>
                  <a:pt x="65530" y="43255"/>
                </a:moveTo>
                <a:cubicBezTo>
                  <a:pt x="77594" y="43255"/>
                  <a:pt x="87373" y="52938"/>
                  <a:pt x="87373" y="64883"/>
                </a:cubicBezTo>
                <a:cubicBezTo>
                  <a:pt x="87373" y="76827"/>
                  <a:pt x="77594" y="86510"/>
                  <a:pt x="65530" y="86510"/>
                </a:cubicBezTo>
                <a:cubicBezTo>
                  <a:pt x="53466" y="86510"/>
                  <a:pt x="43686" y="76827"/>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p>
        </p:txBody>
      </p:sp>
      <p:sp>
        <p:nvSpPr>
          <p:cNvPr id="284" name="Freeform: Shape 283">
            <a:extLst>
              <a:ext uri="{FF2B5EF4-FFF2-40B4-BE49-F238E27FC236}">
                <a16:creationId xmlns:a16="http://schemas.microsoft.com/office/drawing/2014/main" id="{F6E5F9A2-5A72-C49E-A13A-F017BD9C2FEF}"/>
              </a:ext>
            </a:extLst>
          </p:cNvPr>
          <p:cNvSpPr/>
          <p:nvPr/>
        </p:nvSpPr>
        <p:spPr>
          <a:xfrm>
            <a:off x="9467674" y="224090"/>
            <a:ext cx="233165" cy="341044"/>
          </a:xfrm>
          <a:custGeom>
            <a:avLst/>
            <a:gdLst>
              <a:gd name="connsiteX0" fmla="*/ 87373 w 174745"/>
              <a:gd name="connsiteY0" fmla="*/ 173021 h 173020"/>
              <a:gd name="connsiteX1" fmla="*/ 174745 w 174745"/>
              <a:gd name="connsiteY1" fmla="*/ 86510 h 173020"/>
              <a:gd name="connsiteX2" fmla="*/ 87373 w 174745"/>
              <a:gd name="connsiteY2" fmla="*/ 0 h 173020"/>
              <a:gd name="connsiteX3" fmla="*/ 0 w 174745"/>
              <a:gd name="connsiteY3" fmla="*/ 86510 h 173020"/>
              <a:gd name="connsiteX4" fmla="*/ 87373 w 174745"/>
              <a:gd name="connsiteY4" fmla="*/ 173021 h 173020"/>
              <a:gd name="connsiteX5" fmla="*/ 87373 w 174745"/>
              <a:gd name="connsiteY5" fmla="*/ 43255 h 173020"/>
              <a:gd name="connsiteX6" fmla="*/ 131059 w 174745"/>
              <a:gd name="connsiteY6" fmla="*/ 86510 h 173020"/>
              <a:gd name="connsiteX7" fmla="*/ 87373 w 174745"/>
              <a:gd name="connsiteY7" fmla="*/ 129765 h 173020"/>
              <a:gd name="connsiteX8" fmla="*/ 43686 w 174745"/>
              <a:gd name="connsiteY8" fmla="*/ 86510 h 173020"/>
              <a:gd name="connsiteX9" fmla="*/ 87373 w 174745"/>
              <a:gd name="connsiteY9" fmla="*/ 43255 h 173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4745" h="173020">
                <a:moveTo>
                  <a:pt x="87373" y="173021"/>
                </a:moveTo>
                <a:cubicBezTo>
                  <a:pt x="135626" y="173021"/>
                  <a:pt x="174745" y="134288"/>
                  <a:pt x="174745" y="86510"/>
                </a:cubicBezTo>
                <a:cubicBezTo>
                  <a:pt x="174745" y="38732"/>
                  <a:pt x="135626" y="0"/>
                  <a:pt x="87373" y="0"/>
                </a:cubicBezTo>
                <a:cubicBezTo>
                  <a:pt x="39119" y="0"/>
                  <a:pt x="0" y="38732"/>
                  <a:pt x="0" y="86510"/>
                </a:cubicBezTo>
                <a:cubicBezTo>
                  <a:pt x="0" y="134288"/>
                  <a:pt x="39119" y="173021"/>
                  <a:pt x="87373" y="173021"/>
                </a:cubicBezTo>
                <a:close/>
                <a:moveTo>
                  <a:pt x="87373" y="43255"/>
                </a:moveTo>
                <a:cubicBezTo>
                  <a:pt x="111501" y="43255"/>
                  <a:pt x="131059" y="62620"/>
                  <a:pt x="131059" y="86510"/>
                </a:cubicBezTo>
                <a:cubicBezTo>
                  <a:pt x="131059" y="110400"/>
                  <a:pt x="111501" y="129765"/>
                  <a:pt x="87373" y="129765"/>
                </a:cubicBezTo>
                <a:cubicBezTo>
                  <a:pt x="63245" y="129765"/>
                  <a:pt x="43686" y="110400"/>
                  <a:pt x="43686" y="86510"/>
                </a:cubicBezTo>
                <a:cubicBezTo>
                  <a:pt x="43686" y="62620"/>
                  <a:pt x="63245" y="43255"/>
                  <a:pt x="87373" y="43255"/>
                </a:cubicBezTo>
                <a:close/>
              </a:path>
            </a:pathLst>
          </a:custGeom>
          <a:solidFill>
            <a:srgbClr val="000000"/>
          </a:solidFill>
          <a:ln w="21828" cap="flat">
            <a:noFill/>
            <a:prstDash val="solid"/>
            <a:miter/>
          </a:ln>
        </p:spPr>
        <p:txBody>
          <a:bodyPr rtlCol="0" anchor="ctr"/>
          <a:lstStyle/>
          <a:p>
            <a:endParaRPr lang="en-GB"/>
          </a:p>
        </p:txBody>
      </p:sp>
      <p:sp>
        <p:nvSpPr>
          <p:cNvPr id="285" name="Freeform: Shape 284">
            <a:extLst>
              <a:ext uri="{FF2B5EF4-FFF2-40B4-BE49-F238E27FC236}">
                <a16:creationId xmlns:a16="http://schemas.microsoft.com/office/drawing/2014/main" id="{004CC30D-69C5-00B5-D8C1-E86D3B190A77}"/>
              </a:ext>
            </a:extLst>
          </p:cNvPr>
          <p:cNvSpPr/>
          <p:nvPr/>
        </p:nvSpPr>
        <p:spPr>
          <a:xfrm>
            <a:off x="8109740" y="434950"/>
            <a:ext cx="349748" cy="511568"/>
          </a:xfrm>
          <a:custGeom>
            <a:avLst/>
            <a:gdLst>
              <a:gd name="connsiteX0" fmla="*/ 131059 w 262118"/>
              <a:gd name="connsiteY0" fmla="*/ 259531 h 259530"/>
              <a:gd name="connsiteX1" fmla="*/ 262118 w 262118"/>
              <a:gd name="connsiteY1" fmla="*/ 129765 h 259530"/>
              <a:gd name="connsiteX2" fmla="*/ 131059 w 262118"/>
              <a:gd name="connsiteY2" fmla="*/ 0 h 259530"/>
              <a:gd name="connsiteX3" fmla="*/ 0 w 262118"/>
              <a:gd name="connsiteY3" fmla="*/ 129765 h 259530"/>
              <a:gd name="connsiteX4" fmla="*/ 131059 w 262118"/>
              <a:gd name="connsiteY4" fmla="*/ 259531 h 259530"/>
              <a:gd name="connsiteX5" fmla="*/ 131059 w 262118"/>
              <a:gd name="connsiteY5" fmla="*/ 43255 h 259530"/>
              <a:gd name="connsiteX6" fmla="*/ 218432 w 262118"/>
              <a:gd name="connsiteY6" fmla="*/ 129765 h 259530"/>
              <a:gd name="connsiteX7" fmla="*/ 131059 w 262118"/>
              <a:gd name="connsiteY7" fmla="*/ 216276 h 259530"/>
              <a:gd name="connsiteX8" fmla="*/ 43686 w 262118"/>
              <a:gd name="connsiteY8" fmla="*/ 129765 h 259530"/>
              <a:gd name="connsiteX9" fmla="*/ 131059 w 262118"/>
              <a:gd name="connsiteY9" fmla="*/ 43255 h 259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2118" h="259530">
                <a:moveTo>
                  <a:pt x="131059" y="259531"/>
                </a:moveTo>
                <a:cubicBezTo>
                  <a:pt x="203441" y="259531"/>
                  <a:pt x="262118" y="201433"/>
                  <a:pt x="262118" y="129765"/>
                </a:cubicBezTo>
                <a:cubicBezTo>
                  <a:pt x="262118" y="58098"/>
                  <a:pt x="203441" y="0"/>
                  <a:pt x="131059" y="0"/>
                </a:cubicBezTo>
                <a:cubicBezTo>
                  <a:pt x="58677" y="0"/>
                  <a:pt x="0" y="58098"/>
                  <a:pt x="0" y="129765"/>
                </a:cubicBezTo>
                <a:cubicBezTo>
                  <a:pt x="85" y="201398"/>
                  <a:pt x="58712" y="259446"/>
                  <a:pt x="131059" y="259531"/>
                </a:cubicBezTo>
                <a:close/>
                <a:moveTo>
                  <a:pt x="131059" y="43255"/>
                </a:moveTo>
                <a:cubicBezTo>
                  <a:pt x="179313" y="43255"/>
                  <a:pt x="218432" y="81988"/>
                  <a:pt x="218432" y="129765"/>
                </a:cubicBezTo>
                <a:cubicBezTo>
                  <a:pt x="218432" y="177543"/>
                  <a:pt x="179313" y="216276"/>
                  <a:pt x="131059" y="216276"/>
                </a:cubicBezTo>
                <a:cubicBezTo>
                  <a:pt x="82805" y="216276"/>
                  <a:pt x="43686" y="177543"/>
                  <a:pt x="43686" y="129765"/>
                </a:cubicBezTo>
                <a:cubicBezTo>
                  <a:pt x="43686" y="81988"/>
                  <a:pt x="82805" y="43255"/>
                  <a:pt x="131059" y="43255"/>
                </a:cubicBezTo>
                <a:close/>
              </a:path>
            </a:pathLst>
          </a:custGeom>
          <a:solidFill>
            <a:srgbClr val="000000"/>
          </a:solidFill>
          <a:ln w="21828" cap="flat">
            <a:noFill/>
            <a:prstDash val="solid"/>
            <a:miter/>
          </a:ln>
        </p:spPr>
        <p:txBody>
          <a:bodyPr rtlCol="0" anchor="ctr"/>
          <a:lstStyle/>
          <a:p>
            <a:endParaRPr lang="en-GB"/>
          </a:p>
        </p:txBody>
      </p:sp>
      <p:sp>
        <p:nvSpPr>
          <p:cNvPr id="286" name="Freeform: Shape 285">
            <a:extLst>
              <a:ext uri="{FF2B5EF4-FFF2-40B4-BE49-F238E27FC236}">
                <a16:creationId xmlns:a16="http://schemas.microsoft.com/office/drawing/2014/main" id="{6E29E171-8184-BE35-8ABD-697CDBEEA1C9}"/>
              </a:ext>
            </a:extLst>
          </p:cNvPr>
          <p:cNvSpPr/>
          <p:nvPr/>
        </p:nvSpPr>
        <p:spPr>
          <a:xfrm>
            <a:off x="7186402" y="549370"/>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7"/>
                  <a:pt x="131059" y="64883"/>
                </a:cubicBezTo>
                <a:cubicBezTo>
                  <a:pt x="131059" y="29048"/>
                  <a:pt x="101721" y="0"/>
                  <a:pt x="65530" y="0"/>
                </a:cubicBezTo>
                <a:cubicBezTo>
                  <a:pt x="29338" y="0"/>
                  <a:pt x="0" y="29048"/>
                  <a:pt x="0" y="64883"/>
                </a:cubicBezTo>
                <a:cubicBezTo>
                  <a:pt x="0" y="100717"/>
                  <a:pt x="29338" y="129765"/>
                  <a:pt x="65530" y="129765"/>
                </a:cubicBezTo>
                <a:close/>
                <a:moveTo>
                  <a:pt x="65530" y="43255"/>
                </a:moveTo>
                <a:cubicBezTo>
                  <a:pt x="77594" y="43255"/>
                  <a:pt x="87373" y="52938"/>
                  <a:pt x="87373" y="64883"/>
                </a:cubicBezTo>
                <a:cubicBezTo>
                  <a:pt x="87373" y="76828"/>
                  <a:pt x="77594" y="86510"/>
                  <a:pt x="65530" y="86510"/>
                </a:cubicBezTo>
                <a:cubicBezTo>
                  <a:pt x="53466" y="86510"/>
                  <a:pt x="43686" y="76828"/>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p>
        </p:txBody>
      </p:sp>
      <p:grpSp>
        <p:nvGrpSpPr>
          <p:cNvPr id="6" name="Group 5">
            <a:extLst>
              <a:ext uri="{FF2B5EF4-FFF2-40B4-BE49-F238E27FC236}">
                <a16:creationId xmlns:a16="http://schemas.microsoft.com/office/drawing/2014/main" id="{4DA0EFE2-6A0E-EFF1-C346-1C7A1BD1E589}"/>
              </a:ext>
            </a:extLst>
          </p:cNvPr>
          <p:cNvGrpSpPr/>
          <p:nvPr/>
        </p:nvGrpSpPr>
        <p:grpSpPr>
          <a:xfrm>
            <a:off x="6417190" y="5097492"/>
            <a:ext cx="4969774" cy="661583"/>
            <a:chOff x="1999694" y="1717038"/>
            <a:chExt cx="1713901" cy="2885442"/>
          </a:xfrm>
        </p:grpSpPr>
        <p:sp>
          <p:nvSpPr>
            <p:cNvPr id="10" name="Rectangle: Rounded Corners 9">
              <a:extLst>
                <a:ext uri="{FF2B5EF4-FFF2-40B4-BE49-F238E27FC236}">
                  <a16:creationId xmlns:a16="http://schemas.microsoft.com/office/drawing/2014/main" id="{357EF9CA-EFC5-E19D-C55A-3D7DF32C1416}"/>
                </a:ext>
              </a:extLst>
            </p:cNvPr>
            <p:cNvSpPr/>
            <p:nvPr/>
          </p:nvSpPr>
          <p:spPr>
            <a:xfrm>
              <a:off x="1999694" y="1717038"/>
              <a:ext cx="1713901" cy="2885442"/>
            </a:xfrm>
            <a:prstGeom prst="roundRect">
              <a:avLst/>
            </a:prstGeom>
            <a:solidFill>
              <a:schemeClr val="accent6">
                <a:lumMod val="40000"/>
                <a:lumOff val="60000"/>
              </a:schemeClr>
            </a:solidFill>
            <a:ln>
              <a:solidFill>
                <a:schemeClr val="accent6">
                  <a:lumMod val="40000"/>
                  <a:lumOff val="6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1" name="Rectangle: Rounded Corners 4">
              <a:extLst>
                <a:ext uri="{FF2B5EF4-FFF2-40B4-BE49-F238E27FC236}">
                  <a16:creationId xmlns:a16="http://schemas.microsoft.com/office/drawing/2014/main" id="{BD871FD1-3A48-0F39-9E16-B0CEA9ADB0F6}"/>
                </a:ext>
              </a:extLst>
            </p:cNvPr>
            <p:cNvSpPr txBox="1"/>
            <p:nvPr/>
          </p:nvSpPr>
          <p:spPr>
            <a:xfrm>
              <a:off x="2333340" y="1800703"/>
              <a:ext cx="1296589" cy="271811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lvl="0" defTabSz="1244600">
                <a:lnSpc>
                  <a:spcPct val="90000"/>
                </a:lnSpc>
                <a:spcBef>
                  <a:spcPct val="0"/>
                </a:spcBef>
                <a:spcAft>
                  <a:spcPct val="35000"/>
                </a:spcAft>
              </a:pPr>
              <a:r>
                <a:rPr lang="en-GB">
                  <a:solidFill>
                    <a:schemeClr val="tx1"/>
                  </a:solidFill>
                  <a:latin typeface="Sassoon Infant Rg" panose="02000503030000020003" pitchFamily="2" charset="0"/>
                  <a:ea typeface="Sassoon Infant Rg" panose="02000503030000020003" pitchFamily="2" charset="0"/>
                </a:rPr>
                <a:t>The Earth and its place in the solar system</a:t>
              </a:r>
              <a:endParaRPr lang="en-GB" sz="2000" kern="1200">
                <a:solidFill>
                  <a:schemeClr val="tx1"/>
                </a:solidFill>
                <a:latin typeface="Sassoon Infant Rg" panose="02000503030000020003" pitchFamily="2" charset="0"/>
                <a:ea typeface="Sassoon Infant Rg" panose="02000503030000020003" pitchFamily="2" charset="0"/>
              </a:endParaRPr>
            </a:p>
          </p:txBody>
        </p:sp>
      </p:grpSp>
      <p:grpSp>
        <p:nvGrpSpPr>
          <p:cNvPr id="30" name="Group 29">
            <a:extLst>
              <a:ext uri="{FF2B5EF4-FFF2-40B4-BE49-F238E27FC236}">
                <a16:creationId xmlns:a16="http://schemas.microsoft.com/office/drawing/2014/main" id="{F53E2BFF-BFF9-F4FC-B95E-A24038C3B5E6}"/>
              </a:ext>
            </a:extLst>
          </p:cNvPr>
          <p:cNvGrpSpPr/>
          <p:nvPr/>
        </p:nvGrpSpPr>
        <p:grpSpPr>
          <a:xfrm>
            <a:off x="6532989" y="5035884"/>
            <a:ext cx="752715" cy="748493"/>
            <a:chOff x="4462145" y="450020"/>
            <a:chExt cx="801261" cy="903352"/>
          </a:xfrm>
        </p:grpSpPr>
        <p:pic>
          <p:nvPicPr>
            <p:cNvPr id="31" name="Picture 30">
              <a:extLst>
                <a:ext uri="{FF2B5EF4-FFF2-40B4-BE49-F238E27FC236}">
                  <a16:creationId xmlns:a16="http://schemas.microsoft.com/office/drawing/2014/main" id="{292AAAAA-E186-CF4E-A08F-B25169BC698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32" name="TextBox 31">
              <a:extLst>
                <a:ext uri="{FF2B5EF4-FFF2-40B4-BE49-F238E27FC236}">
                  <a16:creationId xmlns:a16="http://schemas.microsoft.com/office/drawing/2014/main" id="{D838E4AF-7F92-6510-826C-0B9DBA27B8A5}"/>
                </a:ext>
              </a:extLst>
            </p:cNvPr>
            <p:cNvSpPr txBox="1"/>
            <p:nvPr/>
          </p:nvSpPr>
          <p:spPr>
            <a:xfrm>
              <a:off x="4704080" y="708024"/>
              <a:ext cx="375920" cy="502429"/>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2</a:t>
              </a:r>
            </a:p>
          </p:txBody>
        </p:sp>
      </p:grpSp>
      <p:grpSp>
        <p:nvGrpSpPr>
          <p:cNvPr id="12" name="Group 11">
            <a:extLst>
              <a:ext uri="{FF2B5EF4-FFF2-40B4-BE49-F238E27FC236}">
                <a16:creationId xmlns:a16="http://schemas.microsoft.com/office/drawing/2014/main" id="{FA6E8BEE-2950-1482-AC59-D71DD69BEAD3}"/>
              </a:ext>
            </a:extLst>
          </p:cNvPr>
          <p:cNvGrpSpPr/>
          <p:nvPr/>
        </p:nvGrpSpPr>
        <p:grpSpPr>
          <a:xfrm>
            <a:off x="6450333" y="4413131"/>
            <a:ext cx="4827428" cy="661583"/>
            <a:chOff x="3999246" y="1747524"/>
            <a:chExt cx="1713901" cy="2824471"/>
          </a:xfrm>
        </p:grpSpPr>
        <p:sp>
          <p:nvSpPr>
            <p:cNvPr id="13" name="Rectangle: Rounded Corners 12">
              <a:extLst>
                <a:ext uri="{FF2B5EF4-FFF2-40B4-BE49-F238E27FC236}">
                  <a16:creationId xmlns:a16="http://schemas.microsoft.com/office/drawing/2014/main" id="{A07BA298-D2D2-3FCE-A05E-930954ED027D}"/>
                </a:ext>
              </a:extLst>
            </p:cNvPr>
            <p:cNvSpPr/>
            <p:nvPr/>
          </p:nvSpPr>
          <p:spPr>
            <a:xfrm>
              <a:off x="3999246" y="1747524"/>
              <a:ext cx="1713901" cy="2824471"/>
            </a:xfrm>
            <a:prstGeom prst="roundRect">
              <a:avLst/>
            </a:prstGeom>
            <a:solidFill>
              <a:srgbClr val="F892BB"/>
            </a:solidFill>
            <a:ln>
              <a:solidFill>
                <a:srgbClr val="F892BB"/>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4" name="Rectangle: Rounded Corners 4">
              <a:extLst>
                <a:ext uri="{FF2B5EF4-FFF2-40B4-BE49-F238E27FC236}">
                  <a16:creationId xmlns:a16="http://schemas.microsoft.com/office/drawing/2014/main" id="{BFB5B016-C821-AEE2-6B91-651C2E945B6B}"/>
                </a:ext>
              </a:extLst>
            </p:cNvPr>
            <p:cNvSpPr txBox="1"/>
            <p:nvPr/>
          </p:nvSpPr>
          <p:spPr>
            <a:xfrm>
              <a:off x="4363773" y="1977206"/>
              <a:ext cx="1337136" cy="1954195"/>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lvl="0" defTabSz="1244600">
                <a:lnSpc>
                  <a:spcPct val="90000"/>
                </a:lnSpc>
                <a:spcBef>
                  <a:spcPct val="0"/>
                </a:spcBef>
                <a:spcAft>
                  <a:spcPct val="35000"/>
                </a:spcAft>
              </a:pPr>
              <a:r>
                <a:rPr lang="en-GB">
                  <a:solidFill>
                    <a:schemeClr val="tx1"/>
                  </a:solidFill>
                  <a:latin typeface="Sassoon Infant Rg" panose="02000503030000020003" pitchFamily="2" charset="0"/>
                  <a:ea typeface="Sassoon Infant Rg" panose="02000503030000020003" pitchFamily="2" charset="0"/>
                </a:rPr>
                <a:t>Rocks; The Water Cycle</a:t>
              </a:r>
              <a:endParaRPr lang="en-GB" kern="1200">
                <a:solidFill>
                  <a:schemeClr val="tx1"/>
                </a:solidFill>
                <a:latin typeface="Sassoon Infant Rg" panose="02000503030000020003" pitchFamily="2" charset="0"/>
                <a:ea typeface="Sassoon Infant Rg" panose="02000503030000020003" pitchFamily="2" charset="0"/>
              </a:endParaRPr>
            </a:p>
          </p:txBody>
        </p:sp>
      </p:grpSp>
      <p:grpSp>
        <p:nvGrpSpPr>
          <p:cNvPr id="33" name="Group 32">
            <a:extLst>
              <a:ext uri="{FF2B5EF4-FFF2-40B4-BE49-F238E27FC236}">
                <a16:creationId xmlns:a16="http://schemas.microsoft.com/office/drawing/2014/main" id="{9BB34C24-F6A6-EA4B-5B30-61ED4B1345F6}"/>
              </a:ext>
            </a:extLst>
          </p:cNvPr>
          <p:cNvGrpSpPr/>
          <p:nvPr/>
        </p:nvGrpSpPr>
        <p:grpSpPr>
          <a:xfrm>
            <a:off x="6486751" y="4356793"/>
            <a:ext cx="752715" cy="748493"/>
            <a:chOff x="4462145" y="450020"/>
            <a:chExt cx="801261" cy="903352"/>
          </a:xfrm>
        </p:grpSpPr>
        <p:pic>
          <p:nvPicPr>
            <p:cNvPr id="34" name="Picture 33">
              <a:extLst>
                <a:ext uri="{FF2B5EF4-FFF2-40B4-BE49-F238E27FC236}">
                  <a16:creationId xmlns:a16="http://schemas.microsoft.com/office/drawing/2014/main" id="{5C090D7A-EB88-C0BE-B507-23552B5E5F79}"/>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35" name="TextBox 34">
              <a:extLst>
                <a:ext uri="{FF2B5EF4-FFF2-40B4-BE49-F238E27FC236}">
                  <a16:creationId xmlns:a16="http://schemas.microsoft.com/office/drawing/2014/main" id="{CE570F1C-B302-1614-9551-40DC7D6DBBF1}"/>
                </a:ext>
              </a:extLst>
            </p:cNvPr>
            <p:cNvSpPr txBox="1"/>
            <p:nvPr/>
          </p:nvSpPr>
          <p:spPr>
            <a:xfrm>
              <a:off x="4704080" y="708024"/>
              <a:ext cx="375920" cy="502429"/>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3</a:t>
              </a:r>
            </a:p>
          </p:txBody>
        </p:sp>
      </p:grpSp>
      <p:grpSp>
        <p:nvGrpSpPr>
          <p:cNvPr id="15" name="Group 14">
            <a:extLst>
              <a:ext uri="{FF2B5EF4-FFF2-40B4-BE49-F238E27FC236}">
                <a16:creationId xmlns:a16="http://schemas.microsoft.com/office/drawing/2014/main" id="{F64A966C-5709-889D-6E19-BFC22A82C486}"/>
              </a:ext>
            </a:extLst>
          </p:cNvPr>
          <p:cNvGrpSpPr/>
          <p:nvPr/>
        </p:nvGrpSpPr>
        <p:grpSpPr>
          <a:xfrm>
            <a:off x="6431265" y="3709371"/>
            <a:ext cx="4865561" cy="661583"/>
            <a:chOff x="5998798" y="1737362"/>
            <a:chExt cx="1713901" cy="2844795"/>
          </a:xfrm>
          <a:solidFill>
            <a:schemeClr val="accent4">
              <a:lumMod val="20000"/>
              <a:lumOff val="80000"/>
            </a:schemeClr>
          </a:solidFill>
        </p:grpSpPr>
        <p:sp>
          <p:nvSpPr>
            <p:cNvPr id="16" name="Rectangle: Rounded Corners 15">
              <a:extLst>
                <a:ext uri="{FF2B5EF4-FFF2-40B4-BE49-F238E27FC236}">
                  <a16:creationId xmlns:a16="http://schemas.microsoft.com/office/drawing/2014/main" id="{F2D3D457-2342-3CAB-E04A-E77466E17A92}"/>
                </a:ext>
              </a:extLst>
            </p:cNvPr>
            <p:cNvSpPr/>
            <p:nvPr/>
          </p:nvSpPr>
          <p:spPr>
            <a:xfrm>
              <a:off x="5998798" y="1737362"/>
              <a:ext cx="1713901" cy="2844795"/>
            </a:xfrm>
            <a:prstGeom prst="roundRect">
              <a:avLst/>
            </a:prstGeom>
            <a:grpFill/>
            <a:ln>
              <a:solidFill>
                <a:schemeClr val="tx2">
                  <a:lumMod val="10000"/>
                  <a:lumOff val="9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7" name="Rectangle: Rounded Corners 4">
              <a:extLst>
                <a:ext uri="{FF2B5EF4-FFF2-40B4-BE49-F238E27FC236}">
                  <a16:creationId xmlns:a16="http://schemas.microsoft.com/office/drawing/2014/main" id="{EC9F9248-B363-0C16-F271-02AF8BF096DF}"/>
                </a:ext>
              </a:extLst>
            </p:cNvPr>
            <p:cNvSpPr txBox="1"/>
            <p:nvPr/>
          </p:nvSpPr>
          <p:spPr>
            <a:xfrm>
              <a:off x="6082464" y="1821028"/>
              <a:ext cx="1546569" cy="2344261"/>
            </a:xfrm>
            <a:prstGeom prst="rect">
              <a:avLst/>
            </a:prstGeom>
            <a:grpFill/>
            <a:ln>
              <a:solidFill>
                <a:schemeClr val="tx2">
                  <a:lumMod val="10000"/>
                  <a:lumOff val="90000"/>
                </a:schemeClr>
              </a:solidFill>
            </a:ln>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endParaRPr lang="en-GB" sz="2000" b="1" u="sng" kern="1200">
                <a:solidFill>
                  <a:schemeClr val="tx1"/>
                </a:solidFill>
                <a:latin typeface="Sassoon Infant Rg" panose="02000503030000020003" pitchFamily="2" charset="0"/>
                <a:ea typeface="Sassoon Infant Rg" panose="02000503030000020003" pitchFamily="2" charset="0"/>
              </a:endParaRPr>
            </a:p>
          </p:txBody>
        </p:sp>
      </p:grpSp>
      <p:grpSp>
        <p:nvGrpSpPr>
          <p:cNvPr id="36" name="Group 35">
            <a:extLst>
              <a:ext uri="{FF2B5EF4-FFF2-40B4-BE49-F238E27FC236}">
                <a16:creationId xmlns:a16="http://schemas.microsoft.com/office/drawing/2014/main" id="{A0F45A29-C0EA-2187-BFC3-2A1290EE15A0}"/>
              </a:ext>
            </a:extLst>
          </p:cNvPr>
          <p:cNvGrpSpPr/>
          <p:nvPr/>
        </p:nvGrpSpPr>
        <p:grpSpPr>
          <a:xfrm>
            <a:off x="6400961" y="3638841"/>
            <a:ext cx="752715" cy="748493"/>
            <a:chOff x="4462145" y="450020"/>
            <a:chExt cx="801261" cy="903352"/>
          </a:xfrm>
        </p:grpSpPr>
        <p:pic>
          <p:nvPicPr>
            <p:cNvPr id="37" name="Picture 36">
              <a:extLst>
                <a:ext uri="{FF2B5EF4-FFF2-40B4-BE49-F238E27FC236}">
                  <a16:creationId xmlns:a16="http://schemas.microsoft.com/office/drawing/2014/main" id="{C4D39EEB-29A8-BDC2-74AC-04A4F80710F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38" name="TextBox 37">
              <a:extLst>
                <a:ext uri="{FF2B5EF4-FFF2-40B4-BE49-F238E27FC236}">
                  <a16:creationId xmlns:a16="http://schemas.microsoft.com/office/drawing/2014/main" id="{45086906-4AE3-C072-91AD-A6F4A926910B}"/>
                </a:ext>
              </a:extLst>
            </p:cNvPr>
            <p:cNvSpPr txBox="1"/>
            <p:nvPr/>
          </p:nvSpPr>
          <p:spPr>
            <a:xfrm>
              <a:off x="4704080" y="708024"/>
              <a:ext cx="375920" cy="502429"/>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4</a:t>
              </a:r>
            </a:p>
          </p:txBody>
        </p:sp>
      </p:grpSp>
      <p:grpSp>
        <p:nvGrpSpPr>
          <p:cNvPr id="23" name="Group 22">
            <a:extLst>
              <a:ext uri="{FF2B5EF4-FFF2-40B4-BE49-F238E27FC236}">
                <a16:creationId xmlns:a16="http://schemas.microsoft.com/office/drawing/2014/main" id="{F1A66785-080A-70C4-0010-A5ADADFAB6E6}"/>
              </a:ext>
            </a:extLst>
          </p:cNvPr>
          <p:cNvGrpSpPr/>
          <p:nvPr/>
        </p:nvGrpSpPr>
        <p:grpSpPr>
          <a:xfrm>
            <a:off x="6532989" y="2319424"/>
            <a:ext cx="4791567" cy="745161"/>
            <a:chOff x="1999694" y="1717038"/>
            <a:chExt cx="1713901" cy="2885442"/>
          </a:xfrm>
        </p:grpSpPr>
        <p:sp>
          <p:nvSpPr>
            <p:cNvPr id="24" name="Rectangle: Rounded Corners 23">
              <a:extLst>
                <a:ext uri="{FF2B5EF4-FFF2-40B4-BE49-F238E27FC236}">
                  <a16:creationId xmlns:a16="http://schemas.microsoft.com/office/drawing/2014/main" id="{DF2A2F42-5880-5F9A-FF19-071AD6E51ADE}"/>
                </a:ext>
              </a:extLst>
            </p:cNvPr>
            <p:cNvSpPr/>
            <p:nvPr/>
          </p:nvSpPr>
          <p:spPr>
            <a:xfrm>
              <a:off x="1999694" y="1717038"/>
              <a:ext cx="1713901" cy="2885442"/>
            </a:xfrm>
            <a:prstGeom prst="roundRect">
              <a:avLst/>
            </a:prstGeom>
            <a:solidFill>
              <a:schemeClr val="accent6">
                <a:lumMod val="40000"/>
                <a:lumOff val="60000"/>
              </a:schemeClr>
            </a:solidFill>
            <a:ln>
              <a:solidFill>
                <a:schemeClr val="accent6">
                  <a:lumMod val="40000"/>
                  <a:lumOff val="60000"/>
                </a:schemeClr>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25" name="Rectangle: Rounded Corners 4">
              <a:extLst>
                <a:ext uri="{FF2B5EF4-FFF2-40B4-BE49-F238E27FC236}">
                  <a16:creationId xmlns:a16="http://schemas.microsoft.com/office/drawing/2014/main" id="{9E3994B8-4AA6-2B4F-F7FD-B0935A9161DA}"/>
                </a:ext>
              </a:extLst>
            </p:cNvPr>
            <p:cNvSpPr txBox="1"/>
            <p:nvPr/>
          </p:nvSpPr>
          <p:spPr>
            <a:xfrm>
              <a:off x="2083360" y="1800704"/>
              <a:ext cx="1546569" cy="271811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marL="0" lvl="0" indent="0" algn="ctr" defTabSz="1244600">
                <a:lnSpc>
                  <a:spcPct val="90000"/>
                </a:lnSpc>
                <a:spcBef>
                  <a:spcPct val="0"/>
                </a:spcBef>
                <a:spcAft>
                  <a:spcPct val="35000"/>
                </a:spcAft>
                <a:buNone/>
              </a:pPr>
              <a:endParaRPr lang="en-GB" sz="2000" b="1" u="sng" kern="1200">
                <a:solidFill>
                  <a:schemeClr val="tx1"/>
                </a:solidFill>
                <a:latin typeface="Sassoon Infant Rg" panose="02000503030000020003" pitchFamily="2" charset="0"/>
                <a:ea typeface="Sassoon Infant Rg" panose="02000503030000020003" pitchFamily="2" charset="0"/>
              </a:endParaRPr>
            </a:p>
          </p:txBody>
        </p:sp>
      </p:grpSp>
      <p:grpSp>
        <p:nvGrpSpPr>
          <p:cNvPr id="42" name="Group 41">
            <a:extLst>
              <a:ext uri="{FF2B5EF4-FFF2-40B4-BE49-F238E27FC236}">
                <a16:creationId xmlns:a16="http://schemas.microsoft.com/office/drawing/2014/main" id="{B30C2E81-F0DA-C57C-3B05-0A45A1D6CDB6}"/>
              </a:ext>
            </a:extLst>
          </p:cNvPr>
          <p:cNvGrpSpPr/>
          <p:nvPr/>
        </p:nvGrpSpPr>
        <p:grpSpPr>
          <a:xfrm>
            <a:off x="6467851" y="2298689"/>
            <a:ext cx="752715" cy="748493"/>
            <a:chOff x="1721712" y="2823332"/>
            <a:chExt cx="801261" cy="903352"/>
          </a:xfrm>
        </p:grpSpPr>
        <p:pic>
          <p:nvPicPr>
            <p:cNvPr id="43" name="Picture 42">
              <a:extLst>
                <a:ext uri="{FF2B5EF4-FFF2-40B4-BE49-F238E27FC236}">
                  <a16:creationId xmlns:a16="http://schemas.microsoft.com/office/drawing/2014/main" id="{A1F267AF-3E7F-5E5F-362C-3916834C400B}"/>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1721712" y="2823332"/>
              <a:ext cx="801261" cy="903352"/>
            </a:xfrm>
            <a:prstGeom prst="rect">
              <a:avLst/>
            </a:prstGeom>
          </p:spPr>
        </p:pic>
        <p:sp>
          <p:nvSpPr>
            <p:cNvPr id="44" name="TextBox 43">
              <a:extLst>
                <a:ext uri="{FF2B5EF4-FFF2-40B4-BE49-F238E27FC236}">
                  <a16:creationId xmlns:a16="http://schemas.microsoft.com/office/drawing/2014/main" id="{9D6B11EF-674F-F49F-FDC4-2EF93A74F2B3}"/>
                </a:ext>
              </a:extLst>
            </p:cNvPr>
            <p:cNvSpPr txBox="1"/>
            <p:nvPr/>
          </p:nvSpPr>
          <p:spPr>
            <a:xfrm>
              <a:off x="1959488" y="3052739"/>
              <a:ext cx="375920" cy="502429"/>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6</a:t>
              </a:r>
            </a:p>
          </p:txBody>
        </p:sp>
      </p:grpSp>
      <p:grpSp>
        <p:nvGrpSpPr>
          <p:cNvPr id="18" name="Group 17">
            <a:extLst>
              <a:ext uri="{FF2B5EF4-FFF2-40B4-BE49-F238E27FC236}">
                <a16:creationId xmlns:a16="http://schemas.microsoft.com/office/drawing/2014/main" id="{9EF79D17-F2A5-5F63-5574-6BC141ED3543}"/>
              </a:ext>
            </a:extLst>
          </p:cNvPr>
          <p:cNvGrpSpPr/>
          <p:nvPr/>
        </p:nvGrpSpPr>
        <p:grpSpPr>
          <a:xfrm>
            <a:off x="6419256" y="3046473"/>
            <a:ext cx="4827428" cy="661583"/>
            <a:chOff x="7998350" y="1737362"/>
            <a:chExt cx="1713901" cy="2844795"/>
          </a:xfrm>
        </p:grpSpPr>
        <p:sp>
          <p:nvSpPr>
            <p:cNvPr id="19" name="Rectangle: Rounded Corners 18">
              <a:extLst>
                <a:ext uri="{FF2B5EF4-FFF2-40B4-BE49-F238E27FC236}">
                  <a16:creationId xmlns:a16="http://schemas.microsoft.com/office/drawing/2014/main" id="{58BA5AD7-6E63-9D52-1DAD-7A3A6E86E7D2}"/>
                </a:ext>
              </a:extLst>
            </p:cNvPr>
            <p:cNvSpPr/>
            <p:nvPr/>
          </p:nvSpPr>
          <p:spPr>
            <a:xfrm>
              <a:off x="7998350" y="1737362"/>
              <a:ext cx="1713901" cy="2844795"/>
            </a:xfrm>
            <a:prstGeom prst="roundRect">
              <a:avLst/>
            </a:prstGeom>
            <a:solidFill>
              <a:srgbClr val="F9D2B5"/>
            </a:solidFill>
            <a:ln>
              <a:solidFill>
                <a:srgbClr val="F9D2B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20" name="Rectangle: Rounded Corners 4">
              <a:extLst>
                <a:ext uri="{FF2B5EF4-FFF2-40B4-BE49-F238E27FC236}">
                  <a16:creationId xmlns:a16="http://schemas.microsoft.com/office/drawing/2014/main" id="{94D966AA-4402-4DF1-36FF-32BD54A20AF7}"/>
                </a:ext>
              </a:extLst>
            </p:cNvPr>
            <p:cNvSpPr txBox="1"/>
            <p:nvPr/>
          </p:nvSpPr>
          <p:spPr>
            <a:xfrm>
              <a:off x="8322864" y="1821027"/>
              <a:ext cx="1305721" cy="267746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lvl="0" defTabSz="1244600">
                <a:lnSpc>
                  <a:spcPct val="90000"/>
                </a:lnSpc>
                <a:spcBef>
                  <a:spcPct val="0"/>
                </a:spcBef>
                <a:spcAft>
                  <a:spcPct val="35000"/>
                </a:spcAft>
              </a:pPr>
              <a:r>
                <a:rPr lang="en-GB">
                  <a:solidFill>
                    <a:schemeClr val="tx1"/>
                  </a:solidFill>
                  <a:latin typeface="Sassoon Infant Rg" panose="02000503030000020003" pitchFamily="2" charset="0"/>
                  <a:ea typeface="Sassoon Infant Rg" panose="02000503030000020003" pitchFamily="2" charset="0"/>
                </a:rPr>
                <a:t>Life cycles &amp; Seasonal cycles; Astronomy &amp; Meteorology</a:t>
              </a:r>
              <a:endParaRPr lang="en-GB" kern="1200">
                <a:solidFill>
                  <a:schemeClr val="tx1"/>
                </a:solidFill>
                <a:latin typeface="Sassoon Infant Rg" panose="02000503030000020003" pitchFamily="2" charset="0"/>
                <a:ea typeface="Sassoon Infant Rg" panose="02000503030000020003" pitchFamily="2" charset="0"/>
              </a:endParaRPr>
            </a:p>
          </p:txBody>
        </p:sp>
      </p:grpSp>
      <p:grpSp>
        <p:nvGrpSpPr>
          <p:cNvPr id="39" name="Group 38">
            <a:extLst>
              <a:ext uri="{FF2B5EF4-FFF2-40B4-BE49-F238E27FC236}">
                <a16:creationId xmlns:a16="http://schemas.microsoft.com/office/drawing/2014/main" id="{BA9A3C02-5063-988D-1E7A-58D4294372A9}"/>
              </a:ext>
            </a:extLst>
          </p:cNvPr>
          <p:cNvGrpSpPr/>
          <p:nvPr/>
        </p:nvGrpSpPr>
        <p:grpSpPr>
          <a:xfrm>
            <a:off x="6499917" y="2981007"/>
            <a:ext cx="752715" cy="748493"/>
            <a:chOff x="4462145" y="450020"/>
            <a:chExt cx="801261" cy="903352"/>
          </a:xfrm>
        </p:grpSpPr>
        <p:pic>
          <p:nvPicPr>
            <p:cNvPr id="40" name="Picture 39">
              <a:extLst>
                <a:ext uri="{FF2B5EF4-FFF2-40B4-BE49-F238E27FC236}">
                  <a16:creationId xmlns:a16="http://schemas.microsoft.com/office/drawing/2014/main" id="{6BCB55F3-6FD8-D93D-5A24-8FC566B859A1}"/>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4462145" y="450020"/>
              <a:ext cx="801261" cy="903352"/>
            </a:xfrm>
            <a:prstGeom prst="rect">
              <a:avLst/>
            </a:prstGeom>
          </p:spPr>
        </p:pic>
        <p:sp>
          <p:nvSpPr>
            <p:cNvPr id="41" name="TextBox 40">
              <a:extLst>
                <a:ext uri="{FF2B5EF4-FFF2-40B4-BE49-F238E27FC236}">
                  <a16:creationId xmlns:a16="http://schemas.microsoft.com/office/drawing/2014/main" id="{15631C85-CBB6-E306-78FC-C2D6E57E6B3B}"/>
                </a:ext>
              </a:extLst>
            </p:cNvPr>
            <p:cNvSpPr txBox="1"/>
            <p:nvPr/>
          </p:nvSpPr>
          <p:spPr>
            <a:xfrm>
              <a:off x="4704080" y="708024"/>
              <a:ext cx="375920" cy="502429"/>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5</a:t>
              </a:r>
            </a:p>
          </p:txBody>
        </p:sp>
      </p:grpSp>
      <p:grpSp>
        <p:nvGrpSpPr>
          <p:cNvPr id="306" name="Group 305">
            <a:extLst>
              <a:ext uri="{FF2B5EF4-FFF2-40B4-BE49-F238E27FC236}">
                <a16:creationId xmlns:a16="http://schemas.microsoft.com/office/drawing/2014/main" id="{7FBA9AFE-0927-8DDC-4324-A33940FCE00B}"/>
              </a:ext>
            </a:extLst>
          </p:cNvPr>
          <p:cNvGrpSpPr/>
          <p:nvPr/>
        </p:nvGrpSpPr>
        <p:grpSpPr>
          <a:xfrm>
            <a:off x="6524130" y="5781853"/>
            <a:ext cx="4791569" cy="706284"/>
            <a:chOff x="7998350" y="1737362"/>
            <a:chExt cx="1713901" cy="2844795"/>
          </a:xfrm>
        </p:grpSpPr>
        <p:sp>
          <p:nvSpPr>
            <p:cNvPr id="307" name="Rectangle: Rounded Corners 306">
              <a:extLst>
                <a:ext uri="{FF2B5EF4-FFF2-40B4-BE49-F238E27FC236}">
                  <a16:creationId xmlns:a16="http://schemas.microsoft.com/office/drawing/2014/main" id="{AE15D4C7-9318-6670-7188-28B2C61942BE}"/>
                </a:ext>
              </a:extLst>
            </p:cNvPr>
            <p:cNvSpPr/>
            <p:nvPr/>
          </p:nvSpPr>
          <p:spPr>
            <a:xfrm>
              <a:off x="7998350" y="1737362"/>
              <a:ext cx="1713901" cy="2844795"/>
            </a:xfrm>
            <a:prstGeom prst="roundRect">
              <a:avLst/>
            </a:prstGeom>
            <a:solidFill>
              <a:srgbClr val="F9D2B5"/>
            </a:solidFill>
            <a:ln>
              <a:solidFill>
                <a:srgbClr val="F9D2B5"/>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308" name="Rectangle: Rounded Corners 4">
              <a:extLst>
                <a:ext uri="{FF2B5EF4-FFF2-40B4-BE49-F238E27FC236}">
                  <a16:creationId xmlns:a16="http://schemas.microsoft.com/office/drawing/2014/main" id="{80FDF729-A234-08D2-A051-76B818A82ED3}"/>
                </a:ext>
              </a:extLst>
            </p:cNvPr>
            <p:cNvSpPr txBox="1"/>
            <p:nvPr/>
          </p:nvSpPr>
          <p:spPr>
            <a:xfrm>
              <a:off x="8319208" y="2291858"/>
              <a:ext cx="1309377" cy="2206633"/>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06680" tIns="106680" rIns="106680" bIns="106680" numCol="1" spcCol="1270" anchor="t" anchorCtr="0">
              <a:noAutofit/>
            </a:bodyPr>
            <a:lstStyle/>
            <a:p>
              <a:pPr lvl="0" defTabSz="1244600">
                <a:lnSpc>
                  <a:spcPct val="90000"/>
                </a:lnSpc>
                <a:spcBef>
                  <a:spcPct val="0"/>
                </a:spcBef>
                <a:spcAft>
                  <a:spcPct val="35000"/>
                </a:spcAft>
              </a:pPr>
              <a:r>
                <a:rPr lang="en-GB">
                  <a:solidFill>
                    <a:schemeClr val="tx1"/>
                  </a:solidFill>
                  <a:latin typeface="Sassoon Infant Rg" panose="02000503030000020003" pitchFamily="2" charset="0"/>
                  <a:ea typeface="Sassoon Infant Rg" panose="02000503030000020003" pitchFamily="2" charset="0"/>
                </a:rPr>
                <a:t> Seasonal Changes; Animals &amp; plants</a:t>
              </a:r>
              <a:endParaRPr lang="en-GB" kern="1200">
                <a:solidFill>
                  <a:schemeClr val="tx1"/>
                </a:solidFill>
                <a:latin typeface="Sassoon Infant Rg" panose="02000503030000020003" pitchFamily="2" charset="0"/>
                <a:ea typeface="Sassoon Infant Rg" panose="02000503030000020003" pitchFamily="2" charset="0"/>
              </a:endParaRPr>
            </a:p>
          </p:txBody>
        </p:sp>
      </p:grpSp>
      <p:grpSp>
        <p:nvGrpSpPr>
          <p:cNvPr id="312" name="Group 311">
            <a:extLst>
              <a:ext uri="{FF2B5EF4-FFF2-40B4-BE49-F238E27FC236}">
                <a16:creationId xmlns:a16="http://schemas.microsoft.com/office/drawing/2014/main" id="{8CBC7345-AFC7-E089-5EF2-56113B6AA24B}"/>
              </a:ext>
            </a:extLst>
          </p:cNvPr>
          <p:cNvGrpSpPr/>
          <p:nvPr/>
        </p:nvGrpSpPr>
        <p:grpSpPr>
          <a:xfrm>
            <a:off x="6569485" y="5750072"/>
            <a:ext cx="752715" cy="748493"/>
            <a:chOff x="6450334" y="5317226"/>
            <a:chExt cx="801261" cy="903352"/>
          </a:xfrm>
        </p:grpSpPr>
        <p:sp>
          <p:nvSpPr>
            <p:cNvPr id="29" name="TextBox 28">
              <a:extLst>
                <a:ext uri="{FF2B5EF4-FFF2-40B4-BE49-F238E27FC236}">
                  <a16:creationId xmlns:a16="http://schemas.microsoft.com/office/drawing/2014/main" id="{D3334443-EBC8-FD0E-EA4A-10CE35F92C5D}"/>
                </a:ext>
              </a:extLst>
            </p:cNvPr>
            <p:cNvSpPr txBox="1"/>
            <p:nvPr/>
          </p:nvSpPr>
          <p:spPr>
            <a:xfrm>
              <a:off x="6671572" y="5599207"/>
              <a:ext cx="389673" cy="502429"/>
            </a:xfrm>
            <a:prstGeom prst="rect">
              <a:avLst/>
            </a:prstGeom>
            <a:noFill/>
          </p:spPr>
          <p:txBody>
            <a:bodyPr wrap="square" rtlCol="0">
              <a:spAutoFit/>
            </a:bodyPr>
            <a:lstStyle/>
            <a:p>
              <a:r>
                <a:rPr lang="en-GB" b="1">
                  <a:latin typeface="Sassoon Infant Rg" panose="02000503030000020003" pitchFamily="2" charset="0"/>
                  <a:ea typeface="Sassoon Infant Rg" panose="02000503030000020003" pitchFamily="2" charset="0"/>
                </a:rPr>
                <a:t>1</a:t>
              </a:r>
            </a:p>
          </p:txBody>
        </p:sp>
        <p:pic>
          <p:nvPicPr>
            <p:cNvPr id="310" name="Picture 309">
              <a:extLst>
                <a:ext uri="{FF2B5EF4-FFF2-40B4-BE49-F238E27FC236}">
                  <a16:creationId xmlns:a16="http://schemas.microsoft.com/office/drawing/2014/main" id="{E50F33D2-E2FF-3B07-C867-8E523B741EBE}"/>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932" b="95719" l="8301" r="96332">
                          <a14:foregroundMark x1="9266" y1="45034" x2="9266" y2="45034"/>
                          <a14:foregroundMark x1="9653" y1="49658" x2="9653" y2="49658"/>
                          <a14:foregroundMark x1="43436" y1="93664" x2="43436" y2="93664"/>
                          <a14:foregroundMark x1="95174" y1="43836" x2="95174" y2="43836"/>
                          <a14:foregroundMark x1="95946" y1="48973" x2="95946" y2="48973"/>
                          <a14:foregroundMark x1="96525" y1="43664" x2="96525" y2="43664"/>
                          <a14:foregroundMark x1="61004" y1="95719" x2="61004" y2="95719"/>
                          <a14:foregroundMark x1="41313" y1="12671" x2="41313" y2="12671"/>
                        </a14:backgroundRemoval>
                      </a14:imgEffect>
                    </a14:imgLayer>
                  </a14:imgProps>
                </a:ext>
              </a:extLst>
            </a:blip>
            <a:stretch>
              <a:fillRect/>
            </a:stretch>
          </p:blipFill>
          <p:spPr>
            <a:xfrm>
              <a:off x="6450334" y="5317226"/>
              <a:ext cx="801261" cy="903352"/>
            </a:xfrm>
            <a:prstGeom prst="rect">
              <a:avLst/>
            </a:prstGeom>
          </p:spPr>
        </p:pic>
      </p:grpSp>
      <p:sp>
        <p:nvSpPr>
          <p:cNvPr id="320" name="Freeform: Shape 319">
            <a:extLst>
              <a:ext uri="{FF2B5EF4-FFF2-40B4-BE49-F238E27FC236}">
                <a16:creationId xmlns:a16="http://schemas.microsoft.com/office/drawing/2014/main" id="{519C7144-A183-A21A-4035-2E1D20E8C246}"/>
              </a:ext>
            </a:extLst>
          </p:cNvPr>
          <p:cNvSpPr/>
          <p:nvPr/>
        </p:nvSpPr>
        <p:spPr>
          <a:xfrm>
            <a:off x="5838826" y="1098925"/>
            <a:ext cx="6099174" cy="5606668"/>
          </a:xfrm>
          <a:custGeom>
            <a:avLst/>
            <a:gdLst>
              <a:gd name="connsiteX0" fmla="*/ 513624 w 514349"/>
              <a:gd name="connsiteY0" fmla="*/ 5877 h 571500"/>
              <a:gd name="connsiteX1" fmla="*/ 504823 w 514349"/>
              <a:gd name="connsiteY1" fmla="*/ 0 h 571500"/>
              <a:gd name="connsiteX2" fmla="*/ 9523 w 514349"/>
              <a:gd name="connsiteY2" fmla="*/ 0 h 571500"/>
              <a:gd name="connsiteX3" fmla="*/ 0 w 514349"/>
              <a:gd name="connsiteY3" fmla="*/ 9527 h 571500"/>
              <a:gd name="connsiteX4" fmla="*/ 2789 w 514349"/>
              <a:gd name="connsiteY4" fmla="*/ 16259 h 571500"/>
              <a:gd name="connsiteX5" fmla="*/ 24144 w 514349"/>
              <a:gd name="connsiteY5" fmla="*/ 37624 h 571500"/>
              <a:gd name="connsiteX6" fmla="*/ 38098 w 514349"/>
              <a:gd name="connsiteY6" fmla="*/ 71295 h 571500"/>
              <a:gd name="connsiteX7" fmla="*/ 38098 w 514349"/>
              <a:gd name="connsiteY7" fmla="*/ 523875 h 571500"/>
              <a:gd name="connsiteX8" fmla="*/ 85723 w 514349"/>
              <a:gd name="connsiteY8" fmla="*/ 571500 h 571500"/>
              <a:gd name="connsiteX9" fmla="*/ 428623 w 514349"/>
              <a:gd name="connsiteY9" fmla="*/ 571500 h 571500"/>
              <a:gd name="connsiteX10" fmla="*/ 476248 w 514349"/>
              <a:gd name="connsiteY10" fmla="*/ 523875 h 571500"/>
              <a:gd name="connsiteX11" fmla="*/ 476248 w 514349"/>
              <a:gd name="connsiteY11" fmla="*/ 71295 h 571500"/>
              <a:gd name="connsiteX12" fmla="*/ 490202 w 514349"/>
              <a:gd name="connsiteY12" fmla="*/ 37624 h 571500"/>
              <a:gd name="connsiteX13" fmla="*/ 511557 w 514349"/>
              <a:gd name="connsiteY13" fmla="*/ 16259 h 571500"/>
              <a:gd name="connsiteX14" fmla="*/ 513624 w 514349"/>
              <a:gd name="connsiteY14" fmla="*/ 5877 h 571500"/>
              <a:gd name="connsiteX15" fmla="*/ 428623 w 514349"/>
              <a:gd name="connsiteY15" fmla="*/ 552450 h 571500"/>
              <a:gd name="connsiteX16" fmla="*/ 85723 w 514349"/>
              <a:gd name="connsiteY16" fmla="*/ 552450 h 571500"/>
              <a:gd name="connsiteX17" fmla="*/ 57148 w 514349"/>
              <a:gd name="connsiteY17" fmla="*/ 523875 h 571500"/>
              <a:gd name="connsiteX18" fmla="*/ 57148 w 514349"/>
              <a:gd name="connsiteY18" fmla="*/ 123739 h 571500"/>
              <a:gd name="connsiteX19" fmla="*/ 234113 w 514349"/>
              <a:gd name="connsiteY19" fmla="*/ 100013 h 571500"/>
              <a:gd name="connsiteX20" fmla="*/ 323848 w 514349"/>
              <a:gd name="connsiteY20" fmla="*/ 85725 h 571500"/>
              <a:gd name="connsiteX21" fmla="*/ 438348 w 514349"/>
              <a:gd name="connsiteY21" fmla="*/ 106804 h 571500"/>
              <a:gd name="connsiteX22" fmla="*/ 457198 w 514349"/>
              <a:gd name="connsiteY22" fmla="*/ 112919 h 571500"/>
              <a:gd name="connsiteX23" fmla="*/ 457198 w 514349"/>
              <a:gd name="connsiteY23" fmla="*/ 523875 h 571500"/>
              <a:gd name="connsiteX24" fmla="*/ 428623 w 514349"/>
              <a:gd name="connsiteY24" fmla="*/ 552450 h 571500"/>
              <a:gd name="connsiteX25" fmla="*/ 476715 w 514349"/>
              <a:gd name="connsiteY25" fmla="*/ 24165 h 571500"/>
              <a:gd name="connsiteX26" fmla="*/ 457198 w 514349"/>
              <a:gd name="connsiteY26" fmla="*/ 71295 h 571500"/>
              <a:gd name="connsiteX27" fmla="*/ 457198 w 514349"/>
              <a:gd name="connsiteY27" fmla="*/ 93202 h 571500"/>
              <a:gd name="connsiteX28" fmla="*/ 444816 w 514349"/>
              <a:gd name="connsiteY28" fmla="*/ 88897 h 571500"/>
              <a:gd name="connsiteX29" fmla="*/ 323848 w 514349"/>
              <a:gd name="connsiteY29" fmla="*/ 66675 h 571500"/>
              <a:gd name="connsiteX30" fmla="*/ 229312 w 514349"/>
              <a:gd name="connsiteY30" fmla="*/ 81563 h 571500"/>
              <a:gd name="connsiteX31" fmla="*/ 57148 w 514349"/>
              <a:gd name="connsiteY31" fmla="*/ 104699 h 571500"/>
              <a:gd name="connsiteX32" fmla="*/ 57148 w 514349"/>
              <a:gd name="connsiteY32" fmla="*/ 71295 h 571500"/>
              <a:gd name="connsiteX33" fmla="*/ 37641 w 514349"/>
              <a:gd name="connsiteY33" fmla="*/ 24184 h 571500"/>
              <a:gd name="connsiteX34" fmla="*/ 32678 w 514349"/>
              <a:gd name="connsiteY34" fmla="*/ 19212 h 571500"/>
              <a:gd name="connsiteX35" fmla="*/ 32745 w 514349"/>
              <a:gd name="connsiteY35" fmla="*/ 19050 h 571500"/>
              <a:gd name="connsiteX36" fmla="*/ 481601 w 514349"/>
              <a:gd name="connsiteY36" fmla="*/ 19050 h 571500"/>
              <a:gd name="connsiteX37" fmla="*/ 481668 w 514349"/>
              <a:gd name="connsiteY37" fmla="*/ 19212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14349" h="571500">
                <a:moveTo>
                  <a:pt x="513624" y="5877"/>
                </a:moveTo>
                <a:cubicBezTo>
                  <a:pt x="512149" y="2318"/>
                  <a:pt x="508675" y="-1"/>
                  <a:pt x="504823" y="0"/>
                </a:cubicBezTo>
                <a:lnTo>
                  <a:pt x="9523" y="0"/>
                </a:lnTo>
                <a:cubicBezTo>
                  <a:pt x="4262" y="1"/>
                  <a:pt x="-1" y="4266"/>
                  <a:pt x="0" y="9527"/>
                </a:cubicBezTo>
                <a:cubicBezTo>
                  <a:pt x="1" y="12052"/>
                  <a:pt x="1004" y="14473"/>
                  <a:pt x="2789" y="16259"/>
                </a:cubicBezTo>
                <a:lnTo>
                  <a:pt x="24144" y="37624"/>
                </a:lnTo>
                <a:cubicBezTo>
                  <a:pt x="33105" y="46533"/>
                  <a:pt x="38130" y="58658"/>
                  <a:pt x="38098" y="71295"/>
                </a:cubicBezTo>
                <a:lnTo>
                  <a:pt x="38098" y="523875"/>
                </a:lnTo>
                <a:cubicBezTo>
                  <a:pt x="38130" y="550165"/>
                  <a:pt x="59433" y="571469"/>
                  <a:pt x="85723" y="571500"/>
                </a:cubicBezTo>
                <a:lnTo>
                  <a:pt x="428623" y="571500"/>
                </a:lnTo>
                <a:cubicBezTo>
                  <a:pt x="454913" y="571469"/>
                  <a:pt x="476217" y="550165"/>
                  <a:pt x="476248" y="523875"/>
                </a:cubicBezTo>
                <a:lnTo>
                  <a:pt x="476248" y="71295"/>
                </a:lnTo>
                <a:cubicBezTo>
                  <a:pt x="476216" y="58658"/>
                  <a:pt x="481241" y="46533"/>
                  <a:pt x="490202" y="37624"/>
                </a:cubicBezTo>
                <a:lnTo>
                  <a:pt x="511557" y="16259"/>
                </a:lnTo>
                <a:cubicBezTo>
                  <a:pt x="514283" y="13535"/>
                  <a:pt x="515099" y="9437"/>
                  <a:pt x="513624" y="5877"/>
                </a:cubicBezTo>
                <a:close/>
                <a:moveTo>
                  <a:pt x="428623" y="552450"/>
                </a:moveTo>
                <a:lnTo>
                  <a:pt x="85723" y="552450"/>
                </a:lnTo>
                <a:cubicBezTo>
                  <a:pt x="69941" y="552450"/>
                  <a:pt x="57148" y="539657"/>
                  <a:pt x="57148" y="523875"/>
                </a:cubicBezTo>
                <a:lnTo>
                  <a:pt x="57148" y="123739"/>
                </a:lnTo>
                <a:cubicBezTo>
                  <a:pt x="116951" y="124062"/>
                  <a:pt x="176508" y="116077"/>
                  <a:pt x="234113" y="100013"/>
                </a:cubicBezTo>
                <a:cubicBezTo>
                  <a:pt x="263218" y="91110"/>
                  <a:pt x="293419" y="86302"/>
                  <a:pt x="323848" y="85725"/>
                </a:cubicBezTo>
                <a:cubicBezTo>
                  <a:pt x="363013" y="85345"/>
                  <a:pt x="401885" y="92501"/>
                  <a:pt x="438348" y="106804"/>
                </a:cubicBezTo>
                <a:cubicBezTo>
                  <a:pt x="444517" y="109177"/>
                  <a:pt x="450811" y="111219"/>
                  <a:pt x="457198" y="112919"/>
                </a:cubicBezTo>
                <a:lnTo>
                  <a:pt x="457198" y="523875"/>
                </a:lnTo>
                <a:cubicBezTo>
                  <a:pt x="457198" y="539657"/>
                  <a:pt x="444405" y="552450"/>
                  <a:pt x="428623" y="552450"/>
                </a:cubicBezTo>
                <a:close/>
                <a:moveTo>
                  <a:pt x="476715" y="24165"/>
                </a:moveTo>
                <a:cubicBezTo>
                  <a:pt x="464219" y="36666"/>
                  <a:pt x="457199" y="53619"/>
                  <a:pt x="457198" y="71295"/>
                </a:cubicBezTo>
                <a:lnTo>
                  <a:pt x="457198" y="93202"/>
                </a:lnTo>
                <a:cubicBezTo>
                  <a:pt x="453626" y="92069"/>
                  <a:pt x="449492" y="90583"/>
                  <a:pt x="444816" y="88897"/>
                </a:cubicBezTo>
                <a:cubicBezTo>
                  <a:pt x="406263" y="73898"/>
                  <a:pt x="365214" y="66357"/>
                  <a:pt x="323848" y="66675"/>
                </a:cubicBezTo>
                <a:cubicBezTo>
                  <a:pt x="291796" y="67197"/>
                  <a:pt x="259974" y="72208"/>
                  <a:pt x="229312" y="81563"/>
                </a:cubicBezTo>
                <a:cubicBezTo>
                  <a:pt x="173292" y="97306"/>
                  <a:pt x="115337" y="105093"/>
                  <a:pt x="57148" y="104699"/>
                </a:cubicBezTo>
                <a:lnTo>
                  <a:pt x="57148" y="71295"/>
                </a:lnTo>
                <a:cubicBezTo>
                  <a:pt x="57151" y="53626"/>
                  <a:pt x="50134" y="36679"/>
                  <a:pt x="37641" y="24184"/>
                </a:cubicBezTo>
                <a:lnTo>
                  <a:pt x="32678" y="19212"/>
                </a:lnTo>
                <a:cubicBezTo>
                  <a:pt x="32593" y="19126"/>
                  <a:pt x="32621" y="19050"/>
                  <a:pt x="32745" y="19050"/>
                </a:cubicBezTo>
                <a:lnTo>
                  <a:pt x="481601" y="19050"/>
                </a:lnTo>
                <a:cubicBezTo>
                  <a:pt x="481725" y="19050"/>
                  <a:pt x="481754" y="19126"/>
                  <a:pt x="481668" y="19212"/>
                </a:cubicBezTo>
                <a:close/>
              </a:path>
            </a:pathLst>
          </a:custGeom>
          <a:solidFill>
            <a:srgbClr val="000000"/>
          </a:solidFill>
          <a:ln w="9525" cap="flat">
            <a:noFill/>
            <a:prstDash val="solid"/>
            <a:miter/>
          </a:ln>
        </p:spPr>
        <p:txBody>
          <a:bodyPr rtlCol="0" anchor="ctr"/>
          <a:lstStyle/>
          <a:p>
            <a:endParaRPr lang="en-GB"/>
          </a:p>
        </p:txBody>
      </p:sp>
      <p:sp>
        <p:nvSpPr>
          <p:cNvPr id="326" name="Freeform: Shape 325">
            <a:extLst>
              <a:ext uri="{FF2B5EF4-FFF2-40B4-BE49-F238E27FC236}">
                <a16:creationId xmlns:a16="http://schemas.microsoft.com/office/drawing/2014/main" id="{615960B3-1C6C-3CA1-B38E-DCC358C0CBAA}"/>
              </a:ext>
            </a:extLst>
          </p:cNvPr>
          <p:cNvSpPr/>
          <p:nvPr/>
        </p:nvSpPr>
        <p:spPr>
          <a:xfrm>
            <a:off x="10249380" y="250021"/>
            <a:ext cx="349748" cy="511568"/>
          </a:xfrm>
          <a:custGeom>
            <a:avLst/>
            <a:gdLst>
              <a:gd name="connsiteX0" fmla="*/ 131059 w 262118"/>
              <a:gd name="connsiteY0" fmla="*/ 259531 h 259530"/>
              <a:gd name="connsiteX1" fmla="*/ 262118 w 262118"/>
              <a:gd name="connsiteY1" fmla="*/ 129765 h 259530"/>
              <a:gd name="connsiteX2" fmla="*/ 131059 w 262118"/>
              <a:gd name="connsiteY2" fmla="*/ 0 h 259530"/>
              <a:gd name="connsiteX3" fmla="*/ 0 w 262118"/>
              <a:gd name="connsiteY3" fmla="*/ 129765 h 259530"/>
              <a:gd name="connsiteX4" fmla="*/ 131059 w 262118"/>
              <a:gd name="connsiteY4" fmla="*/ 259531 h 259530"/>
              <a:gd name="connsiteX5" fmla="*/ 131059 w 262118"/>
              <a:gd name="connsiteY5" fmla="*/ 43255 h 259530"/>
              <a:gd name="connsiteX6" fmla="*/ 218432 w 262118"/>
              <a:gd name="connsiteY6" fmla="*/ 129765 h 259530"/>
              <a:gd name="connsiteX7" fmla="*/ 131059 w 262118"/>
              <a:gd name="connsiteY7" fmla="*/ 216276 h 259530"/>
              <a:gd name="connsiteX8" fmla="*/ 43686 w 262118"/>
              <a:gd name="connsiteY8" fmla="*/ 129765 h 259530"/>
              <a:gd name="connsiteX9" fmla="*/ 131059 w 262118"/>
              <a:gd name="connsiteY9" fmla="*/ 43255 h 259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2118" h="259530">
                <a:moveTo>
                  <a:pt x="131059" y="259531"/>
                </a:moveTo>
                <a:cubicBezTo>
                  <a:pt x="203441" y="259531"/>
                  <a:pt x="262118" y="201433"/>
                  <a:pt x="262118" y="129765"/>
                </a:cubicBezTo>
                <a:cubicBezTo>
                  <a:pt x="262118" y="58098"/>
                  <a:pt x="203441" y="0"/>
                  <a:pt x="131059" y="0"/>
                </a:cubicBezTo>
                <a:cubicBezTo>
                  <a:pt x="58677" y="0"/>
                  <a:pt x="0" y="58098"/>
                  <a:pt x="0" y="129765"/>
                </a:cubicBezTo>
                <a:cubicBezTo>
                  <a:pt x="85" y="201398"/>
                  <a:pt x="58712" y="259446"/>
                  <a:pt x="131059" y="259531"/>
                </a:cubicBezTo>
                <a:close/>
                <a:moveTo>
                  <a:pt x="131059" y="43255"/>
                </a:moveTo>
                <a:cubicBezTo>
                  <a:pt x="179313" y="43255"/>
                  <a:pt x="218432" y="81988"/>
                  <a:pt x="218432" y="129765"/>
                </a:cubicBezTo>
                <a:cubicBezTo>
                  <a:pt x="218432" y="177543"/>
                  <a:pt x="179313" y="216276"/>
                  <a:pt x="131059" y="216276"/>
                </a:cubicBezTo>
                <a:cubicBezTo>
                  <a:pt x="82805" y="216276"/>
                  <a:pt x="43686" y="177543"/>
                  <a:pt x="43686" y="129765"/>
                </a:cubicBezTo>
                <a:cubicBezTo>
                  <a:pt x="43686" y="81988"/>
                  <a:pt x="82805" y="43255"/>
                  <a:pt x="131059" y="43255"/>
                </a:cubicBezTo>
                <a:close/>
              </a:path>
            </a:pathLst>
          </a:custGeom>
          <a:solidFill>
            <a:srgbClr val="000000"/>
          </a:solidFill>
          <a:ln w="21828" cap="flat">
            <a:noFill/>
            <a:prstDash val="solid"/>
            <a:miter/>
          </a:ln>
        </p:spPr>
        <p:txBody>
          <a:bodyPr rtlCol="0" anchor="ctr"/>
          <a:lstStyle/>
          <a:p>
            <a:endParaRPr lang="en-GB"/>
          </a:p>
        </p:txBody>
      </p:sp>
      <p:sp>
        <p:nvSpPr>
          <p:cNvPr id="327" name="Freeform: Shape 326">
            <a:extLst>
              <a:ext uri="{FF2B5EF4-FFF2-40B4-BE49-F238E27FC236}">
                <a16:creationId xmlns:a16="http://schemas.microsoft.com/office/drawing/2014/main" id="{0A3EF0C2-D3A0-CC7E-4670-BEDC7225D2EA}"/>
              </a:ext>
            </a:extLst>
          </p:cNvPr>
          <p:cNvSpPr/>
          <p:nvPr/>
        </p:nvSpPr>
        <p:spPr>
          <a:xfrm>
            <a:off x="9879186" y="663515"/>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6"/>
                  <a:pt x="131059" y="64883"/>
                </a:cubicBezTo>
                <a:cubicBezTo>
                  <a:pt x="131059" y="29049"/>
                  <a:pt x="101721" y="0"/>
                  <a:pt x="65530" y="0"/>
                </a:cubicBezTo>
                <a:cubicBezTo>
                  <a:pt x="29338" y="0"/>
                  <a:pt x="0" y="29049"/>
                  <a:pt x="0" y="64883"/>
                </a:cubicBezTo>
                <a:cubicBezTo>
                  <a:pt x="0" y="100716"/>
                  <a:pt x="29338" y="129765"/>
                  <a:pt x="65530" y="129765"/>
                </a:cubicBezTo>
                <a:close/>
                <a:moveTo>
                  <a:pt x="65530" y="43255"/>
                </a:moveTo>
                <a:cubicBezTo>
                  <a:pt x="77594" y="43255"/>
                  <a:pt x="87373" y="52938"/>
                  <a:pt x="87373" y="64883"/>
                </a:cubicBezTo>
                <a:cubicBezTo>
                  <a:pt x="87373" y="76827"/>
                  <a:pt x="77594" y="86510"/>
                  <a:pt x="65530" y="86510"/>
                </a:cubicBezTo>
                <a:cubicBezTo>
                  <a:pt x="53466" y="86510"/>
                  <a:pt x="43686" y="76827"/>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p>
        </p:txBody>
      </p:sp>
      <p:sp>
        <p:nvSpPr>
          <p:cNvPr id="328" name="Freeform: Shape 327">
            <a:extLst>
              <a:ext uri="{FF2B5EF4-FFF2-40B4-BE49-F238E27FC236}">
                <a16:creationId xmlns:a16="http://schemas.microsoft.com/office/drawing/2014/main" id="{C6427E39-89C9-8E4E-EEEF-A78655D37411}"/>
              </a:ext>
            </a:extLst>
          </p:cNvPr>
          <p:cNvSpPr/>
          <p:nvPr/>
        </p:nvSpPr>
        <p:spPr>
          <a:xfrm>
            <a:off x="8705483" y="233286"/>
            <a:ext cx="174874" cy="255783"/>
          </a:xfrm>
          <a:custGeom>
            <a:avLst/>
            <a:gdLst>
              <a:gd name="connsiteX0" fmla="*/ 65530 w 131059"/>
              <a:gd name="connsiteY0" fmla="*/ 129765 h 129765"/>
              <a:gd name="connsiteX1" fmla="*/ 131059 w 131059"/>
              <a:gd name="connsiteY1" fmla="*/ 64883 h 129765"/>
              <a:gd name="connsiteX2" fmla="*/ 65530 w 131059"/>
              <a:gd name="connsiteY2" fmla="*/ 0 h 129765"/>
              <a:gd name="connsiteX3" fmla="*/ 0 w 131059"/>
              <a:gd name="connsiteY3" fmla="*/ 64883 h 129765"/>
              <a:gd name="connsiteX4" fmla="*/ 65530 w 131059"/>
              <a:gd name="connsiteY4" fmla="*/ 129765 h 129765"/>
              <a:gd name="connsiteX5" fmla="*/ 65530 w 131059"/>
              <a:gd name="connsiteY5" fmla="*/ 43255 h 129765"/>
              <a:gd name="connsiteX6" fmla="*/ 87373 w 131059"/>
              <a:gd name="connsiteY6" fmla="*/ 64883 h 129765"/>
              <a:gd name="connsiteX7" fmla="*/ 65530 w 131059"/>
              <a:gd name="connsiteY7" fmla="*/ 86510 h 129765"/>
              <a:gd name="connsiteX8" fmla="*/ 43686 w 131059"/>
              <a:gd name="connsiteY8" fmla="*/ 64883 h 129765"/>
              <a:gd name="connsiteX9" fmla="*/ 65530 w 131059"/>
              <a:gd name="connsiteY9" fmla="*/ 43255 h 129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059" h="129765">
                <a:moveTo>
                  <a:pt x="65530" y="129765"/>
                </a:moveTo>
                <a:cubicBezTo>
                  <a:pt x="101721" y="129765"/>
                  <a:pt x="131059" y="100716"/>
                  <a:pt x="131059" y="64883"/>
                </a:cubicBezTo>
                <a:cubicBezTo>
                  <a:pt x="131059" y="29049"/>
                  <a:pt x="101721" y="0"/>
                  <a:pt x="65530" y="0"/>
                </a:cubicBezTo>
                <a:cubicBezTo>
                  <a:pt x="29338" y="0"/>
                  <a:pt x="0" y="29049"/>
                  <a:pt x="0" y="64883"/>
                </a:cubicBezTo>
                <a:cubicBezTo>
                  <a:pt x="0" y="100716"/>
                  <a:pt x="29338" y="129765"/>
                  <a:pt x="65530" y="129765"/>
                </a:cubicBezTo>
                <a:close/>
                <a:moveTo>
                  <a:pt x="65530" y="43255"/>
                </a:moveTo>
                <a:cubicBezTo>
                  <a:pt x="77594" y="43255"/>
                  <a:pt x="87373" y="52938"/>
                  <a:pt x="87373" y="64883"/>
                </a:cubicBezTo>
                <a:cubicBezTo>
                  <a:pt x="87373" y="76827"/>
                  <a:pt x="77594" y="86510"/>
                  <a:pt x="65530" y="86510"/>
                </a:cubicBezTo>
                <a:cubicBezTo>
                  <a:pt x="53466" y="86510"/>
                  <a:pt x="43686" y="76827"/>
                  <a:pt x="43686" y="64883"/>
                </a:cubicBezTo>
                <a:cubicBezTo>
                  <a:pt x="43686" y="52938"/>
                  <a:pt x="53466" y="43255"/>
                  <a:pt x="65530" y="43255"/>
                </a:cubicBezTo>
                <a:close/>
              </a:path>
            </a:pathLst>
          </a:custGeom>
          <a:solidFill>
            <a:srgbClr val="000000"/>
          </a:solidFill>
          <a:ln w="21828" cap="flat">
            <a:noFill/>
            <a:prstDash val="solid"/>
            <a:miter/>
          </a:ln>
        </p:spPr>
        <p:txBody>
          <a:bodyPr rtlCol="0" anchor="ctr"/>
          <a:lstStyle/>
          <a:p>
            <a:endParaRPr lang="en-GB"/>
          </a:p>
        </p:txBody>
      </p:sp>
      <p:sp>
        <p:nvSpPr>
          <p:cNvPr id="329" name="Freeform: Shape 328">
            <a:extLst>
              <a:ext uri="{FF2B5EF4-FFF2-40B4-BE49-F238E27FC236}">
                <a16:creationId xmlns:a16="http://schemas.microsoft.com/office/drawing/2014/main" id="{6E8BE199-F9BD-FD8E-4FAF-8A69DDB908A0}"/>
              </a:ext>
            </a:extLst>
          </p:cNvPr>
          <p:cNvSpPr/>
          <p:nvPr/>
        </p:nvSpPr>
        <p:spPr>
          <a:xfrm>
            <a:off x="6579005" y="641948"/>
            <a:ext cx="233165" cy="341044"/>
          </a:xfrm>
          <a:custGeom>
            <a:avLst/>
            <a:gdLst>
              <a:gd name="connsiteX0" fmla="*/ 87373 w 174745"/>
              <a:gd name="connsiteY0" fmla="*/ 173021 h 173020"/>
              <a:gd name="connsiteX1" fmla="*/ 174745 w 174745"/>
              <a:gd name="connsiteY1" fmla="*/ 86510 h 173020"/>
              <a:gd name="connsiteX2" fmla="*/ 87373 w 174745"/>
              <a:gd name="connsiteY2" fmla="*/ 0 h 173020"/>
              <a:gd name="connsiteX3" fmla="*/ 0 w 174745"/>
              <a:gd name="connsiteY3" fmla="*/ 86510 h 173020"/>
              <a:gd name="connsiteX4" fmla="*/ 87373 w 174745"/>
              <a:gd name="connsiteY4" fmla="*/ 173021 h 173020"/>
              <a:gd name="connsiteX5" fmla="*/ 87373 w 174745"/>
              <a:gd name="connsiteY5" fmla="*/ 43255 h 173020"/>
              <a:gd name="connsiteX6" fmla="*/ 131059 w 174745"/>
              <a:gd name="connsiteY6" fmla="*/ 86510 h 173020"/>
              <a:gd name="connsiteX7" fmla="*/ 87373 w 174745"/>
              <a:gd name="connsiteY7" fmla="*/ 129765 h 173020"/>
              <a:gd name="connsiteX8" fmla="*/ 43686 w 174745"/>
              <a:gd name="connsiteY8" fmla="*/ 86510 h 173020"/>
              <a:gd name="connsiteX9" fmla="*/ 87373 w 174745"/>
              <a:gd name="connsiteY9" fmla="*/ 43255 h 173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4745" h="173020">
                <a:moveTo>
                  <a:pt x="87373" y="173021"/>
                </a:moveTo>
                <a:cubicBezTo>
                  <a:pt x="135626" y="173021"/>
                  <a:pt x="174745" y="134288"/>
                  <a:pt x="174745" y="86510"/>
                </a:cubicBezTo>
                <a:cubicBezTo>
                  <a:pt x="174745" y="38732"/>
                  <a:pt x="135626" y="0"/>
                  <a:pt x="87373" y="0"/>
                </a:cubicBezTo>
                <a:cubicBezTo>
                  <a:pt x="39119" y="0"/>
                  <a:pt x="0" y="38732"/>
                  <a:pt x="0" y="86510"/>
                </a:cubicBezTo>
                <a:cubicBezTo>
                  <a:pt x="0" y="134288"/>
                  <a:pt x="39119" y="173021"/>
                  <a:pt x="87373" y="173021"/>
                </a:cubicBezTo>
                <a:close/>
                <a:moveTo>
                  <a:pt x="87373" y="43255"/>
                </a:moveTo>
                <a:cubicBezTo>
                  <a:pt x="111501" y="43255"/>
                  <a:pt x="131059" y="62620"/>
                  <a:pt x="131059" y="86510"/>
                </a:cubicBezTo>
                <a:cubicBezTo>
                  <a:pt x="131059" y="110400"/>
                  <a:pt x="111501" y="129765"/>
                  <a:pt x="87373" y="129765"/>
                </a:cubicBezTo>
                <a:cubicBezTo>
                  <a:pt x="63245" y="129765"/>
                  <a:pt x="43686" y="110400"/>
                  <a:pt x="43686" y="86510"/>
                </a:cubicBezTo>
                <a:cubicBezTo>
                  <a:pt x="43686" y="62620"/>
                  <a:pt x="63245" y="43255"/>
                  <a:pt x="87373" y="43255"/>
                </a:cubicBezTo>
                <a:close/>
              </a:path>
            </a:pathLst>
          </a:custGeom>
          <a:solidFill>
            <a:srgbClr val="000000"/>
          </a:solidFill>
          <a:ln w="21828" cap="flat">
            <a:noFill/>
            <a:prstDash val="solid"/>
            <a:miter/>
          </a:ln>
        </p:spPr>
        <p:txBody>
          <a:bodyPr rtlCol="0" anchor="ctr"/>
          <a:lstStyle/>
          <a:p>
            <a:endParaRPr lang="en-GB"/>
          </a:p>
        </p:txBody>
      </p:sp>
      <p:sp>
        <p:nvSpPr>
          <p:cNvPr id="51" name="TextBox 50">
            <a:extLst>
              <a:ext uri="{FF2B5EF4-FFF2-40B4-BE49-F238E27FC236}">
                <a16:creationId xmlns:a16="http://schemas.microsoft.com/office/drawing/2014/main" id="{DA0F7DCC-5F7F-872F-F981-8A1A7A5F065B}"/>
              </a:ext>
            </a:extLst>
          </p:cNvPr>
          <p:cNvSpPr txBox="1"/>
          <p:nvPr/>
        </p:nvSpPr>
        <p:spPr>
          <a:xfrm>
            <a:off x="144316" y="961919"/>
            <a:ext cx="4618184" cy="1477328"/>
          </a:xfrm>
          <a:prstGeom prst="rect">
            <a:avLst/>
          </a:prstGeom>
          <a:noFill/>
        </p:spPr>
        <p:txBody>
          <a:bodyPr wrap="square" rtlCol="0">
            <a:spAutoFit/>
          </a:bodyPr>
          <a:lstStyle/>
          <a:p>
            <a:pPr algn="l" rtl="0" fontAlgn="base"/>
            <a:r>
              <a:rPr lang="en-GB" sz="1800" b="0" i="0">
                <a:solidFill>
                  <a:srgbClr val="000000"/>
                </a:solidFill>
                <a:effectLst/>
                <a:latin typeface="Calibri" panose="020F0502020204030204" pitchFamily="34" charset="0"/>
              </a:rPr>
              <a:t> </a:t>
            </a:r>
            <a:r>
              <a:rPr lang="en-GB" sz="1800" b="0" i="1">
                <a:solidFill>
                  <a:srgbClr val="000000"/>
                </a:solidFill>
                <a:effectLst/>
                <a:latin typeface="Calibri" panose="020F0502020204030204" pitchFamily="34" charset="0"/>
              </a:rPr>
              <a:t>4.5 billion years ago a cloud of space dust coalesced to form a star surrounded by a group of planets and other material. The story of this is Earth and Space Science.</a:t>
            </a:r>
            <a:r>
              <a:rPr lang="en-GB" sz="1800" b="0" i="0">
                <a:solidFill>
                  <a:srgbClr val="000000"/>
                </a:solidFill>
                <a:effectLst/>
                <a:latin typeface="Calibri" panose="020F0502020204030204" pitchFamily="34" charset="0"/>
              </a:rPr>
              <a:t> </a:t>
            </a:r>
            <a:endParaRPr lang="en-GB" b="0" i="0">
              <a:solidFill>
                <a:srgbClr val="000000"/>
              </a:solidFill>
              <a:effectLst/>
              <a:latin typeface="Segoe UI" panose="020B0502040204020203" pitchFamily="34" charset="0"/>
            </a:endParaRPr>
          </a:p>
          <a:p>
            <a:pPr algn="l" rtl="0" fontAlgn="base"/>
            <a:r>
              <a:rPr lang="en-GB" sz="1800" b="0" i="1">
                <a:solidFill>
                  <a:srgbClr val="000000"/>
                </a:solidFill>
                <a:effectLst/>
                <a:latin typeface="Calibri" panose="020F0502020204030204" pitchFamily="34" charset="0"/>
              </a:rPr>
              <a:t>The study of the Earth itself is Geography.</a:t>
            </a:r>
            <a:r>
              <a:rPr lang="en-GB" sz="1800" b="0" i="0">
                <a:solidFill>
                  <a:srgbClr val="000000"/>
                </a:solidFill>
                <a:effectLst/>
                <a:latin typeface="Calibri" panose="020F0502020204030204" pitchFamily="34" charset="0"/>
              </a:rPr>
              <a:t> </a:t>
            </a:r>
            <a:endParaRPr lang="en-GB" b="0" i="0">
              <a:solidFill>
                <a:srgbClr val="000000"/>
              </a:solidFill>
              <a:effectLst/>
              <a:latin typeface="Segoe UI" panose="020B0502040204020203" pitchFamily="34" charset="0"/>
            </a:endParaRPr>
          </a:p>
        </p:txBody>
      </p:sp>
      <p:sp>
        <p:nvSpPr>
          <p:cNvPr id="204" name="TextBox 203">
            <a:extLst>
              <a:ext uri="{FF2B5EF4-FFF2-40B4-BE49-F238E27FC236}">
                <a16:creationId xmlns:a16="http://schemas.microsoft.com/office/drawing/2014/main" id="{2D815AFD-AD33-D53B-3D1A-0946555C3F95}"/>
              </a:ext>
            </a:extLst>
          </p:cNvPr>
          <p:cNvSpPr txBox="1"/>
          <p:nvPr/>
        </p:nvSpPr>
        <p:spPr>
          <a:xfrm>
            <a:off x="1154787" y="348834"/>
            <a:ext cx="4126647" cy="461665"/>
          </a:xfrm>
          <a:prstGeom prst="rect">
            <a:avLst/>
          </a:prstGeom>
          <a:noFill/>
        </p:spPr>
        <p:txBody>
          <a:bodyPr wrap="square">
            <a:spAutoFit/>
          </a:bodyPr>
          <a:lstStyle/>
          <a:p>
            <a:pPr fontAlgn="base"/>
            <a:r>
              <a:rPr lang="en-GB" b="1"/>
              <a:t>What is Earth and Space Science?</a:t>
            </a:r>
            <a:r>
              <a:rPr lang="en-GB"/>
              <a:t> </a:t>
            </a:r>
            <a:r>
              <a:rPr lang="en-GB" sz="2400" b="0" i="0">
                <a:solidFill>
                  <a:srgbClr val="000000"/>
                </a:solidFill>
                <a:effectLst/>
                <a:latin typeface="Calibri" panose="020F0502020204030204" pitchFamily="34" charset="0"/>
              </a:rPr>
              <a:t> </a:t>
            </a:r>
            <a:endParaRPr lang="en-GB" sz="6000" b="0" i="0">
              <a:solidFill>
                <a:srgbClr val="000000"/>
              </a:solidFill>
              <a:effectLst/>
              <a:latin typeface="Segoe UI" panose="020B0502040204020203" pitchFamily="34" charset="0"/>
            </a:endParaRPr>
          </a:p>
        </p:txBody>
      </p:sp>
      <p:pic>
        <p:nvPicPr>
          <p:cNvPr id="269" name="Picture 268">
            <a:extLst>
              <a:ext uri="{FF2B5EF4-FFF2-40B4-BE49-F238E27FC236}">
                <a16:creationId xmlns:a16="http://schemas.microsoft.com/office/drawing/2014/main" id="{ACE077E8-5C3C-86ED-3B89-2A43DE749A09}"/>
              </a:ext>
            </a:extLst>
          </p:cNvPr>
          <p:cNvPicPr>
            <a:picLocks noChangeAspect="1"/>
          </p:cNvPicPr>
          <p:nvPr/>
        </p:nvPicPr>
        <p:blipFill>
          <a:blip r:embed="rId5" cstate="screen">
            <a:extLst>
              <a:ext uri="{28A0092B-C50C-407E-A947-70E740481C1C}">
                <a14:useLocalDpi xmlns:a14="http://schemas.microsoft.com/office/drawing/2010/main" val="0"/>
              </a:ext>
            </a:extLst>
          </a:blip>
          <a:stretch>
            <a:fillRect/>
          </a:stretch>
        </p:blipFill>
        <p:spPr>
          <a:xfrm>
            <a:off x="144316" y="105448"/>
            <a:ext cx="1104848" cy="856471"/>
          </a:xfrm>
          <a:prstGeom prst="rect">
            <a:avLst/>
          </a:prstGeom>
        </p:spPr>
      </p:pic>
      <p:sp>
        <p:nvSpPr>
          <p:cNvPr id="2" name="TextBox 1">
            <a:extLst>
              <a:ext uri="{FF2B5EF4-FFF2-40B4-BE49-F238E27FC236}">
                <a16:creationId xmlns:a16="http://schemas.microsoft.com/office/drawing/2014/main" id="{413C307F-2743-8DDD-57B3-474932F83822}"/>
              </a:ext>
            </a:extLst>
          </p:cNvPr>
          <p:cNvSpPr txBox="1"/>
          <p:nvPr/>
        </p:nvSpPr>
        <p:spPr>
          <a:xfrm>
            <a:off x="7840982" y="1302594"/>
            <a:ext cx="1626692" cy="523220"/>
          </a:xfrm>
          <a:prstGeom prst="rect">
            <a:avLst/>
          </a:prstGeom>
          <a:noFill/>
        </p:spPr>
        <p:txBody>
          <a:bodyPr wrap="square">
            <a:spAutoFit/>
          </a:bodyPr>
          <a:lstStyle/>
          <a:p>
            <a:r>
              <a:rPr lang="en-GB" sz="2800" b="1" u="sng">
                <a:solidFill>
                  <a:srgbClr val="000000"/>
                </a:solidFill>
                <a:latin typeface="Sassoon Infant Rg" panose="02000503030000020003" pitchFamily="2" charset="0"/>
                <a:ea typeface="Sassoon Infant Rg" panose="02000503030000020003" pitchFamily="2" charset="0"/>
              </a:rPr>
              <a:t>Contexts</a:t>
            </a:r>
            <a:endParaRPr lang="en-GB"/>
          </a:p>
        </p:txBody>
      </p:sp>
      <p:sp>
        <p:nvSpPr>
          <p:cNvPr id="3" name="TextBox 2">
            <a:extLst>
              <a:ext uri="{FF2B5EF4-FFF2-40B4-BE49-F238E27FC236}">
                <a16:creationId xmlns:a16="http://schemas.microsoft.com/office/drawing/2014/main" id="{93751359-E5F8-F718-DFB0-34614B082D0E}"/>
              </a:ext>
            </a:extLst>
          </p:cNvPr>
          <p:cNvSpPr txBox="1"/>
          <p:nvPr/>
        </p:nvSpPr>
        <p:spPr>
          <a:xfrm>
            <a:off x="1585255" y="2582636"/>
            <a:ext cx="2438400" cy="461665"/>
          </a:xfrm>
          <a:prstGeom prst="rect">
            <a:avLst/>
          </a:prstGeom>
          <a:noFill/>
        </p:spPr>
        <p:txBody>
          <a:bodyPr wrap="square">
            <a:spAutoFit/>
          </a:bodyPr>
          <a:lstStyle/>
          <a:p>
            <a:pPr fontAlgn="base"/>
            <a:r>
              <a:rPr lang="en-GB" sz="2400" b="1" u="sng">
                <a:solidFill>
                  <a:srgbClr val="000000"/>
                </a:solidFill>
                <a:latin typeface="Sassoon Infant Rg" panose="02000503030000020003" pitchFamily="2" charset="0"/>
                <a:ea typeface="Sassoon Infant Rg" panose="02000503030000020003" pitchFamily="2" charset="0"/>
              </a:rPr>
              <a:t>Key concepts:</a:t>
            </a:r>
            <a:endParaRPr lang="en-GB" sz="6000" b="0" i="0" u="sng">
              <a:solidFill>
                <a:srgbClr val="000000"/>
              </a:solidFill>
              <a:effectLst/>
              <a:latin typeface="Segoe UI" panose="020B0502040204020203" pitchFamily="34" charset="0"/>
            </a:endParaRPr>
          </a:p>
        </p:txBody>
      </p:sp>
      <p:sp>
        <p:nvSpPr>
          <p:cNvPr id="4" name="Oval 3">
            <a:extLst>
              <a:ext uri="{FF2B5EF4-FFF2-40B4-BE49-F238E27FC236}">
                <a16:creationId xmlns:a16="http://schemas.microsoft.com/office/drawing/2014/main" id="{4A17FDEF-6EB6-A1F6-8CA3-7BC7B75F4908}"/>
              </a:ext>
            </a:extLst>
          </p:cNvPr>
          <p:cNvSpPr/>
          <p:nvPr/>
        </p:nvSpPr>
        <p:spPr>
          <a:xfrm>
            <a:off x="3608299" y="4711431"/>
            <a:ext cx="1773377" cy="1607355"/>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Earth is dynamically part of the solar system and beyond</a:t>
            </a:r>
          </a:p>
        </p:txBody>
      </p:sp>
      <p:sp>
        <p:nvSpPr>
          <p:cNvPr id="5" name="Oval 4">
            <a:extLst>
              <a:ext uri="{FF2B5EF4-FFF2-40B4-BE49-F238E27FC236}">
                <a16:creationId xmlns:a16="http://schemas.microsoft.com/office/drawing/2014/main" id="{3C9F9598-C5A7-7705-9374-F0A8107016D2}"/>
              </a:ext>
            </a:extLst>
          </p:cNvPr>
          <p:cNvSpPr/>
          <p:nvPr/>
        </p:nvSpPr>
        <p:spPr>
          <a:xfrm>
            <a:off x="472935" y="2981007"/>
            <a:ext cx="1681918" cy="151115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he Earth is a single system with four dynamically interconnected 'spheres'</a:t>
            </a:r>
          </a:p>
        </p:txBody>
      </p:sp>
      <p:sp>
        <p:nvSpPr>
          <p:cNvPr id="7" name="Oval 6">
            <a:extLst>
              <a:ext uri="{FF2B5EF4-FFF2-40B4-BE49-F238E27FC236}">
                <a16:creationId xmlns:a16="http://schemas.microsoft.com/office/drawing/2014/main" id="{FB6D2FB3-B3E6-D7AA-1CFC-7DBF27BCBCB7}"/>
              </a:ext>
            </a:extLst>
          </p:cNvPr>
          <p:cNvSpPr/>
          <p:nvPr/>
        </p:nvSpPr>
        <p:spPr>
          <a:xfrm>
            <a:off x="4201955" y="2904053"/>
            <a:ext cx="1537915" cy="1364861"/>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The Earth works in cycles</a:t>
            </a:r>
          </a:p>
        </p:txBody>
      </p:sp>
      <p:sp>
        <p:nvSpPr>
          <p:cNvPr id="8" name="Oval 7">
            <a:extLst>
              <a:ext uri="{FF2B5EF4-FFF2-40B4-BE49-F238E27FC236}">
                <a16:creationId xmlns:a16="http://schemas.microsoft.com/office/drawing/2014/main" id="{76D7D4A1-617F-A6DD-41A3-EE79C0924E87}"/>
              </a:ext>
            </a:extLst>
          </p:cNvPr>
          <p:cNvSpPr/>
          <p:nvPr/>
        </p:nvSpPr>
        <p:spPr>
          <a:xfrm>
            <a:off x="767803" y="4793887"/>
            <a:ext cx="1661588" cy="145080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Distance/time scales in Earth and space systems vary greatly</a:t>
            </a:r>
          </a:p>
        </p:txBody>
      </p:sp>
      <p:sp>
        <p:nvSpPr>
          <p:cNvPr id="9" name="Oval 8">
            <a:extLst>
              <a:ext uri="{FF2B5EF4-FFF2-40B4-BE49-F238E27FC236}">
                <a16:creationId xmlns:a16="http://schemas.microsoft.com/office/drawing/2014/main" id="{86D1C586-974A-7472-07E4-2571D64AFD9D}"/>
              </a:ext>
            </a:extLst>
          </p:cNvPr>
          <p:cNvSpPr/>
          <p:nvPr/>
        </p:nvSpPr>
        <p:spPr>
          <a:xfrm>
            <a:off x="2425204" y="3244990"/>
            <a:ext cx="1734454" cy="145080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a:solidFill>
                  <a:schemeClr val="tx1"/>
                </a:solidFill>
                <a:latin typeface="Sassoon Infant Rg" panose="02000503030000020003" pitchFamily="2" charset="0"/>
                <a:ea typeface="Sassoon Infant Rg" panose="02000503030000020003" pitchFamily="2" charset="0"/>
              </a:rPr>
              <a:t>All parts of the Earth system are constantly changing</a:t>
            </a:r>
          </a:p>
        </p:txBody>
      </p:sp>
    </p:spTree>
    <p:extLst>
      <p:ext uri="{BB962C8B-B14F-4D97-AF65-F5344CB8AC3E}">
        <p14:creationId xmlns:p14="http://schemas.microsoft.com/office/powerpoint/2010/main" val="2665830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7"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900" decel="100000" fill="hold"/>
                                        <p:tgtEl>
                                          <p:spTgt spid="9"/>
                                        </p:tgtEl>
                                        <p:attrNameLst>
                                          <p:attrName>ppt_y</p:attrName>
                                        </p:attrNameLst>
                                      </p:cBhvr>
                                      <p:tavLst>
                                        <p:tav tm="0">
                                          <p:val>
                                            <p:strVal val="#ppt_y+1"/>
                                          </p:val>
                                        </p:tav>
                                        <p:tav tm="100000">
                                          <p:val>
                                            <p:strVal val="#ppt_y-.03"/>
                                          </p:val>
                                        </p:tav>
                                      </p:tavLst>
                                    </p:anim>
                                    <p:anim calcmode="lin" valueType="num">
                                      <p:cBhvr>
                                        <p:cTn id="14" dur="100" accel="100000" fill="hold">
                                          <p:stCondLst>
                                            <p:cond delay="900"/>
                                          </p:stCondLst>
                                        </p:cTn>
                                        <p:tgtEl>
                                          <p:spTgt spid="9"/>
                                        </p:tgtEl>
                                        <p:attrNameLst>
                                          <p:attrName>ppt_y</p:attrName>
                                        </p:attrNameLst>
                                      </p:cBhvr>
                                      <p:tavLst>
                                        <p:tav tm="0">
                                          <p:val>
                                            <p:strVal val="#ppt_y-.03"/>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37"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1000"/>
                                        <p:tgtEl>
                                          <p:spTgt spid="5"/>
                                        </p:tgtEl>
                                      </p:cBhvr>
                                    </p:animEffect>
                                    <p:anim calcmode="lin" valueType="num">
                                      <p:cBhvr>
                                        <p:cTn id="20" dur="1000" fill="hold"/>
                                        <p:tgtEl>
                                          <p:spTgt spid="5"/>
                                        </p:tgtEl>
                                        <p:attrNameLst>
                                          <p:attrName>ppt_x</p:attrName>
                                        </p:attrNameLst>
                                      </p:cBhvr>
                                      <p:tavLst>
                                        <p:tav tm="0">
                                          <p:val>
                                            <p:strVal val="#ppt_x"/>
                                          </p:val>
                                        </p:tav>
                                        <p:tav tm="100000">
                                          <p:val>
                                            <p:strVal val="#ppt_x"/>
                                          </p:val>
                                        </p:tav>
                                      </p:tavLst>
                                    </p:anim>
                                    <p:anim calcmode="lin" valueType="num">
                                      <p:cBhvr>
                                        <p:cTn id="21" dur="900" decel="100000" fill="hold"/>
                                        <p:tgtEl>
                                          <p:spTgt spid="5"/>
                                        </p:tgtEl>
                                        <p:attrNameLst>
                                          <p:attrName>ppt_y</p:attrName>
                                        </p:attrNameLst>
                                      </p:cBhvr>
                                      <p:tavLst>
                                        <p:tav tm="0">
                                          <p:val>
                                            <p:strVal val="#ppt_y+1"/>
                                          </p:val>
                                        </p:tav>
                                        <p:tav tm="100000">
                                          <p:val>
                                            <p:strVal val="#ppt_y-.03"/>
                                          </p:val>
                                        </p:tav>
                                      </p:tavLst>
                                    </p:anim>
                                    <p:anim calcmode="lin" valueType="num">
                                      <p:cBhvr>
                                        <p:cTn id="22" dur="100" accel="100000" fill="hold">
                                          <p:stCondLst>
                                            <p:cond delay="900"/>
                                          </p:stCondLst>
                                        </p:cTn>
                                        <p:tgtEl>
                                          <p:spTgt spid="5"/>
                                        </p:tgtEl>
                                        <p:attrNameLst>
                                          <p:attrName>ppt_y</p:attrName>
                                        </p:attrNameLst>
                                      </p:cBhvr>
                                      <p:tavLst>
                                        <p:tav tm="0">
                                          <p:val>
                                            <p:strVal val="#ppt_y-.03"/>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37"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1000"/>
                                        <p:tgtEl>
                                          <p:spTgt spid="4"/>
                                        </p:tgtEl>
                                      </p:cBhvr>
                                    </p:animEffect>
                                    <p:anim calcmode="lin" valueType="num">
                                      <p:cBhvr>
                                        <p:cTn id="28" dur="1000" fill="hold"/>
                                        <p:tgtEl>
                                          <p:spTgt spid="4"/>
                                        </p:tgtEl>
                                        <p:attrNameLst>
                                          <p:attrName>ppt_x</p:attrName>
                                        </p:attrNameLst>
                                      </p:cBhvr>
                                      <p:tavLst>
                                        <p:tav tm="0">
                                          <p:val>
                                            <p:strVal val="#ppt_x"/>
                                          </p:val>
                                        </p:tav>
                                        <p:tav tm="100000">
                                          <p:val>
                                            <p:strVal val="#ppt_x"/>
                                          </p:val>
                                        </p:tav>
                                      </p:tavLst>
                                    </p:anim>
                                    <p:anim calcmode="lin" valueType="num">
                                      <p:cBhvr>
                                        <p:cTn id="29" dur="900" decel="100000" fill="hold"/>
                                        <p:tgtEl>
                                          <p:spTgt spid="4"/>
                                        </p:tgtEl>
                                        <p:attrNameLst>
                                          <p:attrName>ppt_y</p:attrName>
                                        </p:attrNameLst>
                                      </p:cBhvr>
                                      <p:tavLst>
                                        <p:tav tm="0">
                                          <p:val>
                                            <p:strVal val="#ppt_y+1"/>
                                          </p:val>
                                        </p:tav>
                                        <p:tav tm="100000">
                                          <p:val>
                                            <p:strVal val="#ppt_y-.03"/>
                                          </p:val>
                                        </p:tav>
                                      </p:tavLst>
                                    </p:anim>
                                    <p:anim calcmode="lin" valueType="num">
                                      <p:cBhvr>
                                        <p:cTn id="30" dur="100" accel="100000" fill="hold">
                                          <p:stCondLst>
                                            <p:cond delay="900"/>
                                          </p:stCondLst>
                                        </p:cTn>
                                        <p:tgtEl>
                                          <p:spTgt spid="4"/>
                                        </p:tgtEl>
                                        <p:attrNameLst>
                                          <p:attrName>ppt_y</p:attrName>
                                        </p:attrNameLst>
                                      </p:cBhvr>
                                      <p:tavLst>
                                        <p:tav tm="0">
                                          <p:val>
                                            <p:strVal val="#ppt_y-.03"/>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7"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1000"/>
                                        <p:tgtEl>
                                          <p:spTgt spid="8"/>
                                        </p:tgtEl>
                                      </p:cBhvr>
                                    </p:animEffect>
                                    <p:anim calcmode="lin" valueType="num">
                                      <p:cBhvr>
                                        <p:cTn id="36" dur="1000" fill="hold"/>
                                        <p:tgtEl>
                                          <p:spTgt spid="8"/>
                                        </p:tgtEl>
                                        <p:attrNameLst>
                                          <p:attrName>ppt_x</p:attrName>
                                        </p:attrNameLst>
                                      </p:cBhvr>
                                      <p:tavLst>
                                        <p:tav tm="0">
                                          <p:val>
                                            <p:strVal val="#ppt_x"/>
                                          </p:val>
                                        </p:tav>
                                        <p:tav tm="100000">
                                          <p:val>
                                            <p:strVal val="#ppt_x"/>
                                          </p:val>
                                        </p:tav>
                                      </p:tavLst>
                                    </p:anim>
                                    <p:anim calcmode="lin" valueType="num">
                                      <p:cBhvr>
                                        <p:cTn id="37" dur="900" decel="100000" fill="hold"/>
                                        <p:tgtEl>
                                          <p:spTgt spid="8"/>
                                        </p:tgtEl>
                                        <p:attrNameLst>
                                          <p:attrName>ppt_y</p:attrName>
                                        </p:attrNameLst>
                                      </p:cBhvr>
                                      <p:tavLst>
                                        <p:tav tm="0">
                                          <p:val>
                                            <p:strVal val="#ppt_y+1"/>
                                          </p:val>
                                        </p:tav>
                                        <p:tav tm="100000">
                                          <p:val>
                                            <p:strVal val="#ppt_y-.03"/>
                                          </p:val>
                                        </p:tav>
                                      </p:tavLst>
                                    </p:anim>
                                    <p:anim calcmode="lin" valueType="num">
                                      <p:cBhvr>
                                        <p:cTn id="38" dur="100" accel="100000" fill="hold">
                                          <p:stCondLst>
                                            <p:cond delay="900"/>
                                          </p:stCondLst>
                                        </p:cTn>
                                        <p:tgtEl>
                                          <p:spTgt spid="8"/>
                                        </p:tgtEl>
                                        <p:attrNameLst>
                                          <p:attrName>ppt_y</p:attrName>
                                        </p:attrNameLst>
                                      </p:cBhvr>
                                      <p:tavLst>
                                        <p:tav tm="0">
                                          <p:val>
                                            <p:strVal val="#ppt_y-.03"/>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37" presetClass="entr" presetSubtype="0" fill="hold" grpId="0"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1000"/>
                                        <p:tgtEl>
                                          <p:spTgt spid="7"/>
                                        </p:tgtEl>
                                      </p:cBhvr>
                                    </p:animEffect>
                                    <p:anim calcmode="lin" valueType="num">
                                      <p:cBhvr>
                                        <p:cTn id="44" dur="1000" fill="hold"/>
                                        <p:tgtEl>
                                          <p:spTgt spid="7"/>
                                        </p:tgtEl>
                                        <p:attrNameLst>
                                          <p:attrName>ppt_x</p:attrName>
                                        </p:attrNameLst>
                                      </p:cBhvr>
                                      <p:tavLst>
                                        <p:tav tm="0">
                                          <p:val>
                                            <p:strVal val="#ppt_x"/>
                                          </p:val>
                                        </p:tav>
                                        <p:tav tm="100000">
                                          <p:val>
                                            <p:strVal val="#ppt_x"/>
                                          </p:val>
                                        </p:tav>
                                      </p:tavLst>
                                    </p:anim>
                                    <p:anim calcmode="lin" valueType="num">
                                      <p:cBhvr>
                                        <p:cTn id="45" dur="900" decel="100000" fill="hold"/>
                                        <p:tgtEl>
                                          <p:spTgt spid="7"/>
                                        </p:tgtEl>
                                        <p:attrNameLst>
                                          <p:attrName>ppt_y</p:attrName>
                                        </p:attrNameLst>
                                      </p:cBhvr>
                                      <p:tavLst>
                                        <p:tav tm="0">
                                          <p:val>
                                            <p:strVal val="#ppt_y+1"/>
                                          </p:val>
                                        </p:tav>
                                        <p:tav tm="100000">
                                          <p:val>
                                            <p:strVal val="#ppt_y-.03"/>
                                          </p:val>
                                        </p:tav>
                                      </p:tavLst>
                                    </p:anim>
                                    <p:anim calcmode="lin" valueType="num">
                                      <p:cBhvr>
                                        <p:cTn id="46" dur="100" accel="100000" fill="hold">
                                          <p:stCondLst>
                                            <p:cond delay="900"/>
                                          </p:stCondLst>
                                        </p:cTn>
                                        <p:tgtEl>
                                          <p:spTgt spid="7"/>
                                        </p:tgtEl>
                                        <p:attrNameLst>
                                          <p:attrName>ppt_y</p:attrName>
                                        </p:attrNameLst>
                                      </p:cBhvr>
                                      <p:tavLst>
                                        <p:tav tm="0">
                                          <p:val>
                                            <p:strVal val="#ppt_y-.03"/>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0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1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6"/>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3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23"/>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42"/>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8"/>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animBg="1"/>
      <p:bldP spid="7" grpId="0" animBg="1"/>
      <p:bldP spid="8"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D108515-1413-253F-B5E8-05FD49D7A369}"/>
            </a:ext>
          </a:extLst>
        </p:cNvPr>
        <p:cNvGrpSpPr/>
        <p:nvPr/>
      </p:nvGrpSpPr>
      <p:grpSpPr>
        <a:xfrm>
          <a:off x="0" y="0"/>
          <a:ext cx="0" cy="0"/>
          <a:chOff x="0" y="0"/>
          <a:chExt cx="0" cy="0"/>
        </a:xfrm>
      </p:grpSpPr>
      <p:pic>
        <p:nvPicPr>
          <p:cNvPr id="8" name="Picture 7" descr="A close-up of a card&#10;&#10;Description automatically generated">
            <a:extLst>
              <a:ext uri="{FF2B5EF4-FFF2-40B4-BE49-F238E27FC236}">
                <a16:creationId xmlns:a16="http://schemas.microsoft.com/office/drawing/2014/main" id="{452274F7-28DD-B361-F2CF-CB408CB08E08}"/>
              </a:ext>
            </a:extLst>
          </p:cNvPr>
          <p:cNvPicPr>
            <a:picLocks noChangeAspect="1"/>
          </p:cNvPicPr>
          <p:nvPr/>
        </p:nvPicPr>
        <p:blipFill>
          <a:blip r:embed="rId3"/>
          <a:stretch>
            <a:fillRect/>
          </a:stretch>
        </p:blipFill>
        <p:spPr>
          <a:xfrm>
            <a:off x="2650426" y="3010195"/>
            <a:ext cx="1359177" cy="670279"/>
          </a:xfrm>
          <a:prstGeom prst="rect">
            <a:avLst/>
          </a:prstGeom>
        </p:spPr>
      </p:pic>
      <p:pic>
        <p:nvPicPr>
          <p:cNvPr id="9" name="Picture 8" descr="A close-up of a pink sign&#10;&#10;Description automatically generated">
            <a:extLst>
              <a:ext uri="{FF2B5EF4-FFF2-40B4-BE49-F238E27FC236}">
                <a16:creationId xmlns:a16="http://schemas.microsoft.com/office/drawing/2014/main" id="{585EC205-47F4-29E2-03F6-E58FDB4AFDE3}"/>
              </a:ext>
            </a:extLst>
          </p:cNvPr>
          <p:cNvPicPr>
            <a:picLocks noChangeAspect="1"/>
          </p:cNvPicPr>
          <p:nvPr/>
        </p:nvPicPr>
        <p:blipFill>
          <a:blip r:embed="rId4"/>
          <a:stretch>
            <a:fillRect/>
          </a:stretch>
        </p:blipFill>
        <p:spPr>
          <a:xfrm>
            <a:off x="5788592" y="3010195"/>
            <a:ext cx="1501922" cy="645454"/>
          </a:xfrm>
          <a:prstGeom prst="rect">
            <a:avLst/>
          </a:prstGeom>
        </p:spPr>
      </p:pic>
      <p:pic>
        <p:nvPicPr>
          <p:cNvPr id="10" name="Picture 9" descr="A pink background with a cartoon character&#10;&#10;Description automatically generated">
            <a:extLst>
              <a:ext uri="{FF2B5EF4-FFF2-40B4-BE49-F238E27FC236}">
                <a16:creationId xmlns:a16="http://schemas.microsoft.com/office/drawing/2014/main" id="{FC2B26D7-F3C2-9A7C-53F0-83C71614769D}"/>
              </a:ext>
            </a:extLst>
          </p:cNvPr>
          <p:cNvPicPr>
            <a:picLocks noChangeAspect="1"/>
          </p:cNvPicPr>
          <p:nvPr/>
        </p:nvPicPr>
        <p:blipFill>
          <a:blip r:embed="rId5"/>
          <a:stretch>
            <a:fillRect/>
          </a:stretch>
        </p:blipFill>
        <p:spPr>
          <a:xfrm>
            <a:off x="1115089" y="3010195"/>
            <a:ext cx="1477096" cy="608216"/>
          </a:xfrm>
          <a:prstGeom prst="rect">
            <a:avLst/>
          </a:prstGeom>
        </p:spPr>
      </p:pic>
      <p:pic>
        <p:nvPicPr>
          <p:cNvPr id="11" name="Picture 10" descr="A green background with black text&#10;&#10;Description automatically generated">
            <a:extLst>
              <a:ext uri="{FF2B5EF4-FFF2-40B4-BE49-F238E27FC236}">
                <a16:creationId xmlns:a16="http://schemas.microsoft.com/office/drawing/2014/main" id="{CF928063-52C7-0629-5AFB-96B6B7670455}"/>
              </a:ext>
            </a:extLst>
          </p:cNvPr>
          <p:cNvPicPr>
            <a:picLocks noChangeAspect="1"/>
          </p:cNvPicPr>
          <p:nvPr/>
        </p:nvPicPr>
        <p:blipFill>
          <a:blip r:embed="rId6"/>
          <a:stretch>
            <a:fillRect/>
          </a:stretch>
        </p:blipFill>
        <p:spPr>
          <a:xfrm>
            <a:off x="4229356" y="3010195"/>
            <a:ext cx="1477095" cy="614422"/>
          </a:xfrm>
          <a:prstGeom prst="rect">
            <a:avLst/>
          </a:prstGeom>
        </p:spPr>
      </p:pic>
      <p:pic>
        <p:nvPicPr>
          <p:cNvPr id="12" name="Picture 11">
            <a:extLst>
              <a:ext uri="{FF2B5EF4-FFF2-40B4-BE49-F238E27FC236}">
                <a16:creationId xmlns:a16="http://schemas.microsoft.com/office/drawing/2014/main" id="{29AF5749-7124-4C74-6FA5-E9C2181E2E33}"/>
              </a:ext>
            </a:extLst>
          </p:cNvPr>
          <p:cNvPicPr>
            <a:picLocks noChangeAspect="1"/>
          </p:cNvPicPr>
          <p:nvPr/>
        </p:nvPicPr>
        <p:blipFill>
          <a:blip r:embed="rId7"/>
          <a:stretch>
            <a:fillRect/>
          </a:stretch>
        </p:blipFill>
        <p:spPr>
          <a:xfrm>
            <a:off x="9001673" y="3226230"/>
            <a:ext cx="956012" cy="1391913"/>
          </a:xfrm>
          <a:prstGeom prst="rect">
            <a:avLst/>
          </a:prstGeom>
        </p:spPr>
      </p:pic>
      <p:pic>
        <p:nvPicPr>
          <p:cNvPr id="13" name="Picture 12">
            <a:extLst>
              <a:ext uri="{FF2B5EF4-FFF2-40B4-BE49-F238E27FC236}">
                <a16:creationId xmlns:a16="http://schemas.microsoft.com/office/drawing/2014/main" id="{10E4FEDF-D67F-5089-4D18-96248259D728}"/>
              </a:ext>
            </a:extLst>
          </p:cNvPr>
          <p:cNvPicPr>
            <a:picLocks noChangeAspect="1"/>
          </p:cNvPicPr>
          <p:nvPr/>
        </p:nvPicPr>
        <p:blipFill rotWithShape="1">
          <a:blip r:embed="rId8">
            <a:extLst>
              <a:ext uri="{BEBA8EAE-BF5A-486C-A8C5-ECC9F3942E4B}">
                <a14:imgProps xmlns:a14="http://schemas.microsoft.com/office/drawing/2010/main">
                  <a14:imgLayer r:embed="rId9">
                    <a14:imgEffect>
                      <a14:backgroundRemoval t="61376" b="80317" l="20847" r="34709">
                        <a14:foregroundMark x1="24656" y1="80000" x2="24656" y2="80000"/>
                        <a14:foregroundMark x1="29312" y1="80317" x2="29312" y2="80317"/>
                      </a14:backgroundRemoval>
                    </a14:imgEffect>
                  </a14:imgLayer>
                </a14:imgProps>
              </a:ext>
            </a:extLst>
          </a:blip>
          <a:srcRect l="19127" t="59276" r="63462" b="18202"/>
          <a:stretch/>
        </p:blipFill>
        <p:spPr>
          <a:xfrm>
            <a:off x="8813461" y="1506111"/>
            <a:ext cx="1332436" cy="1634235"/>
          </a:xfrm>
          <a:prstGeom prst="rect">
            <a:avLst/>
          </a:prstGeom>
        </p:spPr>
      </p:pic>
      <p:pic>
        <p:nvPicPr>
          <p:cNvPr id="14" name="Picture 13">
            <a:extLst>
              <a:ext uri="{FF2B5EF4-FFF2-40B4-BE49-F238E27FC236}">
                <a16:creationId xmlns:a16="http://schemas.microsoft.com/office/drawing/2014/main" id="{B9765410-BBA9-25AE-33F2-DA56BD5984C8}"/>
              </a:ext>
            </a:extLst>
          </p:cNvPr>
          <p:cNvPicPr>
            <a:picLocks noChangeAspect="1"/>
          </p:cNvPicPr>
          <p:nvPr/>
        </p:nvPicPr>
        <p:blipFill rotWithShape="1">
          <a:blip r:embed="rId10">
            <a:extLst>
              <a:ext uri="{BEBA8EAE-BF5A-486C-A8C5-ECC9F3942E4B}">
                <a14:imgProps xmlns:a14="http://schemas.microsoft.com/office/drawing/2010/main">
                  <a14:imgLayer r:embed="rId9">
                    <a14:imgEffect>
                      <a14:backgroundRemoval t="61793" b="81925" l="64809" r="78176">
                        <a14:foregroundMark x1="75238" y1="61799" x2="75238" y2="61799"/>
                      </a14:backgroundRemoval>
                    </a14:imgEffect>
                  </a14:imgLayer>
                </a14:imgProps>
              </a:ext>
            </a:extLst>
          </a:blip>
          <a:srcRect l="63138" t="59276" r="20153" b="15559"/>
          <a:stretch/>
        </p:blipFill>
        <p:spPr>
          <a:xfrm>
            <a:off x="10153456" y="1129412"/>
            <a:ext cx="1186938" cy="1694889"/>
          </a:xfrm>
          <a:prstGeom prst="rect">
            <a:avLst/>
          </a:prstGeom>
        </p:spPr>
      </p:pic>
      <p:pic>
        <p:nvPicPr>
          <p:cNvPr id="15" name="Picture 14">
            <a:extLst>
              <a:ext uri="{FF2B5EF4-FFF2-40B4-BE49-F238E27FC236}">
                <a16:creationId xmlns:a16="http://schemas.microsoft.com/office/drawing/2014/main" id="{26FBF090-64FE-200B-F6F4-E6D49B73B1CF}"/>
              </a:ext>
            </a:extLst>
          </p:cNvPr>
          <p:cNvPicPr>
            <a:picLocks noChangeAspect="1"/>
          </p:cNvPicPr>
          <p:nvPr/>
        </p:nvPicPr>
        <p:blipFill rotWithShape="1">
          <a:blip r:embed="rId11">
            <a:extLst>
              <a:ext uri="{BEBA8EAE-BF5A-486C-A8C5-ECC9F3942E4B}">
                <a14:imgProps xmlns:a14="http://schemas.microsoft.com/office/drawing/2010/main">
                  <a14:imgLayer r:embed="rId9">
                    <a14:imgEffect>
                      <a14:backgroundRemoval t="61793" b="81925" l="43765" r="56864"/>
                    </a14:imgEffect>
                  </a14:imgLayer>
                </a14:imgProps>
              </a:ext>
            </a:extLst>
          </a:blip>
          <a:srcRect l="42128" t="59276" r="41499" b="15559"/>
          <a:stretch/>
        </p:blipFill>
        <p:spPr>
          <a:xfrm>
            <a:off x="10153456" y="2518888"/>
            <a:ext cx="1249037" cy="1820224"/>
          </a:xfrm>
          <a:prstGeom prst="rect">
            <a:avLst/>
          </a:prstGeom>
        </p:spPr>
      </p:pic>
      <p:grpSp>
        <p:nvGrpSpPr>
          <p:cNvPr id="16" name="Group 15">
            <a:extLst>
              <a:ext uri="{FF2B5EF4-FFF2-40B4-BE49-F238E27FC236}">
                <a16:creationId xmlns:a16="http://schemas.microsoft.com/office/drawing/2014/main" id="{E5B7E119-3988-369A-EA6B-1A7760E9FF9B}"/>
              </a:ext>
            </a:extLst>
          </p:cNvPr>
          <p:cNvGrpSpPr/>
          <p:nvPr/>
        </p:nvGrpSpPr>
        <p:grpSpPr>
          <a:xfrm>
            <a:off x="360997" y="1384123"/>
            <a:ext cx="1644108" cy="1129629"/>
            <a:chOff x="241300" y="109196"/>
            <a:chExt cx="1477095" cy="983005"/>
          </a:xfrm>
        </p:grpSpPr>
        <p:sp>
          <p:nvSpPr>
            <p:cNvPr id="17" name="Rectangle: Rounded Corners 16">
              <a:extLst>
                <a:ext uri="{FF2B5EF4-FFF2-40B4-BE49-F238E27FC236}">
                  <a16:creationId xmlns:a16="http://schemas.microsoft.com/office/drawing/2014/main" id="{A4469208-AC1C-6A9E-3BA9-A03D3C7D10EA}"/>
                </a:ext>
              </a:extLst>
            </p:cNvPr>
            <p:cNvSpPr/>
            <p:nvPr/>
          </p:nvSpPr>
          <p:spPr>
            <a:xfrm>
              <a:off x="241300" y="109196"/>
              <a:ext cx="1477095" cy="983005"/>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8" name="Picture 4" descr="edding 361 whiteboard marker - black ...">
              <a:extLst>
                <a:ext uri="{FF2B5EF4-FFF2-40B4-BE49-F238E27FC236}">
                  <a16:creationId xmlns:a16="http://schemas.microsoft.com/office/drawing/2014/main" id="{B167E6F5-0231-43B0-F84B-30E145489F94}"/>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25605" y="416908"/>
              <a:ext cx="447390" cy="48260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 name="Group 3">
            <a:extLst>
              <a:ext uri="{FF2B5EF4-FFF2-40B4-BE49-F238E27FC236}">
                <a16:creationId xmlns:a16="http://schemas.microsoft.com/office/drawing/2014/main" id="{BC84F851-7609-6274-5101-016B73200E64}"/>
              </a:ext>
            </a:extLst>
          </p:cNvPr>
          <p:cNvGrpSpPr/>
          <p:nvPr/>
        </p:nvGrpSpPr>
        <p:grpSpPr>
          <a:xfrm>
            <a:off x="1709015" y="161455"/>
            <a:ext cx="6668849" cy="930278"/>
            <a:chOff x="2565400" y="317061"/>
            <a:chExt cx="6668849" cy="930278"/>
          </a:xfrm>
          <a:solidFill>
            <a:schemeClr val="tx2">
              <a:lumMod val="10000"/>
              <a:lumOff val="90000"/>
            </a:schemeClr>
          </a:solidFill>
        </p:grpSpPr>
        <p:sp>
          <p:nvSpPr>
            <p:cNvPr id="5" name="Rectangle: Rounded Corners 4">
              <a:extLst>
                <a:ext uri="{FF2B5EF4-FFF2-40B4-BE49-F238E27FC236}">
                  <a16:creationId xmlns:a16="http://schemas.microsoft.com/office/drawing/2014/main" id="{E3C73014-0950-80A9-98A9-73C2E9F893EE}"/>
                </a:ext>
              </a:extLst>
            </p:cNvPr>
            <p:cNvSpPr/>
            <p:nvPr/>
          </p:nvSpPr>
          <p:spPr>
            <a:xfrm>
              <a:off x="2565401" y="317061"/>
              <a:ext cx="6668848" cy="930278"/>
            </a:xfrm>
            <a:prstGeom prst="roundRect">
              <a:avLst/>
            </a:prstGeom>
            <a:grp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a:solidFill>
                    <a:schemeClr val="accent1">
                      <a:lumMod val="50000"/>
                    </a:schemeClr>
                  </a:solidFill>
                  <a:effectLst>
                    <a:outerShdw blurRad="38100" dist="38100" dir="2700000" algn="tl">
                      <a:srgbClr val="000000">
                        <a:alpha val="43137"/>
                      </a:srgbClr>
                    </a:outerShdw>
                  </a:effectLst>
                </a:rPr>
                <a:t>Agree  or   Disagree</a:t>
              </a:r>
            </a:p>
          </p:txBody>
        </p:sp>
        <p:pic>
          <p:nvPicPr>
            <p:cNvPr id="7" name="Graphic 6" descr="Clenched Fist outline">
              <a:extLst>
                <a:ext uri="{FF2B5EF4-FFF2-40B4-BE49-F238E27FC236}">
                  <a16:creationId xmlns:a16="http://schemas.microsoft.com/office/drawing/2014/main" id="{DE79B5EA-454F-F006-ABD8-D3017BFB801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319848" y="332939"/>
              <a:ext cx="914400" cy="914400"/>
            </a:xfrm>
            <a:prstGeom prst="rect">
              <a:avLst/>
            </a:prstGeom>
          </p:spPr>
        </p:pic>
        <p:pic>
          <p:nvPicPr>
            <p:cNvPr id="19" name="Graphic 18" descr="Raised hand outline">
              <a:extLst>
                <a:ext uri="{FF2B5EF4-FFF2-40B4-BE49-F238E27FC236}">
                  <a16:creationId xmlns:a16="http://schemas.microsoft.com/office/drawing/2014/main" id="{01507E21-9AFC-6298-8ED3-0766F87EDF04}"/>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2565400" y="332939"/>
              <a:ext cx="914400" cy="914400"/>
            </a:xfrm>
            <a:prstGeom prst="rect">
              <a:avLst/>
            </a:prstGeom>
          </p:spPr>
        </p:pic>
      </p:grpSp>
      <p:sp>
        <p:nvSpPr>
          <p:cNvPr id="20" name="Rectangle: Rounded Corners 19">
            <a:extLst>
              <a:ext uri="{FF2B5EF4-FFF2-40B4-BE49-F238E27FC236}">
                <a16:creationId xmlns:a16="http://schemas.microsoft.com/office/drawing/2014/main" id="{B27F4416-85E5-35CE-CA4E-B5D5486C3838}"/>
              </a:ext>
            </a:extLst>
          </p:cNvPr>
          <p:cNvSpPr/>
          <p:nvPr/>
        </p:nvSpPr>
        <p:spPr>
          <a:xfrm>
            <a:off x="3153217" y="1588086"/>
            <a:ext cx="5224645" cy="930278"/>
          </a:xfrm>
          <a:prstGeom prst="roundRect">
            <a:avLst/>
          </a:prstGeom>
          <a:solidFill>
            <a:schemeClr val="tx2">
              <a:lumMod val="10000"/>
              <a:lumOff val="90000"/>
            </a:schemeClr>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a:solidFill>
                  <a:schemeClr val="accent1">
                    <a:lumMod val="50000"/>
                  </a:schemeClr>
                </a:solidFill>
                <a:effectLst>
                  <a:outerShdw blurRad="38100" dist="38100" dir="2700000" algn="tl">
                    <a:srgbClr val="000000">
                      <a:alpha val="43137"/>
                    </a:srgbClr>
                  </a:outerShdw>
                </a:effectLst>
              </a:rPr>
              <a:t>I know … I Remember…</a:t>
            </a:r>
          </a:p>
        </p:txBody>
      </p:sp>
      <p:pic>
        <p:nvPicPr>
          <p:cNvPr id="21" name="Picture 2" descr="Discuss Icons - Download Free Vector Icons | Noun Project">
            <a:extLst>
              <a:ext uri="{FF2B5EF4-FFF2-40B4-BE49-F238E27FC236}">
                <a16:creationId xmlns:a16="http://schemas.microsoft.com/office/drawing/2014/main" id="{7DB9F3DA-0945-45F7-017F-78224DCC523F}"/>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72477" y="3902133"/>
            <a:ext cx="1032909" cy="873957"/>
          </a:xfrm>
          <a:prstGeom prst="rect">
            <a:avLst/>
          </a:prstGeom>
          <a:noFill/>
          <a:extLst>
            <a:ext uri="{909E8E84-426E-40DD-AFC4-6F175D3DCCD1}">
              <a14:hiddenFill xmlns:a14="http://schemas.microsoft.com/office/drawing/2010/main">
                <a:solidFill>
                  <a:srgbClr val="FFFFFF"/>
                </a:solidFill>
              </a14:hiddenFill>
            </a:ext>
          </a:extLst>
        </p:spPr>
      </p:pic>
      <p:grpSp>
        <p:nvGrpSpPr>
          <p:cNvPr id="22" name="Group 21">
            <a:extLst>
              <a:ext uri="{FF2B5EF4-FFF2-40B4-BE49-F238E27FC236}">
                <a16:creationId xmlns:a16="http://schemas.microsoft.com/office/drawing/2014/main" id="{9AB03218-354A-7889-3858-672AFDB783F4}"/>
              </a:ext>
            </a:extLst>
          </p:cNvPr>
          <p:cNvGrpSpPr/>
          <p:nvPr/>
        </p:nvGrpSpPr>
        <p:grpSpPr>
          <a:xfrm>
            <a:off x="2042192" y="3957772"/>
            <a:ext cx="943858" cy="1020728"/>
            <a:chOff x="1798861" y="3129835"/>
            <a:chExt cx="914400" cy="971836"/>
          </a:xfrm>
        </p:grpSpPr>
        <p:pic>
          <p:nvPicPr>
            <p:cNvPr id="23" name="Graphic 22" descr="Users with solid fill">
              <a:extLst>
                <a:ext uri="{FF2B5EF4-FFF2-40B4-BE49-F238E27FC236}">
                  <a16:creationId xmlns:a16="http://schemas.microsoft.com/office/drawing/2014/main" id="{855F854D-8A33-326B-69A2-7E5B4F918A43}"/>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798861" y="3187271"/>
              <a:ext cx="914400" cy="914400"/>
            </a:xfrm>
            <a:prstGeom prst="rect">
              <a:avLst/>
            </a:prstGeom>
          </p:spPr>
        </p:pic>
        <p:sp>
          <p:nvSpPr>
            <p:cNvPr id="24" name="Speech Bubble: Oval 23">
              <a:extLst>
                <a:ext uri="{FF2B5EF4-FFF2-40B4-BE49-F238E27FC236}">
                  <a16:creationId xmlns:a16="http://schemas.microsoft.com/office/drawing/2014/main" id="{6F659110-FD3E-9D47-AA21-4C54040C4393}"/>
                </a:ext>
              </a:extLst>
            </p:cNvPr>
            <p:cNvSpPr/>
            <p:nvPr/>
          </p:nvSpPr>
          <p:spPr>
            <a:xfrm>
              <a:off x="2107686" y="3129835"/>
              <a:ext cx="381228" cy="204522"/>
            </a:xfrm>
            <a:prstGeom prst="wedgeEllipseCallou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25" name="TextBox 24">
            <a:extLst>
              <a:ext uri="{FF2B5EF4-FFF2-40B4-BE49-F238E27FC236}">
                <a16:creationId xmlns:a16="http://schemas.microsoft.com/office/drawing/2014/main" id="{610655B0-C7CA-DFD7-E699-F8A381F6C0E4}"/>
              </a:ext>
            </a:extLst>
          </p:cNvPr>
          <p:cNvSpPr txBox="1"/>
          <p:nvPr/>
        </p:nvSpPr>
        <p:spPr>
          <a:xfrm>
            <a:off x="3558857" y="4791669"/>
            <a:ext cx="7188068" cy="1569660"/>
          </a:xfrm>
          <a:prstGeom prst="rect">
            <a:avLst/>
          </a:prstGeom>
          <a:noFill/>
        </p:spPr>
        <p:txBody>
          <a:bodyPr wrap="square" rtlCol="0">
            <a:spAutoFit/>
          </a:bodyPr>
          <a:lstStyle/>
          <a:p>
            <a:r>
              <a:rPr lang="en-GB" sz="2400"/>
              <a:t>For planning and assessment support this is a fantastic free resource that covers the whole national curriculum: </a:t>
            </a:r>
            <a:r>
              <a:rPr lang="en-GB" sz="2400">
                <a:hlinkClick r:id="rId17"/>
              </a:rPr>
              <a:t>https://www.planassessment.com/</a:t>
            </a:r>
            <a:endParaRPr lang="en-GB" sz="2400"/>
          </a:p>
          <a:p>
            <a:endParaRPr lang="en-GB" sz="2400"/>
          </a:p>
        </p:txBody>
      </p:sp>
    </p:spTree>
    <p:extLst>
      <p:ext uri="{BB962C8B-B14F-4D97-AF65-F5344CB8AC3E}">
        <p14:creationId xmlns:p14="http://schemas.microsoft.com/office/powerpoint/2010/main" val="1072546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12B97B53-51A1-78D4-6A2A-1D3630234CE5}"/>
              </a:ext>
            </a:extLst>
          </p:cNvPr>
          <p:cNvSpPr txBox="1"/>
          <p:nvPr/>
        </p:nvSpPr>
        <p:spPr>
          <a:xfrm>
            <a:off x="4511555" y="6035509"/>
            <a:ext cx="2813471" cy="392415"/>
          </a:xfrm>
          <a:prstGeom prst="rect">
            <a:avLst/>
          </a:prstGeom>
          <a:noFill/>
        </p:spPr>
        <p:txBody>
          <a:bodyPr wrap="square" rtlCol="0">
            <a:spAutoFit/>
          </a:bodyPr>
          <a:lstStyle/>
          <a:p>
            <a:pPr algn="ctr"/>
            <a:r>
              <a:rPr lang="en-GB" sz="1950" b="1">
                <a:latin typeface="Sassoon Primary Rg" panose="02000606020000020004" pitchFamily="2" charset="0"/>
              </a:rPr>
              <a:t>Being a Scientist</a:t>
            </a:r>
          </a:p>
        </p:txBody>
      </p:sp>
      <p:pic>
        <p:nvPicPr>
          <p:cNvPr id="19" name="Picture 18">
            <a:extLst>
              <a:ext uri="{FF2B5EF4-FFF2-40B4-BE49-F238E27FC236}">
                <a16:creationId xmlns:a16="http://schemas.microsoft.com/office/drawing/2014/main" id="{450CA01A-EB08-079E-F8F3-26E0CB5E4ABC}"/>
              </a:ext>
            </a:extLst>
          </p:cNvPr>
          <p:cNvPicPr>
            <a:picLocks noChangeAspect="1"/>
          </p:cNvPicPr>
          <p:nvPr/>
        </p:nvPicPr>
        <p:blipFill>
          <a:blip r:embed="rId2" cstate="screen">
            <a:extLst>
              <a:ext uri="{28A0092B-C50C-407E-A947-70E740481C1C}">
                <a14:useLocalDpi xmlns:a14="http://schemas.microsoft.com/office/drawing/2010/main" val="0"/>
              </a:ext>
            </a:extLst>
          </a:blip>
          <a:stretch>
            <a:fillRect/>
          </a:stretch>
        </p:blipFill>
        <p:spPr>
          <a:xfrm>
            <a:off x="5543576" y="5124814"/>
            <a:ext cx="1104848" cy="856471"/>
          </a:xfrm>
          <a:prstGeom prst="rect">
            <a:avLst/>
          </a:prstGeom>
        </p:spPr>
      </p:pic>
      <p:pic>
        <p:nvPicPr>
          <p:cNvPr id="22" name="Picture 21">
            <a:extLst>
              <a:ext uri="{FF2B5EF4-FFF2-40B4-BE49-F238E27FC236}">
                <a16:creationId xmlns:a16="http://schemas.microsoft.com/office/drawing/2014/main" id="{9686C01B-0A28-0FF7-CEBA-4E3768F3A4C8}"/>
              </a:ext>
            </a:extLst>
          </p:cNvPr>
          <p:cNvPicPr>
            <a:picLocks noChangeAspect="1"/>
          </p:cNvPicPr>
          <p:nvPr/>
        </p:nvPicPr>
        <p:blipFill>
          <a:blip r:embed="rId3"/>
          <a:stretch>
            <a:fillRect/>
          </a:stretch>
        </p:blipFill>
        <p:spPr>
          <a:xfrm>
            <a:off x="3143250" y="2318114"/>
            <a:ext cx="5905500" cy="2806700"/>
          </a:xfrm>
          <a:prstGeom prst="rect">
            <a:avLst/>
          </a:prstGeom>
        </p:spPr>
      </p:pic>
      <p:sp>
        <p:nvSpPr>
          <p:cNvPr id="24" name="TextBox 23">
            <a:extLst>
              <a:ext uri="{FF2B5EF4-FFF2-40B4-BE49-F238E27FC236}">
                <a16:creationId xmlns:a16="http://schemas.microsoft.com/office/drawing/2014/main" id="{1F8699E6-F454-4386-41EB-BE5BC2A9A4F6}"/>
              </a:ext>
            </a:extLst>
          </p:cNvPr>
          <p:cNvSpPr txBox="1"/>
          <p:nvPr/>
        </p:nvSpPr>
        <p:spPr>
          <a:xfrm>
            <a:off x="2526753" y="757477"/>
            <a:ext cx="7138493" cy="1569660"/>
          </a:xfrm>
          <a:prstGeom prst="rect">
            <a:avLst/>
          </a:prstGeom>
          <a:noFill/>
        </p:spPr>
        <p:txBody>
          <a:bodyPr wrap="none" rtlCol="0">
            <a:spAutoFit/>
          </a:bodyPr>
          <a:lstStyle/>
          <a:p>
            <a:pPr algn="ctr"/>
            <a:r>
              <a:rPr lang="en-GB" sz="9600" b="1" dirty="0">
                <a:latin typeface="Twinkl Cursive Looped Light" panose="02000000000000000000" pitchFamily="2" charset="77"/>
              </a:rPr>
              <a:t>Monday a.m.</a:t>
            </a:r>
          </a:p>
        </p:txBody>
      </p:sp>
    </p:spTree>
    <p:extLst>
      <p:ext uri="{BB962C8B-B14F-4D97-AF65-F5344CB8AC3E}">
        <p14:creationId xmlns:p14="http://schemas.microsoft.com/office/powerpoint/2010/main" val="20750506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EF4F9B84-F99D-9CD4-B538-71267DB1768A}"/>
              </a:ext>
            </a:extLst>
          </p:cNvPr>
          <p:cNvGrpSpPr/>
          <p:nvPr/>
        </p:nvGrpSpPr>
        <p:grpSpPr>
          <a:xfrm>
            <a:off x="3970803" y="1250950"/>
            <a:ext cx="3535148" cy="4343400"/>
            <a:chOff x="3970803" y="1250950"/>
            <a:chExt cx="3535148" cy="4343400"/>
          </a:xfrm>
        </p:grpSpPr>
        <p:pic>
          <p:nvPicPr>
            <p:cNvPr id="46" name="Picture 45">
              <a:extLst>
                <a:ext uri="{FF2B5EF4-FFF2-40B4-BE49-F238E27FC236}">
                  <a16:creationId xmlns:a16="http://schemas.microsoft.com/office/drawing/2014/main" id="{16AB8982-CBEF-1464-712A-883C0E01CD11}"/>
                </a:ext>
              </a:extLst>
            </p:cNvPr>
            <p:cNvPicPr>
              <a:picLocks noChangeAspect="1"/>
            </p:cNvPicPr>
            <p:nvPr/>
          </p:nvPicPr>
          <p:blipFill>
            <a:blip r:embed="rId2"/>
            <a:stretch>
              <a:fillRect/>
            </a:stretch>
          </p:blipFill>
          <p:spPr>
            <a:xfrm>
              <a:off x="4343651" y="1250950"/>
              <a:ext cx="3162300" cy="4343400"/>
            </a:xfrm>
            <a:prstGeom prst="rect">
              <a:avLst/>
            </a:prstGeom>
          </p:spPr>
        </p:pic>
        <p:sp>
          <p:nvSpPr>
            <p:cNvPr id="33" name="Right Arrow 38">
              <a:extLst>
                <a:ext uri="{FF2B5EF4-FFF2-40B4-BE49-F238E27FC236}">
                  <a16:creationId xmlns:a16="http://schemas.microsoft.com/office/drawing/2014/main" id="{A8863B09-7EC6-7C75-980D-05D1ECF392BF}"/>
                </a:ext>
              </a:extLst>
            </p:cNvPr>
            <p:cNvSpPr/>
            <p:nvPr/>
          </p:nvSpPr>
          <p:spPr>
            <a:xfrm>
              <a:off x="3970803" y="4146519"/>
              <a:ext cx="440247" cy="312039"/>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63"/>
            </a:p>
          </p:txBody>
        </p:sp>
      </p:grpSp>
      <p:pic>
        <p:nvPicPr>
          <p:cNvPr id="45" name="Picture 44">
            <a:extLst>
              <a:ext uri="{FF2B5EF4-FFF2-40B4-BE49-F238E27FC236}">
                <a16:creationId xmlns:a16="http://schemas.microsoft.com/office/drawing/2014/main" id="{F4363936-6F58-3A55-31C5-12902A194B42}"/>
              </a:ext>
            </a:extLst>
          </p:cNvPr>
          <p:cNvPicPr>
            <a:picLocks noChangeAspect="1"/>
          </p:cNvPicPr>
          <p:nvPr/>
        </p:nvPicPr>
        <p:blipFill>
          <a:blip r:embed="rId3"/>
          <a:stretch>
            <a:fillRect/>
          </a:stretch>
        </p:blipFill>
        <p:spPr>
          <a:xfrm>
            <a:off x="988799" y="1250950"/>
            <a:ext cx="3073400" cy="4356100"/>
          </a:xfrm>
          <a:prstGeom prst="rect">
            <a:avLst/>
          </a:prstGeom>
        </p:spPr>
      </p:pic>
      <p:sp>
        <p:nvSpPr>
          <p:cNvPr id="39" name="Rounded Rectangle 25">
            <a:extLst>
              <a:ext uri="{FF2B5EF4-FFF2-40B4-BE49-F238E27FC236}">
                <a16:creationId xmlns:a16="http://schemas.microsoft.com/office/drawing/2014/main" id="{D59361B0-08A5-B87C-69AE-4376B96E68BE}"/>
              </a:ext>
            </a:extLst>
          </p:cNvPr>
          <p:cNvSpPr/>
          <p:nvPr/>
        </p:nvSpPr>
        <p:spPr>
          <a:xfrm>
            <a:off x="1152477" y="3077728"/>
            <a:ext cx="2746044" cy="2388602"/>
          </a:xfrm>
          <a:prstGeom prst="roundRect">
            <a:avLst/>
          </a:prstGeom>
          <a:solidFill>
            <a:schemeClr val="accent6">
              <a:lumMod val="20000"/>
              <a:lumOff val="8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b="1" dirty="0">
                <a:solidFill>
                  <a:schemeClr val="tx1"/>
                </a:solidFill>
                <a:latin typeface="Twinkl Cursive Looped" panose="02000000000000000000" pitchFamily="2" charset="77"/>
              </a:rPr>
              <a:t>We are learning to…</a:t>
            </a:r>
          </a:p>
          <a:p>
            <a:pPr algn="ctr"/>
            <a:endParaRPr lang="en-GB" sz="1600" dirty="0">
              <a:solidFill>
                <a:schemeClr val="tx1"/>
              </a:solidFill>
              <a:latin typeface="Twinkl Cursive Looped" panose="02000000000000000000" pitchFamily="2" charset="77"/>
            </a:endParaRPr>
          </a:p>
          <a:p>
            <a:pPr algn="ctr"/>
            <a:r>
              <a:rPr lang="en-GB" sz="1600" dirty="0">
                <a:solidFill>
                  <a:schemeClr val="tx1"/>
                </a:solidFill>
                <a:latin typeface="Twinkl Cursive Looped" panose="02000000000000000000" pitchFamily="2" charset="77"/>
              </a:rPr>
              <a:t>…carry out a fair test and record our observations accurately</a:t>
            </a:r>
          </a:p>
        </p:txBody>
      </p:sp>
      <p:sp>
        <p:nvSpPr>
          <p:cNvPr id="40" name="Rounded Rectangle 26">
            <a:extLst>
              <a:ext uri="{FF2B5EF4-FFF2-40B4-BE49-F238E27FC236}">
                <a16:creationId xmlns:a16="http://schemas.microsoft.com/office/drawing/2014/main" id="{36342A10-5B4D-BF45-EB80-746C624393EC}"/>
              </a:ext>
            </a:extLst>
          </p:cNvPr>
          <p:cNvSpPr/>
          <p:nvPr/>
        </p:nvSpPr>
        <p:spPr>
          <a:xfrm>
            <a:off x="4545604" y="3077728"/>
            <a:ext cx="2758393" cy="2388602"/>
          </a:xfrm>
          <a:prstGeom prst="roundRect">
            <a:avLst/>
          </a:prstGeom>
          <a:solidFill>
            <a:schemeClr val="accent6">
              <a:lumMod val="20000"/>
              <a:lumOff val="8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b="1" dirty="0">
                <a:solidFill>
                  <a:schemeClr val="tx1"/>
                </a:solidFill>
                <a:latin typeface="Twinkl Cursive Looped" panose="02000000000000000000" pitchFamily="2" charset="77"/>
              </a:rPr>
              <a:t>This is because…</a:t>
            </a:r>
          </a:p>
          <a:p>
            <a:pPr algn="ctr"/>
            <a:endParaRPr lang="en-GB" sz="1600" dirty="0">
              <a:solidFill>
                <a:schemeClr val="tx1"/>
              </a:solidFill>
              <a:latin typeface="Twinkl Cursive Looped" panose="02000000000000000000" pitchFamily="2" charset="77"/>
            </a:endParaRPr>
          </a:p>
          <a:p>
            <a:pPr algn="ctr"/>
            <a:r>
              <a:rPr lang="en-GB" sz="1600" dirty="0">
                <a:solidFill>
                  <a:schemeClr val="tx1"/>
                </a:solidFill>
                <a:latin typeface="Twinkl Cursive Looped" panose="02000000000000000000" pitchFamily="2" charset="77"/>
              </a:rPr>
              <a:t>…careful observation and accurate recording make our results trustworthy — we can only draw conclusions from results we can rely on</a:t>
            </a:r>
          </a:p>
        </p:txBody>
      </p:sp>
      <p:grpSp>
        <p:nvGrpSpPr>
          <p:cNvPr id="50" name="Group 49">
            <a:extLst>
              <a:ext uri="{FF2B5EF4-FFF2-40B4-BE49-F238E27FC236}">
                <a16:creationId xmlns:a16="http://schemas.microsoft.com/office/drawing/2014/main" id="{BBB41AE7-DB4E-48B9-C839-DC6113712F93}"/>
              </a:ext>
            </a:extLst>
          </p:cNvPr>
          <p:cNvGrpSpPr/>
          <p:nvPr/>
        </p:nvGrpSpPr>
        <p:grpSpPr>
          <a:xfrm>
            <a:off x="7438551" y="1123950"/>
            <a:ext cx="3555593" cy="4483100"/>
            <a:chOff x="7438551" y="1123950"/>
            <a:chExt cx="3555593" cy="4483100"/>
          </a:xfrm>
        </p:grpSpPr>
        <p:pic>
          <p:nvPicPr>
            <p:cNvPr id="47" name="Picture 46">
              <a:extLst>
                <a:ext uri="{FF2B5EF4-FFF2-40B4-BE49-F238E27FC236}">
                  <a16:creationId xmlns:a16="http://schemas.microsoft.com/office/drawing/2014/main" id="{F2D2ECDC-2109-77C3-2C86-233FBA9E55CD}"/>
                </a:ext>
              </a:extLst>
            </p:cNvPr>
            <p:cNvPicPr>
              <a:picLocks noChangeAspect="1"/>
            </p:cNvPicPr>
            <p:nvPr/>
          </p:nvPicPr>
          <p:blipFill>
            <a:blip r:embed="rId4"/>
            <a:stretch>
              <a:fillRect/>
            </a:stretch>
          </p:blipFill>
          <p:spPr>
            <a:xfrm>
              <a:off x="7755644" y="1123950"/>
              <a:ext cx="3238500" cy="4483100"/>
            </a:xfrm>
            <a:prstGeom prst="rect">
              <a:avLst/>
            </a:prstGeom>
          </p:spPr>
        </p:pic>
        <p:sp>
          <p:nvSpPr>
            <p:cNvPr id="28" name="Right Arrow 40">
              <a:extLst>
                <a:ext uri="{FF2B5EF4-FFF2-40B4-BE49-F238E27FC236}">
                  <a16:creationId xmlns:a16="http://schemas.microsoft.com/office/drawing/2014/main" id="{43CC753E-F8A4-F6B9-A9E0-1D33E4F7FA27}"/>
                </a:ext>
              </a:extLst>
            </p:cNvPr>
            <p:cNvSpPr/>
            <p:nvPr/>
          </p:nvSpPr>
          <p:spPr>
            <a:xfrm>
              <a:off x="7438551" y="4159219"/>
              <a:ext cx="418941" cy="312039"/>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63"/>
            </a:p>
          </p:txBody>
        </p:sp>
      </p:grpSp>
      <p:sp>
        <p:nvSpPr>
          <p:cNvPr id="41" name="Rounded Rectangle 27">
            <a:extLst>
              <a:ext uri="{FF2B5EF4-FFF2-40B4-BE49-F238E27FC236}">
                <a16:creationId xmlns:a16="http://schemas.microsoft.com/office/drawing/2014/main" id="{E00E5875-FBAC-402B-1DBB-D3766EC77A7A}"/>
              </a:ext>
            </a:extLst>
          </p:cNvPr>
          <p:cNvSpPr/>
          <p:nvPr/>
        </p:nvSpPr>
        <p:spPr>
          <a:xfrm>
            <a:off x="7929774" y="3077728"/>
            <a:ext cx="2890239" cy="2365355"/>
          </a:xfrm>
          <a:prstGeom prst="roundRect">
            <a:avLst/>
          </a:prstGeom>
          <a:solidFill>
            <a:schemeClr val="accent6">
              <a:lumMod val="20000"/>
              <a:lumOff val="8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GB" b="1" dirty="0">
                <a:solidFill>
                  <a:schemeClr val="tx1"/>
                </a:solidFill>
                <a:latin typeface="Twinkl Cursive Looped" panose="02000000000000000000" pitchFamily="2" charset="77"/>
              </a:rPr>
              <a:t>I will show this by…</a:t>
            </a:r>
          </a:p>
          <a:p>
            <a:pPr algn="ctr"/>
            <a:endParaRPr lang="en-GB" sz="1600" dirty="0">
              <a:solidFill>
                <a:schemeClr val="tx1"/>
              </a:solidFill>
              <a:latin typeface="Twinkl Cursive Looped" panose="02000000000000000000" pitchFamily="2" charset="77"/>
            </a:endParaRPr>
          </a:p>
          <a:p>
            <a:pPr algn="ctr"/>
            <a:r>
              <a:rPr lang="en-GB" sz="1600" dirty="0">
                <a:solidFill>
                  <a:schemeClr val="tx1"/>
                </a:solidFill>
                <a:latin typeface="Twinkl Cursive Looped" panose="02000000000000000000" pitchFamily="2" charset="77"/>
              </a:rPr>
              <a:t>…a completed results table with observations for at least three materials and a comment on whether the test was fair</a:t>
            </a:r>
          </a:p>
          <a:p>
            <a:pPr algn="ctr"/>
            <a:endParaRPr lang="en-GB" sz="1600" dirty="0">
              <a:solidFill>
                <a:schemeClr val="tx1"/>
              </a:solidFill>
              <a:latin typeface="Twinkl Cursive Looped" panose="02000000000000000000" pitchFamily="2" charset="77"/>
            </a:endParaRPr>
          </a:p>
        </p:txBody>
      </p:sp>
    </p:spTree>
    <p:extLst>
      <p:ext uri="{BB962C8B-B14F-4D97-AF65-F5344CB8AC3E}">
        <p14:creationId xmlns:p14="http://schemas.microsoft.com/office/powerpoint/2010/main" val="528684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AAE65-EB26-46CC-A54B-3BB84F0B855E}"/>
              </a:ext>
            </a:extLst>
          </p:cNvPr>
          <p:cNvSpPr>
            <a:spLocks noGrp="1"/>
          </p:cNvSpPr>
          <p:nvPr>
            <p:ph type="title"/>
          </p:nvPr>
        </p:nvSpPr>
        <p:spPr/>
        <p:txBody>
          <a:bodyPr/>
          <a:lstStyle/>
          <a:p>
            <a:r>
              <a:rPr lang="en-GB" b="1" dirty="0">
                <a:latin typeface="Twinkl Cursive Looped Light" panose="02000000000000000000" pitchFamily="2" charset="77"/>
              </a:rPr>
              <a:t>Carrying out the investigation</a:t>
            </a:r>
          </a:p>
        </p:txBody>
      </p:sp>
      <p:sp>
        <p:nvSpPr>
          <p:cNvPr id="3" name="Content Placeholder 2">
            <a:extLst>
              <a:ext uri="{FF2B5EF4-FFF2-40B4-BE49-F238E27FC236}">
                <a16:creationId xmlns:a16="http://schemas.microsoft.com/office/drawing/2014/main" id="{B73CD862-EAFA-A7FF-D9FC-31DFF57D8A6F}"/>
              </a:ext>
            </a:extLst>
          </p:cNvPr>
          <p:cNvSpPr>
            <a:spLocks noGrp="1"/>
          </p:cNvSpPr>
          <p:nvPr>
            <p:ph idx="1"/>
          </p:nvPr>
        </p:nvSpPr>
        <p:spPr/>
        <p:txBody>
          <a:bodyPr/>
          <a:lstStyle/>
          <a:p>
            <a:r>
              <a:rPr lang="en-GB" dirty="0"/>
              <a:t>Rotate around the stations. At each one: tap, listen, record.</a:t>
            </a:r>
          </a:p>
          <a:p>
            <a:endParaRPr lang="en-GB" dirty="0"/>
          </a:p>
          <a:p>
            <a:r>
              <a:rPr lang="en-GB" dirty="0"/>
              <a:t>Station 1: ear to desk  (solid)</a:t>
            </a:r>
          </a:p>
          <a:p>
            <a:r>
              <a:rPr lang="en-GB" dirty="0"/>
              <a:t>Station 2: ear to end of cardboard tube  (air column)</a:t>
            </a:r>
          </a:p>
          <a:p>
            <a:r>
              <a:rPr lang="en-GB" dirty="0"/>
              <a:t>Station 3: string telephone if available  (solid — string)</a:t>
            </a:r>
          </a:p>
          <a:p>
            <a:r>
              <a:rPr lang="en-GB" dirty="0"/>
              <a:t>Station 4: listen through open air  (gas)</a:t>
            </a:r>
          </a:p>
          <a:p>
            <a:endParaRPr lang="en-GB" dirty="0"/>
          </a:p>
          <a:p>
            <a:r>
              <a:rPr lang="en-GB" dirty="0"/>
              <a:t>After all stations, answer on your LP:</a:t>
            </a:r>
          </a:p>
          <a:p>
            <a:r>
              <a:rPr lang="en-GB" dirty="0"/>
              <a:t>    “Which material carried the sound best? How do you know?”</a:t>
            </a:r>
          </a:p>
        </p:txBody>
      </p:sp>
      <p:sp>
        <p:nvSpPr>
          <p:cNvPr id="5" name="Media Placeholder 4">
            <a:extLst>
              <a:ext uri="{FF2B5EF4-FFF2-40B4-BE49-F238E27FC236}">
                <a16:creationId xmlns:a16="http://schemas.microsoft.com/office/drawing/2014/main" id="{F1B47666-C7CC-9CFA-5830-8C3D217BCD16}"/>
              </a:ext>
            </a:extLst>
          </p:cNvPr>
          <p:cNvSpPr>
            <a:spLocks noGrp="1"/>
          </p:cNvSpPr>
          <p:nvPr>
            <p:ph type="media" sz="quarter" idx="13"/>
          </p:nvPr>
        </p:nvSpPr>
        <p:spPr/>
        <p:txBody>
          <a:bodyPr>
            <a:normAutofit fontScale="77500" lnSpcReduction="20000"/>
          </a:bodyPr>
          <a:lstStyle/>
          <a:p>
            <a:endParaRPr lang="en-GB">
              <a:latin typeface="Twinkl Cursive Looped Light" panose="02000000000000000000" pitchFamily="2" charset="77"/>
            </a:endParaRPr>
          </a:p>
        </p:txBody>
      </p:sp>
    </p:spTree>
    <p:extLst>
      <p:ext uri="{BB962C8B-B14F-4D97-AF65-F5344CB8AC3E}">
        <p14:creationId xmlns:p14="http://schemas.microsoft.com/office/powerpoint/2010/main" val="2715183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67717-D867-853E-7379-E49B704F2613}"/>
              </a:ext>
            </a:extLst>
          </p:cNvPr>
          <p:cNvSpPr>
            <a:spLocks noGrp="1"/>
          </p:cNvSpPr>
          <p:nvPr>
            <p:ph type="title"/>
          </p:nvPr>
        </p:nvSpPr>
        <p:spPr/>
        <p:txBody>
          <a:bodyPr/>
          <a:lstStyle/>
          <a:p>
            <a:r>
              <a:rPr lang="en-GB" b="1" dirty="0">
                <a:latin typeface="Twinkl Cursive Looped Light" panose="02000000000000000000" pitchFamily="2" charset="77"/>
              </a:rPr>
              <a:t>Watch: how we will carry out the test</a:t>
            </a:r>
          </a:p>
        </p:txBody>
      </p:sp>
      <p:sp>
        <p:nvSpPr>
          <p:cNvPr id="3" name="Content Placeholder 2">
            <a:extLst>
              <a:ext uri="{FF2B5EF4-FFF2-40B4-BE49-F238E27FC236}">
                <a16:creationId xmlns:a16="http://schemas.microsoft.com/office/drawing/2014/main" id="{24584CF3-0E1D-DFA8-1297-4C626E6A365E}"/>
              </a:ext>
            </a:extLst>
          </p:cNvPr>
          <p:cNvSpPr>
            <a:spLocks noGrp="1"/>
          </p:cNvSpPr>
          <p:nvPr>
            <p:ph idx="1"/>
          </p:nvPr>
        </p:nvSpPr>
        <p:spPr/>
        <p:txBody>
          <a:bodyPr/>
          <a:lstStyle/>
          <a:p>
            <a:r>
              <a:rPr lang="en-GB" sz="2200" dirty="0"/>
              <a:t>Same tap force every time. Same distance. Rate what you hear (1, 2 or 3).</a:t>
            </a:r>
          </a:p>
          <a:p>
            <a:endParaRPr lang="en-GB" sz="2200" dirty="0"/>
          </a:p>
          <a:p>
            <a:r>
              <a:rPr lang="en-GB" sz="2200" dirty="0"/>
              <a:t>What must stay the same at every station? That is the control variable.</a:t>
            </a:r>
          </a:p>
        </p:txBody>
      </p:sp>
      <p:sp>
        <p:nvSpPr>
          <p:cNvPr id="5" name="Media Placeholder 4">
            <a:extLst>
              <a:ext uri="{FF2B5EF4-FFF2-40B4-BE49-F238E27FC236}">
                <a16:creationId xmlns:a16="http://schemas.microsoft.com/office/drawing/2014/main" id="{D97CAB5A-0042-E6E7-40CA-3621DCEE6AEA}"/>
              </a:ext>
            </a:extLst>
          </p:cNvPr>
          <p:cNvSpPr>
            <a:spLocks noGrp="1"/>
          </p:cNvSpPr>
          <p:nvPr>
            <p:ph type="media" sz="quarter" idx="13"/>
          </p:nvPr>
        </p:nvSpPr>
        <p:spPr/>
        <p:txBody>
          <a:bodyPr>
            <a:normAutofit fontScale="77500" lnSpcReduction="20000"/>
          </a:bodyPr>
          <a:lstStyle/>
          <a:p>
            <a:endParaRPr lang="en-GB">
              <a:latin typeface="Twinkl Cursive Looped Light" panose="02000000000000000000" pitchFamily="2" charset="77"/>
            </a:endParaRPr>
          </a:p>
        </p:txBody>
      </p:sp>
      <p:pic>
        <p:nvPicPr>
          <p:cNvPr id="27" name="Picture 26" descr="diag_L6_stations_c.png"/>
          <p:cNvPicPr>
            <a:picLocks noChangeAspect="1"/>
          </p:cNvPicPr>
          <p:nvPr/>
        </p:nvPicPr>
        <p:blipFill>
          <a:blip r:embed="rId3"/>
          <a:stretch>
            <a:fillRect/>
          </a:stretch>
        </p:blipFill>
        <p:spPr>
          <a:xfrm>
            <a:off x="749881" y="4001294"/>
            <a:ext cx="9286485" cy="2132101"/>
          </a:xfrm>
          <a:prstGeom prst="rect">
            <a:avLst/>
          </a:prstGeom>
        </p:spPr>
      </p:pic>
    </p:spTree>
    <p:extLst>
      <p:ext uri="{BB962C8B-B14F-4D97-AF65-F5344CB8AC3E}">
        <p14:creationId xmlns:p14="http://schemas.microsoft.com/office/powerpoint/2010/main" val="3294442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lpv3out_L6-1.jpg"/>
          <p:cNvPicPr>
            <a:picLocks noChangeAspect="1"/>
          </p:cNvPicPr>
          <p:nvPr/>
        </p:nvPicPr>
        <p:blipFill>
          <a:blip r:embed="rId2"/>
          <a:stretch>
            <a:fillRect/>
          </a:stretch>
        </p:blipFill>
        <p:spPr>
          <a:xfrm>
            <a:off x="569691" y="672543"/>
            <a:ext cx="3936208" cy="5607071"/>
          </a:xfrm>
          <a:prstGeom prst="rect">
            <a:avLst/>
          </a:prstGeom>
        </p:spPr>
      </p:pic>
    </p:spTree>
    <p:extLst>
      <p:ext uri="{BB962C8B-B14F-4D97-AF65-F5344CB8AC3E}">
        <p14:creationId xmlns:p14="http://schemas.microsoft.com/office/powerpoint/2010/main" val="2596382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F8A0E-DEB1-3799-A377-CD3537DD5653}"/>
              </a:ext>
            </a:extLst>
          </p:cNvPr>
          <p:cNvSpPr>
            <a:spLocks noGrp="1"/>
          </p:cNvSpPr>
          <p:nvPr>
            <p:ph type="title"/>
          </p:nvPr>
        </p:nvSpPr>
        <p:spPr/>
        <p:txBody>
          <a:bodyPr/>
          <a:lstStyle/>
          <a:p>
            <a:r>
              <a:rPr lang="en-GB" dirty="0">
                <a:latin typeface="Twinkl Cursive Looped Light" panose="02000000000000000000" pitchFamily="2" charset="77"/>
              </a:rPr>
              <a:t>Class results — what did we find?</a:t>
            </a:r>
          </a:p>
        </p:txBody>
      </p:sp>
      <p:sp>
        <p:nvSpPr>
          <p:cNvPr id="3" name="Content Placeholder 2">
            <a:extLst>
              <a:ext uri="{FF2B5EF4-FFF2-40B4-BE49-F238E27FC236}">
                <a16:creationId xmlns:a16="http://schemas.microsoft.com/office/drawing/2014/main" id="{53C8ED23-D436-2180-EA99-2794D3AF97EC}"/>
              </a:ext>
            </a:extLst>
          </p:cNvPr>
          <p:cNvSpPr>
            <a:spLocks noGrp="1"/>
          </p:cNvSpPr>
          <p:nvPr>
            <p:ph idx="1"/>
          </p:nvPr>
        </p:nvSpPr>
        <p:spPr>
          <a:xfrm>
            <a:off x="838200" y="1825624"/>
            <a:ext cx="10515600" cy="4530725"/>
          </a:xfrm>
        </p:spPr>
        <p:txBody>
          <a:bodyPr/>
          <a:lstStyle/>
          <a:p>
            <a:r>
              <a:rPr lang="en-GB" dirty="0"/>
              <a:t>Share your results. Let’s collect the class data.</a:t>
            </a:r>
          </a:p>
          <a:p>
            <a:endParaRPr lang="en-GB" dirty="0"/>
          </a:p>
          <a:p>
            <a:r>
              <a:rPr lang="en-GB" dirty="0"/>
              <a:t>Did different groups get different results? Why might that happen?</a:t>
            </a:r>
          </a:p>
          <a:p>
            <a:endParaRPr lang="en-GB" dirty="0"/>
          </a:p>
          <a:p>
            <a:r>
              <a:rPr lang="en-GB" dirty="0"/>
              <a:t>What could we do to make our results more reliable?</a:t>
            </a:r>
          </a:p>
          <a:p>
            <a:endParaRPr lang="en-GB" dirty="0"/>
          </a:p>
          <a:p>
            <a:r>
              <a:rPr lang="en-GB" dirty="0"/>
              <a:t>Key idea: scientists repeat results to check if they are reliable.</a:t>
            </a:r>
          </a:p>
          <a:p>
            <a:endParaRPr lang="en-GB" dirty="0"/>
          </a:p>
          <a:p>
            <a:r>
              <a:rPr lang="en-GB" dirty="0"/>
              <a:t>Add one improvement to your LP: “Next time I would…”</a:t>
            </a:r>
          </a:p>
        </p:txBody>
      </p:sp>
      <p:sp>
        <p:nvSpPr>
          <p:cNvPr id="4" name="Media Placeholder 3">
            <a:extLst>
              <a:ext uri="{FF2B5EF4-FFF2-40B4-BE49-F238E27FC236}">
                <a16:creationId xmlns:a16="http://schemas.microsoft.com/office/drawing/2014/main" id="{6566DAA7-E53B-EAB9-E182-6C5C7877EFD6}"/>
              </a:ext>
            </a:extLst>
          </p:cNvPr>
          <p:cNvSpPr>
            <a:spLocks noGrp="1"/>
          </p:cNvSpPr>
          <p:nvPr>
            <p:ph type="media" sz="quarter" idx="13"/>
          </p:nvPr>
        </p:nvSpPr>
        <p:spPr/>
        <p:txBody>
          <a:bodyPr>
            <a:normAutofit fontScale="77500" lnSpcReduction="20000"/>
          </a:bodyPr>
          <a:lstStyle/>
          <a:p>
            <a:endParaRPr lang="en-GB">
              <a:latin typeface="Twinkl Cursive Looped Light" panose="02000000000000000000" pitchFamily="2" charset="77"/>
            </a:endParaRPr>
          </a:p>
        </p:txBody>
      </p:sp>
    </p:spTree>
    <p:extLst>
      <p:ext uri="{BB962C8B-B14F-4D97-AF65-F5344CB8AC3E}">
        <p14:creationId xmlns:p14="http://schemas.microsoft.com/office/powerpoint/2010/main" val="2325406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8BB7D-5F52-9799-3189-ED153C0B77A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DAA3A97-3D8C-24F0-7C5E-EB190508B303}"/>
              </a:ext>
            </a:extLst>
          </p:cNvPr>
          <p:cNvSpPr/>
          <p:nvPr/>
        </p:nvSpPr>
        <p:spPr>
          <a:xfrm>
            <a:off x="5098473" y="1874982"/>
            <a:ext cx="3112654" cy="3214338"/>
          </a:xfrm>
          <a:prstGeom prst="rect">
            <a:avLst/>
          </a:prstGeom>
          <a:solidFill>
            <a:schemeClr val="bg1"/>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i="1" dirty="0">
                <a:solidFill>
                  <a:sysClr val="windowText" lastClr="000000"/>
                </a:solidFill>
                <a:latin typeface="Twinkl Cursive Looped Light" panose="02000000000000000000" pitchFamily="2" charset="77"/>
              </a:rPr>
              <a:t>Search: ear pressed against wall listening</a:t>
            </a:r>
          </a:p>
        </p:txBody>
      </p:sp>
      <p:pic>
        <p:nvPicPr>
          <p:cNvPr id="9" name="Picture 8">
            <a:extLst>
              <a:ext uri="{FF2B5EF4-FFF2-40B4-BE49-F238E27FC236}">
                <a16:creationId xmlns:a16="http://schemas.microsoft.com/office/drawing/2014/main" id="{D23BAF61-62C7-D0BA-456A-108A1E7694E9}"/>
              </a:ext>
            </a:extLst>
          </p:cNvPr>
          <p:cNvPicPr>
            <a:picLocks noChangeAspect="1"/>
          </p:cNvPicPr>
          <p:nvPr/>
        </p:nvPicPr>
        <p:blipFill rotWithShape="1">
          <a:blip r:embed="rId3">
            <a:extLst>
              <a:ext uri="{BEBA8EAE-BF5A-486C-A8C5-ECC9F3942E4B}">
                <a14:imgProps xmlns:a14="http://schemas.microsoft.com/office/drawing/2010/main">
                  <a14:imgLayer r:embed="rId4">
                    <a14:imgEffect>
                      <a14:backgroundRemoval t="61793" b="81925" l="43765" r="56864"/>
                    </a14:imgEffect>
                  </a14:imgLayer>
                </a14:imgProps>
              </a:ext>
            </a:extLst>
          </a:blip>
          <a:srcRect l="42128" t="59276" r="41499" b="15559"/>
          <a:stretch/>
        </p:blipFill>
        <p:spPr>
          <a:xfrm>
            <a:off x="121193" y="858967"/>
            <a:ext cx="1645920" cy="2398601"/>
          </a:xfrm>
          <a:prstGeom prst="rect">
            <a:avLst/>
          </a:prstGeom>
        </p:spPr>
      </p:pic>
      <p:sp>
        <p:nvSpPr>
          <p:cNvPr id="4" name="Frame 3">
            <a:extLst>
              <a:ext uri="{FF2B5EF4-FFF2-40B4-BE49-F238E27FC236}">
                <a16:creationId xmlns:a16="http://schemas.microsoft.com/office/drawing/2014/main" id="{E230006F-D5EF-F9AB-A1E5-8D0A75EF57A1}"/>
              </a:ext>
            </a:extLst>
          </p:cNvPr>
          <p:cNvSpPr/>
          <p:nvPr/>
        </p:nvSpPr>
        <p:spPr>
          <a:xfrm>
            <a:off x="0" y="0"/>
            <a:ext cx="12192000" cy="6858000"/>
          </a:xfrm>
          <a:prstGeom prst="frame">
            <a:avLst>
              <a:gd name="adj1" fmla="val 1241"/>
            </a:avLst>
          </a:prstGeom>
          <a:solidFill>
            <a:schemeClr val="accent6">
              <a:lumMod val="50000"/>
            </a:schemeClr>
          </a:solidFill>
          <a:ln>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latin typeface="Twinkl Cursive Looped Light" panose="02000000000000000000" pitchFamily="2" charset="77"/>
            </a:endParaRPr>
          </a:p>
        </p:txBody>
      </p:sp>
      <p:pic>
        <p:nvPicPr>
          <p:cNvPr id="15" name="Picture 14">
            <a:extLst>
              <a:ext uri="{FF2B5EF4-FFF2-40B4-BE49-F238E27FC236}">
                <a16:creationId xmlns:a16="http://schemas.microsoft.com/office/drawing/2014/main" id="{5F49494A-A054-189B-F8BB-79CFBC422D2F}"/>
              </a:ext>
            </a:extLst>
          </p:cNvPr>
          <p:cNvPicPr>
            <a:picLocks noChangeAspect="1"/>
          </p:cNvPicPr>
          <p:nvPr/>
        </p:nvPicPr>
        <p:blipFill>
          <a:blip r:embed="rId5"/>
          <a:stretch>
            <a:fillRect/>
          </a:stretch>
        </p:blipFill>
        <p:spPr>
          <a:xfrm>
            <a:off x="612053" y="5089320"/>
            <a:ext cx="956012" cy="1391913"/>
          </a:xfrm>
          <a:prstGeom prst="rect">
            <a:avLst/>
          </a:prstGeom>
        </p:spPr>
      </p:pic>
      <p:pic>
        <p:nvPicPr>
          <p:cNvPr id="17" name="Picture 16">
            <a:extLst>
              <a:ext uri="{FF2B5EF4-FFF2-40B4-BE49-F238E27FC236}">
                <a16:creationId xmlns:a16="http://schemas.microsoft.com/office/drawing/2014/main" id="{E176E044-F230-74C9-F1AF-2052400AC6BC}"/>
              </a:ext>
            </a:extLst>
          </p:cNvPr>
          <p:cNvPicPr>
            <a:picLocks noChangeAspect="1"/>
          </p:cNvPicPr>
          <p:nvPr/>
        </p:nvPicPr>
        <p:blipFill rotWithShape="1">
          <a:blip r:embed="rId6">
            <a:extLst>
              <a:ext uri="{BEBA8EAE-BF5A-486C-A8C5-ECC9F3942E4B}">
                <a14:imgProps xmlns:a14="http://schemas.microsoft.com/office/drawing/2010/main">
                  <a14:imgLayer r:embed="rId4">
                    <a14:imgEffect>
                      <a14:backgroundRemoval t="61793" b="81925" l="64809" r="78176">
                        <a14:foregroundMark x1="75238" y1="61799" x2="75238" y2="61799"/>
                      </a14:backgroundRemoval>
                    </a14:imgEffect>
                  </a14:imgLayer>
                </a14:imgProps>
              </a:ext>
            </a:extLst>
          </a:blip>
          <a:srcRect l="63138" t="59276" r="20153" b="15559"/>
          <a:stretch/>
        </p:blipFill>
        <p:spPr>
          <a:xfrm>
            <a:off x="10254101" y="779899"/>
            <a:ext cx="1186938" cy="1694889"/>
          </a:xfrm>
          <a:prstGeom prst="rect">
            <a:avLst/>
          </a:prstGeom>
        </p:spPr>
      </p:pic>
      <p:pic>
        <p:nvPicPr>
          <p:cNvPr id="19" name="Picture 18" descr="A close-up of a pink sign&#10;&#10;Description automatically generated">
            <a:extLst>
              <a:ext uri="{FF2B5EF4-FFF2-40B4-BE49-F238E27FC236}">
                <a16:creationId xmlns:a16="http://schemas.microsoft.com/office/drawing/2014/main" id="{52471810-AA91-8EA1-0803-4D5A24F0B679}"/>
              </a:ext>
            </a:extLst>
          </p:cNvPr>
          <p:cNvPicPr>
            <a:picLocks noChangeAspect="1"/>
          </p:cNvPicPr>
          <p:nvPr/>
        </p:nvPicPr>
        <p:blipFill>
          <a:blip r:embed="rId7"/>
          <a:stretch>
            <a:fillRect/>
          </a:stretch>
        </p:blipFill>
        <p:spPr>
          <a:xfrm>
            <a:off x="10690078" y="134445"/>
            <a:ext cx="1501922" cy="645454"/>
          </a:xfrm>
          <a:prstGeom prst="rect">
            <a:avLst/>
          </a:prstGeom>
        </p:spPr>
      </p:pic>
      <p:sp>
        <p:nvSpPr>
          <p:cNvPr id="21" name="Speech Bubble: Rectangle with Corners Rounded 20">
            <a:extLst>
              <a:ext uri="{FF2B5EF4-FFF2-40B4-BE49-F238E27FC236}">
                <a16:creationId xmlns:a16="http://schemas.microsoft.com/office/drawing/2014/main" id="{7B78897D-FD10-01BF-18BE-D21C4FBD26A2}"/>
              </a:ext>
            </a:extLst>
          </p:cNvPr>
          <p:cNvSpPr/>
          <p:nvPr/>
        </p:nvSpPr>
        <p:spPr>
          <a:xfrm>
            <a:off x="2230051" y="5251345"/>
            <a:ext cx="4433639" cy="1229887"/>
          </a:xfrm>
          <a:prstGeom prst="wedgeRoundRectCallout">
            <a:avLst>
              <a:gd name="adj1" fmla="val -65727"/>
              <a:gd name="adj2" fmla="val 8904"/>
              <a:gd name="adj3" fmla="val 16667"/>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tx1"/>
                </a:solidFill>
                <a:latin typeface="Twinkl Cursive Looped Light" panose="02000000000000000000" pitchFamily="2" charset="77"/>
                <a:ea typeface="Sassoon Infant Rg" panose="02000503030000020003" pitchFamily="2" charset="0"/>
              </a:rPr>
              <a:t>Sound can’t travel through a solid — it gets blocked</a:t>
            </a:r>
          </a:p>
        </p:txBody>
      </p:sp>
      <p:sp>
        <p:nvSpPr>
          <p:cNvPr id="22" name="Speech Bubble: Rectangle with Corners Rounded 21">
            <a:extLst>
              <a:ext uri="{FF2B5EF4-FFF2-40B4-BE49-F238E27FC236}">
                <a16:creationId xmlns:a16="http://schemas.microsoft.com/office/drawing/2014/main" id="{9582BB68-25EC-B973-FD72-523C33AA67D4}"/>
              </a:ext>
            </a:extLst>
          </p:cNvPr>
          <p:cNvSpPr/>
          <p:nvPr/>
        </p:nvSpPr>
        <p:spPr>
          <a:xfrm>
            <a:off x="8344733" y="2681662"/>
            <a:ext cx="3543300" cy="1480162"/>
          </a:xfrm>
          <a:prstGeom prst="wedgeRoundRectCallout">
            <a:avLst>
              <a:gd name="adj1" fmla="val -3351"/>
              <a:gd name="adj2" fmla="val -79232"/>
              <a:gd name="adj3" fmla="val 16667"/>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tx1"/>
                </a:solidFill>
                <a:latin typeface="Twinkl Cursive Looped Light" panose="02000000000000000000" pitchFamily="2" charset="77"/>
                <a:ea typeface="Sassoon Infant Rg" panose="02000503030000020003" pitchFamily="2" charset="0"/>
              </a:rPr>
              <a:t>It’s the particles being closer together that helps sound travel</a:t>
            </a:r>
          </a:p>
        </p:txBody>
      </p:sp>
      <p:sp>
        <p:nvSpPr>
          <p:cNvPr id="24" name="TextBox 23">
            <a:extLst>
              <a:ext uri="{FF2B5EF4-FFF2-40B4-BE49-F238E27FC236}">
                <a16:creationId xmlns:a16="http://schemas.microsoft.com/office/drawing/2014/main" id="{F9AABC21-49C3-2CB5-0D20-92C871F2E1B9}"/>
              </a:ext>
            </a:extLst>
          </p:cNvPr>
          <p:cNvSpPr txBox="1"/>
          <p:nvPr/>
        </p:nvSpPr>
        <p:spPr>
          <a:xfrm>
            <a:off x="391135" y="2899399"/>
            <a:ext cx="1131015" cy="369332"/>
          </a:xfrm>
          <a:prstGeom prst="rect">
            <a:avLst/>
          </a:prstGeom>
          <a:noFill/>
        </p:spPr>
        <p:txBody>
          <a:bodyPr wrap="none" rtlCol="0">
            <a:spAutoFit/>
          </a:bodyPr>
          <a:lstStyle/>
          <a:p>
            <a:r>
              <a:rPr lang="en-GB">
                <a:latin typeface="Twinkl Cursive Looped Light" panose="02000000000000000000" pitchFamily="2" charset="77"/>
              </a:rPr>
              <a:t>Learner A</a:t>
            </a:r>
          </a:p>
        </p:txBody>
      </p:sp>
      <p:sp>
        <p:nvSpPr>
          <p:cNvPr id="25" name="TextBox 24">
            <a:extLst>
              <a:ext uri="{FF2B5EF4-FFF2-40B4-BE49-F238E27FC236}">
                <a16:creationId xmlns:a16="http://schemas.microsoft.com/office/drawing/2014/main" id="{F989A2D8-BE77-76B0-55AA-E20796D5027D}"/>
              </a:ext>
            </a:extLst>
          </p:cNvPr>
          <p:cNvSpPr txBox="1"/>
          <p:nvPr/>
        </p:nvSpPr>
        <p:spPr>
          <a:xfrm>
            <a:off x="10481592" y="2236799"/>
            <a:ext cx="1134221" cy="369332"/>
          </a:xfrm>
          <a:prstGeom prst="rect">
            <a:avLst/>
          </a:prstGeom>
          <a:noFill/>
        </p:spPr>
        <p:txBody>
          <a:bodyPr wrap="none" rtlCol="0">
            <a:spAutoFit/>
          </a:bodyPr>
          <a:lstStyle/>
          <a:p>
            <a:r>
              <a:rPr lang="en-GB">
                <a:latin typeface="Twinkl Cursive Looped Light" panose="02000000000000000000" pitchFamily="2" charset="77"/>
              </a:rPr>
              <a:t>Learner B</a:t>
            </a:r>
          </a:p>
        </p:txBody>
      </p:sp>
      <p:sp>
        <p:nvSpPr>
          <p:cNvPr id="26" name="TextBox 25">
            <a:extLst>
              <a:ext uri="{FF2B5EF4-FFF2-40B4-BE49-F238E27FC236}">
                <a16:creationId xmlns:a16="http://schemas.microsoft.com/office/drawing/2014/main" id="{D70D29E0-36CB-844A-46FA-DF8341836FCE}"/>
              </a:ext>
            </a:extLst>
          </p:cNvPr>
          <p:cNvSpPr txBox="1"/>
          <p:nvPr/>
        </p:nvSpPr>
        <p:spPr>
          <a:xfrm>
            <a:off x="612053" y="6354223"/>
            <a:ext cx="1155060" cy="369332"/>
          </a:xfrm>
          <a:prstGeom prst="rect">
            <a:avLst/>
          </a:prstGeom>
          <a:noFill/>
        </p:spPr>
        <p:txBody>
          <a:bodyPr wrap="none" rtlCol="0">
            <a:spAutoFit/>
          </a:bodyPr>
          <a:lstStyle/>
          <a:p>
            <a:r>
              <a:rPr lang="en-GB">
                <a:latin typeface="Twinkl Cursive Looped Light" panose="02000000000000000000" pitchFamily="2" charset="77"/>
              </a:rPr>
              <a:t>Learner C</a:t>
            </a:r>
          </a:p>
        </p:txBody>
      </p:sp>
      <p:sp>
        <p:nvSpPr>
          <p:cNvPr id="3" name="Rectangle: Rounded Corners 2">
            <a:extLst>
              <a:ext uri="{FF2B5EF4-FFF2-40B4-BE49-F238E27FC236}">
                <a16:creationId xmlns:a16="http://schemas.microsoft.com/office/drawing/2014/main" id="{167F1881-C1D2-969B-68E4-C61F42BF5996}"/>
              </a:ext>
            </a:extLst>
          </p:cNvPr>
          <p:cNvSpPr/>
          <p:nvPr/>
        </p:nvSpPr>
        <p:spPr>
          <a:xfrm>
            <a:off x="612053" y="224176"/>
            <a:ext cx="9655840" cy="815920"/>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3600" b="1" dirty="0">
                <a:solidFill>
                  <a:srgbClr val="002060"/>
                </a:solidFill>
                <a:latin typeface="Twinkl Cursive Looped Light" panose="02000000000000000000" pitchFamily="2" charset="77"/>
                <a:ea typeface="Sassoon Infant Rg" panose="02000503030000020003" pitchFamily="2" charset="0"/>
              </a:rPr>
              <a:t>Who do you agree/disagree with and why?</a:t>
            </a:r>
          </a:p>
        </p:txBody>
      </p:sp>
      <p:sp>
        <p:nvSpPr>
          <p:cNvPr id="20" name="Speech Bubble: Rectangle with Corners Rounded 19">
            <a:extLst>
              <a:ext uri="{FF2B5EF4-FFF2-40B4-BE49-F238E27FC236}">
                <a16:creationId xmlns:a16="http://schemas.microsoft.com/office/drawing/2014/main" id="{54498F26-D947-0543-B112-F417CC37026C}"/>
              </a:ext>
            </a:extLst>
          </p:cNvPr>
          <p:cNvSpPr/>
          <p:nvPr/>
        </p:nvSpPr>
        <p:spPr>
          <a:xfrm>
            <a:off x="1575198" y="1264272"/>
            <a:ext cx="3762612" cy="1341859"/>
          </a:xfrm>
          <a:prstGeom prst="wedgeRoundRectCallout">
            <a:avLst>
              <a:gd name="adj1" fmla="val -56873"/>
              <a:gd name="adj2" fmla="val -7773"/>
              <a:gd name="adj3" fmla="val 16667"/>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solidFill>
                  <a:schemeClr val="tx1"/>
                </a:solidFill>
                <a:latin typeface="Twinkl Cursive Looped Light" panose="02000000000000000000" pitchFamily="2" charset="77"/>
                <a:ea typeface="Sassoon Infant Rg" panose="02000503030000020003" pitchFamily="2" charset="0"/>
              </a:rPr>
              <a:t>Sound travels best through air because there’s more space</a:t>
            </a:r>
          </a:p>
        </p:txBody>
      </p:sp>
      <p:sp>
        <p:nvSpPr>
          <p:cNvPr id="6" name="AutoShape 6">
            <a:extLst>
              <a:ext uri="{FF2B5EF4-FFF2-40B4-BE49-F238E27FC236}">
                <a16:creationId xmlns:a16="http://schemas.microsoft.com/office/drawing/2014/main" id="{E5A4AB66-7196-AA00-45AA-99911EEBE78C}"/>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latin typeface="Twinkl Cursive Looped Light" panose="02000000000000000000" pitchFamily="2" charset="77"/>
            </a:endParaRPr>
          </a:p>
        </p:txBody>
      </p:sp>
    </p:spTree>
    <p:extLst>
      <p:ext uri="{BB962C8B-B14F-4D97-AF65-F5344CB8AC3E}">
        <p14:creationId xmlns:p14="http://schemas.microsoft.com/office/powerpoint/2010/main" val="18586707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ubble1">
            <a:extLst>
              <a:ext uri="{FF2B5EF4-FFF2-40B4-BE49-F238E27FC236}">
                <a16:creationId xmlns:a16="http://schemas.microsoft.com/office/drawing/2014/main" id="{03CF2B01-9BD5-432B-AA79-32886453A209}"/>
              </a:ext>
            </a:extLst>
          </p:cNvPr>
          <p:cNvSpPr/>
          <p:nvPr/>
        </p:nvSpPr>
        <p:spPr>
          <a:xfrm>
            <a:off x="804064" y="956375"/>
            <a:ext cx="3101338" cy="1383427"/>
          </a:xfrm>
          <a:prstGeom prst="wedgeRoundRectCallout">
            <a:avLst/>
          </a:prstGeom>
          <a:solidFill>
            <a:srgbClr val="E9917F"/>
          </a:solidFill>
          <a:ln w="0">
            <a:noFill/>
          </a:ln>
        </p:spPr>
        <p:txBody>
          <a:bodyPr rtlCol="0" anchor="ctr"/>
          <a:lstStyle/>
          <a:p>
            <a:pPr algn="ctr"/>
            <a:r>
              <a:rPr lang="en-GB" sz="2000" b="1" dirty="0">
                <a:latin typeface="Twinkl Cursive Looped Light"/>
              </a:rPr>
              <a:t>I can now explain why the results from different groups might differ because…</a:t>
            </a:r>
          </a:p>
        </p:txBody>
      </p:sp>
      <p:sp>
        <p:nvSpPr>
          <p:cNvPr id="3" name="Bubble2">
            <a:extLst>
              <a:ext uri="{FF2B5EF4-FFF2-40B4-BE49-F238E27FC236}">
                <a16:creationId xmlns:a16="http://schemas.microsoft.com/office/drawing/2014/main" id="{4E46EBCA-4278-0454-242D-394883485B2A}"/>
              </a:ext>
            </a:extLst>
          </p:cNvPr>
          <p:cNvSpPr/>
          <p:nvPr/>
        </p:nvSpPr>
        <p:spPr>
          <a:xfrm>
            <a:off x="4614290" y="997523"/>
            <a:ext cx="3310585" cy="1383427"/>
          </a:xfrm>
          <a:prstGeom prst="wedgeRoundRectCallout">
            <a:avLst/>
          </a:prstGeom>
          <a:solidFill>
            <a:srgbClr val="D977ED"/>
          </a:solidFill>
          <a:ln w="0">
            <a:noFill/>
          </a:ln>
        </p:spPr>
        <p:txBody>
          <a:bodyPr rtlCol="0" anchor="ctr"/>
          <a:lstStyle/>
          <a:p>
            <a:pPr algn="ctr"/>
            <a:r>
              <a:rPr lang="en-GB" sz="2000" b="1" dirty="0">
                <a:latin typeface="Twinkl Cursive Looped Light"/>
              </a:rPr>
              <a:t>I remembered our fair test learning from this morning which helped me…</a:t>
            </a:r>
          </a:p>
        </p:txBody>
      </p:sp>
      <p:sp>
        <p:nvSpPr>
          <p:cNvPr id="4" name="Bubble3">
            <a:extLst>
              <a:ext uri="{FF2B5EF4-FFF2-40B4-BE49-F238E27FC236}">
                <a16:creationId xmlns:a16="http://schemas.microsoft.com/office/drawing/2014/main" id="{FA11F426-40CB-5276-8815-C8FB11F65326}"/>
              </a:ext>
            </a:extLst>
          </p:cNvPr>
          <p:cNvSpPr/>
          <p:nvPr/>
        </p:nvSpPr>
        <p:spPr>
          <a:xfrm>
            <a:off x="8633764" y="997523"/>
            <a:ext cx="2754172" cy="1383427"/>
          </a:xfrm>
          <a:prstGeom prst="wedgeRoundRectCallout">
            <a:avLst/>
          </a:prstGeom>
          <a:solidFill>
            <a:srgbClr val="92D050"/>
          </a:solidFill>
          <a:ln w="0">
            <a:noFill/>
          </a:ln>
        </p:spPr>
        <p:txBody>
          <a:bodyPr rtlCol="0" anchor="ctr"/>
          <a:lstStyle/>
          <a:p>
            <a:pPr algn="ctr"/>
            <a:r>
              <a:rPr lang="en-GB" sz="2000" b="1" dirty="0">
                <a:latin typeface="Twinkl Cursive Looped Light"/>
              </a:rPr>
              <a:t>Today I found keeping the tap consistent challenging so I…</a:t>
            </a:r>
          </a:p>
        </p:txBody>
      </p:sp>
      <p:pic>
        <p:nvPicPr>
          <p:cNvPr id="5" name="Picture 4" descr="image.png">
            <a:extLst>
              <a:ext uri="{FF2B5EF4-FFF2-40B4-BE49-F238E27FC236}">
                <a16:creationId xmlns:a16="http://schemas.microsoft.com/office/drawing/2014/main" id="{C44CDCF9-54F6-6B03-4248-95D81DF07C42}"/>
              </a:ext>
            </a:extLst>
          </p:cNvPr>
          <p:cNvPicPr>
            <a:picLocks noChangeAspect="1"/>
          </p:cNvPicPr>
          <p:nvPr/>
        </p:nvPicPr>
        <p:blipFill>
          <a:blip r:embed="rId2"/>
          <a:stretch>
            <a:fillRect/>
          </a:stretch>
        </p:blipFill>
        <p:spPr>
          <a:xfrm>
            <a:off x="2859198" y="2563977"/>
            <a:ext cx="5905195" cy="2794406"/>
          </a:xfrm>
          <a:prstGeom prst="rect">
            <a:avLst/>
          </a:prstGeom>
        </p:spPr>
      </p:pic>
      <p:pic>
        <p:nvPicPr>
          <p:cNvPr id="6" name="Picture 5" descr="image.png">
            <a:extLst>
              <a:ext uri="{FF2B5EF4-FFF2-40B4-BE49-F238E27FC236}">
                <a16:creationId xmlns:a16="http://schemas.microsoft.com/office/drawing/2014/main" id="{2665E5F2-7ED7-1CAC-210B-D5187E7FFDA5}"/>
              </a:ext>
            </a:extLst>
          </p:cNvPr>
          <p:cNvPicPr>
            <a:picLocks noChangeAspect="1"/>
          </p:cNvPicPr>
          <p:nvPr/>
        </p:nvPicPr>
        <p:blipFill>
          <a:blip r:embed="rId3"/>
          <a:stretch>
            <a:fillRect/>
          </a:stretch>
        </p:blipFill>
        <p:spPr>
          <a:xfrm>
            <a:off x="492861" y="4668012"/>
            <a:ext cx="1623060" cy="1980590"/>
          </a:xfrm>
          <a:prstGeom prst="rect">
            <a:avLst/>
          </a:prstGeom>
        </p:spPr>
      </p:pic>
      <p:pic>
        <p:nvPicPr>
          <p:cNvPr id="7" name="Picture 6" descr="image.png">
            <a:extLst>
              <a:ext uri="{FF2B5EF4-FFF2-40B4-BE49-F238E27FC236}">
                <a16:creationId xmlns:a16="http://schemas.microsoft.com/office/drawing/2014/main" id="{449FC072-04C6-FC3F-EB15-C3742016E5D1}"/>
              </a:ext>
            </a:extLst>
          </p:cNvPr>
          <p:cNvPicPr>
            <a:picLocks noChangeAspect="1"/>
          </p:cNvPicPr>
          <p:nvPr/>
        </p:nvPicPr>
        <p:blipFill>
          <a:blip r:embed="rId4"/>
          <a:stretch>
            <a:fillRect/>
          </a:stretch>
        </p:blipFill>
        <p:spPr>
          <a:xfrm>
            <a:off x="4034790" y="5399531"/>
            <a:ext cx="947318" cy="1193292"/>
          </a:xfrm>
          <a:prstGeom prst="rect">
            <a:avLst/>
          </a:prstGeom>
        </p:spPr>
      </p:pic>
      <p:pic>
        <p:nvPicPr>
          <p:cNvPr id="8" name="Picture 7" descr="image.png">
            <a:extLst>
              <a:ext uri="{FF2B5EF4-FFF2-40B4-BE49-F238E27FC236}">
                <a16:creationId xmlns:a16="http://schemas.microsoft.com/office/drawing/2014/main" id="{2F66DD3C-54C8-4694-5A39-AA48FC062660}"/>
              </a:ext>
            </a:extLst>
          </p:cNvPr>
          <p:cNvPicPr>
            <a:picLocks noChangeAspect="1"/>
          </p:cNvPicPr>
          <p:nvPr/>
        </p:nvPicPr>
        <p:blipFill>
          <a:blip r:embed="rId5"/>
          <a:stretch>
            <a:fillRect/>
          </a:stretch>
        </p:blipFill>
        <p:spPr>
          <a:xfrm>
            <a:off x="5036058" y="5409590"/>
            <a:ext cx="966520" cy="1184148"/>
          </a:xfrm>
          <a:prstGeom prst="rect">
            <a:avLst/>
          </a:prstGeom>
        </p:spPr>
      </p:pic>
      <p:pic>
        <p:nvPicPr>
          <p:cNvPr id="9" name="Picture 8" descr="image.png">
            <a:extLst>
              <a:ext uri="{FF2B5EF4-FFF2-40B4-BE49-F238E27FC236}">
                <a16:creationId xmlns:a16="http://schemas.microsoft.com/office/drawing/2014/main" id="{86E531C6-E32B-7609-91FB-F7335E97E0F0}"/>
              </a:ext>
            </a:extLst>
          </p:cNvPr>
          <p:cNvPicPr>
            <a:picLocks noChangeAspect="1"/>
          </p:cNvPicPr>
          <p:nvPr/>
        </p:nvPicPr>
        <p:blipFill>
          <a:blip r:embed="rId6"/>
          <a:stretch>
            <a:fillRect/>
          </a:stretch>
        </p:blipFill>
        <p:spPr>
          <a:xfrm>
            <a:off x="6017209" y="5327294"/>
            <a:ext cx="1065276" cy="1242669"/>
          </a:xfrm>
          <a:prstGeom prst="rect">
            <a:avLst/>
          </a:prstGeom>
        </p:spPr>
      </p:pic>
      <p:pic>
        <p:nvPicPr>
          <p:cNvPr id="10" name="Picture 9" descr="image.png">
            <a:extLst>
              <a:ext uri="{FF2B5EF4-FFF2-40B4-BE49-F238E27FC236}">
                <a16:creationId xmlns:a16="http://schemas.microsoft.com/office/drawing/2014/main" id="{6DAAFE12-9C8D-66A8-187D-3E5BE51B656B}"/>
              </a:ext>
            </a:extLst>
          </p:cNvPr>
          <p:cNvPicPr>
            <a:picLocks noChangeAspect="1"/>
          </p:cNvPicPr>
          <p:nvPr/>
        </p:nvPicPr>
        <p:blipFill>
          <a:blip r:embed="rId7"/>
          <a:stretch>
            <a:fillRect/>
          </a:stretch>
        </p:blipFill>
        <p:spPr>
          <a:xfrm>
            <a:off x="7117232" y="5291632"/>
            <a:ext cx="1015898" cy="1302105"/>
          </a:xfrm>
          <a:prstGeom prst="rect">
            <a:avLst/>
          </a:prstGeom>
        </p:spPr>
      </p:pic>
      <p:pic>
        <p:nvPicPr>
          <p:cNvPr id="11" name="Picture 10" descr="image.png">
            <a:extLst>
              <a:ext uri="{FF2B5EF4-FFF2-40B4-BE49-F238E27FC236}">
                <a16:creationId xmlns:a16="http://schemas.microsoft.com/office/drawing/2014/main" id="{BBD13BBA-7893-471A-0A9B-76156A6C3F16}"/>
              </a:ext>
            </a:extLst>
          </p:cNvPr>
          <p:cNvPicPr>
            <a:picLocks noChangeAspect="1"/>
          </p:cNvPicPr>
          <p:nvPr/>
        </p:nvPicPr>
        <p:blipFill>
          <a:blip r:embed="rId8"/>
          <a:stretch>
            <a:fillRect/>
          </a:stretch>
        </p:blipFill>
        <p:spPr>
          <a:xfrm>
            <a:off x="10012679" y="4638038"/>
            <a:ext cx="960120" cy="960120"/>
          </a:xfrm>
          <a:prstGeom prst="rect">
            <a:avLst/>
          </a:prstGeom>
        </p:spPr>
      </p:pic>
      <p:pic>
        <p:nvPicPr>
          <p:cNvPr id="12" name="Picture 11" descr="image.png">
            <a:extLst>
              <a:ext uri="{FF2B5EF4-FFF2-40B4-BE49-F238E27FC236}">
                <a16:creationId xmlns:a16="http://schemas.microsoft.com/office/drawing/2014/main" id="{26F1A20A-86D2-1431-33C2-B568E1ADA5CA}"/>
              </a:ext>
            </a:extLst>
          </p:cNvPr>
          <p:cNvPicPr>
            <a:picLocks noChangeAspect="1"/>
          </p:cNvPicPr>
          <p:nvPr/>
        </p:nvPicPr>
        <p:blipFill>
          <a:blip r:embed="rId9"/>
          <a:stretch>
            <a:fillRect/>
          </a:stretch>
        </p:blipFill>
        <p:spPr>
          <a:xfrm>
            <a:off x="11098071" y="4638038"/>
            <a:ext cx="961034" cy="961034"/>
          </a:xfrm>
          <a:prstGeom prst="rect">
            <a:avLst/>
          </a:prstGeom>
        </p:spPr>
      </p:pic>
      <p:pic>
        <p:nvPicPr>
          <p:cNvPr id="13" name="Picture 12" descr="image.jpg">
            <a:extLst>
              <a:ext uri="{FF2B5EF4-FFF2-40B4-BE49-F238E27FC236}">
                <a16:creationId xmlns:a16="http://schemas.microsoft.com/office/drawing/2014/main" id="{7D15ECD3-51E2-D898-F348-A72DEE238B73}"/>
              </a:ext>
            </a:extLst>
          </p:cNvPr>
          <p:cNvPicPr>
            <a:picLocks noChangeAspect="1"/>
          </p:cNvPicPr>
          <p:nvPr/>
        </p:nvPicPr>
        <p:blipFill>
          <a:blip r:embed="rId10"/>
          <a:stretch>
            <a:fillRect/>
          </a:stretch>
        </p:blipFill>
        <p:spPr>
          <a:xfrm>
            <a:off x="10010850" y="5686855"/>
            <a:ext cx="961034" cy="961034"/>
          </a:xfrm>
          <a:prstGeom prst="rect">
            <a:avLst/>
          </a:prstGeom>
        </p:spPr>
      </p:pic>
      <p:pic>
        <p:nvPicPr>
          <p:cNvPr id="14" name="Picture 13" descr="image.jpg">
            <a:extLst>
              <a:ext uri="{FF2B5EF4-FFF2-40B4-BE49-F238E27FC236}">
                <a16:creationId xmlns:a16="http://schemas.microsoft.com/office/drawing/2014/main" id="{275E07A9-4703-5D48-4D82-76204F0063B7}"/>
              </a:ext>
            </a:extLst>
          </p:cNvPr>
          <p:cNvPicPr>
            <a:picLocks noChangeAspect="1"/>
          </p:cNvPicPr>
          <p:nvPr/>
        </p:nvPicPr>
        <p:blipFill>
          <a:blip r:embed="rId11"/>
          <a:stretch>
            <a:fillRect/>
          </a:stretch>
        </p:blipFill>
        <p:spPr>
          <a:xfrm>
            <a:off x="11098986" y="5687769"/>
            <a:ext cx="960120" cy="961034"/>
          </a:xfrm>
          <a:prstGeom prst="rect">
            <a:avLst/>
          </a:prstGeom>
        </p:spPr>
      </p:pic>
      <p:sp>
        <p:nvSpPr>
          <p:cNvPr id="15" name="TextBox 14">
            <a:extLst>
              <a:ext uri="{FF2B5EF4-FFF2-40B4-BE49-F238E27FC236}">
                <a16:creationId xmlns:a16="http://schemas.microsoft.com/office/drawing/2014/main" id="{FC239B0F-B422-D2B3-163C-5A2E97F721E5}"/>
              </a:ext>
            </a:extLst>
          </p:cNvPr>
          <p:cNvSpPr txBox="1"/>
          <p:nvPr/>
        </p:nvSpPr>
        <p:spPr>
          <a:xfrm>
            <a:off x="4386910" y="49129"/>
            <a:ext cx="3418180" cy="646331"/>
          </a:xfrm>
          <a:prstGeom prst="rect">
            <a:avLst/>
          </a:prstGeom>
          <a:noFill/>
        </p:spPr>
        <p:txBody>
          <a:bodyPr wrap="none" rtlCol="0">
            <a:spAutoFit/>
          </a:bodyPr>
          <a:lstStyle/>
          <a:p>
            <a:pPr algn="ctr"/>
            <a:r>
              <a:rPr lang="en-GB" sz="3600" dirty="0">
                <a:latin typeface="Twinkl Cursive Looped Light" panose="02000000000000000000" pitchFamily="2" charset="77"/>
              </a:rPr>
              <a:t>Learning Review</a:t>
            </a:r>
          </a:p>
        </p:txBody>
      </p:sp>
    </p:spTree>
    <p:extLst>
      <p:ext uri="{BB962C8B-B14F-4D97-AF65-F5344CB8AC3E}">
        <p14:creationId xmlns:p14="http://schemas.microsoft.com/office/powerpoint/2010/main" val="16328668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C71695694772F44B387615DF8DED97F" ma:contentTypeVersion="16" ma:contentTypeDescription="Create a new document." ma:contentTypeScope="" ma:versionID="6b988a150421d80c99f84aa2bfb3de38">
  <xsd:schema xmlns:xsd="http://www.w3.org/2001/XMLSchema" xmlns:xs="http://www.w3.org/2001/XMLSchema" xmlns:p="http://schemas.microsoft.com/office/2006/metadata/properties" xmlns:ns2="9e6dd442-da5e-411e-833f-0fee7dcd7819" xmlns:ns3="4848fd07-94db-4308-8950-9cb0e230b958" targetNamespace="http://schemas.microsoft.com/office/2006/metadata/properties" ma:root="true" ma:fieldsID="0840e1ae8104f568f88bbc0ee80d0ce2" ns2:_="" ns3:_="">
    <xsd:import namespace="9e6dd442-da5e-411e-833f-0fee7dcd7819"/>
    <xsd:import namespace="4848fd07-94db-4308-8950-9cb0e230b958"/>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LengthInSeconds" minOccurs="0"/>
                <xsd:element ref="ns2:MediaServiceLocatio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3:SharedWithUsers" minOccurs="0"/>
                <xsd:element ref="ns3:SharedWithDetail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6dd442-da5e-411e-833f-0fee7dcd78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Location" ma:index="13" nillable="true" ma:displayName="Location" ma:indexed="true"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d08261e-ebf2-489e-9cf5-3c5ddf1ef556"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848fd07-94db-4308-8950-9cb0e230b95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0903c9d-9125-4551-886d-abbd3fd64318}" ma:internalName="TaxCatchAll" ma:showField="CatchAllData" ma:web="4848fd07-94db-4308-8950-9cb0e230b958">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e6dd442-da5e-411e-833f-0fee7dcd7819">
      <Terms xmlns="http://schemas.microsoft.com/office/infopath/2007/PartnerControls"/>
    </lcf76f155ced4ddcb4097134ff3c332f>
    <TaxCatchAll xmlns="4848fd07-94db-4308-8950-9cb0e230b958" xsi:nil="true"/>
  </documentManagement>
</p:properties>
</file>

<file path=customXml/itemProps1.xml><?xml version="1.0" encoding="utf-8"?>
<ds:datastoreItem xmlns:ds="http://schemas.openxmlformats.org/officeDocument/2006/customXml" ds:itemID="{A6B4DBD3-1650-4F14-9F48-B17CE115DAA3}">
  <ds:schemaRefs>
    <ds:schemaRef ds:uri="4848fd07-94db-4308-8950-9cb0e230b958"/>
    <ds:schemaRef ds:uri="9e6dd442-da5e-411e-833f-0fee7dcd781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F5FD6E2-7B08-4A6F-A2DF-BA161DFA2013}">
  <ds:schemaRefs>
    <ds:schemaRef ds:uri="http://schemas.microsoft.com/sharepoint/v3/contenttype/forms"/>
  </ds:schemaRefs>
</ds:datastoreItem>
</file>

<file path=customXml/itemProps3.xml><?xml version="1.0" encoding="utf-8"?>
<ds:datastoreItem xmlns:ds="http://schemas.openxmlformats.org/officeDocument/2006/customXml" ds:itemID="{6FFDE8DF-3064-4F6F-ABCB-4D7C0E2AE5CB}">
  <ds:schemaRefs>
    <ds:schemaRef ds:uri="http://schemas.microsoft.com/office/infopath/2007/PartnerControls"/>
    <ds:schemaRef ds:uri="http://schemas.microsoft.com/office/2006/documentManagement/types"/>
    <ds:schemaRef ds:uri="4848fd07-94db-4308-8950-9cb0e230b958"/>
    <ds:schemaRef ds:uri="http://www.w3.org/XML/1998/namespace"/>
    <ds:schemaRef ds:uri="http://schemas.microsoft.com/office/2006/metadata/properties"/>
    <ds:schemaRef ds:uri="http://schemas.openxmlformats.org/package/2006/metadata/core-properties"/>
    <ds:schemaRef ds:uri="http://purl.org/dc/elements/1.1/"/>
    <ds:schemaRef ds:uri="9e6dd442-da5e-411e-833f-0fee7dcd7819"/>
    <ds:schemaRef ds:uri="http://purl.org/dc/dcmitype/"/>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62</TotalTime>
  <Words>1796</Words>
  <Application>Microsoft Macintosh PowerPoint</Application>
  <PresentationFormat>Widescreen</PresentationFormat>
  <Paragraphs>255</Paragraphs>
  <Slides>17</Slides>
  <Notes>9</Notes>
  <HiddenSlides>9</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Aptos</vt:lpstr>
      <vt:lpstr>Arial</vt:lpstr>
      <vt:lpstr>Calibri</vt:lpstr>
      <vt:lpstr>Sassoon Infant Rg</vt:lpstr>
      <vt:lpstr>Sassoon Primary Rg</vt:lpstr>
      <vt:lpstr>Segoe UI</vt:lpstr>
      <vt:lpstr>Twinkl Cursive Looped</vt:lpstr>
      <vt:lpstr>Twinkl Cursive Looped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Carrying out the investigation</vt:lpstr>
      <vt:lpstr>Watch: how we will carry out the test</vt:lpstr>
      <vt:lpstr>PowerPoint Presentation</vt:lpstr>
      <vt:lpstr>Class results — what did we find?</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Innes Mclean - WFA</cp:lastModifiedBy>
  <cp:revision>8</cp:revision>
  <cp:lastPrinted>2026-03-10T10:00:11Z</cp:lastPrinted>
  <dcterms:created xsi:type="dcterms:W3CDTF">2025-03-06T13:15:34Z</dcterms:created>
  <dcterms:modified xsi:type="dcterms:W3CDTF">2026-07-09T09:40:56Z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0x010100AC71695694772F44B387615DF8DED97F</vt:lpwstr>
  </property>
  <property fmtid="{D5CDD505-2E9C-101B-9397-08002B2CF9AE}" pid="3" name="MediaServiceImageTags">
    <vt:lpwstr/>
  </property>
</Properties>
</file>