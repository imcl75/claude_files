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odttf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Twinkl Cursive Looped" panose="020B0502050000060200" pitchFamily="34" charset="0"/>
      <p:regular r:id="rId38"/>
    </p:embeddedFont>
  </p:embeddedFontLst>
  <p:extLst>
    <p:ext uri="{521415D9-36F7-43E2-AB2F-B90AF26B5E84}">
      <p14:sectionLst xmlns:p14="http://schemas.microsoft.com/office/powerpoint/2010/main">
        <p14:section name="Slide Deck" id="{66BEB757-3A3E-994B-8B52-AC6FEC5ACC75}">
          <p14:sldIdLst>
            <p14:sldId id="260"/>
          </p14:sldIdLst>
        </p14:section>
        <p14:section name="Resources" id="{154E198E-0130-A84B-84B2-A60C971BA2A2}">
          <p14:sldIdLst>
            <p14:sldId id="259"/>
            <p14:sldId id="256"/>
            <p14:sldId id="262"/>
            <p14:sldId id="257"/>
            <p14:sldId id="258"/>
            <p14:sldId id="261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5.xml"/><Relationship Id="rId26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5" Type="http://schemas.openxmlformats.org/officeDocument/2006/relationships/viewProps" Target="viewProps.xml"/><Relationship Id="rId6" Type="http://schemas.openxmlformats.org/officeDocument/2006/relationships/slideMaster" Target="slideMasters/slideMaster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2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7" Type="http://schemas.openxmlformats.org/officeDocument/2006/relationships/tableStyles" Target="tableStyles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font" Target="fonts/font1.odtt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image53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5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image52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image52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image53.wdp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image5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image52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8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39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image53.wdp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image5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image52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image53.wdp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image52.wdp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image52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76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77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image53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image52.wdp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image52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95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&#10;&#10;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513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569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13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751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15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49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4519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859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89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2368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780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5505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7348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917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385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5249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050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6087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5564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81147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36" r:id="rId13"/>
    <p:sldLayoutId id="2147483837" r:id="rId14"/>
    <p:sldLayoutId id="2147483838" r:id="rId15"/>
    <p:sldLayoutId id="2147483839" r:id="rId16"/>
    <p:sldLayoutId id="2147483818" r:id="rId17"/>
    <p:sldLayoutId id="2147483831" r:id="rId18"/>
    <p:sldLayoutId id="214748374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40" r:id="rId13"/>
    <p:sldLayoutId id="2147483841" r:id="rId14"/>
    <p:sldLayoutId id="2147483842" r:id="rId15"/>
    <p:sldLayoutId id="2147483843" r:id="rId16"/>
    <p:sldLayoutId id="2147483819" r:id="rId17"/>
    <p:sldLayoutId id="2147483832" r:id="rId18"/>
    <p:sldLayoutId id="2147483783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44" r:id="rId13"/>
    <p:sldLayoutId id="2147483845" r:id="rId14"/>
    <p:sldLayoutId id="2147483846" r:id="rId15"/>
    <p:sldLayoutId id="2147483847" r:id="rId16"/>
    <p:sldLayoutId id="2147483820" r:id="rId17"/>
    <p:sldLayoutId id="2147483833" r:id="rId18"/>
    <p:sldLayoutId id="21474837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48" r:id="rId13"/>
    <p:sldLayoutId id="2147483849" r:id="rId14"/>
    <p:sldLayoutId id="2147483850" r:id="rId15"/>
    <p:sldLayoutId id="2147483851" r:id="rId16"/>
    <p:sldLayoutId id="2147483821" r:id="rId17"/>
    <p:sldLayoutId id="2147483834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52" r:id="rId13"/>
    <p:sldLayoutId id="2147483853" r:id="rId14"/>
    <p:sldLayoutId id="2147483854" r:id="rId15"/>
    <p:sldLayoutId id="2147483855" r:id="rId16"/>
    <p:sldLayoutId id="2147483822" r:id="rId17"/>
    <p:sldLayoutId id="2147483835" r:id="rId18"/>
    <p:sldLayoutId id="214748381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2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2.xml'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png"/></Relationships>
</file>

<file path=ppt/slides/_rels/slide5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7.xml'/></Relationships>
</file>

<file path=ppt/slides/_rels/slide6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1.xml'/></Relationships>
</file>

<file path=ppt/slides/_rels/slide7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0.xml'/></Relationships>
</file>

<file path=ppt/slides/_rels/slide8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9.xml'/></Relationships>
</file>

<file path=ppt/slides/_rels/slide9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0.xml'/></Relationships>
</file>

<file path=ppt/slides/_rels/slide10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2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h10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the geographies of England and Brazil compare?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rogTitle"/>
          <p:cNvSpPr txBox="1"/>
          <p:nvPr/>
        </p:nvSpPr>
        <p:spPr>
          <a:xfrm>
            <a:off x="120000" y="1050000"/>
            <a:ext cx="3080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GB" sz="1800" b="1" dirty="0">
                <a:latin typeface="Twinkl Cursive Looped"/>
              </a:rPr>
              <a:t>Place, space and scale</a:t>
            </a: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1666875"/>
            <a:ext cx="650000" cy="536250"/>
          </a:xfrm>
          <a:prstGeom prst="rect">
            <a:avLst/>
          </a:prstGeom>
        </p:spPr>
      </p:pic>
      <p:sp>
        <p:nvSpPr>
          <p:cNvPr id="311" name="DefText311"/>
          <p:cNvSpPr txBox="1"/>
          <p:nvPr/>
        </p:nvSpPr>
        <p:spPr>
          <a:xfrm>
            <a:off x="850000" y="161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Twinkl Cursive Looped"/>
              </a:rPr>
              <a:t>Places are areas that have been defined by a given name.</a:t>
            </a:r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" y="2335642"/>
            <a:ext cx="650000" cy="618716"/>
          </a:xfrm>
          <a:prstGeom prst="rect">
            <a:avLst/>
          </a:prstGeom>
        </p:spPr>
      </p:pic>
      <p:sp>
        <p:nvSpPr>
          <p:cNvPr id="313" name="DefText313"/>
          <p:cNvSpPr txBox="1"/>
          <p:nvPr/>
        </p:nvSpPr>
        <p:spPr>
          <a:xfrm>
            <a:off x="850000" y="232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Twinkl Cursive Looped"/>
              </a:rPr>
              <a:t>Space is about the importance of places and the way people organise where we live.</a:t>
            </a: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3049118"/>
            <a:ext cx="650000" cy="611764"/>
          </a:xfrm>
          <a:prstGeom prst="rect">
            <a:avLst/>
          </a:prstGeom>
        </p:spPr>
      </p:pic>
      <p:sp>
        <p:nvSpPr>
          <p:cNvPr id="315" name="DefText315"/>
          <p:cNvSpPr txBox="1"/>
          <p:nvPr/>
        </p:nvSpPr>
        <p:spPr>
          <a:xfrm>
            <a:off x="850000" y="303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Twinkl Cursive Looped"/>
              </a:rPr>
              <a:t>Scale is when we 'zoom-in and zoom-out' to explore local, regional and global patterns and connections.</a:t>
            </a:r>
          </a:p>
        </p:txBody>
      </p:sp>
      <p:pic>
        <p:nvPicPr>
          <p:cNvPr id="400" name="Strip40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400000" y="5723330"/>
            <a:ext cx="8642000" cy="934666"/>
          </a:xfrm>
          <a:prstGeom prst="rect">
            <a:avLst/>
          </a:prstGeom>
        </p:spPr>
      </p:pic>
      <p:pic>
        <p:nvPicPr>
          <p:cNvPr id="401" name="Strip401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00000" y="4788664"/>
            <a:ext cx="8642000" cy="934666"/>
          </a:xfrm>
          <a:prstGeom prst="rect">
            <a:avLst/>
          </a:prstGeom>
        </p:spPr>
      </p:pic>
      <p:pic>
        <p:nvPicPr>
          <p:cNvPr id="402" name="Strip402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400000" y="3853998"/>
            <a:ext cx="8642000" cy="934666"/>
          </a:xfrm>
          <a:prstGeom prst="rect">
            <a:avLst/>
          </a:prstGeom>
        </p:spPr>
      </p:pic>
      <p:pic>
        <p:nvPicPr>
          <p:cNvPr id="403" name="Strip403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400000" y="2919332"/>
            <a:ext cx="8642000" cy="934666"/>
          </a:xfrm>
          <a:prstGeom prst="rect">
            <a:avLst/>
          </a:prstGeom>
        </p:spPr>
      </p:pic>
      <p:pic>
        <p:nvPicPr>
          <p:cNvPr id="404" name="Strip404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400000" y="1984666"/>
            <a:ext cx="8642000" cy="934666"/>
          </a:xfrm>
          <a:prstGeom prst="rect">
            <a:avLst/>
          </a:prstGeom>
        </p:spPr>
      </p:pic>
      <p:pic>
        <p:nvPicPr>
          <p:cNvPr id="405" name="Strip405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400000" y="1050000"/>
            <a:ext cx="8642000" cy="934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726" y="3571780"/>
            <a:ext cx="3437304" cy="3432845"/>
          </a:xfrm>
          <a:prstGeom prst="rect">
            <a:avLst/>
          </a:prstGeom>
        </p:spPr>
      </p:pic>
      <p:sp>
        <p:nvSpPr>
          <p:cNvPr id="201" name="PieceTxt1"/>
          <p:cNvSpPr txBox="1"/>
          <p:nvPr/>
        </p:nvSpPr>
        <p:spPr>
          <a:xfrm>
            <a:off x="734620" y="4726891"/>
            <a:ext cx="1318549" cy="12174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1600" b="1" dirty="0">
                <a:solidFill>
                  <a:srgbClr val="FFFFFF"/>
                </a:solidFill>
              </a:rPr>
              <a:t>Locating England and Brazil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01" name="LOContent501"/>
          <p:cNvSpPr txBox="1"/>
          <p:nvPr/>
        </p:nvSpPr>
        <p:spPr>
          <a:xfrm>
            <a:off x="698500" y="4719286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Locate England and Brazil on a world map and describe their positions</a:t>
            </a:r>
          </a:p>
        </p:txBody>
      </p:sp>
      <p:sp>
        <p:nvSpPr>
          <p:cNvPr id="502" name="LOContent502"/>
          <p:cNvSpPr txBox="1"/>
          <p:nvPr/>
        </p:nvSpPr>
        <p:spPr>
          <a:xfrm>
            <a:off x="4877594" y="4719287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geographers always begin by asking where a place is and what they expect to find there</a:t>
            </a:r>
          </a:p>
        </p:txBody>
      </p:sp>
      <p:sp>
        <p:nvSpPr>
          <p:cNvPr id="503" name="LOContent503"/>
          <p:cNvSpPr txBox="1"/>
          <p:nvPr/>
        </p:nvSpPr>
        <p:spPr>
          <a:xfrm>
            <a:off x="9056688" y="4719287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locating both countries on a blank world map and writing two predictions about how they might differ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knowledge am I bringing to this enquiry? What would I like to find out?</a:t>
            </a:r>
          </a:p>
        </p:txBody>
      </p:sp>
      <p:graphicFrame>
        <p:nvGraphicFramePr>
          <p:cNvPr id="200" name="KWL Table"/>
          <p:cNvGraphicFramePr>
            <a:graphicFrameLocks noGrp="1"/>
          </p:cNvGraphicFramePr>
          <p:nvPr/>
        </p:nvGraphicFramePr>
        <p:xfrm>
          <a:off x="457200" y="2200000"/>
          <a:ext cx="11277600" cy="4458000"/>
        </p:xfrm>
        <a:graphic>
          <a:graphicData uri="http://schemas.openxmlformats.org/drawingml/2006/table">
            <a:tbl>
              <a:tblPr firstRow="1"/>
              <a:tblGrid>
                <a:gridCol w="5638800"/>
                <a:gridCol w="5638800"/>
              </a:tblGrid>
              <a:tr h="50000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FFFFFF"/>
                          </a:solidFill>
                        </a:rPr>
                        <a:t>Prior Knowledge and Skill</a:t>
                      </a:r>
                    </a:p>
                  </a:txBody>
                  <a:tcPr marL="91440" marT="45720">
                    <a:solidFill>
                      <a:srgbClr val="1798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FFFFFF"/>
                          </a:solidFill>
                        </a:rPr>
                        <a:t>I am curious about...</a:t>
                      </a:r>
                    </a:p>
                  </a:txBody>
                  <a:tcPr marL="91440" marT="45720">
                    <a:solidFill>
                      <a:srgbClr val="1798D3"/>
                    </a:solidFill>
                  </a:tcPr>
                </a:tc>
              </a:tr>
              <a:tr h="3958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Vocabulary</a:t>
            </a:r>
          </a:p>
        </p:txBody>
      </p:sp>
      <p:sp>
        <p:nvSpPr>
          <p:cNvPr id="201" name="VocabContent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b="1" dirty="0"/>
              <a:t>hemisphere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one half of the Earth, divided either at the Equator (north/south) or the Prime Meridian (east/west)</a:t>
            </a:r>
          </a:p>
          <a:p>
            <a:endParaRPr lang="en-GB" sz="400"/>
          </a:p>
          <a:p>
            <a:r>
              <a:rPr lang="en-GB" sz="2200" b="1" dirty="0"/>
              <a:t>longitude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imaginary lines running from the North Pole to the South Pole, measuring distance east or west of the Prime Meridian</a:t>
            </a:r>
          </a:p>
          <a:p>
            <a:endParaRPr lang="en-GB" sz="400"/>
          </a:p>
          <a:p>
            <a:r>
              <a:rPr lang="en-GB" sz="2200" b="1" dirty="0"/>
              <a:t>latitude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imaginary lines running east to west around the Earth, measuring distance north or south of the Equator</a:t>
            </a:r>
          </a:p>
          <a:p>
            <a:endParaRPr lang="en-GB" sz="400"/>
          </a:p>
          <a:p>
            <a:r>
              <a:rPr lang="en-GB" sz="2200" b="1" dirty="0"/>
              <a:t>continent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one of the seven large land masses on Earth (e.g. South America, Europe)</a:t>
            </a:r>
          </a:p>
          <a:p>
            <a:endParaRPr lang="en-GB" sz="400"/>
          </a:p>
          <a:p>
            <a:r>
              <a:rPr lang="en-GB" sz="2200" b="1" dirty="0"/>
              <a:t>Equator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the imaginary line at 0° latitude that divides the Earth into the northern and southern hemispheres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on Earth are England and Brazil?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England sits in north-west Europe at around 52°N, 1°W. Brazil dominates the eastern side of South America, straddling the Equator between 5°N and 33°S. Because Brazil is so large, parts of it are in both the northern and southern hemispheres.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Locating both countries together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an atlas, find and label England and Brazil on a blank world map. Mark the Equator, the Tropic of Capricorn, and the Prime Meridian. Write the approximate latitude and longitude of London and Brasília.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in the world?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Complete the world map independently, adding compass directions and a key. Write three geographical facts about the position of each country.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7</TotalTime>
  <Words>1048</Words>
  <Application>Microsoft Macintosh PowerPoint</Application>
  <PresentationFormat>Widescreen</PresentationFormat>
  <Paragraphs>112</Paragraphs>
  <Slides>10</Slides>
  <Notes>0</Notes>
  <HiddenSlides>0</HiddenSlides>
  <MMClips>0</MMClips>
  <ScaleCrop>false</ScaleCrop>
  <HeadingPairs>
    <vt:vector xmlns:vt="http://schemas.openxmlformats.org/officeDocument/2006/docPropsVTypes"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xmlns:vt="http://schemas.openxmlformats.org/officeDocument/2006/docPropsVTypes" size="19" baseType="lpstr">
      <vt:lpstr>Aptos</vt:lpstr>
      <vt:lpstr>Arial</vt:lpstr>
      <vt:lpstr>Calibri</vt:lpstr>
      <vt:lpstr>Sassoon Infant Rg</vt:lpstr>
      <vt:lpstr>Sassoon Primary Rg</vt:lpstr>
      <vt:lpstr>Segoe UI</vt:lpstr>
      <vt:lpstr>Twinkl Cursive Looped</vt:lpstr>
      <vt:lpstr>Twinkl Cursive Looped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knowledge am I bringing to this enquiry? What would I like to find out?</vt:lpstr>
      <vt:lpstr>Key Vocabulary</vt:lpstr>
      <vt:lpstr>Where on Earth are England and Brazil?</vt:lpstr>
      <vt:lpstr>Locating both countries together</vt:lpstr>
      <vt:lpstr>Where in the world?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innes mclean</dc:creator>
  <cp:keywords/>
  <dc:description/>
  <cp:lastModifiedBy>innes mclean</cp:lastModifiedBy>
  <cp:revision>3</cp:revision>
  <dcterms:created xsi:type="dcterms:W3CDTF">2026-06-21T16:44:49Z</dcterms:created>
  <dcterms:modified xsi:type="dcterms:W3CDTF">2026-07-19T19:53:33Z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