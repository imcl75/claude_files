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4101" r:id="rId10"/>
    <p:sldId id="4102" r:id="rId11"/>
    <p:sldId id="4103" r:id="rId12"/>
    <p:sldId id="4104" r:id="rId13"/>
    <p:sldId id="4105" r:id="rId14"/>
    <p:sldId id="4106" r:id="rId15"/>
    <p:sldId id="4107" r:id="rId16"/>
    <p:sldId id="4108" r:id="rId17"/>
    <p:sldId id="4109" r:id="rId18"/>
    <p:sldId id="4110" r:id="rId19"/>
    <p:sldId id="4111" r:id="rId20"/>
    <p:sldId id="4112" r:id="rId21"/>
    <p:sldId id="4113" r:id="rId22"/>
    <p:sldId id="411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ources" id="{154E198E-0130-A84B-84B2-A60C971BA2A2}">
          <p14:sldIdLst>
            <p14:sldId id="256"/>
            <p14:sldId id="257"/>
            <p14:sldId id="258"/>
            <p14:sldId id="259"/>
          </p14:sldIdLst>
        </p14:section>
        <p14:section name="Slide Deck" id="{66BEB757-3A3E-994B-8B52-AC6FEC5ACC7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ableStyles" Target="tableStyles.xml"/><Relationship Id="rId28" Type="http://schemas.openxmlformats.org/officeDocument/2006/relationships/slide" Target="slides/slide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069325" y="5079350"/>
            <a:ext cx="8554700" cy="4812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763" y="801688"/>
            <a:ext cx="7129462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4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1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29.xml.rels><?xml version="1.0" encoding="UTF-8"?>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hdphoto1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3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36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4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4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4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4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51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5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9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6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6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6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6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66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6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7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76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  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?>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?>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6.xml.rels><?xml version="1.0" encoding="UTF-8"?>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18" r:id="rId13"/>
    <p:sldLayoutId id="2147483831" r:id="rId14"/>
    <p:sldLayoutId id="214748374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19" r:id="rId13"/>
    <p:sldLayoutId id="2147483832" r:id="rId14"/>
    <p:sldLayoutId id="21474837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20" r:id="rId13"/>
    <p:sldLayoutId id="2147483833" r:id="rId14"/>
    <p:sldLayoutId id="21474837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21" r:id="rId13"/>
    <p:sldLayoutId id="2147483834" r:id="rId14"/>
    <p:sldLayoutId id="214748376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22" r:id="rId13"/>
    <p:sldLayoutId id="2147483835" r:id="rId14"/>
    <p:sldLayoutId id="214748381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30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29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45.png"/><Relationship Id="rId11" Type="http://schemas.openxmlformats.org/officeDocument/2006/relationships/image" Target="../media/image28.png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10" Type="http://schemas.openxmlformats.org/officeDocument/2006/relationships/image" Target="../media/image27.png"/><Relationship Id="rId4" Type="http://schemas.openxmlformats.org/officeDocument/2006/relationships/image" Target="../media/image43.png"/><Relationship Id="rId9" Type="http://schemas.openxmlformats.org/officeDocument/2006/relationships/image" Target="../media/image26.png"/><Relationship Id="rId14" Type="http://schemas.openxmlformats.org/officeDocument/2006/relationships/image" Target="../media/image48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conn_col.emf"/><Relationship Id="rId3" Type="http://schemas.openxmlformats.org/officeDocument/2006/relationships/image" Target="../media/conn_grey.emf"/><Relationship Id="rId4" Type="http://schemas.openxmlformats.org/officeDocument/2006/relationships/image" Target="../media/conn_icon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1413306" y="81065"/>
            <a:ext cx="8907511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2970"/>
              </a:lnSpc>
            </a:pPr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Our Oracy Frameworks	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1"/>
          <p:cNvGrpSpPr/>
          <p:nvPr/>
        </p:nvGrpSpPr>
        <p:grpSpPr>
          <a:xfrm>
            <a:off x="9297029" y="4627646"/>
            <a:ext cx="397155" cy="463218"/>
            <a:chOff x="8816328" y="5412917"/>
            <a:chExt cx="433478" cy="505583"/>
          </a:xfrm>
        </p:grpSpPr>
        <p:sp>
          <p:nvSpPr>
            <p:cNvPr id="45" name="Google Shape;45;p1"/>
            <p:cNvSpPr/>
            <p:nvPr/>
          </p:nvSpPr>
          <p:spPr>
            <a:xfrm>
              <a:off x="8816328" y="5412917"/>
              <a:ext cx="298450" cy="435609"/>
            </a:xfrm>
            <a:custGeom>
              <a:avLst/>
              <a:gdLst/>
              <a:ahLst/>
              <a:cxnLst/>
              <a:rect l="l" t="t" r="r" b="b"/>
              <a:pathLst>
                <a:path w="298450" h="435610" extrusionOk="0">
                  <a:moveTo>
                    <a:pt x="42017" y="27999"/>
                  </a:moveTo>
                  <a:lnTo>
                    <a:pt x="66726" y="11689"/>
                  </a:lnTo>
                  <a:lnTo>
                    <a:pt x="102706" y="1672"/>
                  </a:lnTo>
                  <a:lnTo>
                    <a:pt x="145518" y="0"/>
                  </a:lnTo>
                  <a:lnTo>
                    <a:pt x="190722" y="8721"/>
                  </a:lnTo>
                  <a:lnTo>
                    <a:pt x="229504" y="26576"/>
                  </a:lnTo>
                  <a:lnTo>
                    <a:pt x="262673" y="57417"/>
                  </a:lnTo>
                  <a:lnTo>
                    <a:pt x="286680" y="96705"/>
                  </a:lnTo>
                  <a:lnTo>
                    <a:pt x="297973" y="139899"/>
                  </a:lnTo>
                  <a:lnTo>
                    <a:pt x="297368" y="172404"/>
                  </a:lnTo>
                  <a:lnTo>
                    <a:pt x="287316" y="207203"/>
                  </a:lnTo>
                  <a:lnTo>
                    <a:pt x="269632" y="240172"/>
                  </a:lnTo>
                  <a:lnTo>
                    <a:pt x="246132" y="267191"/>
                  </a:lnTo>
                  <a:lnTo>
                    <a:pt x="227841" y="282129"/>
                  </a:lnTo>
                  <a:lnTo>
                    <a:pt x="212456" y="302710"/>
                  </a:lnTo>
                  <a:lnTo>
                    <a:pt x="201289" y="326792"/>
                  </a:lnTo>
                  <a:lnTo>
                    <a:pt x="195649" y="352230"/>
                  </a:lnTo>
                  <a:lnTo>
                    <a:pt x="194936" y="358787"/>
                  </a:lnTo>
                  <a:lnTo>
                    <a:pt x="192836" y="367472"/>
                  </a:lnTo>
                  <a:lnTo>
                    <a:pt x="174771" y="402888"/>
                  </a:lnTo>
                  <a:lnTo>
                    <a:pt x="138384" y="428812"/>
                  </a:lnTo>
                  <a:lnTo>
                    <a:pt x="115576" y="435428"/>
                  </a:lnTo>
                  <a:lnTo>
                    <a:pt x="88284" y="433868"/>
                  </a:lnTo>
                  <a:lnTo>
                    <a:pt x="40206" y="416065"/>
                  </a:lnTo>
                  <a:lnTo>
                    <a:pt x="10609" y="385579"/>
                  </a:lnTo>
                  <a:lnTo>
                    <a:pt x="0" y="351483"/>
                  </a:lnTo>
                  <a:lnTo>
                    <a:pt x="488" y="332672"/>
                  </a:lnTo>
                </a:path>
              </a:pathLst>
            </a:custGeom>
            <a:noFill/>
            <a:ln w="43975" cap="flat" cmpd="sng">
              <a:solidFill>
                <a:srgbClr val="3DCA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52808" y="5503652"/>
              <a:ext cx="156479" cy="223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67831" y="5668857"/>
              <a:ext cx="181975" cy="2496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" name="Google Shape;4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5937" y="4365508"/>
            <a:ext cx="520407" cy="47755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 idx="4294967295"/>
          </p:nvPr>
        </p:nvSpPr>
        <p:spPr>
          <a:xfrm>
            <a:off x="0" y="106363"/>
            <a:ext cx="4954588" cy="5191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635" rIns="0" bIns="0" rtlCol="0" anchor="t" anchorCtr="0">
            <a:spAutoFit/>
          </a:bodyPr>
          <a:lstStyle/>
          <a:p>
            <a:pPr marL="11635"/>
            <a:r>
              <a:rPr lang="en-US" sz="3665"/>
              <a:t>The Oracy Framework</a:t>
            </a:r>
            <a:endParaRPr sz="3665"/>
          </a:p>
        </p:txBody>
      </p:sp>
      <p:grpSp>
        <p:nvGrpSpPr>
          <p:cNvPr id="50" name="Google Shape;50;p1"/>
          <p:cNvGrpSpPr/>
          <p:nvPr/>
        </p:nvGrpSpPr>
        <p:grpSpPr>
          <a:xfrm>
            <a:off x="9932577" y="183388"/>
            <a:ext cx="875011" cy="858141"/>
            <a:chOff x="9161263" y="324002"/>
            <a:chExt cx="955040" cy="936625"/>
          </a:xfrm>
        </p:grpSpPr>
        <p:sp>
          <p:nvSpPr>
            <p:cNvPr id="51" name="Google Shape;51;p1"/>
            <p:cNvSpPr/>
            <p:nvPr/>
          </p:nvSpPr>
          <p:spPr>
            <a:xfrm>
              <a:off x="9185737" y="348481"/>
              <a:ext cx="906144" cy="887094"/>
            </a:xfrm>
            <a:custGeom>
              <a:avLst/>
              <a:gdLst/>
              <a:ahLst/>
              <a:cxnLst/>
              <a:rect l="l" t="t" r="r" b="b"/>
              <a:pathLst>
                <a:path w="906145" h="887094" extrusionOk="0">
                  <a:moveTo>
                    <a:pt x="452894" y="0"/>
                  </a:moveTo>
                  <a:lnTo>
                    <a:pt x="403546" y="2602"/>
                  </a:lnTo>
                  <a:lnTo>
                    <a:pt x="355738" y="10229"/>
                  </a:lnTo>
                  <a:lnTo>
                    <a:pt x="309745" y="22610"/>
                  </a:lnTo>
                  <a:lnTo>
                    <a:pt x="265843" y="39474"/>
                  </a:lnTo>
                  <a:lnTo>
                    <a:pt x="224310" y="60552"/>
                  </a:lnTo>
                  <a:lnTo>
                    <a:pt x="185421" y="85571"/>
                  </a:lnTo>
                  <a:lnTo>
                    <a:pt x="149452" y="114263"/>
                  </a:lnTo>
                  <a:lnTo>
                    <a:pt x="116680" y="146356"/>
                  </a:lnTo>
                  <a:lnTo>
                    <a:pt x="87382" y="181580"/>
                  </a:lnTo>
                  <a:lnTo>
                    <a:pt x="61833" y="219664"/>
                  </a:lnTo>
                  <a:lnTo>
                    <a:pt x="40310" y="260338"/>
                  </a:lnTo>
                  <a:lnTo>
                    <a:pt x="23088" y="303332"/>
                  </a:lnTo>
                  <a:lnTo>
                    <a:pt x="10445" y="348374"/>
                  </a:lnTo>
                  <a:lnTo>
                    <a:pt x="2657" y="395194"/>
                  </a:lnTo>
                  <a:lnTo>
                    <a:pt x="0" y="443522"/>
                  </a:lnTo>
                  <a:lnTo>
                    <a:pt x="2657" y="491850"/>
                  </a:lnTo>
                  <a:lnTo>
                    <a:pt x="10445" y="538670"/>
                  </a:lnTo>
                  <a:lnTo>
                    <a:pt x="23088" y="583713"/>
                  </a:lnTo>
                  <a:lnTo>
                    <a:pt x="40310" y="626707"/>
                  </a:lnTo>
                  <a:lnTo>
                    <a:pt x="61833" y="667382"/>
                  </a:lnTo>
                  <a:lnTo>
                    <a:pt x="87382" y="705468"/>
                  </a:lnTo>
                  <a:lnTo>
                    <a:pt x="116680" y="740693"/>
                  </a:lnTo>
                  <a:lnTo>
                    <a:pt x="149452" y="772787"/>
                  </a:lnTo>
                  <a:lnTo>
                    <a:pt x="185421" y="801480"/>
                  </a:lnTo>
                  <a:lnTo>
                    <a:pt x="224310" y="826501"/>
                  </a:lnTo>
                  <a:lnTo>
                    <a:pt x="265843" y="847579"/>
                  </a:lnTo>
                  <a:lnTo>
                    <a:pt x="309745" y="864445"/>
                  </a:lnTo>
                  <a:lnTo>
                    <a:pt x="355738" y="876826"/>
                  </a:lnTo>
                  <a:lnTo>
                    <a:pt x="403546" y="884454"/>
                  </a:lnTo>
                  <a:lnTo>
                    <a:pt x="452894" y="887056"/>
                  </a:lnTo>
                  <a:lnTo>
                    <a:pt x="502242" y="884454"/>
                  </a:lnTo>
                  <a:lnTo>
                    <a:pt x="550051" y="876826"/>
                  </a:lnTo>
                  <a:lnTo>
                    <a:pt x="596044" y="864445"/>
                  </a:lnTo>
                  <a:lnTo>
                    <a:pt x="639945" y="847579"/>
                  </a:lnTo>
                  <a:lnTo>
                    <a:pt x="681479" y="826501"/>
                  </a:lnTo>
                  <a:lnTo>
                    <a:pt x="720368" y="801480"/>
                  </a:lnTo>
                  <a:lnTo>
                    <a:pt x="756336" y="772787"/>
                  </a:lnTo>
                  <a:lnTo>
                    <a:pt x="789108" y="740693"/>
                  </a:lnTo>
                  <a:lnTo>
                    <a:pt x="818406" y="705468"/>
                  </a:lnTo>
                  <a:lnTo>
                    <a:pt x="843955" y="667382"/>
                  </a:lnTo>
                  <a:lnTo>
                    <a:pt x="865479" y="626707"/>
                  </a:lnTo>
                  <a:lnTo>
                    <a:pt x="882700" y="583713"/>
                  </a:lnTo>
                  <a:lnTo>
                    <a:pt x="895343" y="538670"/>
                  </a:lnTo>
                  <a:lnTo>
                    <a:pt x="903131" y="491850"/>
                  </a:lnTo>
                  <a:lnTo>
                    <a:pt x="905789" y="443522"/>
                  </a:lnTo>
                  <a:lnTo>
                    <a:pt x="903131" y="395194"/>
                  </a:lnTo>
                  <a:lnTo>
                    <a:pt x="895343" y="348374"/>
                  </a:lnTo>
                  <a:lnTo>
                    <a:pt x="882700" y="303332"/>
                  </a:lnTo>
                  <a:lnTo>
                    <a:pt x="865479" y="260338"/>
                  </a:lnTo>
                  <a:lnTo>
                    <a:pt x="843955" y="219664"/>
                  </a:lnTo>
                  <a:lnTo>
                    <a:pt x="818406" y="181580"/>
                  </a:lnTo>
                  <a:lnTo>
                    <a:pt x="789108" y="146356"/>
                  </a:lnTo>
                  <a:lnTo>
                    <a:pt x="756336" y="114263"/>
                  </a:lnTo>
                  <a:lnTo>
                    <a:pt x="720368" y="85571"/>
                  </a:lnTo>
                  <a:lnTo>
                    <a:pt x="681479" y="60552"/>
                  </a:lnTo>
                  <a:lnTo>
                    <a:pt x="639945" y="39474"/>
                  </a:lnTo>
                  <a:lnTo>
                    <a:pt x="596044" y="22610"/>
                  </a:lnTo>
                  <a:lnTo>
                    <a:pt x="550051" y="10229"/>
                  </a:lnTo>
                  <a:lnTo>
                    <a:pt x="502242" y="2602"/>
                  </a:lnTo>
                  <a:lnTo>
                    <a:pt x="45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9161263" y="324002"/>
              <a:ext cx="955040" cy="936625"/>
            </a:xfrm>
            <a:custGeom>
              <a:avLst/>
              <a:gdLst/>
              <a:ahLst/>
              <a:cxnLst/>
              <a:rect l="l" t="t" r="r" b="b"/>
              <a:pathLst>
                <a:path w="955040" h="936625" extrusionOk="0">
                  <a:moveTo>
                    <a:pt x="477367" y="0"/>
                  </a:moveTo>
                  <a:lnTo>
                    <a:pt x="428629" y="2420"/>
                  </a:lnTo>
                  <a:lnTo>
                    <a:pt x="381282" y="9525"/>
                  </a:lnTo>
                  <a:lnTo>
                    <a:pt x="335570" y="21075"/>
                  </a:lnTo>
                  <a:lnTo>
                    <a:pt x="291732" y="36835"/>
                  </a:lnTo>
                  <a:lnTo>
                    <a:pt x="250013" y="56568"/>
                  </a:lnTo>
                  <a:lnTo>
                    <a:pt x="210652" y="80036"/>
                  </a:lnTo>
                  <a:lnTo>
                    <a:pt x="173892" y="107002"/>
                  </a:lnTo>
                  <a:lnTo>
                    <a:pt x="139976" y="137229"/>
                  </a:lnTo>
                  <a:lnTo>
                    <a:pt x="109144" y="170481"/>
                  </a:lnTo>
                  <a:lnTo>
                    <a:pt x="81638" y="206520"/>
                  </a:lnTo>
                  <a:lnTo>
                    <a:pt x="57700" y="245108"/>
                  </a:lnTo>
                  <a:lnTo>
                    <a:pt x="37573" y="286010"/>
                  </a:lnTo>
                  <a:lnTo>
                    <a:pt x="21497" y="328988"/>
                  </a:lnTo>
                  <a:lnTo>
                    <a:pt x="9715" y="373805"/>
                  </a:lnTo>
                  <a:lnTo>
                    <a:pt x="2469" y="420224"/>
                  </a:lnTo>
                  <a:lnTo>
                    <a:pt x="0" y="468007"/>
                  </a:lnTo>
                  <a:lnTo>
                    <a:pt x="2469" y="515789"/>
                  </a:lnTo>
                  <a:lnTo>
                    <a:pt x="9715" y="562205"/>
                  </a:lnTo>
                  <a:lnTo>
                    <a:pt x="21497" y="607020"/>
                  </a:lnTo>
                  <a:lnTo>
                    <a:pt x="37573" y="649997"/>
                  </a:lnTo>
                  <a:lnTo>
                    <a:pt x="57700" y="690897"/>
                  </a:lnTo>
                  <a:lnTo>
                    <a:pt x="81638" y="729485"/>
                  </a:lnTo>
                  <a:lnTo>
                    <a:pt x="109144" y="765523"/>
                  </a:lnTo>
                  <a:lnTo>
                    <a:pt x="139976" y="798774"/>
                  </a:lnTo>
                  <a:lnTo>
                    <a:pt x="173892" y="829001"/>
                  </a:lnTo>
                  <a:lnTo>
                    <a:pt x="210652" y="855967"/>
                  </a:lnTo>
                  <a:lnTo>
                    <a:pt x="250013" y="879434"/>
                  </a:lnTo>
                  <a:lnTo>
                    <a:pt x="291732" y="899166"/>
                  </a:lnTo>
                  <a:lnTo>
                    <a:pt x="335570" y="914926"/>
                  </a:lnTo>
                  <a:lnTo>
                    <a:pt x="381282" y="926477"/>
                  </a:lnTo>
                  <a:lnTo>
                    <a:pt x="428629" y="933581"/>
                  </a:lnTo>
                  <a:lnTo>
                    <a:pt x="477367" y="936002"/>
                  </a:lnTo>
                  <a:lnTo>
                    <a:pt x="526106" y="933581"/>
                  </a:lnTo>
                  <a:lnTo>
                    <a:pt x="573452" y="926477"/>
                  </a:lnTo>
                  <a:lnTo>
                    <a:pt x="619165" y="914926"/>
                  </a:lnTo>
                  <a:lnTo>
                    <a:pt x="663002" y="899166"/>
                  </a:lnTo>
                  <a:lnTo>
                    <a:pt x="688606" y="887056"/>
                  </a:lnTo>
                  <a:lnTo>
                    <a:pt x="477367" y="887056"/>
                  </a:lnTo>
                  <a:lnTo>
                    <a:pt x="427474" y="884232"/>
                  </a:lnTo>
                  <a:lnTo>
                    <a:pt x="379253" y="875970"/>
                  </a:lnTo>
                  <a:lnTo>
                    <a:pt x="333028" y="862586"/>
                  </a:lnTo>
                  <a:lnTo>
                    <a:pt x="289123" y="844399"/>
                  </a:lnTo>
                  <a:lnTo>
                    <a:pt x="247863" y="821724"/>
                  </a:lnTo>
                  <a:lnTo>
                    <a:pt x="209570" y="794879"/>
                  </a:lnTo>
                  <a:lnTo>
                    <a:pt x="174569" y="764181"/>
                  </a:lnTo>
                  <a:lnTo>
                    <a:pt x="143184" y="729945"/>
                  </a:lnTo>
                  <a:lnTo>
                    <a:pt x="115738" y="692490"/>
                  </a:lnTo>
                  <a:lnTo>
                    <a:pt x="92557" y="652132"/>
                  </a:lnTo>
                  <a:lnTo>
                    <a:pt x="73963" y="609188"/>
                  </a:lnTo>
                  <a:lnTo>
                    <a:pt x="60280" y="563975"/>
                  </a:lnTo>
                  <a:lnTo>
                    <a:pt x="51833" y="516809"/>
                  </a:lnTo>
                  <a:lnTo>
                    <a:pt x="48945" y="468007"/>
                  </a:lnTo>
                  <a:lnTo>
                    <a:pt x="51833" y="419203"/>
                  </a:lnTo>
                  <a:lnTo>
                    <a:pt x="60280" y="372035"/>
                  </a:lnTo>
                  <a:lnTo>
                    <a:pt x="73963" y="326820"/>
                  </a:lnTo>
                  <a:lnTo>
                    <a:pt x="92557" y="283874"/>
                  </a:lnTo>
                  <a:lnTo>
                    <a:pt x="115738" y="243515"/>
                  </a:lnTo>
                  <a:lnTo>
                    <a:pt x="143184" y="206059"/>
                  </a:lnTo>
                  <a:lnTo>
                    <a:pt x="174569" y="171823"/>
                  </a:lnTo>
                  <a:lnTo>
                    <a:pt x="209570" y="141123"/>
                  </a:lnTo>
                  <a:lnTo>
                    <a:pt x="247863" y="114278"/>
                  </a:lnTo>
                  <a:lnTo>
                    <a:pt x="289123" y="91603"/>
                  </a:lnTo>
                  <a:lnTo>
                    <a:pt x="333028" y="73416"/>
                  </a:lnTo>
                  <a:lnTo>
                    <a:pt x="379253" y="60032"/>
                  </a:lnTo>
                  <a:lnTo>
                    <a:pt x="427474" y="51770"/>
                  </a:lnTo>
                  <a:lnTo>
                    <a:pt x="477367" y="48945"/>
                  </a:lnTo>
                  <a:lnTo>
                    <a:pt x="688605" y="48945"/>
                  </a:lnTo>
                  <a:lnTo>
                    <a:pt x="663002" y="36835"/>
                  </a:lnTo>
                  <a:lnTo>
                    <a:pt x="619165" y="21075"/>
                  </a:lnTo>
                  <a:lnTo>
                    <a:pt x="573452" y="9525"/>
                  </a:lnTo>
                  <a:lnTo>
                    <a:pt x="526106" y="2420"/>
                  </a:lnTo>
                  <a:lnTo>
                    <a:pt x="477367" y="0"/>
                  </a:lnTo>
                  <a:close/>
                </a:path>
                <a:path w="955040" h="936625" extrusionOk="0">
                  <a:moveTo>
                    <a:pt x="688605" y="48945"/>
                  </a:moveTo>
                  <a:lnTo>
                    <a:pt x="477367" y="48945"/>
                  </a:lnTo>
                  <a:lnTo>
                    <a:pt x="527260" y="51770"/>
                  </a:lnTo>
                  <a:lnTo>
                    <a:pt x="575481" y="60032"/>
                  </a:lnTo>
                  <a:lnTo>
                    <a:pt x="621706" y="73416"/>
                  </a:lnTo>
                  <a:lnTo>
                    <a:pt x="665611" y="91603"/>
                  </a:lnTo>
                  <a:lnTo>
                    <a:pt x="706872" y="114278"/>
                  </a:lnTo>
                  <a:lnTo>
                    <a:pt x="745164" y="141123"/>
                  </a:lnTo>
                  <a:lnTo>
                    <a:pt x="780165" y="171823"/>
                  </a:lnTo>
                  <a:lnTo>
                    <a:pt x="811550" y="206059"/>
                  </a:lnTo>
                  <a:lnTo>
                    <a:pt x="838996" y="243515"/>
                  </a:lnTo>
                  <a:lnTo>
                    <a:pt x="862177" y="283874"/>
                  </a:lnTo>
                  <a:lnTo>
                    <a:pt x="880772" y="326820"/>
                  </a:lnTo>
                  <a:lnTo>
                    <a:pt x="894454" y="372035"/>
                  </a:lnTo>
                  <a:lnTo>
                    <a:pt x="902901" y="419203"/>
                  </a:lnTo>
                  <a:lnTo>
                    <a:pt x="905789" y="468007"/>
                  </a:lnTo>
                  <a:lnTo>
                    <a:pt x="902901" y="516809"/>
                  </a:lnTo>
                  <a:lnTo>
                    <a:pt x="894454" y="563975"/>
                  </a:lnTo>
                  <a:lnTo>
                    <a:pt x="880772" y="609188"/>
                  </a:lnTo>
                  <a:lnTo>
                    <a:pt x="862177" y="652132"/>
                  </a:lnTo>
                  <a:lnTo>
                    <a:pt x="838996" y="692490"/>
                  </a:lnTo>
                  <a:lnTo>
                    <a:pt x="811550" y="729945"/>
                  </a:lnTo>
                  <a:lnTo>
                    <a:pt x="780165" y="764181"/>
                  </a:lnTo>
                  <a:lnTo>
                    <a:pt x="745164" y="794879"/>
                  </a:lnTo>
                  <a:lnTo>
                    <a:pt x="706872" y="821724"/>
                  </a:lnTo>
                  <a:lnTo>
                    <a:pt x="665611" y="844399"/>
                  </a:lnTo>
                  <a:lnTo>
                    <a:pt x="621706" y="862586"/>
                  </a:lnTo>
                  <a:lnTo>
                    <a:pt x="575481" y="875970"/>
                  </a:lnTo>
                  <a:lnTo>
                    <a:pt x="527260" y="884232"/>
                  </a:lnTo>
                  <a:lnTo>
                    <a:pt x="477367" y="887056"/>
                  </a:lnTo>
                  <a:lnTo>
                    <a:pt x="688606" y="887056"/>
                  </a:lnTo>
                  <a:lnTo>
                    <a:pt x="744082" y="855967"/>
                  </a:lnTo>
                  <a:lnTo>
                    <a:pt x="780842" y="829001"/>
                  </a:lnTo>
                  <a:lnTo>
                    <a:pt x="814758" y="798774"/>
                  </a:lnTo>
                  <a:lnTo>
                    <a:pt x="845591" y="765523"/>
                  </a:lnTo>
                  <a:lnTo>
                    <a:pt x="873096" y="729485"/>
                  </a:lnTo>
                  <a:lnTo>
                    <a:pt x="897034" y="690897"/>
                  </a:lnTo>
                  <a:lnTo>
                    <a:pt x="917161" y="649997"/>
                  </a:lnTo>
                  <a:lnTo>
                    <a:pt x="933237" y="607020"/>
                  </a:lnTo>
                  <a:lnTo>
                    <a:pt x="945019" y="562205"/>
                  </a:lnTo>
                  <a:lnTo>
                    <a:pt x="952265" y="515789"/>
                  </a:lnTo>
                  <a:lnTo>
                    <a:pt x="954735" y="468007"/>
                  </a:lnTo>
                  <a:lnTo>
                    <a:pt x="952265" y="420224"/>
                  </a:lnTo>
                  <a:lnTo>
                    <a:pt x="945019" y="373805"/>
                  </a:lnTo>
                  <a:lnTo>
                    <a:pt x="933237" y="328988"/>
                  </a:lnTo>
                  <a:lnTo>
                    <a:pt x="917161" y="286010"/>
                  </a:lnTo>
                  <a:lnTo>
                    <a:pt x="897034" y="245108"/>
                  </a:lnTo>
                  <a:lnTo>
                    <a:pt x="873096" y="206520"/>
                  </a:lnTo>
                  <a:lnTo>
                    <a:pt x="845591" y="170481"/>
                  </a:lnTo>
                  <a:lnTo>
                    <a:pt x="814758" y="137229"/>
                  </a:lnTo>
                  <a:lnTo>
                    <a:pt x="780842" y="107002"/>
                  </a:lnTo>
                  <a:lnTo>
                    <a:pt x="744082" y="80036"/>
                  </a:lnTo>
                  <a:lnTo>
                    <a:pt x="704722" y="56568"/>
                  </a:lnTo>
                  <a:lnTo>
                    <a:pt x="688605" y="48945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9724212" y="520534"/>
              <a:ext cx="186690" cy="354965"/>
            </a:xfrm>
            <a:custGeom>
              <a:avLst/>
              <a:gdLst/>
              <a:ahLst/>
              <a:cxnLst/>
              <a:rect l="l" t="t" r="r" b="b"/>
              <a:pathLst>
                <a:path w="186690" h="354965" extrusionOk="0">
                  <a:moveTo>
                    <a:pt x="85178" y="124574"/>
                  </a:moveTo>
                  <a:lnTo>
                    <a:pt x="81826" y="108331"/>
                  </a:lnTo>
                  <a:lnTo>
                    <a:pt x="72707" y="95072"/>
                  </a:lnTo>
                  <a:lnTo>
                    <a:pt x="59169" y="86131"/>
                  </a:lnTo>
                  <a:lnTo>
                    <a:pt x="42595" y="82854"/>
                  </a:lnTo>
                  <a:lnTo>
                    <a:pt x="26009" y="86131"/>
                  </a:lnTo>
                  <a:lnTo>
                    <a:pt x="12471" y="95072"/>
                  </a:lnTo>
                  <a:lnTo>
                    <a:pt x="3340" y="108331"/>
                  </a:lnTo>
                  <a:lnTo>
                    <a:pt x="0" y="124574"/>
                  </a:lnTo>
                  <a:lnTo>
                    <a:pt x="0" y="312851"/>
                  </a:lnTo>
                  <a:lnTo>
                    <a:pt x="3340" y="329082"/>
                  </a:lnTo>
                  <a:lnTo>
                    <a:pt x="12471" y="342341"/>
                  </a:lnTo>
                  <a:lnTo>
                    <a:pt x="26009" y="351282"/>
                  </a:lnTo>
                  <a:lnTo>
                    <a:pt x="42595" y="354558"/>
                  </a:lnTo>
                  <a:lnTo>
                    <a:pt x="59169" y="351282"/>
                  </a:lnTo>
                  <a:lnTo>
                    <a:pt x="72707" y="342341"/>
                  </a:lnTo>
                  <a:lnTo>
                    <a:pt x="81826" y="329082"/>
                  </a:lnTo>
                  <a:lnTo>
                    <a:pt x="85178" y="312851"/>
                  </a:lnTo>
                  <a:lnTo>
                    <a:pt x="85178" y="124574"/>
                  </a:lnTo>
                  <a:close/>
                </a:path>
                <a:path w="186690" h="354965" extrusionOk="0">
                  <a:moveTo>
                    <a:pt x="186258" y="41846"/>
                  </a:moveTo>
                  <a:lnTo>
                    <a:pt x="182905" y="25552"/>
                  </a:lnTo>
                  <a:lnTo>
                    <a:pt x="173736" y="12255"/>
                  </a:lnTo>
                  <a:lnTo>
                    <a:pt x="160159" y="3289"/>
                  </a:lnTo>
                  <a:lnTo>
                    <a:pt x="143522" y="0"/>
                  </a:lnTo>
                  <a:lnTo>
                    <a:pt x="126898" y="3289"/>
                  </a:lnTo>
                  <a:lnTo>
                    <a:pt x="113309" y="12255"/>
                  </a:lnTo>
                  <a:lnTo>
                    <a:pt x="104165" y="25552"/>
                  </a:lnTo>
                  <a:lnTo>
                    <a:pt x="100799" y="41846"/>
                  </a:lnTo>
                  <a:lnTo>
                    <a:pt x="100799" y="312712"/>
                  </a:lnTo>
                  <a:lnTo>
                    <a:pt x="104165" y="329006"/>
                  </a:lnTo>
                  <a:lnTo>
                    <a:pt x="113309" y="342303"/>
                  </a:lnTo>
                  <a:lnTo>
                    <a:pt x="126898" y="351269"/>
                  </a:lnTo>
                  <a:lnTo>
                    <a:pt x="143522" y="354558"/>
                  </a:lnTo>
                  <a:lnTo>
                    <a:pt x="160159" y="351269"/>
                  </a:lnTo>
                  <a:lnTo>
                    <a:pt x="173736" y="342303"/>
                  </a:lnTo>
                  <a:lnTo>
                    <a:pt x="182905" y="329006"/>
                  </a:lnTo>
                  <a:lnTo>
                    <a:pt x="186258" y="312712"/>
                  </a:lnTo>
                  <a:lnTo>
                    <a:pt x="186258" y="41846"/>
                  </a:lnTo>
                  <a:close/>
                </a:path>
              </a:pathLst>
            </a:custGeom>
            <a:solidFill>
              <a:srgbClr val="6824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9623409" y="603382"/>
              <a:ext cx="85725" cy="271780"/>
            </a:xfrm>
            <a:custGeom>
              <a:avLst/>
              <a:gdLst/>
              <a:ahLst/>
              <a:cxnLst/>
              <a:rect l="l" t="t" r="r" b="b"/>
              <a:pathLst>
                <a:path w="85725" h="271780" extrusionOk="0">
                  <a:moveTo>
                    <a:pt x="42595" y="0"/>
                  </a:moveTo>
                  <a:lnTo>
                    <a:pt x="26017" y="3278"/>
                  </a:lnTo>
                  <a:lnTo>
                    <a:pt x="12477" y="12220"/>
                  </a:lnTo>
                  <a:lnTo>
                    <a:pt x="3348" y="25481"/>
                  </a:lnTo>
                  <a:lnTo>
                    <a:pt x="0" y="41719"/>
                  </a:lnTo>
                  <a:lnTo>
                    <a:pt x="0" y="229997"/>
                  </a:lnTo>
                  <a:lnTo>
                    <a:pt x="3348" y="246232"/>
                  </a:lnTo>
                  <a:lnTo>
                    <a:pt x="12477" y="259489"/>
                  </a:lnTo>
                  <a:lnTo>
                    <a:pt x="26017" y="268426"/>
                  </a:lnTo>
                  <a:lnTo>
                    <a:pt x="42595" y="271703"/>
                  </a:lnTo>
                  <a:lnTo>
                    <a:pt x="59174" y="268426"/>
                  </a:lnTo>
                  <a:lnTo>
                    <a:pt x="72713" y="259489"/>
                  </a:lnTo>
                  <a:lnTo>
                    <a:pt x="81843" y="246232"/>
                  </a:lnTo>
                  <a:lnTo>
                    <a:pt x="85191" y="229997"/>
                  </a:lnTo>
                  <a:lnTo>
                    <a:pt x="85191" y="41719"/>
                  </a:lnTo>
                  <a:lnTo>
                    <a:pt x="81843" y="25481"/>
                  </a:lnTo>
                  <a:lnTo>
                    <a:pt x="72713" y="12220"/>
                  </a:lnTo>
                  <a:lnTo>
                    <a:pt x="59174" y="3278"/>
                  </a:lnTo>
                  <a:lnTo>
                    <a:pt x="42595" y="0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" name="Google Shape;55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330864" y="695854"/>
              <a:ext cx="278287" cy="179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331369" y="912825"/>
              <a:ext cx="374516" cy="113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33913" y="909698"/>
              <a:ext cx="150858" cy="111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"/>
          <p:cNvSpPr txBox="1"/>
          <p:nvPr/>
        </p:nvSpPr>
        <p:spPr>
          <a:xfrm>
            <a:off x="2566880" y="792701"/>
            <a:ext cx="6866870" cy="23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452">
                <a:solidFill>
                  <a:srgbClr val="083942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Here are some things to think about when you are using your oracy skills:</a:t>
            </a:r>
            <a:endParaRPr sz="1452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739061" y="2540314"/>
            <a:ext cx="1744788" cy="603897"/>
          </a:xfrm>
          <a:custGeom>
            <a:avLst/>
            <a:gdLst/>
            <a:ahLst/>
            <a:cxnLst/>
            <a:rect l="l" t="t" r="r" b="b"/>
            <a:pathLst>
              <a:path w="1904364" h="659129" extrusionOk="0">
                <a:moveTo>
                  <a:pt x="157443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574431" y="658672"/>
                </a:lnTo>
                <a:lnTo>
                  <a:pt x="1623099" y="655101"/>
                </a:lnTo>
                <a:lnTo>
                  <a:pt x="1669549" y="644729"/>
                </a:lnTo>
                <a:lnTo>
                  <a:pt x="1713272" y="628063"/>
                </a:lnTo>
                <a:lnTo>
                  <a:pt x="1753759" y="605615"/>
                </a:lnTo>
                <a:lnTo>
                  <a:pt x="1790501" y="577892"/>
                </a:lnTo>
                <a:lnTo>
                  <a:pt x="1822988" y="545406"/>
                </a:lnTo>
                <a:lnTo>
                  <a:pt x="1850710" y="508664"/>
                </a:lnTo>
                <a:lnTo>
                  <a:pt x="1873159" y="468177"/>
                </a:lnTo>
                <a:lnTo>
                  <a:pt x="1889824" y="424453"/>
                </a:lnTo>
                <a:lnTo>
                  <a:pt x="1900197" y="378003"/>
                </a:lnTo>
                <a:lnTo>
                  <a:pt x="1903768" y="329336"/>
                </a:lnTo>
                <a:lnTo>
                  <a:pt x="1900197" y="280669"/>
                </a:lnTo>
                <a:lnTo>
                  <a:pt x="1889824" y="234218"/>
                </a:lnTo>
                <a:lnTo>
                  <a:pt x="1873159" y="190495"/>
                </a:lnTo>
                <a:lnTo>
                  <a:pt x="1850710" y="150008"/>
                </a:lnTo>
                <a:lnTo>
                  <a:pt x="1822988" y="113266"/>
                </a:lnTo>
                <a:lnTo>
                  <a:pt x="1790501" y="80780"/>
                </a:lnTo>
                <a:lnTo>
                  <a:pt x="1753759" y="53057"/>
                </a:lnTo>
                <a:lnTo>
                  <a:pt x="1713272" y="30609"/>
                </a:lnTo>
                <a:lnTo>
                  <a:pt x="1669549" y="13943"/>
                </a:lnTo>
                <a:lnTo>
                  <a:pt x="1623099" y="3570"/>
                </a:lnTo>
                <a:lnTo>
                  <a:pt x="1574431" y="0"/>
                </a:lnTo>
                <a:close/>
              </a:path>
            </a:pathLst>
          </a:custGeom>
          <a:solidFill>
            <a:srgbClr val="FFBE6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169692" y="2661135"/>
            <a:ext cx="83486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Physical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3970842" y="2534020"/>
            <a:ext cx="1910598" cy="603897"/>
          </a:xfrm>
          <a:custGeom>
            <a:avLst/>
            <a:gdLst/>
            <a:ahLst/>
            <a:cxnLst/>
            <a:rect l="l" t="t" r="r" b="b"/>
            <a:pathLst>
              <a:path w="2085339" h="659129" extrusionOk="0">
                <a:moveTo>
                  <a:pt x="1755482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755482" y="658672"/>
                </a:lnTo>
                <a:lnTo>
                  <a:pt x="1804150" y="655101"/>
                </a:lnTo>
                <a:lnTo>
                  <a:pt x="1850600" y="644729"/>
                </a:lnTo>
                <a:lnTo>
                  <a:pt x="1894323" y="628063"/>
                </a:lnTo>
                <a:lnTo>
                  <a:pt x="1934810" y="605615"/>
                </a:lnTo>
                <a:lnTo>
                  <a:pt x="1971552" y="577892"/>
                </a:lnTo>
                <a:lnTo>
                  <a:pt x="2004039" y="545406"/>
                </a:lnTo>
                <a:lnTo>
                  <a:pt x="2031761" y="508664"/>
                </a:lnTo>
                <a:lnTo>
                  <a:pt x="2054210" y="468177"/>
                </a:lnTo>
                <a:lnTo>
                  <a:pt x="2070875" y="424453"/>
                </a:lnTo>
                <a:lnTo>
                  <a:pt x="2081248" y="378003"/>
                </a:lnTo>
                <a:lnTo>
                  <a:pt x="2084819" y="329336"/>
                </a:lnTo>
                <a:lnTo>
                  <a:pt x="2081248" y="280669"/>
                </a:lnTo>
                <a:lnTo>
                  <a:pt x="2070875" y="234218"/>
                </a:lnTo>
                <a:lnTo>
                  <a:pt x="2054210" y="190495"/>
                </a:lnTo>
                <a:lnTo>
                  <a:pt x="2031761" y="150008"/>
                </a:lnTo>
                <a:lnTo>
                  <a:pt x="2004039" y="113266"/>
                </a:lnTo>
                <a:lnTo>
                  <a:pt x="1971552" y="80780"/>
                </a:lnTo>
                <a:lnTo>
                  <a:pt x="1934810" y="53057"/>
                </a:lnTo>
                <a:lnTo>
                  <a:pt x="1894323" y="30609"/>
                </a:lnTo>
                <a:lnTo>
                  <a:pt x="1850600" y="13943"/>
                </a:lnTo>
                <a:lnTo>
                  <a:pt x="1804150" y="3570"/>
                </a:lnTo>
                <a:lnTo>
                  <a:pt x="1755482" y="0"/>
                </a:ln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465621" y="2681307"/>
            <a:ext cx="954718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Linguistic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6274206" y="2522897"/>
            <a:ext cx="1770969" cy="603897"/>
          </a:xfrm>
          <a:custGeom>
            <a:avLst/>
            <a:gdLst/>
            <a:ahLst/>
            <a:cxnLst/>
            <a:rect l="l" t="t" r="r" b="b"/>
            <a:pathLst>
              <a:path w="1932940" h="659129" extrusionOk="0">
                <a:moveTo>
                  <a:pt x="160345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603451" y="658672"/>
                </a:lnTo>
                <a:lnTo>
                  <a:pt x="1652118" y="655101"/>
                </a:lnTo>
                <a:lnTo>
                  <a:pt x="1698569" y="644729"/>
                </a:lnTo>
                <a:lnTo>
                  <a:pt x="1742294" y="628063"/>
                </a:lnTo>
                <a:lnTo>
                  <a:pt x="1782782" y="605615"/>
                </a:lnTo>
                <a:lnTo>
                  <a:pt x="1819526" y="577892"/>
                </a:lnTo>
                <a:lnTo>
                  <a:pt x="1852014" y="545406"/>
                </a:lnTo>
                <a:lnTo>
                  <a:pt x="1879738" y="508664"/>
                </a:lnTo>
                <a:lnTo>
                  <a:pt x="1902188" y="468177"/>
                </a:lnTo>
                <a:lnTo>
                  <a:pt x="1918855" y="424453"/>
                </a:lnTo>
                <a:lnTo>
                  <a:pt x="1929229" y="378003"/>
                </a:lnTo>
                <a:lnTo>
                  <a:pt x="1932800" y="329336"/>
                </a:lnTo>
                <a:lnTo>
                  <a:pt x="1929229" y="280669"/>
                </a:lnTo>
                <a:lnTo>
                  <a:pt x="1918855" y="234218"/>
                </a:lnTo>
                <a:lnTo>
                  <a:pt x="1902188" y="190495"/>
                </a:lnTo>
                <a:lnTo>
                  <a:pt x="1879738" y="150008"/>
                </a:lnTo>
                <a:lnTo>
                  <a:pt x="1852014" y="113266"/>
                </a:lnTo>
                <a:lnTo>
                  <a:pt x="1819526" y="80780"/>
                </a:lnTo>
                <a:lnTo>
                  <a:pt x="1782782" y="53057"/>
                </a:lnTo>
                <a:lnTo>
                  <a:pt x="1742294" y="30609"/>
                </a:lnTo>
                <a:lnTo>
                  <a:pt x="1698569" y="13943"/>
                </a:lnTo>
                <a:lnTo>
                  <a:pt x="1652118" y="3570"/>
                </a:lnTo>
                <a:lnTo>
                  <a:pt x="1603451" y="0"/>
                </a:lnTo>
                <a:close/>
              </a:path>
            </a:pathLst>
          </a:custGeom>
          <a:solidFill>
            <a:srgbClr val="FBE2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669535" y="2676773"/>
            <a:ext cx="93900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Cognitive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24541" y="1202081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42633" y="1255561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0EE4F1-94DF-61E8-B599-7F8A46976242}"/>
              </a:ext>
            </a:extLst>
          </p:cNvPr>
          <p:cNvGrpSpPr/>
          <p:nvPr/>
        </p:nvGrpSpPr>
        <p:grpSpPr>
          <a:xfrm>
            <a:off x="4333587" y="1203131"/>
            <a:ext cx="1185106" cy="1185106"/>
            <a:chOff x="4333587" y="1203131"/>
            <a:chExt cx="1185106" cy="1185106"/>
          </a:xfrm>
        </p:grpSpPr>
        <p:sp>
          <p:nvSpPr>
            <p:cNvPr id="68" name="Google Shape;68;p1"/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"/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Google Shape;83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79530" y="1203147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/>
          <p:nvPr/>
        </p:nvSpPr>
        <p:spPr>
          <a:xfrm>
            <a:off x="8478385" y="2476605"/>
            <a:ext cx="1987396" cy="833123"/>
          </a:xfrm>
          <a:custGeom>
            <a:avLst/>
            <a:gdLst/>
            <a:ahLst/>
            <a:cxnLst/>
            <a:rect l="l" t="t" r="r" b="b"/>
            <a:pathLst>
              <a:path w="2169159" h="909320" extrusionOk="0">
                <a:moveTo>
                  <a:pt x="1714563" y="0"/>
                </a:moveTo>
                <a:lnTo>
                  <a:pt x="454444" y="0"/>
                </a:lnTo>
                <a:lnTo>
                  <a:pt x="407980" y="2346"/>
                </a:lnTo>
                <a:lnTo>
                  <a:pt x="362859" y="9232"/>
                </a:lnTo>
                <a:lnTo>
                  <a:pt x="319308" y="20431"/>
                </a:lnTo>
                <a:lnTo>
                  <a:pt x="277556" y="35713"/>
                </a:lnTo>
                <a:lnTo>
                  <a:pt x="237831" y="54849"/>
                </a:lnTo>
                <a:lnTo>
                  <a:pt x="200362" y="77613"/>
                </a:lnTo>
                <a:lnTo>
                  <a:pt x="165377" y="103774"/>
                </a:lnTo>
                <a:lnTo>
                  <a:pt x="133105" y="133105"/>
                </a:lnTo>
                <a:lnTo>
                  <a:pt x="103774" y="165377"/>
                </a:lnTo>
                <a:lnTo>
                  <a:pt x="77613" y="200362"/>
                </a:lnTo>
                <a:lnTo>
                  <a:pt x="54849" y="237831"/>
                </a:lnTo>
                <a:lnTo>
                  <a:pt x="35713" y="277556"/>
                </a:lnTo>
                <a:lnTo>
                  <a:pt x="20431" y="319308"/>
                </a:lnTo>
                <a:lnTo>
                  <a:pt x="9232" y="362859"/>
                </a:lnTo>
                <a:lnTo>
                  <a:pt x="2346" y="407980"/>
                </a:lnTo>
                <a:lnTo>
                  <a:pt x="0" y="454444"/>
                </a:lnTo>
                <a:lnTo>
                  <a:pt x="2346" y="500907"/>
                </a:lnTo>
                <a:lnTo>
                  <a:pt x="9232" y="546028"/>
                </a:lnTo>
                <a:lnTo>
                  <a:pt x="20431" y="589579"/>
                </a:lnTo>
                <a:lnTo>
                  <a:pt x="35713" y="631332"/>
                </a:lnTo>
                <a:lnTo>
                  <a:pt x="54849" y="671056"/>
                </a:lnTo>
                <a:lnTo>
                  <a:pt x="77613" y="708525"/>
                </a:lnTo>
                <a:lnTo>
                  <a:pt x="103774" y="743510"/>
                </a:lnTo>
                <a:lnTo>
                  <a:pt x="133105" y="775782"/>
                </a:lnTo>
                <a:lnTo>
                  <a:pt x="165377" y="805113"/>
                </a:lnTo>
                <a:lnTo>
                  <a:pt x="200362" y="831274"/>
                </a:lnTo>
                <a:lnTo>
                  <a:pt x="237831" y="854038"/>
                </a:lnTo>
                <a:lnTo>
                  <a:pt x="277556" y="873175"/>
                </a:lnTo>
                <a:lnTo>
                  <a:pt x="319308" y="888456"/>
                </a:lnTo>
                <a:lnTo>
                  <a:pt x="362859" y="899655"/>
                </a:lnTo>
                <a:lnTo>
                  <a:pt x="407980" y="906541"/>
                </a:lnTo>
                <a:lnTo>
                  <a:pt x="454444" y="908888"/>
                </a:lnTo>
                <a:lnTo>
                  <a:pt x="1714563" y="908888"/>
                </a:lnTo>
                <a:lnTo>
                  <a:pt x="1761026" y="906541"/>
                </a:lnTo>
                <a:lnTo>
                  <a:pt x="1806148" y="899655"/>
                </a:lnTo>
                <a:lnTo>
                  <a:pt x="1849699" y="888456"/>
                </a:lnTo>
                <a:lnTo>
                  <a:pt x="1891451" y="873175"/>
                </a:lnTo>
                <a:lnTo>
                  <a:pt x="1931176" y="854038"/>
                </a:lnTo>
                <a:lnTo>
                  <a:pt x="1968645" y="831274"/>
                </a:lnTo>
                <a:lnTo>
                  <a:pt x="2003630" y="805113"/>
                </a:lnTo>
                <a:lnTo>
                  <a:pt x="2035902" y="775782"/>
                </a:lnTo>
                <a:lnTo>
                  <a:pt x="2065232" y="743510"/>
                </a:lnTo>
                <a:lnTo>
                  <a:pt x="2091394" y="708525"/>
                </a:lnTo>
                <a:lnTo>
                  <a:pt x="2114157" y="671056"/>
                </a:lnTo>
                <a:lnTo>
                  <a:pt x="2133294" y="631332"/>
                </a:lnTo>
                <a:lnTo>
                  <a:pt x="2148576" y="589579"/>
                </a:lnTo>
                <a:lnTo>
                  <a:pt x="2159774" y="546028"/>
                </a:lnTo>
                <a:lnTo>
                  <a:pt x="2166661" y="500907"/>
                </a:lnTo>
                <a:lnTo>
                  <a:pt x="2169007" y="454444"/>
                </a:lnTo>
                <a:lnTo>
                  <a:pt x="2166661" y="407980"/>
                </a:lnTo>
                <a:lnTo>
                  <a:pt x="2159774" y="362859"/>
                </a:lnTo>
                <a:lnTo>
                  <a:pt x="2148576" y="319308"/>
                </a:lnTo>
                <a:lnTo>
                  <a:pt x="2133294" y="277556"/>
                </a:lnTo>
                <a:lnTo>
                  <a:pt x="2114157" y="237831"/>
                </a:lnTo>
                <a:lnTo>
                  <a:pt x="2091394" y="200362"/>
                </a:lnTo>
                <a:lnTo>
                  <a:pt x="2065232" y="165377"/>
                </a:lnTo>
                <a:lnTo>
                  <a:pt x="2035902" y="133105"/>
                </a:lnTo>
                <a:lnTo>
                  <a:pt x="2003630" y="103774"/>
                </a:lnTo>
                <a:lnTo>
                  <a:pt x="1968645" y="77613"/>
                </a:lnTo>
                <a:lnTo>
                  <a:pt x="1931176" y="54849"/>
                </a:lnTo>
                <a:lnTo>
                  <a:pt x="1891451" y="35713"/>
                </a:lnTo>
                <a:lnTo>
                  <a:pt x="1849699" y="20431"/>
                </a:lnTo>
                <a:lnTo>
                  <a:pt x="1806148" y="9232"/>
                </a:lnTo>
                <a:lnTo>
                  <a:pt x="1761026" y="2346"/>
                </a:lnTo>
                <a:lnTo>
                  <a:pt x="1714563" y="0"/>
                </a:lnTo>
                <a:close/>
              </a:path>
            </a:pathLst>
          </a:custGeom>
          <a:solidFill>
            <a:srgbClr val="8BDF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938880" y="2639112"/>
            <a:ext cx="993697" cy="5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904" rIns="0" bIns="0" anchor="t" anchorCtr="0">
            <a:spAutoFit/>
          </a:bodyPr>
          <a:lstStyle/>
          <a:p>
            <a:pPr marL="11635" marR="4653" indent="84932">
              <a:lnSpc>
                <a:spcPct val="111172"/>
              </a:lnSpc>
            </a:pPr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Social &amp;  Emotional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956569" y="35198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5384" y="3701973"/>
            <a:ext cx="1691265" cy="33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114599">
              <a:lnSpc>
                <a:spcPct val="101400"/>
              </a:lnSpc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sentence  stems to link others’ ideas?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227217" y="3338942"/>
            <a:ext cx="1987396" cy="565500"/>
          </a:xfrm>
          <a:custGeom>
            <a:avLst/>
            <a:gdLst/>
            <a:ahLst/>
            <a:cxnLst/>
            <a:rect l="l" t="t" r="r" b="b"/>
            <a:pathLst>
              <a:path w="2169159" h="61722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605"/>
                </a:lnTo>
                <a:lnTo>
                  <a:pt x="7341" y="518120"/>
                </a:lnTo>
                <a:lnTo>
                  <a:pt x="27785" y="557650"/>
                </a:lnTo>
                <a:lnTo>
                  <a:pt x="58959" y="588824"/>
                </a:lnTo>
                <a:lnTo>
                  <a:pt x="98490" y="609268"/>
                </a:lnTo>
                <a:lnTo>
                  <a:pt x="144005" y="616610"/>
                </a:lnTo>
                <a:lnTo>
                  <a:pt x="2025002" y="616610"/>
                </a:lnTo>
                <a:lnTo>
                  <a:pt x="2070517" y="609268"/>
                </a:lnTo>
                <a:lnTo>
                  <a:pt x="2110048" y="588824"/>
                </a:lnTo>
                <a:lnTo>
                  <a:pt x="2141221" y="557650"/>
                </a:lnTo>
                <a:lnTo>
                  <a:pt x="2161665" y="518120"/>
                </a:lnTo>
                <a:lnTo>
                  <a:pt x="2169007" y="472605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55566" y="3458359"/>
            <a:ext cx="1433531" cy="497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Is what you want to say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  <a:p>
            <a:pPr marL="54101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clear and </a:t>
            </a:r>
            <a:r>
              <a:rPr lang="en-US" sz="1053" err="1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organised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492047" y="3701973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690081" y="3799745"/>
            <a:ext cx="17308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taking turns to talk  and listen and encouraging  others to take part?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629598" y="3380223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884911" y="3516429"/>
            <a:ext cx="15551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thinking about  the speed and volume of  your voice?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645165" y="4431146"/>
            <a:ext cx="1987396" cy="729564"/>
          </a:xfrm>
          <a:custGeom>
            <a:avLst/>
            <a:gdLst/>
            <a:ahLst/>
            <a:cxnLst/>
            <a:rect l="l" t="t" r="r" b="b"/>
            <a:pathLst>
              <a:path w="2169160" h="79628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52106"/>
                </a:lnTo>
                <a:lnTo>
                  <a:pt x="7341" y="697620"/>
                </a:lnTo>
                <a:lnTo>
                  <a:pt x="27785" y="737148"/>
                </a:lnTo>
                <a:lnTo>
                  <a:pt x="58959" y="768317"/>
                </a:lnTo>
                <a:lnTo>
                  <a:pt x="98490" y="788758"/>
                </a:lnTo>
                <a:lnTo>
                  <a:pt x="144005" y="796099"/>
                </a:lnTo>
                <a:lnTo>
                  <a:pt x="2025002" y="796099"/>
                </a:lnTo>
                <a:lnTo>
                  <a:pt x="2070517" y="788758"/>
                </a:lnTo>
                <a:lnTo>
                  <a:pt x="2110048" y="768317"/>
                </a:lnTo>
                <a:lnTo>
                  <a:pt x="2141221" y="737148"/>
                </a:lnTo>
                <a:lnTo>
                  <a:pt x="2161665" y="697620"/>
                </a:lnTo>
                <a:lnTo>
                  <a:pt x="2169007" y="652106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813729" y="4541524"/>
            <a:ext cx="1694173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gestures and  expression to help make  your point?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93429" y="5546941"/>
            <a:ext cx="1987396" cy="564918"/>
          </a:xfrm>
          <a:custGeom>
            <a:avLst/>
            <a:gdLst/>
            <a:ahLst/>
            <a:cxnLst/>
            <a:rect l="l" t="t" r="r" b="b"/>
            <a:pathLst>
              <a:path w="2169160" h="616584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274"/>
                </a:lnTo>
                <a:lnTo>
                  <a:pt x="7341" y="517794"/>
                </a:lnTo>
                <a:lnTo>
                  <a:pt x="27785" y="557326"/>
                </a:lnTo>
                <a:lnTo>
                  <a:pt x="58959" y="588497"/>
                </a:lnTo>
                <a:lnTo>
                  <a:pt x="98490" y="608939"/>
                </a:lnTo>
                <a:lnTo>
                  <a:pt x="144005" y="616280"/>
                </a:lnTo>
                <a:lnTo>
                  <a:pt x="2025002" y="616280"/>
                </a:lnTo>
                <a:lnTo>
                  <a:pt x="2070517" y="608939"/>
                </a:lnTo>
                <a:lnTo>
                  <a:pt x="2110048" y="588497"/>
                </a:lnTo>
                <a:lnTo>
                  <a:pt x="2141221" y="557326"/>
                </a:lnTo>
                <a:lnTo>
                  <a:pt x="2161665" y="517794"/>
                </a:lnTo>
                <a:lnTo>
                  <a:pt x="2169007" y="472274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760989" y="5647438"/>
            <a:ext cx="167904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facing who you are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66317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speaking or listening to?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950758" y="5050049"/>
            <a:ext cx="1987501" cy="727277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195964" y="5245657"/>
            <a:ext cx="153010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74462"/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new and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11635">
              <a:spcBef>
                <a:spcPts val="18"/>
              </a:spcBef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appropriate vocabulary?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227217" y="43433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59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6479133" y="4434365"/>
            <a:ext cx="1458548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275739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asking  relevant questions and  responding to others?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02" name="Google Shape;102;p1"/>
          <p:cNvGrpSpPr/>
          <p:nvPr/>
        </p:nvGrpSpPr>
        <p:grpSpPr>
          <a:xfrm>
            <a:off x="6256562" y="5090967"/>
            <a:ext cx="1987396" cy="985429"/>
            <a:chOff x="5489995" y="5978044"/>
            <a:chExt cx="2169160" cy="1075555"/>
          </a:xfrm>
        </p:grpSpPr>
        <p:sp>
          <p:nvSpPr>
            <p:cNvPr id="103" name="Google Shape;103;p1"/>
            <p:cNvSpPr/>
            <p:nvPr/>
          </p:nvSpPr>
          <p:spPr>
            <a:xfrm>
              <a:off x="5489995" y="6433839"/>
              <a:ext cx="2169160" cy="619760"/>
            </a:xfrm>
            <a:custGeom>
              <a:avLst/>
              <a:gdLst/>
              <a:ahLst/>
              <a:cxnLst/>
              <a:rect l="l" t="t" r="r" b="b"/>
              <a:pathLst>
                <a:path w="2169159" h="619759" extrusionOk="0">
                  <a:moveTo>
                    <a:pt x="2025002" y="0"/>
                  </a:moveTo>
                  <a:lnTo>
                    <a:pt x="144005" y="0"/>
                  </a:lnTo>
                  <a:lnTo>
                    <a:pt x="98490" y="7340"/>
                  </a:lnTo>
                  <a:lnTo>
                    <a:pt x="58959" y="27782"/>
                  </a:lnTo>
                  <a:lnTo>
                    <a:pt x="27785" y="58954"/>
                  </a:lnTo>
                  <a:lnTo>
                    <a:pt x="7341" y="98485"/>
                  </a:lnTo>
                  <a:lnTo>
                    <a:pt x="0" y="144005"/>
                  </a:lnTo>
                  <a:lnTo>
                    <a:pt x="0" y="475754"/>
                  </a:lnTo>
                  <a:lnTo>
                    <a:pt x="7341" y="521269"/>
                  </a:lnTo>
                  <a:lnTo>
                    <a:pt x="27785" y="560800"/>
                  </a:lnTo>
                  <a:lnTo>
                    <a:pt x="58959" y="591974"/>
                  </a:lnTo>
                  <a:lnTo>
                    <a:pt x="98490" y="612418"/>
                  </a:lnTo>
                  <a:lnTo>
                    <a:pt x="144005" y="619759"/>
                  </a:lnTo>
                  <a:lnTo>
                    <a:pt x="2025002" y="619759"/>
                  </a:lnTo>
                  <a:lnTo>
                    <a:pt x="2070517" y="612418"/>
                  </a:lnTo>
                  <a:lnTo>
                    <a:pt x="2110048" y="591974"/>
                  </a:lnTo>
                  <a:lnTo>
                    <a:pt x="2141221" y="560800"/>
                  </a:lnTo>
                  <a:lnTo>
                    <a:pt x="2161665" y="521269"/>
                  </a:lnTo>
                  <a:lnTo>
                    <a:pt x="2169007" y="475754"/>
                  </a:lnTo>
                  <a:lnTo>
                    <a:pt x="2169007" y="144005"/>
                  </a:lnTo>
                  <a:lnTo>
                    <a:pt x="2161665" y="98485"/>
                  </a:lnTo>
                  <a:lnTo>
                    <a:pt x="2141221" y="58954"/>
                  </a:lnTo>
                  <a:lnTo>
                    <a:pt x="2110048" y="27782"/>
                  </a:lnTo>
                  <a:lnTo>
                    <a:pt x="2070517" y="7340"/>
                  </a:lnTo>
                  <a:lnTo>
                    <a:pt x="2025002" y="0"/>
                  </a:lnTo>
                  <a:close/>
                </a:path>
              </a:pathLst>
            </a:custGeom>
            <a:solidFill>
              <a:srgbClr val="F8CF0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288194" y="6283809"/>
              <a:ext cx="237031" cy="237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213521" y="0"/>
                  </a:move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close/>
                </a:path>
              </a:pathLst>
            </a:custGeom>
            <a:solidFill>
              <a:srgbClr val="FEF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329151" y="329151"/>
                  </a:move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close/>
                </a:path>
              </a:pathLst>
            </a:custGeom>
            <a:noFill/>
            <a:ln w="52750" cap="flat" cmpd="sng">
              <a:solidFill>
                <a:srgbClr val="F8CF0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"/>
          <p:cNvSpPr txBox="1"/>
          <p:nvPr/>
        </p:nvSpPr>
        <p:spPr>
          <a:xfrm>
            <a:off x="6443026" y="5129785"/>
            <a:ext cx="1614468" cy="84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R="182081" algn="r"/>
            <a:r>
              <a:rPr lang="en-US" sz="1923">
                <a:solidFill>
                  <a:srgbClr val="F8CF0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?</a:t>
            </a:r>
            <a:endParaRPr sz="1923">
              <a:solidFill>
                <a:schemeClr val="dk1"/>
              </a:solidFill>
              <a:latin typeface="Twinkl Cursive Looped" panose="02000000000000000000" pitchFamily="2" charset="77"/>
              <a:ea typeface="Tahoma"/>
              <a:cs typeface="Tahoma"/>
              <a:sym typeface="Tahoma"/>
            </a:endParaRPr>
          </a:p>
          <a:p>
            <a:pPr marL="173353" marR="4653" indent="-162303">
              <a:lnSpc>
                <a:spcPct val="101400"/>
              </a:lnSpc>
              <a:spcBef>
                <a:spcPts val="1636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giving reasons for  what you are saying?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483016" y="5163089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690080" y="5245656"/>
            <a:ext cx="1656939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talking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confidently 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and thinking about your  audience?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10" name="Google Shape;110;p1"/>
          <p:cNvGrpSpPr/>
          <p:nvPr/>
        </p:nvGrpSpPr>
        <p:grpSpPr>
          <a:xfrm>
            <a:off x="3213248" y="5102742"/>
            <a:ext cx="358383" cy="471157"/>
            <a:chOff x="2201303" y="6017755"/>
            <a:chExt cx="391160" cy="514247"/>
          </a:xfrm>
        </p:grpSpPr>
        <p:pic>
          <p:nvPicPr>
            <p:cNvPr id="111" name="Google Shape;111;p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354421" y="6017755"/>
              <a:ext cx="84378" cy="843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"/>
            <p:cNvSpPr/>
            <p:nvPr/>
          </p:nvSpPr>
          <p:spPr>
            <a:xfrm>
              <a:off x="2201303" y="6121157"/>
              <a:ext cx="391160" cy="410845"/>
            </a:xfrm>
            <a:custGeom>
              <a:avLst/>
              <a:gdLst/>
              <a:ahLst/>
              <a:cxnLst/>
              <a:rect l="l" t="t" r="r" b="b"/>
              <a:pathLst>
                <a:path w="391160" h="410845" extrusionOk="0">
                  <a:moveTo>
                    <a:pt x="195658" y="0"/>
                  </a:moveTo>
                  <a:lnTo>
                    <a:pt x="153869" y="7597"/>
                  </a:lnTo>
                  <a:lnTo>
                    <a:pt x="13553" y="57581"/>
                  </a:lnTo>
                  <a:lnTo>
                    <a:pt x="0" y="74351"/>
                  </a:lnTo>
                  <a:lnTo>
                    <a:pt x="815" y="82054"/>
                  </a:lnTo>
                  <a:lnTo>
                    <a:pt x="4558" y="88834"/>
                  </a:lnTo>
                  <a:lnTo>
                    <a:pt x="10408" y="93491"/>
                  </a:lnTo>
                  <a:lnTo>
                    <a:pt x="17579" y="95613"/>
                  </a:lnTo>
                  <a:lnTo>
                    <a:pt x="25288" y="94792"/>
                  </a:lnTo>
                  <a:lnTo>
                    <a:pt x="133111" y="55232"/>
                  </a:lnTo>
                  <a:lnTo>
                    <a:pt x="133111" y="386270"/>
                  </a:lnTo>
                  <a:lnTo>
                    <a:pt x="135028" y="395759"/>
                  </a:lnTo>
                  <a:lnTo>
                    <a:pt x="140255" y="403510"/>
                  </a:lnTo>
                  <a:lnTo>
                    <a:pt x="148005" y="408737"/>
                  </a:lnTo>
                  <a:lnTo>
                    <a:pt x="157495" y="410654"/>
                  </a:lnTo>
                  <a:lnTo>
                    <a:pt x="166984" y="408737"/>
                  </a:lnTo>
                  <a:lnTo>
                    <a:pt x="174735" y="403510"/>
                  </a:lnTo>
                  <a:lnTo>
                    <a:pt x="179962" y="395759"/>
                  </a:lnTo>
                  <a:lnTo>
                    <a:pt x="181879" y="386270"/>
                  </a:lnTo>
                  <a:lnTo>
                    <a:pt x="181879" y="199669"/>
                  </a:lnTo>
                  <a:lnTo>
                    <a:pt x="187886" y="193662"/>
                  </a:lnTo>
                  <a:lnTo>
                    <a:pt x="202745" y="193662"/>
                  </a:lnTo>
                  <a:lnTo>
                    <a:pt x="208752" y="199669"/>
                  </a:lnTo>
                  <a:lnTo>
                    <a:pt x="208752" y="386270"/>
                  </a:lnTo>
                  <a:lnTo>
                    <a:pt x="210669" y="395759"/>
                  </a:lnTo>
                  <a:lnTo>
                    <a:pt x="215896" y="403510"/>
                  </a:lnTo>
                  <a:lnTo>
                    <a:pt x="223647" y="408737"/>
                  </a:lnTo>
                  <a:lnTo>
                    <a:pt x="233136" y="410654"/>
                  </a:lnTo>
                  <a:lnTo>
                    <a:pt x="242623" y="408737"/>
                  </a:lnTo>
                  <a:lnTo>
                    <a:pt x="250370" y="403510"/>
                  </a:lnTo>
                  <a:lnTo>
                    <a:pt x="255592" y="395759"/>
                  </a:lnTo>
                  <a:lnTo>
                    <a:pt x="257507" y="386270"/>
                  </a:lnTo>
                  <a:lnTo>
                    <a:pt x="257507" y="55232"/>
                  </a:lnTo>
                  <a:lnTo>
                    <a:pt x="367273" y="95402"/>
                  </a:lnTo>
                  <a:lnTo>
                    <a:pt x="369242" y="95694"/>
                  </a:lnTo>
                  <a:lnTo>
                    <a:pt x="379478" y="95694"/>
                  </a:lnTo>
                  <a:lnTo>
                    <a:pt x="387162" y="90373"/>
                  </a:lnTo>
                  <a:lnTo>
                    <a:pt x="389790" y="82054"/>
                  </a:lnTo>
                  <a:lnTo>
                    <a:pt x="390606" y="74351"/>
                  </a:lnTo>
                  <a:lnTo>
                    <a:pt x="388484" y="67179"/>
                  </a:lnTo>
                  <a:lnTo>
                    <a:pt x="240642" y="9004"/>
                  </a:lnTo>
                  <a:lnTo>
                    <a:pt x="206455" y="140"/>
                  </a:lnTo>
                  <a:lnTo>
                    <a:pt x="195658" y="0"/>
                  </a:lnTo>
                  <a:close/>
                </a:path>
              </a:pathLst>
            </a:custGeom>
            <a:solidFill>
              <a:srgbClr val="FFC9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6330764" y="3963462"/>
            <a:ext cx="550955" cy="368273"/>
            <a:chOff x="5651392" y="4536803"/>
            <a:chExt cx="601345" cy="401955"/>
          </a:xfrm>
        </p:grpSpPr>
        <p:sp>
          <p:nvSpPr>
            <p:cNvPr id="114" name="Google Shape;114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564946" y="0"/>
                  </a:moveTo>
                  <a:lnTo>
                    <a:pt x="36004" y="0"/>
                  </a:ln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close/>
                </a:path>
              </a:pathLst>
            </a:custGeom>
            <a:solidFill>
              <a:srgbClr val="FCEC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36004" y="0"/>
                  </a:move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lnTo>
                    <a:pt x="3600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725458" y="4614223"/>
              <a:ext cx="124307" cy="91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5741252" y="4768069"/>
              <a:ext cx="92710" cy="92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"/>
          <p:cNvSpPr txBox="1"/>
          <p:nvPr/>
        </p:nvSpPr>
        <p:spPr>
          <a:xfrm>
            <a:off x="1555695" y="6380960"/>
            <a:ext cx="1430622" cy="29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KS1 Oracy Framework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798672" y="4088310"/>
            <a:ext cx="481723" cy="326966"/>
            <a:chOff x="723988" y="4813757"/>
            <a:chExt cx="525780" cy="356870"/>
          </a:xfrm>
        </p:grpSpPr>
        <p:sp>
          <p:nvSpPr>
            <p:cNvPr id="128" name="Google Shape;128;p1"/>
            <p:cNvSpPr/>
            <p:nvPr/>
          </p:nvSpPr>
          <p:spPr>
            <a:xfrm>
              <a:off x="723988" y="4813757"/>
              <a:ext cx="525780" cy="356870"/>
            </a:xfrm>
            <a:custGeom>
              <a:avLst/>
              <a:gdLst/>
              <a:ahLst/>
              <a:cxnLst/>
              <a:rect l="l" t="t" r="r" b="b"/>
              <a:pathLst>
                <a:path w="525780" h="356870" extrusionOk="0">
                  <a:moveTo>
                    <a:pt x="144183" y="94907"/>
                  </a:moveTo>
                  <a:lnTo>
                    <a:pt x="136601" y="75145"/>
                  </a:lnTo>
                  <a:lnTo>
                    <a:pt x="122301" y="59728"/>
                  </a:lnTo>
                  <a:lnTo>
                    <a:pt x="102603" y="50774"/>
                  </a:lnTo>
                  <a:lnTo>
                    <a:pt x="81026" y="50304"/>
                  </a:lnTo>
                  <a:lnTo>
                    <a:pt x="61633" y="58013"/>
                  </a:lnTo>
                  <a:lnTo>
                    <a:pt x="46482" y="72580"/>
                  </a:lnTo>
                  <a:lnTo>
                    <a:pt x="37693" y="92633"/>
                  </a:lnTo>
                  <a:lnTo>
                    <a:pt x="37223" y="114592"/>
                  </a:lnTo>
                  <a:lnTo>
                    <a:pt x="44805" y="134340"/>
                  </a:lnTo>
                  <a:lnTo>
                    <a:pt x="59105" y="149771"/>
                  </a:lnTo>
                  <a:lnTo>
                    <a:pt x="78803" y="158724"/>
                  </a:lnTo>
                  <a:lnTo>
                    <a:pt x="100368" y="159194"/>
                  </a:lnTo>
                  <a:lnTo>
                    <a:pt x="119773" y="151485"/>
                  </a:lnTo>
                  <a:lnTo>
                    <a:pt x="134912" y="136918"/>
                  </a:lnTo>
                  <a:lnTo>
                    <a:pt x="143713" y="116865"/>
                  </a:lnTo>
                  <a:lnTo>
                    <a:pt x="144183" y="94907"/>
                  </a:lnTo>
                  <a:close/>
                </a:path>
                <a:path w="525780" h="356870" extrusionOk="0">
                  <a:moveTo>
                    <a:pt x="228650" y="263169"/>
                  </a:moveTo>
                  <a:lnTo>
                    <a:pt x="227926" y="255460"/>
                  </a:lnTo>
                  <a:lnTo>
                    <a:pt x="224332" y="248551"/>
                  </a:lnTo>
                  <a:lnTo>
                    <a:pt x="218122" y="243344"/>
                  </a:lnTo>
                  <a:lnTo>
                    <a:pt x="206248" y="243205"/>
                  </a:lnTo>
                  <a:lnTo>
                    <a:pt x="188239" y="247751"/>
                  </a:lnTo>
                  <a:lnTo>
                    <a:pt x="168897" y="252158"/>
                  </a:lnTo>
                  <a:lnTo>
                    <a:pt x="153060" y="251663"/>
                  </a:lnTo>
                  <a:lnTo>
                    <a:pt x="149593" y="246265"/>
                  </a:lnTo>
                  <a:lnTo>
                    <a:pt x="145910" y="239090"/>
                  </a:lnTo>
                  <a:lnTo>
                    <a:pt x="132600" y="209854"/>
                  </a:lnTo>
                  <a:lnTo>
                    <a:pt x="125437" y="197281"/>
                  </a:lnTo>
                  <a:lnTo>
                    <a:pt x="74930" y="175006"/>
                  </a:lnTo>
                  <a:lnTo>
                    <a:pt x="45986" y="170078"/>
                  </a:lnTo>
                  <a:lnTo>
                    <a:pt x="35674" y="172008"/>
                  </a:lnTo>
                  <a:lnTo>
                    <a:pt x="6921" y="247408"/>
                  </a:lnTo>
                  <a:lnTo>
                    <a:pt x="1663" y="299415"/>
                  </a:lnTo>
                  <a:lnTo>
                    <a:pt x="0" y="346748"/>
                  </a:lnTo>
                  <a:lnTo>
                    <a:pt x="0" y="351459"/>
                  </a:lnTo>
                  <a:lnTo>
                    <a:pt x="3911" y="355434"/>
                  </a:lnTo>
                  <a:lnTo>
                    <a:pt x="99428" y="356514"/>
                  </a:lnTo>
                  <a:lnTo>
                    <a:pt x="103339" y="353263"/>
                  </a:lnTo>
                  <a:lnTo>
                    <a:pt x="103695" y="348919"/>
                  </a:lnTo>
                  <a:lnTo>
                    <a:pt x="114706" y="266128"/>
                  </a:lnTo>
                  <a:lnTo>
                    <a:pt x="144183" y="292519"/>
                  </a:lnTo>
                  <a:lnTo>
                    <a:pt x="148082" y="292874"/>
                  </a:lnTo>
                  <a:lnTo>
                    <a:pt x="151638" y="292874"/>
                  </a:lnTo>
                  <a:lnTo>
                    <a:pt x="176326" y="290855"/>
                  </a:lnTo>
                  <a:lnTo>
                    <a:pt x="199212" y="285648"/>
                  </a:lnTo>
                  <a:lnTo>
                    <a:pt x="216966" y="278536"/>
                  </a:lnTo>
                  <a:lnTo>
                    <a:pt x="226288" y="270827"/>
                  </a:lnTo>
                  <a:lnTo>
                    <a:pt x="228650" y="263169"/>
                  </a:lnTo>
                  <a:close/>
                </a:path>
                <a:path w="525780" h="356870" extrusionOk="0">
                  <a:moveTo>
                    <a:pt x="357339" y="29578"/>
                  </a:moveTo>
                  <a:lnTo>
                    <a:pt x="355015" y="18059"/>
                  </a:lnTo>
                  <a:lnTo>
                    <a:pt x="348691" y="8661"/>
                  </a:lnTo>
                  <a:lnTo>
                    <a:pt x="339293" y="2324"/>
                  </a:lnTo>
                  <a:lnTo>
                    <a:pt x="327774" y="0"/>
                  </a:lnTo>
                  <a:lnTo>
                    <a:pt x="199986" y="0"/>
                  </a:lnTo>
                  <a:lnTo>
                    <a:pt x="188480" y="2324"/>
                  </a:lnTo>
                  <a:lnTo>
                    <a:pt x="179082" y="8661"/>
                  </a:lnTo>
                  <a:lnTo>
                    <a:pt x="172745" y="18059"/>
                  </a:lnTo>
                  <a:lnTo>
                    <a:pt x="170421" y="29578"/>
                  </a:lnTo>
                  <a:lnTo>
                    <a:pt x="170421" y="117856"/>
                  </a:lnTo>
                  <a:lnTo>
                    <a:pt x="172745" y="129362"/>
                  </a:lnTo>
                  <a:lnTo>
                    <a:pt x="179082" y="138760"/>
                  </a:lnTo>
                  <a:lnTo>
                    <a:pt x="188480" y="145097"/>
                  </a:lnTo>
                  <a:lnTo>
                    <a:pt x="199986" y="147421"/>
                  </a:lnTo>
                  <a:lnTo>
                    <a:pt x="201980" y="147421"/>
                  </a:lnTo>
                  <a:lnTo>
                    <a:pt x="201904" y="184035"/>
                  </a:lnTo>
                  <a:lnTo>
                    <a:pt x="207238" y="186753"/>
                  </a:lnTo>
                  <a:lnTo>
                    <a:pt x="258470" y="149377"/>
                  </a:lnTo>
                  <a:lnTo>
                    <a:pt x="264452" y="147421"/>
                  </a:lnTo>
                  <a:lnTo>
                    <a:pt x="327774" y="147421"/>
                  </a:lnTo>
                  <a:lnTo>
                    <a:pt x="339293" y="145097"/>
                  </a:lnTo>
                  <a:lnTo>
                    <a:pt x="348691" y="138760"/>
                  </a:lnTo>
                  <a:lnTo>
                    <a:pt x="355015" y="129362"/>
                  </a:lnTo>
                  <a:lnTo>
                    <a:pt x="357339" y="117856"/>
                  </a:lnTo>
                  <a:lnTo>
                    <a:pt x="357339" y="29578"/>
                  </a:lnTo>
                  <a:close/>
                </a:path>
                <a:path w="525780" h="356870" extrusionOk="0">
                  <a:moveTo>
                    <a:pt x="487972" y="114592"/>
                  </a:moveTo>
                  <a:lnTo>
                    <a:pt x="487502" y="92633"/>
                  </a:lnTo>
                  <a:lnTo>
                    <a:pt x="478701" y="72580"/>
                  </a:lnTo>
                  <a:lnTo>
                    <a:pt x="463562" y="58013"/>
                  </a:lnTo>
                  <a:lnTo>
                    <a:pt x="444157" y="50304"/>
                  </a:lnTo>
                  <a:lnTo>
                    <a:pt x="422592" y="50774"/>
                  </a:lnTo>
                  <a:lnTo>
                    <a:pt x="402894" y="59728"/>
                  </a:lnTo>
                  <a:lnTo>
                    <a:pt x="388594" y="75145"/>
                  </a:lnTo>
                  <a:lnTo>
                    <a:pt x="381012" y="94907"/>
                  </a:lnTo>
                  <a:lnTo>
                    <a:pt x="381482" y="116865"/>
                  </a:lnTo>
                  <a:lnTo>
                    <a:pt x="390271" y="136918"/>
                  </a:lnTo>
                  <a:lnTo>
                    <a:pt x="405422" y="151485"/>
                  </a:lnTo>
                  <a:lnTo>
                    <a:pt x="424815" y="159194"/>
                  </a:lnTo>
                  <a:lnTo>
                    <a:pt x="446392" y="158724"/>
                  </a:lnTo>
                  <a:lnTo>
                    <a:pt x="466090" y="149771"/>
                  </a:lnTo>
                  <a:lnTo>
                    <a:pt x="480390" y="134340"/>
                  </a:lnTo>
                  <a:lnTo>
                    <a:pt x="487972" y="114592"/>
                  </a:lnTo>
                  <a:close/>
                </a:path>
                <a:path w="525780" h="356870" extrusionOk="0">
                  <a:moveTo>
                    <a:pt x="525195" y="346748"/>
                  </a:moveTo>
                  <a:lnTo>
                    <a:pt x="523532" y="299415"/>
                  </a:lnTo>
                  <a:lnTo>
                    <a:pt x="518274" y="247408"/>
                  </a:lnTo>
                  <a:lnTo>
                    <a:pt x="509816" y="202857"/>
                  </a:lnTo>
                  <a:lnTo>
                    <a:pt x="479209" y="170078"/>
                  </a:lnTo>
                  <a:lnTo>
                    <a:pt x="466496" y="171335"/>
                  </a:lnTo>
                  <a:lnTo>
                    <a:pt x="418655" y="182956"/>
                  </a:lnTo>
                  <a:lnTo>
                    <a:pt x="379285" y="239090"/>
                  </a:lnTo>
                  <a:lnTo>
                    <a:pt x="375602" y="246253"/>
                  </a:lnTo>
                  <a:lnTo>
                    <a:pt x="372135" y="251650"/>
                  </a:lnTo>
                  <a:lnTo>
                    <a:pt x="366179" y="247167"/>
                  </a:lnTo>
                  <a:lnTo>
                    <a:pt x="359041" y="239356"/>
                  </a:lnTo>
                  <a:lnTo>
                    <a:pt x="351713" y="229387"/>
                  </a:lnTo>
                  <a:lnTo>
                    <a:pt x="345147" y="218389"/>
                  </a:lnTo>
                  <a:lnTo>
                    <a:pt x="340182" y="212204"/>
                  </a:lnTo>
                  <a:lnTo>
                    <a:pt x="333387" y="208534"/>
                  </a:lnTo>
                  <a:lnTo>
                    <a:pt x="325729" y="207708"/>
                  </a:lnTo>
                  <a:lnTo>
                    <a:pt x="318160" y="210070"/>
                  </a:lnTo>
                  <a:lnTo>
                    <a:pt x="311937" y="215277"/>
                  </a:lnTo>
                  <a:lnTo>
                    <a:pt x="308356" y="222186"/>
                  </a:lnTo>
                  <a:lnTo>
                    <a:pt x="307619" y="229908"/>
                  </a:lnTo>
                  <a:lnTo>
                    <a:pt x="309994" y="237553"/>
                  </a:lnTo>
                  <a:lnTo>
                    <a:pt x="317576" y="250469"/>
                  </a:lnTo>
                  <a:lnTo>
                    <a:pt x="331520" y="269011"/>
                  </a:lnTo>
                  <a:lnTo>
                    <a:pt x="350596" y="285661"/>
                  </a:lnTo>
                  <a:lnTo>
                    <a:pt x="373557" y="292874"/>
                  </a:lnTo>
                  <a:lnTo>
                    <a:pt x="377113" y="292874"/>
                  </a:lnTo>
                  <a:lnTo>
                    <a:pt x="410489" y="266115"/>
                  </a:lnTo>
                  <a:lnTo>
                    <a:pt x="421500" y="348919"/>
                  </a:lnTo>
                  <a:lnTo>
                    <a:pt x="421855" y="353250"/>
                  </a:lnTo>
                  <a:lnTo>
                    <a:pt x="425754" y="356514"/>
                  </a:lnTo>
                  <a:lnTo>
                    <a:pt x="521284" y="355422"/>
                  </a:lnTo>
                  <a:lnTo>
                    <a:pt x="525195" y="351447"/>
                  </a:lnTo>
                  <a:lnTo>
                    <a:pt x="525195" y="346748"/>
                  </a:lnTo>
                  <a:close/>
                </a:path>
              </a:pathLst>
            </a:custGeom>
            <a:solidFill>
              <a:srgbClr val="FFBE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934593" y="4855781"/>
              <a:ext cx="106680" cy="62230"/>
            </a:xfrm>
            <a:custGeom>
              <a:avLst/>
              <a:gdLst/>
              <a:ahLst/>
              <a:cxnLst/>
              <a:rect l="l" t="t" r="r" b="b"/>
              <a:pathLst>
                <a:path w="106680" h="62229" extrusionOk="0">
                  <a:moveTo>
                    <a:pt x="106565" y="44475"/>
                  </a:moveTo>
                  <a:lnTo>
                    <a:pt x="101511" y="39331"/>
                  </a:lnTo>
                  <a:lnTo>
                    <a:pt x="11023" y="39331"/>
                  </a:lnTo>
                  <a:lnTo>
                    <a:pt x="5054" y="39331"/>
                  </a:lnTo>
                  <a:lnTo>
                    <a:pt x="0" y="44005"/>
                  </a:lnTo>
                  <a:lnTo>
                    <a:pt x="0" y="56642"/>
                  </a:lnTo>
                  <a:lnTo>
                    <a:pt x="5054" y="61785"/>
                  </a:lnTo>
                  <a:lnTo>
                    <a:pt x="101511" y="61785"/>
                  </a:lnTo>
                  <a:lnTo>
                    <a:pt x="106565" y="56642"/>
                  </a:lnTo>
                  <a:lnTo>
                    <a:pt x="106565" y="44475"/>
                  </a:lnTo>
                  <a:close/>
                </a:path>
                <a:path w="106680" h="62229" extrusionOk="0">
                  <a:moveTo>
                    <a:pt x="106565" y="5143"/>
                  </a:moveTo>
                  <a:lnTo>
                    <a:pt x="101511" y="0"/>
                  </a:lnTo>
                  <a:lnTo>
                    <a:pt x="11023" y="0"/>
                  </a:lnTo>
                  <a:lnTo>
                    <a:pt x="5054" y="0"/>
                  </a:lnTo>
                  <a:lnTo>
                    <a:pt x="0" y="5143"/>
                  </a:lnTo>
                  <a:lnTo>
                    <a:pt x="0" y="17310"/>
                  </a:lnTo>
                  <a:lnTo>
                    <a:pt x="5054" y="22453"/>
                  </a:lnTo>
                  <a:lnTo>
                    <a:pt x="101511" y="22453"/>
                  </a:lnTo>
                  <a:lnTo>
                    <a:pt x="106565" y="17310"/>
                  </a:lnTo>
                  <a:lnTo>
                    <a:pt x="106565" y="5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E55C2D-951F-EEDF-FCF9-A8AD9210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6E53BD8C-C4D8-F91F-E58A-FFFD724DC789}"/>
              </a:ext>
            </a:extLst>
          </p:cNvPr>
          <p:cNvSpPr txBox="1"/>
          <p:nvPr/>
        </p:nvSpPr>
        <p:spPr>
          <a:xfrm>
            <a:off x="4394476" y="206047"/>
            <a:ext cx="34030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winkl Cursive Looped" panose="02000000000000000000" pitchFamily="2" charset="77"/>
              </a:rPr>
              <a:t>Sentence Stems for Talk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1D83AD4-A75B-4FB0-6AC9-94377FE4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900" y="74930"/>
            <a:ext cx="1592580" cy="7239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4EFE63F-72D4-B19E-E895-452B03E15F1E}"/>
              </a:ext>
            </a:extLst>
          </p:cNvPr>
          <p:cNvSpPr txBox="1"/>
          <p:nvPr/>
        </p:nvSpPr>
        <p:spPr>
          <a:xfrm flipH="1">
            <a:off x="211370" y="206047"/>
            <a:ext cx="210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5183BE"/>
                </a:solidFill>
                <a:latin typeface="Twinkl Cursive Looped" panose="02000000000000000000" pitchFamily="2" charset="77"/>
              </a:rPr>
              <a:t>LKS2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05B553-BFA6-E77A-A4D4-AF72EB9AFBDC}"/>
              </a:ext>
            </a:extLst>
          </p:cNvPr>
          <p:cNvGrpSpPr/>
          <p:nvPr/>
        </p:nvGrpSpPr>
        <p:grpSpPr>
          <a:xfrm>
            <a:off x="7208322" y="1828465"/>
            <a:ext cx="4887157" cy="3835253"/>
            <a:chOff x="165653" y="982869"/>
            <a:chExt cx="3314147" cy="3835253"/>
          </a:xfrm>
        </p:grpSpPr>
        <p:sp>
          <p:nvSpPr>
            <p:cNvPr id="68" name="Rectangle: Rounded Corners 3">
              <a:extLst>
                <a:ext uri="{FF2B5EF4-FFF2-40B4-BE49-F238E27FC236}">
                  <a16:creationId xmlns:a16="http://schemas.microsoft.com/office/drawing/2014/main" id="{5D6CD1AD-78B3-4B82-86CE-9ADE575C4B31}"/>
                </a:ext>
              </a:extLst>
            </p:cNvPr>
            <p:cNvSpPr/>
            <p:nvPr/>
          </p:nvSpPr>
          <p:spPr>
            <a:xfrm>
              <a:off x="165653" y="982869"/>
              <a:ext cx="3072848" cy="371613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243F74-FB35-A154-DD3D-B4B78F03E875}"/>
                </a:ext>
              </a:extLst>
            </p:cNvPr>
            <p:cNvSpPr txBox="1"/>
            <p:nvPr/>
          </p:nvSpPr>
          <p:spPr>
            <a:xfrm>
              <a:off x="253976" y="1224413"/>
              <a:ext cx="271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Argue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A5BFB54-62F2-604A-1A0F-91C8A669B919}"/>
                </a:ext>
              </a:extLst>
            </p:cNvPr>
            <p:cNvSpPr txBox="1"/>
            <p:nvPr/>
          </p:nvSpPr>
          <p:spPr>
            <a:xfrm>
              <a:off x="406400" y="1955800"/>
              <a:ext cx="30734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for is…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against is… 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my opinion…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understand…however…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considered…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thought about… </a:t>
              </a:r>
              <a:endParaRPr lang="en-GB">
                <a:latin typeface="Twinkl Cursive Looped" panose="02000000000000000000" pitchFamily="2" charset="77"/>
              </a:endParaRPr>
            </a:p>
            <a:p>
              <a:endParaRPr lang="en-GB">
                <a:latin typeface="Twinkl Cursive Looped" panose="02000000000000000000" pitchFamily="2" charset="77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3382492-1FAF-84CB-10D1-E757A5C88D7C}"/>
              </a:ext>
            </a:extLst>
          </p:cNvPr>
          <p:cNvGrpSpPr/>
          <p:nvPr/>
        </p:nvGrpSpPr>
        <p:grpSpPr>
          <a:xfrm>
            <a:off x="612451" y="820527"/>
            <a:ext cx="5011528" cy="2814431"/>
            <a:chOff x="3534106" y="798830"/>
            <a:chExt cx="5011528" cy="281443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1AB2584-2524-6B32-2D7F-70B7A4ECCDA4}"/>
                </a:ext>
              </a:extLst>
            </p:cNvPr>
            <p:cNvGrpSpPr/>
            <p:nvPr/>
          </p:nvGrpSpPr>
          <p:grpSpPr>
            <a:xfrm>
              <a:off x="3534106" y="798830"/>
              <a:ext cx="5011528" cy="2814431"/>
              <a:chOff x="3479248" y="982869"/>
              <a:chExt cx="5011528" cy="2814431"/>
            </a:xfrm>
          </p:grpSpPr>
          <p:sp>
            <p:nvSpPr>
              <p:cNvPr id="74" name="Rectangle: Rounded Corners 6">
                <a:extLst>
                  <a:ext uri="{FF2B5EF4-FFF2-40B4-BE49-F238E27FC236}">
                    <a16:creationId xmlns:a16="http://schemas.microsoft.com/office/drawing/2014/main" id="{318C018C-E55A-8CCF-403A-846B6B1745A6}"/>
                  </a:ext>
                </a:extLst>
              </p:cNvPr>
              <p:cNvSpPr/>
              <p:nvPr/>
            </p:nvSpPr>
            <p:spPr>
              <a:xfrm>
                <a:off x="3479248" y="982869"/>
                <a:ext cx="5011528" cy="2814431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winkl Cursive Looped" panose="02000000000000000000" pitchFamily="2" charset="77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E350C4A-B673-7F67-082F-8FC566A5C782}"/>
                  </a:ext>
                </a:extLst>
              </p:cNvPr>
              <p:cNvSpPr txBox="1"/>
              <p:nvPr/>
            </p:nvSpPr>
            <p:spPr>
              <a:xfrm>
                <a:off x="3680375" y="1604668"/>
                <a:ext cx="4701760" cy="2132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appears…because…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seems to be…due to…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reminds me…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To conclude… / In conclusion… / To sum up…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B009AD-4EAB-5A1E-B18E-58AD2E51DD2D}"/>
                </a:ext>
              </a:extLst>
            </p:cNvPr>
            <p:cNvSpPr txBox="1"/>
            <p:nvPr/>
          </p:nvSpPr>
          <p:spPr>
            <a:xfrm>
              <a:off x="4625560" y="887226"/>
              <a:ext cx="2717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Inform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(retelling and description)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8780719-6643-F229-CF71-A6677A8099B8}"/>
              </a:ext>
            </a:extLst>
          </p:cNvPr>
          <p:cNvGrpSpPr/>
          <p:nvPr/>
        </p:nvGrpSpPr>
        <p:grpSpPr>
          <a:xfrm>
            <a:off x="503948" y="3895403"/>
            <a:ext cx="5968104" cy="2756550"/>
            <a:chOff x="3478696" y="3895403"/>
            <a:chExt cx="5228533" cy="2756550"/>
          </a:xfrm>
        </p:grpSpPr>
        <p:sp>
          <p:nvSpPr>
            <p:cNvPr id="77" name="Rectangle: Rounded Corners 7">
              <a:extLst>
                <a:ext uri="{FF2B5EF4-FFF2-40B4-BE49-F238E27FC236}">
                  <a16:creationId xmlns:a16="http://schemas.microsoft.com/office/drawing/2014/main" id="{44C5209D-1172-4191-3564-C0B31854A9FD}"/>
                </a:ext>
              </a:extLst>
            </p:cNvPr>
            <p:cNvSpPr/>
            <p:nvPr/>
          </p:nvSpPr>
          <p:spPr>
            <a:xfrm>
              <a:off x="3478696" y="3895403"/>
              <a:ext cx="5228533" cy="275655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5A2B245-055A-6DAF-2BA4-87B279CA33EB}"/>
                </a:ext>
              </a:extLst>
            </p:cNvPr>
            <p:cNvSpPr txBox="1"/>
            <p:nvPr/>
          </p:nvSpPr>
          <p:spPr>
            <a:xfrm>
              <a:off x="4625560" y="3936426"/>
              <a:ext cx="30706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Explain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(Instruction and explanation)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051DFC7-1EF6-A35C-0C4B-69DA74D416FA}"/>
                </a:ext>
              </a:extLst>
            </p:cNvPr>
            <p:cNvSpPr txBox="1"/>
            <p:nvPr/>
          </p:nvSpPr>
          <p:spPr>
            <a:xfrm>
              <a:off x="3729138" y="4348074"/>
              <a:ext cx="4346991" cy="2135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Then, as a result of…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contrast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…was successful / unsuccessful because…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Maybe it is due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Next time I would… as I think…</a:t>
              </a:r>
            </a:p>
          </p:txBody>
        </p:sp>
      </p:grpSp>
      <p:pic>
        <p:nvPicPr>
          <p:cNvPr id="80" name="Picture 2" descr="Discuss Icons - Download Free Vector Icons | Noun Project">
            <a:extLst>
              <a:ext uri="{FF2B5EF4-FFF2-40B4-BE49-F238E27FC236}">
                <a16:creationId xmlns:a16="http://schemas.microsoft.com/office/drawing/2014/main" id="{63E18017-BDE5-EE6E-DD70-C13A3B85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744" y="74930"/>
            <a:ext cx="1032909" cy="8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1BA32BD0-20F4-9546-89E8-B050DF33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120"/>
          <a:stretch>
            <a:fillRect/>
          </a:stretch>
        </p:blipFill>
        <p:spPr>
          <a:xfrm>
            <a:off x="4712158" y="4658842"/>
            <a:ext cx="1606360" cy="137954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BD78620A-8EE0-CB29-DF62-85947287A2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2931"/>
          <a:stretch>
            <a:fillRect/>
          </a:stretch>
        </p:blipFill>
        <p:spPr>
          <a:xfrm>
            <a:off x="10075462" y="3686530"/>
            <a:ext cx="1625881" cy="125304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AA479C7-A5D6-48AE-82C5-962B22987A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181"/>
          <a:stretch>
            <a:fillRect/>
          </a:stretch>
        </p:blipFill>
        <p:spPr>
          <a:xfrm>
            <a:off x="10275557" y="2390748"/>
            <a:ext cx="1425786" cy="120934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018519FF-5AA3-50BE-7772-6BC8CD5CFA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6755"/>
          <a:stretch>
            <a:fillRect/>
          </a:stretch>
        </p:blipFill>
        <p:spPr>
          <a:xfrm>
            <a:off x="4350414" y="1301155"/>
            <a:ext cx="1236215" cy="102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21771-B822-DE9B-250B-68C498108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Iyhpiyku</a:t>
            </a:r>
            <a:r>
              <a:rPr lang="en-GB" dirty="0"/>
              <a:t>`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9D65B-E981-7671-0181-DA1EA2088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iyliuyliu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ECEC5-7795-802C-CCC0-BD2333C17A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43834D-D788-A9AC-77FC-6CD7CEACB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81B83D-A506-B14C-4F7B-4C60732B5F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/>
              <a:t>Nj.jlkj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4D4E18-B7DB-BCD0-6EA8-E7530C39F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23B684-9BF7-7B2F-22E6-32C2A7510E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84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A64E0-0ED6-F208-F723-46B8345C2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Are England and Brazil different?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B3466-067C-3FCD-C3B1-7F181CDBA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293" y="5761822"/>
            <a:ext cx="3893119" cy="1066100"/>
          </a:xfrm>
        </p:spPr>
        <p:txBody>
          <a:bodyPr/>
          <a:lstStyle/>
          <a:p>
            <a:r>
              <a:rPr lang="en-GB" dirty="0"/>
              <a:t>Year 4 Maple</a:t>
            </a:r>
          </a:p>
          <a:p>
            <a:r>
              <a:rPr lang="en-GB" dirty="0"/>
              <a:t>Wednesday 24 June 2026</a:t>
            </a:r>
          </a:p>
        </p:txBody>
      </p:sp>
    </p:spTree>
    <p:extLst>
      <p:ext uri="{BB962C8B-B14F-4D97-AF65-F5344CB8AC3E}">
        <p14:creationId xmlns:p14="http://schemas.microsoft.com/office/powerpoint/2010/main" val="2695554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43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9FA7-D464-DB16-F9D9-1A8F22C9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DA825-4A9F-8790-0FB2-64DF3A55F9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4699" y="4308522"/>
            <a:ext cx="2311677" cy="2311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5F9710-C058-4AAB-0AE9-43EB97DCFAE3}"/>
              </a:ext>
            </a:extLst>
          </p:cNvPr>
          <p:cNvSpPr txBox="1"/>
          <p:nvPr/>
        </p:nvSpPr>
        <p:spPr>
          <a:xfrm>
            <a:off x="3538549" y="472558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1 ✓ Locating Brazil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B39C3-B7BA-66B4-CB70-85C5337903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4EA72E"/>
              <a:prstClr val="white"/>
            </a:duotone>
          </a:blip>
          <a:stretch>
            <a:fillRect/>
          </a:stretch>
        </p:blipFill>
        <p:spPr>
          <a:xfrm>
            <a:off x="1234800" y="4308522"/>
            <a:ext cx="2317967" cy="2317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6542-736F-868F-AFBC-EC2927048E44}"/>
              </a:ext>
            </a:extLst>
          </p:cNvPr>
          <p:cNvSpPr txBox="1"/>
          <p:nvPr/>
        </p:nvSpPr>
        <p:spPr>
          <a:xfrm>
            <a:off x="1786266" y="4777132"/>
            <a:ext cx="1298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winkl Cursive Looped" panose="02000000000000000000" pitchFamily="2" charset="77"/>
              </a:rPr>
              <a:t>Lesson 2 → TODAY: Brazil physical geography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B2614B-06E3-135C-6D45-607F466711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7200" y="4302232"/>
            <a:ext cx="2311677" cy="23116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650DA9-3C46-2B1D-CC52-2A2D75718E1F}"/>
              </a:ext>
            </a:extLst>
          </p:cNvPr>
          <p:cNvSpPr txBox="1"/>
          <p:nvPr/>
        </p:nvSpPr>
        <p:spPr>
          <a:xfrm>
            <a:off x="5411050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3: England comparison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784B6A-717C-6318-5D17-C7E4CFC419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1774" y="4302232"/>
            <a:ext cx="2311677" cy="23116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7B0251-6BB0-1D08-6C63-D6A67076886F}"/>
              </a:ext>
            </a:extLst>
          </p:cNvPr>
          <p:cNvSpPr txBox="1"/>
          <p:nvPr/>
        </p:nvSpPr>
        <p:spPr>
          <a:xfrm>
            <a:off x="7275624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Human geography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2C10349-D842-12E8-C3D3-D68FB0137A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77952" y="2459165"/>
            <a:ext cx="2311677" cy="23116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FCB0377-6D62-9F03-9E66-6B6B2C8A4209}"/>
              </a:ext>
            </a:extLst>
          </p:cNvPr>
          <p:cNvSpPr txBox="1"/>
          <p:nvPr/>
        </p:nvSpPr>
        <p:spPr>
          <a:xfrm>
            <a:off x="3531802" y="2876223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Culture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0F10C3-A213-7AD6-ADFC-B6E04EFDF5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0453" y="2459165"/>
            <a:ext cx="2311677" cy="2311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9B2ACFC-574F-E2EA-1287-383E50438186}"/>
              </a:ext>
            </a:extLst>
          </p:cNvPr>
          <p:cNvSpPr txBox="1"/>
          <p:nvPr/>
        </p:nvSpPr>
        <p:spPr>
          <a:xfrm>
            <a:off x="5404303" y="2876223"/>
            <a:ext cx="13960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</a:t>
            </a:r>
            <a:r>
              <a:rPr lang="en-US" sz="1400" dirty="0">
                <a:latin typeface="Twinkl Cursive Looped" panose="02000000000000000000" pitchFamily="2" charset="77"/>
              </a:rPr>
              <a:t>Environment</a:t>
            </a:r>
            <a:endParaRPr lang="en-US" dirty="0">
              <a:latin typeface="Twinkl Cursive Looped" panose="02000000000000000000" pitchFamily="2" charset="77"/>
            </a:endParaRPr>
          </a:p>
        </p:txBody>
      </p:sp>
      <p:pic>
        <p:nvPicPr>
          <p:cNvPr id="27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040889C-1C9E-285A-C962-166D70576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8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9" fill="hold">
                      <p:stCondLst>
                        <p:cond delay="indefinite"/>
                      </p:stCondLst>
                      <p:childTnLst>
                        <p:par>
                          <p:cTn id="2010" fill="hold">
                            <p:stCondLst>
                              <p:cond delay="0"/>
                            </p:stCondLst>
                            <p:childTnLst>
                              <p:par>
                                <p:cTn id="20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9" fill="hold">
                      <p:stCondLst>
                        <p:cond delay="indefinite"/>
                      </p:stCondLst>
                      <p:childTnLst>
                        <p:par>
                          <p:cTn id="2020" fill="hold">
                            <p:stCondLst>
                              <p:cond delay="0"/>
                            </p:stCondLst>
                            <p:childTnLst>
                              <p:par>
                                <p:cTn id="20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9" fill="hold">
                      <p:stCondLst>
                        <p:cond delay="indefinite"/>
                      </p:stCondLst>
                      <p:childTnLst>
                        <p:par>
                          <p:cTn id="2030" fill="hold">
                            <p:stCondLst>
                              <p:cond delay="0"/>
                            </p:stCondLst>
                            <p:childTnLst>
                              <p:par>
                                <p:cTn id="20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9" fill="hold">
                      <p:stCondLst>
                        <p:cond delay="indefinite"/>
                      </p:stCondLst>
                      <p:childTnLst>
                        <p:par>
                          <p:cTn id="2040" fill="hold">
                            <p:stCondLst>
                              <p:cond delay="0"/>
                            </p:stCondLst>
                            <p:childTnLst>
                              <p:par>
                                <p:cTn id="20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9" fill="hold">
                      <p:stCondLst>
                        <p:cond delay="indefinite"/>
                      </p:stCondLst>
                      <p:childTnLst>
                        <p:par>
                          <p:cTn id="2050" fill="hold">
                            <p:stCondLst>
                              <p:cond delay="0"/>
                            </p:stCondLst>
                            <p:childTnLst>
                              <p:par>
                                <p:cTn id="20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9" fill="hold">
                      <p:stCondLst>
                        <p:cond delay="indefinite"/>
                      </p:stCondLst>
                      <p:childTnLst>
                        <p:par>
                          <p:cTn id="2060" fill="hold">
                            <p:stCondLst>
                              <p:cond delay="0"/>
                            </p:stCondLst>
                            <p:childTnLst>
                              <p:par>
                                <p:cTn id="20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Engage your prior knowledge</a:t>
            </a:r>
          </a:p>
        </p:txBody>
      </p:sp>
      <p:sp>
        <p:nvSpPr>
          <p:cNvPr id="202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Our Key Question is: Are England and Brazil different?</a:t>
            </a:r>
          </a:p>
          <a:p>
            <a:endParaRPr lang="en-GB" dirty="0"/>
          </a:p>
          <a:p>
            <a:r>
              <a:rPr lang="en-GB" sz="1800" dirty="0"/>
              <a:t>What do you already know about the word 'biome'? Can you name any biomes?</a:t>
            </a:r>
          </a:p>
          <a:p>
            <a:endParaRPr lang="en-GB" dirty="0"/>
          </a:p>
          <a:p>
            <a:r>
              <a:rPr lang="en-GB" sz="1800" dirty="0"/>
              <a:t>What is climate? How would you describe the climate where you live?</a:t>
            </a:r>
          </a:p>
          <a:p>
            <a:endParaRPr lang="en-GB" dirty="0"/>
          </a:p>
          <a:p>
            <a:r>
              <a:rPr lang="en-GB" sz="1800" dirty="0"/>
              <a:t>What do you think the landscape and weather of Brazil might be like?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600" dirty="0"/>
              <a:t>Wednesday 24 June 2026</a:t>
            </a:r>
          </a:p>
        </p:txBody>
      </p:sp>
      <p:sp xmlns:p="http://schemas.openxmlformats.org/presentationml/2006/main" xmlns:a="http://schemas.openxmlformats.org/drawingml/2006/main">
        <p:nvSpPr>
          <p:cNvPr id="210" name="lo10"/>
          <p:cNvSpPr>
            <a:spLocks noGrp="1"/>
          </p:cNvSpPr>
          <p:nvPr>
            <p:ph idx="10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describe Brazil's main biomes and climate zone using geographical vocabulary.</a:t>
            </a:r>
          </a:p>
        </p:txBody>
      </p:sp>
      <p:sp xmlns:p="http://schemas.openxmlformats.org/presentationml/2006/main" xmlns:a="http://schemas.openxmlformats.org/drawingml/2006/main">
        <p:nvSpPr>
          <p:cNvPr id="211" name="lo13"/>
          <p:cNvSpPr>
            <a:spLocks noGrp="1"/>
          </p:cNvSpPr>
          <p:nvPr>
            <p:ph idx="13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physical geography shapes what a country looks like and how people live there.</a:t>
            </a:r>
          </a:p>
        </p:txBody>
      </p:sp>
      <p:sp xmlns:p="http://schemas.openxmlformats.org/presentationml/2006/main" xmlns:a="http://schemas.openxmlformats.org/drawingml/2006/main">
        <p:nvSpPr>
          <p:cNvPr id="212" name="lo14"/>
          <p:cNvSpPr>
            <a:spLocks noGrp="1"/>
          </p:cNvSpPr>
          <p:nvPr>
            <p:ph idx="14"/>
          </p:nvPr>
        </p:nvSpPr>
        <p:spPr>
          <a:xfrm>
            <a:off x="8979945" y="5200000"/>
            <a:ext cx="2559050" cy="984000"/>
          </a:xfrm>
        </p:spPr>
        <p:txBody>
          <a:bodyPr insTp="1000000" rtlCol="0">
            <a:normAutofit/>
          </a:bodyPr>
          <a:lstStyle/>
          <a:p>
            <a:r>
              <a:rPr lang="en-GB" dirty="0" sz="1400"/>
              <a:t>completing a labelled diagram or structured paragraph explaining Brazil's biomes, climate zone and vegetation belt.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63" fill="hold">
                      <p:stCondLst>
                        <p:cond delay="indefinite"/>
                      </p:stCondLst>
                      <p:childTnLst>
                        <p:par>
                          <p:cTn id="1064" fill="hold">
                            <p:stCondLst>
                              <p:cond delay="0"/>
                            </p:stCondLst>
                            <p:childTnLst>
                              <p:par>
                                <p:cTn id="10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ite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5" fill="hold">
                      <p:stCondLst>
                        <p:cond delay="indefinite"/>
                      </p:stCondLst>
                      <p:childTnLst>
                        <p:par>
                          <p:cTn id="1076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Brazil's physical geography</a:t>
            </a:r>
          </a:p>
        </p:txBody>
      </p:sp>
      <p:sp>
        <p:nvSpPr>
          <p:cNvPr id="214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Three main biomes:</a:t>
            </a:r>
          </a:p>
          <a:p>
            <a:pPr lvl="1"/>
            <a:r>
              <a:rPr lang="en-GB" sz="1800" dirty="0"/>
              <a:t>Tropical rainforest — hot and wet all year; covers more than half of Brazil</a:t>
            </a:r>
          </a:p>
          <a:p>
            <a:pPr lvl="1"/>
            <a:r>
              <a:rPr lang="en-GB" sz="1800" dirty="0"/>
              <a:t>Cerrado — a savanna with distinct wet and dry seasons; grassland and low shrubs</a:t>
            </a:r>
          </a:p>
          <a:p>
            <a:pPr lvl="1"/>
            <a:r>
              <a:rPr lang="en-GB" sz="1800" dirty="0"/>
              <a:t>Pantanal — a vast seasonal wetland in the south-west of Brazil</a:t>
            </a:r>
          </a:p>
          <a:p>
            <a:endParaRPr lang="en-GB" dirty="0"/>
          </a:p>
          <a:p>
            <a:r>
              <a:rPr lang="en-GB" sz="1800" dirty="0"/>
              <a:t>Brazil's climate:</a:t>
            </a:r>
          </a:p>
          <a:p>
            <a:pPr lvl="1"/>
            <a:r>
              <a:rPr lang="en-GB" sz="1800" dirty="0"/>
              <a:t>Tropical — hot throughout the year, with heavy rainfall especially in the north</a:t>
            </a:r>
          </a:p>
          <a:p>
            <a:pPr lvl="1"/>
            <a:r>
              <a:rPr lang="en-GB" sz="1800" dirty="0"/>
              <a:t>The Equator passes through the north of Brazil, keeping it hot and wet</a:t>
            </a:r>
          </a:p>
          <a:p>
            <a:endParaRPr lang="en-GB" dirty="0"/>
          </a:p>
          <a:p>
            <a:r>
              <a:rPr lang="en-GB" sz="1800" dirty="0"/>
              <a:t>Common misconception:</a:t>
            </a:r>
          </a:p>
          <a:p>
            <a:pPr lvl="1"/>
            <a:r>
              <a:rPr lang="en-GB" sz="1800" dirty="0"/>
              <a:t>Rainforest soil is actually poor — the nutrients are locked in the plants, not the ground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Match the biome.</a:t>
            </a:r>
          </a:p>
        </p:txBody>
      </p:sp>
      <p:sp>
        <p:nvSpPr>
          <p:cNvPr id="216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Look at the photograph cards on your table.</a:t>
            </a:r>
          </a:p>
          <a:p>
            <a:endParaRPr lang="en-GB" dirty="0"/>
          </a:p>
          <a:p>
            <a:r>
              <a:rPr lang="en-GB" sz="1800" dirty="0"/>
              <a:t>Each card shows a different biome found in Brazil.</a:t>
            </a:r>
          </a:p>
          <a:p>
            <a:endParaRPr lang="en-GB" dirty="0"/>
          </a:p>
          <a:p>
            <a:r>
              <a:rPr lang="en-GB" sz="1800" dirty="0"/>
              <a:t>Think about:</a:t>
            </a:r>
          </a:p>
          <a:p>
            <a:pPr lvl="1"/>
            <a:r>
              <a:rPr lang="en-GB" sz="1800" dirty="0"/>
              <a:t>What can you see? What does the vegetation look like?</a:t>
            </a:r>
          </a:p>
          <a:p>
            <a:pPr lvl="1"/>
            <a:r>
              <a:rPr lang="en-GB" sz="1800" dirty="0"/>
              <a:t>Is it wet or dry? Hot or cool?</a:t>
            </a:r>
          </a:p>
          <a:p>
            <a:pPr lvl="1"/>
            <a:r>
              <a:rPr lang="en-GB" sz="1800" dirty="0"/>
              <a:t>Which biome is it — rainforest, cerrado or pantanal?</a:t>
            </a:r>
          </a:p>
          <a:p>
            <a:endParaRPr lang="en-GB" dirty="0"/>
          </a:p>
          <a:p>
            <a:r>
              <a:rPr lang="en-GB" sz="1800" dirty="0"/>
              <a:t>Compare your answers with a partner.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Locate the biomes on the map.</a:t>
            </a:r>
          </a:p>
        </p:txBody>
      </p:sp>
      <p:sp>
        <p:nvSpPr>
          <p:cNvPr id="218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Look at the blank map of Brazil.</a:t>
            </a:r>
          </a:p>
          <a:p>
            <a:endParaRPr lang="en-GB" dirty="0"/>
          </a:p>
          <a:p>
            <a:r>
              <a:rPr lang="en-GB" sz="1800" dirty="0"/>
              <a:t>Using the reference map on the board, shade or label:</a:t>
            </a:r>
          </a:p>
          <a:p>
            <a:endParaRPr lang="en-GB" dirty="0"/>
          </a:p>
          <a:p>
            <a:pPr lvl="1"/>
            <a:r>
              <a:rPr lang="en-GB" sz="1800" dirty="0"/>
              <a:t>Where the Amazon rainforest is found</a:t>
            </a:r>
          </a:p>
          <a:p>
            <a:pPr lvl="1"/>
            <a:r>
              <a:rPr lang="en-GB" sz="1800" dirty="0"/>
              <a:t>Where the cerrado (savanna) region is</a:t>
            </a:r>
          </a:p>
          <a:p>
            <a:pPr lvl="1"/>
            <a:r>
              <a:rPr lang="en-GB" sz="1800" dirty="0"/>
              <a:t>Roughly where the pantanal wetlands are</a:t>
            </a:r>
          </a:p>
          <a:p>
            <a:endParaRPr lang="en-GB" dirty="0"/>
          </a:p>
          <a:p>
            <a:r>
              <a:rPr lang="en-GB" sz="1800" dirty="0"/>
              <a:t>Add the Equator to your map.</a:t>
            </a:r>
          </a:p>
          <a:p>
            <a:r>
              <a:rPr lang="en-GB" sz="1800" dirty="0"/>
              <a:t>Share your map with a partner — did you agree?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Write about Brazil's physical geography.</a:t>
            </a:r>
          </a:p>
        </p:txBody>
      </p:sp>
      <p:sp>
        <p:nvSpPr>
          <p:cNvPr id="220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Use these sentence starters on your learning paper.</a:t>
            </a:r>
          </a:p>
          <a:p>
            <a:endParaRPr lang="en-GB" dirty="0"/>
          </a:p>
          <a:p>
            <a:pPr lvl="1"/>
            <a:r>
              <a:rPr lang="en-GB" sz="1800" dirty="0"/>
              <a:t>Brazil's climate is…</a:t>
            </a:r>
          </a:p>
          <a:p>
            <a:pPr lvl="1"/>
            <a:r>
              <a:rPr lang="en-GB" sz="1800" dirty="0"/>
              <a:t>This is because…</a:t>
            </a:r>
          </a:p>
          <a:p>
            <a:pPr lvl="1"/>
            <a:r>
              <a:rPr lang="en-GB" sz="1800" dirty="0"/>
              <a:t>The main biomes found in Brazil are…</a:t>
            </a:r>
          </a:p>
          <a:p>
            <a:pPr lvl="1"/>
            <a:r>
              <a:rPr lang="en-GB" sz="1800" dirty="0"/>
              <a:t>The soil in the rainforest is actually…</a:t>
            </a:r>
          </a:p>
          <a:p>
            <a:endParaRPr lang="en-GB" dirty="0"/>
          </a:p>
          <a:p>
            <a:r>
              <a:rPr lang="en-GB" sz="1800" dirty="0"/>
              <a:t>Include at least TWO key vocabulary words.</a:t>
            </a:r>
          </a:p>
          <a:p>
            <a:endParaRPr lang="en-GB" dirty="0"/>
          </a:p>
          <a:p>
            <a:r>
              <a:rPr lang="en-GB" sz="1800" dirty="0"/>
              <a:t>Challenge: Why does the cerrado have a dry season when the Amazon does not?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h10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dirty="0"/>
              <a:t>Which biome covers the largest area of Brazil?</a:t>
            </a:r>
          </a:p>
        </p:txBody>
      </p:sp>
      <p:sp>
        <p:nvSpPr>
          <p:cNvPr id="222" name="ph1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Why is it a misconception to say rainforest soil is fertile?</a:t>
            </a:r>
          </a:p>
        </p:txBody>
      </p:sp>
      <p:sp>
        <p:nvSpPr>
          <p:cNvPr id="223" name="ph1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GB" dirty="0"/>
              <a:t>How does Brazil's climate differ from England's?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📋 Teacher Checklist — Lesson 2: Brazil Physical Geography</a:t>
            </a:r>
          </a:p>
        </p:txBody>
      </p:sp>
      <p:sp>
        <p:nvSpPr>
          <p:cNvPr id="231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Before the lesson:</a:t>
            </a:r>
          </a:p>
          <a:p>
            <a:pPr lvl="1"/>
            <a:r>
              <a:rPr lang="en-GB" sz="1800" dirty="0"/>
              <a:t>Print LP2 — Brazil Physical Geography (1 per pupil)</a:t>
            </a:r>
          </a:p>
          <a:p>
            <a:pPr lvl="1"/>
            <a:r>
              <a:rPr lang="en-GB" sz="1800" dirty="0"/>
              <a:t>Print blank Brazil biome maps (1 per pupil) — unless on LP</a:t>
            </a:r>
          </a:p>
          <a:p>
            <a:pPr lvl="1"/>
            <a:r>
              <a:rPr lang="en-GB" sz="1800" dirty="0"/>
              <a:t>Prepare biome photograph cards — one set per table (rainforest, cerrado, pantanal)</a:t>
            </a:r>
          </a:p>
          <a:p>
            <a:pPr lvl="1"/>
            <a:r>
              <a:rPr lang="en-GB" sz="1800" dirty="0"/>
              <a:t>Display Brazil reference biome map on board for We Do 2</a:t>
            </a:r>
          </a:p>
          <a:p>
            <a:r>
              <a:rPr lang="en-GB" sz="1800" dirty="0"/>
              <a:t>Slide 10 — Match the biome (We Do 1):</a:t>
            </a:r>
          </a:p>
          <a:p>
            <a:pPr lvl="1"/>
            <a:r>
              <a:rPr lang="en-GB" sz="1800" dirty="0"/>
              <a:t>Pupils use photo cards to identify biomes before seeing answers</a:t>
            </a:r>
          </a:p>
          <a:p>
            <a:r>
              <a:rPr lang="en-GB" sz="1800" dirty="0"/>
              <a:t>Slide 11 — Locate biomes on map (We Do 2):</a:t>
            </a:r>
          </a:p>
          <a:p>
            <a:pPr lvl="1"/>
            <a:r>
              <a:rPr lang="en-GB" sz="1800" dirty="0"/>
              <a:t>Reference map visible on board; pupils label blank maps</a:t>
            </a:r>
          </a:p>
          <a:p>
            <a:r>
              <a:rPr lang="en-GB" sz="1800" dirty="0"/>
              <a:t>Misconception to address explicitly in I Do:</a:t>
            </a:r>
          </a:p>
          <a:p>
            <a:pPr lvl="1"/>
            <a:r>
              <a:rPr lang="en-GB" sz="1800" dirty="0"/>
              <a:t>Rainforest soil = poor, not fertile — nutrients are in the plants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95EA48-DC2D-459B-B922-A2C4EE3BFC7C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9e6dd442-da5e-411e-833f-0fee7dcd7819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848fd07-94db-4308-8950-9cb0e230b9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8</TotalTime>
  <Words>773</Words>
  <Application>Microsoft Macintosh PowerPoint</Application>
  <PresentationFormat>Widescreen</PresentationFormat>
  <Paragraphs>122</Paragraphs>
  <Slides>13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Twinkl Cursive Looped</vt:lpstr>
      <vt:lpstr>Place, Space &amp; Scale</vt:lpstr>
      <vt:lpstr>Human Geography</vt:lpstr>
      <vt:lpstr>Cultural Awareness &amp; Diversity</vt:lpstr>
      <vt:lpstr>Physical Geography</vt:lpstr>
      <vt:lpstr>Environmental Impact &amp; Sustainability</vt:lpstr>
      <vt:lpstr>Z - Notes</vt:lpstr>
      <vt:lpstr>The Oracy Framework</vt:lpstr>
      <vt:lpstr>PowerPoint Presentation</vt:lpstr>
      <vt:lpstr>PowerPoint Presentation</vt:lpstr>
      <vt:lpstr>PowerPoint Presentation</vt:lpstr>
      <vt:lpstr>PowerPoint Presentation</vt:lpstr>
      <vt:lpstr>Connections</vt:lpstr>
      <vt:lpstr>Engage your prior knowledge</vt:lpstr>
      <vt:lpstr>Tuesday 23 June 2026</vt:lpstr>
      <vt:lpstr>Latitude, longitude and location</vt:lpstr>
      <vt:lpstr>Let's find Brazil.</vt:lpstr>
      <vt:lpstr>Label South America together.</vt:lpstr>
      <vt:lpstr>Write your location description.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2</cp:revision>
  <dcterms:created xsi:type="dcterms:W3CDTF">2026-06-21T16:44:49Z</dcterms:created>
  <dcterms:modified xsi:type="dcterms:W3CDTF">2026-06-21T18:42:18Z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