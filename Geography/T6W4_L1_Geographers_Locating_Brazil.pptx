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  <p:sldMasterId id="2147483772" r:id="rId5"/>
    <p:sldMasterId id="2147483676" r:id="rId6"/>
    <p:sldMasterId id="2147483688" r:id="rId7"/>
    <p:sldMasterId id="2147483788" r:id="rId8"/>
    <p:sldMasterId id="2147483770" r:id="rId9"/>
  </p:sldMasterIdLst>
  <p:notesMasterIdLst>
    <p:notesMasterId r:id="rId23"/>
  </p:notesMasterIdLst>
  <p:sldIdLst>
    <p:sldId id="255" r:id="rId28"/>
    <p:sldId id="256" r:id="rId10"/>
    <p:sldId id="257" r:id="rId11"/>
    <p:sldId id="258" r:id="rId12"/>
    <p:sldId id="259" r:id="rId13"/>
    <p:sldId id="260" r:id="rId14"/>
    <p:sldId id="261" r:id="rId15"/>
    <p:sldId id="262" r:id="rId17"/>
    <p:sldId id="263" r:id="rId16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s" id="{154E198E-0130-A84B-84B2-A60C971BA2A2}">
          <p14:sldIdLst>
            <p14:sldId id="256"/>
            <p14:sldId id="257"/>
            <p14:sldId id="258"/>
            <p14:sldId id="259"/>
          </p14:sldIdLst>
        </p14:section>
        <p14:section name="Slide Deck" id="{66BEB757-3A3E-994B-8B52-AC6FEC5ACC7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tableStyles" Target="tableStyles.xml"/><Relationship Id="rId28" Type="http://schemas.openxmlformats.org/officeDocument/2006/relationships/slide" Target="slides/slide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5AC37F-2C6E-4F08-971B-2D4300BA0034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5B0CF34-2600-46D6-8B75-017CF5458D58}">
      <dgm:prSet phldrT="[Text]"/>
      <dgm:spPr>
        <a:solidFill>
          <a:schemeClr val="accent6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gm:t>
    </dgm:pt>
    <dgm:pt modelId="{8EC2EF94-344F-4799-9CA8-1A1F582701C0}" type="parTrans" cxnId="{23C53151-7C63-46A6-8D7C-3E82E4668D54}">
      <dgm:prSet/>
      <dgm:spPr/>
      <dgm:t>
        <a:bodyPr/>
        <a:lstStyle/>
        <a:p>
          <a:endParaRPr lang="en-GB"/>
        </a:p>
      </dgm:t>
    </dgm:pt>
    <dgm:pt modelId="{80B188ED-24EC-4712-B77C-110F40C0ED93}" type="sibTrans" cxnId="{23C53151-7C63-46A6-8D7C-3E82E4668D54}">
      <dgm:prSet/>
      <dgm:spPr/>
      <dgm:t>
        <a:bodyPr/>
        <a:lstStyle/>
        <a:p>
          <a:endParaRPr lang="en-GB"/>
        </a:p>
      </dgm:t>
    </dgm:pt>
    <dgm:pt modelId="{6BE5B492-07D4-4024-8274-68C45B6A01EC}">
      <dgm:prSet phldrT="[Text]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gm:t>
    </dgm:pt>
    <dgm:pt modelId="{914C4660-F68B-413A-96D3-70B654E45E7F}" type="sibTrans" cxnId="{F03D0886-7F16-4B56-BE53-FE717A304979}">
      <dgm:prSet/>
      <dgm:spPr/>
      <dgm:t>
        <a:bodyPr/>
        <a:lstStyle/>
        <a:p>
          <a:endParaRPr lang="en-GB"/>
        </a:p>
      </dgm:t>
    </dgm:pt>
    <dgm:pt modelId="{52DBB1B4-6CB6-4C9D-945F-0D8DE9763D0F}" type="parTrans" cxnId="{F03D0886-7F16-4B56-BE53-FE717A304979}">
      <dgm:prSet/>
      <dgm:spPr/>
      <dgm:t>
        <a:bodyPr/>
        <a:lstStyle/>
        <a:p>
          <a:endParaRPr lang="en-GB"/>
        </a:p>
      </dgm:t>
    </dgm:pt>
    <dgm:pt modelId="{DF4AA65E-26A4-4C26-9976-F0B2CD677D3B}">
      <dgm:prSet phldrT="[Text]"/>
      <dgm:spPr>
        <a:solidFill>
          <a:srgbClr val="FFF19F"/>
        </a:solidFill>
        <a:ln>
          <a:noFill/>
        </a:ln>
      </dgm:spPr>
      <dgm:t>
        <a:bodyPr/>
        <a:lstStyle/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gm:t>
    </dgm:pt>
    <dgm:pt modelId="{A0458991-E933-48EB-9B54-19732A7D7CA3}" type="sibTrans" cxnId="{7D27582D-FC83-463C-BF8D-BEFDC51CD80B}">
      <dgm:prSet/>
      <dgm:spPr/>
      <dgm:t>
        <a:bodyPr/>
        <a:lstStyle/>
        <a:p>
          <a:endParaRPr lang="en-GB"/>
        </a:p>
      </dgm:t>
    </dgm:pt>
    <dgm:pt modelId="{F758932D-5E81-4976-91DD-442B238EDEEF}" type="parTrans" cxnId="{7D27582D-FC83-463C-BF8D-BEFDC51CD80B}">
      <dgm:prSet/>
      <dgm:spPr/>
      <dgm:t>
        <a:bodyPr/>
        <a:lstStyle/>
        <a:p>
          <a:endParaRPr lang="en-GB"/>
        </a:p>
      </dgm:t>
    </dgm:pt>
    <dgm:pt modelId="{13AFCDED-7AD5-4452-9162-2C438199E2AE}">
      <dgm:prSet phldrT="[Text]"/>
      <dgm:spPr>
        <a:solidFill>
          <a:schemeClr val="accent2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endParaRPr lang="en-GB" b="0" i="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r>
            <a:rPr lang="en-GB" b="0" i="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gm:t>
    </dgm:pt>
    <dgm:pt modelId="{DB82C7AA-28CC-4ABF-AC85-10CB06920A1C}" type="sibTrans" cxnId="{3B5A05B0-2F81-4BE3-A6D3-18881B342EF7}">
      <dgm:prSet/>
      <dgm:spPr/>
      <dgm:t>
        <a:bodyPr/>
        <a:lstStyle/>
        <a:p>
          <a:endParaRPr lang="en-GB"/>
        </a:p>
      </dgm:t>
    </dgm:pt>
    <dgm:pt modelId="{C6738539-F672-4339-942F-EAA32586076E}" type="parTrans" cxnId="{3B5A05B0-2F81-4BE3-A6D3-18881B342EF7}">
      <dgm:prSet/>
      <dgm:spPr/>
      <dgm:t>
        <a:bodyPr/>
        <a:lstStyle/>
        <a:p>
          <a:endParaRPr lang="en-GB"/>
        </a:p>
      </dgm:t>
    </dgm:pt>
    <dgm:pt modelId="{33EE0DAD-9CE8-F74D-9817-24DC087009A6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endParaRPr lang="en-GB" b="0" i="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r>
            <a:rPr lang="en-GB" b="0" i="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b="0" i="0">
            <a:solidFill>
              <a:schemeClr val="tx1"/>
            </a:solidFill>
            <a:latin typeface="Twinkl Cursive Looped" panose="02000000000000000000" pitchFamily="2" charset="77"/>
          </a:endParaRPr>
        </a:p>
      </dgm:t>
    </dgm:pt>
    <dgm:pt modelId="{D1DCB249-DF8A-3044-A43E-1536098E913D}" type="sibTrans" cxnId="{DEB8C310-02F0-B248-AB26-9D1A246E7955}">
      <dgm:prSet/>
      <dgm:spPr/>
      <dgm:t>
        <a:bodyPr/>
        <a:lstStyle/>
        <a:p>
          <a:endParaRPr lang="en-GB"/>
        </a:p>
      </dgm:t>
    </dgm:pt>
    <dgm:pt modelId="{9B63A272-D067-804C-96EB-FFA65D6078C6}" type="parTrans" cxnId="{DEB8C310-02F0-B248-AB26-9D1A246E7955}">
      <dgm:prSet/>
      <dgm:spPr/>
      <dgm:t>
        <a:bodyPr/>
        <a:lstStyle/>
        <a:p>
          <a:endParaRPr lang="en-GB"/>
        </a:p>
      </dgm:t>
    </dgm:pt>
    <dgm:pt modelId="{CC6E1910-1D0B-4841-86F4-9AF0761816CF}" type="pres">
      <dgm:prSet presAssocID="{AC5AC37F-2C6E-4F08-971B-2D4300BA0034}" presName="compositeShape" presStyleCnt="0">
        <dgm:presLayoutVars>
          <dgm:chMax val="7"/>
          <dgm:dir/>
          <dgm:resizeHandles val="exact"/>
        </dgm:presLayoutVars>
      </dgm:prSet>
      <dgm:spPr/>
    </dgm:pt>
    <dgm:pt modelId="{89DC922F-024C-4BDD-AD61-6C4C1382FADE}" type="pres">
      <dgm:prSet presAssocID="{AC5AC37F-2C6E-4F08-971B-2D4300BA0034}" presName="wedge1" presStyleLbl="node1" presStyleIdx="0" presStyleCnt="5" custLinFactNeighborX="-3576" custLinFactNeighborY="4948"/>
      <dgm:spPr/>
    </dgm:pt>
    <dgm:pt modelId="{A1532AD7-411D-468B-B691-71FBDCBC8036}" type="pres">
      <dgm:prSet presAssocID="{AC5AC37F-2C6E-4F08-971B-2D4300BA0034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8936AA0-0B89-4645-91A0-8B9B41F948F1}" type="pres">
      <dgm:prSet presAssocID="{AC5AC37F-2C6E-4F08-971B-2D4300BA0034}" presName="wedge2" presStyleLbl="node1" presStyleIdx="1" presStyleCnt="5"/>
      <dgm:spPr/>
    </dgm:pt>
    <dgm:pt modelId="{2D3B47F9-EF16-4F9D-A4FA-DB899BED48F4}" type="pres">
      <dgm:prSet presAssocID="{AC5AC37F-2C6E-4F08-971B-2D4300BA0034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516C106-8C6B-4887-B149-4E05A1C61FC6}" type="pres">
      <dgm:prSet presAssocID="{AC5AC37F-2C6E-4F08-971B-2D4300BA0034}" presName="wedge3" presStyleLbl="node1" presStyleIdx="2" presStyleCnt="5"/>
      <dgm:spPr/>
    </dgm:pt>
    <dgm:pt modelId="{181C802E-1803-4BC1-9915-6FB92EEAA124}" type="pres">
      <dgm:prSet presAssocID="{AC5AC37F-2C6E-4F08-971B-2D4300BA0034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28F0A0C-9743-4573-A759-3902FE3CBCFF}" type="pres">
      <dgm:prSet presAssocID="{AC5AC37F-2C6E-4F08-971B-2D4300BA0034}" presName="wedge4" presStyleLbl="node1" presStyleIdx="3" presStyleCnt="5"/>
      <dgm:spPr/>
    </dgm:pt>
    <dgm:pt modelId="{014FD06A-D5A0-4D65-A35E-080C058D5EB3}" type="pres">
      <dgm:prSet presAssocID="{AC5AC37F-2C6E-4F08-971B-2D4300BA0034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A47686-B03D-4440-9C22-9202162782D0}" type="pres">
      <dgm:prSet presAssocID="{AC5AC37F-2C6E-4F08-971B-2D4300BA0034}" presName="wedge5" presStyleLbl="node1" presStyleIdx="4" presStyleCnt="5"/>
      <dgm:spPr/>
    </dgm:pt>
    <dgm:pt modelId="{A74B7F9D-4AA6-1147-8A67-D67F75D183AB}" type="pres">
      <dgm:prSet presAssocID="{AC5AC37F-2C6E-4F08-971B-2D4300BA0034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C3FAF08-79B3-7B4D-B83A-F7451EB4EC25}" type="presOf" srcId="{33EE0DAD-9CE8-F74D-9817-24DC087009A6}" destId="{CFA47686-B03D-4440-9C22-9202162782D0}" srcOrd="0" destOrd="0" presId="urn:microsoft.com/office/officeart/2005/8/layout/chart3"/>
    <dgm:cxn modelId="{DEB8C310-02F0-B248-AB26-9D1A246E7955}" srcId="{AC5AC37F-2C6E-4F08-971B-2D4300BA0034}" destId="{33EE0DAD-9CE8-F74D-9817-24DC087009A6}" srcOrd="4" destOrd="0" parTransId="{9B63A272-D067-804C-96EB-FFA65D6078C6}" sibTransId="{D1DCB249-DF8A-3044-A43E-1536098E913D}"/>
    <dgm:cxn modelId="{80952827-00F7-4588-8F4A-DF4A6235A95F}" type="presOf" srcId="{6BE5B492-07D4-4024-8274-68C45B6A01EC}" destId="{2D3B47F9-EF16-4F9D-A4FA-DB899BED48F4}" srcOrd="1" destOrd="0" presId="urn:microsoft.com/office/officeart/2005/8/layout/chart3"/>
    <dgm:cxn modelId="{7D27582D-FC83-463C-BF8D-BEFDC51CD80B}" srcId="{AC5AC37F-2C6E-4F08-971B-2D4300BA0034}" destId="{DF4AA65E-26A4-4C26-9976-F0B2CD677D3B}" srcOrd="2" destOrd="0" parTransId="{F758932D-5E81-4976-91DD-442B238EDEEF}" sibTransId="{A0458991-E933-48EB-9B54-19732A7D7CA3}"/>
    <dgm:cxn modelId="{1A18AA3E-19E4-4CC8-978C-86A145AFB6E6}" type="presOf" srcId="{AC5AC37F-2C6E-4F08-971B-2D4300BA0034}" destId="{CC6E1910-1D0B-4841-86F4-9AF0761816CF}" srcOrd="0" destOrd="0" presId="urn:microsoft.com/office/officeart/2005/8/layout/chart3"/>
    <dgm:cxn modelId="{12DC0D49-3520-4715-A55C-C71CA8A4B9BF}" type="presOf" srcId="{13AFCDED-7AD5-4452-9162-2C438199E2AE}" destId="{014FD06A-D5A0-4D65-A35E-080C058D5EB3}" srcOrd="1" destOrd="0" presId="urn:microsoft.com/office/officeart/2005/8/layout/chart3"/>
    <dgm:cxn modelId="{23C53151-7C63-46A6-8D7C-3E82E4668D54}" srcId="{AC5AC37F-2C6E-4F08-971B-2D4300BA0034}" destId="{B5B0CF34-2600-46D6-8B75-017CF5458D58}" srcOrd="0" destOrd="0" parTransId="{8EC2EF94-344F-4799-9CA8-1A1F582701C0}" sibTransId="{80B188ED-24EC-4712-B77C-110F40C0ED93}"/>
    <dgm:cxn modelId="{79F6A75A-1D6D-4ED9-9775-C45057AEE72F}" type="presOf" srcId="{B5B0CF34-2600-46D6-8B75-017CF5458D58}" destId="{A1532AD7-411D-468B-B691-71FBDCBC8036}" srcOrd="1" destOrd="0" presId="urn:microsoft.com/office/officeart/2005/8/layout/chart3"/>
    <dgm:cxn modelId="{F03D0886-7F16-4B56-BE53-FE717A304979}" srcId="{AC5AC37F-2C6E-4F08-971B-2D4300BA0034}" destId="{6BE5B492-07D4-4024-8274-68C45B6A01EC}" srcOrd="1" destOrd="0" parTransId="{52DBB1B4-6CB6-4C9D-945F-0D8DE9763D0F}" sibTransId="{914C4660-F68B-413A-96D3-70B654E45E7F}"/>
    <dgm:cxn modelId="{5C7E5598-5072-4096-AF48-07A4F3E92492}" type="presOf" srcId="{B5B0CF34-2600-46D6-8B75-017CF5458D58}" destId="{89DC922F-024C-4BDD-AD61-6C4C1382FADE}" srcOrd="0" destOrd="0" presId="urn:microsoft.com/office/officeart/2005/8/layout/chart3"/>
    <dgm:cxn modelId="{6C59329B-41E2-4E94-803D-70368A937400}" type="presOf" srcId="{DF4AA65E-26A4-4C26-9976-F0B2CD677D3B}" destId="{181C802E-1803-4BC1-9915-6FB92EEAA124}" srcOrd="1" destOrd="0" presId="urn:microsoft.com/office/officeart/2005/8/layout/chart3"/>
    <dgm:cxn modelId="{D562F4A7-8FF9-4C06-B7C8-EA0241F1FD1D}" type="presOf" srcId="{13AFCDED-7AD5-4452-9162-2C438199E2AE}" destId="{A28F0A0C-9743-4573-A759-3902FE3CBCFF}" srcOrd="0" destOrd="0" presId="urn:microsoft.com/office/officeart/2005/8/layout/chart3"/>
    <dgm:cxn modelId="{3B5A05B0-2F81-4BE3-A6D3-18881B342EF7}" srcId="{AC5AC37F-2C6E-4F08-971B-2D4300BA0034}" destId="{13AFCDED-7AD5-4452-9162-2C438199E2AE}" srcOrd="3" destOrd="0" parTransId="{C6738539-F672-4339-942F-EAA32586076E}" sibTransId="{DB82C7AA-28CC-4ABF-AC85-10CB06920A1C}"/>
    <dgm:cxn modelId="{8EAC46C2-60D5-4387-8748-307CD39C649F}" type="presOf" srcId="{6BE5B492-07D4-4024-8274-68C45B6A01EC}" destId="{58936AA0-0B89-4645-91A0-8B9B41F948F1}" srcOrd="0" destOrd="0" presId="urn:microsoft.com/office/officeart/2005/8/layout/chart3"/>
    <dgm:cxn modelId="{B23615CD-CDB0-4BA3-BB8B-87B7B6432F73}" type="presOf" srcId="{DF4AA65E-26A4-4C26-9976-F0B2CD677D3B}" destId="{C516C106-8C6B-4887-B149-4E05A1C61FC6}" srcOrd="0" destOrd="0" presId="urn:microsoft.com/office/officeart/2005/8/layout/chart3"/>
    <dgm:cxn modelId="{1ABAAAFC-1B68-324E-8E00-C197FF47C8A8}" type="presOf" srcId="{33EE0DAD-9CE8-F74D-9817-24DC087009A6}" destId="{A74B7F9D-4AA6-1147-8A67-D67F75D183AB}" srcOrd="1" destOrd="0" presId="urn:microsoft.com/office/officeart/2005/8/layout/chart3"/>
    <dgm:cxn modelId="{F2C101A2-44A3-4E73-8D84-BD6EE80130A5}" type="presParOf" srcId="{CC6E1910-1D0B-4841-86F4-9AF0761816CF}" destId="{89DC922F-024C-4BDD-AD61-6C4C1382FADE}" srcOrd="0" destOrd="0" presId="urn:microsoft.com/office/officeart/2005/8/layout/chart3"/>
    <dgm:cxn modelId="{DD85FD61-08BA-4D19-8391-662506573E6D}" type="presParOf" srcId="{CC6E1910-1D0B-4841-86F4-9AF0761816CF}" destId="{A1532AD7-411D-468B-B691-71FBDCBC8036}" srcOrd="1" destOrd="0" presId="urn:microsoft.com/office/officeart/2005/8/layout/chart3"/>
    <dgm:cxn modelId="{7753B6B9-BC16-4DA2-865A-5442BF31852E}" type="presParOf" srcId="{CC6E1910-1D0B-4841-86F4-9AF0761816CF}" destId="{58936AA0-0B89-4645-91A0-8B9B41F948F1}" srcOrd="2" destOrd="0" presId="urn:microsoft.com/office/officeart/2005/8/layout/chart3"/>
    <dgm:cxn modelId="{3F59F893-F429-4E4D-AF8D-F86641293D87}" type="presParOf" srcId="{CC6E1910-1D0B-4841-86F4-9AF0761816CF}" destId="{2D3B47F9-EF16-4F9D-A4FA-DB899BED48F4}" srcOrd="3" destOrd="0" presId="urn:microsoft.com/office/officeart/2005/8/layout/chart3"/>
    <dgm:cxn modelId="{281F5C53-A513-48FE-82DF-A1E1AD8E6F82}" type="presParOf" srcId="{CC6E1910-1D0B-4841-86F4-9AF0761816CF}" destId="{C516C106-8C6B-4887-B149-4E05A1C61FC6}" srcOrd="4" destOrd="0" presId="urn:microsoft.com/office/officeart/2005/8/layout/chart3"/>
    <dgm:cxn modelId="{219E7A3A-875D-4817-B1ED-B717CACA18EF}" type="presParOf" srcId="{CC6E1910-1D0B-4841-86F4-9AF0761816CF}" destId="{181C802E-1803-4BC1-9915-6FB92EEAA124}" srcOrd="5" destOrd="0" presId="urn:microsoft.com/office/officeart/2005/8/layout/chart3"/>
    <dgm:cxn modelId="{BCE89248-2A1B-43AF-82BF-733902E657A2}" type="presParOf" srcId="{CC6E1910-1D0B-4841-86F4-9AF0761816CF}" destId="{A28F0A0C-9743-4573-A759-3902FE3CBCFF}" srcOrd="6" destOrd="0" presId="urn:microsoft.com/office/officeart/2005/8/layout/chart3"/>
    <dgm:cxn modelId="{95494642-BC9F-465E-8444-6F4809375C6E}" type="presParOf" srcId="{CC6E1910-1D0B-4841-86F4-9AF0761816CF}" destId="{014FD06A-D5A0-4D65-A35E-080C058D5EB3}" srcOrd="7" destOrd="0" presId="urn:microsoft.com/office/officeart/2005/8/layout/chart3"/>
    <dgm:cxn modelId="{51932E89-C8C3-634A-A7E6-6CF40CD6B5C4}" type="presParOf" srcId="{CC6E1910-1D0B-4841-86F4-9AF0761816CF}" destId="{CFA47686-B03D-4440-9C22-9202162782D0}" srcOrd="8" destOrd="0" presId="urn:microsoft.com/office/officeart/2005/8/layout/chart3"/>
    <dgm:cxn modelId="{BE496223-D79F-3246-8333-2A8050260AC8}" type="presParOf" srcId="{CC6E1910-1D0B-4841-86F4-9AF0761816CF}" destId="{A74B7F9D-4AA6-1147-8A67-D67F75D183AB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C922F-024C-4BDD-AD61-6C4C1382FADE}">
      <dsp:nvSpPr>
        <dsp:cNvPr id="0" name=""/>
        <dsp:cNvSpPr/>
      </dsp:nvSpPr>
      <dsp:spPr>
        <a:xfrm>
          <a:off x="1705046" y="548982"/>
          <a:ext cx="4551680" cy="455168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Map Skills</a:t>
          </a:r>
        </a:p>
      </dsp:txBody>
      <dsp:txXfrm>
        <a:off x="4038324" y="1229025"/>
        <a:ext cx="1544320" cy="1056640"/>
      </dsp:txXfrm>
    </dsp:sp>
    <dsp:sp modelId="{58936AA0-0B89-4645-91A0-8B9B41F948F1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20520000"/>
            <a:gd name="adj2" fmla="val 3240000"/>
          </a:avLst>
        </a:prstGeom>
        <a:solidFill>
          <a:schemeClr val="accent5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Field work</a:t>
          </a:r>
        </a:p>
      </dsp:txBody>
      <dsp:txXfrm>
        <a:off x="4683353" y="2602314"/>
        <a:ext cx="1354666" cy="1143338"/>
      </dsp:txXfrm>
    </dsp:sp>
    <dsp:sp modelId="{C516C106-8C6B-4887-B149-4E05A1C61FC6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3240000"/>
            <a:gd name="adj2" fmla="val 7560000"/>
          </a:avLst>
        </a:prstGeom>
        <a:solidFill>
          <a:srgbClr val="FFF1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Observing</a:t>
          </a:r>
        </a:p>
      </dsp:txBody>
      <dsp:txXfrm>
        <a:off x="3171545" y="3956981"/>
        <a:ext cx="1625600" cy="975360"/>
      </dsp:txXfrm>
    </dsp:sp>
    <dsp:sp modelId="{A28F0A0C-9743-4573-A759-3902FE3CBCFF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7560000"/>
            <a:gd name="adj2" fmla="val 11880000"/>
          </a:avLst>
        </a:prstGeom>
        <a:solidFill>
          <a:schemeClr val="accent2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  <a:ea typeface="Sassoon Infant Rg" panose="02000503030000020003" pitchFamily="2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latin typeface="Twinkl Cursive Looped" panose="02000000000000000000" pitchFamily="2" charset="77"/>
              <a:ea typeface="Sassoon Infant Rg" panose="02000503030000020003" pitchFamily="2" charset="0"/>
            </a:rPr>
            <a:t>Questioning</a:t>
          </a:r>
        </a:p>
      </dsp:txBody>
      <dsp:txXfrm>
        <a:off x="1925252" y="2602314"/>
        <a:ext cx="1354666" cy="1143338"/>
      </dsp:txXfrm>
    </dsp:sp>
    <dsp:sp modelId="{CFA47686-B03D-4440-9C22-9202162782D0}">
      <dsp:nvSpPr>
        <dsp:cNvPr id="0" name=""/>
        <dsp:cNvSpPr/>
      </dsp:nvSpPr>
      <dsp:spPr>
        <a:xfrm>
          <a:off x="1708505" y="543221"/>
          <a:ext cx="4551680" cy="4551680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lumMod val="60000"/>
            <a:lumOff val="4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900" b="0" i="0" kern="1200">
            <a:effectLst/>
            <a:latin typeface="Twinkl Cursive Looped" panose="02000000000000000000" pitchFamily="2" charset="77"/>
            <a:ea typeface="Calibri" panose="020F0502020204030204" pitchFamily="34" charset="0"/>
            <a:cs typeface="Times New Roman" panose="02020603050405020304" pitchFamily="18" charset="0"/>
          </a:endParaRP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i="0" kern="1200">
              <a:solidFill>
                <a:schemeClr val="tx1"/>
              </a:solidFill>
              <a:effectLst/>
              <a:latin typeface="Twinkl Cursive Looped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rPr>
            <a:t>Concluding </a:t>
          </a:r>
          <a:endParaRPr lang="en-GB" sz="1900" b="0" i="0" kern="1200">
            <a:solidFill>
              <a:schemeClr val="tx1"/>
            </a:solidFill>
            <a:latin typeface="Twinkl Cursive Looped" panose="02000000000000000000" pitchFamily="2" charset="77"/>
          </a:endParaRPr>
        </a:p>
      </dsp:txBody>
      <dsp:txXfrm>
        <a:off x="2372292" y="1236810"/>
        <a:ext cx="1544320" cy="1056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069325" y="5079350"/>
            <a:ext cx="8554700" cy="4812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763" y="801688"/>
            <a:ext cx="7129462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4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8.png"/><Relationship Id="rId14" Type="http://schemas.openxmlformats.org/officeDocument/2006/relationships/image" Target="../media/image29.png"/></Relationships>
</file>

<file path=ppt/slideLayouts/_rels/slideLayout1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1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2.xml"/><Relationship Id="rId9" Type="http://schemas.openxmlformats.org/officeDocument/2006/relationships/image" Target="../media/image12.png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Layouts/_rels/slideLayout29.xml.rels><?xml version="1.0" encoding="UTF-8"?>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microsoft.com/office/2007/relationships/hdphoto" Target="../media/hdphoto1.wdp"/><Relationship Id="rId5" Type="http://schemas.openxmlformats.org/officeDocument/2006/relationships/image" Target="../media/image26.png"/><Relationship Id="rId10" Type="http://schemas.openxmlformats.org/officeDocument/2006/relationships/image" Target="../media/image6.png"/><Relationship Id="rId4" Type="http://schemas.openxmlformats.org/officeDocument/2006/relationships/image" Target="../media/image38.emf"/><Relationship Id="rId9" Type="http://schemas.openxmlformats.org/officeDocument/2006/relationships/image" Target="../media/image30.png"/></Relationships>
</file>

<file path=ppt/slideLayouts/_rels/slideLayout3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3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3.xml"/><Relationship Id="rId9" Type="http://schemas.openxmlformats.org/officeDocument/2006/relationships/image" Target="../media/image12.png"/></Relationships>
</file>

<file path=ppt/slideLayouts/_rels/slideLayout3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36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?>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4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/Relationships>
</file>

<file path=ppt/slideLayouts/_rels/slideLayout4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46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47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4.xml"/><Relationship Id="rId9" Type="http://schemas.openxmlformats.org/officeDocument/2006/relationships/image" Target="../media/image12.png"/></Relationships>
</file>

<file path=ppt/slideLayouts/_rels/slideLayout4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51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5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59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/Relationships>
</file>

<file path=ppt/slideLayouts/_rels/slideLayout60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61.xml.rels><?xml version="1.0" encoding="UTF-8"?>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62.xml.rels><?xml version="1.0" encoding="UTF-8"?>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4.png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5.xml"/><Relationship Id="rId9" Type="http://schemas.openxmlformats.org/officeDocument/2006/relationships/image" Target="../media/image12.png"/></Relationships>
</file>

<file path=ppt/slideLayouts/_rels/slideLayout63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?>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1.png"/><Relationship Id="rId4" Type="http://schemas.openxmlformats.org/officeDocument/2006/relationships/image" Target="../media/image10.png"/></Relationships>
</file>

<file path=ppt/slideLayouts/_rels/slideLayout66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?>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1.png"/><Relationship Id="rId3" Type="http://schemas.microsoft.com/office/2007/relationships/hdphoto" Target="../media/hdphoto1.wdp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Layouts/_rels/slideLayout74.xml.rels><?xml version="1.0" encoding="UTF-8"?>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Layouts/_rels/slideLayout75.xml.rels><?xml version="1.0" encoding="UTF-8"?>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7.png"/><Relationship Id="rId3" Type="http://schemas.microsoft.com/office/2007/relationships/hdphoto" Target="../media/hdphoto3.wdp"/><Relationship Id="rId7" Type="http://schemas.openxmlformats.org/officeDocument/2006/relationships/image" Target="../media/image34.png"/><Relationship Id="rId12" Type="http://schemas.microsoft.com/office/2007/relationships/hdphoto" Target="../media/hdphoto7.wdp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microsoft.com/office/2007/relationships/hdphoto" Target="../media/hdphoto4.wdp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microsoft.com/office/2007/relationships/hdphoto" Target="../media/hdphoto6.wdp"/><Relationship Id="rId4" Type="http://schemas.openxmlformats.org/officeDocument/2006/relationships/image" Target="../media/image32.svg"/><Relationship Id="rId9" Type="http://schemas.openxmlformats.org/officeDocument/2006/relationships/image" Target="../media/image35.png"/><Relationship Id="rId14" Type="http://schemas.microsoft.com/office/2007/relationships/hdphoto" Target="../media/hdphoto8.wdp"/></Relationships>
</file>

<file path=ppt/slideLayouts/_rels/slideLayout76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5841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72B1-AC07-685F-26E5-5FE38F1AF523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368C0B-8A7A-3819-1CA5-AA42533CF6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B0AFE8A-73CC-12A4-8FE1-FF6EC92408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57948248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F6972451-9FCF-E12E-E2C6-C5AEE9125716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5A300-381A-EE6C-5C2E-02ADDCF9465B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C06F2E-1285-269E-7349-05A96EF1F535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4D2AFD3F-AF4C-0C21-FFF6-473ACA17C8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2D65CA4-6512-DD92-8ED7-526936E970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89F2DD5-B21C-7DBD-7E49-810C107AA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6A933A2-592C-7454-8D1A-96EC6FC9F6B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1F0FBE62-EBD5-568C-556F-7F6DB434CD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0299BBE-0AB0-32A6-23B9-30E78001BEE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63E6F1E-341C-A86C-5E79-0CCBAF40EF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D65A4DA7-AE87-EB39-9C76-F0E505405E0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F7DB73B0-E970-8F1F-5855-A3A70B6077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AE117020-31D5-CC00-87CA-8035D37D912D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2D54078-E26A-533B-B6EA-5D9ACE39198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FF98B4B1-9ACD-D1BA-8AF4-2FDF4CF99F02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BC1237A-9E27-686B-64DF-A1D1C62E290B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AB3D2A-30C3-AE50-86D6-B59B9BFC088C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4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B75D6AF-6141-A4B9-9C20-458D575F4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EC3D70-8F22-C00B-5CC7-46284A838E4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CFBBB9-A881-A36C-7F66-A59A942FF1CF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A5D20AB0-5899-4612-9523-6EB7E03C663B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3C9EB5B4-09DF-35A0-7502-B18217A657B8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1" name="Block Arc 100">
                <a:extLst>
                  <a:ext uri="{FF2B5EF4-FFF2-40B4-BE49-F238E27FC236}">
                    <a16:creationId xmlns:a16="http://schemas.microsoft.com/office/drawing/2014/main" id="{56745FE9-6639-5EA5-A55B-A5724F9429B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7D169A7E-D3B0-9117-9935-8618473CBC73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23F59D23-B470-6411-B92B-080DCD434F2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479902FD-5868-6F87-2667-E043A38B7867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C9541158-7541-8B18-6B36-2310EBAA56B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4" name="Curved Right Arrow 113">
                    <a:extLst>
                      <a:ext uri="{FF2B5EF4-FFF2-40B4-BE49-F238E27FC236}">
                        <a16:creationId xmlns:a16="http://schemas.microsoft.com/office/drawing/2014/main" id="{D9C015ED-BBE7-9BB8-92C8-5694C8D3A13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AEF3EF4-FD17-31AE-E78A-D0CAA2F6A21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DFD4F67E-1842-7FF3-432E-630F33ABDF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C4421B9B-0A42-D845-9C69-9EFCC121FA8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3E2EC88D-2659-C803-48B3-4EB2000ADB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C71302C-29BC-5890-D7CB-A16038C10082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30D01548-2DA2-5BB1-2803-A4A2FD541B5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6F456347-47CE-3CE4-EF29-62F43ED0A2B6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6" name="Block Arc 105">
                <a:extLst>
                  <a:ext uri="{FF2B5EF4-FFF2-40B4-BE49-F238E27FC236}">
                    <a16:creationId xmlns:a16="http://schemas.microsoft.com/office/drawing/2014/main" id="{AEF90A1D-5B59-1545-252B-67061E3710E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5F21714-6809-7E39-742F-5CAFE0694C58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BCE679E9-D7F0-0530-C962-5800FFE7069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CC91828B-3451-0663-75B4-BDD6885F4F3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5" name="Block Arc 84">
                <a:extLst>
                  <a:ext uri="{FF2B5EF4-FFF2-40B4-BE49-F238E27FC236}">
                    <a16:creationId xmlns:a16="http://schemas.microsoft.com/office/drawing/2014/main" id="{6817FBA4-1936-9058-0A8E-234A065DCCB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1C6AB123-5B40-9C39-A941-E939C44A65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834D5FE1-BF48-3712-5A11-908A761769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CF4B54C6-6A5F-7DFB-0C64-98E6C8BF41F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5767E3BA-8CA3-244B-9033-5C5C03251D8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Curved Right Arrow 97">
                    <a:extLst>
                      <a:ext uri="{FF2B5EF4-FFF2-40B4-BE49-F238E27FC236}">
                        <a16:creationId xmlns:a16="http://schemas.microsoft.com/office/drawing/2014/main" id="{9ECE95BB-7C6B-D52B-FEB4-25AE742981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6FEF4E7-ADF7-964D-988D-48439EFB476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E5011BBA-839A-5088-0FE7-3E887A39EF2C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20F4B7CF-09DC-BC39-A70E-F69E19F685A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78C5C760-9501-33AD-B4C2-79AC4E556B5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D993B034-171B-8C4A-201B-69E143EFD657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84E0272-E18A-014C-3429-E33DB19D4A6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E1506918-8165-1002-6D43-1214EF3822E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0" name="Block Arc 89">
                <a:extLst>
                  <a:ext uri="{FF2B5EF4-FFF2-40B4-BE49-F238E27FC236}">
                    <a16:creationId xmlns:a16="http://schemas.microsoft.com/office/drawing/2014/main" id="{E1CF8784-188F-B9D5-72AC-754A96AD2DE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F04211-7FBA-DEDB-6623-718BDBAC7C29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D483C653-F2D0-5A3F-C5F7-459F23962B5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C531719F-A6E4-9FF9-A349-A025534DB9E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9" name="Block Arc 68">
                <a:extLst>
                  <a:ext uri="{FF2B5EF4-FFF2-40B4-BE49-F238E27FC236}">
                    <a16:creationId xmlns:a16="http://schemas.microsoft.com/office/drawing/2014/main" id="{C539DD76-98F7-7D0F-1566-16EB1D75667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D30FD67-0D3E-0DC4-7C49-F82987D2C50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B92093A2-7274-4FD4-A4EF-85DA97356F4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7F5CF7F2-3C07-E28D-A686-9875574F66E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C2609CD3-6F26-2748-2D43-9E803B15CA0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Curved Right Arrow 81">
                    <a:extLst>
                      <a:ext uri="{FF2B5EF4-FFF2-40B4-BE49-F238E27FC236}">
                        <a16:creationId xmlns:a16="http://schemas.microsoft.com/office/drawing/2014/main" id="{8E4C3668-762B-10A6-3456-AC5135D8847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B5998D09-78D1-BCF2-6715-0BE9B4868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3B8C9561-1C6F-389B-6230-AFD3A35079FD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64E76E7A-02C8-9EB8-3B8A-3278E8A08E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6BFF15C9-4228-FDAB-908F-F21084243B24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8BDCDB65-EF63-1541-79CD-C1E9467FDEE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40C39FB9-F4D4-DB68-1015-42C75C2E1A1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DC02CE29-61C4-EB4E-1994-602C3D92C493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4" name="Block Arc 73">
                <a:extLst>
                  <a:ext uri="{FF2B5EF4-FFF2-40B4-BE49-F238E27FC236}">
                    <a16:creationId xmlns:a16="http://schemas.microsoft.com/office/drawing/2014/main" id="{4D332B1E-B105-28ED-9BF7-5922E91C2A5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393196-721F-EF59-831F-C9DA82A96E42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4C4569D8-772A-E648-13BF-8CD12D3D154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56CDAE7-F8AB-1375-1708-1C86AF23E0A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3" name="Block Arc 52">
                <a:extLst>
                  <a:ext uri="{FF2B5EF4-FFF2-40B4-BE49-F238E27FC236}">
                    <a16:creationId xmlns:a16="http://schemas.microsoft.com/office/drawing/2014/main" id="{63B6884B-5BDE-1FCE-0D8C-A25B430BA7F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3F2A8B-AA14-3DFA-99CC-64CC908DE00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A7287A49-D033-B379-58FD-F5DC6B7631F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21FC3293-CC54-C1B3-858B-A0B14DB0C534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B153BEE-4F46-3F6E-0C4C-483636001A6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6" name="Curved Right Arrow 65">
                    <a:extLst>
                      <a:ext uri="{FF2B5EF4-FFF2-40B4-BE49-F238E27FC236}">
                        <a16:creationId xmlns:a16="http://schemas.microsoft.com/office/drawing/2014/main" id="{858D7E0F-BEE2-7D47-B49E-477B111D624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9996504D-CC99-46A7-8059-80A2B6739B08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C12E1D56-79D8-7AA4-AD9D-618FD058398F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3ACB0B72-D1D3-6C55-F692-842D133D88E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D2197F82-7420-30E4-C2B0-314878828DE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E70AF7F6-F6B1-7D4A-C3D0-2D5380CD607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7ACC680A-FCD9-0A0C-5434-54B3A4CFAA45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2B463098-4976-396F-198A-2CEC84D271A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8" name="Block Arc 57">
                <a:extLst>
                  <a:ext uri="{FF2B5EF4-FFF2-40B4-BE49-F238E27FC236}">
                    <a16:creationId xmlns:a16="http://schemas.microsoft.com/office/drawing/2014/main" id="{FB828018-B0A9-3628-672F-40942C20BD0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BB2B70-4314-64FD-FB26-CE313C409BD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11" name="Block Arc 10">
                <a:extLst>
                  <a:ext uri="{FF2B5EF4-FFF2-40B4-BE49-F238E27FC236}">
                    <a16:creationId xmlns:a16="http://schemas.microsoft.com/office/drawing/2014/main" id="{E79C49D6-465A-0C75-7594-0B4177292A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3" name="Block Arc 12">
                <a:extLst>
                  <a:ext uri="{FF2B5EF4-FFF2-40B4-BE49-F238E27FC236}">
                    <a16:creationId xmlns:a16="http://schemas.microsoft.com/office/drawing/2014/main" id="{1E1B741F-967B-583C-3AEB-029F4F0B0059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" name="Block Arc 13">
                <a:extLst>
                  <a:ext uri="{FF2B5EF4-FFF2-40B4-BE49-F238E27FC236}">
                    <a16:creationId xmlns:a16="http://schemas.microsoft.com/office/drawing/2014/main" id="{3BAA8DC6-DB35-F31D-7A3F-B1A79D5BC4D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9F1F60-D121-0F95-A46B-4A28550CDAD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10CDF87-C82C-8BDD-A066-BB99E3410A8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BB0F15F4-7BA9-9DFA-9870-DE1416E8C18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EAD52C42-6F35-26E3-70FA-A9AAEB6F029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Curved Right Arrow 49">
                    <a:extLst>
                      <a:ext uri="{FF2B5EF4-FFF2-40B4-BE49-F238E27FC236}">
                        <a16:creationId xmlns:a16="http://schemas.microsoft.com/office/drawing/2014/main" id="{1912908B-A427-150D-1F84-50DF93EC724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83DC12D-6E3F-309A-FA70-05E70C2C6A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C80632D3-EB4A-B786-CEF0-92C602FB3895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13DDAFBD-6A9F-7693-3625-C047D7A9F87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B576B5EE-41A6-D3A2-B68B-F80907CBE53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23930245-5AC7-D69E-EDE0-9ED4399C9766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9" name="Block Arc 18">
                <a:extLst>
                  <a:ext uri="{FF2B5EF4-FFF2-40B4-BE49-F238E27FC236}">
                    <a16:creationId xmlns:a16="http://schemas.microsoft.com/office/drawing/2014/main" id="{A153AF45-714A-7DF1-6765-1EC13D23BE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0" name="Block Arc 19">
                <a:extLst>
                  <a:ext uri="{FF2B5EF4-FFF2-40B4-BE49-F238E27FC236}">
                    <a16:creationId xmlns:a16="http://schemas.microsoft.com/office/drawing/2014/main" id="{AB4ED728-F96D-C718-7CEB-CC8B7DB0EBD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" name="Block Arc 20">
                <a:extLst>
                  <a:ext uri="{FF2B5EF4-FFF2-40B4-BE49-F238E27FC236}">
                    <a16:creationId xmlns:a16="http://schemas.microsoft.com/office/drawing/2014/main" id="{9A7394EE-594B-DD8E-AC0F-424778C078C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6583BF4-6930-A2A4-385A-34EA0BF40CEB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FB448D8-045C-CB84-C7A7-DF41CD4181C1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5E42A1FB-80B3-51C5-0076-233BF3D12C7E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4595039-749F-BE96-0D5E-FEEBB2E6521F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7D800002-0BFF-BDBE-517D-C47ACC98E67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D7BD638-2823-584C-9B68-061561BAC55B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</p:spTree>
    <p:extLst>
      <p:ext uri="{BB962C8B-B14F-4D97-AF65-F5344CB8AC3E}">
        <p14:creationId xmlns:p14="http://schemas.microsoft.com/office/powerpoint/2010/main" val="224300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43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4C3142-EB23-8F25-054D-72ACFF70EA0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60009FB-A7C6-DA05-9D0E-F6836A2822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60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468346-116A-66E6-812B-38A1A615A19E}"/>
              </a:ext>
            </a:extLst>
          </p:cNvPr>
          <p:cNvSpPr txBox="1"/>
          <p:nvPr userDrawn="1"/>
        </p:nvSpPr>
        <p:spPr>
          <a:xfrm>
            <a:off x="923238" y="808490"/>
            <a:ext cx="2860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spaces that have been defined by a given name. We can describe them by their location, shape, boundaries, features, physical and human characteristics.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737784-658A-AD05-8998-BAF2495F66FD}"/>
              </a:ext>
            </a:extLst>
          </p:cNvPr>
          <p:cNvGrpSpPr/>
          <p:nvPr userDrawn="1"/>
        </p:nvGrpSpPr>
        <p:grpSpPr>
          <a:xfrm>
            <a:off x="57580" y="1031926"/>
            <a:ext cx="865658" cy="744149"/>
            <a:chOff x="57580" y="1031926"/>
            <a:chExt cx="865658" cy="74414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F052065-1DDB-E2DC-0F3B-396DB5BB06C8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6DFED09-CF66-B228-0F68-9682750806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1DB2582-79EF-90E8-ADCB-2AE7029E69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0DE7C01-422A-A7BB-1D1B-3A49D84E46E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BF84855-F164-7917-D065-84DDE64A51A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11" name="Picture 10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16D06F16-D317-4C08-C147-AFE6431A94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12" name="Picture 1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426F523-D2E6-E414-F47E-F0FCA36951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1CB9C8-816F-DF00-0844-27C1265768A2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74626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572C4D2-64B4-1B32-68D7-DC03C679292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DD991092-BCCC-E70B-ADBC-A96CF09BB70B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ADA91177-EA61-A14F-48D8-9FDF4FDA3BDF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4D384F1-2722-256C-0B84-CA37221FCFDC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27" name="Rectangle: Rounded Corners 12">
                    <a:extLst>
                      <a:ext uri="{FF2B5EF4-FFF2-40B4-BE49-F238E27FC236}">
                        <a16:creationId xmlns:a16="http://schemas.microsoft.com/office/drawing/2014/main" id="{D78E21CA-437C-E8E6-D43F-7FB2BDD79DF7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Rectangle: Rounded Corners 4">
                    <a:extLst>
                      <a:ext uri="{FF2B5EF4-FFF2-40B4-BE49-F238E27FC236}">
                        <a16:creationId xmlns:a16="http://schemas.microsoft.com/office/drawing/2014/main" id="{78EC23C4-1992-220E-873E-902A6715F9E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787CDB7E-949B-491F-5C11-1723326B1CA5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B0216510-CCFD-8238-F8E5-772CFF29E6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46C3A5F4-3B03-A278-1907-2AB241FAF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DEC776-1FA8-AD8E-F0A6-5A041B4487D6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B850CB8-AFE7-F6FF-4B59-55E6B4ED76C5}"/>
                </a:ext>
              </a:extLst>
            </p:cNvPr>
            <p:cNvSpPr txBox="1"/>
            <p:nvPr/>
          </p:nvSpPr>
          <p:spPr>
            <a:xfrm>
              <a:off x="6767704" y="37869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know I live in South West England and can name some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cities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the region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. I can name some countries in Europe and describe a place in the Mediterranean. 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583309" y="1869817"/>
            <a:ext cx="269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Places are areas that have been defined by a given name. 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466AB6B-12CA-B770-FC7A-C9C398FD84B9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B746930-222B-86B4-89C0-C8DC202EF3EB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46F2FF87-3180-D2B4-D77E-EFD684493CCE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04D6BE85-A902-2EBF-1495-D6BA8628D9A9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39" name="Rectangle: Rounded Corners 9">
                    <a:extLst>
                      <a:ext uri="{FF2B5EF4-FFF2-40B4-BE49-F238E27FC236}">
                        <a16:creationId xmlns:a16="http://schemas.microsoft.com/office/drawing/2014/main" id="{D7FB5E20-2597-C2F9-9D1F-032BEE084135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0" name="Rectangle: Rounded Corners 4">
                    <a:extLst>
                      <a:ext uri="{FF2B5EF4-FFF2-40B4-BE49-F238E27FC236}">
                        <a16:creationId xmlns:a16="http://schemas.microsoft.com/office/drawing/2014/main" id="{CBAB15B9-D2D2-7071-FE7D-4836909AFF45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FEC6F23F-F501-E370-737C-7E5904F01B95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37" name="Picture 136">
                    <a:extLst>
                      <a:ext uri="{FF2B5EF4-FFF2-40B4-BE49-F238E27FC236}">
                        <a16:creationId xmlns:a16="http://schemas.microsoft.com/office/drawing/2014/main" id="{D9CB490D-D898-A179-70A1-0499A117E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28FD4341-097C-C237-D68D-557B2D3A852E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8EAC55-2763-2E54-A516-F75C56290EB9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47B050-DCFA-BD81-F8D1-37EAD487D659}"/>
                </a:ext>
              </a:extLst>
            </p:cNvPr>
            <p:cNvSpPr txBox="1"/>
            <p:nvPr/>
          </p:nvSpPr>
          <p:spPr>
            <a:xfrm>
              <a:off x="6824631" y="479839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a map to locate the seven continents and five oceans. I know that England is in the continent Europe and China is in the continent Asia.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88E5574-5424-3800-FBBA-A065DAC6D9BA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794C7E4-08FC-3E62-5385-741FB5A5AE2B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D23B01-63B5-9745-6BD4-FF90FDA7FFA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46" name="Rectangle: Rounded Corners 3">
                  <a:extLst>
                    <a:ext uri="{FF2B5EF4-FFF2-40B4-BE49-F238E27FC236}">
                      <a16:creationId xmlns:a16="http://schemas.microsoft.com/office/drawing/2014/main" id="{2EDFC930-7F32-8E38-3B3E-B0DCC43E6F33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5C6F202A-9BFF-F6BB-D3B4-FD9992240FC2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48" name="Picture 147">
                    <a:extLst>
                      <a:ext uri="{FF2B5EF4-FFF2-40B4-BE49-F238E27FC236}">
                        <a16:creationId xmlns:a16="http://schemas.microsoft.com/office/drawing/2014/main" id="{C9B7B796-5F7C-3AF9-11C3-AE48B1EF6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B6408EC0-CF69-72D6-22D4-E55345FD1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3972111-5E24-221D-A3AE-4FAF4317106C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D65EB27-4FE8-704E-2D3A-5DDD8D09673C}"/>
                </a:ext>
              </a:extLst>
            </p:cNvPr>
            <p:cNvSpPr txBox="1"/>
            <p:nvPr/>
          </p:nvSpPr>
          <p:spPr>
            <a:xfrm>
              <a:off x="6824631" y="58896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know where I live and where 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Wallscourt Farm Academy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is. I know I live in England and can name the four countries of the United Kingdom. 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1C51D6F-9B82-78D2-3E56-2CC37064D297}"/>
              </a:ext>
            </a:extLst>
          </p:cNvPr>
          <p:cNvGrpSpPr/>
          <p:nvPr userDrawn="1"/>
        </p:nvGrpSpPr>
        <p:grpSpPr>
          <a:xfrm>
            <a:off x="3525668" y="2707320"/>
            <a:ext cx="8308198" cy="954107"/>
            <a:chOff x="3525668" y="2707320"/>
            <a:chExt cx="8308198" cy="954107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C84BC7-360F-82FE-D852-17506775C6F8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C1A94B3-1B9C-2743-32AB-4B83AFF0C3A8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3738305E-36B9-41B9-E67E-47F2D1F68F75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70" name="Rectangle: Rounded Corners 15">
                    <a:extLst>
                      <a:ext uri="{FF2B5EF4-FFF2-40B4-BE49-F238E27FC236}">
                        <a16:creationId xmlns:a16="http://schemas.microsoft.com/office/drawing/2014/main" id="{750B889C-4590-2233-1B06-6A75B19246CF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noFill/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1" name="Rectangle: Rounded Corners 4">
                    <a:extLst>
                      <a:ext uri="{FF2B5EF4-FFF2-40B4-BE49-F238E27FC236}">
                        <a16:creationId xmlns:a16="http://schemas.microsoft.com/office/drawing/2014/main" id="{9B6102C5-D823-0B4F-B267-AAD650C9FB01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4F48F122-E542-6645-1730-8D916B6C940C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075A870B-9788-88E5-4712-9B7442C10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055B0069-2F7F-3BDD-7014-7C9EC2D78D6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E66FC725-A387-28A8-C7D7-4B9A65D69567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8AC9B67A-0F15-331A-E781-7F016E8795CF}"/>
                </a:ext>
              </a:extLst>
            </p:cNvPr>
            <p:cNvSpPr txBox="1"/>
            <p:nvPr/>
          </p:nvSpPr>
          <p:spPr>
            <a:xfrm>
              <a:off x="6824631" y="2707320"/>
              <a:ext cx="488210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use world maps to locate the equator, tropics and  hemispheres and use</a:t>
              </a: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 latitude and longitude to locate places.</a:t>
              </a: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 I can name significant cities in the UK describe a place in South America. </a:t>
              </a: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C03EA156-7E21-1D05-39B0-4AA499688BDB}"/>
              </a:ext>
            </a:extLst>
          </p:cNvPr>
          <p:cNvSpPr txBox="1"/>
          <p:nvPr userDrawn="1"/>
        </p:nvSpPr>
        <p:spPr>
          <a:xfrm>
            <a:off x="596419" y="3486712"/>
            <a:ext cx="2740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Scale is when we ‘zoom –in and zoom-out’ to explore local, regional and global patterns and connections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F084291-0649-F1E8-23A2-23A2A3BF6154}"/>
              </a:ext>
            </a:extLst>
          </p:cNvPr>
          <p:cNvSpPr txBox="1"/>
          <p:nvPr userDrawn="1"/>
        </p:nvSpPr>
        <p:spPr>
          <a:xfrm>
            <a:off x="598388" y="2520074"/>
            <a:ext cx="2805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Space</a:t>
            </a:r>
            <a:r>
              <a:rPr kumimoji="0" lang="en-GB" sz="14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 is about the importance of places and the way people organise where we live.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EEB0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16FC6D-02CF-0369-9BF5-714D19C48255}"/>
              </a:ext>
            </a:extLst>
          </p:cNvPr>
          <p:cNvGrpSpPr/>
          <p:nvPr userDrawn="1"/>
        </p:nvGrpSpPr>
        <p:grpSpPr>
          <a:xfrm>
            <a:off x="79830" y="956034"/>
            <a:ext cx="865658" cy="744149"/>
            <a:chOff x="156589" y="971826"/>
            <a:chExt cx="865658" cy="74414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05F1859-534C-A3B2-1089-FC2963208EAF}"/>
                </a:ext>
              </a:extLst>
            </p:cNvPr>
            <p:cNvGrpSpPr/>
            <p:nvPr userDrawn="1"/>
          </p:nvGrpSpPr>
          <p:grpSpPr>
            <a:xfrm>
              <a:off x="368025" y="971826"/>
              <a:ext cx="500775" cy="483300"/>
              <a:chOff x="182509" y="2709452"/>
              <a:chExt cx="1909033" cy="18424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FAF9F7-CFFB-712E-8174-6B08F12753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226DCCE-7F90-3D2D-7B92-68AB3D71E65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8FE28DF-CD74-E91F-7E90-9A58113075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C24270A-47E8-90CC-808D-6468B8BA2DF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9" name="Picture 8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F1BC72FC-661B-8A27-D566-ACE39CD9C0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3868" y="1318751"/>
              <a:ext cx="428379" cy="397224"/>
            </a:xfrm>
            <a:prstGeom prst="rect">
              <a:avLst/>
            </a:prstGeom>
          </p:spPr>
        </p:pic>
        <p:pic>
          <p:nvPicPr>
            <p:cNvPr id="10" name="Picture 9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9A8F77E-48E5-C692-3290-5C0784924E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 b="18880"/>
            <a:stretch>
              <a:fillRect/>
            </a:stretch>
          </p:blipFill>
          <p:spPr>
            <a:xfrm>
              <a:off x="156589" y="1305725"/>
              <a:ext cx="505729" cy="410250"/>
            </a:xfrm>
            <a:prstGeom prst="rect">
              <a:avLst/>
            </a:prstGeom>
          </p:spPr>
        </p:pic>
      </p:grpSp>
      <p:pic>
        <p:nvPicPr>
          <p:cNvPr id="2" name="Picture 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857185FD-3197-DAEA-211F-4586140FDF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8880"/>
          <a:stretch>
            <a:fillRect/>
          </a:stretch>
        </p:blipFill>
        <p:spPr>
          <a:xfrm>
            <a:off x="79900" y="1921592"/>
            <a:ext cx="505729" cy="410250"/>
          </a:xfrm>
          <a:prstGeom prst="rect">
            <a:avLst/>
          </a:prstGeom>
        </p:spPr>
      </p:pic>
      <p:pic>
        <p:nvPicPr>
          <p:cNvPr id="3" name="Picture 2" descr="A black arrow pointing to a line  AI-generated content may be incorrect.">
            <a:extLst>
              <a:ext uri="{FF2B5EF4-FFF2-40B4-BE49-F238E27FC236}">
                <a16:creationId xmlns:a16="http://schemas.microsoft.com/office/drawing/2014/main" id="{E4E22923-73F2-85BB-0E14-C1224F23C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944" y="3748770"/>
            <a:ext cx="428379" cy="3972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4A8653C-3F9A-E6D1-5387-8F326F19BE14}"/>
              </a:ext>
            </a:extLst>
          </p:cNvPr>
          <p:cNvGrpSpPr/>
          <p:nvPr userDrawn="1"/>
        </p:nvGrpSpPr>
        <p:grpSpPr>
          <a:xfrm>
            <a:off x="89359" y="2684566"/>
            <a:ext cx="500775" cy="483300"/>
            <a:chOff x="182509" y="2709452"/>
            <a:chExt cx="1909033" cy="18424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4D4E9A-EAB4-AF3B-1D50-3B0BC3C67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36075"/>
            <a:stretch>
              <a:fillRect/>
            </a:stretch>
          </p:blipFill>
          <p:spPr>
            <a:xfrm>
              <a:off x="306750" y="3420521"/>
              <a:ext cx="1691777" cy="113134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8A1E50-058E-AF3E-F086-478E87782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399765" y="2709452"/>
              <a:ext cx="1691777" cy="3972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BC4737-519C-6B37-5079-5B57CEB56E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82509" y="3047811"/>
              <a:ext cx="958202" cy="3972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F6BD36D-B43A-63C8-6538-2A6730232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77556"/>
            <a:stretch>
              <a:fillRect/>
            </a:stretch>
          </p:blipFill>
          <p:spPr>
            <a:xfrm>
              <a:off x="1086043" y="3047811"/>
              <a:ext cx="958202" cy="39722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66D92C-0198-E900-4E7E-627045286571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Place, space and scale</a:t>
            </a:r>
          </a:p>
        </p:txBody>
      </p:sp>
      <p:pic>
        <p:nvPicPr>
          <p:cNvPr id="18" name="Picture 1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E0B62B8-2F8F-2437-D5B8-EB0DB1C1B8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4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183" grpId="0"/>
      <p:bldP spid="184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9CE78D3-4D6F-90E5-681F-7AB795A4E326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42104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D893F5CB-E312-B8E4-9D3B-5A16B80FF8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94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4433074-4860-5888-A9EA-F8EC030A0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2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35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427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187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22647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98ABEFC-2956-1CF6-ACE3-0B1AB9860E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C238CE-B400-0983-0BF9-3B44B4035F03}"/>
              </a:ext>
            </a:extLst>
          </p:cNvPr>
          <p:cNvGrpSpPr/>
          <p:nvPr userDrawn="1"/>
        </p:nvGrpSpPr>
        <p:grpSpPr>
          <a:xfrm>
            <a:off x="82686" y="980555"/>
            <a:ext cx="865658" cy="744149"/>
            <a:chOff x="57580" y="1031926"/>
            <a:chExt cx="865658" cy="744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9563A45-CAAE-191F-17FE-ACEE68C8B1DA}"/>
                </a:ext>
              </a:extLst>
            </p:cNvPr>
            <p:cNvGrpSpPr/>
            <p:nvPr userDrawn="1"/>
          </p:nvGrpSpPr>
          <p:grpSpPr>
            <a:xfrm>
              <a:off x="269016" y="1031926"/>
              <a:ext cx="500775" cy="483300"/>
              <a:chOff x="182509" y="2709452"/>
              <a:chExt cx="1909033" cy="184241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E9DF808-B572-EE16-FE95-3B4E5EF51C2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36075"/>
              <a:stretch>
                <a:fillRect/>
              </a:stretch>
            </p:blipFill>
            <p:spPr>
              <a:xfrm>
                <a:off x="306750" y="3420521"/>
                <a:ext cx="1691777" cy="113134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E14E06-9B26-BAAA-7564-C6574D4AB63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399765" y="2709452"/>
                <a:ext cx="1691777" cy="39722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37776B1-B74D-DB89-E31E-885720CF4E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82509" y="3047811"/>
                <a:ext cx="958202" cy="39722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DE3227-DB72-FA77-A40D-5B5D1627457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b="77556"/>
              <a:stretch>
                <a:fillRect/>
              </a:stretch>
            </p:blipFill>
            <p:spPr>
              <a:xfrm>
                <a:off x="1086043" y="3047811"/>
                <a:ext cx="958202" cy="397224"/>
              </a:xfrm>
              <a:prstGeom prst="rect">
                <a:avLst/>
              </a:prstGeom>
            </p:spPr>
          </p:pic>
        </p:grpSp>
        <p:pic>
          <p:nvPicPr>
            <p:cNvPr id="5" name="Picture 4" descr="A black arrow pointing to a line  AI-generated content may be incorrect.">
              <a:extLst>
                <a:ext uri="{FF2B5EF4-FFF2-40B4-BE49-F238E27FC236}">
                  <a16:creationId xmlns:a16="http://schemas.microsoft.com/office/drawing/2014/main" id="{42AA8D97-B333-D213-8C94-F85AF598E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4859" y="1378851"/>
              <a:ext cx="428379" cy="397224"/>
            </a:xfrm>
            <a:prstGeom prst="rect">
              <a:avLst/>
            </a:prstGeom>
          </p:spPr>
        </p:pic>
        <p:pic>
          <p:nvPicPr>
            <p:cNvPr id="7" name="Picture 6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AD92CD0B-D743-F791-FB62-3836A74C7C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b="18880"/>
            <a:stretch>
              <a:fillRect/>
            </a:stretch>
          </p:blipFill>
          <p:spPr>
            <a:xfrm>
              <a:off x="57580" y="1365825"/>
              <a:ext cx="505729" cy="41025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Google Shape;65;p1">
            <a:extLst>
              <a:ext uri="{FF2B5EF4-FFF2-40B4-BE49-F238E27FC236}">
                <a16:creationId xmlns:a16="http://schemas.microsoft.com/office/drawing/2014/main" id="{70F7B5CA-EE6F-A068-7B72-62F2CA5032EB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6;p1">
            <a:extLst>
              <a:ext uri="{FF2B5EF4-FFF2-40B4-BE49-F238E27FC236}">
                <a16:creationId xmlns:a16="http://schemas.microsoft.com/office/drawing/2014/main" id="{92AC3C05-52D8-4BF7-9607-8E5F862A74BD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81E7730-02B2-601B-5548-0FC454426F11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22" name="Google Shape;68;p1">
              <a:extLst>
                <a:ext uri="{FF2B5EF4-FFF2-40B4-BE49-F238E27FC236}">
                  <a16:creationId xmlns:a16="http://schemas.microsoft.com/office/drawing/2014/main" id="{445F415D-EB9D-F543-FD24-A3833A868445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;p1">
              <a:extLst>
                <a:ext uri="{FF2B5EF4-FFF2-40B4-BE49-F238E27FC236}">
                  <a16:creationId xmlns:a16="http://schemas.microsoft.com/office/drawing/2014/main" id="{1860890C-EFCC-F246-1D20-8B910D97C2B9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;p1">
              <a:extLst>
                <a:ext uri="{FF2B5EF4-FFF2-40B4-BE49-F238E27FC236}">
                  <a16:creationId xmlns:a16="http://schemas.microsoft.com/office/drawing/2014/main" id="{D7B84AE3-2C55-AA2C-02EA-EC11470FB80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1;p1">
              <a:extLst>
                <a:ext uri="{FF2B5EF4-FFF2-40B4-BE49-F238E27FC236}">
                  <a16:creationId xmlns:a16="http://schemas.microsoft.com/office/drawing/2014/main" id="{B84E6DCD-3102-1364-2C6E-BF15B7F0323F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2;p1">
              <a:extLst>
                <a:ext uri="{FF2B5EF4-FFF2-40B4-BE49-F238E27FC236}">
                  <a16:creationId xmlns:a16="http://schemas.microsoft.com/office/drawing/2014/main" id="{EA7A2CE1-6DAD-9D54-6E8E-6D4865CE94CC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;p1">
              <a:extLst>
                <a:ext uri="{FF2B5EF4-FFF2-40B4-BE49-F238E27FC236}">
                  <a16:creationId xmlns:a16="http://schemas.microsoft.com/office/drawing/2014/main" id="{BADF32B1-6A04-6AD8-A41A-699E8E54EE2E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4;p1">
              <a:extLst>
                <a:ext uri="{FF2B5EF4-FFF2-40B4-BE49-F238E27FC236}">
                  <a16:creationId xmlns:a16="http://schemas.microsoft.com/office/drawing/2014/main" id="{A095AC11-265A-770A-D8AF-0D848BD2664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" name="Google Shape;75;p1">
              <a:extLst>
                <a:ext uri="{FF2B5EF4-FFF2-40B4-BE49-F238E27FC236}">
                  <a16:creationId xmlns:a16="http://schemas.microsoft.com/office/drawing/2014/main" id="{EBDD7BE9-F4A4-D678-8345-17A17384C5E4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76;p1">
              <a:extLst>
                <a:ext uri="{FF2B5EF4-FFF2-40B4-BE49-F238E27FC236}">
                  <a16:creationId xmlns:a16="http://schemas.microsoft.com/office/drawing/2014/main" id="{FE45251F-A4E7-3A6C-7DA6-23A99EC20B7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77;p1">
              <a:extLst>
                <a:ext uri="{FF2B5EF4-FFF2-40B4-BE49-F238E27FC236}">
                  <a16:creationId xmlns:a16="http://schemas.microsoft.com/office/drawing/2014/main" id="{F3C3A71B-DFE3-BD66-3750-D82A37F5DB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8;p1">
              <a:extLst>
                <a:ext uri="{FF2B5EF4-FFF2-40B4-BE49-F238E27FC236}">
                  <a16:creationId xmlns:a16="http://schemas.microsoft.com/office/drawing/2014/main" id="{ED4910A9-AEB3-CF4B-930E-201EDE92EA9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9;p1">
              <a:extLst>
                <a:ext uri="{FF2B5EF4-FFF2-40B4-BE49-F238E27FC236}">
                  <a16:creationId xmlns:a16="http://schemas.microsoft.com/office/drawing/2014/main" id="{9A5D346C-9D40-603B-A8AA-BBB4D48CBDCC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80;p1">
              <a:extLst>
                <a:ext uri="{FF2B5EF4-FFF2-40B4-BE49-F238E27FC236}">
                  <a16:creationId xmlns:a16="http://schemas.microsoft.com/office/drawing/2014/main" id="{A10529B7-8462-D827-FCA9-8A22440D8E3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81;p1">
              <a:extLst>
                <a:ext uri="{FF2B5EF4-FFF2-40B4-BE49-F238E27FC236}">
                  <a16:creationId xmlns:a16="http://schemas.microsoft.com/office/drawing/2014/main" id="{C5EC11F9-9945-DC46-D47F-7E918AC0B2BB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82;p1">
              <a:extLst>
                <a:ext uri="{FF2B5EF4-FFF2-40B4-BE49-F238E27FC236}">
                  <a16:creationId xmlns:a16="http://schemas.microsoft.com/office/drawing/2014/main" id="{6FE8E051-9855-B3B6-DA39-C21CB5ACD7C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83;p1">
            <a:extLst>
              <a:ext uri="{FF2B5EF4-FFF2-40B4-BE49-F238E27FC236}">
                <a16:creationId xmlns:a16="http://schemas.microsoft.com/office/drawing/2014/main" id="{C19B36B6-D372-9387-44C2-C0F388D37227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3B978E-D37E-23E8-46FB-D4CF990797FD}"/>
              </a:ext>
            </a:extLst>
          </p:cNvPr>
          <p:cNvSpPr txBox="1"/>
          <p:nvPr userDrawn="1"/>
        </p:nvSpPr>
        <p:spPr>
          <a:xfrm>
            <a:off x="833846" y="115467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A96BDBD-0A8D-C301-4B6D-B2CE4821C0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682AB36-2705-DE99-3278-5B4C7D6540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2C4081E0-2302-6168-4F67-D9199AFAD8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2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FFEEB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FEEB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62264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3180A-16BA-1B9B-F2DE-A96AA7638A11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4" name="Picture 3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3F8B152-2B26-BF10-7707-76FE1E8873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40E08BF-07F8-6DD3-9818-6449AED1403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04078596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941CE53D-09C2-DFBF-B564-61A87B1BA2AE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6711A-1353-0809-C865-04C4006D07D4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0D2AB-4533-A76C-472C-277CB230BDA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77878E7A-6257-24CE-F404-0501AFE9F1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14BA34B7-7533-1F98-BBDA-544F84971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FAABFA48-9A78-4EFA-4FBC-0F9FF5FD7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0BEDCF0-C236-FFD9-5898-9E1B7DF195C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E5F1E08-DC0A-324B-6012-90F369773B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213B4C4E-FF40-3E1F-3E72-C703DDA27A8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48A2AC4-E645-06BE-C41B-D7454F199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lock Arc 2">
            <a:extLst>
              <a:ext uri="{FF2B5EF4-FFF2-40B4-BE49-F238E27FC236}">
                <a16:creationId xmlns:a16="http://schemas.microsoft.com/office/drawing/2014/main" id="{C3275E21-FCEB-3946-CBBD-E19507AE9E8F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AFEE6BCE-381F-88CF-6F61-595BCE9B8A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B38116D-E43D-AC5B-B144-04F021C7656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23EF21F-9FF2-9D27-89B4-6DB6FF0846D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07B239F0-3478-0C1A-7DFF-116415B1FD70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D11016F-E7CE-9BBD-A806-58F41B4D3FEE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81D8F-DF88-9486-FB88-99FCE4353368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78D58DF-38F4-5388-13D5-717DFAB573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51791CE-1FE0-7FC3-14DA-B37B07406820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06960DA-3B26-9562-F08B-D031FEC79E40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19E2E6AF-2C86-027D-77FE-40E7CFB278B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BB5CE440-D1BF-33CF-6A4B-7BBD31EE9A0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5074D96D-6F05-E8F9-0C9C-9E7DE4D6B1CD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8621D6C-D30A-AF4B-4657-72DE0EB4EB9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6178D732-8AF7-7EB6-1252-6991BFD315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56858E20-9B42-B6D5-72BE-55446B94C5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63C0261C-CBA0-733D-7002-3DF27104F69E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24A0FCA1-A00D-3A4E-840B-BEB90E7CE72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44E7B68-7A97-727D-B7DB-22E4AFF06793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1056A102-2DDA-6E1B-0451-D5F30AC8F093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24BA38C1-EFD4-915C-5CC4-07BFF22E4DF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6C6A7918-2C21-D384-CB36-F939ED82167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8828DFC7-A021-AA73-597B-B1C5053E26A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02F5FFD2-E6D4-D35F-5C1C-1BE3ADFA2299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68C528E-DDC1-4473-9DAA-173BB13C0BED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4C719156-F574-B974-6835-CA04CBE5FCEE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C170842-B5F4-A074-0A81-C23EC4D03D35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4E641499-81C8-1047-616C-04B3FD752B1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CA9F1DDC-EA25-C118-1E9F-3E55CDBDBFE7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476C3250-04F3-A930-32C2-58C2F6FEF07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9DFDFBC-2ECB-CA4A-479B-483FA710193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C75C27F-BB00-96B0-74E1-3647600B3FEF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68B5C85F-F7FE-E39C-D8F5-01D1C13847A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80E46E6A-3287-EBBA-2ED2-C66187BEE73C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AF23A9F-78EB-CD67-197E-A4AFA7FF6A8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9006E404-BA53-A589-35CD-6D3B152CCAA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EC15CCB9-0054-0835-3F23-2941B49AC59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AD7E5DCB-DA90-0867-D4EC-A3C8BFECCB0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9B2D63AE-5BE0-01AB-F6C4-69986625921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261AC846-8B7C-F692-1B41-C0CF76E8931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A0F70CA7-88B3-C5ED-DCBD-9EAF7FFBA73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9F879593-DEAC-5870-5DEC-DA7C670101A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22FBB7-C333-F930-DECA-46919D2492A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AF2BBF-90CE-A8F0-02C3-9E11C8827EB4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062E1D12-FC4B-1956-F660-B1E7569A1138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FA7CAE68-9037-FCB7-6C92-D1B662965AB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8223A222-CE21-5D4D-AC25-B0ABC2422A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2433A96-3506-F628-55D8-EC5F0A85276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E206693D-DED9-22B2-10C0-94DFB802CB6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BE857825-2E40-ED9B-0270-EB017F346779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E8D27F75-804A-9491-8520-64F6CE1BECD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A6B8BEC8-5B1E-4F91-FF3F-53FAB7CF36C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4D3FEC54-D359-5EBD-7426-B27E9663697D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54D1E72-B8DC-8D14-7067-DB1D24593A8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5F2A4A39-0960-4706-C8C0-DF3D3249B1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8B7D7D02-38AE-1FFD-96A5-39D2AB19730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48F60715-7584-39E0-7D5A-9EAF6DF6E35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0F6EE40F-9ABD-2D05-F947-D355078DC30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A31C47EA-38D1-5B06-92E9-6954FF3A0C6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580A3A83-AFFA-6144-D7EB-51B9106F6081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F1B8BD-7F10-E1AB-9D9C-55B2FDC3829E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BA5A3EF2-6D76-EB5E-96F4-1D841D3F2CC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38DCB475-4032-7807-6B22-8EC3B63EC59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13BB38F9-09AA-C0D9-5F88-D9F64FAE09F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20E8469-F1D0-51F5-3790-53225969846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318653F7-45F0-3502-23C7-DC09197A985C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45BED48-6944-33D3-89DC-4B377D27294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11CC6D29-41FF-76D3-65EB-EEB91E4E239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59DBA528-9F14-1F0C-55D2-F862699EF5D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E0EC242-8248-D678-0BCE-8452F2EED805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5AB36E4C-B3AB-955C-3A03-188E74FDE5A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BCE0F75C-1291-8360-AD5C-63D4D55EFF6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10B5659B-8872-2829-78AC-5ED776409731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98C87A34-8D3A-C669-FF21-A79404D6D38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4D46E662-673F-549B-79E5-F3B98B83B492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A0B840BE-C875-35CB-6542-61656B1183A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4EDF90E-9A1A-0723-4E95-EBFD068F347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768DB74-5B35-7582-A4C1-66D20D33107A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51BA772-AA21-CA27-D40B-14301C710C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1805B651-844F-05FD-FBFA-3E6EF5B9997C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3FE302F4-6077-FFEA-9DE6-72151166B35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339E62F-DEAF-8A4F-4435-C2675DA37B82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B815E8CA-11C6-9E5D-B09E-6B27A3DCB6F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D66BA1BC-E947-87C6-6699-6FB04AF2BC1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6B01D8A0-49EA-D089-593D-9AD8C893C1B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3CFF030E-8030-5093-0FF7-655B2988724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B55C770-7B5E-C2A3-E545-60667FA816F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EB74BCC3-CEC0-7FBC-3ED4-C9E72B79AAB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FA6EAFE-263C-D74A-8C37-FB9F39AB1BD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477DFB65-E282-DF52-0474-192618EADC0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0C25866E-FDAC-986D-78A5-9AC23327BA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C9AE04FA-BADA-5973-A998-6587C6FC1904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EF14282-095F-2638-484C-5D45AA9AB74B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04A112B9-B722-6602-F839-8DC7F98111B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18E4442-86DC-5635-EAE7-32DA6D45735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684FB3A-F3FC-AC6A-9459-0128FA470FC9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8C2C0F-EB3B-8732-A309-876384F6AA1B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EEACA57-4857-88AB-A700-F9DA91B9BAE2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89A62F-D268-FE62-8066-FFB5BCEC6300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27664619-6C78-3B1B-463B-D36B1D462932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</p:spTree>
    <p:extLst>
      <p:ext uri="{BB962C8B-B14F-4D97-AF65-F5344CB8AC3E}">
        <p14:creationId xmlns:p14="http://schemas.microsoft.com/office/powerpoint/2010/main" val="20199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A4C266-4F85-3F09-DE59-533D9948FE9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F5E2CE0-2DCE-F613-5427-F8DA852B9D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1151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6A2CA-7706-DE44-CA7D-393232DF743C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places, including towns, cities, jobs, transport and how humans affect the environment.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1F81D1-2DFF-7F3B-FA22-10EA11D395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1141596"/>
            <a:ext cx="783960" cy="4411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6B223-D952-E1B4-7E7E-ED950042696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24516170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23707F62-5BC9-73A8-06FB-B7B94D9CDA14}"/>
              </a:ext>
            </a:extLst>
          </p:cNvPr>
          <p:cNvSpPr txBox="1"/>
          <p:nvPr userDrawn="1"/>
        </p:nvSpPr>
        <p:spPr>
          <a:xfrm>
            <a:off x="209565" y="1716741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 is the study of how people live, use and change places. This includes towns, cities, jobs, transport and how humans affect the environment.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EEDBCC6-5644-F19A-ADD5-0820C10A8B5F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FFB5B3"/>
          </a:solidFill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D343F5F-0310-8BF1-153F-738F244F6B87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24A26F8-2EFF-49EE-5959-CE6CD9FD154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6" name="Rectangle: Top Corners Rounded 71">
                <a:extLst>
                  <a:ext uri="{FF2B5EF4-FFF2-40B4-BE49-F238E27FC236}">
                    <a16:creationId xmlns:a16="http://schemas.microsoft.com/office/drawing/2014/main" id="{0C0B3541-7ACE-E20A-F4B8-275913C1BDD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7" name="Rectangle: Top Corners Rounded 72">
                <a:extLst>
                  <a:ext uri="{FF2B5EF4-FFF2-40B4-BE49-F238E27FC236}">
                    <a16:creationId xmlns:a16="http://schemas.microsoft.com/office/drawing/2014/main" id="{C6C01646-8B6E-657C-4854-39EB1B4A596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8" name="Rectangle: Top Corners Rounded 73">
                <a:extLst>
                  <a:ext uri="{FF2B5EF4-FFF2-40B4-BE49-F238E27FC236}">
                    <a16:creationId xmlns:a16="http://schemas.microsoft.com/office/drawing/2014/main" id="{AB185C89-AD94-E1C7-6A02-62FEA46471F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21A253F-5A1F-44C8-FE26-9851FB495E89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4226305-104A-0BF5-8BD6-C5DBE225FA6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02" name="Rectangle: Top Corners Rounded 76">
                <a:extLst>
                  <a:ext uri="{FF2B5EF4-FFF2-40B4-BE49-F238E27FC236}">
                    <a16:creationId xmlns:a16="http://schemas.microsoft.com/office/drawing/2014/main" id="{B1C553D7-DF13-9D2C-F8EE-E1887A5973D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3" name="Rectangle: Top Corners Rounded 77">
                <a:extLst>
                  <a:ext uri="{FF2B5EF4-FFF2-40B4-BE49-F238E27FC236}">
                    <a16:creationId xmlns:a16="http://schemas.microsoft.com/office/drawing/2014/main" id="{F57A6308-5609-D038-7817-D8F816944EB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4" name="Rectangle: Top Corners Rounded 78">
                <a:extLst>
                  <a:ext uri="{FF2B5EF4-FFF2-40B4-BE49-F238E27FC236}">
                    <a16:creationId xmlns:a16="http://schemas.microsoft.com/office/drawing/2014/main" id="{7AE8B410-CF97-109E-AC73-7EE2E0A3CBC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9D539B1-633E-3258-46D8-189D057BD239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D4CA877-08BB-2743-2C91-D772E29BE181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8" name="Rectangle: Top Corners Rounded 81">
                <a:extLst>
                  <a:ext uri="{FF2B5EF4-FFF2-40B4-BE49-F238E27FC236}">
                    <a16:creationId xmlns:a16="http://schemas.microsoft.com/office/drawing/2014/main" id="{388DAA77-D3FE-F8FE-0D0A-C6904438768F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9" name="Rectangle: Top Corners Rounded 82">
                <a:extLst>
                  <a:ext uri="{FF2B5EF4-FFF2-40B4-BE49-F238E27FC236}">
                    <a16:creationId xmlns:a16="http://schemas.microsoft.com/office/drawing/2014/main" id="{7D82C541-F81F-7E02-29B0-6D26AE40838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00" name="Rectangle: Top Corners Rounded 83">
                <a:extLst>
                  <a:ext uri="{FF2B5EF4-FFF2-40B4-BE49-F238E27FC236}">
                    <a16:creationId xmlns:a16="http://schemas.microsoft.com/office/drawing/2014/main" id="{F877950A-A4C0-251B-7352-0C7970A6542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9EA8D5D-939B-B699-5132-D73BAF0FE920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75FA34F-8591-3BCD-59BB-790571FFBBBC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5" name="Rectangle: Top Corners Rounded 86">
                <a:extLst>
                  <a:ext uri="{FF2B5EF4-FFF2-40B4-BE49-F238E27FC236}">
                    <a16:creationId xmlns:a16="http://schemas.microsoft.com/office/drawing/2014/main" id="{7DDFA530-4D70-7082-0CC8-E44E8EDC0BFF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6" name="Rectangle: Top Corners Rounded 87">
                <a:extLst>
                  <a:ext uri="{FF2B5EF4-FFF2-40B4-BE49-F238E27FC236}">
                    <a16:creationId xmlns:a16="http://schemas.microsoft.com/office/drawing/2014/main" id="{B1A4774C-F438-3577-C784-C78E58127F7A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FA78F10-C2D3-D61B-80D0-2EC3B738D3EA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0FBCE67-BF54-A8F6-6581-421ECE26470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3" name="Rectangle: Top Corners Rounded 91">
                <a:extLst>
                  <a:ext uri="{FF2B5EF4-FFF2-40B4-BE49-F238E27FC236}">
                    <a16:creationId xmlns:a16="http://schemas.microsoft.com/office/drawing/2014/main" id="{0BD5FDF6-5429-7725-8D8F-DEAF1206276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2FF8227-CDB1-6860-CD50-9A17DBC304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72090" y="939862"/>
            <a:ext cx="1296694" cy="729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FC126-FD82-1317-DB8C-FB74C9A9AB37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6202A21-3D36-A70A-AAD4-4B6336CB56EA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817E33F-3504-0BE9-05B4-F6A810AE7E6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EA21353-D433-3ADC-D22F-8EFCF7E5CFAF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8" name="Rectangle: Rounded Corners 12">
                    <a:extLst>
                      <a:ext uri="{FF2B5EF4-FFF2-40B4-BE49-F238E27FC236}">
                        <a16:creationId xmlns:a16="http://schemas.microsoft.com/office/drawing/2014/main" id="{65ABC842-FD91-5AFC-D204-38D2B5AC5F9A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Rectangle: Rounded Corners 4">
                    <a:extLst>
                      <a:ext uri="{FF2B5EF4-FFF2-40B4-BE49-F238E27FC236}">
                        <a16:creationId xmlns:a16="http://schemas.microsoft.com/office/drawing/2014/main" id="{79515D7F-4CC7-9E23-554D-78BD4437C718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6FB2032A-C69A-FE48-D1A0-E11713D3F3F9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9CEFD77B-B429-872B-E798-DC8809BAE5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7698F628-B378-9A7A-F75F-60658D6D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984EDD-7012-A5DD-2FB0-201287FB3372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C1FC94-CD87-854D-1AA9-9227C2E7A9ED}"/>
                </a:ext>
              </a:extLst>
            </p:cNvPr>
            <p:cNvSpPr txBox="1"/>
            <p:nvPr/>
          </p:nvSpPr>
          <p:spPr>
            <a:xfrm>
              <a:off x="6767704" y="3825035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how people use the land in my region and the Mediterranean. This includes jobs, leisure and transport links.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95D963C-B4B9-DC5B-1915-5D891F8D0C3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0D541C-C382-33D0-17B5-1EDC0378E0A6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A6B126-1276-28BA-A2F2-B7A2A99AE82D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F10E2EA-B570-721A-9AC0-C18A6558E74E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29" name="Rectangle: Rounded Corners 9">
                    <a:extLst>
                      <a:ext uri="{FF2B5EF4-FFF2-40B4-BE49-F238E27FC236}">
                        <a16:creationId xmlns:a16="http://schemas.microsoft.com/office/drawing/2014/main" id="{F0F31D55-95CE-160E-BF9F-A1EC65E9BE22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Rectangle: Rounded Corners 4">
                    <a:extLst>
                      <a:ext uri="{FF2B5EF4-FFF2-40B4-BE49-F238E27FC236}">
                        <a16:creationId xmlns:a16="http://schemas.microsoft.com/office/drawing/2014/main" id="{D4ED4B8C-C6EA-703B-DED8-F1F70EFDE90A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08DCDFE-911A-7803-C8A2-4CED6585D52F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0FCFA404-8758-5D13-7BEE-E9B4B40CFE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9A4B8FF0-A4B3-AEA7-8625-B2928936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6DC5647-75BD-CFBC-F401-547281551DE5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2ADC3D-D3EF-6E50-8D54-BDD70E5F9E72}"/>
                </a:ext>
              </a:extLst>
            </p:cNvPr>
            <p:cNvSpPr txBox="1"/>
            <p:nvPr/>
          </p:nvSpPr>
          <p:spPr>
            <a:xfrm>
              <a:off x="6824631" y="4899996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explain similarities and differences between human features in my local area and Guizhou in South West China. 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0694D1-9829-8011-10D7-64CBFD35DEBF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A5ACA5C-8369-742B-2646-B953ADB8ECA3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A7F2370-CBF9-A1C5-107F-8F1ACCB9FF9C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36" name="Rectangle: Rounded Corners 3">
                  <a:extLst>
                    <a:ext uri="{FF2B5EF4-FFF2-40B4-BE49-F238E27FC236}">
                      <a16:creationId xmlns:a16="http://schemas.microsoft.com/office/drawing/2014/main" id="{B78330E8-6785-F487-6B0B-8EB48358012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2A4B0A-9D16-FFC3-182A-97C980E9020F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D87461E1-7338-A9F5-15FF-DF1BD48C42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426D8057-EEBF-4542-ED22-17CC3E3D1AA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339A26-54D6-A3BF-E316-573BDA5305BF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F0E2E54-86B6-EC2A-E811-C38B40137A53}"/>
                </a:ext>
              </a:extLst>
            </p:cNvPr>
            <p:cNvSpPr txBox="1"/>
            <p:nvPr/>
          </p:nvSpPr>
          <p:spPr>
            <a:xfrm>
              <a:off x="6824631" y="5864284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describe my home, my school and the area where I live. I can name different human features and jobs in my local area.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7B63172-9799-EF95-5E76-1C161E1F42FA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1F87DA-AD0E-441D-B862-D4F21F8BF72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8AAB5D67-279F-260A-29B3-4CEAFF9A6F32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60" name="Rectangle: Rounded Corners 15">
                  <a:extLst>
                    <a:ext uri="{FF2B5EF4-FFF2-40B4-BE49-F238E27FC236}">
                      <a16:creationId xmlns:a16="http://schemas.microsoft.com/office/drawing/2014/main" id="{A1F9D0EE-7678-1BFD-D27E-C5392E89BA37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1C475E96-233D-17E8-9592-DDAC8B1B0471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F2F19F78-0E80-8C67-5132-AA17A1BF1C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9E7F21B-ED07-8174-4C9F-4C380FBED5A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ED4395-13B2-5B6A-F285-0D2D2BAA096D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F1C3216-1E2F-1047-38CA-71DB21BB6542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rPr>
                <a:t>I can compare and contrast different land use patterns in the UK and South America.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709356-0806-8FCD-FA4C-347A007A245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Human Geography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4F1D520-8D84-CAD1-9F31-5D33AE989C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6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76B5987-E34B-3374-2D16-1118493B96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D2AC8D-5B45-FBC6-ED64-5FA76590AD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BF02F0-7222-DE82-65FB-CFBE9801A4C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97532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S2 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B5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ysClr val="windowText" lastClr="000000"/>
                </a:solidFill>
                <a:latin typeface="Twinkl Cursive Looped" panose="02000000000000000000" pitchFamily="2" charset="77"/>
              </a:rPr>
              <a:t>How will I know when I’m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E1DAF15-881F-D457-A8BB-5F26B91D1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E1FA7D91-B467-DE06-BAEA-1D4513FF48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30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BB1EB2E-3AEE-0F1F-1115-2ACC63E0D5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371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681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28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563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613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3097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80870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76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834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3480419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8E775-7E5B-D61D-6C7A-30665AFB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39278" y="958716"/>
            <a:ext cx="783960" cy="441111"/>
          </a:xfrm>
          <a:prstGeom prst="rect">
            <a:avLst/>
          </a:prstGeom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258308B-A5EF-27F7-ACFA-C48919113C2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F2CC941E-5515-0566-9740-AC813C96565F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B936BF-88E7-1C75-F07B-FF9D8E9A422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615331AA-E1A6-315E-7ACD-8CCF5F58E0B7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1876378-D1AE-3FBA-F022-D41AC4C75EAE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406248-432F-AD3A-3B25-031A3B2B77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2D527684-E785-DE6C-1343-3D4F678F4788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3F0CC92C-123A-5DED-71E0-FF2703B6F79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EDA4AD19-39FB-BC92-8D73-078BEB371F0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8EC4A9D8-318D-C609-5887-AFF178B8EFA4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C0DE7081-898E-C258-45FE-DBF29E38374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BFD8662A-3574-1C8B-83F8-D213AF12C15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4118246B-2B6E-01DA-756F-68150ED0A14C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7E8ED48D-C345-5FDF-98D4-78681CE9098B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2B162815-248D-79EB-378A-75C57DEB4389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0EF27A-5612-6D8F-4B36-77EDD95A733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D748184E-5BC6-2CB4-B78F-B871890AEF9A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72380410-F1D8-D35D-9412-59CAE1756FF3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F07F817B-115F-D872-2379-D5FBC6B3666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9A3D85A-1113-B057-2F54-C699154532F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C6021-E34C-20CE-40D1-F8E01C7FE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56FD54D-6C8A-AFC9-56C1-4C1712A5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C198537-C7C3-0133-D001-8D777FBB2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783822F-1EEA-F096-6671-4866AC36F7D8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862739-FA4B-EEA3-CD2F-BFCE5A87560E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72E8A4-31C5-DBAA-944F-F2DD42A24AB7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2671F131-8DA2-36F0-6311-BCD322217C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EDB6FC2-B0B6-F2D4-105B-D5AACC9F5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BA938BB2-D8F5-EFAF-82D6-E53B74F00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872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45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14830"/>
            <a:ext cx="1665573" cy="31337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FCE4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714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3742162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D5788-D6F3-1EF3-52FE-3A9B7F2F7A8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21F989F-E8F9-972B-C8C1-36FAA615DC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0DC4D0-7F7F-C129-518C-69F0172A7BB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3247046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5622F02-0A76-0D9D-A336-6448DB731649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29841-8EEF-7450-D4DA-EB5A4CFB60C7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6B0EBA-659A-9CF9-9A5E-9ED25D444BB7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06E88E3-8214-ED86-2067-2CF76369A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3709136C-B799-DAFB-3508-3089ABA041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561E6138-EE33-5EA7-95EC-CAD4864566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32946585-566C-C88C-3F07-2EF0D4BE025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B507417-8285-FFD4-A97B-D64C6B84287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EF2E511-C50D-E316-407D-1999B51F481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70EF334-2ECA-E645-B345-A6BB56E7A7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0F51EE5E-9D96-6377-7AED-A342AC12815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D03FAE61-7929-B3AC-6CF6-32CF93C9ABFE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C689AEDB-A518-F678-F216-5EF82E51A1D4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B1424620-BD5D-E330-9E7D-766AFA8443CB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C9EE6365-EC18-FB26-5239-DFB00ADBECE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F3199C1-3AAC-B13A-714D-B458D416B742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A4B2C-0E02-B6C9-33CB-72689080A10B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6BFE418-756D-B838-B836-1C17A20E33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D8A1CB3-B3B3-5E8D-BFC4-76E8E7000697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96864E-D121-760D-A632-4F99275809A6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8AECB691-077B-3FA4-C5B1-F494A5A4B79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48503CD1-38C3-F36F-F16F-FCCA92E03574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18E2E257-B50B-66EA-C630-37472B8475A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CDF2B60D-A1EF-D223-89E1-97E2402534D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1A391B98-7CBF-A005-06BA-5AA445060D87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1BFA9C14-25C0-43FE-56F6-0F692A333BB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E4B570B4-9762-6C09-62AB-0AFD675C94D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EB93CAC3-002D-C035-1C6B-0B908ECF601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5BB272E-53FD-5428-95AB-3F843787DAB9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E6D3D01C-824F-FDFF-AE13-673FC71C345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12FF4A7E-FB7F-E153-7CD0-B49BB4D4400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B5E4BC4C-43F3-89F2-A49B-4D81B08CEAE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31D5E86E-CA23-B468-7006-87762C5E2195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89C3DC5E-43D2-5D9F-E420-95C65E543A8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4123B444-2A36-6505-F15C-370B7E885C57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88D74EA2-F281-B45B-446A-29D9FAE959F8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C9A15-03F6-D320-BA53-C345A9DD0654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6C93855F-14C2-1EE0-1E5B-8B0C07F79FD7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64580F-B1CB-CC13-8334-C4DCD13DD3B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8DA7B546-DFAB-E72E-80F8-47A4DCB3303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5BE492A8-8B0F-EBDF-DF2D-A89C3981B1C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AA5ACEB5-0609-0F2C-3A5C-57CDD29818C3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BD0B8E33-45C5-408C-DE89-3E76C0145D7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9FD00B0C-DC1F-187F-3E66-6BE5079DD1A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3A3A5818-0C20-FA92-9260-62B9CC32800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EEFA341-493F-09E0-1173-D275D9AE23AA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F9079747-78FD-77C9-F596-E424F062001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CC264D0B-A62D-1EF1-7857-8531432CAE2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DCB75A3D-251E-B47C-C41E-C191150ECD99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4C7B514F-AE9B-F50F-996B-90DA327DD2F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EA5E121D-2ED7-57DA-DAE4-21FB0BBF4BDF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38DE2AE4-D7CF-CFCA-9295-0004D7C6F5A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59C7B0A4-0742-5609-5C82-ED68C9E0E5BD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C183EF3-D455-DCF1-9335-242571A6764B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C217F4A7-F72A-9879-C36B-A1DA8C34D8E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ECA2C6C5-CCA4-08A3-6BEB-1555A98DC7D2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AB37D42E-4FC2-EE49-D88A-234235D154E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2FF6CB3F-C17C-6EDA-EA4D-9DE1476423A9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4B3CAE91-4184-06C8-F0B2-96E5FB497BE0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924FAA4A-1DDB-B72A-7BC0-20ABE8B8216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571B54EC-8E89-D1EF-1805-93840BBF2FC0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928FF976-CB79-D57E-37D3-73CB8B09AB6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FA47923F-BBEB-0238-9891-24085D8CF89F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2667CE29-0C9F-2AB9-2A60-EC12F6457A9A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6DD59758-B2B7-CA19-DC0A-61CA897DB5F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79C78309-E4EA-E8D4-B357-7E3A67933D6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3C62EAF6-A862-612B-C498-A7826F63DBA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3C3157BB-6CE3-39FC-96E3-8985FC63085C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CEEB70F4-6602-96E8-2E53-73CAB4292C12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3E41C02F-114B-4F16-DD1D-707DEA50C8A5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596A70-92A1-2EFC-88AE-A35E80B5D906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C74448D0-D736-7050-742E-54380E1E2F49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7C0554FE-45E1-039E-EB88-C0D9B4E490C5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6D9A027A-1772-9976-3861-8FCAB9919B1E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D375B6E2-3335-0B17-D5AB-F318740C024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90F2705-3804-52B8-B9C8-24B59F62F4F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35E72163-BB0B-F7BC-DC5C-775F3B1B7F55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32B3A1C3-78E3-D201-CD88-4DF2158DFBE6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C2A2160D-79F4-61B8-A787-DDA43B0F72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18E4770-C62F-27B6-F160-27041C7C9E5C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178C0ADD-C366-4D18-C6B8-674112B718C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7F41EF1F-9E95-8570-FE09-D87BF1DE73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9B8D4519-0E5D-E113-C869-B04FC3B94997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18B76D7A-ED0D-974D-C7B6-DF9C04854CC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D01748A2-A701-AFE4-B794-485E4EEFEC0B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9A65E1D8-9732-AEDF-572C-480EF145CDFF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A73370D0-B87E-FA79-0664-EB7C531BB957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1A54F7-B6F0-53C2-011C-B23C51B7B7C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4E5A45AE-4D8B-4A81-D3CF-DC9A365257FA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66CB90F3-FA57-E1C8-212D-8C0CDB6E4EAB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744E677-8921-387D-14FD-C219F0CD049C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BC00184-C8AB-0213-097B-0C881196B315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A37D4CFA-F8E3-9D1F-86FA-74484453B41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6F5712B0-380A-204A-B649-394B0312D140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00A79808-134F-6B80-993F-D50EEB3971E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C7A3783-CB8E-2E83-D695-F1643CFDAD6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B3FAF48-4BAA-A58D-B654-D57D156D5A1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4CEBF0E-8BFB-9AF1-F1FC-C3900BC08C97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1AE4C85E-921D-CBEC-F034-9CCA4CFF88A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BCB465E8-281C-F422-6FFE-D272EAEA6E4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7EE8FD02-66C8-DE51-01BD-4F0AEFD478B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6579A704-1A70-6063-CF97-53D272D132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CEB989CD-231F-02F6-CC64-A025E22828B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16DCA297-438F-51C4-7DCE-98D81001C9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589D9C6-522E-655E-F69F-7F68BA3F9333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D09668D-62B7-E404-9599-BF61879B86DD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03991A6-1118-399B-F345-0421EB64FD7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C66660D-829B-5AFE-C514-7D3A89C2A499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14A1144-922B-6BB7-497A-81BBF7A94FB0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1CDB80E-BE6E-B498-4C54-4BC9526BBFC4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33872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21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A18B94-3BC6-2B80-8733-0D19E7534B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933B3F1-5FED-3378-CB38-EAC98CD5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694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08491-7D4F-DF12-CFE1-84A861DF3329}"/>
              </a:ext>
            </a:extLst>
          </p:cNvPr>
          <p:cNvSpPr txBox="1"/>
          <p:nvPr userDrawn="1"/>
        </p:nvSpPr>
        <p:spPr>
          <a:xfrm>
            <a:off x="923238" y="1014230"/>
            <a:ext cx="2860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11" name="Picture 10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0AABF0A-7E21-F779-B0D9-F8EF959FA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96080" y="975198"/>
            <a:ext cx="907028" cy="7776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625CF3-DBA2-15E8-2E8D-C0F15A3016A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5394588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DA16B8-0D53-26E4-13D0-85D328DA6C9D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tx2">
              <a:lumMod val="25000"/>
              <a:lumOff val="75000"/>
            </a:schemeClr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5CC82D9-AC82-7D2D-52E8-760A3E5955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1198173-860F-0935-2EEC-F634E844497F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5" name="Rectangle: Top Corners Rounded 71">
                <a:extLst>
                  <a:ext uri="{FF2B5EF4-FFF2-40B4-BE49-F238E27FC236}">
                    <a16:creationId xmlns:a16="http://schemas.microsoft.com/office/drawing/2014/main" id="{4180F89A-13CE-C870-2BED-3882A448102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72">
                <a:extLst>
                  <a:ext uri="{FF2B5EF4-FFF2-40B4-BE49-F238E27FC236}">
                    <a16:creationId xmlns:a16="http://schemas.microsoft.com/office/drawing/2014/main" id="{7A717861-E11F-FFD5-B57F-A446D7E6E2A3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7" name="Rectangle: Top Corners Rounded 73">
                <a:extLst>
                  <a:ext uri="{FF2B5EF4-FFF2-40B4-BE49-F238E27FC236}">
                    <a16:creationId xmlns:a16="http://schemas.microsoft.com/office/drawing/2014/main" id="{89C49B47-0AA7-4D4D-D90B-398040F6F9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42C6130-44AD-6318-D2BE-D6D0819BF12A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4CF979-CAEC-3BC2-8DC3-0259E87FD5BA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76">
                <a:extLst>
                  <a:ext uri="{FF2B5EF4-FFF2-40B4-BE49-F238E27FC236}">
                    <a16:creationId xmlns:a16="http://schemas.microsoft.com/office/drawing/2014/main" id="{503F8540-AC01-3468-1A7F-FCF10E2304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77">
                <a:extLst>
                  <a:ext uri="{FF2B5EF4-FFF2-40B4-BE49-F238E27FC236}">
                    <a16:creationId xmlns:a16="http://schemas.microsoft.com/office/drawing/2014/main" id="{95657FBD-BAC0-6B7E-A1D1-E236D957E4EF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3" name="Rectangle: Top Corners Rounded 78">
                <a:extLst>
                  <a:ext uri="{FF2B5EF4-FFF2-40B4-BE49-F238E27FC236}">
                    <a16:creationId xmlns:a16="http://schemas.microsoft.com/office/drawing/2014/main" id="{BCA5C02A-FF91-55DD-668C-41F415D6B560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EDF64CE-B085-7386-F376-D4BD9F3A2154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85CE1F-B891-17A6-8BE1-E4B6E8FD3110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7" name="Rectangle: Top Corners Rounded 81">
                <a:extLst>
                  <a:ext uri="{FF2B5EF4-FFF2-40B4-BE49-F238E27FC236}">
                    <a16:creationId xmlns:a16="http://schemas.microsoft.com/office/drawing/2014/main" id="{25724C3D-76C1-2069-9E42-AEB53814A0A9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8" name="Rectangle: Top Corners Rounded 82">
                <a:extLst>
                  <a:ext uri="{FF2B5EF4-FFF2-40B4-BE49-F238E27FC236}">
                    <a16:creationId xmlns:a16="http://schemas.microsoft.com/office/drawing/2014/main" id="{C6707F1F-2185-DD9E-D15E-7035417EFB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9" name="Rectangle: Top Corners Rounded 83">
                <a:extLst>
                  <a:ext uri="{FF2B5EF4-FFF2-40B4-BE49-F238E27FC236}">
                    <a16:creationId xmlns:a16="http://schemas.microsoft.com/office/drawing/2014/main" id="{F06399A0-D714-31F2-3B90-BC870E009E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DF3EF4-5491-C1F1-71EC-5CDBDA1D848B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EA6C0F8-1BD9-DEBD-0E39-08874D9803C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4" name="Rectangle: Top Corners Rounded 86">
                <a:extLst>
                  <a:ext uri="{FF2B5EF4-FFF2-40B4-BE49-F238E27FC236}">
                    <a16:creationId xmlns:a16="http://schemas.microsoft.com/office/drawing/2014/main" id="{08D82B7D-23AE-CE8E-01F0-51A516DB2383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15" name="Rectangle: Top Corners Rounded 87">
                <a:extLst>
                  <a:ext uri="{FF2B5EF4-FFF2-40B4-BE49-F238E27FC236}">
                    <a16:creationId xmlns:a16="http://schemas.microsoft.com/office/drawing/2014/main" id="{120F725D-181E-DDB7-E85B-2396573E5B7D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336102-BCE0-17B6-24BD-B59E7D678762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7DE92-7163-24AE-760B-6FAE943FAB3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2" name="Rectangle: Top Corners Rounded 91">
                <a:extLst>
                  <a:ext uri="{FF2B5EF4-FFF2-40B4-BE49-F238E27FC236}">
                    <a16:creationId xmlns:a16="http://schemas.microsoft.com/office/drawing/2014/main" id="{D008C889-CDBA-F9BF-BBCE-D55D02365D1F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C8BF6DC9-4879-BFDE-6EAD-2048D1CB9783}"/>
              </a:ext>
            </a:extLst>
          </p:cNvPr>
          <p:cNvSpPr txBox="1"/>
          <p:nvPr userDrawn="1"/>
        </p:nvSpPr>
        <p:spPr>
          <a:xfrm>
            <a:off x="105741" y="1697448"/>
            <a:ext cx="32055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Culture is the ideas, customs, behaviours and way of life of a group of people.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AF734A-10FE-70CD-AF99-9AF7547E84EC}"/>
              </a:ext>
            </a:extLst>
          </p:cNvPr>
          <p:cNvSpPr txBox="1"/>
          <p:nvPr userDrawn="1"/>
        </p:nvSpPr>
        <p:spPr>
          <a:xfrm>
            <a:off x="100582" y="2536175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We can make links between the physical and human geography of a place and how this affects the culture of the people living there.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8" name="Picture 9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240A49-8CEB-0760-E2CE-D638C0D3B0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E2A5BD02-2ABD-339B-D4FE-C954EF27AA2D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1C54AB1-890B-8155-8020-C83CAD4D534D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5AC154A-7405-B3CB-1FF5-D12C183AE710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440A67D-62E4-3B3F-2150-E1CC98870307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4" name="Rectangle: Rounded Corners 12">
                    <a:extLst>
                      <a:ext uri="{FF2B5EF4-FFF2-40B4-BE49-F238E27FC236}">
                        <a16:creationId xmlns:a16="http://schemas.microsoft.com/office/drawing/2014/main" id="{9D734C61-CAA5-618C-A66F-EAF3892E648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Rectangle: Rounded Corners 4">
                    <a:extLst>
                      <a:ext uri="{FF2B5EF4-FFF2-40B4-BE49-F238E27FC236}">
                        <a16:creationId xmlns:a16="http://schemas.microsoft.com/office/drawing/2014/main" id="{3386500E-1CE7-B8C3-BF6C-830B34E6D25F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C81FABF-2A4B-46AA-2AF7-82EC10906F8D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2" name="Picture 101">
                    <a:extLst>
                      <a:ext uri="{FF2B5EF4-FFF2-40B4-BE49-F238E27FC236}">
                        <a16:creationId xmlns:a16="http://schemas.microsoft.com/office/drawing/2014/main" id="{FBFF1364-3FEE-EF67-2907-211411F8BA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5FB7DB65-D848-5490-073E-D52A9A65C7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6C111E-44F8-BE02-E3A1-4593968F2369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2043D60-F0CC-30DD-8067-C1FD931F6A76}"/>
                </a:ext>
              </a:extLst>
            </p:cNvPr>
            <p:cNvSpPr txBox="1"/>
            <p:nvPr/>
          </p:nvSpPr>
          <p:spPr>
            <a:xfrm>
              <a:off x="6767704" y="3895375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the Mediterranean.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C4178A9-F41E-222F-246F-159870BAB92F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CD0691E-F0BE-2A65-2D56-3FE4A5981DE7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64B9DD4-75BA-5FBA-C0B5-E7E621A5AFD6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A21F9263-BABA-FD45-12F5-4D203291E992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5" name="Rectangle: Rounded Corners 9">
                    <a:extLst>
                      <a:ext uri="{FF2B5EF4-FFF2-40B4-BE49-F238E27FC236}">
                        <a16:creationId xmlns:a16="http://schemas.microsoft.com/office/drawing/2014/main" id="{AEFB0A30-E10C-8D1A-3041-6E5883ABE2E0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Rectangle: Rounded Corners 4">
                    <a:extLst>
                      <a:ext uri="{FF2B5EF4-FFF2-40B4-BE49-F238E27FC236}">
                        <a16:creationId xmlns:a16="http://schemas.microsoft.com/office/drawing/2014/main" id="{DF7C6A30-18F1-7530-4C14-F489703DE5B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4E5C9BD5-11C9-4B1D-91E1-6229B0486C77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D9EDFD36-373E-B34F-13F8-3626F1ACB3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1DF21842-FC53-C46C-CD59-25F1718B5A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B8B35A7-2DB4-92EB-F10D-5FD04B43A80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A5AC59-EF7C-0106-DE8A-39321E258CED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explain the similarities and differences in culture where I live in the United Kingdom and in Guizhou region in South West China. 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DFB1D6E-5FE5-AACA-EBE1-D1E650535C72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B3EDE152-7C0F-D137-5FFF-A46E24409617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CA858FC-45BE-5821-7A04-F91C656C2A1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22" name="Rectangle: Rounded Corners 3">
                  <a:extLst>
                    <a:ext uri="{FF2B5EF4-FFF2-40B4-BE49-F238E27FC236}">
                      <a16:creationId xmlns:a16="http://schemas.microsoft.com/office/drawing/2014/main" id="{F90FAE8F-E73A-5EB8-960A-D6787FE3D5CB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B78DE608-63BC-8143-3015-0A9E81C4E71A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B73B8142-91D1-DB2A-D67D-A90E791D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5" name="TextBox 124">
                    <a:extLst>
                      <a:ext uri="{FF2B5EF4-FFF2-40B4-BE49-F238E27FC236}">
                        <a16:creationId xmlns:a16="http://schemas.microsoft.com/office/drawing/2014/main" id="{4F424B14-D548-76DE-56C2-19C2486EED38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D83EF1-D711-C42E-31D1-0AC5F8097132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2D7F9D6-E21E-751B-AA90-38F97F44AD11}"/>
                </a:ext>
              </a:extLst>
            </p:cNvPr>
            <p:cNvSpPr txBox="1"/>
            <p:nvPr/>
          </p:nvSpPr>
          <p:spPr>
            <a:xfrm>
              <a:off x="6824631" y="5878352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that culture means the way of life of a group of people. I can talk about the different people, jobs and landmarks in my local area. 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D5C4F10-7879-58F2-1D60-FEB4CC3988EC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EA1DE59-E551-BCE6-3048-2019ECF7A4E1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4F7FBA9-111E-45B7-0BA8-B6431491B9DA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42" name="Rectangle: Rounded Corners 15">
                  <a:extLst>
                    <a:ext uri="{FF2B5EF4-FFF2-40B4-BE49-F238E27FC236}">
                      <a16:creationId xmlns:a16="http://schemas.microsoft.com/office/drawing/2014/main" id="{05CF309E-DCC1-5D56-6DC4-6BBFFAD71AA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AF0581E7-C97C-B1F7-165D-2382B94DFED3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4" name="Picture 143">
                    <a:extLst>
                      <a:ext uri="{FF2B5EF4-FFF2-40B4-BE49-F238E27FC236}">
                        <a16:creationId xmlns:a16="http://schemas.microsoft.com/office/drawing/2014/main" id="{3E32F10A-5F31-DD7A-FB94-AC970FCD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339432D-B2CF-50C9-AB21-97EC561BB5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DE578201-4E89-1051-7197-9B61870A5C64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52D4432-96B0-6C7C-ED06-407C6E793917}"/>
                </a:ext>
              </a:extLst>
            </p:cNvPr>
            <p:cNvSpPr txBox="1"/>
            <p:nvPr/>
          </p:nvSpPr>
          <p:spPr>
            <a:xfrm>
              <a:off x="6824631" y="2924121"/>
              <a:ext cx="488210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make links between the physical geography, human geography and culture in South America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75B7A67-87DA-CD98-0E72-A3ED1AB3DE02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573C4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Cultural awareness &amp; diversity</a:t>
            </a:r>
          </a:p>
        </p:txBody>
      </p:sp>
      <p:pic>
        <p:nvPicPr>
          <p:cNvPr id="8" name="Picture 7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F5FB5CF-05B9-B200-9085-D29357F06A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94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93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F80A4B6-DBA2-D228-5E62-DC28674BE8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9E28B79-F94C-7819-45A7-F129CBA2F1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49868-55C0-C948-8F46-8AFCF36233F9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2658145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DAD70EF2-B389-F6AB-9202-9947727C8ED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D73C95A5-B885-8E18-B952-7E5AF86E696D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" name="Rounded Rectangle 21">
            <a:extLst>
              <a:ext uri="{FF2B5EF4-FFF2-40B4-BE49-F238E27FC236}">
                <a16:creationId xmlns:a16="http://schemas.microsoft.com/office/drawing/2014/main" id="{23C0025D-E14A-72FF-7C65-379ECE5F2737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6" name="Right Arrow 38">
            <a:extLst>
              <a:ext uri="{FF2B5EF4-FFF2-40B4-BE49-F238E27FC236}">
                <a16:creationId xmlns:a16="http://schemas.microsoft.com/office/drawing/2014/main" id="{3D46CA92-9C6A-1EB2-CD19-DFBD4DD8B9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ight Arrow 40">
            <a:extLst>
              <a:ext uri="{FF2B5EF4-FFF2-40B4-BE49-F238E27FC236}">
                <a16:creationId xmlns:a16="http://schemas.microsoft.com/office/drawing/2014/main" id="{E9982F60-7E6B-FE98-094D-0F4FA10EE523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Cloud Callout 14">
            <a:extLst>
              <a:ext uri="{FF2B5EF4-FFF2-40B4-BE49-F238E27FC236}">
                <a16:creationId xmlns:a16="http://schemas.microsoft.com/office/drawing/2014/main" id="{F50ADCED-875C-6838-28A6-C82BB08B82A2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9" name="Cloud Callout 17">
            <a:extLst>
              <a:ext uri="{FF2B5EF4-FFF2-40B4-BE49-F238E27FC236}">
                <a16:creationId xmlns:a16="http://schemas.microsoft.com/office/drawing/2014/main" id="{9EB5C331-51E6-1840-11BD-45C81C31DE97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41F1AAC0-BFF7-8E06-CE36-8B4483C203B0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11" name="Rounded Rectangle 25">
            <a:extLst>
              <a:ext uri="{FF2B5EF4-FFF2-40B4-BE49-F238E27FC236}">
                <a16:creationId xmlns:a16="http://schemas.microsoft.com/office/drawing/2014/main" id="{38CFA59B-1241-C90B-9097-3AA56ED96E90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6FADE6-BDC8-4964-257F-496A019EE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205D91-B0B4-D7D8-36D2-12B57E5E7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7C74EBA-17CE-389D-DB85-9D1D1F50A3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EEE8F13-34A7-26CF-FFAD-B348960624BA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D1644-9817-EFA8-570C-FA8D62C945E7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7">
            <a:extLst>
              <a:ext uri="{FF2B5EF4-FFF2-40B4-BE49-F238E27FC236}">
                <a16:creationId xmlns:a16="http://schemas.microsoft.com/office/drawing/2014/main" id="{F5E13AFA-3970-5633-8869-613679954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3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D282E2-C594-7769-1AA9-A48C71FC4D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33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915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933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364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04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B8784DBF-A5BF-8E8C-33D6-8D848534089B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6;p1">
            <a:extLst>
              <a:ext uri="{FF2B5EF4-FFF2-40B4-BE49-F238E27FC236}">
                <a16:creationId xmlns:a16="http://schemas.microsoft.com/office/drawing/2014/main" id="{B79F7C4B-7C6C-3712-DE99-A417AA8226C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D8A5ABD-72B1-8FCC-D2E3-AFF72A1EA39A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5" name="Google Shape;68;p1">
              <a:extLst>
                <a:ext uri="{FF2B5EF4-FFF2-40B4-BE49-F238E27FC236}">
                  <a16:creationId xmlns:a16="http://schemas.microsoft.com/office/drawing/2014/main" id="{E90BE148-4E8D-2CEC-9ED0-3A226AFAD140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9;p1">
              <a:extLst>
                <a:ext uri="{FF2B5EF4-FFF2-40B4-BE49-F238E27FC236}">
                  <a16:creationId xmlns:a16="http://schemas.microsoft.com/office/drawing/2014/main" id="{8CFEDBD4-C58D-96F6-5713-49A597758780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70;p1">
              <a:extLst>
                <a:ext uri="{FF2B5EF4-FFF2-40B4-BE49-F238E27FC236}">
                  <a16:creationId xmlns:a16="http://schemas.microsoft.com/office/drawing/2014/main" id="{23C9B120-59A6-FB6E-BCA7-04B388EB521F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1;p1">
              <a:extLst>
                <a:ext uri="{FF2B5EF4-FFF2-40B4-BE49-F238E27FC236}">
                  <a16:creationId xmlns:a16="http://schemas.microsoft.com/office/drawing/2014/main" id="{071E9B71-1D6B-A658-51A8-6BF85EE3C843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2;p1">
              <a:extLst>
                <a:ext uri="{FF2B5EF4-FFF2-40B4-BE49-F238E27FC236}">
                  <a16:creationId xmlns:a16="http://schemas.microsoft.com/office/drawing/2014/main" id="{BA6A7AAB-4D0E-E3C6-97F0-0198F06F9F8A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3;p1">
              <a:extLst>
                <a:ext uri="{FF2B5EF4-FFF2-40B4-BE49-F238E27FC236}">
                  <a16:creationId xmlns:a16="http://schemas.microsoft.com/office/drawing/2014/main" id="{309C4563-8B5F-3C62-C199-9C3F9A0BD832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9D2D681E-6C63-11A9-642B-6DD202388EAA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A818638E-7FF2-9FE7-0538-3F399E39CF8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0D4557AC-2E2A-6A8D-7083-C24467D8E29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A0D971E6-B3A0-5841-E864-46972A675BE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4624AC3-A4E0-C52D-7DB6-AB8579E3D843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9905BC2D-B4E0-8CFB-4745-6E4703B1D522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44C62CB1-8159-EB1E-2AB8-95B5CED9F045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A3738056-49A2-088E-EE8F-5388331993D9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82B818FC-AA86-C7B3-CF06-C03FC4E4833E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40CD6A64-190F-2562-F14C-76305F732AF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F2E4F4E-C2C0-5BC3-61DC-A80B23F68F26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rgbClr val="4573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F6E15BD8-067F-5777-5819-3CAC1F2D6A9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259"/>
          <a:stretch>
            <a:fillRect/>
          </a:stretch>
        </p:blipFill>
        <p:spPr>
          <a:xfrm>
            <a:off x="75692" y="904454"/>
            <a:ext cx="819314" cy="702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0F729-013A-63E2-0214-1ED40F142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00ED0-92C3-76B7-A98C-25AE755D9C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FF592F4-2BCB-5EAB-A130-75D137594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1BFD2F-BDEB-870D-A592-57DB317404BB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E24C5-732E-FB6C-FB21-5938A2ECB0BC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A97946-BA60-699D-D8E2-BB99BE443572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B1965D64-3352-1DA8-13E4-D16ACCAA8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00867787-551F-CF0C-BC20-2470D109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8FBB344-85B5-76A3-3AAC-250B1EC04D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22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4573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7AD81-E14F-C5B1-6D8B-66EEBD8EFDF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B18EE7AE-F359-0788-9079-EAE09AB5E8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6ED62E6-0F84-E11D-B1EC-BA5BFB16079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74847764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DE170A29-0188-94A9-F182-937A573B3790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DA3FB8-60ED-F533-1982-023664F2BF6C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D7773-EC2D-86EE-E145-DFDEC740729C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B03F5A25-1A0B-89B4-2245-310698146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262DCC48-74D4-B523-2864-FD952EADFE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D7D13343-B9CD-4CF7-A83E-223EDC84B2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C87E4F36-1F41-5CE4-ECA5-90EFD76E533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BC8A87E-6746-3BE4-1B3F-2AC6FC2692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E4C5D60D-0F5C-5399-9F11-068B6A27A0F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AD6C44A-EE0A-682D-1D05-D90148B7AE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lock Arc 1">
            <a:extLst>
              <a:ext uri="{FF2B5EF4-FFF2-40B4-BE49-F238E27FC236}">
                <a16:creationId xmlns:a16="http://schemas.microsoft.com/office/drawing/2014/main" id="{7050BFD6-6884-2822-C1D2-6EB91C8073D1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92C628F0-42EA-A630-DA64-2A91A917973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E175ABA4-EFD0-6819-D204-66055A08F63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EE6D1E83-96B8-FCE9-0949-1F15638ACCB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D5C05C96-E554-FC5B-5CC4-C0E7904F101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59A530-A046-9C8B-DA70-208E398647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2AD1F0-555B-3630-98EE-D34ED0EFFB9E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3200" b="0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2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7994353-7443-FA35-1A04-FEEAD0CEC5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9D8855B-33DF-88C0-10CD-4FC26712878E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BA8295F-40E3-0EC3-2948-7BE3656FF259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98" name="Block Arc 97">
                <a:extLst>
                  <a:ext uri="{FF2B5EF4-FFF2-40B4-BE49-F238E27FC236}">
                    <a16:creationId xmlns:a16="http://schemas.microsoft.com/office/drawing/2014/main" id="{FF463DD2-0FCB-E45B-B39E-22C0812C6CC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99" name="Block Arc 98">
                <a:extLst>
                  <a:ext uri="{FF2B5EF4-FFF2-40B4-BE49-F238E27FC236}">
                    <a16:creationId xmlns:a16="http://schemas.microsoft.com/office/drawing/2014/main" id="{5FB8E2CB-4857-3CF9-52F0-7E4E5D77192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0" name="Block Arc 99">
                <a:extLst>
                  <a:ext uri="{FF2B5EF4-FFF2-40B4-BE49-F238E27FC236}">
                    <a16:creationId xmlns:a16="http://schemas.microsoft.com/office/drawing/2014/main" id="{CE2DCF82-F1AD-C3F4-9DE1-9FD5D364AFF1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C18AF30-456F-92C7-1344-194E87AEDC6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3D7B7A3E-053C-54F9-A40F-40609E49DE76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11" name="Curved Right Arrow 110">
                    <a:extLst>
                      <a:ext uri="{FF2B5EF4-FFF2-40B4-BE49-F238E27FC236}">
                        <a16:creationId xmlns:a16="http://schemas.microsoft.com/office/drawing/2014/main" id="{6A9647B9-F4BD-F675-FAB0-921A24EFC571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2" name="Curved Right Arrow 111">
                    <a:extLst>
                      <a:ext uri="{FF2B5EF4-FFF2-40B4-BE49-F238E27FC236}">
                        <a16:creationId xmlns:a16="http://schemas.microsoft.com/office/drawing/2014/main" id="{509B42AB-EFD3-BA68-08B3-AAECF266396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3" name="Curved Right Arrow 112">
                    <a:extLst>
                      <a:ext uri="{FF2B5EF4-FFF2-40B4-BE49-F238E27FC236}">
                        <a16:creationId xmlns:a16="http://schemas.microsoft.com/office/drawing/2014/main" id="{995F4CEF-96FC-2797-9583-78C85C69AF8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6881F713-E45D-3833-9CDA-EECDB0694C52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08" name="Curved Right Arrow 107">
                    <a:extLst>
                      <a:ext uri="{FF2B5EF4-FFF2-40B4-BE49-F238E27FC236}">
                        <a16:creationId xmlns:a16="http://schemas.microsoft.com/office/drawing/2014/main" id="{6F512785-E71D-C05D-8148-17AFDD32BD2E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9" name="Curved Right Arrow 108">
                    <a:extLst>
                      <a:ext uri="{FF2B5EF4-FFF2-40B4-BE49-F238E27FC236}">
                        <a16:creationId xmlns:a16="http://schemas.microsoft.com/office/drawing/2014/main" id="{E056A0FF-BC19-06E5-5824-9C1F460F6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0" name="Curved Right Arrow 109">
                    <a:extLst>
                      <a:ext uri="{FF2B5EF4-FFF2-40B4-BE49-F238E27FC236}">
                        <a16:creationId xmlns:a16="http://schemas.microsoft.com/office/drawing/2014/main" id="{A755CE52-E83C-EB92-F226-5478B2EDDD5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02" name="Block Arc 101">
                <a:extLst>
                  <a:ext uri="{FF2B5EF4-FFF2-40B4-BE49-F238E27FC236}">
                    <a16:creationId xmlns:a16="http://schemas.microsoft.com/office/drawing/2014/main" id="{04F526DB-B08E-2B10-4068-D964A6B32E2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3" name="Block Arc 102">
                <a:extLst>
                  <a:ext uri="{FF2B5EF4-FFF2-40B4-BE49-F238E27FC236}">
                    <a16:creationId xmlns:a16="http://schemas.microsoft.com/office/drawing/2014/main" id="{475D0189-B593-CAD2-02C3-3D6482612801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4" name="Block Arc 103">
                <a:extLst>
                  <a:ext uri="{FF2B5EF4-FFF2-40B4-BE49-F238E27FC236}">
                    <a16:creationId xmlns:a16="http://schemas.microsoft.com/office/drawing/2014/main" id="{0770329E-4988-98FB-946A-AEAF982E669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05" name="Block Arc 104">
                <a:extLst>
                  <a:ext uri="{FF2B5EF4-FFF2-40B4-BE49-F238E27FC236}">
                    <a16:creationId xmlns:a16="http://schemas.microsoft.com/office/drawing/2014/main" id="{A32808B6-F9B6-DCB1-426F-7B8E3D62191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07CF0C7-E346-0A84-DC6E-CBD49421C930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82" name="Block Arc 81">
                <a:extLst>
                  <a:ext uri="{FF2B5EF4-FFF2-40B4-BE49-F238E27FC236}">
                    <a16:creationId xmlns:a16="http://schemas.microsoft.com/office/drawing/2014/main" id="{E7ADCAC1-0477-8953-9654-C185553D5D3D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3" name="Block Arc 82">
                <a:extLst>
                  <a:ext uri="{FF2B5EF4-FFF2-40B4-BE49-F238E27FC236}">
                    <a16:creationId xmlns:a16="http://schemas.microsoft.com/office/drawing/2014/main" id="{055E117B-4C26-0EA0-04F6-A2BAB05A648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4" name="Block Arc 83">
                <a:extLst>
                  <a:ext uri="{FF2B5EF4-FFF2-40B4-BE49-F238E27FC236}">
                    <a16:creationId xmlns:a16="http://schemas.microsoft.com/office/drawing/2014/main" id="{39B004E6-52D0-C635-A907-A1E1DFEA2F0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44E262F2-76BA-C035-336A-9C519839450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1E706AD0-9048-F33C-4937-0D0334A108A4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95" name="Curved Right Arrow 94">
                    <a:extLst>
                      <a:ext uri="{FF2B5EF4-FFF2-40B4-BE49-F238E27FC236}">
                        <a16:creationId xmlns:a16="http://schemas.microsoft.com/office/drawing/2014/main" id="{9D0D9BAB-4D96-5AFA-D1CA-359BF293E4FF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Curved Right Arrow 95">
                    <a:extLst>
                      <a:ext uri="{FF2B5EF4-FFF2-40B4-BE49-F238E27FC236}">
                        <a16:creationId xmlns:a16="http://schemas.microsoft.com/office/drawing/2014/main" id="{2108E0E8-AAE4-2182-5BD5-ADB17EBC3D5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Curved Right Arrow 96">
                    <a:extLst>
                      <a:ext uri="{FF2B5EF4-FFF2-40B4-BE49-F238E27FC236}">
                        <a16:creationId xmlns:a16="http://schemas.microsoft.com/office/drawing/2014/main" id="{89BEB4BC-5713-6869-79E8-04DC3DED95C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840C377-B0F8-73B8-8ED6-BF0CD9CA9E5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92" name="Curved Right Arrow 91">
                    <a:extLst>
                      <a:ext uri="{FF2B5EF4-FFF2-40B4-BE49-F238E27FC236}">
                        <a16:creationId xmlns:a16="http://schemas.microsoft.com/office/drawing/2014/main" id="{7FFE9BA4-7BBD-1C66-AFB0-028C2DDE9C4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Curved Right Arrow 92">
                    <a:extLst>
                      <a:ext uri="{FF2B5EF4-FFF2-40B4-BE49-F238E27FC236}">
                        <a16:creationId xmlns:a16="http://schemas.microsoft.com/office/drawing/2014/main" id="{860F7202-C62A-B5EB-4398-FA9F4BF09EE3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Curved Right Arrow 93">
                    <a:extLst>
                      <a:ext uri="{FF2B5EF4-FFF2-40B4-BE49-F238E27FC236}">
                        <a16:creationId xmlns:a16="http://schemas.microsoft.com/office/drawing/2014/main" id="{CB9AC5A1-29F8-6BB4-29DA-B9409D536CA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6" name="Block Arc 85">
                <a:extLst>
                  <a:ext uri="{FF2B5EF4-FFF2-40B4-BE49-F238E27FC236}">
                    <a16:creationId xmlns:a16="http://schemas.microsoft.com/office/drawing/2014/main" id="{F8C4CB95-C9F2-2F62-D9AF-4400C902D4B8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7" name="Block Arc 86">
                <a:extLst>
                  <a:ext uri="{FF2B5EF4-FFF2-40B4-BE49-F238E27FC236}">
                    <a16:creationId xmlns:a16="http://schemas.microsoft.com/office/drawing/2014/main" id="{9E73C768-220B-1FDB-C4A0-3A51AB13973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8" name="Block Arc 87">
                <a:extLst>
                  <a:ext uri="{FF2B5EF4-FFF2-40B4-BE49-F238E27FC236}">
                    <a16:creationId xmlns:a16="http://schemas.microsoft.com/office/drawing/2014/main" id="{FC6A0EB7-4AEB-A1F5-31D0-323D47065498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80809667-341E-90C7-9DFB-242434647E6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8EFFCE-D606-EB7C-E011-85E366102BB2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66" name="Block Arc 65">
                <a:extLst>
                  <a:ext uri="{FF2B5EF4-FFF2-40B4-BE49-F238E27FC236}">
                    <a16:creationId xmlns:a16="http://schemas.microsoft.com/office/drawing/2014/main" id="{D6E332CE-1E88-47C9-8401-A8136661E7A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7" name="Block Arc 66">
                <a:extLst>
                  <a:ext uri="{FF2B5EF4-FFF2-40B4-BE49-F238E27FC236}">
                    <a16:creationId xmlns:a16="http://schemas.microsoft.com/office/drawing/2014/main" id="{7CBDCFA2-42E5-3712-A098-D09C40B8BA03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68" name="Block Arc 67">
                <a:extLst>
                  <a:ext uri="{FF2B5EF4-FFF2-40B4-BE49-F238E27FC236}">
                    <a16:creationId xmlns:a16="http://schemas.microsoft.com/office/drawing/2014/main" id="{9C55455D-BA4D-9FD7-0C06-A6D10C1C8203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FBA7B94-8DC9-DFA5-B8A4-A4679A392D7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87B2038B-5A05-6EAF-8DF9-609FB6B9B43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79" name="Curved Right Arrow 78">
                    <a:extLst>
                      <a:ext uri="{FF2B5EF4-FFF2-40B4-BE49-F238E27FC236}">
                        <a16:creationId xmlns:a16="http://schemas.microsoft.com/office/drawing/2014/main" id="{0A1D4E78-F704-4909-61FB-A701A38D5B1C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Curved Right Arrow 79">
                    <a:extLst>
                      <a:ext uri="{FF2B5EF4-FFF2-40B4-BE49-F238E27FC236}">
                        <a16:creationId xmlns:a16="http://schemas.microsoft.com/office/drawing/2014/main" id="{04E8B254-934D-4929-8420-06F497CF7378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Curved Right Arrow 80">
                    <a:extLst>
                      <a:ext uri="{FF2B5EF4-FFF2-40B4-BE49-F238E27FC236}">
                        <a16:creationId xmlns:a16="http://schemas.microsoft.com/office/drawing/2014/main" id="{508A179B-20C6-7A0F-E964-914399B64CD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EE1D7334-BEAB-6E6F-8982-16E5B40E45C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76" name="Curved Right Arrow 75">
                    <a:extLst>
                      <a:ext uri="{FF2B5EF4-FFF2-40B4-BE49-F238E27FC236}">
                        <a16:creationId xmlns:a16="http://schemas.microsoft.com/office/drawing/2014/main" id="{53143E28-4F33-5B8F-8283-E58BDB3847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7" name="Curved Right Arrow 76">
                    <a:extLst>
                      <a:ext uri="{FF2B5EF4-FFF2-40B4-BE49-F238E27FC236}">
                        <a16:creationId xmlns:a16="http://schemas.microsoft.com/office/drawing/2014/main" id="{42E4BA97-DDEF-DFFC-2DE3-00CE4A39D72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Curved Right Arrow 77">
                    <a:extLst>
                      <a:ext uri="{FF2B5EF4-FFF2-40B4-BE49-F238E27FC236}">
                        <a16:creationId xmlns:a16="http://schemas.microsoft.com/office/drawing/2014/main" id="{9FCC79F1-02F3-E87C-0246-35AD8B0E0216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70" name="Block Arc 69">
                <a:extLst>
                  <a:ext uri="{FF2B5EF4-FFF2-40B4-BE49-F238E27FC236}">
                    <a16:creationId xmlns:a16="http://schemas.microsoft.com/office/drawing/2014/main" id="{6E158287-D3E3-2507-E7E6-A83892A2C863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1" name="Block Arc 70">
                <a:extLst>
                  <a:ext uri="{FF2B5EF4-FFF2-40B4-BE49-F238E27FC236}">
                    <a16:creationId xmlns:a16="http://schemas.microsoft.com/office/drawing/2014/main" id="{E7A07502-AB01-AD4F-7808-7F5ACB69D3B7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2" name="Block Arc 71">
                <a:extLst>
                  <a:ext uri="{FF2B5EF4-FFF2-40B4-BE49-F238E27FC236}">
                    <a16:creationId xmlns:a16="http://schemas.microsoft.com/office/drawing/2014/main" id="{3957EECF-47FC-4198-9F37-A5BA372ED55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73" name="Block Arc 72">
                <a:extLst>
                  <a:ext uri="{FF2B5EF4-FFF2-40B4-BE49-F238E27FC236}">
                    <a16:creationId xmlns:a16="http://schemas.microsoft.com/office/drawing/2014/main" id="{68BFC372-78C7-70DC-B918-054E49267DF6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85D203-768B-D8C9-B6CD-27620F89CAAA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50" name="Block Arc 49">
                <a:extLst>
                  <a:ext uri="{FF2B5EF4-FFF2-40B4-BE49-F238E27FC236}">
                    <a16:creationId xmlns:a16="http://schemas.microsoft.com/office/drawing/2014/main" id="{56C58433-4F14-BA79-DDA7-47D5F5B17CD1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1" name="Block Arc 50">
                <a:extLst>
                  <a:ext uri="{FF2B5EF4-FFF2-40B4-BE49-F238E27FC236}">
                    <a16:creationId xmlns:a16="http://schemas.microsoft.com/office/drawing/2014/main" id="{66BABDD6-5F58-5B2F-D025-A400626CDB4A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2" name="Block Arc 51">
                <a:extLst>
                  <a:ext uri="{FF2B5EF4-FFF2-40B4-BE49-F238E27FC236}">
                    <a16:creationId xmlns:a16="http://schemas.microsoft.com/office/drawing/2014/main" id="{323469AF-9E7F-0F05-13C2-089BCF3C7AA0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B5CAD5B-E95B-ED17-24B5-85469530AF97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7E1A41A6-D976-BF0B-A975-F8178D5010C1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63" name="Curved Right Arrow 62">
                    <a:extLst>
                      <a:ext uri="{FF2B5EF4-FFF2-40B4-BE49-F238E27FC236}">
                        <a16:creationId xmlns:a16="http://schemas.microsoft.com/office/drawing/2014/main" id="{967EFEB5-31D4-20F2-1DF7-F6A46EE36642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4" name="Curved Right Arrow 63">
                    <a:extLst>
                      <a:ext uri="{FF2B5EF4-FFF2-40B4-BE49-F238E27FC236}">
                        <a16:creationId xmlns:a16="http://schemas.microsoft.com/office/drawing/2014/main" id="{7A579E44-0233-DC3C-5662-9CE68751AB82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Curved Right Arrow 64">
                    <a:extLst>
                      <a:ext uri="{FF2B5EF4-FFF2-40B4-BE49-F238E27FC236}">
                        <a16:creationId xmlns:a16="http://schemas.microsoft.com/office/drawing/2014/main" id="{9B83A0FE-2A52-9C5C-1B29-4C2488CFAF3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E31BB64B-606E-786D-13A9-5DADA2DA14E0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60" name="Curved Right Arrow 59">
                    <a:extLst>
                      <a:ext uri="{FF2B5EF4-FFF2-40B4-BE49-F238E27FC236}">
                        <a16:creationId xmlns:a16="http://schemas.microsoft.com/office/drawing/2014/main" id="{04718333-D5BE-A48E-F629-2D5B45502886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Curved Right Arrow 60">
                    <a:extLst>
                      <a:ext uri="{FF2B5EF4-FFF2-40B4-BE49-F238E27FC236}">
                        <a16:creationId xmlns:a16="http://schemas.microsoft.com/office/drawing/2014/main" id="{315D142D-241A-1958-E25F-56959D6F178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Curved Right Arrow 61">
                    <a:extLst>
                      <a:ext uri="{FF2B5EF4-FFF2-40B4-BE49-F238E27FC236}">
                        <a16:creationId xmlns:a16="http://schemas.microsoft.com/office/drawing/2014/main" id="{DC441593-9F65-4ABE-B719-7CADC90D7FF3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4" name="Block Arc 53">
                <a:extLst>
                  <a:ext uri="{FF2B5EF4-FFF2-40B4-BE49-F238E27FC236}">
                    <a16:creationId xmlns:a16="http://schemas.microsoft.com/office/drawing/2014/main" id="{5E27379C-18A8-586C-D4A0-AD5A519029AD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5" name="Block Arc 54">
                <a:extLst>
                  <a:ext uri="{FF2B5EF4-FFF2-40B4-BE49-F238E27FC236}">
                    <a16:creationId xmlns:a16="http://schemas.microsoft.com/office/drawing/2014/main" id="{21647CAD-055F-9639-CEA6-33F53D04DAD6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6" name="Block Arc 55">
                <a:extLst>
                  <a:ext uri="{FF2B5EF4-FFF2-40B4-BE49-F238E27FC236}">
                    <a16:creationId xmlns:a16="http://schemas.microsoft.com/office/drawing/2014/main" id="{F3052A87-C888-9419-3B97-866567FAC9F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57" name="Block Arc 56">
                <a:extLst>
                  <a:ext uri="{FF2B5EF4-FFF2-40B4-BE49-F238E27FC236}">
                    <a16:creationId xmlns:a16="http://schemas.microsoft.com/office/drawing/2014/main" id="{7778573C-888A-AC35-B633-B29EFCE46B4F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26FF172-F3DB-CA58-9DF7-E7636AE47302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34" name="Block Arc 33">
                <a:extLst>
                  <a:ext uri="{FF2B5EF4-FFF2-40B4-BE49-F238E27FC236}">
                    <a16:creationId xmlns:a16="http://schemas.microsoft.com/office/drawing/2014/main" id="{28934801-91F0-43BE-55FF-00E3642CFD86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7928380A-FA5A-DF22-E7DA-EE6E0D01E186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9E66FE10-8783-E0BB-87E7-5BBACFF7CFEB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8DC29FA2-B776-857E-1F03-D6D4E52774AF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2A437FD0-DCED-E3C2-2929-14F1BC8312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47" name="Curved Right Arrow 46">
                    <a:extLst>
                      <a:ext uri="{FF2B5EF4-FFF2-40B4-BE49-F238E27FC236}">
                        <a16:creationId xmlns:a16="http://schemas.microsoft.com/office/drawing/2014/main" id="{FA4636AD-5929-70BB-CA4E-EFB7EE10CB1E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Curved Right Arrow 47">
                    <a:extLst>
                      <a:ext uri="{FF2B5EF4-FFF2-40B4-BE49-F238E27FC236}">
                        <a16:creationId xmlns:a16="http://schemas.microsoft.com/office/drawing/2014/main" id="{1C39E483-F6E9-54AB-406C-A7FF10575971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Curved Right Arrow 48">
                    <a:extLst>
                      <a:ext uri="{FF2B5EF4-FFF2-40B4-BE49-F238E27FC236}">
                        <a16:creationId xmlns:a16="http://schemas.microsoft.com/office/drawing/2014/main" id="{5A709D68-168D-F69F-BA27-A106FB6C0357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0A1AACE4-50DA-4934-32C6-9C9399B38E3B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44" name="Curved Right Arrow 43">
                    <a:extLst>
                      <a:ext uri="{FF2B5EF4-FFF2-40B4-BE49-F238E27FC236}">
                        <a16:creationId xmlns:a16="http://schemas.microsoft.com/office/drawing/2014/main" id="{A3EA2056-4C41-443A-3B12-0E9088028932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5" name="Curved Right Arrow 44">
                    <a:extLst>
                      <a:ext uri="{FF2B5EF4-FFF2-40B4-BE49-F238E27FC236}">
                        <a16:creationId xmlns:a16="http://schemas.microsoft.com/office/drawing/2014/main" id="{695630DF-CA77-96BF-E6CE-18ABCBF7BDBC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Curved Right Arrow 45">
                    <a:extLst>
                      <a:ext uri="{FF2B5EF4-FFF2-40B4-BE49-F238E27FC236}">
                        <a16:creationId xmlns:a16="http://schemas.microsoft.com/office/drawing/2014/main" id="{39C0D864-4FF1-84D3-300D-8FE27DA24C4F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" name="Block Arc 37">
                <a:extLst>
                  <a:ext uri="{FF2B5EF4-FFF2-40B4-BE49-F238E27FC236}">
                    <a16:creationId xmlns:a16="http://schemas.microsoft.com/office/drawing/2014/main" id="{4A1A9C7F-35FE-3956-F0B2-380F38983E50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39" name="Block Arc 38">
                <a:extLst>
                  <a:ext uri="{FF2B5EF4-FFF2-40B4-BE49-F238E27FC236}">
                    <a16:creationId xmlns:a16="http://schemas.microsoft.com/office/drawing/2014/main" id="{829CA266-F561-A142-F92F-109203F2DA13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0" name="Block Arc 39">
                <a:extLst>
                  <a:ext uri="{FF2B5EF4-FFF2-40B4-BE49-F238E27FC236}">
                    <a16:creationId xmlns:a16="http://schemas.microsoft.com/office/drawing/2014/main" id="{66A09B03-489A-2ABB-B882-3E4553FCA820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41" name="Block Arc 40">
                <a:extLst>
                  <a:ext uri="{FF2B5EF4-FFF2-40B4-BE49-F238E27FC236}">
                    <a16:creationId xmlns:a16="http://schemas.microsoft.com/office/drawing/2014/main" id="{65BA0E2A-468B-FA1C-8EB6-E49979621D6B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E464327-07E3-9342-AA3E-608C3F778672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1D80F14-A7A6-6782-98BB-3A0998A6087F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6C6526D-B642-4AE1-2044-80AD3CD09B69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FA49F10-9123-607E-7189-E0A3D8152E6A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7A978E3-35A7-3F11-AFD8-E22AC8220927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9B8DCEC-F457-4763-7CCC-CFE88CFB93DB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7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31070-AF5E-9C1E-7965-8FF24EB0F388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B3AF3FA-F27A-9D83-2460-6514CEAF9B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78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103162" y="1752700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6" name="Picture 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9284B1C-ACB5-B703-9C2A-5839A1AF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4000"/>
          <a:stretch>
            <a:fillRect/>
          </a:stretch>
        </p:blipFill>
        <p:spPr>
          <a:xfrm>
            <a:off x="31378" y="883956"/>
            <a:ext cx="902901" cy="7764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E49E2FC-EFFD-F8D2-A5E6-3F1EBDB42E7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C56C45F-E666-5B60-5705-8C2C29EC8C74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0ACD9B0-F4EC-6FAA-B969-3D3FD9CD7AEC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0CF3A17F-15B9-9926-B98A-D4AA988019A8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57" name="Rectangle: Rounded Corners 12">
                    <a:extLst>
                      <a:ext uri="{FF2B5EF4-FFF2-40B4-BE49-F238E27FC236}">
                        <a16:creationId xmlns:a16="http://schemas.microsoft.com/office/drawing/2014/main" id="{95F931B1-CDE4-AB61-6D8B-FE6C5E6749C0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0" name="Rectangle: Rounded Corners 4">
                    <a:extLst>
                      <a:ext uri="{FF2B5EF4-FFF2-40B4-BE49-F238E27FC236}">
                        <a16:creationId xmlns:a16="http://schemas.microsoft.com/office/drawing/2014/main" id="{F1B22BAA-DCE2-E6D1-D5FA-DD4FA64D46B3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ED2FF4C-14AE-95FD-F4AC-EEBA4A4A9192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10" name="Picture 9">
                    <a:extLst>
                      <a:ext uri="{FF2B5EF4-FFF2-40B4-BE49-F238E27FC236}">
                        <a16:creationId xmlns:a16="http://schemas.microsoft.com/office/drawing/2014/main" id="{EBE5FFFA-7A0C-3B93-9250-F9B812D6F9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E27B828-01EF-0DAE-18EB-3F15D4E7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FDD96-05D1-7D18-81C8-ABA6F57E351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A1F722-7CC2-D5FC-8C43-51680DC524C5}"/>
                </a:ext>
              </a:extLst>
            </p:cNvPr>
            <p:cNvSpPr txBox="1"/>
            <p:nvPr/>
          </p:nvSpPr>
          <p:spPr>
            <a:xfrm>
              <a:off x="6767704" y="380238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and compare physical features in my region and in the Mediterranean. I can explain what a biome is and give examples from the Mediterranean and the UK.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0375B82-E516-08FE-4D25-AF3CBF3C3AE6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B3DC981-845B-7B7F-319F-76EEC4A80B5D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167391BC-833A-7FD1-4EEB-EA868F88DBC4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C39A79FA-DEED-E0F2-163D-13F59230E5CA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0" name="Rectangle: Rounded Corners 9">
                    <a:extLst>
                      <a:ext uri="{FF2B5EF4-FFF2-40B4-BE49-F238E27FC236}">
                        <a16:creationId xmlns:a16="http://schemas.microsoft.com/office/drawing/2014/main" id="{6D67646D-1660-B235-318B-C1495E2E165C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Rectangle: Rounded Corners 4">
                    <a:extLst>
                      <a:ext uri="{FF2B5EF4-FFF2-40B4-BE49-F238E27FC236}">
                        <a16:creationId xmlns:a16="http://schemas.microsoft.com/office/drawing/2014/main" id="{469E9C14-B6CA-F438-6CE2-0E29A88B78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1B3829AD-9F58-2A26-37D6-D4F3040499E2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F1F232DA-1391-C60E-B25A-EECF098368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DAAC683A-4E80-8630-07E4-BDD3F3A96DBD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0AC895A-3291-F8F9-FA35-69065F6A6BEB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4DE1B41-AFF4-BE3A-C9A8-39183C6B8017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the difference between weather and climate and know that some places are hotter or colder. I can name and compare physical features in my local area and Guizhou.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7CFE614-1889-EAC3-4693-70121470C32E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4172FF4-59AA-9592-DF0B-F72A4298D96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8C91D26-3183-BEE2-3FED-F9CF5AE5F7A9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7" name="Rectangle: Rounded Corners 3">
                  <a:extLst>
                    <a:ext uri="{FF2B5EF4-FFF2-40B4-BE49-F238E27FC236}">
                      <a16:creationId xmlns:a16="http://schemas.microsoft.com/office/drawing/2014/main" id="{47BB46CD-FD23-4BF9-7839-26C483FD8B07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6AFEFF20-7781-0E28-7335-B293936BFB2C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085357BB-C861-4F4B-DC47-D25F56C709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46A5B6BE-8B2D-782B-B8E8-4D64A84A75D9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F2F78A2-F0AF-6C40-2384-F08761224904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38D4198-A593-6D80-4336-4468B93A0135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what the weather and the four seasons are. I know some physical features around my local area.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9171E4A-419D-1960-1660-B47E01E3D57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0D34104-9B75-EA51-A3CC-155587BBEB3D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211C4DDD-4E45-64F7-1A59-B29BB7FEA2C4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7" name="Rectangle: Rounded Corners 15">
                  <a:extLst>
                    <a:ext uri="{FF2B5EF4-FFF2-40B4-BE49-F238E27FC236}">
                      <a16:creationId xmlns:a16="http://schemas.microsoft.com/office/drawing/2014/main" id="{D9DF815D-BC98-19CD-3271-2B6062CAC9A9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5AEB2E4E-22C4-9E91-A37D-9648508D2A4A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39" name="Picture 138">
                    <a:extLst>
                      <a:ext uri="{FF2B5EF4-FFF2-40B4-BE49-F238E27FC236}">
                        <a16:creationId xmlns:a16="http://schemas.microsoft.com/office/drawing/2014/main" id="{B28AD876-015C-6447-58F1-EA22451BFF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22E26D94-288A-3313-7620-18292CBDD54A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C40D716-2DF9-7BBE-8085-C72039D586A2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43B4708-3D6A-D4BF-1405-4FAA78DDDEAD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498A1B6D-67F7-F99F-9C09-FE4E906511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5E3F61D-B928-3510-A776-3C3F6586BEDB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Physical Geography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781BF93-85A7-C744-36C2-0F821E873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A7A137-46BE-41B3-8129-A8C4DD05848F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72023D4C-E739-574B-0D0E-AE5D4969B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26F170F-2A34-51B3-CA05-11C54204D4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388E71F8-6BAE-0B02-D973-40B20FD54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5030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9726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1311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9572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3968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109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oogle Shape;65;p1">
            <a:extLst>
              <a:ext uri="{FF2B5EF4-FFF2-40B4-BE49-F238E27FC236}">
                <a16:creationId xmlns:a16="http://schemas.microsoft.com/office/drawing/2014/main" id="{6D71331F-84DF-BB57-DC61-C6FD26F0F144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39D13355-F5EC-24EE-E679-05B78BE15B5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1CADD8D-233F-CAA2-D6BA-666AED94D7BD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6D5A7812-4788-687B-12B4-FCB8DEF22159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F37F1A8E-A913-0449-00F3-14360B270D2C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C69B81F3-E3B8-2632-A7DA-CCC6CE2109C4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7E00A608-C938-2209-82E7-209839FA5144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ECFF9625-2047-3699-7FEB-26A68BA5829B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990B5F90-23A2-E846-65B0-ECE209BBB1FD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CBB1CB39-0011-BBA7-3163-1500F27C0670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1C4769F1-AC51-A6A5-667F-C3264F15869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323F2A04-3396-AC2F-F72A-61AD07DCFD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9CAA8C0E-FB41-84CA-A1C7-BEBA0D277D36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D3DFCA21-F50C-DB9F-1D6E-0B67A584D911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E03EB7A8-D67E-DE8A-224E-118CA3304940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5CB3A0C0-7138-EA31-BF64-B228DD6D0068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1D30A987-7C12-93D5-42E5-98A02F715C22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4F9200F0-7310-7B59-2508-8A5277721857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AC29D72F-5FA6-4EF4-2537-C8B5B322A082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5A41F0-E53B-845A-F7D5-3F203A6D3A27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0" i="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002D6CC3-4398-7E02-B14F-B5636F710AD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20CE31-0DB1-CF74-2D30-243CB61C1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55504-0D7D-E12F-2810-C8050974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1449B4-373F-26EB-5DD3-8EA50FF6F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CF9E021-CDAB-AF6F-D110-50079C97376D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B0474-FA16-FF09-A32D-46D9EB113A2D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04A85-EC78-C2DA-D09E-7451F0B086DB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0C7433EE-8E28-A156-C234-1746B0F8A3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38A8B543-CEF5-FC3B-6C84-50A7AB8E57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1AF88D0C-1D9F-76B2-0A0C-CA0BF90260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6130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002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  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19857BE-DDFC-D079-6FAD-C084CE926065}"/>
              </a:ext>
            </a:extLst>
          </p:cNvPr>
          <p:cNvGrpSpPr/>
          <p:nvPr userDrawn="1"/>
        </p:nvGrpSpPr>
        <p:grpSpPr>
          <a:xfrm>
            <a:off x="2765609" y="701604"/>
            <a:ext cx="4476397" cy="1473969"/>
            <a:chOff x="1400000" y="126068"/>
            <a:chExt cx="4476397" cy="1473969"/>
          </a:xfrm>
        </p:grpSpPr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8E2B66C8-56E7-D5AC-A43F-D8A64E7DB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000" y="126068"/>
              <a:ext cx="1679750" cy="147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9AC7F5-F0E5-1321-D781-89CEA212523E}"/>
                </a:ext>
              </a:extLst>
            </p:cNvPr>
            <p:cNvSpPr txBox="1"/>
            <p:nvPr userDrawn="1"/>
          </p:nvSpPr>
          <p:spPr>
            <a:xfrm>
              <a:off x="2072150" y="171993"/>
              <a:ext cx="3804247" cy="5924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250" b="0" i="0" u="sng">
                  <a:latin typeface="Twinkl Cursive Looped" panose="02000000000000000000" pitchFamily="2" charset="77"/>
                </a:rPr>
                <a:t>Our Key Question is</a:t>
              </a:r>
            </a:p>
          </p:txBody>
        </p:sp>
      </p:grp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7738" y="1309016"/>
            <a:ext cx="525175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Our Key Question is: </a:t>
            </a:r>
          </a:p>
          <a:p>
            <a:r>
              <a:rPr lang="en-GB" sz="2800" b="1"/>
              <a:t>[insert]</a:t>
            </a:r>
            <a:endParaRPr lang="en-GB" sz="2800"/>
          </a:p>
        </p:txBody>
      </p:sp>
      <p:pic>
        <p:nvPicPr>
          <p:cNvPr id="3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CAF885-B994-C933-F003-250AB5A3ED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014" y="4876831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0" i="0">
                <a:latin typeface="Twinkl Cursive Looped" panose="02000000000000000000" pitchFamily="2" charset="77"/>
              </a:rPr>
              <a:t>Being a Geographer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A9BAC9FA-D05E-28A1-7F09-6A51F3AF6A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293" y="4965784"/>
            <a:ext cx="3893119" cy="18621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Twinkl Cursive Looped" panose="02000000000000000000" pitchFamily="2" charset="77"/>
              </a:defRPr>
            </a:lvl1pPr>
          </a:lstStyle>
          <a:p>
            <a:r>
              <a:rPr lang="en-GB" sz="2800"/>
              <a:t>Insert any other states of being icons for the whole enquiry</a:t>
            </a:r>
          </a:p>
        </p:txBody>
      </p:sp>
    </p:spTree>
    <p:extLst>
      <p:ext uri="{BB962C8B-B14F-4D97-AF65-F5344CB8AC3E}">
        <p14:creationId xmlns:p14="http://schemas.microsoft.com/office/powerpoint/2010/main" val="13014325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5D9FAA-5F2A-C965-5709-A9EF45085CBA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Being a Geographer</a:t>
            </a:r>
          </a:p>
        </p:txBody>
      </p:sp>
      <p:pic>
        <p:nvPicPr>
          <p:cNvPr id="7" name="Picture 6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71A9D8C-4901-A95F-F38A-5DA5B0519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4DFCAC-74F6-F330-96CC-381E993F2D5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9771547"/>
              </p:ext>
            </p:extLst>
          </p:nvPr>
        </p:nvGraphicFramePr>
        <p:xfrm>
          <a:off x="5203825" y="96992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766C722-04BD-AA7D-2A02-9B8F52D1BD24}"/>
              </a:ext>
            </a:extLst>
          </p:cNvPr>
          <p:cNvSpPr/>
          <p:nvPr userDrawn="1"/>
        </p:nvSpPr>
        <p:spPr>
          <a:xfrm>
            <a:off x="8638802" y="3169386"/>
            <a:ext cx="1196404" cy="1188720"/>
          </a:xfrm>
          <a:prstGeom prst="ellipse">
            <a:avLst/>
          </a:prstGeom>
          <a:solidFill>
            <a:srgbClr val="DAE3F3"/>
          </a:solidFill>
          <a:ln w="285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912A2-FC41-BA63-44EC-5C3F5F8591EE}"/>
              </a:ext>
            </a:extLst>
          </p:cNvPr>
          <p:cNvSpPr txBox="1"/>
          <p:nvPr userDrawn="1"/>
        </p:nvSpPr>
        <p:spPr>
          <a:xfrm>
            <a:off x="8828342" y="39620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Skills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AA72A-3035-F6FD-CD77-306AA6DE27B2}"/>
              </a:ext>
            </a:extLst>
          </p:cNvPr>
          <p:cNvGrpSpPr/>
          <p:nvPr userDrawn="1"/>
        </p:nvGrpSpPr>
        <p:grpSpPr>
          <a:xfrm>
            <a:off x="9356620" y="1938523"/>
            <a:ext cx="1023036" cy="664762"/>
            <a:chOff x="9356620" y="1688266"/>
            <a:chExt cx="1023036" cy="664762"/>
          </a:xfrm>
        </p:grpSpPr>
        <p:pic>
          <p:nvPicPr>
            <p:cNvPr id="22" name="Picture 21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8F1FCFD1-159D-F299-10DC-502AF46FC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b="24830"/>
            <a:stretch>
              <a:fillRect/>
            </a:stretch>
          </p:blipFill>
          <p:spPr>
            <a:xfrm>
              <a:off x="9356620" y="1698853"/>
              <a:ext cx="870269" cy="6541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  AI-generated content may be incorrect.">
              <a:extLst>
                <a:ext uri="{FF2B5EF4-FFF2-40B4-BE49-F238E27FC236}">
                  <a16:creationId xmlns:a16="http://schemas.microsoft.com/office/drawing/2014/main" id="{98DF4D44-C4E7-3AD3-2538-084505C58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 b="13048"/>
            <a:stretch>
              <a:fillRect/>
            </a:stretch>
          </p:blipFill>
          <p:spPr>
            <a:xfrm flipH="1">
              <a:off x="9791754" y="1688266"/>
              <a:ext cx="587902" cy="511195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5E4B939-B874-DB04-9CE4-287A214567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4496" y="4187465"/>
            <a:ext cx="792672" cy="976340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7C4A552-745E-BDC7-7A89-5013C6EA4C7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13693"/>
          <a:stretch>
            <a:fillRect/>
          </a:stretch>
        </p:blipFill>
        <p:spPr>
          <a:xfrm>
            <a:off x="8674875" y="4378343"/>
            <a:ext cx="1038724" cy="896484"/>
          </a:xfrm>
          <a:prstGeom prst="rect">
            <a:avLst/>
          </a:prstGeom>
        </p:spPr>
      </p:pic>
      <p:pic>
        <p:nvPicPr>
          <p:cNvPr id="29" name="Picture 2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7F37ED8-55D7-A3B5-C7F2-02621F159C3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b="14104"/>
          <a:stretch>
            <a:fillRect/>
          </a:stretch>
        </p:blipFill>
        <p:spPr>
          <a:xfrm>
            <a:off x="7281524" y="3493860"/>
            <a:ext cx="995670" cy="855239"/>
          </a:xfrm>
          <a:prstGeom prst="rect">
            <a:avLst/>
          </a:prstGeom>
        </p:spPr>
      </p:pic>
      <p:pic>
        <p:nvPicPr>
          <p:cNvPr id="30" name="Picture 29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5FE9247A-0866-F36B-7093-4968C455385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3513"/>
          <a:stretch>
            <a:fillRect/>
          </a:stretch>
        </p:blipFill>
        <p:spPr>
          <a:xfrm>
            <a:off x="7950254" y="1935949"/>
            <a:ext cx="942975" cy="815546"/>
          </a:xfrm>
          <a:prstGeom prst="rect">
            <a:avLst/>
          </a:prstGeom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F375DF64-883C-EDF6-7047-300CF446B0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004" y="329825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Block Arc 43">
            <a:extLst>
              <a:ext uri="{FF2B5EF4-FFF2-40B4-BE49-F238E27FC236}">
                <a16:creationId xmlns:a16="http://schemas.microsoft.com/office/drawing/2014/main" id="{4B8F51AD-E05C-76C6-E3D1-0AC89F84DD83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1880000"/>
              <a:gd name="adj2" fmla="val 1620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176F6BBD-782A-6A05-387F-9001A00F8149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7560000"/>
              <a:gd name="adj2" fmla="val 1188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6" name="Block Arc 45">
            <a:extLst>
              <a:ext uri="{FF2B5EF4-FFF2-40B4-BE49-F238E27FC236}">
                <a16:creationId xmlns:a16="http://schemas.microsoft.com/office/drawing/2014/main" id="{E74C9132-5EC7-5463-3E57-C6D90E75AFC6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3240000"/>
              <a:gd name="adj2" fmla="val 756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E17D4507-469A-F4C3-5141-B002BF7CE11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20520000"/>
              <a:gd name="adj2" fmla="val 324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8" name="Block Arc 47">
            <a:extLst>
              <a:ext uri="{FF2B5EF4-FFF2-40B4-BE49-F238E27FC236}">
                <a16:creationId xmlns:a16="http://schemas.microsoft.com/office/drawing/2014/main" id="{54C4236C-3B91-D8D5-5790-034F671DC0FA}"/>
              </a:ext>
            </a:extLst>
          </p:cNvPr>
          <p:cNvSpPr/>
          <p:nvPr userDrawn="1"/>
        </p:nvSpPr>
        <p:spPr>
          <a:xfrm>
            <a:off x="979667" y="1637988"/>
            <a:ext cx="4460515" cy="4460515"/>
          </a:xfrm>
          <a:prstGeom prst="blockArc">
            <a:avLst>
              <a:gd name="adj1" fmla="val 16200000"/>
              <a:gd name="adj2" fmla="val 20520000"/>
              <a:gd name="adj3" fmla="val 4637"/>
            </a:avLst>
          </a:prstGeom>
          <a:solidFill>
            <a:schemeClr val="accent6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b="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61BBABF-5104-3819-3D5F-0EE5E8993155}"/>
              </a:ext>
            </a:extLst>
          </p:cNvPr>
          <p:cNvSpPr/>
          <p:nvPr userDrawn="1"/>
        </p:nvSpPr>
        <p:spPr>
          <a:xfrm>
            <a:off x="2184003" y="2842324"/>
            <a:ext cx="2051843" cy="2051843"/>
          </a:xfrm>
          <a:custGeom>
            <a:avLst/>
            <a:gdLst>
              <a:gd name="csX0" fmla="*/ 0 w 2051843"/>
              <a:gd name="csY0" fmla="*/ 1025922 h 2051843"/>
              <a:gd name="csX1" fmla="*/ 1025922 w 2051843"/>
              <a:gd name="csY1" fmla="*/ 0 h 2051843"/>
              <a:gd name="csX2" fmla="*/ 2051844 w 2051843"/>
              <a:gd name="csY2" fmla="*/ 1025922 h 2051843"/>
              <a:gd name="csX3" fmla="*/ 1025922 w 2051843"/>
              <a:gd name="csY3" fmla="*/ 2051844 h 2051843"/>
              <a:gd name="csX4" fmla="*/ 0 w 2051843"/>
              <a:gd name="csY4" fmla="*/ 1025922 h 2051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1285" tIns="351285" rIns="351285" bIns="351285" numCol="1" spcCol="1270" anchor="ctr" anchorCtr="0">
            <a:noAutofit/>
          </a:bodyPr>
          <a:lstStyle/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  <a:p>
            <a:pPr marL="0" lvl="0" indent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4000" b="0" kern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95CBB9-0727-9A5E-9C93-0D0924FFE9F4}"/>
              </a:ext>
            </a:extLst>
          </p:cNvPr>
          <p:cNvSpPr txBox="1"/>
          <p:nvPr userDrawn="1"/>
        </p:nvSpPr>
        <p:spPr>
          <a:xfrm rot="16367761">
            <a:off x="2223417" y="2469219"/>
            <a:ext cx="1973014" cy="2366341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8617501"/>
              </a:avLst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accent6">
                    <a:lumMod val="50000"/>
                  </a:schemeClr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Substantive Concepts </a:t>
            </a:r>
          </a:p>
        </p:txBody>
      </p:sp>
      <p:pic>
        <p:nvPicPr>
          <p:cNvPr id="5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90A813B-BCDB-49E1-5CAD-66CFBDE92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79" y="3227210"/>
            <a:ext cx="1223996" cy="122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44A6D70-CD3E-1C72-8CE4-040A23C47541}"/>
              </a:ext>
            </a:extLst>
          </p:cNvPr>
          <p:cNvGrpSpPr/>
          <p:nvPr userDrawn="1"/>
        </p:nvGrpSpPr>
        <p:grpSpPr>
          <a:xfrm>
            <a:off x="860724" y="1490979"/>
            <a:ext cx="4687021" cy="4721323"/>
            <a:chOff x="860724" y="1490979"/>
            <a:chExt cx="4687021" cy="472132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5A4B173-B81A-55C0-C00F-D41BC5A64418}"/>
                </a:ext>
              </a:extLst>
            </p:cNvPr>
            <p:cNvGrpSpPr/>
            <p:nvPr userDrawn="1"/>
          </p:nvGrpSpPr>
          <p:grpSpPr>
            <a:xfrm>
              <a:off x="1001696" y="1490979"/>
              <a:ext cx="4479565" cy="4581645"/>
              <a:chOff x="-6827777" y="-4338819"/>
              <a:chExt cx="4479565" cy="4581645"/>
            </a:xfrm>
          </p:grpSpPr>
          <p:sp>
            <p:nvSpPr>
              <p:cNvPr id="152" name="Block Arc 151">
                <a:extLst>
                  <a:ext uri="{FF2B5EF4-FFF2-40B4-BE49-F238E27FC236}">
                    <a16:creationId xmlns:a16="http://schemas.microsoft.com/office/drawing/2014/main" id="{65988C65-DA72-14E2-B853-B7E9525B2D44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8" name="Block Arc 147">
                <a:extLst>
                  <a:ext uri="{FF2B5EF4-FFF2-40B4-BE49-F238E27FC236}">
                    <a16:creationId xmlns:a16="http://schemas.microsoft.com/office/drawing/2014/main" id="{4CF48090-F6C4-F501-4ACF-4D30F4DF720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4" name="Block Arc 143">
                <a:extLst>
                  <a:ext uri="{FF2B5EF4-FFF2-40B4-BE49-F238E27FC236}">
                    <a16:creationId xmlns:a16="http://schemas.microsoft.com/office/drawing/2014/main" id="{428D3FDB-FAEB-3178-56CD-53E9A70A0EC6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43368CBD-FA81-486A-EB44-8B64A2E5FB0D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839B189-C70D-206A-E1AD-6F2C41984C3E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35" name="Curved Right Arrow 134">
                    <a:extLst>
                      <a:ext uri="{FF2B5EF4-FFF2-40B4-BE49-F238E27FC236}">
                        <a16:creationId xmlns:a16="http://schemas.microsoft.com/office/drawing/2014/main" id="{EE12EB3B-C7A0-A1A6-A586-CB04024E81AA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6" name="Curved Right Arrow 135">
                    <a:extLst>
                      <a:ext uri="{FF2B5EF4-FFF2-40B4-BE49-F238E27FC236}">
                        <a16:creationId xmlns:a16="http://schemas.microsoft.com/office/drawing/2014/main" id="{ED8E9A96-D61E-63BF-FBCC-AEEE7FA60735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7" name="Curved Right Arrow 136">
                    <a:extLst>
                      <a:ext uri="{FF2B5EF4-FFF2-40B4-BE49-F238E27FC236}">
                        <a16:creationId xmlns:a16="http://schemas.microsoft.com/office/drawing/2014/main" id="{72C750F4-645D-53B3-4097-A1BF77AEFA2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80F495D1-4AA2-8B1D-03A7-AC525C908CC1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32" name="Curved Right Arrow 131">
                    <a:extLst>
                      <a:ext uri="{FF2B5EF4-FFF2-40B4-BE49-F238E27FC236}">
                        <a16:creationId xmlns:a16="http://schemas.microsoft.com/office/drawing/2014/main" id="{E2B7F3C4-B87B-567E-8763-C7E5139F9CB1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3" name="Curved Right Arrow 132">
                    <a:extLst>
                      <a:ext uri="{FF2B5EF4-FFF2-40B4-BE49-F238E27FC236}">
                        <a16:creationId xmlns:a16="http://schemas.microsoft.com/office/drawing/2014/main" id="{134F4CCA-DC08-D059-46CC-FFBD712A079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4" name="Curved Right Arrow 133">
                    <a:extLst>
                      <a:ext uri="{FF2B5EF4-FFF2-40B4-BE49-F238E27FC236}">
                        <a16:creationId xmlns:a16="http://schemas.microsoft.com/office/drawing/2014/main" id="{1E1243C9-E878-B20F-E0C8-8B9F504B93DB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38" name="Block Arc 137">
                <a:extLst>
                  <a:ext uri="{FF2B5EF4-FFF2-40B4-BE49-F238E27FC236}">
                    <a16:creationId xmlns:a16="http://schemas.microsoft.com/office/drawing/2014/main" id="{1185D010-FD4C-9B7B-3197-C5668952CE1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6" name="Block Arc 145">
                <a:extLst>
                  <a:ext uri="{FF2B5EF4-FFF2-40B4-BE49-F238E27FC236}">
                    <a16:creationId xmlns:a16="http://schemas.microsoft.com/office/drawing/2014/main" id="{25A84A43-0367-14E9-96C5-A6C324D2EA6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49" name="Block Arc 148">
                <a:extLst>
                  <a:ext uri="{FF2B5EF4-FFF2-40B4-BE49-F238E27FC236}">
                    <a16:creationId xmlns:a16="http://schemas.microsoft.com/office/drawing/2014/main" id="{5574DF77-F1FF-FAE8-957A-77DD871939AA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4" name="Block Arc 153">
                <a:extLst>
                  <a:ext uri="{FF2B5EF4-FFF2-40B4-BE49-F238E27FC236}">
                    <a16:creationId xmlns:a16="http://schemas.microsoft.com/office/drawing/2014/main" id="{800E325B-4614-424E-5DC0-3AC1BD388692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F134D09-D546-80EC-C802-9433051AB269}"/>
                </a:ext>
              </a:extLst>
            </p:cNvPr>
            <p:cNvGrpSpPr/>
            <p:nvPr userDrawn="1"/>
          </p:nvGrpSpPr>
          <p:grpSpPr>
            <a:xfrm rot="17234694">
              <a:off x="911764" y="1577422"/>
              <a:ext cx="4479565" cy="4581645"/>
              <a:chOff x="-6827777" y="-4338819"/>
              <a:chExt cx="4479565" cy="4581645"/>
            </a:xfrm>
          </p:grpSpPr>
          <p:sp>
            <p:nvSpPr>
              <p:cNvPr id="158" name="Block Arc 157">
                <a:extLst>
                  <a:ext uri="{FF2B5EF4-FFF2-40B4-BE49-F238E27FC236}">
                    <a16:creationId xmlns:a16="http://schemas.microsoft.com/office/drawing/2014/main" id="{891E92A3-567C-E5AB-E85F-CB8021D777B3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59" name="Block Arc 158">
                <a:extLst>
                  <a:ext uri="{FF2B5EF4-FFF2-40B4-BE49-F238E27FC236}">
                    <a16:creationId xmlns:a16="http://schemas.microsoft.com/office/drawing/2014/main" id="{B00FEDE7-5503-0C06-26E9-2793B6220830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0" name="Block Arc 159">
                <a:extLst>
                  <a:ext uri="{FF2B5EF4-FFF2-40B4-BE49-F238E27FC236}">
                    <a16:creationId xmlns:a16="http://schemas.microsoft.com/office/drawing/2014/main" id="{0FCD129C-295F-08B5-0528-7233A37D36F9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365680C-330D-DEAF-A0C7-CC6E49C21124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B0497FE-6D93-8C4B-3FEC-80255368F54A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71" name="Curved Right Arrow 170">
                    <a:extLst>
                      <a:ext uri="{FF2B5EF4-FFF2-40B4-BE49-F238E27FC236}">
                        <a16:creationId xmlns:a16="http://schemas.microsoft.com/office/drawing/2014/main" id="{71CA5154-D547-64DC-DD5F-8BAFF2A41AA3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Curved Right Arrow 171">
                    <a:extLst>
                      <a:ext uri="{FF2B5EF4-FFF2-40B4-BE49-F238E27FC236}">
                        <a16:creationId xmlns:a16="http://schemas.microsoft.com/office/drawing/2014/main" id="{131473E8-1A0E-3BC6-3F1D-FF09E3FE0244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3" name="Curved Right Arrow 172">
                    <a:extLst>
                      <a:ext uri="{FF2B5EF4-FFF2-40B4-BE49-F238E27FC236}">
                        <a16:creationId xmlns:a16="http://schemas.microsoft.com/office/drawing/2014/main" id="{7E012DEF-05EA-9BC2-B493-33CF115DDA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59F81DE1-79C5-5A82-7EA3-106750D85134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68" name="Curved Right Arrow 167">
                    <a:extLst>
                      <a:ext uri="{FF2B5EF4-FFF2-40B4-BE49-F238E27FC236}">
                        <a16:creationId xmlns:a16="http://schemas.microsoft.com/office/drawing/2014/main" id="{0B5FC590-9586-E70A-5872-992CC920984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Curved Right Arrow 168">
                    <a:extLst>
                      <a:ext uri="{FF2B5EF4-FFF2-40B4-BE49-F238E27FC236}">
                        <a16:creationId xmlns:a16="http://schemas.microsoft.com/office/drawing/2014/main" id="{482A8B25-16C0-688C-1711-92892AA754DA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Curved Right Arrow 169">
                    <a:extLst>
                      <a:ext uri="{FF2B5EF4-FFF2-40B4-BE49-F238E27FC236}">
                        <a16:creationId xmlns:a16="http://schemas.microsoft.com/office/drawing/2014/main" id="{585121C7-5E4C-9CAA-7F54-A403FB236252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62" name="Block Arc 161">
                <a:extLst>
                  <a:ext uri="{FF2B5EF4-FFF2-40B4-BE49-F238E27FC236}">
                    <a16:creationId xmlns:a16="http://schemas.microsoft.com/office/drawing/2014/main" id="{7BA02118-C9C4-EB6A-2B68-7996A4D61EEC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3" name="Block Arc 162">
                <a:extLst>
                  <a:ext uri="{FF2B5EF4-FFF2-40B4-BE49-F238E27FC236}">
                    <a16:creationId xmlns:a16="http://schemas.microsoft.com/office/drawing/2014/main" id="{B4AF4DD4-E4FF-2072-2F91-2F2E54644E90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4" name="Block Arc 163">
                <a:extLst>
                  <a:ext uri="{FF2B5EF4-FFF2-40B4-BE49-F238E27FC236}">
                    <a16:creationId xmlns:a16="http://schemas.microsoft.com/office/drawing/2014/main" id="{6CCBBA0F-3871-55A1-0442-A9F5D979788C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65" name="Block Arc 164">
                <a:extLst>
                  <a:ext uri="{FF2B5EF4-FFF2-40B4-BE49-F238E27FC236}">
                    <a16:creationId xmlns:a16="http://schemas.microsoft.com/office/drawing/2014/main" id="{52ECADC0-2236-60D0-4A24-ADFE1B9C4F1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AC9D7FE2-1F3D-BA86-275E-211E553DF55D}"/>
                </a:ext>
              </a:extLst>
            </p:cNvPr>
            <p:cNvGrpSpPr/>
            <p:nvPr userDrawn="1"/>
          </p:nvGrpSpPr>
          <p:grpSpPr>
            <a:xfrm rot="12830433">
              <a:off x="938298" y="1630657"/>
              <a:ext cx="4479565" cy="4581645"/>
              <a:chOff x="-6827777" y="-4338819"/>
              <a:chExt cx="4479565" cy="4581645"/>
            </a:xfrm>
          </p:grpSpPr>
          <p:sp>
            <p:nvSpPr>
              <p:cNvPr id="175" name="Block Arc 174">
                <a:extLst>
                  <a:ext uri="{FF2B5EF4-FFF2-40B4-BE49-F238E27FC236}">
                    <a16:creationId xmlns:a16="http://schemas.microsoft.com/office/drawing/2014/main" id="{BFA9FDE3-A994-EF95-3B6D-DE2B74248782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6" name="Block Arc 175">
                <a:extLst>
                  <a:ext uri="{FF2B5EF4-FFF2-40B4-BE49-F238E27FC236}">
                    <a16:creationId xmlns:a16="http://schemas.microsoft.com/office/drawing/2014/main" id="{4DCC7790-8FF1-5324-464C-7DE535DC24D1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77" name="Block Arc 176">
                <a:extLst>
                  <a:ext uri="{FF2B5EF4-FFF2-40B4-BE49-F238E27FC236}">
                    <a16:creationId xmlns:a16="http://schemas.microsoft.com/office/drawing/2014/main" id="{0FAAFFBA-2A60-6860-3984-2609C817246A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7376B72F-1D49-845B-760F-C413CFEC6AF1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717B59-E10A-98DF-6FA9-58733ACEC912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188" name="Curved Right Arrow 187">
                    <a:extLst>
                      <a:ext uri="{FF2B5EF4-FFF2-40B4-BE49-F238E27FC236}">
                        <a16:creationId xmlns:a16="http://schemas.microsoft.com/office/drawing/2014/main" id="{3F6BCD90-CD6A-DBA7-0D8B-CBD8C850F37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9" name="Curved Right Arrow 188">
                    <a:extLst>
                      <a:ext uri="{FF2B5EF4-FFF2-40B4-BE49-F238E27FC236}">
                        <a16:creationId xmlns:a16="http://schemas.microsoft.com/office/drawing/2014/main" id="{987AFB46-0701-1A1B-4755-319344BA282B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0" name="Curved Right Arrow 189">
                    <a:extLst>
                      <a:ext uri="{FF2B5EF4-FFF2-40B4-BE49-F238E27FC236}">
                        <a16:creationId xmlns:a16="http://schemas.microsoft.com/office/drawing/2014/main" id="{BA2A2702-EAF5-6DF5-9F98-7EF08B3FBE1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E21A413-D962-7209-EF28-73C1870D0D67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185" name="Curved Right Arrow 184">
                    <a:extLst>
                      <a:ext uri="{FF2B5EF4-FFF2-40B4-BE49-F238E27FC236}">
                        <a16:creationId xmlns:a16="http://schemas.microsoft.com/office/drawing/2014/main" id="{D021BA53-4855-F93B-C1FC-8BCEFBB72104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6" name="Curved Right Arrow 185">
                    <a:extLst>
                      <a:ext uri="{FF2B5EF4-FFF2-40B4-BE49-F238E27FC236}">
                        <a16:creationId xmlns:a16="http://schemas.microsoft.com/office/drawing/2014/main" id="{818E012B-010E-CFF9-1756-98AEFF13212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7" name="Curved Right Arrow 186">
                    <a:extLst>
                      <a:ext uri="{FF2B5EF4-FFF2-40B4-BE49-F238E27FC236}">
                        <a16:creationId xmlns:a16="http://schemas.microsoft.com/office/drawing/2014/main" id="{94E523A7-DEE6-DF8F-3B60-B8D9A50B812E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79" name="Block Arc 178">
                <a:extLst>
                  <a:ext uri="{FF2B5EF4-FFF2-40B4-BE49-F238E27FC236}">
                    <a16:creationId xmlns:a16="http://schemas.microsoft.com/office/drawing/2014/main" id="{33F25D14-10FC-37C4-9109-F784B089B3C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0" name="Block Arc 179">
                <a:extLst>
                  <a:ext uri="{FF2B5EF4-FFF2-40B4-BE49-F238E27FC236}">
                    <a16:creationId xmlns:a16="http://schemas.microsoft.com/office/drawing/2014/main" id="{44E7CF12-0198-071E-051C-B7C84D35A1EA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1" name="Block Arc 180">
                <a:extLst>
                  <a:ext uri="{FF2B5EF4-FFF2-40B4-BE49-F238E27FC236}">
                    <a16:creationId xmlns:a16="http://schemas.microsoft.com/office/drawing/2014/main" id="{B3889160-2B62-0AEA-B13E-6492CD0C0021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182" name="Block Arc 181">
                <a:extLst>
                  <a:ext uri="{FF2B5EF4-FFF2-40B4-BE49-F238E27FC236}">
                    <a16:creationId xmlns:a16="http://schemas.microsoft.com/office/drawing/2014/main" id="{90C1C463-FB6E-AA21-842E-B9B09090D20C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7C868BAF-67D8-685B-FBF0-381130DDAC81}"/>
                </a:ext>
              </a:extLst>
            </p:cNvPr>
            <p:cNvGrpSpPr/>
            <p:nvPr userDrawn="1"/>
          </p:nvGrpSpPr>
          <p:grpSpPr>
            <a:xfrm rot="8479211">
              <a:off x="1011220" y="1599085"/>
              <a:ext cx="4479565" cy="4581645"/>
              <a:chOff x="-6827777" y="-4338819"/>
              <a:chExt cx="4479565" cy="4581645"/>
            </a:xfrm>
          </p:grpSpPr>
          <p:sp>
            <p:nvSpPr>
              <p:cNvPr id="209" name="Block Arc 208">
                <a:extLst>
                  <a:ext uri="{FF2B5EF4-FFF2-40B4-BE49-F238E27FC236}">
                    <a16:creationId xmlns:a16="http://schemas.microsoft.com/office/drawing/2014/main" id="{B6A2E1EC-EF14-3F23-25FB-A9BCA9259365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0" name="Block Arc 209">
                <a:extLst>
                  <a:ext uri="{FF2B5EF4-FFF2-40B4-BE49-F238E27FC236}">
                    <a16:creationId xmlns:a16="http://schemas.microsoft.com/office/drawing/2014/main" id="{6E647087-D5A9-9B4D-BCE1-E8AA51F34EBD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1" name="Block Arc 210">
                <a:extLst>
                  <a:ext uri="{FF2B5EF4-FFF2-40B4-BE49-F238E27FC236}">
                    <a16:creationId xmlns:a16="http://schemas.microsoft.com/office/drawing/2014/main" id="{5A28EFFC-B639-7A60-0E1F-CBF492E49AD4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248940DE-3174-34E6-5961-975175DE101A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71DD3B6E-FAB8-79C4-9EE7-D7EAD3656BD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22" name="Curved Right Arrow 221">
                    <a:extLst>
                      <a:ext uri="{FF2B5EF4-FFF2-40B4-BE49-F238E27FC236}">
                        <a16:creationId xmlns:a16="http://schemas.microsoft.com/office/drawing/2014/main" id="{84B50631-111E-DA9D-EF9A-3E6E787C1F48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Curved Right Arrow 222">
                    <a:extLst>
                      <a:ext uri="{FF2B5EF4-FFF2-40B4-BE49-F238E27FC236}">
                        <a16:creationId xmlns:a16="http://schemas.microsoft.com/office/drawing/2014/main" id="{5E4C5B5A-8986-3EBD-436F-4971011A4FEA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Curved Right Arrow 223">
                    <a:extLst>
                      <a:ext uri="{FF2B5EF4-FFF2-40B4-BE49-F238E27FC236}">
                        <a16:creationId xmlns:a16="http://schemas.microsoft.com/office/drawing/2014/main" id="{5D80C5EF-8461-EDA4-A0BA-D8CD99ACDD66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43B38A18-79DC-F09C-31A4-3215EED1D676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19" name="Curved Right Arrow 218">
                    <a:extLst>
                      <a:ext uri="{FF2B5EF4-FFF2-40B4-BE49-F238E27FC236}">
                        <a16:creationId xmlns:a16="http://schemas.microsoft.com/office/drawing/2014/main" id="{9B912550-BDE7-62B9-6F71-3459D6216B39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0" name="Curved Right Arrow 219">
                    <a:extLst>
                      <a:ext uri="{FF2B5EF4-FFF2-40B4-BE49-F238E27FC236}">
                        <a16:creationId xmlns:a16="http://schemas.microsoft.com/office/drawing/2014/main" id="{86EF7E5E-8DA4-7FC4-1015-0872CB7B307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Curved Right Arrow 220">
                    <a:extLst>
                      <a:ext uri="{FF2B5EF4-FFF2-40B4-BE49-F238E27FC236}">
                        <a16:creationId xmlns:a16="http://schemas.microsoft.com/office/drawing/2014/main" id="{6EB6CAA9-06F4-2DB6-8BFA-FDFE55D2FE4D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3" name="Block Arc 212">
                <a:extLst>
                  <a:ext uri="{FF2B5EF4-FFF2-40B4-BE49-F238E27FC236}">
                    <a16:creationId xmlns:a16="http://schemas.microsoft.com/office/drawing/2014/main" id="{6F2487B9-0810-66D7-358A-A40447CBE7D1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4" name="Block Arc 213">
                <a:extLst>
                  <a:ext uri="{FF2B5EF4-FFF2-40B4-BE49-F238E27FC236}">
                    <a16:creationId xmlns:a16="http://schemas.microsoft.com/office/drawing/2014/main" id="{1D423479-E227-AE56-2D2A-C517AD4954D8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5" name="Block Arc 214">
                <a:extLst>
                  <a:ext uri="{FF2B5EF4-FFF2-40B4-BE49-F238E27FC236}">
                    <a16:creationId xmlns:a16="http://schemas.microsoft.com/office/drawing/2014/main" id="{7A3C9914-57A9-675F-9B87-01152ACD1BF4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16" name="Block Arc 215">
                <a:extLst>
                  <a:ext uri="{FF2B5EF4-FFF2-40B4-BE49-F238E27FC236}">
                    <a16:creationId xmlns:a16="http://schemas.microsoft.com/office/drawing/2014/main" id="{6D8A73DF-4887-747B-D851-4D010908A0C3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E8E9F192-ED35-CE25-9A2D-17B99BB97D5E}"/>
                </a:ext>
              </a:extLst>
            </p:cNvPr>
            <p:cNvGrpSpPr/>
            <p:nvPr userDrawn="1"/>
          </p:nvGrpSpPr>
          <p:grpSpPr>
            <a:xfrm rot="4292651">
              <a:off x="1017140" y="1548320"/>
              <a:ext cx="4479565" cy="4581645"/>
              <a:chOff x="-6827777" y="-4338819"/>
              <a:chExt cx="4479565" cy="4581645"/>
            </a:xfrm>
          </p:grpSpPr>
          <p:sp>
            <p:nvSpPr>
              <p:cNvPr id="226" name="Block Arc 225">
                <a:extLst>
                  <a:ext uri="{FF2B5EF4-FFF2-40B4-BE49-F238E27FC236}">
                    <a16:creationId xmlns:a16="http://schemas.microsoft.com/office/drawing/2014/main" id="{998DE0F2-B873-0153-A629-06FB58438D1C}"/>
                  </a:ext>
                </a:extLst>
              </p:cNvPr>
              <p:cNvSpPr/>
              <p:nvPr userDrawn="1"/>
            </p:nvSpPr>
            <p:spPr>
              <a:xfrm rot="18989718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7" name="Block Arc 226">
                <a:extLst>
                  <a:ext uri="{FF2B5EF4-FFF2-40B4-BE49-F238E27FC236}">
                    <a16:creationId xmlns:a16="http://schemas.microsoft.com/office/drawing/2014/main" id="{64A161B2-4652-2459-E8FF-0604F308843E}"/>
                  </a:ext>
                </a:extLst>
              </p:cNvPr>
              <p:cNvSpPr/>
              <p:nvPr userDrawn="1"/>
            </p:nvSpPr>
            <p:spPr>
              <a:xfrm rot="19724709">
                <a:off x="-6808727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28" name="Block Arc 227">
                <a:extLst>
                  <a:ext uri="{FF2B5EF4-FFF2-40B4-BE49-F238E27FC236}">
                    <a16:creationId xmlns:a16="http://schemas.microsoft.com/office/drawing/2014/main" id="{1C874E50-1FA4-26BE-E55A-A83E6B90EB7F}"/>
                  </a:ext>
                </a:extLst>
              </p:cNvPr>
              <p:cNvSpPr/>
              <p:nvPr userDrawn="1"/>
            </p:nvSpPr>
            <p:spPr>
              <a:xfrm rot="20572156">
                <a:off x="-6827777" y="-4217689"/>
                <a:ext cx="4460515" cy="4460515"/>
              </a:xfrm>
              <a:prstGeom prst="blockArc">
                <a:avLst>
                  <a:gd name="adj1" fmla="val 15748826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5A418CD-A489-5EED-1BE8-65FC8DEAB3E8}"/>
                  </a:ext>
                </a:extLst>
              </p:cNvPr>
              <p:cNvGrpSpPr/>
              <p:nvPr userDrawn="1"/>
            </p:nvGrpSpPr>
            <p:grpSpPr>
              <a:xfrm>
                <a:off x="-6310685" y="-4338819"/>
                <a:ext cx="1109931" cy="1246186"/>
                <a:chOff x="1496758" y="1516859"/>
                <a:chExt cx="1109931" cy="1246186"/>
              </a:xfrm>
              <a:solidFill>
                <a:srgbClr val="FFC000"/>
              </a:solidFill>
            </p:grpSpPr>
            <p:grpSp>
              <p:nvGrpSpPr>
                <p:cNvPr id="234" name="Group 233">
                  <a:extLst>
                    <a:ext uri="{FF2B5EF4-FFF2-40B4-BE49-F238E27FC236}">
                      <a16:creationId xmlns:a16="http://schemas.microsoft.com/office/drawing/2014/main" id="{22E8757C-C17C-5A15-C4D2-A0F51D28EECD}"/>
                    </a:ext>
                  </a:extLst>
                </p:cNvPr>
                <p:cNvGrpSpPr/>
                <p:nvPr/>
              </p:nvGrpSpPr>
              <p:grpSpPr>
                <a:xfrm rot="337452">
                  <a:off x="1496758" y="2082879"/>
                  <a:ext cx="676676" cy="680166"/>
                  <a:chOff x="1490297" y="1956128"/>
                  <a:chExt cx="1043292" cy="1048672"/>
                </a:xfrm>
                <a:grpFill/>
              </p:grpSpPr>
              <p:sp>
                <p:nvSpPr>
                  <p:cNvPr id="239" name="Curved Right Arrow 238">
                    <a:extLst>
                      <a:ext uri="{FF2B5EF4-FFF2-40B4-BE49-F238E27FC236}">
                        <a16:creationId xmlns:a16="http://schemas.microsoft.com/office/drawing/2014/main" id="{2D26CC59-9CBB-5524-3746-565FE9E0D4B6}"/>
                      </a:ext>
                    </a:extLst>
                  </p:cNvPr>
                  <p:cNvSpPr/>
                  <p:nvPr/>
                </p:nvSpPr>
                <p:spPr>
                  <a:xfrm rot="2552695">
                    <a:off x="1490297" y="1956128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Curved Right Arrow 239">
                    <a:extLst>
                      <a:ext uri="{FF2B5EF4-FFF2-40B4-BE49-F238E27FC236}">
                        <a16:creationId xmlns:a16="http://schemas.microsoft.com/office/drawing/2014/main" id="{E0523F26-797C-C452-9C1C-71E14B354849}"/>
                      </a:ext>
                    </a:extLst>
                  </p:cNvPr>
                  <p:cNvSpPr/>
                  <p:nvPr/>
                </p:nvSpPr>
                <p:spPr>
                  <a:xfrm rot="13678126">
                    <a:off x="2057574" y="2031460"/>
                    <a:ext cx="471554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Curved Right Arrow 240">
                    <a:extLst>
                      <a:ext uri="{FF2B5EF4-FFF2-40B4-BE49-F238E27FC236}">
                        <a16:creationId xmlns:a16="http://schemas.microsoft.com/office/drawing/2014/main" id="{CA3FB094-9EE0-A67C-E6D4-FCE1F8C4AE04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582662" y="2528785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6BD733AA-7E7B-9AB4-C969-AFDFB39D729E}"/>
                    </a:ext>
                  </a:extLst>
                </p:cNvPr>
                <p:cNvGrpSpPr/>
                <p:nvPr/>
              </p:nvGrpSpPr>
              <p:grpSpPr>
                <a:xfrm rot="11791363">
                  <a:off x="1951309" y="1516859"/>
                  <a:ext cx="655380" cy="672414"/>
                  <a:chOff x="1537746" y="1986114"/>
                  <a:chExt cx="1010459" cy="1036722"/>
                </a:xfrm>
                <a:grpFill/>
              </p:grpSpPr>
              <p:sp>
                <p:nvSpPr>
                  <p:cNvPr id="236" name="Curved Right Arrow 235">
                    <a:extLst>
                      <a:ext uri="{FF2B5EF4-FFF2-40B4-BE49-F238E27FC236}">
                        <a16:creationId xmlns:a16="http://schemas.microsoft.com/office/drawing/2014/main" id="{6AC205FF-EF96-C2B5-501F-382ED1CB1A18}"/>
                      </a:ext>
                    </a:extLst>
                  </p:cNvPr>
                  <p:cNvSpPr/>
                  <p:nvPr/>
                </p:nvSpPr>
                <p:spPr>
                  <a:xfrm rot="2668401">
                    <a:off x="1537746" y="1986114"/>
                    <a:ext cx="471553" cy="480478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7" name="Curved Right Arrow 236">
                    <a:extLst>
                      <a:ext uri="{FF2B5EF4-FFF2-40B4-BE49-F238E27FC236}">
                        <a16:creationId xmlns:a16="http://schemas.microsoft.com/office/drawing/2014/main" id="{ECE5C892-928A-8087-9E04-43F2B33FD49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2072189" y="2030020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8" name="Curved Right Arrow 237">
                    <a:extLst>
                      <a:ext uri="{FF2B5EF4-FFF2-40B4-BE49-F238E27FC236}">
                        <a16:creationId xmlns:a16="http://schemas.microsoft.com/office/drawing/2014/main" id="{20129413-01C5-1CDB-E3D8-EE606C1E335A}"/>
                      </a:ext>
                    </a:extLst>
                  </p:cNvPr>
                  <p:cNvSpPr/>
                  <p:nvPr/>
                </p:nvSpPr>
                <p:spPr>
                  <a:xfrm rot="13683632">
                    <a:off x="1589164" y="2546821"/>
                    <a:ext cx="471555" cy="480476"/>
                  </a:xfrm>
                  <a:prstGeom prst="curvedRightArrow">
                    <a:avLst>
                      <a:gd name="adj1" fmla="val 50000"/>
                      <a:gd name="adj2" fmla="val 27512"/>
                      <a:gd name="adj3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30" name="Block Arc 229">
                <a:extLst>
                  <a:ext uri="{FF2B5EF4-FFF2-40B4-BE49-F238E27FC236}">
                    <a16:creationId xmlns:a16="http://schemas.microsoft.com/office/drawing/2014/main" id="{2CCF233A-E8E6-C045-F84B-F54DE13F9D44}"/>
                  </a:ext>
                </a:extLst>
              </p:cNvPr>
              <p:cNvSpPr/>
              <p:nvPr userDrawn="1"/>
            </p:nvSpPr>
            <p:spPr>
              <a:xfrm>
                <a:off x="-6827776" y="-4217689"/>
                <a:ext cx="4460515" cy="4460515"/>
              </a:xfrm>
              <a:prstGeom prst="blockArc">
                <a:avLst>
                  <a:gd name="adj1" fmla="val 15126698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1" name="Block Arc 230">
                <a:extLst>
                  <a:ext uri="{FF2B5EF4-FFF2-40B4-BE49-F238E27FC236}">
                    <a16:creationId xmlns:a16="http://schemas.microsoft.com/office/drawing/2014/main" id="{8EF7FAB2-F7F1-CE66-33E3-D5831AA3D20D}"/>
                  </a:ext>
                </a:extLst>
              </p:cNvPr>
              <p:cNvSpPr/>
              <p:nvPr userDrawn="1"/>
            </p:nvSpPr>
            <p:spPr>
              <a:xfrm rot="20090322">
                <a:off x="-6808728" y="-4227215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2" name="Block Arc 231">
                <a:extLst>
                  <a:ext uri="{FF2B5EF4-FFF2-40B4-BE49-F238E27FC236}">
                    <a16:creationId xmlns:a16="http://schemas.microsoft.com/office/drawing/2014/main" id="{8AB29057-402F-18F8-598F-C8EDFEA7A4F5}"/>
                  </a:ext>
                </a:extLst>
              </p:cNvPr>
              <p:cNvSpPr/>
              <p:nvPr userDrawn="1"/>
            </p:nvSpPr>
            <p:spPr>
              <a:xfrm rot="19366674">
                <a:off x="-6808727" y="-4227226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F77B4551-D9BC-A7FB-DAA5-401AA6ADA8D9}"/>
                  </a:ext>
                </a:extLst>
              </p:cNvPr>
              <p:cNvSpPr/>
              <p:nvPr userDrawn="1"/>
            </p:nvSpPr>
            <p:spPr>
              <a:xfrm rot="18593447">
                <a:off x="-6808727" y="-4230401"/>
                <a:ext cx="4460515" cy="4460515"/>
              </a:xfrm>
              <a:prstGeom prst="blockArc">
                <a:avLst>
                  <a:gd name="adj1" fmla="val 15785393"/>
                  <a:gd name="adj2" fmla="val 16200000"/>
                  <a:gd name="adj3" fmla="val 4637"/>
                </a:avLst>
              </a:prstGeom>
              <a:solidFill>
                <a:schemeClr val="accent6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b="0"/>
              </a:p>
            </p:txBody>
          </p:sp>
        </p:grpSp>
      </p:grpSp>
      <p:sp>
        <p:nvSpPr>
          <p:cNvPr id="50" name="Freeform 49">
            <a:extLst>
              <a:ext uri="{FF2B5EF4-FFF2-40B4-BE49-F238E27FC236}">
                <a16:creationId xmlns:a16="http://schemas.microsoft.com/office/drawing/2014/main" id="{8C4FF195-CBF7-00FA-EE88-559723EB59B0}"/>
              </a:ext>
            </a:extLst>
          </p:cNvPr>
          <p:cNvSpPr/>
          <p:nvPr userDrawn="1"/>
        </p:nvSpPr>
        <p:spPr>
          <a:xfrm>
            <a:off x="2491779" y="971549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F2CC"/>
          </a:solidFill>
          <a:ln w="38100">
            <a:solidFill>
              <a:srgbClr val="FFC00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5740" tIns="235740" rIns="235740" bIns="23574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2000" b="0" kern="1200">
                <a:solidFill>
                  <a:srgbClr val="FFC00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Place, Space &amp; Scale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2E74CB5-2658-3819-5348-986FA8FA6DA5}"/>
              </a:ext>
            </a:extLst>
          </p:cNvPr>
          <p:cNvSpPr/>
          <p:nvPr userDrawn="1"/>
        </p:nvSpPr>
        <p:spPr>
          <a:xfrm>
            <a:off x="4563705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chemeClr val="accent6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</a:t>
            </a: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FB192E0-CF0D-3A3E-F8AE-2C7936146CAF}"/>
              </a:ext>
            </a:extLst>
          </p:cNvPr>
          <p:cNvSpPr/>
          <p:nvPr userDrawn="1"/>
        </p:nvSpPr>
        <p:spPr>
          <a:xfrm>
            <a:off x="3772300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CCCCFF"/>
          </a:solidFill>
          <a:ln w="38100">
            <a:solidFill>
              <a:srgbClr val="7030A0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5580" tIns="225580" rIns="225580" bIns="225580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200" b="0" kern="1200">
                <a:solidFill>
                  <a:srgbClr val="7030A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Environmental Impact &amp; Sustainability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424355A-8157-8F9B-793B-6FCDAF2D2A55}"/>
              </a:ext>
            </a:extLst>
          </p:cNvPr>
          <p:cNvSpPr/>
          <p:nvPr userDrawn="1"/>
        </p:nvSpPr>
        <p:spPr>
          <a:xfrm>
            <a:off x="1211259" y="4912586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CCC"/>
          </a:solidFill>
          <a:ln w="38100">
            <a:solidFill>
              <a:srgbClr val="C3580C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0660" tIns="230660" rIns="230660" bIns="230660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600" b="0" kern="1200">
                <a:solidFill>
                  <a:srgbClr val="C3580C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Human Geography</a:t>
            </a: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E958DA0-99EF-EAFE-07F6-CBB1A77314ED}"/>
              </a:ext>
            </a:extLst>
          </p:cNvPr>
          <p:cNvSpPr/>
          <p:nvPr userDrawn="1"/>
        </p:nvSpPr>
        <p:spPr>
          <a:xfrm>
            <a:off x="419854" y="2476891"/>
            <a:ext cx="1436290" cy="1436290"/>
          </a:xfrm>
          <a:custGeom>
            <a:avLst/>
            <a:gdLst>
              <a:gd name="csX0" fmla="*/ 0 w 1436290"/>
              <a:gd name="csY0" fmla="*/ 718145 h 1436290"/>
              <a:gd name="csX1" fmla="*/ 718145 w 1436290"/>
              <a:gd name="csY1" fmla="*/ 0 h 1436290"/>
              <a:gd name="csX2" fmla="*/ 1436290 w 1436290"/>
              <a:gd name="csY2" fmla="*/ 718145 h 1436290"/>
              <a:gd name="csX3" fmla="*/ 718145 w 1436290"/>
              <a:gd name="csY3" fmla="*/ 1436290 h 1436290"/>
              <a:gd name="csX4" fmla="*/ 0 w 1436290"/>
              <a:gd name="csY4" fmla="*/ 718145 h 143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DDEAF8"/>
          </a:solidFill>
          <a:ln w="38100">
            <a:solidFill>
              <a:srgbClr val="4574C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28120" tIns="228120" rIns="228120" bIns="22812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400" b="0" kern="1200">
                <a:solidFill>
                  <a:srgbClr val="4574C4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Cultural awareness &amp; diversity 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E9A1495-0C8C-27AA-0D2C-9B0E78A895D0}"/>
              </a:ext>
            </a:extLst>
          </p:cNvPr>
          <p:cNvSpPr/>
          <p:nvPr userDrawn="1"/>
        </p:nvSpPr>
        <p:spPr>
          <a:xfrm>
            <a:off x="2284992" y="4136928"/>
            <a:ext cx="1836223" cy="986274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prstTxWarp prst="textArchDown">
              <a:avLst>
                <a:gd name="adj" fmla="val 96006"/>
              </a:avLst>
            </a:prstTxWarp>
            <a:spAutoFit/>
          </a:bodyPr>
          <a:lstStyle/>
          <a:p>
            <a:pPr algn="ctr"/>
            <a:r>
              <a:rPr lang="en-GB" sz="1800" b="0" cap="none" spc="0">
                <a:ln w="0"/>
                <a:solidFill>
                  <a:schemeClr val="tx1"/>
                </a:solidFill>
                <a:effectLst/>
                <a:latin typeface="Twinkl Cursive Looped" panose="02000000000000000000" pitchFamily="2" charset="77"/>
              </a:rPr>
              <a:t>Compassion</a:t>
            </a:r>
          </a:p>
        </p:txBody>
      </p:sp>
    </p:spTree>
    <p:extLst>
      <p:ext uri="{BB962C8B-B14F-4D97-AF65-F5344CB8AC3E}">
        <p14:creationId xmlns:p14="http://schemas.microsoft.com/office/powerpoint/2010/main" val="29806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62" grpId="0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C5F1B42-8526-1E66-05A7-2E821F42DE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AACB11-BAD2-FA1C-1458-34E0DEF57E1E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Revisit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B825575-8371-084D-D9DD-7E8F23ECB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8" y="1047750"/>
            <a:ext cx="10950575" cy="50625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7055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</a:p>
        </p:txBody>
      </p:sp>
      <p:pic>
        <p:nvPicPr>
          <p:cNvPr id="9" name="Picture 8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967AC669-DA44-5096-B865-FAFB61A9F3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17E443-6322-CB9D-C2E2-88BE255BC8DC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9591760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E3DC6-66B7-D4F2-C0D1-EACFDA80B4DB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  <a:solidFill>
            <a:srgbClr val="B1B1FF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A9BCBEF-728D-E808-0931-F69097E39D1F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1A29F1-1F58-E0F2-B827-D684ECB916D5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32" name="Rectangle: Top Corners Rounded 71">
                <a:extLst>
                  <a:ext uri="{FF2B5EF4-FFF2-40B4-BE49-F238E27FC236}">
                    <a16:creationId xmlns:a16="http://schemas.microsoft.com/office/drawing/2014/main" id="{3E159E34-00D2-CA34-C9C7-3CB27FC5F2BE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3" name="Rectangle: Top Corners Rounded 72">
                <a:extLst>
                  <a:ext uri="{FF2B5EF4-FFF2-40B4-BE49-F238E27FC236}">
                    <a16:creationId xmlns:a16="http://schemas.microsoft.com/office/drawing/2014/main" id="{2A418118-CC77-1C03-91ED-3D25A70B46C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4" name="Rectangle: Top Corners Rounded 73">
                <a:extLst>
                  <a:ext uri="{FF2B5EF4-FFF2-40B4-BE49-F238E27FC236}">
                    <a16:creationId xmlns:a16="http://schemas.microsoft.com/office/drawing/2014/main" id="{660946A8-B758-C3DC-A376-30F28E6F23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4FD205B-5877-364A-9FD7-7CE1600ED158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8285FC4-FE2A-2D40-9D44-7E07EB2D79D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8" name="Rectangle: Top Corners Rounded 76">
                <a:extLst>
                  <a:ext uri="{FF2B5EF4-FFF2-40B4-BE49-F238E27FC236}">
                    <a16:creationId xmlns:a16="http://schemas.microsoft.com/office/drawing/2014/main" id="{8D6769BE-9839-CF96-B5C1-D95CF32A732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9" name="Rectangle: Top Corners Rounded 77">
                <a:extLst>
                  <a:ext uri="{FF2B5EF4-FFF2-40B4-BE49-F238E27FC236}">
                    <a16:creationId xmlns:a16="http://schemas.microsoft.com/office/drawing/2014/main" id="{3857F63F-DFFB-0DAF-6203-41FDE458CC1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30" name="Rectangle: Top Corners Rounded 78">
                <a:extLst>
                  <a:ext uri="{FF2B5EF4-FFF2-40B4-BE49-F238E27FC236}">
                    <a16:creationId xmlns:a16="http://schemas.microsoft.com/office/drawing/2014/main" id="{0B2436B1-8880-9197-460C-EEFCBB9EBB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7D84915-193B-C838-12BA-CB116120F3FD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7E58F6A-9239-0FC0-400D-F80620565C87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4" name="Rectangle: Top Corners Rounded 81">
                <a:extLst>
                  <a:ext uri="{FF2B5EF4-FFF2-40B4-BE49-F238E27FC236}">
                    <a16:creationId xmlns:a16="http://schemas.microsoft.com/office/drawing/2014/main" id="{C979471E-8A23-684E-376F-0EF799013AA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5" name="Rectangle: Top Corners Rounded 82">
                <a:extLst>
                  <a:ext uri="{FF2B5EF4-FFF2-40B4-BE49-F238E27FC236}">
                    <a16:creationId xmlns:a16="http://schemas.microsoft.com/office/drawing/2014/main" id="{1598DB8C-84B5-974C-362A-7FE9315016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6" name="Rectangle: Top Corners Rounded 83">
                <a:extLst>
                  <a:ext uri="{FF2B5EF4-FFF2-40B4-BE49-F238E27FC236}">
                    <a16:creationId xmlns:a16="http://schemas.microsoft.com/office/drawing/2014/main" id="{1D7DA501-458D-8FCE-183D-8B03E84D223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CA7716-D77F-3DBD-FB50-5F903E5F4D15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  <a:grpFill/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B8B56D-7CC5-D6E1-392C-593904645B22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21" name="Rectangle: Top Corners Rounded 86">
                <a:extLst>
                  <a:ext uri="{FF2B5EF4-FFF2-40B4-BE49-F238E27FC236}">
                    <a16:creationId xmlns:a16="http://schemas.microsoft.com/office/drawing/2014/main" id="{C0E2ECE4-4218-E7B7-F28A-87EA452AABDC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  <p:sp>
            <p:nvSpPr>
              <p:cNvPr id="22" name="Rectangle: Top Corners Rounded 87">
                <a:extLst>
                  <a:ext uri="{FF2B5EF4-FFF2-40B4-BE49-F238E27FC236}">
                    <a16:creationId xmlns:a16="http://schemas.microsoft.com/office/drawing/2014/main" id="{9DE23A4B-1625-9326-7D0C-E41D5F34B5D2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3DB581-5603-13E5-AA4C-2807828EF9CB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  <a:grpFill/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E5E1D8-4B43-563F-D29D-77A1A42D4CB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Sassoon Infant Rg" panose="02000503030000020003" pitchFamily="2" charset="0"/>
                  <a:cs typeface="+mn-cs"/>
                </a:endParaRPr>
              </a:p>
            </p:txBody>
          </p:sp>
          <p:sp>
            <p:nvSpPr>
              <p:cNvPr id="19" name="Rectangle: Top Corners Rounded 91">
                <a:extLst>
                  <a:ext uri="{FF2B5EF4-FFF2-40B4-BE49-F238E27FC236}">
                    <a16:creationId xmlns:a16="http://schemas.microsoft.com/office/drawing/2014/main" id="{2F90A077-200B-01E2-D697-3A0684D025C2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winkl Cursive Looped" panose="02000000000000000000" pitchFamily="2" charset="77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65853A-435B-6C0B-78D2-52D344E6E905}"/>
              </a:ext>
            </a:extLst>
          </p:cNvPr>
          <p:cNvSpPr txBox="1"/>
          <p:nvPr userDrawn="1"/>
        </p:nvSpPr>
        <p:spPr>
          <a:xfrm>
            <a:off x="93534" y="1894865"/>
            <a:ext cx="32055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Sustainability is about the environment and whether it can continue to support humans and the lives of other living creatures in the future.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4801E2F-605B-6715-F377-B8ADE2F32855}"/>
              </a:ext>
            </a:extLst>
          </p:cNvPr>
          <p:cNvSpPr txBox="1"/>
          <p:nvPr userDrawn="1"/>
        </p:nvSpPr>
        <p:spPr>
          <a:xfrm>
            <a:off x="85221" y="3079842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It involves the interaction between physical and human environments and the effect they have on each other. 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E839CC3-866D-DAC4-AA75-A829A239DB46}"/>
              </a:ext>
            </a:extLst>
          </p:cNvPr>
          <p:cNvSpPr txBox="1"/>
          <p:nvPr userDrawn="1"/>
        </p:nvSpPr>
        <p:spPr>
          <a:xfrm>
            <a:off x="85221" y="4044121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When we are Being a Geographer, we think about what is natural and what is man-made in our environment, and how we can live more sustainably.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62B3F-B24C-7A75-519B-05332E2D5F60}"/>
              </a:ext>
            </a:extLst>
          </p:cNvPr>
          <p:cNvGrpSpPr/>
          <p:nvPr userDrawn="1"/>
        </p:nvGrpSpPr>
        <p:grpSpPr>
          <a:xfrm>
            <a:off x="3521878" y="3693438"/>
            <a:ext cx="8311989" cy="926097"/>
            <a:chOff x="3464951" y="3693438"/>
            <a:chExt cx="8311989" cy="92609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6FF2D-0A1A-B277-069D-332B2323A220}"/>
                </a:ext>
              </a:extLst>
            </p:cNvPr>
            <p:cNvGrpSpPr/>
            <p:nvPr/>
          </p:nvGrpSpPr>
          <p:grpSpPr>
            <a:xfrm>
              <a:off x="3464951" y="3693438"/>
              <a:ext cx="8311989" cy="926097"/>
              <a:chOff x="3507503" y="3693728"/>
              <a:chExt cx="8311989" cy="92609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D2D617E-E09E-B15C-5BA8-0FEDD315C7BB}"/>
                  </a:ext>
                </a:extLst>
              </p:cNvPr>
              <p:cNvGrpSpPr/>
              <p:nvPr/>
            </p:nvGrpSpPr>
            <p:grpSpPr>
              <a:xfrm>
                <a:off x="3507503" y="3693728"/>
                <a:ext cx="8311989" cy="926097"/>
                <a:chOff x="3507503" y="3693728"/>
                <a:chExt cx="8311989" cy="92609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E11128B-D333-FDC5-2CD2-67B2D2101231}"/>
                    </a:ext>
                  </a:extLst>
                </p:cNvPr>
                <p:cNvGrpSpPr/>
                <p:nvPr/>
              </p:nvGrpSpPr>
              <p:grpSpPr>
                <a:xfrm>
                  <a:off x="3518855" y="3719825"/>
                  <a:ext cx="8300637" cy="900000"/>
                  <a:chOff x="3996278" y="1747524"/>
                  <a:chExt cx="1713901" cy="2824471"/>
                </a:xfrm>
              </p:grpSpPr>
              <p:sp>
                <p:nvSpPr>
                  <p:cNvPr id="100" name="Rectangle: Rounded Corners 12">
                    <a:extLst>
                      <a:ext uri="{FF2B5EF4-FFF2-40B4-BE49-F238E27FC236}">
                        <a16:creationId xmlns:a16="http://schemas.microsoft.com/office/drawing/2014/main" id="{7DB0B7F2-89F9-C136-7D06-593FD33F050E}"/>
                      </a:ext>
                    </a:extLst>
                  </p:cNvPr>
                  <p:cNvSpPr/>
                  <p:nvPr/>
                </p:nvSpPr>
                <p:spPr>
                  <a:xfrm>
                    <a:off x="3996278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1" name="Rectangle: Rounded Corners 4">
                    <a:extLst>
                      <a:ext uri="{FF2B5EF4-FFF2-40B4-BE49-F238E27FC236}">
                        <a16:creationId xmlns:a16="http://schemas.microsoft.com/office/drawing/2014/main" id="{E176FD70-2633-7D23-07A2-B3EE2D05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5183ACA2-B1AC-970B-A8A2-A01135DC3DFF}"/>
                    </a:ext>
                  </a:extLst>
                </p:cNvPr>
                <p:cNvGrpSpPr/>
                <p:nvPr/>
              </p:nvGrpSpPr>
              <p:grpSpPr>
                <a:xfrm>
                  <a:off x="3507503" y="3693728"/>
                  <a:ext cx="801261" cy="903352"/>
                  <a:chOff x="4389349" y="450020"/>
                  <a:chExt cx="801261" cy="903352"/>
                </a:xfrm>
              </p:grpSpPr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5ADA602A-39E5-CF61-8567-4FD5E832DC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89349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30F00F44-F494-704A-8544-7968DA0A6C01}"/>
                      </a:ext>
                    </a:extLst>
                  </p:cNvPr>
                  <p:cNvSpPr txBox="1"/>
                  <p:nvPr/>
                </p:nvSpPr>
                <p:spPr>
                  <a:xfrm>
                    <a:off x="4631284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CD40ED-E8A2-4783-5657-AFB823604F7E}"/>
                  </a:ext>
                </a:extLst>
              </p:cNvPr>
              <p:cNvSpPr txBox="1"/>
              <p:nvPr/>
            </p:nvSpPr>
            <p:spPr>
              <a:xfrm>
                <a:off x="4378390" y="4015936"/>
                <a:ext cx="2299228" cy="307777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Mediterranean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2F746C-88BC-706F-10DD-B1A1F6C82C2E}"/>
                </a:ext>
              </a:extLst>
            </p:cNvPr>
            <p:cNvSpPr txBox="1"/>
            <p:nvPr/>
          </p:nvSpPr>
          <p:spPr>
            <a:xfrm>
              <a:off x="6767704" y="3802386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activity affects habitats around the world. I can explain how people’s choices can protect the environment for the future. 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42D110-9A5B-663B-FEA4-631B55E60E03}"/>
              </a:ext>
            </a:extLst>
          </p:cNvPr>
          <p:cNvGrpSpPr/>
          <p:nvPr userDrawn="1"/>
        </p:nvGrpSpPr>
        <p:grpSpPr>
          <a:xfrm>
            <a:off x="3508831" y="4718397"/>
            <a:ext cx="8325034" cy="920150"/>
            <a:chOff x="3508831" y="4718397"/>
            <a:chExt cx="8325034" cy="92015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4D2B20E-4846-D613-6022-C7145317AAC8}"/>
                </a:ext>
              </a:extLst>
            </p:cNvPr>
            <p:cNvGrpSpPr/>
            <p:nvPr/>
          </p:nvGrpSpPr>
          <p:grpSpPr>
            <a:xfrm>
              <a:off x="3508831" y="4718397"/>
              <a:ext cx="8325034" cy="920150"/>
              <a:chOff x="3508831" y="4718397"/>
              <a:chExt cx="8325034" cy="92015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304A4915-2CDD-B186-20BA-B9ECB4C09B9C}"/>
                  </a:ext>
                </a:extLst>
              </p:cNvPr>
              <p:cNvGrpSpPr/>
              <p:nvPr/>
            </p:nvGrpSpPr>
            <p:grpSpPr>
              <a:xfrm>
                <a:off x="3508831" y="4718397"/>
                <a:ext cx="8325034" cy="920150"/>
                <a:chOff x="3508831" y="4718397"/>
                <a:chExt cx="8325034" cy="920150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7FC1643A-EC4C-D21B-2CEA-4734B31818B3}"/>
                    </a:ext>
                  </a:extLst>
                </p:cNvPr>
                <p:cNvGrpSpPr/>
                <p:nvPr/>
              </p:nvGrpSpPr>
              <p:grpSpPr>
                <a:xfrm>
                  <a:off x="3518854" y="4738547"/>
                  <a:ext cx="8315011" cy="900000"/>
                  <a:chOff x="1996726" y="1717038"/>
                  <a:chExt cx="1716869" cy="2885442"/>
                </a:xfrm>
              </p:grpSpPr>
              <p:sp>
                <p:nvSpPr>
                  <p:cNvPr id="111" name="Rectangle: Rounded Corners 9">
                    <a:extLst>
                      <a:ext uri="{FF2B5EF4-FFF2-40B4-BE49-F238E27FC236}">
                        <a16:creationId xmlns:a16="http://schemas.microsoft.com/office/drawing/2014/main" id="{5CB4F8EC-E9E2-36F0-97BD-0D215CE3059F}"/>
                      </a:ext>
                    </a:extLst>
                  </p:cNvPr>
                  <p:cNvSpPr/>
                  <p:nvPr/>
                </p:nvSpPr>
                <p:spPr>
                  <a:xfrm>
                    <a:off x="1996726" y="1717038"/>
                    <a:ext cx="1716869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Rectangle: Rounded Corners 4">
                    <a:extLst>
                      <a:ext uri="{FF2B5EF4-FFF2-40B4-BE49-F238E27FC236}">
                        <a16:creationId xmlns:a16="http://schemas.microsoft.com/office/drawing/2014/main" id="{BD6532CE-76D8-7DDE-6583-A25D26ADB0A2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marR="0" lvl="0" indent="0" algn="ctr" defTabSz="1244600" rtl="0" eaLnBrk="1" fontAlgn="auto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20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inkl Cursive Looped" panose="02000000000000000000" pitchFamily="2" charset="77"/>
                      <a:ea typeface="Sassoon Infant Rg" panose="02000503030000020003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0D500DB-0A8D-7EDE-F324-7F5BDB085929}"/>
                    </a:ext>
                  </a:extLst>
                </p:cNvPr>
                <p:cNvGrpSpPr/>
                <p:nvPr/>
              </p:nvGrpSpPr>
              <p:grpSpPr>
                <a:xfrm>
                  <a:off x="3508831" y="4718397"/>
                  <a:ext cx="801261" cy="903352"/>
                  <a:chOff x="4390677" y="450020"/>
                  <a:chExt cx="801261" cy="903352"/>
                </a:xfrm>
              </p:grpSpPr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B37BBF63-092F-9029-650E-47203FFB34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0677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47C8D7FC-5423-A960-F2CE-46BA93B871E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2612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7E904E-24DB-1AD4-7EA6-66F172E2C14E}"/>
                  </a:ext>
                </a:extLst>
              </p:cNvPr>
              <p:cNvSpPr txBox="1"/>
              <p:nvPr/>
            </p:nvSpPr>
            <p:spPr>
              <a:xfrm>
                <a:off x="4392765" y="4929938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Guizhou region, South West China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E1CAB4E-0E4F-5357-B8C0-5346B74046BF}"/>
                </a:ext>
              </a:extLst>
            </p:cNvPr>
            <p:cNvSpPr txBox="1"/>
            <p:nvPr/>
          </p:nvSpPr>
          <p:spPr>
            <a:xfrm>
              <a:off x="6824631" y="4829656"/>
              <a:ext cx="4882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describe how human behaviour can affect the world. I can think of ways that we can help our environment and oceans.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04C43F-9AEF-D70D-7B37-637C049EFCE9}"/>
              </a:ext>
            </a:extLst>
          </p:cNvPr>
          <p:cNvGrpSpPr/>
          <p:nvPr userDrawn="1"/>
        </p:nvGrpSpPr>
        <p:grpSpPr>
          <a:xfrm>
            <a:off x="3508831" y="5762222"/>
            <a:ext cx="8325034" cy="922745"/>
            <a:chOff x="3508831" y="5762222"/>
            <a:chExt cx="8325034" cy="922745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4D10131E-31AA-D59F-FA35-D1120BB096ED}"/>
                </a:ext>
              </a:extLst>
            </p:cNvPr>
            <p:cNvGrpSpPr/>
            <p:nvPr/>
          </p:nvGrpSpPr>
          <p:grpSpPr>
            <a:xfrm>
              <a:off x="3508831" y="5762222"/>
              <a:ext cx="8325034" cy="922745"/>
              <a:chOff x="3552490" y="5836523"/>
              <a:chExt cx="8325034" cy="922745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F6B11EB6-F482-D20C-9EB8-4694307BE643}"/>
                  </a:ext>
                </a:extLst>
              </p:cNvPr>
              <p:cNvGrpSpPr/>
              <p:nvPr/>
            </p:nvGrpSpPr>
            <p:grpSpPr>
              <a:xfrm>
                <a:off x="3552490" y="5836523"/>
                <a:ext cx="8325034" cy="922745"/>
                <a:chOff x="3552490" y="5836523"/>
                <a:chExt cx="8325034" cy="922745"/>
              </a:xfrm>
            </p:grpSpPr>
            <p:sp>
              <p:nvSpPr>
                <p:cNvPr id="118" name="Rectangle: Rounded Corners 3">
                  <a:extLst>
                    <a:ext uri="{FF2B5EF4-FFF2-40B4-BE49-F238E27FC236}">
                      <a16:creationId xmlns:a16="http://schemas.microsoft.com/office/drawing/2014/main" id="{A8683132-44F3-83F7-D73D-1654C9BD4E80}"/>
                    </a:ext>
                  </a:extLst>
                </p:cNvPr>
                <p:cNvSpPr/>
                <p:nvPr/>
              </p:nvSpPr>
              <p:spPr>
                <a:xfrm>
                  <a:off x="3552490" y="5859268"/>
                  <a:ext cx="8325034" cy="900000"/>
                </a:xfrm>
                <a:prstGeom prst="roundRect">
                  <a:avLst/>
                </a:prstGeom>
                <a:solidFill>
                  <a:srgbClr val="F9D2B5"/>
                </a:solidFill>
                <a:ln>
                  <a:solidFill>
                    <a:srgbClr val="F9D2B5"/>
                  </a:solidFill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233C009A-44B9-79EA-5E68-4DDD27E3F3C0}"/>
                    </a:ext>
                  </a:extLst>
                </p:cNvPr>
                <p:cNvGrpSpPr/>
                <p:nvPr/>
              </p:nvGrpSpPr>
              <p:grpSpPr>
                <a:xfrm>
                  <a:off x="3562659" y="5836523"/>
                  <a:ext cx="801261" cy="903352"/>
                  <a:chOff x="4444505" y="551736"/>
                  <a:chExt cx="801261" cy="903352"/>
                </a:xfrm>
              </p:grpSpPr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6BC6DCF5-939A-ECAA-5EE5-5C4879C5E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44505" y="551736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26246DA9-EF4A-7A42-5980-25A548FAA6D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335" y="772579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04B6EE7-C6AF-A812-0BFF-1BEEBAC4D248}"/>
                  </a:ext>
                </a:extLst>
              </p:cNvPr>
              <p:cNvSpPr txBox="1"/>
              <p:nvPr/>
            </p:nvSpPr>
            <p:spPr>
              <a:xfrm>
                <a:off x="4436424" y="6058243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Where I live in the United Kingdom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1254BAB-F777-7F1F-FFA9-A7102160181B}"/>
                </a:ext>
              </a:extLst>
            </p:cNvPr>
            <p:cNvSpPr txBox="1"/>
            <p:nvPr/>
          </p:nvSpPr>
          <p:spPr>
            <a:xfrm>
              <a:off x="6824631" y="5971340"/>
              <a:ext cx="48821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know people and animals share the world. I can explain simple ways of how to look after my environment. 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BBC6348-8F2D-29C2-516F-7B7FB9695EFB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EA996A48-88EA-6263-4D0F-13790E011A8F}"/>
                </a:ext>
              </a:extLst>
            </p:cNvPr>
            <p:cNvGrpSpPr/>
            <p:nvPr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42A913D7-2341-4295-A769-303DE7DAEC09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sp>
              <p:nvSpPr>
                <p:cNvPr id="138" name="Rectangle: Rounded Corners 15">
                  <a:extLst>
                    <a:ext uri="{FF2B5EF4-FFF2-40B4-BE49-F238E27FC236}">
                      <a16:creationId xmlns:a16="http://schemas.microsoft.com/office/drawing/2014/main" id="{FC5C05D4-1170-A456-6F92-DC602BBDC8B8}"/>
                    </a:ext>
                  </a:extLst>
                </p:cNvPr>
                <p:cNvSpPr/>
                <p:nvPr/>
              </p:nvSpPr>
              <p:spPr>
                <a:xfrm>
                  <a:off x="3533229" y="2722725"/>
                  <a:ext cx="8300637" cy="900000"/>
                </a:xfrm>
                <a:prstGeom prst="roundRect">
                  <a:avLst/>
                </a:prstGeom>
                <a:solidFill>
                  <a:srgbClr val="BDD7EF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+mn-ea"/>
                    <a:cs typeface="+mn-cs"/>
                  </a:endParaRPr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867F0A4-B989-987C-07CF-473AA4BA4D62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40" name="Picture 139">
                    <a:extLst>
                      <a:ext uri="{FF2B5EF4-FFF2-40B4-BE49-F238E27FC236}">
                        <a16:creationId xmlns:a16="http://schemas.microsoft.com/office/drawing/2014/main" id="{FA326AB0-6806-6C08-F96A-9F8999FA3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BC80C0CB-3842-9A67-A8B5-1D9353CB9B03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inkl Cursive Looped" panose="02000000000000000000" pitchFamily="2" charset="77"/>
                        <a:ea typeface="Sassoon Infant Rg" panose="02000503030000020003" pitchFamily="2" charset="0"/>
                        <a:cs typeface="+mn-cs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24F4F00-A848-2996-B368-44F7F6416503}"/>
                  </a:ext>
                </a:extLst>
              </p:cNvPr>
              <p:cNvSpPr txBox="1"/>
              <p:nvPr/>
            </p:nvSpPr>
            <p:spPr>
              <a:xfrm>
                <a:off x="4392765" y="2911115"/>
                <a:ext cx="2299228" cy="523220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winkl Cursive Looped" panose="02000000000000000000" pitchFamily="2" charset="77"/>
                    <a:ea typeface="Sassoon Infant Rg" panose="02000503030000020003" pitchFamily="2" charset="0"/>
                    <a:cs typeface="+mn-cs"/>
                  </a:rPr>
                  <a:t>Peru or Brazil in South America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11D1384-2FD0-B0DF-AA64-937986C8BE24}"/>
                </a:ext>
              </a:extLst>
            </p:cNvPr>
            <p:cNvSpPr txBox="1"/>
            <p:nvPr/>
          </p:nvSpPr>
          <p:spPr>
            <a:xfrm>
              <a:off x="6824631" y="2800137"/>
              <a:ext cx="488210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400" b="0" i="0">
                  <a:solidFill>
                    <a:prstClr val="black"/>
                  </a:solidFill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can use maps to find the equator, tropics and hemispheres. I can describe and contrast the physical geography of South America.</a:t>
              </a:r>
              <a:endPara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endParaRPr>
            </a:p>
          </p:txBody>
        </p:sp>
      </p:grpSp>
      <p:pic>
        <p:nvPicPr>
          <p:cNvPr id="35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268B894-20C9-9A18-D1E3-AC3DFD82BA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5490982-16A9-FBB6-A35F-113DAB2438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76B55A1-CA27-B16C-8F6D-1AA02AA18D02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Environmental impact 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15699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87" grpId="0"/>
      <p:bldP spid="188" grpId="0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EEC3E4FE-C4C8-0CD5-73D5-8F95A599A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D4322BA7-DA94-FDFE-7A7B-D5438A148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C57756-EBCF-A581-82CD-558554934C04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221082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252727"/>
            <a:ext cx="10515600" cy="587374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33" name="Picture 3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D543666C-A10F-2BF0-F787-B3A0D5E5F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b="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B1B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CC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" name="Picture 17">
            <a:extLst>
              <a:ext uri="{FF2B5EF4-FFF2-40B4-BE49-F238E27FC236}">
                <a16:creationId xmlns:a16="http://schemas.microsoft.com/office/drawing/2014/main" id="{000648E7-97B9-D1D3-490C-AAF2E3A785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420A20-0427-FEBB-94F6-C4193F5D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73834"/>
            <a:ext cx="11685495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27FA49-916F-6379-73AB-F81F90D63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34334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6BBF9FDF-75DA-CFF3-BA62-2E74EDB80D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3229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619" y="119675"/>
            <a:ext cx="1569326" cy="773914"/>
          </a:xfrm>
          <a:prstGeom prst="rect">
            <a:avLst/>
          </a:prstGeom>
        </p:spPr>
      </p:pic>
      <p:pic>
        <p:nvPicPr>
          <p:cNvPr id="6" name="Picture 5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856FEE9A-7A4C-C146-9F2C-AA95D12B1B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47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  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957987D4-A06A-C5CB-651A-0BE75EF416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0509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A2D6B0-18BA-C1F5-A3CF-A118B5D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42BF2B-5700-B0C0-6B69-6699F0F4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CC49C281-BFEE-C448-05E7-67F0CFEF13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597" y="120460"/>
            <a:ext cx="1691510" cy="696504"/>
          </a:xfrm>
          <a:prstGeom prst="rect">
            <a:avLst/>
          </a:prstGeom>
        </p:spPr>
      </p:pic>
      <p:pic>
        <p:nvPicPr>
          <p:cNvPr id="9" name="Picture 8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AB3E5AEB-4433-9811-BFB5-67A78BBCA8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842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  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5FA9E67-03AE-A0EB-2281-F2B5FE675D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798194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706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E72BF2-714C-76F4-6A58-17F40DFEF7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5F0A78-D5AE-CB62-29C5-35C7F865A8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031ACE-7831-808D-C669-16B459A25B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3537C9-7B97-3CC6-FC81-B8EBE36237E0}"/>
              </a:ext>
            </a:extLst>
          </p:cNvPr>
          <p:cNvSpPr txBox="1"/>
          <p:nvPr userDrawn="1"/>
        </p:nvSpPr>
        <p:spPr>
          <a:xfrm>
            <a:off x="331625" y="1936003"/>
            <a:ext cx="3925823" cy="919401"/>
          </a:xfrm>
          <a:prstGeom prst="wedgeRoundRectCallout">
            <a:avLst>
              <a:gd name="adj1" fmla="val -17964"/>
              <a:gd name="adj2" fmla="val 104608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Today I found my learning challenging so I…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B9ECF-D6F4-8A44-E877-054A66CC97BD}"/>
              </a:ext>
            </a:extLst>
          </p:cNvPr>
          <p:cNvSpPr txBox="1"/>
          <p:nvPr userDrawn="1"/>
        </p:nvSpPr>
        <p:spPr>
          <a:xfrm>
            <a:off x="4804868" y="1936003"/>
            <a:ext cx="2938272" cy="919401"/>
          </a:xfrm>
          <a:prstGeom prst="wedgeRoundRectCallout">
            <a:avLst>
              <a:gd name="adj1" fmla="val -10874"/>
              <a:gd name="adj2" fmla="val 14869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During our learning I found …. easy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64BEF-400B-F6C0-2039-055D50477C4C}"/>
              </a:ext>
            </a:extLst>
          </p:cNvPr>
          <p:cNvSpPr txBox="1"/>
          <p:nvPr userDrawn="1"/>
        </p:nvSpPr>
        <p:spPr>
          <a:xfrm>
            <a:off x="8290560" y="1941004"/>
            <a:ext cx="3645408" cy="919401"/>
          </a:xfrm>
          <a:prstGeom prst="wedgeRoundRectCallout">
            <a:avLst>
              <a:gd name="adj1" fmla="val -2104"/>
              <a:gd name="adj2" fmla="val 13808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0" i="0">
                <a:latin typeface="Twinkl Cursive Looped" panose="02000000000000000000" pitchFamily="2" charset="77"/>
              </a:rPr>
              <a:t>In my learning I felt confidence because…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</p:spTree>
    <p:extLst>
      <p:ext uri="{BB962C8B-B14F-4D97-AF65-F5344CB8AC3E}">
        <p14:creationId xmlns:p14="http://schemas.microsoft.com/office/powerpoint/2010/main" val="219113093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Review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55567AC-20B5-F7C4-4120-D47ED346C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pic>
        <p:nvPicPr>
          <p:cNvPr id="12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821676A-16DE-0EA5-2A23-1A2DCE62D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65;p1">
            <a:extLst>
              <a:ext uri="{FF2B5EF4-FFF2-40B4-BE49-F238E27FC236}">
                <a16:creationId xmlns:a16="http://schemas.microsoft.com/office/drawing/2014/main" id="{A200618B-DE41-97A3-47BD-4B17F9BBAECD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665456" y="456723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;p1">
            <a:extLst>
              <a:ext uri="{FF2B5EF4-FFF2-40B4-BE49-F238E27FC236}">
                <a16:creationId xmlns:a16="http://schemas.microsoft.com/office/drawing/2014/main" id="{587B6B17-3657-E981-AFEE-86E0340C3E8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8134998" y="510203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1192C9-2A8B-250D-E7E8-20FBD8C52A6E}"/>
              </a:ext>
            </a:extLst>
          </p:cNvPr>
          <p:cNvGrpSpPr/>
          <p:nvPr userDrawn="1"/>
        </p:nvGrpSpPr>
        <p:grpSpPr>
          <a:xfrm>
            <a:off x="6881879" y="457773"/>
            <a:ext cx="1185106" cy="1185106"/>
            <a:chOff x="4333587" y="1203131"/>
            <a:chExt cx="1185106" cy="1185106"/>
          </a:xfrm>
        </p:grpSpPr>
        <p:sp>
          <p:nvSpPr>
            <p:cNvPr id="7" name="Google Shape;68;p1">
              <a:extLst>
                <a:ext uri="{FF2B5EF4-FFF2-40B4-BE49-F238E27FC236}">
                  <a16:creationId xmlns:a16="http://schemas.microsoft.com/office/drawing/2014/main" id="{E454BB4E-6EAE-F0D4-4935-10DD7644B9DF}"/>
                </a:ext>
              </a:extLst>
            </p:cNvPr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69;p1">
              <a:extLst>
                <a:ext uri="{FF2B5EF4-FFF2-40B4-BE49-F238E27FC236}">
                  <a16:creationId xmlns:a16="http://schemas.microsoft.com/office/drawing/2014/main" id="{063D3CD5-027F-A6BB-C6B1-A63BA192F1D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0;p1">
              <a:extLst>
                <a:ext uri="{FF2B5EF4-FFF2-40B4-BE49-F238E27FC236}">
                  <a16:creationId xmlns:a16="http://schemas.microsoft.com/office/drawing/2014/main" id="{2C94E003-EE48-9DF8-4D9E-E313BF203305}"/>
                </a:ext>
              </a:extLst>
            </p:cNvPr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1;p1">
              <a:extLst>
                <a:ext uri="{FF2B5EF4-FFF2-40B4-BE49-F238E27FC236}">
                  <a16:creationId xmlns:a16="http://schemas.microsoft.com/office/drawing/2014/main" id="{85C84200-017D-67B0-98FF-FD9A8940589E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72;p1">
              <a:extLst>
                <a:ext uri="{FF2B5EF4-FFF2-40B4-BE49-F238E27FC236}">
                  <a16:creationId xmlns:a16="http://schemas.microsoft.com/office/drawing/2014/main" id="{469AA09C-BDEC-4A64-5E44-D17DC63CB7FD}"/>
                </a:ext>
              </a:extLst>
            </p:cNvPr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3;p1">
              <a:extLst>
                <a:ext uri="{FF2B5EF4-FFF2-40B4-BE49-F238E27FC236}">
                  <a16:creationId xmlns:a16="http://schemas.microsoft.com/office/drawing/2014/main" id="{A0BD0169-5F6D-524E-5B63-3526635D9C36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;p1">
              <a:extLst>
                <a:ext uri="{FF2B5EF4-FFF2-40B4-BE49-F238E27FC236}">
                  <a16:creationId xmlns:a16="http://schemas.microsoft.com/office/drawing/2014/main" id="{A78FF751-919A-866D-47E3-B64BC72B8693}"/>
                </a:ext>
              </a:extLst>
            </p:cNvPr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Google Shape;75;p1">
              <a:extLst>
                <a:ext uri="{FF2B5EF4-FFF2-40B4-BE49-F238E27FC236}">
                  <a16:creationId xmlns:a16="http://schemas.microsoft.com/office/drawing/2014/main" id="{B56EFC80-164C-0065-2B96-24A0D0A180A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76;p1">
              <a:extLst>
                <a:ext uri="{FF2B5EF4-FFF2-40B4-BE49-F238E27FC236}">
                  <a16:creationId xmlns:a16="http://schemas.microsoft.com/office/drawing/2014/main" id="{576A31B1-BF32-AB67-4738-CE3F55B3CC9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77;p1">
              <a:extLst>
                <a:ext uri="{FF2B5EF4-FFF2-40B4-BE49-F238E27FC236}">
                  <a16:creationId xmlns:a16="http://schemas.microsoft.com/office/drawing/2014/main" id="{FE2DC321-990E-E6C8-37A2-FCA7A0542BD8}"/>
                </a:ext>
              </a:extLst>
            </p:cNvPr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8;p1">
              <a:extLst>
                <a:ext uri="{FF2B5EF4-FFF2-40B4-BE49-F238E27FC236}">
                  <a16:creationId xmlns:a16="http://schemas.microsoft.com/office/drawing/2014/main" id="{F818DC8D-521D-9676-09B4-29091635A364}"/>
                </a:ext>
              </a:extLst>
            </p:cNvPr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9;p1">
              <a:extLst>
                <a:ext uri="{FF2B5EF4-FFF2-40B4-BE49-F238E27FC236}">
                  <a16:creationId xmlns:a16="http://schemas.microsoft.com/office/drawing/2014/main" id="{7B0B539E-9731-998B-1EDC-0C5D234EF608}"/>
                </a:ext>
              </a:extLst>
            </p:cNvPr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80;p1">
              <a:extLst>
                <a:ext uri="{FF2B5EF4-FFF2-40B4-BE49-F238E27FC236}">
                  <a16:creationId xmlns:a16="http://schemas.microsoft.com/office/drawing/2014/main" id="{C6BCF8AD-8FB4-E6AA-11B9-2E5789BC7DD7}"/>
                </a:ext>
              </a:extLst>
            </p:cNvPr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81;p1">
              <a:extLst>
                <a:ext uri="{FF2B5EF4-FFF2-40B4-BE49-F238E27FC236}">
                  <a16:creationId xmlns:a16="http://schemas.microsoft.com/office/drawing/2014/main" id="{7692F46B-6FA7-6985-161C-CFC8F1C5B6E0}"/>
                </a:ext>
              </a:extLst>
            </p:cNvPr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2;p1">
              <a:extLst>
                <a:ext uri="{FF2B5EF4-FFF2-40B4-BE49-F238E27FC236}">
                  <a16:creationId xmlns:a16="http://schemas.microsoft.com/office/drawing/2014/main" id="{C83153AB-9229-C542-D880-AA337526F47A}"/>
                </a:ext>
              </a:extLst>
            </p:cNvPr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 b="0" i="0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83;p1">
            <a:extLst>
              <a:ext uri="{FF2B5EF4-FFF2-40B4-BE49-F238E27FC236}">
                <a16:creationId xmlns:a16="http://schemas.microsoft.com/office/drawing/2014/main" id="{97D45DE2-E5E8-532F-CFA4-4984B0308EC7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9391763" y="457789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C0E3CBA9-9A7C-9AF6-33D3-4E6DC9B751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F742F4E-A61D-2477-A2F0-A890F91B562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b="14477"/>
          <a:stretch>
            <a:fillRect/>
          </a:stretch>
        </p:blipFill>
        <p:spPr>
          <a:xfrm>
            <a:off x="38905" y="985653"/>
            <a:ext cx="998866" cy="8542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C5C6429-E930-A525-0A0A-8A17C6F2BAFE}"/>
              </a:ext>
            </a:extLst>
          </p:cNvPr>
          <p:cNvSpPr txBox="1"/>
          <p:nvPr userDrawn="1"/>
        </p:nvSpPr>
        <p:spPr>
          <a:xfrm>
            <a:off x="891753" y="116654"/>
            <a:ext cx="9615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Learning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3ABA-2E28-20F3-21C8-C6D213F54C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3043024"/>
            <a:ext cx="2239115" cy="27462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326CD2-ADCC-7E76-89DE-BC13046C4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612590E-3C17-F676-4D10-1008049D02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3020259"/>
            <a:ext cx="2098966" cy="305882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9CD1FD-0FA0-D21D-D1F0-64BDB53C1C77}"/>
              </a:ext>
            </a:extLst>
          </p:cNvPr>
          <p:cNvSpPr txBox="1"/>
          <p:nvPr userDrawn="1"/>
        </p:nvSpPr>
        <p:spPr>
          <a:xfrm>
            <a:off x="331626" y="1936003"/>
            <a:ext cx="3569816" cy="1328023"/>
          </a:xfrm>
          <a:prstGeom prst="wedgeRoundRectCallout">
            <a:avLst>
              <a:gd name="adj1" fmla="val -14004"/>
              <a:gd name="adj2" fmla="val 72935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EA24D-55B0-8144-AA39-968CC2FDB519}"/>
              </a:ext>
            </a:extLst>
          </p:cNvPr>
          <p:cNvSpPr txBox="1"/>
          <p:nvPr userDrawn="1"/>
        </p:nvSpPr>
        <p:spPr>
          <a:xfrm>
            <a:off x="4355027" y="1925372"/>
            <a:ext cx="3569815" cy="1338654"/>
          </a:xfrm>
          <a:prstGeom prst="wedgeRoundRectCallout">
            <a:avLst>
              <a:gd name="adj1" fmla="val -10589"/>
              <a:gd name="adj2" fmla="val 93290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E2A5F2-A79A-546A-3141-7274CF067AEF}"/>
              </a:ext>
            </a:extLst>
          </p:cNvPr>
          <p:cNvSpPr txBox="1"/>
          <p:nvPr userDrawn="1"/>
        </p:nvSpPr>
        <p:spPr>
          <a:xfrm>
            <a:off x="8290559" y="1930687"/>
            <a:ext cx="3569815" cy="1328023"/>
          </a:xfrm>
          <a:prstGeom prst="wedgeRoundRectCallout">
            <a:avLst>
              <a:gd name="adj1" fmla="val -7796"/>
              <a:gd name="adj2" fmla="val 9524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  <a:p>
            <a:endParaRPr lang="en-US" sz="2400" b="0" i="0" dirty="0">
              <a:latin typeface="Twinkl Cursive Looped" panose="02000000000000000000" pitchFamily="2" charset="77"/>
            </a:endParaRP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7B76A4C4-2BF9-6349-E000-2E819614C2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910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7B60BF0-4537-D3E5-640C-003C735C4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24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66E2C34-794D-A693-366B-C959F7B505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4060" y="2052638"/>
            <a:ext cx="3370263" cy="1096962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Insert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9328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Callout 5">
            <a:extLst>
              <a:ext uri="{FF2B5EF4-FFF2-40B4-BE49-F238E27FC236}">
                <a16:creationId xmlns:a16="http://schemas.microsoft.com/office/drawing/2014/main" id="{A768AC55-9169-CD12-DE1E-DD3AE6B6949A}"/>
              </a:ext>
            </a:extLst>
          </p:cNvPr>
          <p:cNvSpPr/>
          <p:nvPr userDrawn="1"/>
        </p:nvSpPr>
        <p:spPr>
          <a:xfrm>
            <a:off x="8590283" y="1810499"/>
            <a:ext cx="311167" cy="232315"/>
          </a:xfrm>
          <a:prstGeom prst="wedgeEllipseCallout">
            <a:avLst>
              <a:gd name="adj1" fmla="val -30467"/>
              <a:gd name="adj2" fmla="val 7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362B2-CBA8-FC87-AB4B-C119CAAD3D12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6BFA09-C2E0-9EDD-C5AF-A084C1D2E62A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"/>
            <a:ext cx="0" cy="22002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3CD5E5-7A63-84D8-216D-6206001D4352}"/>
              </a:ext>
            </a:extLst>
          </p:cNvPr>
          <p:cNvSpPr/>
          <p:nvPr userDrawn="1"/>
        </p:nvSpPr>
        <p:spPr>
          <a:xfrm>
            <a:off x="5295900" y="2647951"/>
            <a:ext cx="1600200" cy="1638300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949BE8-1DF1-3976-E62D-C362A69DFA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6" b="91293" l="8707" r="90237">
                        <a14:foregroundMark x1="24274" y1="18734" x2="24274" y2="18734"/>
                        <a14:foregroundMark x1="47757" y1="8443" x2="47757" y2="8443"/>
                        <a14:foregroundMark x1="73615" y1="19789" x2="73615" y2="19789"/>
                        <a14:foregroundMark x1="90765" y1="48549" x2="90765" y2="48549"/>
                        <a14:foregroundMark x1="80475" y1="79420" x2="80475" y2="79420"/>
                        <a14:foregroundMark x1="53826" y1="91293" x2="53826" y2="91293"/>
                        <a14:foregroundMark x1="21900" y1="82058" x2="21900" y2="82058"/>
                        <a14:foregroundMark x1="8707" y1="47757" x2="8707" y2="477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2101" y="2724151"/>
            <a:ext cx="1504951" cy="150495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73ABCC3-9C74-F6C7-ACE2-3C6579FF949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9802"/>
          <a:stretch/>
        </p:blipFill>
        <p:spPr>
          <a:xfrm>
            <a:off x="8622691" y="1179808"/>
            <a:ext cx="542923" cy="5487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CC88F8-4644-526F-4F11-DDCE2E4B68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0473" y1="61836" x2="50473" y2="618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73096" y="1175643"/>
            <a:ext cx="757163" cy="494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4A703-D40F-6C9F-D411-31A1B97CEB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22" b="95101" l="9320" r="91940">
                        <a14:foregroundMark x1="22418" y1="13545" x2="22418" y2="13545"/>
                        <a14:foregroundMark x1="41814" y1="15562" x2="41814" y2="15562"/>
                        <a14:foregroundMark x1="66247" y1="13545" x2="66247" y2="13545"/>
                        <a14:foregroundMark x1="92443" y1="19597" x2="92443" y2="19597"/>
                        <a14:foregroundMark x1="12091" y1="37464" x2="12091" y2="37464"/>
                        <a14:foregroundMark x1="20907" y1="46686" x2="20907" y2="46686"/>
                        <a14:foregroundMark x1="23174" y1="55331" x2="23174" y2="55331"/>
                        <a14:foregroundMark x1="23678" y1="65130" x2="23678" y2="65130"/>
                        <a14:foregroundMark x1="24181" y1="74063" x2="24181" y2="74063"/>
                        <a14:foregroundMark x1="48866" y1="95101" x2="48866" y2="95101"/>
                        <a14:foregroundMark x1="9320" y1="58213" x2="9320" y2="582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116114"/>
            <a:ext cx="844555" cy="73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C7B50D-C903-4859-1D5E-CE5CB6EF67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50" b="94250" l="6107" r="94148">
                        <a14:foregroundMark x1="9415" y1="9750" x2="9415" y2="9750"/>
                        <a14:foregroundMark x1="74300" y1="9750" x2="74300" y2="9750"/>
                        <a14:foregroundMark x1="94148" y1="25500" x2="94148" y2="25500"/>
                        <a14:foregroundMark x1="6361" y1="24750" x2="6361" y2="24750"/>
                        <a14:foregroundMark x1="54198" y1="94250" x2="54198" y2="94250"/>
                        <a14:foregroundMark x1="65140" y1="62500" x2="65140" y2="62500"/>
                        <a14:foregroundMark x1="48092" y1="52500" x2="48092" y2="52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9063" y="3476626"/>
            <a:ext cx="636365" cy="647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B67A7D-BAF3-39CA-92C1-F05C8FF50C2D}"/>
              </a:ext>
            </a:extLst>
          </p:cNvPr>
          <p:cNvSpPr txBox="1"/>
          <p:nvPr userDrawn="1"/>
        </p:nvSpPr>
        <p:spPr>
          <a:xfrm rot="16200000">
            <a:off x="5278050" y="2222012"/>
            <a:ext cx="1673759" cy="2169993"/>
          </a:xfrm>
          <a:prstGeom prst="rect">
            <a:avLst/>
          </a:prstGeom>
          <a:noFill/>
        </p:spPr>
        <p:txBody>
          <a:bodyPr wrap="square" rtlCol="0">
            <a:prstTxWarp prst="textCircle">
              <a:avLst>
                <a:gd name="adj" fmla="val 11263557"/>
              </a:avLst>
            </a:prstTxWarp>
            <a:spAutoFit/>
          </a:bodyPr>
          <a:lstStyle/>
          <a:p>
            <a:pPr algn="ctr"/>
            <a:r>
              <a:rPr lang="en-GB" sz="20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Watering Hole</a:t>
            </a:r>
            <a:r>
              <a:rPr lang="en-GB" sz="2000" b="0" i="0">
                <a:solidFill>
                  <a:srgbClr val="0070C0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CDB15-A18F-761C-9D70-5D498C4B281B}"/>
              </a:ext>
            </a:extLst>
          </p:cNvPr>
          <p:cNvSpPr/>
          <p:nvPr userDrawn="1"/>
        </p:nvSpPr>
        <p:spPr>
          <a:xfrm rot="-180000">
            <a:off x="5010272" y="2703555"/>
            <a:ext cx="2190749" cy="1847848"/>
          </a:xfrm>
          <a:prstGeom prst="rect">
            <a:avLst/>
          </a:prstGeom>
          <a:noFill/>
        </p:spPr>
        <p:txBody>
          <a:bodyPr spcFirstLastPara="1" wrap="none" lIns="91440" tIns="45720" rIns="91440" bIns="45720" numCol="1">
            <a:prstTxWarp prst="textArchDown">
              <a:avLst>
                <a:gd name="adj" fmla="val 18174041"/>
              </a:avLst>
            </a:prstTxWarp>
            <a:spAutoFit/>
          </a:bodyPr>
          <a:lstStyle/>
          <a:p>
            <a:pPr algn="ctr"/>
            <a:r>
              <a:rPr lang="en-GB" sz="2000" b="0" i="0">
                <a:ln w="22225">
                  <a:noFill/>
                  <a:prstDash val="solid"/>
                </a:ln>
                <a:latin typeface="Twinkl Cursive Looped" panose="02000000000000000000" pitchFamily="2" charset="77"/>
                <a:ea typeface="Sassoon Infant Rg" panose="02000503030000020003" pitchFamily="2" charset="0"/>
              </a:rPr>
              <a:t>Accessing what we need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EEF32E-84FC-9DD2-1645-162B4C9FAB5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38" b="92857" l="9898" r="89761">
                        <a14:foregroundMark x1="55631" y1="27019" x2="55631" y2="27019"/>
                        <a14:foregroundMark x1="54608" y1="92857" x2="54608" y2="928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5132" y="3622675"/>
            <a:ext cx="650036" cy="7143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58E33F-3765-E12D-EC90-52B96C993A54}"/>
              </a:ext>
            </a:extLst>
          </p:cNvPr>
          <p:cNvSpPr/>
          <p:nvPr userDrawn="1"/>
        </p:nvSpPr>
        <p:spPr>
          <a:xfrm>
            <a:off x="10407364" y="3602076"/>
            <a:ext cx="1665573" cy="31337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9A02AE-5FFD-29AD-EBE7-4C38018D5AAF}"/>
              </a:ext>
            </a:extLst>
          </p:cNvPr>
          <p:cNvCxnSpPr>
            <a:cxnSpLocks/>
          </p:cNvCxnSpPr>
          <p:nvPr userDrawn="1"/>
        </p:nvCxnSpPr>
        <p:spPr>
          <a:xfrm>
            <a:off x="9163051" y="59357"/>
            <a:ext cx="0" cy="336964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61B532-AB76-3FDE-0903-59141D8EB5E2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728548"/>
            <a:ext cx="60674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8D7E95B-E86B-132A-8921-6D1CDF0723B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084" b="92515" l="10000" r="90000">
                        <a14:foregroundMark x1="43429" y1="92814" x2="43429" y2="92814"/>
                        <a14:foregroundMark x1="55714" y1="34731" x2="55714" y2="34731"/>
                        <a14:foregroundMark x1="74571" y1="8084" x2="74571" y2="80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5321" y="1772679"/>
            <a:ext cx="502428" cy="4794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A5C7A1-569F-D384-461E-747E1FC18D84}"/>
              </a:ext>
            </a:extLst>
          </p:cNvPr>
          <p:cNvSpPr txBox="1"/>
          <p:nvPr userDrawn="1"/>
        </p:nvSpPr>
        <p:spPr>
          <a:xfrm>
            <a:off x="9711276" y="1699665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Carry on - Finish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A6BB55-886C-6BD6-A9CE-0ED258255B7D}"/>
              </a:ext>
            </a:extLst>
          </p:cNvPr>
          <p:cNvSpPr txBox="1"/>
          <p:nvPr userDrawn="1"/>
        </p:nvSpPr>
        <p:spPr>
          <a:xfrm>
            <a:off x="806119" y="3666061"/>
            <a:ext cx="315367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</a:rPr>
              <a:t>Deepening my learning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8C8C69-A916-A517-279F-F93D4A85E3A5}"/>
              </a:ext>
            </a:extLst>
          </p:cNvPr>
          <p:cNvSpPr txBox="1"/>
          <p:nvPr userDrawn="1"/>
        </p:nvSpPr>
        <p:spPr>
          <a:xfrm>
            <a:off x="6730946" y="1845508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Shared Learning Conversation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EF66E-0B89-5C3E-A3EA-57F92E7F333F}"/>
              </a:ext>
            </a:extLst>
          </p:cNvPr>
          <p:cNvSpPr txBox="1"/>
          <p:nvPr userDrawn="1"/>
        </p:nvSpPr>
        <p:spPr>
          <a:xfrm>
            <a:off x="9938135" y="1319940"/>
            <a:ext cx="215364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Small Group with an adult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3D8E9C-7FC1-8540-96AE-F9A174C627BC}"/>
              </a:ext>
            </a:extLst>
          </p:cNvPr>
          <p:cNvSpPr txBox="1"/>
          <p:nvPr userDrawn="1"/>
        </p:nvSpPr>
        <p:spPr>
          <a:xfrm>
            <a:off x="7103762" y="1334292"/>
            <a:ext cx="196073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1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Showcase Lead Learners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E8A13-704A-B295-4296-21A195989C8A}"/>
              </a:ext>
            </a:extLst>
          </p:cNvPr>
          <p:cNvSpPr txBox="1"/>
          <p:nvPr userDrawn="1"/>
        </p:nvSpPr>
        <p:spPr>
          <a:xfrm>
            <a:off x="978825" y="379381"/>
            <a:ext cx="19607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b="0" i="0">
                <a:latin typeface="Twinkl Cursive Looped" panose="02000000000000000000" pitchFamily="2" charset="77"/>
                <a:ea typeface="Sassoon Infant Rg" panose="02000503030000020003" pitchFamily="2" charset="0"/>
                <a:cs typeface="Calibri"/>
              </a:rPr>
              <a:t>Whole Class Feedback</a:t>
            </a:r>
          </a:p>
        </p:txBody>
      </p:sp>
      <p:sp>
        <p:nvSpPr>
          <p:cNvPr id="33" name="Oval Callout 32">
            <a:extLst>
              <a:ext uri="{FF2B5EF4-FFF2-40B4-BE49-F238E27FC236}">
                <a16:creationId xmlns:a16="http://schemas.microsoft.com/office/drawing/2014/main" id="{20E8220B-AFF3-E0A1-CAEF-B430A1C7AFF6}"/>
              </a:ext>
            </a:extLst>
          </p:cNvPr>
          <p:cNvSpPr/>
          <p:nvPr userDrawn="1"/>
        </p:nvSpPr>
        <p:spPr>
          <a:xfrm>
            <a:off x="8755466" y="1857693"/>
            <a:ext cx="311167" cy="232315"/>
          </a:xfrm>
          <a:prstGeom prst="wedgeEllipseCallout">
            <a:avLst>
              <a:gd name="adj1" fmla="val 33993"/>
              <a:gd name="adj2" fmla="val 78193"/>
            </a:avLst>
          </a:prstGeom>
          <a:solidFill>
            <a:srgbClr val="CC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7C78DA-D2CC-5E55-EC3C-74E0FBD6C5E0}"/>
              </a:ext>
            </a:extLst>
          </p:cNvPr>
          <p:cNvSpPr txBox="1"/>
          <p:nvPr userDrawn="1"/>
        </p:nvSpPr>
        <p:spPr>
          <a:xfrm>
            <a:off x="8708288" y="1869253"/>
            <a:ext cx="3529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b="0" i="0">
                <a:latin typeface="Twinkl Cursive Looped" panose="02000000000000000000" pitchFamily="2" charset="77"/>
              </a:rPr>
              <a:t>SLC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22B806B-421A-D3A0-5273-FB8FEB6F94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903288"/>
            <a:ext cx="4613275" cy="2311400"/>
          </a:xfrm>
        </p:spPr>
        <p:txBody>
          <a:bodyPr/>
          <a:lstStyle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BFBC48A2-3497-BC71-A0AB-B94D10D2F0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51419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E26FE762-C006-FAD3-9DB2-248E159C97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13273" y="155143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EDBB5471-5DC0-3FC7-F0CE-0C2627A79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46" y="4242234"/>
            <a:ext cx="2913078" cy="1177131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DCF35568-A367-82E2-075A-2A811FF09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4146" y="2274889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C54F4DB2-38F8-1403-AF81-52DB71B066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8691" y="2344162"/>
            <a:ext cx="2057300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F8A6C5BB-E7AE-DEA7-2BBB-960BAD1DE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07364" y="4353071"/>
            <a:ext cx="1665573" cy="939799"/>
          </a:xfrm>
        </p:spPr>
        <p:txBody>
          <a:bodyPr>
            <a:noAutofit/>
          </a:bodyPr>
          <a:lstStyle>
            <a:lvl1pPr>
              <a:defRPr sz="2000" b="0" i="0">
                <a:latin typeface="Twinkl Cursive Looped" panose="02000000000000000000" pitchFamily="2" charset="77"/>
              </a:defRPr>
            </a:lvl1pPr>
            <a:lvl2pPr>
              <a:defRPr sz="1800" b="0" i="0">
                <a:latin typeface="Twinkl Cursive Looped" panose="02000000000000000000" pitchFamily="2" charset="77"/>
              </a:defRPr>
            </a:lvl2pPr>
            <a:lvl3pPr>
              <a:defRPr sz="1600" b="0" i="0">
                <a:latin typeface="Twinkl Cursive Looped" panose="02000000000000000000" pitchFamily="2" charset="77"/>
              </a:defRPr>
            </a:lvl3pPr>
            <a:lvl4pPr>
              <a:defRPr sz="1400" b="0" i="0">
                <a:latin typeface="Twinkl Cursive Looped" panose="02000000000000000000" pitchFamily="2" charset="77"/>
              </a:defRPr>
            </a:lvl4pPr>
            <a:lvl5pPr>
              <a:defRPr sz="1400"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3890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34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8FB97-A527-4E45-92CB-DD469A4EFFFA}"/>
              </a:ext>
            </a:extLst>
          </p:cNvPr>
          <p:cNvSpPr txBox="1"/>
          <p:nvPr userDrawn="1"/>
        </p:nvSpPr>
        <p:spPr>
          <a:xfrm>
            <a:off x="306559" y="-13989"/>
            <a:ext cx="11382933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sng">
                <a:solidFill>
                  <a:srgbClr val="242424"/>
                </a:solidFill>
                <a:latin typeface="Twinkl Cursive Looped" panose="02000000000000000000" pitchFamily="2" charset="77"/>
              </a:rPr>
              <a:t>Structure of Being a Geographer Slides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Question (I do/We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Focus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Prior Knowledge Retrieval (Revisit)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Sequence (connections)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What, Why, How	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Key Vocabulary (I do/We Do/You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Geographical Skill reasoning problem (You do/trio)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Explain New Learning (I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Guided Practice (We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Independent / Collaborative Practice (You do)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Check for Understanding (Pause to Think)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Apply Learning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3200" b="0" i="0" u="none">
                <a:solidFill>
                  <a:srgbClr val="242424"/>
                </a:solidFill>
                <a:latin typeface="Twinkl Cursive Looped" panose="02000000000000000000" pitchFamily="2" charset="77"/>
              </a:rPr>
              <a:t>Learning Review: Thinking Like a Geographer (Oracy)</a:t>
            </a:r>
          </a:p>
        </p:txBody>
      </p:sp>
    </p:spTree>
    <p:extLst>
      <p:ext uri="{BB962C8B-B14F-4D97-AF65-F5344CB8AC3E}">
        <p14:creationId xmlns:p14="http://schemas.microsoft.com/office/powerpoint/2010/main" val="38044426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8A772E-F613-7034-9A36-0C389B316798}"/>
              </a:ext>
            </a:extLst>
          </p:cNvPr>
          <p:cNvSpPr/>
          <p:nvPr userDrawn="1"/>
        </p:nvSpPr>
        <p:spPr>
          <a:xfrm>
            <a:off x="195943" y="179614"/>
            <a:ext cx="11870871" cy="6405913"/>
          </a:xfrm>
          <a:prstGeom prst="rect">
            <a:avLst/>
          </a:prstGeom>
          <a:solidFill>
            <a:srgbClr val="BDD7EF"/>
          </a:solidFill>
          <a:ln>
            <a:solidFill>
              <a:srgbClr val="457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pupils’ knowledge of places, environments and processes, while </a:t>
            </a:r>
            <a:r>
              <a:rPr lang="en-GB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geographical skills </a:t>
            </a:r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pupils to think, question and work like geographers through increasingly independent enquiry.</a:t>
            </a:r>
          </a:p>
          <a:p>
            <a:pPr algn="l"/>
            <a:endParaRPr lang="en-US" b="1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KS1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the main geography ideas, like places, weather, seasons and the features of the area where I live.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look carefully at places, use simple maps and pictures, ask questions, and explore my local area.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LKS2 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important geography ideas about regions, physical and human features, and how people and environments are connected.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use maps and tools, collect information through fieldwork, and compare and explain different places.</a:t>
            </a:r>
          </a:p>
          <a:p>
            <a:pPr algn="l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UKS2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Substantive concepts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know key geography ideas and processes, such as rivers, climate change, natural resources and sustainability, that explain how the world works.</a:t>
            </a:r>
          </a:p>
          <a:p>
            <a:pPr algn="l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  <a:p>
            <a:pPr algn="l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can investigate places like a geographer by 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information, using detailed maps, carrying out enquiries and explaining my conclusions.</a:t>
            </a:r>
          </a:p>
        </p:txBody>
      </p:sp>
    </p:spTree>
    <p:extLst>
      <p:ext uri="{BB962C8B-B14F-4D97-AF65-F5344CB8AC3E}">
        <p14:creationId xmlns:p14="http://schemas.microsoft.com/office/powerpoint/2010/main" val="4576686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_rels/slideMaster4.xml.rels><?xml version="1.0" encoding="UTF-8"?>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?>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6.xml.rels><?xml version="1.0" encoding="UTF-8"?>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31A5D-81D7-86BF-9F89-C85C561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F32C4-272F-4D79-223B-CA8E0909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A001-1B5D-CDA2-38CC-7F60FF1FB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4F31996-478E-AB49-B249-C881152DC864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51DE-BFC5-5128-5E55-DAFE88A4F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FA9D7-B4D9-EF1F-23DF-1D659D7FE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3310EA2-8160-1046-A641-CE136A204D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494340E5-87E4-F310-37BE-2238F82839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67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817" r:id="rId3"/>
    <p:sldLayoutId id="2147483740" r:id="rId4"/>
    <p:sldLayoutId id="2147483661" r:id="rId5"/>
    <p:sldLayoutId id="2147483784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818" r:id="rId13"/>
    <p:sldLayoutId id="2147483831" r:id="rId14"/>
    <p:sldLayoutId id="214748374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524C0-1C92-5DC2-66E0-3ADCE332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25FAD-D996-CA58-6C3E-BC095EB3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A94B-D759-4801-6CD1-6E66DA677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1619F549-3D0B-A141-8D63-915844BA9B42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D4FF-5DD4-B9F1-35A1-B9862AD1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04EC7-5020-8356-6563-5BA3702F3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61437F6C-24F6-F24E-A689-35A7F3AD4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6B47AD8-5AFC-CF11-0F61-90D0198211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96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825" r:id="rId3"/>
    <p:sldLayoutId id="2147483775" r:id="rId4"/>
    <p:sldLayoutId id="2147483776" r:id="rId5"/>
    <p:sldLayoutId id="2147483785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819" r:id="rId13"/>
    <p:sldLayoutId id="2147483832" r:id="rId14"/>
    <p:sldLayoutId id="21474837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7824A-0AF9-4738-F221-B8183E45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93C30-E0D9-1E88-B519-0D30E9E4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3E9E-6EAA-0D76-BB96-53A73E3C3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029319A-4A70-5A4B-9E33-842C4C45AE69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DB60E-0F55-9A54-FA03-71EDCEAD3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3676D-669A-39FA-6B0F-1727CC0B2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CE6401-4AF7-AE42-9690-ECB39B553F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DCA81AE5-4318-55E7-A3E0-6DF245A247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4573C4"/>
          </a:solidFill>
          <a:ln>
            <a:solidFill>
              <a:srgbClr val="4573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3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826" r:id="rId3"/>
    <p:sldLayoutId id="2147483751" r:id="rId4"/>
    <p:sldLayoutId id="2147483662" r:id="rId5"/>
    <p:sldLayoutId id="2147483786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820" r:id="rId13"/>
    <p:sldLayoutId id="2147483833" r:id="rId14"/>
    <p:sldLayoutId id="21474837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827" r:id="rId3"/>
    <p:sldLayoutId id="2147483762" r:id="rId4"/>
    <p:sldLayoutId id="2147483653" r:id="rId5"/>
    <p:sldLayoutId id="2147483787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821" r:id="rId13"/>
    <p:sldLayoutId id="2147483834" r:id="rId14"/>
    <p:sldLayoutId id="214748376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28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22" r:id="rId13"/>
    <p:sldLayoutId id="2147483835" r:id="rId14"/>
    <p:sldLayoutId id="214748381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7DF14-F00E-72CF-12CF-E3B1C50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41EDA-2629-656F-490B-C0FEC50D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1859-A1D9-7F12-358F-7DE777EF4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FDBEEC07-0607-8B48-9834-7B8003280270}" type="datetimeFigureOut">
              <a:rPr lang="en-US" smtClean="0"/>
              <a:pPr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EB78-35C7-000E-D1DA-7E0C941AB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BB577-B7C0-86AE-49E3-AD4E8FAF8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CDFCD4FA-D224-824E-9633-70C10A3BD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29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30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29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45.png"/><Relationship Id="rId11" Type="http://schemas.openxmlformats.org/officeDocument/2006/relationships/image" Target="../media/image28.png"/><Relationship Id="rId5" Type="http://schemas.openxmlformats.org/officeDocument/2006/relationships/image" Target="../media/image44.png"/><Relationship Id="rId15" Type="http://schemas.openxmlformats.org/officeDocument/2006/relationships/image" Target="../media/image49.png"/><Relationship Id="rId10" Type="http://schemas.openxmlformats.org/officeDocument/2006/relationships/image" Target="../media/image27.png"/><Relationship Id="rId4" Type="http://schemas.openxmlformats.org/officeDocument/2006/relationships/image" Target="../media/image43.png"/><Relationship Id="rId9" Type="http://schemas.openxmlformats.org/officeDocument/2006/relationships/image" Target="../media/image26.png"/><Relationship Id="rId14" Type="http://schemas.openxmlformats.org/officeDocument/2006/relationships/image" Target="../media/image48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conn_col.emf"/><Relationship Id="rId3" Type="http://schemas.openxmlformats.org/officeDocument/2006/relationships/image" Target="../media/conn_grey.emf"/><Relationship Id="rId4" Type="http://schemas.openxmlformats.org/officeDocument/2006/relationships/image" Target="../media/conn_icon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1413306" y="81065"/>
            <a:ext cx="8907511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2970"/>
              </a:lnSpc>
            </a:pPr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Our Oracy Frameworks	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p1"/>
          <p:cNvGrpSpPr/>
          <p:nvPr/>
        </p:nvGrpSpPr>
        <p:grpSpPr>
          <a:xfrm>
            <a:off x="9297029" y="4627646"/>
            <a:ext cx="397155" cy="463218"/>
            <a:chOff x="8816328" y="5412917"/>
            <a:chExt cx="433478" cy="505583"/>
          </a:xfrm>
        </p:grpSpPr>
        <p:sp>
          <p:nvSpPr>
            <p:cNvPr id="45" name="Google Shape;45;p1"/>
            <p:cNvSpPr/>
            <p:nvPr/>
          </p:nvSpPr>
          <p:spPr>
            <a:xfrm>
              <a:off x="8816328" y="5412917"/>
              <a:ext cx="298450" cy="435609"/>
            </a:xfrm>
            <a:custGeom>
              <a:avLst/>
              <a:gdLst/>
              <a:ahLst/>
              <a:cxnLst/>
              <a:rect l="l" t="t" r="r" b="b"/>
              <a:pathLst>
                <a:path w="298450" h="435610" extrusionOk="0">
                  <a:moveTo>
                    <a:pt x="42017" y="27999"/>
                  </a:moveTo>
                  <a:lnTo>
                    <a:pt x="66726" y="11689"/>
                  </a:lnTo>
                  <a:lnTo>
                    <a:pt x="102706" y="1672"/>
                  </a:lnTo>
                  <a:lnTo>
                    <a:pt x="145518" y="0"/>
                  </a:lnTo>
                  <a:lnTo>
                    <a:pt x="190722" y="8721"/>
                  </a:lnTo>
                  <a:lnTo>
                    <a:pt x="229504" y="26576"/>
                  </a:lnTo>
                  <a:lnTo>
                    <a:pt x="262673" y="57417"/>
                  </a:lnTo>
                  <a:lnTo>
                    <a:pt x="286680" y="96705"/>
                  </a:lnTo>
                  <a:lnTo>
                    <a:pt x="297973" y="139899"/>
                  </a:lnTo>
                  <a:lnTo>
                    <a:pt x="297368" y="172404"/>
                  </a:lnTo>
                  <a:lnTo>
                    <a:pt x="287316" y="207203"/>
                  </a:lnTo>
                  <a:lnTo>
                    <a:pt x="269632" y="240172"/>
                  </a:lnTo>
                  <a:lnTo>
                    <a:pt x="246132" y="267191"/>
                  </a:lnTo>
                  <a:lnTo>
                    <a:pt x="227841" y="282129"/>
                  </a:lnTo>
                  <a:lnTo>
                    <a:pt x="212456" y="302710"/>
                  </a:lnTo>
                  <a:lnTo>
                    <a:pt x="201289" y="326792"/>
                  </a:lnTo>
                  <a:lnTo>
                    <a:pt x="195649" y="352230"/>
                  </a:lnTo>
                  <a:lnTo>
                    <a:pt x="194936" y="358787"/>
                  </a:lnTo>
                  <a:lnTo>
                    <a:pt x="192836" y="367472"/>
                  </a:lnTo>
                  <a:lnTo>
                    <a:pt x="174771" y="402888"/>
                  </a:lnTo>
                  <a:lnTo>
                    <a:pt x="138384" y="428812"/>
                  </a:lnTo>
                  <a:lnTo>
                    <a:pt x="115576" y="435428"/>
                  </a:lnTo>
                  <a:lnTo>
                    <a:pt x="88284" y="433868"/>
                  </a:lnTo>
                  <a:lnTo>
                    <a:pt x="40206" y="416065"/>
                  </a:lnTo>
                  <a:lnTo>
                    <a:pt x="10609" y="385579"/>
                  </a:lnTo>
                  <a:lnTo>
                    <a:pt x="0" y="351483"/>
                  </a:lnTo>
                  <a:lnTo>
                    <a:pt x="488" y="332672"/>
                  </a:lnTo>
                </a:path>
              </a:pathLst>
            </a:custGeom>
            <a:noFill/>
            <a:ln w="43975" cap="flat" cmpd="sng">
              <a:solidFill>
                <a:srgbClr val="3DCA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52808" y="5503652"/>
              <a:ext cx="156479" cy="223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067831" y="5668857"/>
              <a:ext cx="181975" cy="2496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" name="Google Shape;4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5937" y="4365508"/>
            <a:ext cx="520407" cy="47755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 txBox="1">
            <a:spLocks noGrp="1"/>
          </p:cNvSpPr>
          <p:nvPr>
            <p:ph type="title" idx="4294967295"/>
          </p:nvPr>
        </p:nvSpPr>
        <p:spPr>
          <a:xfrm>
            <a:off x="0" y="106363"/>
            <a:ext cx="4954588" cy="5191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635" rIns="0" bIns="0" rtlCol="0" anchor="t" anchorCtr="0">
            <a:spAutoFit/>
          </a:bodyPr>
          <a:lstStyle/>
          <a:p>
            <a:pPr marL="11635"/>
            <a:r>
              <a:rPr lang="en-US" sz="3665"/>
              <a:t>The Oracy Framework</a:t>
            </a:r>
            <a:endParaRPr sz="3665"/>
          </a:p>
        </p:txBody>
      </p:sp>
      <p:grpSp>
        <p:nvGrpSpPr>
          <p:cNvPr id="50" name="Google Shape;50;p1"/>
          <p:cNvGrpSpPr/>
          <p:nvPr/>
        </p:nvGrpSpPr>
        <p:grpSpPr>
          <a:xfrm>
            <a:off x="9932577" y="183388"/>
            <a:ext cx="875011" cy="858141"/>
            <a:chOff x="9161263" y="324002"/>
            <a:chExt cx="955040" cy="936625"/>
          </a:xfrm>
        </p:grpSpPr>
        <p:sp>
          <p:nvSpPr>
            <p:cNvPr id="51" name="Google Shape;51;p1"/>
            <p:cNvSpPr/>
            <p:nvPr/>
          </p:nvSpPr>
          <p:spPr>
            <a:xfrm>
              <a:off x="9185737" y="348481"/>
              <a:ext cx="906144" cy="887094"/>
            </a:xfrm>
            <a:custGeom>
              <a:avLst/>
              <a:gdLst/>
              <a:ahLst/>
              <a:cxnLst/>
              <a:rect l="l" t="t" r="r" b="b"/>
              <a:pathLst>
                <a:path w="906145" h="887094" extrusionOk="0">
                  <a:moveTo>
                    <a:pt x="452894" y="0"/>
                  </a:moveTo>
                  <a:lnTo>
                    <a:pt x="403546" y="2602"/>
                  </a:lnTo>
                  <a:lnTo>
                    <a:pt x="355738" y="10229"/>
                  </a:lnTo>
                  <a:lnTo>
                    <a:pt x="309745" y="22610"/>
                  </a:lnTo>
                  <a:lnTo>
                    <a:pt x="265843" y="39474"/>
                  </a:lnTo>
                  <a:lnTo>
                    <a:pt x="224310" y="60552"/>
                  </a:lnTo>
                  <a:lnTo>
                    <a:pt x="185421" y="85571"/>
                  </a:lnTo>
                  <a:lnTo>
                    <a:pt x="149452" y="114263"/>
                  </a:lnTo>
                  <a:lnTo>
                    <a:pt x="116680" y="146356"/>
                  </a:lnTo>
                  <a:lnTo>
                    <a:pt x="87382" y="181580"/>
                  </a:lnTo>
                  <a:lnTo>
                    <a:pt x="61833" y="219664"/>
                  </a:lnTo>
                  <a:lnTo>
                    <a:pt x="40310" y="260338"/>
                  </a:lnTo>
                  <a:lnTo>
                    <a:pt x="23088" y="303332"/>
                  </a:lnTo>
                  <a:lnTo>
                    <a:pt x="10445" y="348374"/>
                  </a:lnTo>
                  <a:lnTo>
                    <a:pt x="2657" y="395194"/>
                  </a:lnTo>
                  <a:lnTo>
                    <a:pt x="0" y="443522"/>
                  </a:lnTo>
                  <a:lnTo>
                    <a:pt x="2657" y="491850"/>
                  </a:lnTo>
                  <a:lnTo>
                    <a:pt x="10445" y="538670"/>
                  </a:lnTo>
                  <a:lnTo>
                    <a:pt x="23088" y="583713"/>
                  </a:lnTo>
                  <a:lnTo>
                    <a:pt x="40310" y="626707"/>
                  </a:lnTo>
                  <a:lnTo>
                    <a:pt x="61833" y="667382"/>
                  </a:lnTo>
                  <a:lnTo>
                    <a:pt x="87382" y="705468"/>
                  </a:lnTo>
                  <a:lnTo>
                    <a:pt x="116680" y="740693"/>
                  </a:lnTo>
                  <a:lnTo>
                    <a:pt x="149452" y="772787"/>
                  </a:lnTo>
                  <a:lnTo>
                    <a:pt x="185421" y="801480"/>
                  </a:lnTo>
                  <a:lnTo>
                    <a:pt x="224310" y="826501"/>
                  </a:lnTo>
                  <a:lnTo>
                    <a:pt x="265843" y="847579"/>
                  </a:lnTo>
                  <a:lnTo>
                    <a:pt x="309745" y="864445"/>
                  </a:lnTo>
                  <a:lnTo>
                    <a:pt x="355738" y="876826"/>
                  </a:lnTo>
                  <a:lnTo>
                    <a:pt x="403546" y="884454"/>
                  </a:lnTo>
                  <a:lnTo>
                    <a:pt x="452894" y="887056"/>
                  </a:lnTo>
                  <a:lnTo>
                    <a:pt x="502242" y="884454"/>
                  </a:lnTo>
                  <a:lnTo>
                    <a:pt x="550051" y="876826"/>
                  </a:lnTo>
                  <a:lnTo>
                    <a:pt x="596044" y="864445"/>
                  </a:lnTo>
                  <a:lnTo>
                    <a:pt x="639945" y="847579"/>
                  </a:lnTo>
                  <a:lnTo>
                    <a:pt x="681479" y="826501"/>
                  </a:lnTo>
                  <a:lnTo>
                    <a:pt x="720368" y="801480"/>
                  </a:lnTo>
                  <a:lnTo>
                    <a:pt x="756336" y="772787"/>
                  </a:lnTo>
                  <a:lnTo>
                    <a:pt x="789108" y="740693"/>
                  </a:lnTo>
                  <a:lnTo>
                    <a:pt x="818406" y="705468"/>
                  </a:lnTo>
                  <a:lnTo>
                    <a:pt x="843955" y="667382"/>
                  </a:lnTo>
                  <a:lnTo>
                    <a:pt x="865479" y="626707"/>
                  </a:lnTo>
                  <a:lnTo>
                    <a:pt x="882700" y="583713"/>
                  </a:lnTo>
                  <a:lnTo>
                    <a:pt x="895343" y="538670"/>
                  </a:lnTo>
                  <a:lnTo>
                    <a:pt x="903131" y="491850"/>
                  </a:lnTo>
                  <a:lnTo>
                    <a:pt x="905789" y="443522"/>
                  </a:lnTo>
                  <a:lnTo>
                    <a:pt x="903131" y="395194"/>
                  </a:lnTo>
                  <a:lnTo>
                    <a:pt x="895343" y="348374"/>
                  </a:lnTo>
                  <a:lnTo>
                    <a:pt x="882700" y="303332"/>
                  </a:lnTo>
                  <a:lnTo>
                    <a:pt x="865479" y="260338"/>
                  </a:lnTo>
                  <a:lnTo>
                    <a:pt x="843955" y="219664"/>
                  </a:lnTo>
                  <a:lnTo>
                    <a:pt x="818406" y="181580"/>
                  </a:lnTo>
                  <a:lnTo>
                    <a:pt x="789108" y="146356"/>
                  </a:lnTo>
                  <a:lnTo>
                    <a:pt x="756336" y="114263"/>
                  </a:lnTo>
                  <a:lnTo>
                    <a:pt x="720368" y="85571"/>
                  </a:lnTo>
                  <a:lnTo>
                    <a:pt x="681479" y="60552"/>
                  </a:lnTo>
                  <a:lnTo>
                    <a:pt x="639945" y="39474"/>
                  </a:lnTo>
                  <a:lnTo>
                    <a:pt x="596044" y="22610"/>
                  </a:lnTo>
                  <a:lnTo>
                    <a:pt x="550051" y="10229"/>
                  </a:lnTo>
                  <a:lnTo>
                    <a:pt x="502242" y="2602"/>
                  </a:lnTo>
                  <a:lnTo>
                    <a:pt x="4528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9161263" y="324002"/>
              <a:ext cx="955040" cy="936625"/>
            </a:xfrm>
            <a:custGeom>
              <a:avLst/>
              <a:gdLst/>
              <a:ahLst/>
              <a:cxnLst/>
              <a:rect l="l" t="t" r="r" b="b"/>
              <a:pathLst>
                <a:path w="955040" h="936625" extrusionOk="0">
                  <a:moveTo>
                    <a:pt x="477367" y="0"/>
                  </a:moveTo>
                  <a:lnTo>
                    <a:pt x="428629" y="2420"/>
                  </a:lnTo>
                  <a:lnTo>
                    <a:pt x="381282" y="9525"/>
                  </a:lnTo>
                  <a:lnTo>
                    <a:pt x="335570" y="21075"/>
                  </a:lnTo>
                  <a:lnTo>
                    <a:pt x="291732" y="36835"/>
                  </a:lnTo>
                  <a:lnTo>
                    <a:pt x="250013" y="56568"/>
                  </a:lnTo>
                  <a:lnTo>
                    <a:pt x="210652" y="80036"/>
                  </a:lnTo>
                  <a:lnTo>
                    <a:pt x="173892" y="107002"/>
                  </a:lnTo>
                  <a:lnTo>
                    <a:pt x="139976" y="137229"/>
                  </a:lnTo>
                  <a:lnTo>
                    <a:pt x="109144" y="170481"/>
                  </a:lnTo>
                  <a:lnTo>
                    <a:pt x="81638" y="206520"/>
                  </a:lnTo>
                  <a:lnTo>
                    <a:pt x="57700" y="245108"/>
                  </a:lnTo>
                  <a:lnTo>
                    <a:pt x="37573" y="286010"/>
                  </a:lnTo>
                  <a:lnTo>
                    <a:pt x="21497" y="328988"/>
                  </a:lnTo>
                  <a:lnTo>
                    <a:pt x="9715" y="373805"/>
                  </a:lnTo>
                  <a:lnTo>
                    <a:pt x="2469" y="420224"/>
                  </a:lnTo>
                  <a:lnTo>
                    <a:pt x="0" y="468007"/>
                  </a:lnTo>
                  <a:lnTo>
                    <a:pt x="2469" y="515789"/>
                  </a:lnTo>
                  <a:lnTo>
                    <a:pt x="9715" y="562205"/>
                  </a:lnTo>
                  <a:lnTo>
                    <a:pt x="21497" y="607020"/>
                  </a:lnTo>
                  <a:lnTo>
                    <a:pt x="37573" y="649997"/>
                  </a:lnTo>
                  <a:lnTo>
                    <a:pt x="57700" y="690897"/>
                  </a:lnTo>
                  <a:lnTo>
                    <a:pt x="81638" y="729485"/>
                  </a:lnTo>
                  <a:lnTo>
                    <a:pt x="109144" y="765523"/>
                  </a:lnTo>
                  <a:lnTo>
                    <a:pt x="139976" y="798774"/>
                  </a:lnTo>
                  <a:lnTo>
                    <a:pt x="173892" y="829001"/>
                  </a:lnTo>
                  <a:lnTo>
                    <a:pt x="210652" y="855967"/>
                  </a:lnTo>
                  <a:lnTo>
                    <a:pt x="250013" y="879434"/>
                  </a:lnTo>
                  <a:lnTo>
                    <a:pt x="291732" y="899166"/>
                  </a:lnTo>
                  <a:lnTo>
                    <a:pt x="335570" y="914926"/>
                  </a:lnTo>
                  <a:lnTo>
                    <a:pt x="381282" y="926477"/>
                  </a:lnTo>
                  <a:lnTo>
                    <a:pt x="428629" y="933581"/>
                  </a:lnTo>
                  <a:lnTo>
                    <a:pt x="477367" y="936002"/>
                  </a:lnTo>
                  <a:lnTo>
                    <a:pt x="526106" y="933581"/>
                  </a:lnTo>
                  <a:lnTo>
                    <a:pt x="573452" y="926477"/>
                  </a:lnTo>
                  <a:lnTo>
                    <a:pt x="619165" y="914926"/>
                  </a:lnTo>
                  <a:lnTo>
                    <a:pt x="663002" y="899166"/>
                  </a:lnTo>
                  <a:lnTo>
                    <a:pt x="688606" y="887056"/>
                  </a:lnTo>
                  <a:lnTo>
                    <a:pt x="477367" y="887056"/>
                  </a:lnTo>
                  <a:lnTo>
                    <a:pt x="427474" y="884232"/>
                  </a:lnTo>
                  <a:lnTo>
                    <a:pt x="379253" y="875970"/>
                  </a:lnTo>
                  <a:lnTo>
                    <a:pt x="333028" y="862586"/>
                  </a:lnTo>
                  <a:lnTo>
                    <a:pt x="289123" y="844399"/>
                  </a:lnTo>
                  <a:lnTo>
                    <a:pt x="247863" y="821724"/>
                  </a:lnTo>
                  <a:lnTo>
                    <a:pt x="209570" y="794879"/>
                  </a:lnTo>
                  <a:lnTo>
                    <a:pt x="174569" y="764181"/>
                  </a:lnTo>
                  <a:lnTo>
                    <a:pt x="143184" y="729945"/>
                  </a:lnTo>
                  <a:lnTo>
                    <a:pt x="115738" y="692490"/>
                  </a:lnTo>
                  <a:lnTo>
                    <a:pt x="92557" y="652132"/>
                  </a:lnTo>
                  <a:lnTo>
                    <a:pt x="73963" y="609188"/>
                  </a:lnTo>
                  <a:lnTo>
                    <a:pt x="60280" y="563975"/>
                  </a:lnTo>
                  <a:lnTo>
                    <a:pt x="51833" y="516809"/>
                  </a:lnTo>
                  <a:lnTo>
                    <a:pt x="48945" y="468007"/>
                  </a:lnTo>
                  <a:lnTo>
                    <a:pt x="51833" y="419203"/>
                  </a:lnTo>
                  <a:lnTo>
                    <a:pt x="60280" y="372035"/>
                  </a:lnTo>
                  <a:lnTo>
                    <a:pt x="73963" y="326820"/>
                  </a:lnTo>
                  <a:lnTo>
                    <a:pt x="92557" y="283874"/>
                  </a:lnTo>
                  <a:lnTo>
                    <a:pt x="115738" y="243515"/>
                  </a:lnTo>
                  <a:lnTo>
                    <a:pt x="143184" y="206059"/>
                  </a:lnTo>
                  <a:lnTo>
                    <a:pt x="174569" y="171823"/>
                  </a:lnTo>
                  <a:lnTo>
                    <a:pt x="209570" y="141123"/>
                  </a:lnTo>
                  <a:lnTo>
                    <a:pt x="247863" y="114278"/>
                  </a:lnTo>
                  <a:lnTo>
                    <a:pt x="289123" y="91603"/>
                  </a:lnTo>
                  <a:lnTo>
                    <a:pt x="333028" y="73416"/>
                  </a:lnTo>
                  <a:lnTo>
                    <a:pt x="379253" y="60032"/>
                  </a:lnTo>
                  <a:lnTo>
                    <a:pt x="427474" y="51770"/>
                  </a:lnTo>
                  <a:lnTo>
                    <a:pt x="477367" y="48945"/>
                  </a:lnTo>
                  <a:lnTo>
                    <a:pt x="688605" y="48945"/>
                  </a:lnTo>
                  <a:lnTo>
                    <a:pt x="663002" y="36835"/>
                  </a:lnTo>
                  <a:lnTo>
                    <a:pt x="619165" y="21075"/>
                  </a:lnTo>
                  <a:lnTo>
                    <a:pt x="573452" y="9525"/>
                  </a:lnTo>
                  <a:lnTo>
                    <a:pt x="526106" y="2420"/>
                  </a:lnTo>
                  <a:lnTo>
                    <a:pt x="477367" y="0"/>
                  </a:lnTo>
                  <a:close/>
                </a:path>
                <a:path w="955040" h="936625" extrusionOk="0">
                  <a:moveTo>
                    <a:pt x="688605" y="48945"/>
                  </a:moveTo>
                  <a:lnTo>
                    <a:pt x="477367" y="48945"/>
                  </a:lnTo>
                  <a:lnTo>
                    <a:pt x="527260" y="51770"/>
                  </a:lnTo>
                  <a:lnTo>
                    <a:pt x="575481" y="60032"/>
                  </a:lnTo>
                  <a:lnTo>
                    <a:pt x="621706" y="73416"/>
                  </a:lnTo>
                  <a:lnTo>
                    <a:pt x="665611" y="91603"/>
                  </a:lnTo>
                  <a:lnTo>
                    <a:pt x="706872" y="114278"/>
                  </a:lnTo>
                  <a:lnTo>
                    <a:pt x="745164" y="141123"/>
                  </a:lnTo>
                  <a:lnTo>
                    <a:pt x="780165" y="171823"/>
                  </a:lnTo>
                  <a:lnTo>
                    <a:pt x="811550" y="206059"/>
                  </a:lnTo>
                  <a:lnTo>
                    <a:pt x="838996" y="243515"/>
                  </a:lnTo>
                  <a:lnTo>
                    <a:pt x="862177" y="283874"/>
                  </a:lnTo>
                  <a:lnTo>
                    <a:pt x="880772" y="326820"/>
                  </a:lnTo>
                  <a:lnTo>
                    <a:pt x="894454" y="372035"/>
                  </a:lnTo>
                  <a:lnTo>
                    <a:pt x="902901" y="419203"/>
                  </a:lnTo>
                  <a:lnTo>
                    <a:pt x="905789" y="468007"/>
                  </a:lnTo>
                  <a:lnTo>
                    <a:pt x="902901" y="516809"/>
                  </a:lnTo>
                  <a:lnTo>
                    <a:pt x="894454" y="563975"/>
                  </a:lnTo>
                  <a:lnTo>
                    <a:pt x="880772" y="609188"/>
                  </a:lnTo>
                  <a:lnTo>
                    <a:pt x="862177" y="652132"/>
                  </a:lnTo>
                  <a:lnTo>
                    <a:pt x="838996" y="692490"/>
                  </a:lnTo>
                  <a:lnTo>
                    <a:pt x="811550" y="729945"/>
                  </a:lnTo>
                  <a:lnTo>
                    <a:pt x="780165" y="764181"/>
                  </a:lnTo>
                  <a:lnTo>
                    <a:pt x="745164" y="794879"/>
                  </a:lnTo>
                  <a:lnTo>
                    <a:pt x="706872" y="821724"/>
                  </a:lnTo>
                  <a:lnTo>
                    <a:pt x="665611" y="844399"/>
                  </a:lnTo>
                  <a:lnTo>
                    <a:pt x="621706" y="862586"/>
                  </a:lnTo>
                  <a:lnTo>
                    <a:pt x="575481" y="875970"/>
                  </a:lnTo>
                  <a:lnTo>
                    <a:pt x="527260" y="884232"/>
                  </a:lnTo>
                  <a:lnTo>
                    <a:pt x="477367" y="887056"/>
                  </a:lnTo>
                  <a:lnTo>
                    <a:pt x="688606" y="887056"/>
                  </a:lnTo>
                  <a:lnTo>
                    <a:pt x="744082" y="855967"/>
                  </a:lnTo>
                  <a:lnTo>
                    <a:pt x="780842" y="829001"/>
                  </a:lnTo>
                  <a:lnTo>
                    <a:pt x="814758" y="798774"/>
                  </a:lnTo>
                  <a:lnTo>
                    <a:pt x="845591" y="765523"/>
                  </a:lnTo>
                  <a:lnTo>
                    <a:pt x="873096" y="729485"/>
                  </a:lnTo>
                  <a:lnTo>
                    <a:pt x="897034" y="690897"/>
                  </a:lnTo>
                  <a:lnTo>
                    <a:pt x="917161" y="649997"/>
                  </a:lnTo>
                  <a:lnTo>
                    <a:pt x="933237" y="607020"/>
                  </a:lnTo>
                  <a:lnTo>
                    <a:pt x="945019" y="562205"/>
                  </a:lnTo>
                  <a:lnTo>
                    <a:pt x="952265" y="515789"/>
                  </a:lnTo>
                  <a:lnTo>
                    <a:pt x="954735" y="468007"/>
                  </a:lnTo>
                  <a:lnTo>
                    <a:pt x="952265" y="420224"/>
                  </a:lnTo>
                  <a:lnTo>
                    <a:pt x="945019" y="373805"/>
                  </a:lnTo>
                  <a:lnTo>
                    <a:pt x="933237" y="328988"/>
                  </a:lnTo>
                  <a:lnTo>
                    <a:pt x="917161" y="286010"/>
                  </a:lnTo>
                  <a:lnTo>
                    <a:pt x="897034" y="245108"/>
                  </a:lnTo>
                  <a:lnTo>
                    <a:pt x="873096" y="206520"/>
                  </a:lnTo>
                  <a:lnTo>
                    <a:pt x="845591" y="170481"/>
                  </a:lnTo>
                  <a:lnTo>
                    <a:pt x="814758" y="137229"/>
                  </a:lnTo>
                  <a:lnTo>
                    <a:pt x="780842" y="107002"/>
                  </a:lnTo>
                  <a:lnTo>
                    <a:pt x="744082" y="80036"/>
                  </a:lnTo>
                  <a:lnTo>
                    <a:pt x="704722" y="56568"/>
                  </a:lnTo>
                  <a:lnTo>
                    <a:pt x="688605" y="48945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9724212" y="520534"/>
              <a:ext cx="186690" cy="354965"/>
            </a:xfrm>
            <a:custGeom>
              <a:avLst/>
              <a:gdLst/>
              <a:ahLst/>
              <a:cxnLst/>
              <a:rect l="l" t="t" r="r" b="b"/>
              <a:pathLst>
                <a:path w="186690" h="354965" extrusionOk="0">
                  <a:moveTo>
                    <a:pt x="85178" y="124574"/>
                  </a:moveTo>
                  <a:lnTo>
                    <a:pt x="81826" y="108331"/>
                  </a:lnTo>
                  <a:lnTo>
                    <a:pt x="72707" y="95072"/>
                  </a:lnTo>
                  <a:lnTo>
                    <a:pt x="59169" y="86131"/>
                  </a:lnTo>
                  <a:lnTo>
                    <a:pt x="42595" y="82854"/>
                  </a:lnTo>
                  <a:lnTo>
                    <a:pt x="26009" y="86131"/>
                  </a:lnTo>
                  <a:lnTo>
                    <a:pt x="12471" y="95072"/>
                  </a:lnTo>
                  <a:lnTo>
                    <a:pt x="3340" y="108331"/>
                  </a:lnTo>
                  <a:lnTo>
                    <a:pt x="0" y="124574"/>
                  </a:lnTo>
                  <a:lnTo>
                    <a:pt x="0" y="312851"/>
                  </a:lnTo>
                  <a:lnTo>
                    <a:pt x="3340" y="329082"/>
                  </a:lnTo>
                  <a:lnTo>
                    <a:pt x="12471" y="342341"/>
                  </a:lnTo>
                  <a:lnTo>
                    <a:pt x="26009" y="351282"/>
                  </a:lnTo>
                  <a:lnTo>
                    <a:pt x="42595" y="354558"/>
                  </a:lnTo>
                  <a:lnTo>
                    <a:pt x="59169" y="351282"/>
                  </a:lnTo>
                  <a:lnTo>
                    <a:pt x="72707" y="342341"/>
                  </a:lnTo>
                  <a:lnTo>
                    <a:pt x="81826" y="329082"/>
                  </a:lnTo>
                  <a:lnTo>
                    <a:pt x="85178" y="312851"/>
                  </a:lnTo>
                  <a:lnTo>
                    <a:pt x="85178" y="124574"/>
                  </a:lnTo>
                  <a:close/>
                </a:path>
                <a:path w="186690" h="354965" extrusionOk="0">
                  <a:moveTo>
                    <a:pt x="186258" y="41846"/>
                  </a:moveTo>
                  <a:lnTo>
                    <a:pt x="182905" y="25552"/>
                  </a:lnTo>
                  <a:lnTo>
                    <a:pt x="173736" y="12255"/>
                  </a:lnTo>
                  <a:lnTo>
                    <a:pt x="160159" y="3289"/>
                  </a:lnTo>
                  <a:lnTo>
                    <a:pt x="143522" y="0"/>
                  </a:lnTo>
                  <a:lnTo>
                    <a:pt x="126898" y="3289"/>
                  </a:lnTo>
                  <a:lnTo>
                    <a:pt x="113309" y="12255"/>
                  </a:lnTo>
                  <a:lnTo>
                    <a:pt x="104165" y="25552"/>
                  </a:lnTo>
                  <a:lnTo>
                    <a:pt x="100799" y="41846"/>
                  </a:lnTo>
                  <a:lnTo>
                    <a:pt x="100799" y="312712"/>
                  </a:lnTo>
                  <a:lnTo>
                    <a:pt x="104165" y="329006"/>
                  </a:lnTo>
                  <a:lnTo>
                    <a:pt x="113309" y="342303"/>
                  </a:lnTo>
                  <a:lnTo>
                    <a:pt x="126898" y="351269"/>
                  </a:lnTo>
                  <a:lnTo>
                    <a:pt x="143522" y="354558"/>
                  </a:lnTo>
                  <a:lnTo>
                    <a:pt x="160159" y="351269"/>
                  </a:lnTo>
                  <a:lnTo>
                    <a:pt x="173736" y="342303"/>
                  </a:lnTo>
                  <a:lnTo>
                    <a:pt x="182905" y="329006"/>
                  </a:lnTo>
                  <a:lnTo>
                    <a:pt x="186258" y="312712"/>
                  </a:lnTo>
                  <a:lnTo>
                    <a:pt x="186258" y="41846"/>
                  </a:lnTo>
                  <a:close/>
                </a:path>
              </a:pathLst>
            </a:custGeom>
            <a:solidFill>
              <a:srgbClr val="6824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9623409" y="603382"/>
              <a:ext cx="85725" cy="271780"/>
            </a:xfrm>
            <a:custGeom>
              <a:avLst/>
              <a:gdLst/>
              <a:ahLst/>
              <a:cxnLst/>
              <a:rect l="l" t="t" r="r" b="b"/>
              <a:pathLst>
                <a:path w="85725" h="271780" extrusionOk="0">
                  <a:moveTo>
                    <a:pt x="42595" y="0"/>
                  </a:moveTo>
                  <a:lnTo>
                    <a:pt x="26017" y="3278"/>
                  </a:lnTo>
                  <a:lnTo>
                    <a:pt x="12477" y="12220"/>
                  </a:lnTo>
                  <a:lnTo>
                    <a:pt x="3348" y="25481"/>
                  </a:lnTo>
                  <a:lnTo>
                    <a:pt x="0" y="41719"/>
                  </a:lnTo>
                  <a:lnTo>
                    <a:pt x="0" y="229997"/>
                  </a:lnTo>
                  <a:lnTo>
                    <a:pt x="3348" y="246232"/>
                  </a:lnTo>
                  <a:lnTo>
                    <a:pt x="12477" y="259489"/>
                  </a:lnTo>
                  <a:lnTo>
                    <a:pt x="26017" y="268426"/>
                  </a:lnTo>
                  <a:lnTo>
                    <a:pt x="42595" y="271703"/>
                  </a:lnTo>
                  <a:lnTo>
                    <a:pt x="59174" y="268426"/>
                  </a:lnTo>
                  <a:lnTo>
                    <a:pt x="72713" y="259489"/>
                  </a:lnTo>
                  <a:lnTo>
                    <a:pt x="81843" y="246232"/>
                  </a:lnTo>
                  <a:lnTo>
                    <a:pt x="85191" y="229997"/>
                  </a:lnTo>
                  <a:lnTo>
                    <a:pt x="85191" y="41719"/>
                  </a:lnTo>
                  <a:lnTo>
                    <a:pt x="81843" y="25481"/>
                  </a:lnTo>
                  <a:lnTo>
                    <a:pt x="72713" y="12220"/>
                  </a:lnTo>
                  <a:lnTo>
                    <a:pt x="59174" y="3278"/>
                  </a:lnTo>
                  <a:lnTo>
                    <a:pt x="42595" y="0"/>
                  </a:lnTo>
                  <a:close/>
                </a:path>
              </a:pathLst>
            </a:custGeom>
            <a:solidFill>
              <a:srgbClr val="04AE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" name="Google Shape;55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330864" y="695854"/>
              <a:ext cx="278287" cy="179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331369" y="912825"/>
              <a:ext cx="374516" cy="113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733913" y="909698"/>
              <a:ext cx="150858" cy="111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2566880" y="792701"/>
            <a:ext cx="6866870" cy="2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452">
                <a:solidFill>
                  <a:srgbClr val="083942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Here are some things to think about when you are using your oracy skills:</a:t>
            </a:r>
            <a:endParaRPr sz="1452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739061" y="2540314"/>
            <a:ext cx="1744788" cy="603897"/>
          </a:xfrm>
          <a:custGeom>
            <a:avLst/>
            <a:gdLst/>
            <a:ahLst/>
            <a:cxnLst/>
            <a:rect l="l" t="t" r="r" b="b"/>
            <a:pathLst>
              <a:path w="1904364" h="659129" extrusionOk="0">
                <a:moveTo>
                  <a:pt x="157443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574431" y="658672"/>
                </a:lnTo>
                <a:lnTo>
                  <a:pt x="1623099" y="655101"/>
                </a:lnTo>
                <a:lnTo>
                  <a:pt x="1669549" y="644729"/>
                </a:lnTo>
                <a:lnTo>
                  <a:pt x="1713272" y="628063"/>
                </a:lnTo>
                <a:lnTo>
                  <a:pt x="1753759" y="605615"/>
                </a:lnTo>
                <a:lnTo>
                  <a:pt x="1790501" y="577892"/>
                </a:lnTo>
                <a:lnTo>
                  <a:pt x="1822988" y="545406"/>
                </a:lnTo>
                <a:lnTo>
                  <a:pt x="1850710" y="508664"/>
                </a:lnTo>
                <a:lnTo>
                  <a:pt x="1873159" y="468177"/>
                </a:lnTo>
                <a:lnTo>
                  <a:pt x="1889824" y="424453"/>
                </a:lnTo>
                <a:lnTo>
                  <a:pt x="1900197" y="378003"/>
                </a:lnTo>
                <a:lnTo>
                  <a:pt x="1903768" y="329336"/>
                </a:lnTo>
                <a:lnTo>
                  <a:pt x="1900197" y="280669"/>
                </a:lnTo>
                <a:lnTo>
                  <a:pt x="1889824" y="234218"/>
                </a:lnTo>
                <a:lnTo>
                  <a:pt x="1873159" y="190495"/>
                </a:lnTo>
                <a:lnTo>
                  <a:pt x="1850710" y="150008"/>
                </a:lnTo>
                <a:lnTo>
                  <a:pt x="1822988" y="113266"/>
                </a:lnTo>
                <a:lnTo>
                  <a:pt x="1790501" y="80780"/>
                </a:lnTo>
                <a:lnTo>
                  <a:pt x="1753759" y="53057"/>
                </a:lnTo>
                <a:lnTo>
                  <a:pt x="1713272" y="30609"/>
                </a:lnTo>
                <a:lnTo>
                  <a:pt x="1669549" y="13943"/>
                </a:lnTo>
                <a:lnTo>
                  <a:pt x="1623099" y="3570"/>
                </a:lnTo>
                <a:lnTo>
                  <a:pt x="1574431" y="0"/>
                </a:lnTo>
                <a:close/>
              </a:path>
            </a:pathLst>
          </a:custGeom>
          <a:solidFill>
            <a:srgbClr val="FFBE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169692" y="2661135"/>
            <a:ext cx="83486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Physical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3970842" y="2534020"/>
            <a:ext cx="1910598" cy="603897"/>
          </a:xfrm>
          <a:custGeom>
            <a:avLst/>
            <a:gdLst/>
            <a:ahLst/>
            <a:cxnLst/>
            <a:rect l="l" t="t" r="r" b="b"/>
            <a:pathLst>
              <a:path w="2085339" h="659129" extrusionOk="0">
                <a:moveTo>
                  <a:pt x="1755482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755482" y="658672"/>
                </a:lnTo>
                <a:lnTo>
                  <a:pt x="1804150" y="655101"/>
                </a:lnTo>
                <a:lnTo>
                  <a:pt x="1850600" y="644729"/>
                </a:lnTo>
                <a:lnTo>
                  <a:pt x="1894323" y="628063"/>
                </a:lnTo>
                <a:lnTo>
                  <a:pt x="1934810" y="605615"/>
                </a:lnTo>
                <a:lnTo>
                  <a:pt x="1971552" y="577892"/>
                </a:lnTo>
                <a:lnTo>
                  <a:pt x="2004039" y="545406"/>
                </a:lnTo>
                <a:lnTo>
                  <a:pt x="2031761" y="508664"/>
                </a:lnTo>
                <a:lnTo>
                  <a:pt x="2054210" y="468177"/>
                </a:lnTo>
                <a:lnTo>
                  <a:pt x="2070875" y="424453"/>
                </a:lnTo>
                <a:lnTo>
                  <a:pt x="2081248" y="378003"/>
                </a:lnTo>
                <a:lnTo>
                  <a:pt x="2084819" y="329336"/>
                </a:lnTo>
                <a:lnTo>
                  <a:pt x="2081248" y="280669"/>
                </a:lnTo>
                <a:lnTo>
                  <a:pt x="2070875" y="234218"/>
                </a:lnTo>
                <a:lnTo>
                  <a:pt x="2054210" y="190495"/>
                </a:lnTo>
                <a:lnTo>
                  <a:pt x="2031761" y="150008"/>
                </a:lnTo>
                <a:lnTo>
                  <a:pt x="2004039" y="113266"/>
                </a:lnTo>
                <a:lnTo>
                  <a:pt x="1971552" y="80780"/>
                </a:lnTo>
                <a:lnTo>
                  <a:pt x="1934810" y="53057"/>
                </a:lnTo>
                <a:lnTo>
                  <a:pt x="1894323" y="30609"/>
                </a:lnTo>
                <a:lnTo>
                  <a:pt x="1850600" y="13943"/>
                </a:lnTo>
                <a:lnTo>
                  <a:pt x="1804150" y="3570"/>
                </a:lnTo>
                <a:lnTo>
                  <a:pt x="1755482" y="0"/>
                </a:lnTo>
                <a:close/>
              </a:path>
            </a:pathLst>
          </a:custGeom>
          <a:solidFill>
            <a:srgbClr val="EEBED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465621" y="2681307"/>
            <a:ext cx="954718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Linguistic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6274206" y="2522897"/>
            <a:ext cx="1770969" cy="603897"/>
          </a:xfrm>
          <a:custGeom>
            <a:avLst/>
            <a:gdLst/>
            <a:ahLst/>
            <a:cxnLst/>
            <a:rect l="l" t="t" r="r" b="b"/>
            <a:pathLst>
              <a:path w="1932940" h="659129" extrusionOk="0">
                <a:moveTo>
                  <a:pt x="1603451" y="0"/>
                </a:moveTo>
                <a:lnTo>
                  <a:pt x="329336" y="0"/>
                </a:lnTo>
                <a:lnTo>
                  <a:pt x="280669" y="3570"/>
                </a:lnTo>
                <a:lnTo>
                  <a:pt x="234218" y="13943"/>
                </a:lnTo>
                <a:lnTo>
                  <a:pt x="190495" y="30609"/>
                </a:lnTo>
                <a:lnTo>
                  <a:pt x="150008" y="53057"/>
                </a:lnTo>
                <a:lnTo>
                  <a:pt x="113266" y="80780"/>
                </a:lnTo>
                <a:lnTo>
                  <a:pt x="80780" y="113266"/>
                </a:lnTo>
                <a:lnTo>
                  <a:pt x="53057" y="150008"/>
                </a:lnTo>
                <a:lnTo>
                  <a:pt x="30609" y="190495"/>
                </a:lnTo>
                <a:lnTo>
                  <a:pt x="13943" y="234218"/>
                </a:lnTo>
                <a:lnTo>
                  <a:pt x="3570" y="280669"/>
                </a:lnTo>
                <a:lnTo>
                  <a:pt x="0" y="329336"/>
                </a:lnTo>
                <a:lnTo>
                  <a:pt x="3570" y="378003"/>
                </a:lnTo>
                <a:lnTo>
                  <a:pt x="13943" y="424453"/>
                </a:lnTo>
                <a:lnTo>
                  <a:pt x="30609" y="468177"/>
                </a:lnTo>
                <a:lnTo>
                  <a:pt x="53057" y="508664"/>
                </a:lnTo>
                <a:lnTo>
                  <a:pt x="80780" y="545406"/>
                </a:lnTo>
                <a:lnTo>
                  <a:pt x="113266" y="577892"/>
                </a:lnTo>
                <a:lnTo>
                  <a:pt x="150008" y="605615"/>
                </a:lnTo>
                <a:lnTo>
                  <a:pt x="190495" y="628063"/>
                </a:lnTo>
                <a:lnTo>
                  <a:pt x="234218" y="644729"/>
                </a:lnTo>
                <a:lnTo>
                  <a:pt x="280669" y="655101"/>
                </a:lnTo>
                <a:lnTo>
                  <a:pt x="329336" y="658672"/>
                </a:lnTo>
                <a:lnTo>
                  <a:pt x="1603451" y="658672"/>
                </a:lnTo>
                <a:lnTo>
                  <a:pt x="1652118" y="655101"/>
                </a:lnTo>
                <a:lnTo>
                  <a:pt x="1698569" y="644729"/>
                </a:lnTo>
                <a:lnTo>
                  <a:pt x="1742294" y="628063"/>
                </a:lnTo>
                <a:lnTo>
                  <a:pt x="1782782" y="605615"/>
                </a:lnTo>
                <a:lnTo>
                  <a:pt x="1819526" y="577892"/>
                </a:lnTo>
                <a:lnTo>
                  <a:pt x="1852014" y="545406"/>
                </a:lnTo>
                <a:lnTo>
                  <a:pt x="1879738" y="508664"/>
                </a:lnTo>
                <a:lnTo>
                  <a:pt x="1902188" y="468177"/>
                </a:lnTo>
                <a:lnTo>
                  <a:pt x="1918855" y="424453"/>
                </a:lnTo>
                <a:lnTo>
                  <a:pt x="1929229" y="378003"/>
                </a:lnTo>
                <a:lnTo>
                  <a:pt x="1932800" y="329336"/>
                </a:lnTo>
                <a:lnTo>
                  <a:pt x="1929229" y="280669"/>
                </a:lnTo>
                <a:lnTo>
                  <a:pt x="1918855" y="234218"/>
                </a:lnTo>
                <a:lnTo>
                  <a:pt x="1902188" y="190495"/>
                </a:lnTo>
                <a:lnTo>
                  <a:pt x="1879738" y="150008"/>
                </a:lnTo>
                <a:lnTo>
                  <a:pt x="1852014" y="113266"/>
                </a:lnTo>
                <a:lnTo>
                  <a:pt x="1819526" y="80780"/>
                </a:lnTo>
                <a:lnTo>
                  <a:pt x="1782782" y="53057"/>
                </a:lnTo>
                <a:lnTo>
                  <a:pt x="1742294" y="30609"/>
                </a:lnTo>
                <a:lnTo>
                  <a:pt x="1698569" y="13943"/>
                </a:lnTo>
                <a:lnTo>
                  <a:pt x="1652118" y="3570"/>
                </a:lnTo>
                <a:lnTo>
                  <a:pt x="1603451" y="0"/>
                </a:lnTo>
                <a:close/>
              </a:path>
            </a:pathLst>
          </a:custGeom>
          <a:solidFill>
            <a:srgbClr val="FBE26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669535" y="2676773"/>
            <a:ext cx="939009" cy="265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Cognitive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24541" y="1202081"/>
            <a:ext cx="1185106" cy="1185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42633" y="1255561"/>
            <a:ext cx="1185106" cy="1185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0EE4F1-94DF-61E8-B599-7F8A46976242}"/>
              </a:ext>
            </a:extLst>
          </p:cNvPr>
          <p:cNvGrpSpPr/>
          <p:nvPr/>
        </p:nvGrpSpPr>
        <p:grpSpPr>
          <a:xfrm>
            <a:off x="4333587" y="1203131"/>
            <a:ext cx="1185106" cy="1185106"/>
            <a:chOff x="4333587" y="1203131"/>
            <a:chExt cx="1185106" cy="1185106"/>
          </a:xfrm>
        </p:grpSpPr>
        <p:sp>
          <p:nvSpPr>
            <p:cNvPr id="68" name="Google Shape;68;p1"/>
            <p:cNvSpPr/>
            <p:nvPr/>
          </p:nvSpPr>
          <p:spPr>
            <a:xfrm>
              <a:off x="4333587" y="1203131"/>
              <a:ext cx="1185106" cy="1185106"/>
            </a:xfrm>
            <a:custGeom>
              <a:avLst/>
              <a:gdLst/>
              <a:ahLst/>
              <a:cxnLst/>
              <a:rect l="l" t="t" r="r" b="b"/>
              <a:pathLst>
                <a:path w="1293495" h="1293495" extrusionOk="0">
                  <a:moveTo>
                    <a:pt x="646747" y="0"/>
                  </a:moveTo>
                  <a:lnTo>
                    <a:pt x="598480" y="1773"/>
                  </a:lnTo>
                  <a:lnTo>
                    <a:pt x="551176" y="7012"/>
                  </a:lnTo>
                  <a:lnTo>
                    <a:pt x="504960" y="15590"/>
                  </a:lnTo>
                  <a:lnTo>
                    <a:pt x="459958" y="27382"/>
                  </a:lnTo>
                  <a:lnTo>
                    <a:pt x="416295" y="42264"/>
                  </a:lnTo>
                  <a:lnTo>
                    <a:pt x="374095" y="60110"/>
                  </a:lnTo>
                  <a:lnTo>
                    <a:pt x="333484" y="80795"/>
                  </a:lnTo>
                  <a:lnTo>
                    <a:pt x="294587" y="104194"/>
                  </a:lnTo>
                  <a:lnTo>
                    <a:pt x="257528" y="130183"/>
                  </a:lnTo>
                  <a:lnTo>
                    <a:pt x="222434" y="158635"/>
                  </a:lnTo>
                  <a:lnTo>
                    <a:pt x="189428" y="189426"/>
                  </a:lnTo>
                  <a:lnTo>
                    <a:pt x="158636" y="222432"/>
                  </a:lnTo>
                  <a:lnTo>
                    <a:pt x="130183" y="257526"/>
                  </a:lnTo>
                  <a:lnTo>
                    <a:pt x="104195" y="294584"/>
                  </a:lnTo>
                  <a:lnTo>
                    <a:pt x="80795" y="333480"/>
                  </a:lnTo>
                  <a:lnTo>
                    <a:pt x="60110" y="374090"/>
                  </a:lnTo>
                  <a:lnTo>
                    <a:pt x="42264" y="416289"/>
                  </a:lnTo>
                  <a:lnTo>
                    <a:pt x="27382" y="459951"/>
                  </a:lnTo>
                  <a:lnTo>
                    <a:pt x="15590" y="504952"/>
                  </a:lnTo>
                  <a:lnTo>
                    <a:pt x="7012" y="551166"/>
                  </a:lnTo>
                  <a:lnTo>
                    <a:pt x="1773" y="598469"/>
                  </a:lnTo>
                  <a:lnTo>
                    <a:pt x="0" y="646734"/>
                  </a:lnTo>
                  <a:lnTo>
                    <a:pt x="1773" y="695002"/>
                  </a:lnTo>
                  <a:lnTo>
                    <a:pt x="7012" y="742306"/>
                  </a:lnTo>
                  <a:lnTo>
                    <a:pt x="15590" y="788521"/>
                  </a:lnTo>
                  <a:lnTo>
                    <a:pt x="27382" y="833523"/>
                  </a:lnTo>
                  <a:lnTo>
                    <a:pt x="42264" y="877186"/>
                  </a:lnTo>
                  <a:lnTo>
                    <a:pt x="60110" y="919386"/>
                  </a:lnTo>
                  <a:lnTo>
                    <a:pt x="80795" y="959997"/>
                  </a:lnTo>
                  <a:lnTo>
                    <a:pt x="104195" y="998895"/>
                  </a:lnTo>
                  <a:lnTo>
                    <a:pt x="130183" y="1035953"/>
                  </a:lnTo>
                  <a:lnTo>
                    <a:pt x="158636" y="1071048"/>
                  </a:lnTo>
                  <a:lnTo>
                    <a:pt x="189428" y="1104053"/>
                  </a:lnTo>
                  <a:lnTo>
                    <a:pt x="222434" y="1134845"/>
                  </a:lnTo>
                  <a:lnTo>
                    <a:pt x="257528" y="1163298"/>
                  </a:lnTo>
                  <a:lnTo>
                    <a:pt x="294587" y="1189286"/>
                  </a:lnTo>
                  <a:lnTo>
                    <a:pt x="333484" y="1212686"/>
                  </a:lnTo>
                  <a:lnTo>
                    <a:pt x="374095" y="1233371"/>
                  </a:lnTo>
                  <a:lnTo>
                    <a:pt x="416295" y="1251217"/>
                  </a:lnTo>
                  <a:lnTo>
                    <a:pt x="459958" y="1266099"/>
                  </a:lnTo>
                  <a:lnTo>
                    <a:pt x="504960" y="1277891"/>
                  </a:lnTo>
                  <a:lnTo>
                    <a:pt x="551176" y="1286469"/>
                  </a:lnTo>
                  <a:lnTo>
                    <a:pt x="598480" y="1291708"/>
                  </a:lnTo>
                  <a:lnTo>
                    <a:pt x="646747" y="1293482"/>
                  </a:lnTo>
                  <a:lnTo>
                    <a:pt x="695014" y="1291708"/>
                  </a:lnTo>
                  <a:lnTo>
                    <a:pt x="742318" y="1286469"/>
                  </a:lnTo>
                  <a:lnTo>
                    <a:pt x="788534" y="1277891"/>
                  </a:lnTo>
                  <a:lnTo>
                    <a:pt x="833536" y="1266099"/>
                  </a:lnTo>
                  <a:lnTo>
                    <a:pt x="877199" y="1251217"/>
                  </a:lnTo>
                  <a:lnTo>
                    <a:pt x="919399" y="1233371"/>
                  </a:lnTo>
                  <a:lnTo>
                    <a:pt x="960010" y="1212686"/>
                  </a:lnTo>
                  <a:lnTo>
                    <a:pt x="998907" y="1189286"/>
                  </a:lnTo>
                  <a:lnTo>
                    <a:pt x="1035966" y="1163298"/>
                  </a:lnTo>
                  <a:lnTo>
                    <a:pt x="1071060" y="1134845"/>
                  </a:lnTo>
                  <a:lnTo>
                    <a:pt x="1104066" y="1104053"/>
                  </a:lnTo>
                  <a:lnTo>
                    <a:pt x="1134858" y="1071048"/>
                  </a:lnTo>
                  <a:lnTo>
                    <a:pt x="1163311" y="1035953"/>
                  </a:lnTo>
                  <a:lnTo>
                    <a:pt x="1189299" y="998895"/>
                  </a:lnTo>
                  <a:lnTo>
                    <a:pt x="1212699" y="959997"/>
                  </a:lnTo>
                  <a:lnTo>
                    <a:pt x="1233384" y="919386"/>
                  </a:lnTo>
                  <a:lnTo>
                    <a:pt x="1251230" y="877186"/>
                  </a:lnTo>
                  <a:lnTo>
                    <a:pt x="1266112" y="833523"/>
                  </a:lnTo>
                  <a:lnTo>
                    <a:pt x="1277904" y="788521"/>
                  </a:lnTo>
                  <a:lnTo>
                    <a:pt x="1286482" y="742306"/>
                  </a:lnTo>
                  <a:lnTo>
                    <a:pt x="1291721" y="695002"/>
                  </a:lnTo>
                  <a:lnTo>
                    <a:pt x="1293495" y="646734"/>
                  </a:lnTo>
                  <a:lnTo>
                    <a:pt x="1291721" y="598469"/>
                  </a:lnTo>
                  <a:lnTo>
                    <a:pt x="1286482" y="551166"/>
                  </a:lnTo>
                  <a:lnTo>
                    <a:pt x="1277904" y="504952"/>
                  </a:lnTo>
                  <a:lnTo>
                    <a:pt x="1266112" y="459951"/>
                  </a:lnTo>
                  <a:lnTo>
                    <a:pt x="1251230" y="416289"/>
                  </a:lnTo>
                  <a:lnTo>
                    <a:pt x="1233384" y="374090"/>
                  </a:lnTo>
                  <a:lnTo>
                    <a:pt x="1212699" y="333480"/>
                  </a:lnTo>
                  <a:lnTo>
                    <a:pt x="1189299" y="294584"/>
                  </a:lnTo>
                  <a:lnTo>
                    <a:pt x="1163311" y="257526"/>
                  </a:lnTo>
                  <a:lnTo>
                    <a:pt x="1134858" y="222432"/>
                  </a:lnTo>
                  <a:lnTo>
                    <a:pt x="1104066" y="189426"/>
                  </a:lnTo>
                  <a:lnTo>
                    <a:pt x="1071060" y="158635"/>
                  </a:lnTo>
                  <a:lnTo>
                    <a:pt x="1035966" y="130183"/>
                  </a:lnTo>
                  <a:lnTo>
                    <a:pt x="998907" y="104194"/>
                  </a:lnTo>
                  <a:lnTo>
                    <a:pt x="960010" y="80795"/>
                  </a:lnTo>
                  <a:lnTo>
                    <a:pt x="919399" y="60110"/>
                  </a:lnTo>
                  <a:lnTo>
                    <a:pt x="877199" y="42264"/>
                  </a:lnTo>
                  <a:lnTo>
                    <a:pt x="833536" y="27382"/>
                  </a:lnTo>
                  <a:lnTo>
                    <a:pt x="788534" y="15590"/>
                  </a:lnTo>
                  <a:lnTo>
                    <a:pt x="742318" y="7012"/>
                  </a:lnTo>
                  <a:lnTo>
                    <a:pt x="695014" y="1773"/>
                  </a:lnTo>
                  <a:lnTo>
                    <a:pt x="646747" y="0"/>
                  </a:lnTo>
                  <a:close/>
                </a:path>
              </a:pathLst>
            </a:custGeom>
            <a:solidFill>
              <a:srgbClr val="F4D4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73353" y="0"/>
                  </a:move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lnTo>
                    <a:pt x="304163" y="567895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94156" y="7163"/>
                  </a:lnTo>
                  <a:lnTo>
                    <a:pt x="73353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592858" y="1481623"/>
              <a:ext cx="281005" cy="702802"/>
            </a:xfrm>
            <a:custGeom>
              <a:avLst/>
              <a:gdLst/>
              <a:ahLst/>
              <a:cxnLst/>
              <a:rect l="l" t="t" r="r" b="b"/>
              <a:pathLst>
                <a:path w="306704" h="767080" extrusionOk="0">
                  <a:moveTo>
                    <a:pt x="306373" y="594029"/>
                  </a:moveTo>
                  <a:lnTo>
                    <a:pt x="298152" y="531321"/>
                  </a:lnTo>
                  <a:lnTo>
                    <a:pt x="288735" y="486290"/>
                  </a:lnTo>
                  <a:lnTo>
                    <a:pt x="276306" y="434786"/>
                  </a:lnTo>
                  <a:lnTo>
                    <a:pt x="261262" y="378791"/>
                  </a:lnTo>
                  <a:lnTo>
                    <a:pt x="243996" y="320288"/>
                  </a:lnTo>
                  <a:lnTo>
                    <a:pt x="224905" y="261262"/>
                  </a:lnTo>
                  <a:lnTo>
                    <a:pt x="204384" y="203695"/>
                  </a:lnTo>
                  <a:lnTo>
                    <a:pt x="182828" y="149571"/>
                  </a:lnTo>
                  <a:lnTo>
                    <a:pt x="160632" y="100872"/>
                  </a:lnTo>
                  <a:lnTo>
                    <a:pt x="138191" y="59583"/>
                  </a:lnTo>
                  <a:lnTo>
                    <a:pt x="115901" y="27685"/>
                  </a:lnTo>
                  <a:lnTo>
                    <a:pt x="73353" y="0"/>
                  </a:lnTo>
                  <a:lnTo>
                    <a:pt x="55849" y="5107"/>
                  </a:lnTo>
                  <a:lnTo>
                    <a:pt x="34790" y="42279"/>
                  </a:lnTo>
                  <a:lnTo>
                    <a:pt x="27369" y="109547"/>
                  </a:lnTo>
                  <a:lnTo>
                    <a:pt x="26913" y="152277"/>
                  </a:lnTo>
                  <a:lnTo>
                    <a:pt x="27635" y="199901"/>
                  </a:lnTo>
                  <a:lnTo>
                    <a:pt x="28789" y="251543"/>
                  </a:lnTo>
                  <a:lnTo>
                    <a:pt x="29633" y="306326"/>
                  </a:lnTo>
                  <a:lnTo>
                    <a:pt x="29422" y="363374"/>
                  </a:lnTo>
                  <a:lnTo>
                    <a:pt x="27412" y="421811"/>
                  </a:lnTo>
                  <a:lnTo>
                    <a:pt x="22859" y="480759"/>
                  </a:lnTo>
                  <a:lnTo>
                    <a:pt x="15019" y="539342"/>
                  </a:lnTo>
                  <a:lnTo>
                    <a:pt x="3147" y="596684"/>
                  </a:lnTo>
                  <a:lnTo>
                    <a:pt x="0" y="641029"/>
                  </a:lnTo>
                  <a:lnTo>
                    <a:pt x="11725" y="681478"/>
                  </a:lnTo>
                  <a:lnTo>
                    <a:pt x="35767" y="716140"/>
                  </a:lnTo>
                  <a:lnTo>
                    <a:pt x="69572" y="743122"/>
                  </a:lnTo>
                  <a:lnTo>
                    <a:pt x="110584" y="760534"/>
                  </a:lnTo>
                  <a:lnTo>
                    <a:pt x="156246" y="766483"/>
                  </a:lnTo>
                  <a:lnTo>
                    <a:pt x="200157" y="759985"/>
                  </a:lnTo>
                  <a:lnTo>
                    <a:pt x="237250" y="742409"/>
                  </a:lnTo>
                  <a:lnTo>
                    <a:pt x="266971" y="715389"/>
                  </a:lnTo>
                  <a:lnTo>
                    <a:pt x="288767" y="680562"/>
                  </a:lnTo>
                  <a:lnTo>
                    <a:pt x="302085" y="639563"/>
                  </a:lnTo>
                  <a:lnTo>
                    <a:pt x="306373" y="594029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218759" y="0"/>
                  </a:move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32310" y="605420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379" y="400565"/>
                  </a:lnTo>
                  <a:lnTo>
                    <a:pt x="498861" y="400311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lnTo>
                    <a:pt x="511879" y="341814"/>
                  </a:lnTo>
                  <a:lnTo>
                    <a:pt x="508500" y="340151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81297" y="269756"/>
                  </a:lnTo>
                  <a:lnTo>
                    <a:pt x="467708" y="21878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close/>
                </a:path>
              </a:pathLst>
            </a:custGeom>
            <a:solidFill>
              <a:srgbClr val="97593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4552903" y="1407509"/>
              <a:ext cx="482886" cy="582372"/>
            </a:xfrm>
            <a:custGeom>
              <a:avLst/>
              <a:gdLst/>
              <a:ahLst/>
              <a:cxnLst/>
              <a:rect l="l" t="t" r="r" b="b"/>
              <a:pathLst>
                <a:path w="527050" h="635635" extrusionOk="0">
                  <a:moveTo>
                    <a:pt x="514889" y="344011"/>
                  </a:moveTo>
                  <a:lnTo>
                    <a:pt x="511879" y="341814"/>
                  </a:lnTo>
                  <a:lnTo>
                    <a:pt x="508500" y="340151"/>
                  </a:lnTo>
                  <a:lnTo>
                    <a:pt x="504906" y="339135"/>
                  </a:lnTo>
                  <a:lnTo>
                    <a:pt x="497794" y="337115"/>
                  </a:lnTo>
                  <a:lnTo>
                    <a:pt x="492587" y="331172"/>
                  </a:lnTo>
                  <a:lnTo>
                    <a:pt x="491495" y="323857"/>
                  </a:lnTo>
                  <a:lnTo>
                    <a:pt x="486875" y="296537"/>
                  </a:lnTo>
                  <a:lnTo>
                    <a:pt x="474872" y="243759"/>
                  </a:lnTo>
                  <a:lnTo>
                    <a:pt x="450689" y="173533"/>
                  </a:lnTo>
                  <a:lnTo>
                    <a:pt x="428873" y="132347"/>
                  </a:lnTo>
                  <a:lnTo>
                    <a:pt x="402645" y="95755"/>
                  </a:lnTo>
                  <a:lnTo>
                    <a:pt x="372389" y="64280"/>
                  </a:lnTo>
                  <a:lnTo>
                    <a:pt x="338489" y="38445"/>
                  </a:lnTo>
                  <a:lnTo>
                    <a:pt x="301327" y="18771"/>
                  </a:lnTo>
                  <a:lnTo>
                    <a:pt x="261290" y="5782"/>
                  </a:lnTo>
                  <a:lnTo>
                    <a:pt x="218759" y="0"/>
                  </a:lnTo>
                  <a:lnTo>
                    <a:pt x="174119" y="1947"/>
                  </a:lnTo>
                  <a:lnTo>
                    <a:pt x="127754" y="12148"/>
                  </a:lnTo>
                  <a:lnTo>
                    <a:pt x="72488" y="49555"/>
                  </a:lnTo>
                  <a:lnTo>
                    <a:pt x="32524" y="116275"/>
                  </a:lnTo>
                  <a:lnTo>
                    <a:pt x="18398" y="157420"/>
                  </a:lnTo>
                  <a:lnTo>
                    <a:pt x="8237" y="202045"/>
                  </a:lnTo>
                  <a:lnTo>
                    <a:pt x="2089" y="248866"/>
                  </a:lnTo>
                  <a:lnTo>
                    <a:pt x="0" y="296601"/>
                  </a:lnTo>
                  <a:lnTo>
                    <a:pt x="2016" y="343966"/>
                  </a:lnTo>
                  <a:lnTo>
                    <a:pt x="8185" y="389679"/>
                  </a:lnTo>
                  <a:lnTo>
                    <a:pt x="18554" y="432457"/>
                  </a:lnTo>
                  <a:lnTo>
                    <a:pt x="33168" y="471017"/>
                  </a:lnTo>
                  <a:lnTo>
                    <a:pt x="75320" y="530350"/>
                  </a:lnTo>
                  <a:lnTo>
                    <a:pt x="132090" y="564043"/>
                  </a:lnTo>
                  <a:lnTo>
                    <a:pt x="168523" y="584629"/>
                  </a:lnTo>
                  <a:lnTo>
                    <a:pt x="211022" y="606168"/>
                  </a:lnTo>
                  <a:lnTo>
                    <a:pt x="258360" y="624508"/>
                  </a:lnTo>
                  <a:lnTo>
                    <a:pt x="309309" y="635500"/>
                  </a:lnTo>
                  <a:lnTo>
                    <a:pt x="362641" y="634994"/>
                  </a:lnTo>
                  <a:lnTo>
                    <a:pt x="401083" y="624433"/>
                  </a:lnTo>
                  <a:lnTo>
                    <a:pt x="456846" y="579099"/>
                  </a:lnTo>
                  <a:lnTo>
                    <a:pt x="475366" y="546284"/>
                  </a:lnTo>
                  <a:lnTo>
                    <a:pt x="475138" y="545903"/>
                  </a:lnTo>
                  <a:lnTo>
                    <a:pt x="474769" y="545878"/>
                  </a:lnTo>
                  <a:lnTo>
                    <a:pt x="447417" y="538790"/>
                  </a:lnTo>
                  <a:lnTo>
                    <a:pt x="424401" y="523277"/>
                  </a:lnTo>
                  <a:lnTo>
                    <a:pt x="407700" y="500903"/>
                  </a:lnTo>
                  <a:lnTo>
                    <a:pt x="399293" y="473234"/>
                  </a:lnTo>
                  <a:lnTo>
                    <a:pt x="399268" y="472929"/>
                  </a:lnTo>
                  <a:lnTo>
                    <a:pt x="399484" y="472637"/>
                  </a:lnTo>
                  <a:lnTo>
                    <a:pt x="399788" y="472612"/>
                  </a:lnTo>
                  <a:lnTo>
                    <a:pt x="489908" y="477806"/>
                  </a:lnTo>
                  <a:lnTo>
                    <a:pt x="490162" y="477768"/>
                  </a:lnTo>
                  <a:lnTo>
                    <a:pt x="497998" y="476701"/>
                  </a:lnTo>
                  <a:lnTo>
                    <a:pt x="498023" y="476447"/>
                  </a:lnTo>
                  <a:lnTo>
                    <a:pt x="499000" y="459310"/>
                  </a:lnTo>
                  <a:lnTo>
                    <a:pt x="499155" y="439060"/>
                  </a:lnTo>
                  <a:lnTo>
                    <a:pt x="498836" y="418602"/>
                  </a:lnTo>
                  <a:lnTo>
                    <a:pt x="498391" y="400844"/>
                  </a:lnTo>
                  <a:lnTo>
                    <a:pt x="498379" y="400565"/>
                  </a:lnTo>
                  <a:lnTo>
                    <a:pt x="498582" y="400336"/>
                  </a:lnTo>
                  <a:lnTo>
                    <a:pt x="498861" y="400311"/>
                  </a:lnTo>
                  <a:lnTo>
                    <a:pt x="503243" y="399980"/>
                  </a:lnTo>
                  <a:lnTo>
                    <a:pt x="507662" y="398952"/>
                  </a:lnTo>
                  <a:lnTo>
                    <a:pt x="511968" y="396069"/>
                  </a:lnTo>
                  <a:lnTo>
                    <a:pt x="522459" y="384649"/>
                  </a:lnTo>
                  <a:lnTo>
                    <a:pt x="526711" y="370316"/>
                  </a:lnTo>
                  <a:lnTo>
                    <a:pt x="524321" y="355846"/>
                  </a:lnTo>
                  <a:lnTo>
                    <a:pt x="514889" y="344011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308014" y="0"/>
                  </a:moveTo>
                  <a:lnTo>
                    <a:pt x="254703" y="132"/>
                  </a:lnTo>
                  <a:lnTo>
                    <a:pt x="194800" y="12684"/>
                  </a:ln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54667" y="80095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close/>
                </a:path>
              </a:pathLst>
            </a:custGeom>
            <a:solidFill>
              <a:srgbClr val="E393B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490960" y="1407005"/>
              <a:ext cx="417143" cy="514302"/>
            </a:xfrm>
            <a:custGeom>
              <a:avLst/>
              <a:gdLst/>
              <a:ahLst/>
              <a:cxnLst/>
              <a:rect l="l" t="t" r="r" b="b"/>
              <a:pathLst>
                <a:path w="455295" h="561339" extrusionOk="0">
                  <a:moveTo>
                    <a:pt x="194800" y="12684"/>
                  </a:moveTo>
                  <a:lnTo>
                    <a:pt x="157416" y="28838"/>
                  </a:lnTo>
                  <a:lnTo>
                    <a:pt x="123679" y="52451"/>
                  </a:lnTo>
                  <a:lnTo>
                    <a:pt x="93715" y="82486"/>
                  </a:lnTo>
                  <a:lnTo>
                    <a:pt x="67646" y="117903"/>
                  </a:lnTo>
                  <a:lnTo>
                    <a:pt x="45598" y="157662"/>
                  </a:lnTo>
                  <a:lnTo>
                    <a:pt x="27693" y="200724"/>
                  </a:lnTo>
                  <a:lnTo>
                    <a:pt x="14057" y="246052"/>
                  </a:lnTo>
                  <a:lnTo>
                    <a:pt x="4814" y="292605"/>
                  </a:lnTo>
                  <a:lnTo>
                    <a:pt x="86" y="339344"/>
                  </a:lnTo>
                  <a:lnTo>
                    <a:pt x="0" y="385231"/>
                  </a:lnTo>
                  <a:lnTo>
                    <a:pt x="4677" y="429226"/>
                  </a:lnTo>
                  <a:lnTo>
                    <a:pt x="14244" y="470290"/>
                  </a:lnTo>
                  <a:lnTo>
                    <a:pt x="17487" y="486959"/>
                  </a:lnTo>
                  <a:lnTo>
                    <a:pt x="22235" y="515691"/>
                  </a:lnTo>
                  <a:lnTo>
                    <a:pt x="27103" y="544372"/>
                  </a:lnTo>
                  <a:lnTo>
                    <a:pt x="30703" y="560892"/>
                  </a:lnTo>
                  <a:lnTo>
                    <a:pt x="141206" y="548281"/>
                  </a:lnTo>
                  <a:lnTo>
                    <a:pt x="149028" y="499262"/>
                  </a:lnTo>
                  <a:lnTo>
                    <a:pt x="154654" y="453044"/>
                  </a:lnTo>
                  <a:lnTo>
                    <a:pt x="160206" y="409983"/>
                  </a:lnTo>
                  <a:lnTo>
                    <a:pt x="167805" y="370438"/>
                  </a:lnTo>
                  <a:lnTo>
                    <a:pt x="197631" y="303317"/>
                  </a:lnTo>
                  <a:lnTo>
                    <a:pt x="261105" y="254538"/>
                  </a:lnTo>
                  <a:lnTo>
                    <a:pt x="310764" y="237918"/>
                  </a:lnTo>
                  <a:lnTo>
                    <a:pt x="338671" y="217151"/>
                  </a:lnTo>
                  <a:lnTo>
                    <a:pt x="368870" y="176966"/>
                  </a:lnTo>
                  <a:lnTo>
                    <a:pt x="399505" y="131382"/>
                  </a:lnTo>
                  <a:lnTo>
                    <a:pt x="428722" y="94419"/>
                  </a:lnTo>
                  <a:lnTo>
                    <a:pt x="428059" y="52335"/>
                  </a:lnTo>
                  <a:lnTo>
                    <a:pt x="394725" y="28280"/>
                  </a:lnTo>
                  <a:lnTo>
                    <a:pt x="354699" y="10109"/>
                  </a:lnTo>
                  <a:lnTo>
                    <a:pt x="308014" y="0"/>
                  </a:lnTo>
                  <a:lnTo>
                    <a:pt x="254703" y="132"/>
                  </a:lnTo>
                  <a:lnTo>
                    <a:pt x="194800" y="12684"/>
                  </a:lnTo>
                  <a:close/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1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854390" y="1640107"/>
              <a:ext cx="86037" cy="66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568781" y="1689882"/>
              <a:ext cx="119976" cy="159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"/>
            <p:cNvSpPr/>
            <p:nvPr/>
          </p:nvSpPr>
          <p:spPr>
            <a:xfrm>
              <a:off x="5235072" y="1700273"/>
              <a:ext cx="68069" cy="337438"/>
            </a:xfrm>
            <a:custGeom>
              <a:avLst/>
              <a:gdLst/>
              <a:ahLst/>
              <a:cxnLst/>
              <a:rect l="l" t="t" r="r" b="b"/>
              <a:pathLst>
                <a:path w="74295" h="368300" extrusionOk="0">
                  <a:moveTo>
                    <a:pt x="0" y="368160"/>
                  </a:moveTo>
                  <a:lnTo>
                    <a:pt x="29719" y="332106"/>
                  </a:lnTo>
                  <a:lnTo>
                    <a:pt x="52009" y="292412"/>
                  </a:lnTo>
                  <a:lnTo>
                    <a:pt x="66869" y="250119"/>
                  </a:lnTo>
                  <a:lnTo>
                    <a:pt x="74299" y="206266"/>
                  </a:lnTo>
                  <a:lnTo>
                    <a:pt x="74299" y="161893"/>
                  </a:lnTo>
                  <a:lnTo>
                    <a:pt x="66869" y="118040"/>
                  </a:lnTo>
                  <a:lnTo>
                    <a:pt x="52009" y="75747"/>
                  </a:lnTo>
                  <a:lnTo>
                    <a:pt x="29719" y="360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5165229" y="1770121"/>
              <a:ext cx="38398" cy="197809"/>
            </a:xfrm>
            <a:custGeom>
              <a:avLst/>
              <a:gdLst/>
              <a:ahLst/>
              <a:cxnLst/>
              <a:rect l="l" t="t" r="r" b="b"/>
              <a:pathLst>
                <a:path w="41910" h="215900" extrusionOk="0">
                  <a:moveTo>
                    <a:pt x="0" y="215696"/>
                  </a:moveTo>
                  <a:lnTo>
                    <a:pt x="27937" y="176110"/>
                  </a:lnTo>
                  <a:lnTo>
                    <a:pt x="41906" y="131194"/>
                  </a:lnTo>
                  <a:lnTo>
                    <a:pt x="41906" y="84502"/>
                  </a:lnTo>
                  <a:lnTo>
                    <a:pt x="27937" y="39586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104115" y="1831230"/>
              <a:ext cx="15127" cy="75633"/>
            </a:xfrm>
            <a:custGeom>
              <a:avLst/>
              <a:gdLst/>
              <a:ahLst/>
              <a:cxnLst/>
              <a:rect l="l" t="t" r="r" b="b"/>
              <a:pathLst>
                <a:path w="16510" h="82550" extrusionOk="0">
                  <a:moveTo>
                    <a:pt x="0" y="82296"/>
                  </a:moveTo>
                  <a:lnTo>
                    <a:pt x="12015" y="63048"/>
                  </a:lnTo>
                  <a:lnTo>
                    <a:pt x="16021" y="41152"/>
                  </a:lnTo>
                  <a:lnTo>
                    <a:pt x="12015" y="19254"/>
                  </a:lnTo>
                  <a:lnTo>
                    <a:pt x="0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039597" y="1868930"/>
              <a:ext cx="360710" cy="0"/>
            </a:xfrm>
            <a:custGeom>
              <a:avLst/>
              <a:gdLst/>
              <a:ahLst/>
              <a:cxnLst/>
              <a:rect l="l" t="t" r="r" b="b"/>
              <a:pathLst>
                <a:path w="393700" h="120000" extrusionOk="0">
                  <a:moveTo>
                    <a:pt x="0" y="0"/>
                  </a:moveTo>
                  <a:lnTo>
                    <a:pt x="393573" y="0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352697" y="1824770"/>
              <a:ext cx="47706" cy="88432"/>
            </a:xfrm>
            <a:custGeom>
              <a:avLst/>
              <a:gdLst/>
              <a:ahLst/>
              <a:cxnLst/>
              <a:rect l="l" t="t" r="r" b="b"/>
              <a:pathLst>
                <a:path w="52070" h="96519" extrusionOk="0">
                  <a:moveTo>
                    <a:pt x="0" y="0"/>
                  </a:moveTo>
                  <a:lnTo>
                    <a:pt x="51841" y="48196"/>
                  </a:lnTo>
                  <a:lnTo>
                    <a:pt x="0" y="96393"/>
                  </a:lnTo>
                </a:path>
              </a:pathLst>
            </a:custGeom>
            <a:noFill/>
            <a:ln w="136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4883948" y="1645694"/>
              <a:ext cx="52943" cy="52943"/>
            </a:xfrm>
            <a:custGeom>
              <a:avLst/>
              <a:gdLst/>
              <a:ahLst/>
              <a:cxnLst/>
              <a:rect l="l" t="t" r="r" b="b"/>
              <a:pathLst>
                <a:path w="57785" h="57785" extrusionOk="0">
                  <a:moveTo>
                    <a:pt x="31740" y="0"/>
                  </a:moveTo>
                  <a:lnTo>
                    <a:pt x="20302" y="1143"/>
                  </a:lnTo>
                  <a:lnTo>
                    <a:pt x="10196" y="6631"/>
                  </a:lnTo>
                  <a:lnTo>
                    <a:pt x="3224" y="15267"/>
                  </a:lnTo>
                  <a:lnTo>
                    <a:pt x="0" y="25887"/>
                  </a:lnTo>
                  <a:lnTo>
                    <a:pt x="1138" y="37326"/>
                  </a:lnTo>
                  <a:lnTo>
                    <a:pt x="6631" y="47426"/>
                  </a:lnTo>
                  <a:lnTo>
                    <a:pt x="15268" y="54398"/>
                  </a:lnTo>
                  <a:lnTo>
                    <a:pt x="25889" y="57621"/>
                  </a:lnTo>
                  <a:lnTo>
                    <a:pt x="37333" y="56477"/>
                  </a:lnTo>
                  <a:lnTo>
                    <a:pt x="47431" y="50990"/>
                  </a:lnTo>
                  <a:lnTo>
                    <a:pt x="54400" y="42353"/>
                  </a:lnTo>
                  <a:lnTo>
                    <a:pt x="57623" y="31733"/>
                  </a:lnTo>
                  <a:lnTo>
                    <a:pt x="56484" y="20295"/>
                  </a:lnTo>
                  <a:lnTo>
                    <a:pt x="50997" y="10194"/>
                  </a:lnTo>
                  <a:lnTo>
                    <a:pt x="42360" y="3223"/>
                  </a:lnTo>
                  <a:lnTo>
                    <a:pt x="317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79530" y="1203147"/>
            <a:ext cx="1185106" cy="11850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/>
          <p:nvPr/>
        </p:nvSpPr>
        <p:spPr>
          <a:xfrm>
            <a:off x="8478385" y="2476605"/>
            <a:ext cx="1987396" cy="833123"/>
          </a:xfrm>
          <a:custGeom>
            <a:avLst/>
            <a:gdLst/>
            <a:ahLst/>
            <a:cxnLst/>
            <a:rect l="l" t="t" r="r" b="b"/>
            <a:pathLst>
              <a:path w="2169159" h="909320" extrusionOk="0">
                <a:moveTo>
                  <a:pt x="1714563" y="0"/>
                </a:moveTo>
                <a:lnTo>
                  <a:pt x="454444" y="0"/>
                </a:lnTo>
                <a:lnTo>
                  <a:pt x="407980" y="2346"/>
                </a:lnTo>
                <a:lnTo>
                  <a:pt x="362859" y="9232"/>
                </a:lnTo>
                <a:lnTo>
                  <a:pt x="319308" y="20431"/>
                </a:lnTo>
                <a:lnTo>
                  <a:pt x="277556" y="35713"/>
                </a:lnTo>
                <a:lnTo>
                  <a:pt x="237831" y="54849"/>
                </a:lnTo>
                <a:lnTo>
                  <a:pt x="200362" y="77613"/>
                </a:lnTo>
                <a:lnTo>
                  <a:pt x="165377" y="103774"/>
                </a:lnTo>
                <a:lnTo>
                  <a:pt x="133105" y="133105"/>
                </a:lnTo>
                <a:lnTo>
                  <a:pt x="103774" y="165377"/>
                </a:lnTo>
                <a:lnTo>
                  <a:pt x="77613" y="200362"/>
                </a:lnTo>
                <a:lnTo>
                  <a:pt x="54849" y="237831"/>
                </a:lnTo>
                <a:lnTo>
                  <a:pt x="35713" y="277556"/>
                </a:lnTo>
                <a:lnTo>
                  <a:pt x="20431" y="319308"/>
                </a:lnTo>
                <a:lnTo>
                  <a:pt x="9232" y="362859"/>
                </a:lnTo>
                <a:lnTo>
                  <a:pt x="2346" y="407980"/>
                </a:lnTo>
                <a:lnTo>
                  <a:pt x="0" y="454444"/>
                </a:lnTo>
                <a:lnTo>
                  <a:pt x="2346" y="500907"/>
                </a:lnTo>
                <a:lnTo>
                  <a:pt x="9232" y="546028"/>
                </a:lnTo>
                <a:lnTo>
                  <a:pt x="20431" y="589579"/>
                </a:lnTo>
                <a:lnTo>
                  <a:pt x="35713" y="631332"/>
                </a:lnTo>
                <a:lnTo>
                  <a:pt x="54849" y="671056"/>
                </a:lnTo>
                <a:lnTo>
                  <a:pt x="77613" y="708525"/>
                </a:lnTo>
                <a:lnTo>
                  <a:pt x="103774" y="743510"/>
                </a:lnTo>
                <a:lnTo>
                  <a:pt x="133105" y="775782"/>
                </a:lnTo>
                <a:lnTo>
                  <a:pt x="165377" y="805113"/>
                </a:lnTo>
                <a:lnTo>
                  <a:pt x="200362" y="831274"/>
                </a:lnTo>
                <a:lnTo>
                  <a:pt x="237831" y="854038"/>
                </a:lnTo>
                <a:lnTo>
                  <a:pt x="277556" y="873175"/>
                </a:lnTo>
                <a:lnTo>
                  <a:pt x="319308" y="888456"/>
                </a:lnTo>
                <a:lnTo>
                  <a:pt x="362859" y="899655"/>
                </a:lnTo>
                <a:lnTo>
                  <a:pt x="407980" y="906541"/>
                </a:lnTo>
                <a:lnTo>
                  <a:pt x="454444" y="908888"/>
                </a:lnTo>
                <a:lnTo>
                  <a:pt x="1714563" y="908888"/>
                </a:lnTo>
                <a:lnTo>
                  <a:pt x="1761026" y="906541"/>
                </a:lnTo>
                <a:lnTo>
                  <a:pt x="1806148" y="899655"/>
                </a:lnTo>
                <a:lnTo>
                  <a:pt x="1849699" y="888456"/>
                </a:lnTo>
                <a:lnTo>
                  <a:pt x="1891451" y="873175"/>
                </a:lnTo>
                <a:lnTo>
                  <a:pt x="1931176" y="854038"/>
                </a:lnTo>
                <a:lnTo>
                  <a:pt x="1968645" y="831274"/>
                </a:lnTo>
                <a:lnTo>
                  <a:pt x="2003630" y="805113"/>
                </a:lnTo>
                <a:lnTo>
                  <a:pt x="2035902" y="775782"/>
                </a:lnTo>
                <a:lnTo>
                  <a:pt x="2065232" y="743510"/>
                </a:lnTo>
                <a:lnTo>
                  <a:pt x="2091394" y="708525"/>
                </a:lnTo>
                <a:lnTo>
                  <a:pt x="2114157" y="671056"/>
                </a:lnTo>
                <a:lnTo>
                  <a:pt x="2133294" y="631332"/>
                </a:lnTo>
                <a:lnTo>
                  <a:pt x="2148576" y="589579"/>
                </a:lnTo>
                <a:lnTo>
                  <a:pt x="2159774" y="546028"/>
                </a:lnTo>
                <a:lnTo>
                  <a:pt x="2166661" y="500907"/>
                </a:lnTo>
                <a:lnTo>
                  <a:pt x="2169007" y="454444"/>
                </a:lnTo>
                <a:lnTo>
                  <a:pt x="2166661" y="407980"/>
                </a:lnTo>
                <a:lnTo>
                  <a:pt x="2159774" y="362859"/>
                </a:lnTo>
                <a:lnTo>
                  <a:pt x="2148576" y="319308"/>
                </a:lnTo>
                <a:lnTo>
                  <a:pt x="2133294" y="277556"/>
                </a:lnTo>
                <a:lnTo>
                  <a:pt x="2114157" y="237831"/>
                </a:lnTo>
                <a:lnTo>
                  <a:pt x="2091394" y="200362"/>
                </a:lnTo>
                <a:lnTo>
                  <a:pt x="2065232" y="165377"/>
                </a:lnTo>
                <a:lnTo>
                  <a:pt x="2035902" y="133105"/>
                </a:lnTo>
                <a:lnTo>
                  <a:pt x="2003630" y="103774"/>
                </a:lnTo>
                <a:lnTo>
                  <a:pt x="1968645" y="77613"/>
                </a:lnTo>
                <a:lnTo>
                  <a:pt x="1931176" y="54849"/>
                </a:lnTo>
                <a:lnTo>
                  <a:pt x="1891451" y="35713"/>
                </a:lnTo>
                <a:lnTo>
                  <a:pt x="1849699" y="20431"/>
                </a:lnTo>
                <a:lnTo>
                  <a:pt x="1806148" y="9232"/>
                </a:lnTo>
                <a:lnTo>
                  <a:pt x="1761026" y="2346"/>
                </a:lnTo>
                <a:lnTo>
                  <a:pt x="1714563" y="0"/>
                </a:lnTo>
                <a:close/>
              </a:path>
            </a:pathLst>
          </a:custGeom>
          <a:solidFill>
            <a:srgbClr val="8BDF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8938880" y="2639112"/>
            <a:ext cx="993697" cy="59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904" rIns="0" bIns="0" anchor="t" anchorCtr="0">
            <a:spAutoFit/>
          </a:bodyPr>
          <a:lstStyle/>
          <a:p>
            <a:pPr marL="11635" marR="4653" indent="84932">
              <a:lnSpc>
                <a:spcPct val="111172"/>
              </a:lnSpc>
            </a:pPr>
            <a:r>
              <a:rPr lang="en-US" sz="1648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Social &amp;  Emotional</a:t>
            </a:r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956569" y="35198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5384" y="3701973"/>
            <a:ext cx="1691265" cy="33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114599">
              <a:lnSpc>
                <a:spcPct val="101400"/>
              </a:lnSpc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sentence  stems to link others’ ideas?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227217" y="3338942"/>
            <a:ext cx="1987396" cy="565500"/>
          </a:xfrm>
          <a:custGeom>
            <a:avLst/>
            <a:gdLst/>
            <a:ahLst/>
            <a:cxnLst/>
            <a:rect l="l" t="t" r="r" b="b"/>
            <a:pathLst>
              <a:path w="2169159" h="61722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605"/>
                </a:lnTo>
                <a:lnTo>
                  <a:pt x="7341" y="518120"/>
                </a:lnTo>
                <a:lnTo>
                  <a:pt x="27785" y="557650"/>
                </a:lnTo>
                <a:lnTo>
                  <a:pt x="58959" y="588824"/>
                </a:lnTo>
                <a:lnTo>
                  <a:pt x="98490" y="609268"/>
                </a:lnTo>
                <a:lnTo>
                  <a:pt x="144005" y="616610"/>
                </a:lnTo>
                <a:lnTo>
                  <a:pt x="2025002" y="616610"/>
                </a:lnTo>
                <a:lnTo>
                  <a:pt x="2070517" y="609268"/>
                </a:lnTo>
                <a:lnTo>
                  <a:pt x="2110048" y="588824"/>
                </a:lnTo>
                <a:lnTo>
                  <a:pt x="2141221" y="557650"/>
                </a:lnTo>
                <a:lnTo>
                  <a:pt x="2161665" y="518120"/>
                </a:lnTo>
                <a:lnTo>
                  <a:pt x="2169007" y="472605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55566" y="3458359"/>
            <a:ext cx="1433531" cy="497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rebuchet MS"/>
                <a:cs typeface="Trebuchet MS"/>
                <a:sym typeface="Trebuchet MS"/>
              </a:rPr>
              <a:t>Is what you want to say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Trebuchet MS"/>
              <a:cs typeface="Trebuchet MS"/>
              <a:sym typeface="Trebuchet MS"/>
            </a:endParaRPr>
          </a:p>
          <a:p>
            <a:pPr marL="54101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clear and </a:t>
            </a:r>
            <a:r>
              <a:rPr lang="en-US" sz="1053" err="1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organised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492047" y="3701973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690081" y="3799745"/>
            <a:ext cx="17308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taking turns to talk  and listen and encouraging  others to take part?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629598" y="3380223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84911" y="3516429"/>
            <a:ext cx="1555126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thinking about  the speed and volume of  your voice?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645165" y="4431146"/>
            <a:ext cx="1987396" cy="729564"/>
          </a:xfrm>
          <a:custGeom>
            <a:avLst/>
            <a:gdLst/>
            <a:ahLst/>
            <a:cxnLst/>
            <a:rect l="l" t="t" r="r" b="b"/>
            <a:pathLst>
              <a:path w="2169160" h="79628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52106"/>
                </a:lnTo>
                <a:lnTo>
                  <a:pt x="7341" y="697620"/>
                </a:lnTo>
                <a:lnTo>
                  <a:pt x="27785" y="737148"/>
                </a:lnTo>
                <a:lnTo>
                  <a:pt x="58959" y="768317"/>
                </a:lnTo>
                <a:lnTo>
                  <a:pt x="98490" y="788758"/>
                </a:lnTo>
                <a:lnTo>
                  <a:pt x="144005" y="796099"/>
                </a:lnTo>
                <a:lnTo>
                  <a:pt x="2025002" y="796099"/>
                </a:lnTo>
                <a:lnTo>
                  <a:pt x="2070517" y="788758"/>
                </a:lnTo>
                <a:lnTo>
                  <a:pt x="2110048" y="768317"/>
                </a:lnTo>
                <a:lnTo>
                  <a:pt x="2141221" y="737148"/>
                </a:lnTo>
                <a:lnTo>
                  <a:pt x="2161665" y="697620"/>
                </a:lnTo>
                <a:lnTo>
                  <a:pt x="2169007" y="652106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813729" y="4541524"/>
            <a:ext cx="1694173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gestures and  expression to help make  your point?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93429" y="5546941"/>
            <a:ext cx="1987396" cy="564918"/>
          </a:xfrm>
          <a:custGeom>
            <a:avLst/>
            <a:gdLst/>
            <a:ahLst/>
            <a:cxnLst/>
            <a:rect l="l" t="t" r="r" b="b"/>
            <a:pathLst>
              <a:path w="2169160" h="616584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472274"/>
                </a:lnTo>
                <a:lnTo>
                  <a:pt x="7341" y="517794"/>
                </a:lnTo>
                <a:lnTo>
                  <a:pt x="27785" y="557326"/>
                </a:lnTo>
                <a:lnTo>
                  <a:pt x="58959" y="588497"/>
                </a:lnTo>
                <a:lnTo>
                  <a:pt x="98490" y="608939"/>
                </a:lnTo>
                <a:lnTo>
                  <a:pt x="144005" y="616280"/>
                </a:lnTo>
                <a:lnTo>
                  <a:pt x="2025002" y="616280"/>
                </a:lnTo>
                <a:lnTo>
                  <a:pt x="2070517" y="608939"/>
                </a:lnTo>
                <a:lnTo>
                  <a:pt x="2110048" y="588497"/>
                </a:lnTo>
                <a:lnTo>
                  <a:pt x="2141221" y="557326"/>
                </a:lnTo>
                <a:lnTo>
                  <a:pt x="2161665" y="517794"/>
                </a:lnTo>
                <a:lnTo>
                  <a:pt x="2169007" y="472274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F9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760989" y="5647438"/>
            <a:ext cx="167904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facing who you are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66317">
              <a:spcBef>
                <a:spcPts val="18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speaking or listening to?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950758" y="5050049"/>
            <a:ext cx="1987501" cy="727277"/>
          </a:xfrm>
          <a:custGeom>
            <a:avLst/>
            <a:gdLst/>
            <a:ahLst/>
            <a:cxnLst/>
            <a:rect l="l" t="t" r="r" b="b"/>
            <a:pathLst>
              <a:path w="2169160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9E1A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195964" y="5245657"/>
            <a:ext cx="1530108" cy="33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74462"/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using new and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  <a:p>
            <a:pPr marL="11635">
              <a:spcBef>
                <a:spcPts val="18"/>
              </a:spcBef>
            </a:pPr>
            <a:r>
              <a:rPr lang="en-US" sz="1053">
                <a:solidFill>
                  <a:srgbClr val="FFFFFF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appropriate vocabulary?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227217" y="4343314"/>
            <a:ext cx="1987396" cy="727238"/>
          </a:xfrm>
          <a:custGeom>
            <a:avLst/>
            <a:gdLst/>
            <a:ahLst/>
            <a:cxnLst/>
            <a:rect l="l" t="t" r="r" b="b"/>
            <a:pathLst>
              <a:path w="2169159" h="793750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9160"/>
                </a:lnTo>
                <a:lnTo>
                  <a:pt x="7341" y="694680"/>
                </a:lnTo>
                <a:lnTo>
                  <a:pt x="27785" y="734211"/>
                </a:lnTo>
                <a:lnTo>
                  <a:pt x="58959" y="765383"/>
                </a:lnTo>
                <a:lnTo>
                  <a:pt x="98490" y="785825"/>
                </a:lnTo>
                <a:lnTo>
                  <a:pt x="144005" y="793165"/>
                </a:lnTo>
                <a:lnTo>
                  <a:pt x="2025002" y="793165"/>
                </a:lnTo>
                <a:lnTo>
                  <a:pt x="2070517" y="785825"/>
                </a:lnTo>
                <a:lnTo>
                  <a:pt x="2110048" y="765383"/>
                </a:lnTo>
                <a:lnTo>
                  <a:pt x="2141221" y="734211"/>
                </a:lnTo>
                <a:lnTo>
                  <a:pt x="2161665" y="694680"/>
                </a:lnTo>
                <a:lnTo>
                  <a:pt x="2169007" y="649160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F8CF0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6479133" y="4434365"/>
            <a:ext cx="1458548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indent="275739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asking  relevant questions and  responding to others?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>
            <a:off x="6256562" y="5090967"/>
            <a:ext cx="1987396" cy="985429"/>
            <a:chOff x="5489995" y="5978044"/>
            <a:chExt cx="2169160" cy="1075555"/>
          </a:xfrm>
        </p:grpSpPr>
        <p:sp>
          <p:nvSpPr>
            <p:cNvPr id="103" name="Google Shape;103;p1"/>
            <p:cNvSpPr/>
            <p:nvPr/>
          </p:nvSpPr>
          <p:spPr>
            <a:xfrm>
              <a:off x="5489995" y="6433839"/>
              <a:ext cx="2169160" cy="619760"/>
            </a:xfrm>
            <a:custGeom>
              <a:avLst/>
              <a:gdLst/>
              <a:ahLst/>
              <a:cxnLst/>
              <a:rect l="l" t="t" r="r" b="b"/>
              <a:pathLst>
                <a:path w="2169159" h="619759" extrusionOk="0">
                  <a:moveTo>
                    <a:pt x="2025002" y="0"/>
                  </a:moveTo>
                  <a:lnTo>
                    <a:pt x="144005" y="0"/>
                  </a:lnTo>
                  <a:lnTo>
                    <a:pt x="98490" y="7340"/>
                  </a:lnTo>
                  <a:lnTo>
                    <a:pt x="58959" y="27782"/>
                  </a:lnTo>
                  <a:lnTo>
                    <a:pt x="27785" y="58954"/>
                  </a:lnTo>
                  <a:lnTo>
                    <a:pt x="7341" y="98485"/>
                  </a:lnTo>
                  <a:lnTo>
                    <a:pt x="0" y="144005"/>
                  </a:lnTo>
                  <a:lnTo>
                    <a:pt x="0" y="475754"/>
                  </a:lnTo>
                  <a:lnTo>
                    <a:pt x="7341" y="521269"/>
                  </a:lnTo>
                  <a:lnTo>
                    <a:pt x="27785" y="560800"/>
                  </a:lnTo>
                  <a:lnTo>
                    <a:pt x="58959" y="591974"/>
                  </a:lnTo>
                  <a:lnTo>
                    <a:pt x="98490" y="612418"/>
                  </a:lnTo>
                  <a:lnTo>
                    <a:pt x="144005" y="619759"/>
                  </a:lnTo>
                  <a:lnTo>
                    <a:pt x="2025002" y="619759"/>
                  </a:lnTo>
                  <a:lnTo>
                    <a:pt x="2070517" y="612418"/>
                  </a:lnTo>
                  <a:lnTo>
                    <a:pt x="2110048" y="591974"/>
                  </a:lnTo>
                  <a:lnTo>
                    <a:pt x="2141221" y="560800"/>
                  </a:lnTo>
                  <a:lnTo>
                    <a:pt x="2161665" y="521269"/>
                  </a:lnTo>
                  <a:lnTo>
                    <a:pt x="2169007" y="475754"/>
                  </a:lnTo>
                  <a:lnTo>
                    <a:pt x="2169007" y="144005"/>
                  </a:lnTo>
                  <a:lnTo>
                    <a:pt x="2161665" y="98485"/>
                  </a:lnTo>
                  <a:lnTo>
                    <a:pt x="2141221" y="58954"/>
                  </a:lnTo>
                  <a:lnTo>
                    <a:pt x="2110048" y="27782"/>
                  </a:lnTo>
                  <a:lnTo>
                    <a:pt x="2070517" y="7340"/>
                  </a:lnTo>
                  <a:lnTo>
                    <a:pt x="2025002" y="0"/>
                  </a:lnTo>
                  <a:close/>
                </a:path>
              </a:pathLst>
            </a:custGeom>
            <a:solidFill>
              <a:srgbClr val="F8CF0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288194" y="6283809"/>
              <a:ext cx="237031" cy="237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213521" y="0"/>
                  </a:move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close/>
                </a:path>
              </a:pathLst>
            </a:custGeom>
            <a:solidFill>
              <a:srgbClr val="FEF5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6983080" y="5978044"/>
              <a:ext cx="384810" cy="384810"/>
            </a:xfrm>
            <a:custGeom>
              <a:avLst/>
              <a:gdLst/>
              <a:ahLst/>
              <a:cxnLst/>
              <a:rect l="l" t="t" r="r" b="b"/>
              <a:pathLst>
                <a:path w="384809" h="384810" extrusionOk="0">
                  <a:moveTo>
                    <a:pt x="329151" y="329151"/>
                  </a:moveTo>
                  <a:lnTo>
                    <a:pt x="356909" y="294166"/>
                  </a:lnTo>
                  <a:lnTo>
                    <a:pt x="375415" y="255075"/>
                  </a:lnTo>
                  <a:lnTo>
                    <a:pt x="384668" y="213521"/>
                  </a:lnTo>
                  <a:lnTo>
                    <a:pt x="384668" y="171146"/>
                  </a:lnTo>
                  <a:lnTo>
                    <a:pt x="375415" y="129592"/>
                  </a:lnTo>
                  <a:lnTo>
                    <a:pt x="356909" y="90502"/>
                  </a:lnTo>
                  <a:lnTo>
                    <a:pt x="329151" y="55517"/>
                  </a:lnTo>
                  <a:lnTo>
                    <a:pt x="294166" y="27758"/>
                  </a:lnTo>
                  <a:lnTo>
                    <a:pt x="255075" y="9252"/>
                  </a:lnTo>
                  <a:lnTo>
                    <a:pt x="213521" y="0"/>
                  </a:lnTo>
                  <a:lnTo>
                    <a:pt x="171146" y="0"/>
                  </a:lnTo>
                  <a:lnTo>
                    <a:pt x="129592" y="9252"/>
                  </a:lnTo>
                  <a:lnTo>
                    <a:pt x="90502" y="27758"/>
                  </a:lnTo>
                  <a:lnTo>
                    <a:pt x="55517" y="55517"/>
                  </a:lnTo>
                  <a:lnTo>
                    <a:pt x="27758" y="90502"/>
                  </a:lnTo>
                  <a:lnTo>
                    <a:pt x="9252" y="129592"/>
                  </a:lnTo>
                  <a:lnTo>
                    <a:pt x="0" y="171146"/>
                  </a:lnTo>
                  <a:lnTo>
                    <a:pt x="0" y="213521"/>
                  </a:lnTo>
                  <a:lnTo>
                    <a:pt x="9252" y="255075"/>
                  </a:lnTo>
                  <a:lnTo>
                    <a:pt x="27758" y="294166"/>
                  </a:lnTo>
                  <a:lnTo>
                    <a:pt x="55517" y="329151"/>
                  </a:lnTo>
                  <a:lnTo>
                    <a:pt x="90502" y="356909"/>
                  </a:lnTo>
                  <a:lnTo>
                    <a:pt x="129592" y="375415"/>
                  </a:lnTo>
                  <a:lnTo>
                    <a:pt x="171146" y="384668"/>
                  </a:lnTo>
                  <a:lnTo>
                    <a:pt x="213521" y="384668"/>
                  </a:lnTo>
                  <a:lnTo>
                    <a:pt x="255075" y="375415"/>
                  </a:lnTo>
                  <a:lnTo>
                    <a:pt x="294166" y="356909"/>
                  </a:lnTo>
                  <a:lnTo>
                    <a:pt x="329151" y="329151"/>
                  </a:lnTo>
                  <a:close/>
                </a:path>
              </a:pathLst>
            </a:custGeom>
            <a:noFill/>
            <a:ln w="52750" cap="flat" cmpd="sng">
              <a:solidFill>
                <a:srgbClr val="F8CF0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"/>
          <p:cNvSpPr txBox="1"/>
          <p:nvPr/>
        </p:nvSpPr>
        <p:spPr>
          <a:xfrm>
            <a:off x="6443026" y="5129785"/>
            <a:ext cx="1614468" cy="84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R="182081" algn="r"/>
            <a:r>
              <a:rPr lang="en-US" sz="1923">
                <a:solidFill>
                  <a:srgbClr val="F8CF0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?</a:t>
            </a:r>
            <a:endParaRPr sz="1923">
              <a:solidFill>
                <a:schemeClr val="dk1"/>
              </a:solidFill>
              <a:latin typeface="Twinkl Cursive Looped" panose="02000000000000000000" pitchFamily="2" charset="77"/>
              <a:ea typeface="Tahoma"/>
              <a:cs typeface="Tahoma"/>
              <a:sym typeface="Tahoma"/>
            </a:endParaRPr>
          </a:p>
          <a:p>
            <a:pPr marL="173353" marR="4653" indent="-162303">
              <a:lnSpc>
                <a:spcPct val="101400"/>
              </a:lnSpc>
              <a:spcBef>
                <a:spcPts val="1636"/>
              </a:spcBef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giving reasons for  what you are saying?</a:t>
            </a:r>
            <a:endParaRPr sz="1053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483016" y="5163089"/>
            <a:ext cx="1987396" cy="720256"/>
          </a:xfrm>
          <a:custGeom>
            <a:avLst/>
            <a:gdLst/>
            <a:ahLst/>
            <a:cxnLst/>
            <a:rect l="l" t="t" r="r" b="b"/>
            <a:pathLst>
              <a:path w="2169159" h="786129" extrusionOk="0">
                <a:moveTo>
                  <a:pt x="2025002" y="0"/>
                </a:moveTo>
                <a:lnTo>
                  <a:pt x="144005" y="0"/>
                </a:lnTo>
                <a:lnTo>
                  <a:pt x="98490" y="7340"/>
                </a:lnTo>
                <a:lnTo>
                  <a:pt x="58959" y="27782"/>
                </a:lnTo>
                <a:lnTo>
                  <a:pt x="27785" y="58954"/>
                </a:lnTo>
                <a:lnTo>
                  <a:pt x="7341" y="98485"/>
                </a:lnTo>
                <a:lnTo>
                  <a:pt x="0" y="144005"/>
                </a:lnTo>
                <a:lnTo>
                  <a:pt x="0" y="641997"/>
                </a:lnTo>
                <a:lnTo>
                  <a:pt x="7341" y="687512"/>
                </a:lnTo>
                <a:lnTo>
                  <a:pt x="27785" y="727043"/>
                </a:lnTo>
                <a:lnTo>
                  <a:pt x="58959" y="758217"/>
                </a:lnTo>
                <a:lnTo>
                  <a:pt x="98490" y="778661"/>
                </a:lnTo>
                <a:lnTo>
                  <a:pt x="144005" y="786003"/>
                </a:lnTo>
                <a:lnTo>
                  <a:pt x="2025002" y="786003"/>
                </a:lnTo>
                <a:lnTo>
                  <a:pt x="2070517" y="778661"/>
                </a:lnTo>
                <a:lnTo>
                  <a:pt x="2110048" y="758217"/>
                </a:lnTo>
                <a:lnTo>
                  <a:pt x="2141221" y="727043"/>
                </a:lnTo>
                <a:lnTo>
                  <a:pt x="2161665" y="687512"/>
                </a:lnTo>
                <a:lnTo>
                  <a:pt x="2169007" y="641997"/>
                </a:lnTo>
                <a:lnTo>
                  <a:pt x="2169007" y="144005"/>
                </a:lnTo>
                <a:lnTo>
                  <a:pt x="2161665" y="98485"/>
                </a:lnTo>
                <a:lnTo>
                  <a:pt x="2141221" y="58954"/>
                </a:lnTo>
                <a:lnTo>
                  <a:pt x="2110048" y="27782"/>
                </a:lnTo>
                <a:lnTo>
                  <a:pt x="2070517" y="7340"/>
                </a:lnTo>
                <a:lnTo>
                  <a:pt x="2025002" y="0"/>
                </a:lnTo>
                <a:close/>
              </a:path>
            </a:pathLst>
          </a:custGeom>
          <a:solidFill>
            <a:srgbClr val="3DCA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648">
              <a:solidFill>
                <a:schemeClr val="dk1"/>
              </a:solidFill>
              <a:latin typeface="Twinkl Cursive Looped" panose="02000000000000000000" pitchFamily="2" charset="77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690080" y="5245656"/>
            <a:ext cx="1656939" cy="500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99" rIns="0" bIns="0" anchor="t" anchorCtr="0">
            <a:spAutoFit/>
          </a:bodyPr>
          <a:lstStyle/>
          <a:p>
            <a:pPr marL="11635" marR="4653" algn="ctr">
              <a:lnSpc>
                <a:spcPct val="101400"/>
              </a:lnSpc>
            </a:pP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Are you talking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Tahoma"/>
                <a:cs typeface="Tahoma"/>
                <a:sym typeface="Tahoma"/>
              </a:rPr>
              <a:t>confidently  </a:t>
            </a:r>
            <a:r>
              <a:rPr lang="en-US" sz="1053">
                <a:solidFill>
                  <a:schemeClr val="dk1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and thinking about your  audience?</a:t>
            </a:r>
            <a:endParaRPr sz="1633">
              <a:latin typeface="Twinkl Cursive Looped" panose="02000000000000000000" pitchFamily="2" charset="77"/>
            </a:endParaRPr>
          </a:p>
        </p:txBody>
      </p:sp>
      <p:grpSp>
        <p:nvGrpSpPr>
          <p:cNvPr id="110" name="Google Shape;110;p1"/>
          <p:cNvGrpSpPr/>
          <p:nvPr/>
        </p:nvGrpSpPr>
        <p:grpSpPr>
          <a:xfrm>
            <a:off x="3213248" y="5102742"/>
            <a:ext cx="358383" cy="471157"/>
            <a:chOff x="2201303" y="6017755"/>
            <a:chExt cx="391160" cy="514247"/>
          </a:xfrm>
        </p:grpSpPr>
        <p:pic>
          <p:nvPicPr>
            <p:cNvPr id="111" name="Google Shape;111;p1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354421" y="6017755"/>
              <a:ext cx="84378" cy="843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"/>
            <p:cNvSpPr/>
            <p:nvPr/>
          </p:nvSpPr>
          <p:spPr>
            <a:xfrm>
              <a:off x="2201303" y="6121157"/>
              <a:ext cx="391160" cy="410845"/>
            </a:xfrm>
            <a:custGeom>
              <a:avLst/>
              <a:gdLst/>
              <a:ahLst/>
              <a:cxnLst/>
              <a:rect l="l" t="t" r="r" b="b"/>
              <a:pathLst>
                <a:path w="391160" h="410845" extrusionOk="0">
                  <a:moveTo>
                    <a:pt x="195658" y="0"/>
                  </a:moveTo>
                  <a:lnTo>
                    <a:pt x="153869" y="7597"/>
                  </a:lnTo>
                  <a:lnTo>
                    <a:pt x="13553" y="57581"/>
                  </a:lnTo>
                  <a:lnTo>
                    <a:pt x="0" y="74351"/>
                  </a:lnTo>
                  <a:lnTo>
                    <a:pt x="815" y="82054"/>
                  </a:lnTo>
                  <a:lnTo>
                    <a:pt x="4558" y="88834"/>
                  </a:lnTo>
                  <a:lnTo>
                    <a:pt x="10408" y="93491"/>
                  </a:lnTo>
                  <a:lnTo>
                    <a:pt x="17579" y="95613"/>
                  </a:lnTo>
                  <a:lnTo>
                    <a:pt x="25288" y="94792"/>
                  </a:lnTo>
                  <a:lnTo>
                    <a:pt x="133111" y="55232"/>
                  </a:lnTo>
                  <a:lnTo>
                    <a:pt x="133111" y="386270"/>
                  </a:lnTo>
                  <a:lnTo>
                    <a:pt x="135028" y="395759"/>
                  </a:lnTo>
                  <a:lnTo>
                    <a:pt x="140255" y="403510"/>
                  </a:lnTo>
                  <a:lnTo>
                    <a:pt x="148005" y="408737"/>
                  </a:lnTo>
                  <a:lnTo>
                    <a:pt x="157495" y="410654"/>
                  </a:lnTo>
                  <a:lnTo>
                    <a:pt x="166984" y="408737"/>
                  </a:lnTo>
                  <a:lnTo>
                    <a:pt x="174735" y="403510"/>
                  </a:lnTo>
                  <a:lnTo>
                    <a:pt x="179962" y="395759"/>
                  </a:lnTo>
                  <a:lnTo>
                    <a:pt x="181879" y="386270"/>
                  </a:lnTo>
                  <a:lnTo>
                    <a:pt x="181879" y="199669"/>
                  </a:lnTo>
                  <a:lnTo>
                    <a:pt x="187886" y="193662"/>
                  </a:lnTo>
                  <a:lnTo>
                    <a:pt x="202745" y="193662"/>
                  </a:lnTo>
                  <a:lnTo>
                    <a:pt x="208752" y="199669"/>
                  </a:lnTo>
                  <a:lnTo>
                    <a:pt x="208752" y="386270"/>
                  </a:lnTo>
                  <a:lnTo>
                    <a:pt x="210669" y="395759"/>
                  </a:lnTo>
                  <a:lnTo>
                    <a:pt x="215896" y="403510"/>
                  </a:lnTo>
                  <a:lnTo>
                    <a:pt x="223647" y="408737"/>
                  </a:lnTo>
                  <a:lnTo>
                    <a:pt x="233136" y="410654"/>
                  </a:lnTo>
                  <a:lnTo>
                    <a:pt x="242623" y="408737"/>
                  </a:lnTo>
                  <a:lnTo>
                    <a:pt x="250370" y="403510"/>
                  </a:lnTo>
                  <a:lnTo>
                    <a:pt x="255592" y="395759"/>
                  </a:lnTo>
                  <a:lnTo>
                    <a:pt x="257507" y="386270"/>
                  </a:lnTo>
                  <a:lnTo>
                    <a:pt x="257507" y="55232"/>
                  </a:lnTo>
                  <a:lnTo>
                    <a:pt x="367273" y="95402"/>
                  </a:lnTo>
                  <a:lnTo>
                    <a:pt x="369242" y="95694"/>
                  </a:lnTo>
                  <a:lnTo>
                    <a:pt x="379478" y="95694"/>
                  </a:lnTo>
                  <a:lnTo>
                    <a:pt x="387162" y="90373"/>
                  </a:lnTo>
                  <a:lnTo>
                    <a:pt x="389790" y="82054"/>
                  </a:lnTo>
                  <a:lnTo>
                    <a:pt x="390606" y="74351"/>
                  </a:lnTo>
                  <a:lnTo>
                    <a:pt x="388484" y="67179"/>
                  </a:lnTo>
                  <a:lnTo>
                    <a:pt x="240642" y="9004"/>
                  </a:lnTo>
                  <a:lnTo>
                    <a:pt x="206455" y="140"/>
                  </a:lnTo>
                  <a:lnTo>
                    <a:pt x="195658" y="0"/>
                  </a:lnTo>
                  <a:close/>
                </a:path>
              </a:pathLst>
            </a:custGeom>
            <a:solidFill>
              <a:srgbClr val="FFC9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6330764" y="3963462"/>
            <a:ext cx="550955" cy="368273"/>
            <a:chOff x="5651392" y="4536803"/>
            <a:chExt cx="601345" cy="401955"/>
          </a:xfrm>
        </p:grpSpPr>
        <p:sp>
          <p:nvSpPr>
            <p:cNvPr id="114" name="Google Shape;114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564946" y="0"/>
                  </a:moveTo>
                  <a:lnTo>
                    <a:pt x="36004" y="0"/>
                  </a:ln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close/>
                </a:path>
              </a:pathLst>
            </a:custGeom>
            <a:solidFill>
              <a:srgbClr val="FCEC9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5651392" y="4536803"/>
              <a:ext cx="601345" cy="401955"/>
            </a:xfrm>
            <a:custGeom>
              <a:avLst/>
              <a:gdLst/>
              <a:ahLst/>
              <a:cxnLst/>
              <a:rect l="l" t="t" r="r" b="b"/>
              <a:pathLst>
                <a:path w="601345" h="401954" extrusionOk="0">
                  <a:moveTo>
                    <a:pt x="36004" y="0"/>
                  </a:moveTo>
                  <a:lnTo>
                    <a:pt x="21988" y="2828"/>
                  </a:lnTo>
                  <a:lnTo>
                    <a:pt x="10544" y="10544"/>
                  </a:lnTo>
                  <a:lnTo>
                    <a:pt x="2828" y="21988"/>
                  </a:lnTo>
                  <a:lnTo>
                    <a:pt x="0" y="36004"/>
                  </a:lnTo>
                  <a:lnTo>
                    <a:pt x="0" y="365404"/>
                  </a:lnTo>
                  <a:lnTo>
                    <a:pt x="2828" y="379420"/>
                  </a:lnTo>
                  <a:lnTo>
                    <a:pt x="10544" y="390864"/>
                  </a:lnTo>
                  <a:lnTo>
                    <a:pt x="21988" y="398579"/>
                  </a:lnTo>
                  <a:lnTo>
                    <a:pt x="36004" y="401408"/>
                  </a:lnTo>
                  <a:lnTo>
                    <a:pt x="564946" y="401408"/>
                  </a:lnTo>
                  <a:lnTo>
                    <a:pt x="578955" y="398579"/>
                  </a:lnTo>
                  <a:lnTo>
                    <a:pt x="590396" y="390864"/>
                  </a:lnTo>
                  <a:lnTo>
                    <a:pt x="598109" y="379420"/>
                  </a:lnTo>
                  <a:lnTo>
                    <a:pt x="600938" y="365404"/>
                  </a:lnTo>
                  <a:lnTo>
                    <a:pt x="600938" y="36004"/>
                  </a:lnTo>
                  <a:lnTo>
                    <a:pt x="598109" y="21988"/>
                  </a:lnTo>
                  <a:lnTo>
                    <a:pt x="590396" y="10544"/>
                  </a:lnTo>
                  <a:lnTo>
                    <a:pt x="578955" y="2828"/>
                  </a:lnTo>
                  <a:lnTo>
                    <a:pt x="564946" y="0"/>
                  </a:lnTo>
                  <a:lnTo>
                    <a:pt x="3600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5900109" y="4665324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5900100" y="4604084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66103" y="0"/>
                  </a:moveTo>
                  <a:lnTo>
                    <a:pt x="19164" y="0"/>
                  </a:lnTo>
                  <a:lnTo>
                    <a:pt x="11787" y="1710"/>
                  </a:lnTo>
                  <a:lnTo>
                    <a:pt x="5686" y="6340"/>
                  </a:lnTo>
                  <a:lnTo>
                    <a:pt x="1533" y="13137"/>
                  </a:lnTo>
                  <a:lnTo>
                    <a:pt x="0" y="21348"/>
                  </a:lnTo>
                  <a:lnTo>
                    <a:pt x="1533" y="29567"/>
                  </a:lnTo>
                  <a:lnTo>
                    <a:pt x="5686" y="36368"/>
                  </a:lnTo>
                  <a:lnTo>
                    <a:pt x="11787" y="40999"/>
                  </a:lnTo>
                  <a:lnTo>
                    <a:pt x="19164" y="42710"/>
                  </a:lnTo>
                  <a:lnTo>
                    <a:pt x="166103" y="42710"/>
                  </a:lnTo>
                  <a:lnTo>
                    <a:pt x="173482" y="40999"/>
                  </a:lnTo>
                  <a:lnTo>
                    <a:pt x="179587" y="36368"/>
                  </a:lnTo>
                  <a:lnTo>
                    <a:pt x="183744" y="29567"/>
                  </a:lnTo>
                  <a:lnTo>
                    <a:pt x="185280" y="21348"/>
                  </a:lnTo>
                  <a:lnTo>
                    <a:pt x="183744" y="13137"/>
                  </a:lnTo>
                  <a:lnTo>
                    <a:pt x="179587" y="6340"/>
                  </a:lnTo>
                  <a:lnTo>
                    <a:pt x="173482" y="1710"/>
                  </a:lnTo>
                  <a:lnTo>
                    <a:pt x="1661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5900109" y="4828218"/>
              <a:ext cx="185420" cy="43180"/>
            </a:xfrm>
            <a:custGeom>
              <a:avLst/>
              <a:gdLst/>
              <a:ahLst/>
              <a:cxnLst/>
              <a:rect l="l" t="t" r="r" b="b"/>
              <a:pathLst>
                <a:path w="185420" h="43179" extrusionOk="0">
                  <a:moveTo>
                    <a:pt x="19164" y="0"/>
                  </a:moveTo>
                  <a:lnTo>
                    <a:pt x="166103" y="0"/>
                  </a:lnTo>
                  <a:lnTo>
                    <a:pt x="173482" y="1710"/>
                  </a:lnTo>
                  <a:lnTo>
                    <a:pt x="179587" y="6340"/>
                  </a:lnTo>
                  <a:lnTo>
                    <a:pt x="183744" y="13137"/>
                  </a:lnTo>
                  <a:lnTo>
                    <a:pt x="185280" y="21348"/>
                  </a:lnTo>
                  <a:lnTo>
                    <a:pt x="183744" y="29567"/>
                  </a:lnTo>
                  <a:lnTo>
                    <a:pt x="179587" y="36368"/>
                  </a:lnTo>
                  <a:lnTo>
                    <a:pt x="173482" y="40999"/>
                  </a:lnTo>
                  <a:lnTo>
                    <a:pt x="166103" y="42710"/>
                  </a:lnTo>
                  <a:lnTo>
                    <a:pt x="19164" y="42710"/>
                  </a:lnTo>
                  <a:lnTo>
                    <a:pt x="11787" y="40999"/>
                  </a:lnTo>
                  <a:lnTo>
                    <a:pt x="5686" y="36368"/>
                  </a:lnTo>
                  <a:lnTo>
                    <a:pt x="1533" y="29567"/>
                  </a:lnTo>
                  <a:lnTo>
                    <a:pt x="0" y="21348"/>
                  </a:lnTo>
                  <a:lnTo>
                    <a:pt x="1533" y="13137"/>
                  </a:lnTo>
                  <a:lnTo>
                    <a:pt x="5686" y="6340"/>
                  </a:lnTo>
                  <a:lnTo>
                    <a:pt x="11787" y="1710"/>
                  </a:lnTo>
                  <a:lnTo>
                    <a:pt x="19164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294182" y="0"/>
                  </a:moveTo>
                  <a:lnTo>
                    <a:pt x="19011" y="0"/>
                  </a:lnTo>
                  <a:lnTo>
                    <a:pt x="11696" y="1585"/>
                  </a:lnTo>
                  <a:lnTo>
                    <a:pt x="5643" y="6007"/>
                  </a:lnTo>
                  <a:lnTo>
                    <a:pt x="1522" y="12762"/>
                  </a:lnTo>
                  <a:lnTo>
                    <a:pt x="0" y="21348"/>
                  </a:lnTo>
                  <a:lnTo>
                    <a:pt x="1522" y="29567"/>
                  </a:lnTo>
                  <a:lnTo>
                    <a:pt x="5643" y="36368"/>
                  </a:lnTo>
                  <a:lnTo>
                    <a:pt x="11696" y="40999"/>
                  </a:lnTo>
                  <a:lnTo>
                    <a:pt x="19011" y="42710"/>
                  </a:lnTo>
                  <a:lnTo>
                    <a:pt x="294182" y="42710"/>
                  </a:lnTo>
                  <a:lnTo>
                    <a:pt x="301498" y="40999"/>
                  </a:lnTo>
                  <a:lnTo>
                    <a:pt x="307551" y="36368"/>
                  </a:lnTo>
                  <a:lnTo>
                    <a:pt x="311672" y="29567"/>
                  </a:lnTo>
                  <a:lnTo>
                    <a:pt x="313194" y="21348"/>
                  </a:lnTo>
                  <a:lnTo>
                    <a:pt x="311672" y="13137"/>
                  </a:lnTo>
                  <a:lnTo>
                    <a:pt x="307551" y="6340"/>
                  </a:lnTo>
                  <a:lnTo>
                    <a:pt x="301498" y="1710"/>
                  </a:lnTo>
                  <a:lnTo>
                    <a:pt x="2941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5900100" y="4766978"/>
              <a:ext cx="313690" cy="43180"/>
            </a:xfrm>
            <a:custGeom>
              <a:avLst/>
              <a:gdLst/>
              <a:ahLst/>
              <a:cxnLst/>
              <a:rect l="l" t="t" r="r" b="b"/>
              <a:pathLst>
                <a:path w="313689" h="43179" extrusionOk="0">
                  <a:moveTo>
                    <a:pt x="19011" y="0"/>
                  </a:moveTo>
                  <a:lnTo>
                    <a:pt x="294182" y="0"/>
                  </a:lnTo>
                  <a:lnTo>
                    <a:pt x="301498" y="1710"/>
                  </a:lnTo>
                  <a:lnTo>
                    <a:pt x="307551" y="6340"/>
                  </a:lnTo>
                  <a:lnTo>
                    <a:pt x="311672" y="13137"/>
                  </a:lnTo>
                  <a:lnTo>
                    <a:pt x="313194" y="21348"/>
                  </a:lnTo>
                  <a:lnTo>
                    <a:pt x="311672" y="29567"/>
                  </a:lnTo>
                  <a:lnTo>
                    <a:pt x="307551" y="36368"/>
                  </a:lnTo>
                  <a:lnTo>
                    <a:pt x="301498" y="40999"/>
                  </a:lnTo>
                  <a:lnTo>
                    <a:pt x="294182" y="42710"/>
                  </a:lnTo>
                  <a:lnTo>
                    <a:pt x="19011" y="42710"/>
                  </a:lnTo>
                  <a:lnTo>
                    <a:pt x="11696" y="40999"/>
                  </a:lnTo>
                  <a:lnTo>
                    <a:pt x="5643" y="36368"/>
                  </a:lnTo>
                  <a:lnTo>
                    <a:pt x="1522" y="29567"/>
                  </a:lnTo>
                  <a:lnTo>
                    <a:pt x="0" y="21348"/>
                  </a:lnTo>
                  <a:lnTo>
                    <a:pt x="1522" y="12762"/>
                  </a:lnTo>
                  <a:lnTo>
                    <a:pt x="5643" y="6007"/>
                  </a:lnTo>
                  <a:lnTo>
                    <a:pt x="11696" y="1585"/>
                  </a:lnTo>
                  <a:lnTo>
                    <a:pt x="19011" y="0"/>
                  </a:lnTo>
                  <a:close/>
                </a:path>
              </a:pathLst>
            </a:custGeom>
            <a:noFill/>
            <a:ln w="12575" cap="flat" cmpd="sng">
              <a:solidFill>
                <a:srgbClr val="FCEC9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1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5725458" y="4614223"/>
              <a:ext cx="124307" cy="9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5741252" y="4768069"/>
              <a:ext cx="92710" cy="92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"/>
          <p:cNvSpPr txBox="1"/>
          <p:nvPr/>
        </p:nvSpPr>
        <p:spPr>
          <a:xfrm>
            <a:off x="1555695" y="6380960"/>
            <a:ext cx="1430622" cy="29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35" rIns="0" bIns="0" anchor="t" anchorCtr="0">
            <a:spAutoFit/>
          </a:bodyPr>
          <a:lstStyle/>
          <a:p>
            <a:pPr marL="11635"/>
            <a:r>
              <a:rPr lang="en-US" sz="916">
                <a:solidFill>
                  <a:srgbClr val="083942"/>
                </a:solidFill>
                <a:latin typeface="Twinkl Cursive Looped" panose="02000000000000000000" pitchFamily="2" charset="77"/>
                <a:ea typeface="Arial"/>
                <a:cs typeface="Arial"/>
                <a:sym typeface="Arial"/>
              </a:rPr>
              <a:t>Voice 21 | KS1 Oracy Framework</a:t>
            </a:r>
            <a:endParaRPr sz="916">
              <a:solidFill>
                <a:schemeClr val="dk1"/>
              </a:solidFill>
              <a:latin typeface="Twinkl Cursive Looped" panose="02000000000000000000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798672" y="4088310"/>
            <a:ext cx="481723" cy="326966"/>
            <a:chOff x="723988" y="4813757"/>
            <a:chExt cx="525780" cy="356870"/>
          </a:xfrm>
        </p:grpSpPr>
        <p:sp>
          <p:nvSpPr>
            <p:cNvPr id="128" name="Google Shape;128;p1"/>
            <p:cNvSpPr/>
            <p:nvPr/>
          </p:nvSpPr>
          <p:spPr>
            <a:xfrm>
              <a:off x="723988" y="4813757"/>
              <a:ext cx="525780" cy="356870"/>
            </a:xfrm>
            <a:custGeom>
              <a:avLst/>
              <a:gdLst/>
              <a:ahLst/>
              <a:cxnLst/>
              <a:rect l="l" t="t" r="r" b="b"/>
              <a:pathLst>
                <a:path w="525780" h="356870" extrusionOk="0">
                  <a:moveTo>
                    <a:pt x="144183" y="94907"/>
                  </a:moveTo>
                  <a:lnTo>
                    <a:pt x="136601" y="75145"/>
                  </a:lnTo>
                  <a:lnTo>
                    <a:pt x="122301" y="59728"/>
                  </a:lnTo>
                  <a:lnTo>
                    <a:pt x="102603" y="50774"/>
                  </a:lnTo>
                  <a:lnTo>
                    <a:pt x="81026" y="50304"/>
                  </a:lnTo>
                  <a:lnTo>
                    <a:pt x="61633" y="58013"/>
                  </a:lnTo>
                  <a:lnTo>
                    <a:pt x="46482" y="72580"/>
                  </a:lnTo>
                  <a:lnTo>
                    <a:pt x="37693" y="92633"/>
                  </a:lnTo>
                  <a:lnTo>
                    <a:pt x="37223" y="114592"/>
                  </a:lnTo>
                  <a:lnTo>
                    <a:pt x="44805" y="134340"/>
                  </a:lnTo>
                  <a:lnTo>
                    <a:pt x="59105" y="149771"/>
                  </a:lnTo>
                  <a:lnTo>
                    <a:pt x="78803" y="158724"/>
                  </a:lnTo>
                  <a:lnTo>
                    <a:pt x="100368" y="159194"/>
                  </a:lnTo>
                  <a:lnTo>
                    <a:pt x="119773" y="151485"/>
                  </a:lnTo>
                  <a:lnTo>
                    <a:pt x="134912" y="136918"/>
                  </a:lnTo>
                  <a:lnTo>
                    <a:pt x="143713" y="116865"/>
                  </a:lnTo>
                  <a:lnTo>
                    <a:pt x="144183" y="94907"/>
                  </a:lnTo>
                  <a:close/>
                </a:path>
                <a:path w="525780" h="356870" extrusionOk="0">
                  <a:moveTo>
                    <a:pt x="228650" y="263169"/>
                  </a:moveTo>
                  <a:lnTo>
                    <a:pt x="227926" y="255460"/>
                  </a:lnTo>
                  <a:lnTo>
                    <a:pt x="224332" y="248551"/>
                  </a:lnTo>
                  <a:lnTo>
                    <a:pt x="218122" y="243344"/>
                  </a:lnTo>
                  <a:lnTo>
                    <a:pt x="206248" y="243205"/>
                  </a:lnTo>
                  <a:lnTo>
                    <a:pt x="188239" y="247751"/>
                  </a:lnTo>
                  <a:lnTo>
                    <a:pt x="168897" y="252158"/>
                  </a:lnTo>
                  <a:lnTo>
                    <a:pt x="153060" y="251663"/>
                  </a:lnTo>
                  <a:lnTo>
                    <a:pt x="149593" y="246265"/>
                  </a:lnTo>
                  <a:lnTo>
                    <a:pt x="145910" y="239090"/>
                  </a:lnTo>
                  <a:lnTo>
                    <a:pt x="132600" y="209854"/>
                  </a:lnTo>
                  <a:lnTo>
                    <a:pt x="125437" y="197281"/>
                  </a:lnTo>
                  <a:lnTo>
                    <a:pt x="74930" y="175006"/>
                  </a:lnTo>
                  <a:lnTo>
                    <a:pt x="45986" y="170078"/>
                  </a:lnTo>
                  <a:lnTo>
                    <a:pt x="35674" y="172008"/>
                  </a:lnTo>
                  <a:lnTo>
                    <a:pt x="6921" y="247408"/>
                  </a:lnTo>
                  <a:lnTo>
                    <a:pt x="1663" y="299415"/>
                  </a:lnTo>
                  <a:lnTo>
                    <a:pt x="0" y="346748"/>
                  </a:lnTo>
                  <a:lnTo>
                    <a:pt x="0" y="351459"/>
                  </a:lnTo>
                  <a:lnTo>
                    <a:pt x="3911" y="355434"/>
                  </a:lnTo>
                  <a:lnTo>
                    <a:pt x="99428" y="356514"/>
                  </a:lnTo>
                  <a:lnTo>
                    <a:pt x="103339" y="353263"/>
                  </a:lnTo>
                  <a:lnTo>
                    <a:pt x="103695" y="348919"/>
                  </a:lnTo>
                  <a:lnTo>
                    <a:pt x="114706" y="266128"/>
                  </a:lnTo>
                  <a:lnTo>
                    <a:pt x="144183" y="292519"/>
                  </a:lnTo>
                  <a:lnTo>
                    <a:pt x="148082" y="292874"/>
                  </a:lnTo>
                  <a:lnTo>
                    <a:pt x="151638" y="292874"/>
                  </a:lnTo>
                  <a:lnTo>
                    <a:pt x="176326" y="290855"/>
                  </a:lnTo>
                  <a:lnTo>
                    <a:pt x="199212" y="285648"/>
                  </a:lnTo>
                  <a:lnTo>
                    <a:pt x="216966" y="278536"/>
                  </a:lnTo>
                  <a:lnTo>
                    <a:pt x="226288" y="270827"/>
                  </a:lnTo>
                  <a:lnTo>
                    <a:pt x="228650" y="263169"/>
                  </a:lnTo>
                  <a:close/>
                </a:path>
                <a:path w="525780" h="356870" extrusionOk="0">
                  <a:moveTo>
                    <a:pt x="357339" y="29578"/>
                  </a:moveTo>
                  <a:lnTo>
                    <a:pt x="355015" y="18059"/>
                  </a:lnTo>
                  <a:lnTo>
                    <a:pt x="348691" y="8661"/>
                  </a:lnTo>
                  <a:lnTo>
                    <a:pt x="339293" y="2324"/>
                  </a:lnTo>
                  <a:lnTo>
                    <a:pt x="327774" y="0"/>
                  </a:lnTo>
                  <a:lnTo>
                    <a:pt x="199986" y="0"/>
                  </a:lnTo>
                  <a:lnTo>
                    <a:pt x="188480" y="2324"/>
                  </a:lnTo>
                  <a:lnTo>
                    <a:pt x="179082" y="8661"/>
                  </a:lnTo>
                  <a:lnTo>
                    <a:pt x="172745" y="18059"/>
                  </a:lnTo>
                  <a:lnTo>
                    <a:pt x="170421" y="29578"/>
                  </a:lnTo>
                  <a:lnTo>
                    <a:pt x="170421" y="117856"/>
                  </a:lnTo>
                  <a:lnTo>
                    <a:pt x="172745" y="129362"/>
                  </a:lnTo>
                  <a:lnTo>
                    <a:pt x="179082" y="138760"/>
                  </a:lnTo>
                  <a:lnTo>
                    <a:pt x="188480" y="145097"/>
                  </a:lnTo>
                  <a:lnTo>
                    <a:pt x="199986" y="147421"/>
                  </a:lnTo>
                  <a:lnTo>
                    <a:pt x="201980" y="147421"/>
                  </a:lnTo>
                  <a:lnTo>
                    <a:pt x="201904" y="184035"/>
                  </a:lnTo>
                  <a:lnTo>
                    <a:pt x="207238" y="186753"/>
                  </a:lnTo>
                  <a:lnTo>
                    <a:pt x="258470" y="149377"/>
                  </a:lnTo>
                  <a:lnTo>
                    <a:pt x="264452" y="147421"/>
                  </a:lnTo>
                  <a:lnTo>
                    <a:pt x="327774" y="147421"/>
                  </a:lnTo>
                  <a:lnTo>
                    <a:pt x="339293" y="145097"/>
                  </a:lnTo>
                  <a:lnTo>
                    <a:pt x="348691" y="138760"/>
                  </a:lnTo>
                  <a:lnTo>
                    <a:pt x="355015" y="129362"/>
                  </a:lnTo>
                  <a:lnTo>
                    <a:pt x="357339" y="117856"/>
                  </a:lnTo>
                  <a:lnTo>
                    <a:pt x="357339" y="29578"/>
                  </a:lnTo>
                  <a:close/>
                </a:path>
                <a:path w="525780" h="356870" extrusionOk="0">
                  <a:moveTo>
                    <a:pt x="487972" y="114592"/>
                  </a:moveTo>
                  <a:lnTo>
                    <a:pt x="487502" y="92633"/>
                  </a:lnTo>
                  <a:lnTo>
                    <a:pt x="478701" y="72580"/>
                  </a:lnTo>
                  <a:lnTo>
                    <a:pt x="463562" y="58013"/>
                  </a:lnTo>
                  <a:lnTo>
                    <a:pt x="444157" y="50304"/>
                  </a:lnTo>
                  <a:lnTo>
                    <a:pt x="422592" y="50774"/>
                  </a:lnTo>
                  <a:lnTo>
                    <a:pt x="402894" y="59728"/>
                  </a:lnTo>
                  <a:lnTo>
                    <a:pt x="388594" y="75145"/>
                  </a:lnTo>
                  <a:lnTo>
                    <a:pt x="381012" y="94907"/>
                  </a:lnTo>
                  <a:lnTo>
                    <a:pt x="381482" y="116865"/>
                  </a:lnTo>
                  <a:lnTo>
                    <a:pt x="390271" y="136918"/>
                  </a:lnTo>
                  <a:lnTo>
                    <a:pt x="405422" y="151485"/>
                  </a:lnTo>
                  <a:lnTo>
                    <a:pt x="424815" y="159194"/>
                  </a:lnTo>
                  <a:lnTo>
                    <a:pt x="446392" y="158724"/>
                  </a:lnTo>
                  <a:lnTo>
                    <a:pt x="466090" y="149771"/>
                  </a:lnTo>
                  <a:lnTo>
                    <a:pt x="480390" y="134340"/>
                  </a:lnTo>
                  <a:lnTo>
                    <a:pt x="487972" y="114592"/>
                  </a:lnTo>
                  <a:close/>
                </a:path>
                <a:path w="525780" h="356870" extrusionOk="0">
                  <a:moveTo>
                    <a:pt x="525195" y="346748"/>
                  </a:moveTo>
                  <a:lnTo>
                    <a:pt x="523532" y="299415"/>
                  </a:lnTo>
                  <a:lnTo>
                    <a:pt x="518274" y="247408"/>
                  </a:lnTo>
                  <a:lnTo>
                    <a:pt x="509816" y="202857"/>
                  </a:lnTo>
                  <a:lnTo>
                    <a:pt x="479209" y="170078"/>
                  </a:lnTo>
                  <a:lnTo>
                    <a:pt x="466496" y="171335"/>
                  </a:lnTo>
                  <a:lnTo>
                    <a:pt x="418655" y="182956"/>
                  </a:lnTo>
                  <a:lnTo>
                    <a:pt x="379285" y="239090"/>
                  </a:lnTo>
                  <a:lnTo>
                    <a:pt x="375602" y="246253"/>
                  </a:lnTo>
                  <a:lnTo>
                    <a:pt x="372135" y="251650"/>
                  </a:lnTo>
                  <a:lnTo>
                    <a:pt x="366179" y="247167"/>
                  </a:lnTo>
                  <a:lnTo>
                    <a:pt x="359041" y="239356"/>
                  </a:lnTo>
                  <a:lnTo>
                    <a:pt x="351713" y="229387"/>
                  </a:lnTo>
                  <a:lnTo>
                    <a:pt x="345147" y="218389"/>
                  </a:lnTo>
                  <a:lnTo>
                    <a:pt x="340182" y="212204"/>
                  </a:lnTo>
                  <a:lnTo>
                    <a:pt x="333387" y="208534"/>
                  </a:lnTo>
                  <a:lnTo>
                    <a:pt x="325729" y="207708"/>
                  </a:lnTo>
                  <a:lnTo>
                    <a:pt x="318160" y="210070"/>
                  </a:lnTo>
                  <a:lnTo>
                    <a:pt x="311937" y="215277"/>
                  </a:lnTo>
                  <a:lnTo>
                    <a:pt x="308356" y="222186"/>
                  </a:lnTo>
                  <a:lnTo>
                    <a:pt x="307619" y="229908"/>
                  </a:lnTo>
                  <a:lnTo>
                    <a:pt x="309994" y="237553"/>
                  </a:lnTo>
                  <a:lnTo>
                    <a:pt x="317576" y="250469"/>
                  </a:lnTo>
                  <a:lnTo>
                    <a:pt x="331520" y="269011"/>
                  </a:lnTo>
                  <a:lnTo>
                    <a:pt x="350596" y="285661"/>
                  </a:lnTo>
                  <a:lnTo>
                    <a:pt x="373557" y="292874"/>
                  </a:lnTo>
                  <a:lnTo>
                    <a:pt x="377113" y="292874"/>
                  </a:lnTo>
                  <a:lnTo>
                    <a:pt x="410489" y="266115"/>
                  </a:lnTo>
                  <a:lnTo>
                    <a:pt x="421500" y="348919"/>
                  </a:lnTo>
                  <a:lnTo>
                    <a:pt x="421855" y="353250"/>
                  </a:lnTo>
                  <a:lnTo>
                    <a:pt x="425754" y="356514"/>
                  </a:lnTo>
                  <a:lnTo>
                    <a:pt x="521284" y="355422"/>
                  </a:lnTo>
                  <a:lnTo>
                    <a:pt x="525195" y="351447"/>
                  </a:lnTo>
                  <a:lnTo>
                    <a:pt x="525195" y="346748"/>
                  </a:lnTo>
                  <a:close/>
                </a:path>
              </a:pathLst>
            </a:custGeom>
            <a:solidFill>
              <a:srgbClr val="FFBE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934593" y="4855781"/>
              <a:ext cx="106680" cy="62230"/>
            </a:xfrm>
            <a:custGeom>
              <a:avLst/>
              <a:gdLst/>
              <a:ahLst/>
              <a:cxnLst/>
              <a:rect l="l" t="t" r="r" b="b"/>
              <a:pathLst>
                <a:path w="106680" h="62229" extrusionOk="0">
                  <a:moveTo>
                    <a:pt x="106565" y="44475"/>
                  </a:moveTo>
                  <a:lnTo>
                    <a:pt x="101511" y="39331"/>
                  </a:lnTo>
                  <a:lnTo>
                    <a:pt x="11023" y="39331"/>
                  </a:lnTo>
                  <a:lnTo>
                    <a:pt x="5054" y="39331"/>
                  </a:lnTo>
                  <a:lnTo>
                    <a:pt x="0" y="44005"/>
                  </a:lnTo>
                  <a:lnTo>
                    <a:pt x="0" y="56642"/>
                  </a:lnTo>
                  <a:lnTo>
                    <a:pt x="5054" y="61785"/>
                  </a:lnTo>
                  <a:lnTo>
                    <a:pt x="101511" y="61785"/>
                  </a:lnTo>
                  <a:lnTo>
                    <a:pt x="106565" y="56642"/>
                  </a:lnTo>
                  <a:lnTo>
                    <a:pt x="106565" y="44475"/>
                  </a:lnTo>
                  <a:close/>
                </a:path>
                <a:path w="106680" h="62229" extrusionOk="0">
                  <a:moveTo>
                    <a:pt x="106565" y="5143"/>
                  </a:moveTo>
                  <a:lnTo>
                    <a:pt x="101511" y="0"/>
                  </a:lnTo>
                  <a:lnTo>
                    <a:pt x="11023" y="0"/>
                  </a:lnTo>
                  <a:lnTo>
                    <a:pt x="5054" y="0"/>
                  </a:lnTo>
                  <a:lnTo>
                    <a:pt x="0" y="5143"/>
                  </a:lnTo>
                  <a:lnTo>
                    <a:pt x="0" y="17310"/>
                  </a:lnTo>
                  <a:lnTo>
                    <a:pt x="5054" y="22453"/>
                  </a:lnTo>
                  <a:lnTo>
                    <a:pt x="101511" y="22453"/>
                  </a:lnTo>
                  <a:lnTo>
                    <a:pt x="106565" y="17310"/>
                  </a:lnTo>
                  <a:lnTo>
                    <a:pt x="106565" y="51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Twinkl Cursive Looped" panose="02000000000000000000" pitchFamily="2" charset="77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E55C2D-951F-EEDF-FCF9-A8AD9210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6E53BD8C-C4D8-F91F-E58A-FFFD724DC789}"/>
              </a:ext>
            </a:extLst>
          </p:cNvPr>
          <p:cNvSpPr txBox="1"/>
          <p:nvPr/>
        </p:nvSpPr>
        <p:spPr>
          <a:xfrm>
            <a:off x="4394476" y="206047"/>
            <a:ext cx="34030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winkl Cursive Looped" panose="02000000000000000000" pitchFamily="2" charset="77"/>
              </a:rPr>
              <a:t>Sentence Stems for Talk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1D83AD4-A75B-4FB0-6AC9-94377FE4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900" y="74930"/>
            <a:ext cx="1592580" cy="7239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4EFE63F-72D4-B19E-E895-452B03E15F1E}"/>
              </a:ext>
            </a:extLst>
          </p:cNvPr>
          <p:cNvSpPr txBox="1"/>
          <p:nvPr/>
        </p:nvSpPr>
        <p:spPr>
          <a:xfrm flipH="1">
            <a:off x="211370" y="206047"/>
            <a:ext cx="210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5183BE"/>
                </a:solidFill>
                <a:latin typeface="Twinkl Cursive Looped" panose="02000000000000000000" pitchFamily="2" charset="77"/>
              </a:rPr>
              <a:t>LKS2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05B553-BFA6-E77A-A4D4-AF72EB9AFBDC}"/>
              </a:ext>
            </a:extLst>
          </p:cNvPr>
          <p:cNvGrpSpPr/>
          <p:nvPr/>
        </p:nvGrpSpPr>
        <p:grpSpPr>
          <a:xfrm>
            <a:off x="7208322" y="1828465"/>
            <a:ext cx="4887157" cy="3835253"/>
            <a:chOff x="165653" y="982869"/>
            <a:chExt cx="3314147" cy="3835253"/>
          </a:xfrm>
        </p:grpSpPr>
        <p:sp>
          <p:nvSpPr>
            <p:cNvPr id="68" name="Rectangle: Rounded Corners 3">
              <a:extLst>
                <a:ext uri="{FF2B5EF4-FFF2-40B4-BE49-F238E27FC236}">
                  <a16:creationId xmlns:a16="http://schemas.microsoft.com/office/drawing/2014/main" id="{5D6CD1AD-78B3-4B82-86CE-9ADE575C4B31}"/>
                </a:ext>
              </a:extLst>
            </p:cNvPr>
            <p:cNvSpPr/>
            <p:nvPr/>
          </p:nvSpPr>
          <p:spPr>
            <a:xfrm>
              <a:off x="165653" y="982869"/>
              <a:ext cx="3072848" cy="371613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0243F74-FB35-A154-DD3D-B4B78F03E875}"/>
                </a:ext>
              </a:extLst>
            </p:cNvPr>
            <p:cNvSpPr txBox="1"/>
            <p:nvPr/>
          </p:nvSpPr>
          <p:spPr>
            <a:xfrm>
              <a:off x="253976" y="1224413"/>
              <a:ext cx="271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Argue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5BFB54-62F2-604A-1A0F-91C8A669B919}"/>
                </a:ext>
              </a:extLst>
            </p:cNvPr>
            <p:cNvSpPr txBox="1"/>
            <p:nvPr/>
          </p:nvSpPr>
          <p:spPr>
            <a:xfrm>
              <a:off x="406400" y="1955800"/>
              <a:ext cx="307340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for is…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An argument against is… 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my opinion…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 understand…however…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considered…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Have you thought about… </a:t>
              </a:r>
              <a:endParaRPr lang="en-GB">
                <a:latin typeface="Twinkl Cursive Looped" panose="02000000000000000000" pitchFamily="2" charset="77"/>
              </a:endParaRPr>
            </a:p>
            <a:p>
              <a:endParaRPr lang="en-GB">
                <a:latin typeface="Twinkl Cursive Looped" panose="02000000000000000000" pitchFamily="2" charset="77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3382492-1FAF-84CB-10D1-E757A5C88D7C}"/>
              </a:ext>
            </a:extLst>
          </p:cNvPr>
          <p:cNvGrpSpPr/>
          <p:nvPr/>
        </p:nvGrpSpPr>
        <p:grpSpPr>
          <a:xfrm>
            <a:off x="612451" y="820527"/>
            <a:ext cx="5011528" cy="2814431"/>
            <a:chOff x="3534106" y="798830"/>
            <a:chExt cx="5011528" cy="2814431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1AB2584-2524-6B32-2D7F-70B7A4ECCDA4}"/>
                </a:ext>
              </a:extLst>
            </p:cNvPr>
            <p:cNvGrpSpPr/>
            <p:nvPr/>
          </p:nvGrpSpPr>
          <p:grpSpPr>
            <a:xfrm>
              <a:off x="3534106" y="798830"/>
              <a:ext cx="5011528" cy="2814431"/>
              <a:chOff x="3479248" y="982869"/>
              <a:chExt cx="5011528" cy="2814431"/>
            </a:xfrm>
          </p:grpSpPr>
          <p:sp>
            <p:nvSpPr>
              <p:cNvPr id="74" name="Rectangle: Rounded Corners 6">
                <a:extLst>
                  <a:ext uri="{FF2B5EF4-FFF2-40B4-BE49-F238E27FC236}">
                    <a16:creationId xmlns:a16="http://schemas.microsoft.com/office/drawing/2014/main" id="{318C018C-E55A-8CCF-403A-846B6B1745A6}"/>
                  </a:ext>
                </a:extLst>
              </p:cNvPr>
              <p:cNvSpPr/>
              <p:nvPr/>
            </p:nvSpPr>
            <p:spPr>
              <a:xfrm>
                <a:off x="3479248" y="982869"/>
                <a:ext cx="5011528" cy="2814431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winkl Cursive Looped" panose="02000000000000000000" pitchFamily="2" charset="77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E350C4A-B673-7F67-082F-8FC566A5C782}"/>
                  </a:ext>
                </a:extLst>
              </p:cNvPr>
              <p:cNvSpPr txBox="1"/>
              <p:nvPr/>
            </p:nvSpPr>
            <p:spPr>
              <a:xfrm>
                <a:off x="3680375" y="1604668"/>
                <a:ext cx="4701760" cy="213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appears…because…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seems to be…due to…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It reminds me…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>
                    <a:latin typeface="Twinkl Cursive Looped" panose="02000000000000000000" pitchFamily="2" charset="77"/>
                    <a:ea typeface="Sassoon Infant Rg" panose="02000503030000020003" pitchFamily="2" charset="0"/>
                  </a:rPr>
                  <a:t>To conclude… / In conclusion… / To sum up…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B009AD-4EAB-5A1E-B18E-58AD2E51DD2D}"/>
                </a:ext>
              </a:extLst>
            </p:cNvPr>
            <p:cNvSpPr txBox="1"/>
            <p:nvPr/>
          </p:nvSpPr>
          <p:spPr>
            <a:xfrm>
              <a:off x="4625560" y="887226"/>
              <a:ext cx="2717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Inform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(retelling and description)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780719-6643-F229-CF71-A6677A8099B8}"/>
              </a:ext>
            </a:extLst>
          </p:cNvPr>
          <p:cNvGrpSpPr/>
          <p:nvPr/>
        </p:nvGrpSpPr>
        <p:grpSpPr>
          <a:xfrm>
            <a:off x="503948" y="3895403"/>
            <a:ext cx="5968104" cy="2756550"/>
            <a:chOff x="3478696" y="3895403"/>
            <a:chExt cx="5228533" cy="2756550"/>
          </a:xfrm>
        </p:grpSpPr>
        <p:sp>
          <p:nvSpPr>
            <p:cNvPr id="77" name="Rectangle: Rounded Corners 7">
              <a:extLst>
                <a:ext uri="{FF2B5EF4-FFF2-40B4-BE49-F238E27FC236}">
                  <a16:creationId xmlns:a16="http://schemas.microsoft.com/office/drawing/2014/main" id="{44C5209D-1172-4191-3564-C0B31854A9FD}"/>
                </a:ext>
              </a:extLst>
            </p:cNvPr>
            <p:cNvSpPr/>
            <p:nvPr/>
          </p:nvSpPr>
          <p:spPr>
            <a:xfrm>
              <a:off x="3478696" y="3895403"/>
              <a:ext cx="5228533" cy="275655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winkl Cursive Looped" panose="02000000000000000000" pitchFamily="2" charset="7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5A2B245-055A-6DAF-2BA4-87B279CA33EB}"/>
                </a:ext>
              </a:extLst>
            </p:cNvPr>
            <p:cNvSpPr txBox="1"/>
            <p:nvPr/>
          </p:nvSpPr>
          <p:spPr>
            <a:xfrm>
              <a:off x="4625560" y="3936426"/>
              <a:ext cx="30706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u="sng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Talking To Explain</a:t>
              </a:r>
            </a:p>
            <a:p>
              <a:pPr algn="ctr"/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(Instruction and explanation)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051DFC7-1EF6-A35C-0C4B-69DA74D416FA}"/>
                </a:ext>
              </a:extLst>
            </p:cNvPr>
            <p:cNvSpPr txBox="1"/>
            <p:nvPr/>
          </p:nvSpPr>
          <p:spPr>
            <a:xfrm>
              <a:off x="3729138" y="4348074"/>
              <a:ext cx="4346991" cy="2135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Then, as a result of…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In contrast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…was successful / unsuccessful because…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Maybe it is due to…</a:t>
              </a:r>
            </a:p>
            <a:p>
              <a:pPr>
                <a:lnSpc>
                  <a:spcPct val="150000"/>
                </a:lnSpc>
              </a:pPr>
              <a:r>
                <a:rPr lang="en-GB">
                  <a:latin typeface="Twinkl Cursive Looped" panose="02000000000000000000" pitchFamily="2" charset="77"/>
                  <a:ea typeface="Sassoon Infant Rg" panose="02000503030000020003" pitchFamily="2" charset="0"/>
                </a:rPr>
                <a:t>Next time I would… as I think…</a:t>
              </a:r>
            </a:p>
          </p:txBody>
        </p:sp>
      </p:grpSp>
      <p:pic>
        <p:nvPicPr>
          <p:cNvPr id="80" name="Picture 2" descr="Discuss Icons - Download Free Vector Icons | Noun Project">
            <a:extLst>
              <a:ext uri="{FF2B5EF4-FFF2-40B4-BE49-F238E27FC236}">
                <a16:creationId xmlns:a16="http://schemas.microsoft.com/office/drawing/2014/main" id="{63E18017-BDE5-EE6E-DD70-C13A3B85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744" y="74930"/>
            <a:ext cx="1032909" cy="87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1BA32BD0-20F4-9546-89E8-B050DF33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120"/>
          <a:stretch>
            <a:fillRect/>
          </a:stretch>
        </p:blipFill>
        <p:spPr>
          <a:xfrm>
            <a:off x="4712158" y="4658842"/>
            <a:ext cx="1606360" cy="137954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BD78620A-8EE0-CB29-DF62-85947287A2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2931"/>
          <a:stretch>
            <a:fillRect/>
          </a:stretch>
        </p:blipFill>
        <p:spPr>
          <a:xfrm>
            <a:off x="10075462" y="3686530"/>
            <a:ext cx="1625881" cy="125304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AA479C7-A5D6-48AE-82C5-962B22987A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81"/>
          <a:stretch>
            <a:fillRect/>
          </a:stretch>
        </p:blipFill>
        <p:spPr>
          <a:xfrm>
            <a:off x="10275557" y="2390748"/>
            <a:ext cx="1425786" cy="120934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18519FF-5AA3-50BE-7772-6BC8CD5CFA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6755"/>
          <a:stretch>
            <a:fillRect/>
          </a:stretch>
        </p:blipFill>
        <p:spPr>
          <a:xfrm>
            <a:off x="4350414" y="1301155"/>
            <a:ext cx="1236215" cy="102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9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21771-B822-DE9B-250B-68C498108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err="1"/>
              <a:t>Iyhpiyku</a:t>
            </a:r>
            <a:r>
              <a:rPr lang="en-GB" dirty="0"/>
              <a:t>`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49D65B-E981-7671-0181-DA1EA2088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 err="1"/>
              <a:t>iyliuyliu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ECEC5-7795-802C-CCC0-BD2333C17A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43834D-D788-A9AC-77FC-6CD7CEACB3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81B83D-A506-B14C-4F7B-4C60732B5F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/>
              <a:t>Nj.jlkj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4D4E18-B7DB-BCD0-6EA8-E7530C39F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123B684-9BF7-7B2F-22E6-32C2A7510E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84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A64E0-0ED6-F208-F723-46B8345C2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Are England and Brazil different?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B3466-067C-3FCD-C3B1-7F181CDBAF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293" y="5761822"/>
            <a:ext cx="3893119" cy="1066100"/>
          </a:xfrm>
        </p:spPr>
        <p:txBody>
          <a:bodyPr/>
          <a:lstStyle/>
          <a:p>
            <a:r>
              <a:rPr lang="en-GB" dirty="0"/>
              <a:t>Year 4 Maple</a:t>
            </a:r>
          </a:p>
          <a:p>
            <a:r>
              <a:rPr lang="en-GB" dirty="0"/>
              <a:t>Tuesday 23 June 2026</a:t>
            </a:r>
          </a:p>
        </p:txBody>
      </p:sp>
    </p:spTree>
    <p:extLst>
      <p:ext uri="{BB962C8B-B14F-4D97-AF65-F5344CB8AC3E}">
        <p14:creationId xmlns:p14="http://schemas.microsoft.com/office/powerpoint/2010/main" val="269555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4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9FA7-D464-DB16-F9D9-1A8F22C9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DA825-4A9F-8790-0FB2-64DF3A55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4699" y="4308522"/>
            <a:ext cx="2311677" cy="2311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5F9710-C058-4AAB-0AE9-43EB97DCFAE3}"/>
              </a:ext>
            </a:extLst>
          </p:cNvPr>
          <p:cNvSpPr txBox="1"/>
          <p:nvPr/>
        </p:nvSpPr>
        <p:spPr>
          <a:xfrm>
            <a:off x="3538549" y="472558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2: Brazil physical geography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B39C3-B7BA-66B4-CB70-85C5337903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FFC000"/>
              <a:prstClr val="white"/>
            </a:duotone>
          </a:blip>
          <a:stretch>
            <a:fillRect/>
          </a:stretch>
        </p:blipFill>
        <p:spPr>
          <a:xfrm>
            <a:off x="1234800" y="4308522"/>
            <a:ext cx="2317967" cy="23179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6542-736F-868F-AFBC-EC2927048E44}"/>
              </a:ext>
            </a:extLst>
          </p:cNvPr>
          <p:cNvSpPr txBox="1"/>
          <p:nvPr/>
        </p:nvSpPr>
        <p:spPr>
          <a:xfrm>
            <a:off x="1786266" y="4777132"/>
            <a:ext cx="1298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winkl Cursive Looped" panose="02000000000000000000" pitchFamily="2" charset="77"/>
              </a:rPr>
              <a:t>Lesson 1 → TODAY: Locating Brazil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B2614B-06E3-135C-6D45-607F4667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7200" y="4302232"/>
            <a:ext cx="2311677" cy="23116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650DA9-3C46-2B1D-CC52-2A2D75718E1F}"/>
              </a:ext>
            </a:extLst>
          </p:cNvPr>
          <p:cNvSpPr txBox="1"/>
          <p:nvPr/>
        </p:nvSpPr>
        <p:spPr>
          <a:xfrm>
            <a:off x="5411050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Lesson 3: England comparison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784B6A-717C-6318-5D17-C7E4CFC419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21774" y="4302232"/>
            <a:ext cx="2311677" cy="23116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7B0251-6BB0-1D08-6C63-D6A67076886F}"/>
              </a:ext>
            </a:extLst>
          </p:cNvPr>
          <p:cNvSpPr txBox="1"/>
          <p:nvPr/>
        </p:nvSpPr>
        <p:spPr>
          <a:xfrm>
            <a:off x="7275624" y="4719290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Human geography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C10349-D842-12E8-C3D3-D68FB0137A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77952" y="2459165"/>
            <a:ext cx="2311677" cy="23116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FCB0377-6D62-9F03-9E66-6B6B2C8A4209}"/>
              </a:ext>
            </a:extLst>
          </p:cNvPr>
          <p:cNvSpPr txBox="1"/>
          <p:nvPr/>
        </p:nvSpPr>
        <p:spPr>
          <a:xfrm>
            <a:off x="3531802" y="2876223"/>
            <a:ext cx="1396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 Culture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00F10C3-A213-7AD6-ADFC-B6E04EFDF5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50453" y="2459165"/>
            <a:ext cx="2311677" cy="23116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B2ACFC-574F-E2EA-1287-383E50438186}"/>
              </a:ext>
            </a:extLst>
          </p:cNvPr>
          <p:cNvSpPr txBox="1"/>
          <p:nvPr/>
        </p:nvSpPr>
        <p:spPr>
          <a:xfrm>
            <a:off x="5404303" y="2876223"/>
            <a:ext cx="13960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inkl Cursive Looped" panose="02000000000000000000" pitchFamily="2" charset="77"/>
              </a:rPr>
              <a:t>Coming up:</a:t>
            </a:r>
            <a:r>
              <a:rPr lang="en-US" sz="1400" dirty="0">
                <a:latin typeface="Twinkl Cursive Looped" panose="02000000000000000000" pitchFamily="2" charset="77"/>
              </a:rPr>
              <a:t>Environment</a:t>
            </a:r>
            <a:endParaRPr lang="en-US" dirty="0">
              <a:latin typeface="Twinkl Cursive Looped" panose="02000000000000000000" pitchFamily="2" charset="77"/>
            </a:endParaRPr>
          </a:p>
        </p:txBody>
      </p:sp>
      <p:pic>
        <p:nvPicPr>
          <p:cNvPr id="27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2040889C-1C9E-285A-C962-166D7057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87348"/>
      </p:ext>
    </p:extLst>
  </p:cSld>
  <p:clrMapOvr>
    <a:masterClrMapping/>
  </p:clrMapOvr>
  <p:timing xmlns:p="http://schemas.openxmlformats.org/presentationml/2006/main">
    <p:tnLst>
      <p:par>
        <p:cTn id="2037" dur="indefinite" restart="never" nodeType="tmRoot">
          <p:childTnLst>
            <p:seq concurrent="1" nextAc="seek">
              <p:cTn id="2038" dur="indefinite" nodeType="mainSeq">
                <p:childTnLst>
                  <p:par>
                    <p:cTn id="2005" fill="hold">
                      <p:stCondLst>
                        <p:cond delay="indefinite"/>
                      </p:stCondLst>
                      <p:childTnLst>
                        <p:par>
                          <p:cTn id="2006" fill="hold">
                            <p:stCondLst>
                              <p:cond delay="0"/>
                            </p:stCondLst>
                            <p:childTnLst>
                              <p:par>
                                <p:cTn id="20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1" fill="hold">
                      <p:stCondLst>
                        <p:cond delay="indefinite"/>
                      </p:stCondLst>
                      <p:childTnLst>
                        <p:par>
                          <p:cTn id="2012" fill="hold">
                            <p:stCondLst>
                              <p:cond delay="0"/>
                            </p:stCondLst>
                            <p:childTnLst>
                              <p:par>
                                <p:cTn id="20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7" fill="hold">
                      <p:stCondLst>
                        <p:cond delay="indefinite"/>
                      </p:stCondLst>
                      <p:childTnLst>
                        <p:par>
                          <p:cTn id="2018" fill="hold">
                            <p:stCondLst>
                              <p:cond delay="0"/>
                            </p:stCondLst>
                            <p:childTnLst>
                              <p:par>
                                <p:cTn id="20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3" fill="hold">
                      <p:stCondLst>
                        <p:cond delay="indefinite"/>
                      </p:stCondLst>
                      <p:childTnLst>
                        <p:par>
                          <p:cTn id="2024" fill="hold">
                            <p:stCondLst>
                              <p:cond delay="0"/>
                            </p:stCondLst>
                            <p:childTnLst>
                              <p:par>
                                <p:cTn id="20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9" fill="hold">
                      <p:stCondLst>
                        <p:cond delay="indefinite"/>
                      </p:stCondLst>
                      <p:childTnLst>
                        <p:par>
                          <p:cTn id="2030" fill="hold">
                            <p:stCondLst>
                              <p:cond delay="0"/>
                            </p:stCondLst>
                            <p:childTnLst>
                              <p:par>
                                <p:cTn id="20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5" fill="hold">
                      <p:stCondLst>
                        <p:cond delay="indefinite"/>
                      </p:stCondLst>
                      <p:childTnLst>
                        <p:par>
                          <p:cTn id="2036" fill="hold">
                            <p:stCondLst>
                              <p:cond delay="0"/>
                            </p:stCondLst>
                            <p:childTnLst>
                              <p:par>
                                <p:cTn id="20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Engage your prior knowledge</a:t>
            </a:r>
          </a:p>
        </p:txBody>
      </p:sp>
      <p:sp>
        <p:nvSpPr>
          <p:cNvPr id="208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Our Key Question is: Are England and Brazil different?</a:t>
            </a:r>
          </a:p>
          <a:p>
            <a:endParaRPr lang="en-GB" dirty="0"/>
          </a:p>
          <a:p>
            <a:r>
              <a:rPr lang="en-GB" sz="2000" dirty="0"/>
              <a:t>What prior learning do you think you will be able to bring to this enquiry?</a:t>
            </a:r>
          </a:p>
          <a:p>
            <a:endParaRPr lang="en-GB" dirty="0"/>
          </a:p>
          <a:p>
            <a:r>
              <a:rPr lang="en-GB" sz="2000" dirty="0"/>
              <a:t>What do you think we will be learning about?</a:t>
            </a:r>
          </a:p>
          <a:p>
            <a:endParaRPr lang="en-GB" dirty="0"/>
          </a:p>
          <a:p>
            <a:r>
              <a:rPr lang="en-GB" sz="2000" dirty="0"/>
              <a:t>What questions do you have that we might answer as part of this enquiry?</a:t>
            </a:r>
          </a:p>
        </p:txBody>
      </p:sp>
    </p:spTree>
  </p:cSld>
  <p:clrMapOvr>
    <a:masterClrMapping/>
  </p:clrMapOvr>
  <p:timing xmlns:p="http://schemas.openxmlformats.org/presentationml/2006/main">
    <p:tnLst>
      <p:par>
        <p:cTn id="1061" dur="indefinite" restart="never" nodeType="tmRoot">
          <p:childTnLst>
            <p:seq concurrent="1" nextAc="seek">
              <p:cTn id="1062" dur="indefinite" nodeType="mainSeq">
                <p:childTnLst>
                  <p:par>
                    <p:cTn id="1043" fill="hold">
                      <p:stCondLst>
                        <p:cond delay="indefinite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>
                      <p:stCondLst>
                        <p:cond delay="indefinite"/>
                      </p:stCondLst>
                      <p:childTnLst>
                        <p:par>
                          <p:cTn id="1050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>
                      <p:stCondLst>
                        <p:cond delay="indefinite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9" fill="hold">
                      <p:stCondLst>
                        <p:cond delay="indefinite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600" dirty="0"/>
              <a:t>Tuesday 23 June 2026</a:t>
            </a:r>
          </a:p>
        </p:txBody>
      </p:sp>
      <p:sp xmlns:p="http://schemas.openxmlformats.org/presentationml/2006/main" xmlns:a="http://schemas.openxmlformats.org/drawingml/2006/main">
        <p:nvSpPr>
          <p:cNvPr id="210" name="lo10"/>
          <p:cNvSpPr>
            <a:spLocks noGrp="1"/>
          </p:cNvSpPr>
          <p:nvPr>
            <p:ph idx="10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locate Brazil on a world map using latitude, longitude and key geographical vocabulary.</a:t>
            </a:r>
          </a:p>
        </p:txBody>
      </p:sp>
      <p:sp xmlns:p="http://schemas.openxmlformats.org/presentationml/2006/main" xmlns:a="http://schemas.openxmlformats.org/drawingml/2006/main">
        <p:nvSpPr>
          <p:cNvPr id="211" name="lo13"/>
          <p:cNvSpPr>
            <a:spLocks noGrp="1"/>
          </p:cNvSpPr>
          <p:nvPr>
            <p:ph idx="13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describe and compare the location of places accurately.</a:t>
            </a:r>
          </a:p>
        </p:txBody>
      </p:sp>
      <p:sp xmlns:p="http://schemas.openxmlformats.org/presentationml/2006/main" xmlns:a="http://schemas.openxmlformats.org/drawingml/2006/main">
        <p:nvSpPr>
          <p:cNvPr id="212" name="lo14"/>
          <p:cNvSpPr>
            <a:spLocks noGrp="1"/>
          </p:cNvSpPr>
          <p:nvPr>
            <p:ph idx="14"/>
          </p:nvPr>
        </p:nvSpPr>
        <p:spPr/>
        <p:txBody>
          <a:bodyPr insTp="1000000" rtlCol="0">
            <a:normAutofit/>
          </a:bodyPr>
          <a:lstStyle/>
          <a:p>
            <a:r>
              <a:rPr lang="en-GB" dirty="0" sz="1400"/>
              <a:t>writing a location description that uses at least three key geographical terms.</a:t>
            </a:r>
          </a:p>
        </p:txBody>
      </p:sp>
    </p:spTree>
  </p:cSld>
  <p:clrMapOvr>
    <a:masterClrMapping/>
  </p:clrMapOvr>
  <p:timing xmlns:p="http://schemas.openxmlformats.org/presentationml/2006/main">
    <p:tnLst>
      <p:par>
        <p:cTn id="1075" dur="indefinite" restart="never" nodeType="tmRoot">
          <p:childTnLst>
            <p:seq concurrent="1" nextAc="seek">
              <p:cTn id="1076" dur="indefinite" nodeType="mainSeq">
                <p:childTnLst>
                  <p:par>
                    <p:cTn id="1065" fill="hold">
                      <p:stCondLst>
                        <p:cond delay="indefinite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>
                      <p:stCondLst>
                        <p:cond delay="indefinite"/>
                      </p:stCondLst>
                      <p:childTnLst>
                        <p:par>
                          <p:cTn id="1074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Latitude, longitude and location</a:t>
            </a:r>
          </a:p>
        </p:txBody>
      </p:sp>
      <p:sp>
        <p:nvSpPr>
          <p:cNvPr id="214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Key vocabulary:</a:t>
            </a:r>
          </a:p>
          <a:p>
            <a:pPr lvl="1"/>
            <a:r>
              <a:rPr lang="en-GB" sz="1800" dirty="0"/>
              <a:t>hemisphere — a half of the Earth</a:t>
            </a:r>
          </a:p>
          <a:p>
            <a:pPr lvl="1"/>
            <a:r>
              <a:rPr lang="en-GB" sz="1800" dirty="0"/>
              <a:t>latitude — distance north or south of the Equator</a:t>
            </a:r>
          </a:p>
          <a:p>
            <a:pPr lvl="1"/>
            <a:r>
              <a:rPr lang="en-GB" sz="1800" dirty="0"/>
              <a:t>longitude — distance east or west of Greenwich</a:t>
            </a:r>
          </a:p>
          <a:p>
            <a:pPr lvl="1"/>
            <a:r>
              <a:rPr lang="en-GB" sz="1800" dirty="0"/>
              <a:t>time zone — a region with the same clock time</a:t>
            </a:r>
          </a:p>
          <a:p>
            <a:pPr lvl="1"/>
            <a:r>
              <a:rPr lang="en-GB" sz="1800" dirty="0"/>
              <a:t>GMT — Greenwich Mean Time, our reference point</a:t>
            </a:r>
          </a:p>
          <a:p>
            <a:endParaRPr lang="en-GB" dirty="0"/>
          </a:p>
          <a:p>
            <a:r>
              <a:rPr lang="en-GB" sz="1800" dirty="0"/>
              <a:t>Brazil's location:</a:t>
            </a:r>
          </a:p>
          <a:p>
            <a:pPr lvl="1"/>
            <a:r>
              <a:rPr lang="en-GB" sz="1800" dirty="0"/>
              <a:t>Hemisphere: mainly southern (a small northern tip crosses the Equator)</a:t>
            </a:r>
          </a:p>
          <a:p>
            <a:pPr lvl="1"/>
            <a:r>
              <a:rPr lang="en-GB" sz="1800" dirty="0"/>
              <a:t>Approximate latitude: 5°N to 33°S</a:t>
            </a:r>
          </a:p>
          <a:p>
            <a:pPr lvl="1"/>
            <a:r>
              <a:rPr lang="en-GB" sz="1800" dirty="0"/>
              <a:t>Approximate longitude: 35°W to 74°W</a:t>
            </a:r>
          </a:p>
          <a:p>
            <a:pPr lvl="1"/>
            <a:r>
              <a:rPr lang="en-GB" sz="1800" dirty="0"/>
              <a:t>Time zone: GMT−3 (Brazil is 3 hours behind England)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Let's find Brazil.</a:t>
            </a:r>
          </a:p>
        </p:txBody>
      </p:sp>
      <p:sp>
        <p:nvSpPr>
          <p:cNvPr id="216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Use the map on the board.</a:t>
            </a:r>
          </a:p>
          <a:p>
            <a:endParaRPr lang="en-GB" dirty="0"/>
          </a:p>
          <a:p>
            <a:r>
              <a:rPr lang="en-GB" sz="2000" dirty="0"/>
              <a:t>Can you find South America? Can you find Brazil within it?</a:t>
            </a:r>
          </a:p>
          <a:p>
            <a:endParaRPr lang="en-GB" dirty="0"/>
          </a:p>
          <a:p>
            <a:r>
              <a:rPr lang="en-GB" sz="2000" dirty="0"/>
              <a:t>Think about:</a:t>
            </a:r>
          </a:p>
          <a:p>
            <a:pPr lvl="1"/>
            <a:r>
              <a:rPr lang="en-GB" sz="2000" dirty="0"/>
              <a:t>Which hemisphere is Brazil in?</a:t>
            </a:r>
          </a:p>
          <a:p>
            <a:pPr lvl="1"/>
            <a:r>
              <a:rPr lang="en-GB" sz="2000" dirty="0"/>
              <a:t>Does the Equator pass through it?</a:t>
            </a:r>
          </a:p>
          <a:p>
            <a:pPr lvl="1"/>
            <a:r>
              <a:rPr lang="en-GB" sz="2000" dirty="0"/>
              <a:t>Is it north or south of the Tropic of Capricorn?</a:t>
            </a:r>
          </a:p>
          <a:p>
            <a:endParaRPr lang="en-GB" dirty="0"/>
          </a:p>
          <a:p>
            <a:r>
              <a:rPr lang="en-GB" sz="2000" dirty="0"/>
              <a:t>Share what you find with your partner.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Label South America together.</a:t>
            </a:r>
          </a:p>
        </p:txBody>
      </p:sp>
      <p:sp>
        <p:nvSpPr>
          <p:cNvPr id="218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Use the map on the board.</a:t>
            </a:r>
          </a:p>
          <a:p>
            <a:endParaRPr lang="en-GB" dirty="0"/>
          </a:p>
          <a:p>
            <a:r>
              <a:rPr lang="en-GB" sz="2000" dirty="0"/>
              <a:t>Find and label these countries on the outline map:</a:t>
            </a:r>
          </a:p>
          <a:p>
            <a:pPr lvl="1"/>
            <a:r>
              <a:rPr lang="en-GB" sz="2000" dirty="0"/>
              <a:t>Brazil  ·  Ecuador  ·  Chile  ·  Bolivia  ·  Colombia</a:t>
            </a:r>
          </a:p>
          <a:p>
            <a:endParaRPr lang="en-GB" dirty="0"/>
          </a:p>
          <a:p>
            <a:r>
              <a:rPr lang="en-GB" sz="2000" dirty="0"/>
              <a:t>Add the Equator and the Tropic of Capricorn.</a:t>
            </a:r>
          </a:p>
          <a:p>
            <a:endParaRPr lang="en-GB" dirty="0"/>
          </a:p>
          <a:p>
            <a:r>
              <a:rPr lang="en-GB" sz="2000" dirty="0"/>
              <a:t>Which country is to the south of Brazil?</a:t>
            </a:r>
          </a:p>
          <a:p>
            <a:r>
              <a:rPr lang="en-GB" sz="2000" dirty="0"/>
              <a:t>Which country is to the north-west of Brazil?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h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Write your location description.</a:t>
            </a:r>
          </a:p>
        </p:txBody>
      </p:sp>
      <p:sp>
        <p:nvSpPr>
          <p:cNvPr id="220" name="ph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Use the sentence starters on your learning paper.</a:t>
            </a:r>
          </a:p>
          <a:p>
            <a:endParaRPr lang="en-GB" dirty="0"/>
          </a:p>
          <a:p>
            <a:pPr lvl="1"/>
            <a:r>
              <a:rPr lang="en-GB" sz="2000" dirty="0"/>
              <a:t>Brazil is located in …</a:t>
            </a:r>
          </a:p>
          <a:p>
            <a:pPr lvl="1"/>
            <a:r>
              <a:rPr lang="en-GB" sz="2000" dirty="0"/>
              <a:t>It lies between …</a:t>
            </a:r>
          </a:p>
          <a:p>
            <a:pPr lvl="1"/>
            <a:r>
              <a:rPr lang="en-GB" sz="2000" dirty="0"/>
              <a:t>Its neighbouring countries include …</a:t>
            </a:r>
          </a:p>
          <a:p>
            <a:pPr lvl="1"/>
            <a:r>
              <a:rPr lang="en-GB" sz="2000" dirty="0"/>
              <a:t>The time difference between England and Brazil is …</a:t>
            </a:r>
          </a:p>
          <a:p>
            <a:endParaRPr lang="en-GB" dirty="0"/>
          </a:p>
          <a:p>
            <a:r>
              <a:rPr lang="en-GB" sz="2000" dirty="0"/>
              <a:t>Include at least THREE key vocabulary words in your description.</a:t>
            </a:r>
          </a:p>
          <a:p>
            <a:endParaRPr lang="en-GB" dirty="0"/>
          </a:p>
          <a:p>
            <a:r>
              <a:rPr lang="en-GB" sz="2000" dirty="0"/>
              <a:t>Challenge: Can you calculate what time it is in Brazil right now?</a:t>
            </a:r>
          </a:p>
        </p:txBody>
      </p:sp>
    </p:spTree>
  </p:cSld>
  <p:clrMapOvr>
    <a:masterClrMapping/>
  </p:clrMapOvr>
  <p:timing xmlns:p="http://schemas.openxmlformats.org/presentationml/2006/main">
    <p:tnLst>
      <p:par>
        <p:cTn id="1111" dur="indefinite" restart="never" nodeType="tmRoot">
          <p:childTnLst>
            <p:seq concurrent="1" nextAc="seek">
              <p:cTn id="1112" dur="indefinite" nodeType="mainSeq">
                <p:childTnLst>
                  <p:par>
                    <p:cTn id="1081" fill="hold">
                      <p:stCondLst>
                        <p:cond delay="indefinite"/>
                      </p:stCondLst>
                      <p:childTnLst>
                        <p:par>
                          <p:cTn id="1082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>
                      <p:stCondLst>
                        <p:cond delay="indefinite"/>
                      </p:stCondLst>
                      <p:childTnLst>
                        <p:par>
                          <p:cTn id="1086" fill="hold">
                            <p:stCondLst>
                              <p:cond delay="0"/>
                            </p:stCondLst>
                            <p:childTnLst>
                              <p:par>
                                <p:cTn id="10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9" fill="hold">
                      <p:stCondLst>
                        <p:cond delay="indefinite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3" fill="hold">
                      <p:stCondLst>
                        <p:cond delay="indefinite"/>
                      </p:stCondLst>
                      <p:childTnLst>
                        <p:par>
                          <p:cTn id="1094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9" fill="hold">
                      <p:stCondLst>
                        <p:cond delay="indefinite"/>
                      </p:stCondLst>
                      <p:childTnLst>
                        <p:par>
                          <p:cTn id="1100" fill="hold">
                            <p:stCondLst>
                              <p:cond delay="0"/>
                            </p:stCondLst>
                            <p:childTnLst>
                              <p:par>
                                <p:cTn id="10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5" fill="hold">
                      <p:stCondLst>
                        <p:cond delay="indefinite"/>
                      </p:stCondLst>
                      <p:childTnLst>
                        <p:par>
                          <p:cTn id="1106" fill="hold">
                            <p:stCondLst>
                              <p:cond delay="0"/>
                            </p:stCondLst>
                            <p:childTnLst>
                              <p:par>
                                <p:cTn id="1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9" fill="hold">
                      <p:stCondLst>
                        <p:cond delay="indefinite"/>
                      </p:stCondLst>
                      <p:childTnLst>
                        <p:par>
                          <p:cTn id="1110" fill="hold">
                            <p:stCondLst>
                              <p:cond delay="0"/>
                            </p:stCondLst>
                            <p:childTnLst>
                              <p:par>
                                <p:cTn id="1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h10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sz="1800" dirty="0"/>
              <a:t>Which geographical word felt most challenging to use?</a:t>
            </a:r>
          </a:p>
        </p:txBody>
      </p:sp>
      <p:sp>
        <p:nvSpPr>
          <p:cNvPr id="222" name="ph1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sz="1800" dirty="0"/>
              <a:t>Why do geographers need to know a country's hemisphere and time zone?</a:t>
            </a:r>
          </a:p>
        </p:txBody>
      </p:sp>
      <p:sp>
        <p:nvSpPr>
          <p:cNvPr id="223" name="ph12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GB" sz="1800" dirty="0"/>
              <a:t>How has your knowledge of Brazil changed since the start of the lesson?</a:t>
            </a:r>
          </a:p>
        </p:txBody>
      </p:sp>
    </p:spTree>
  </p:cSld>
  <p:clrMapOvr>
    <a:masterClrMapping/>
  </p:clrMapOvr>
  <p:timing xmlns:p="http://schemas.openxmlformats.org/presentationml/2006/main">
    <p:tnLst>
      <p:par>
        <p:cTn id="1125" dur="indefinite" restart="never" nodeType="tmRoot">
          <p:childTnLst>
            <p:seq concurrent="1" nextAc="seek">
              <p:cTn id="1126" dur="indefinite" nodeType="mainSeq">
                <p:childTnLst>
                  <p:par>
                    <p:cTn id="1115" fill="hold">
                      <p:stCondLst>
                        <p:cond delay="indefinite"/>
                      </p:stCondLst>
                      <p:childTnLst>
                        <p:par>
                          <p:cTn id="1116" fill="hold">
                            <p:stCondLst>
                              <p:cond delay="0"/>
                            </p:stCondLst>
                            <p:childTnLst>
                              <p:par>
                                <p:cTn id="1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9" fill="hold">
                      <p:stCondLst>
                        <p:cond delay="indefinite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3" fill="hold">
                      <p:stCondLst>
                        <p:cond delay="indefinite"/>
                      </p:stCondLst>
                      <p:childTnLst>
                        <p:par>
                          <p:cTn id="1124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k_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z="2400">
                <a:b/>
              </a:rPr>
              <a:t>📋 Teacher Checklist — Lesson 1: Locating Brazil</a:t>
            </a:r>
          </a:p>
        </p:txBody>
      </p:sp>
      <p:sp>
        <p:nvSpPr>
          <p:cNvPr id="3" name="chk_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z="1800">
                <a:b/>
              </a:rPr>
              <a:t>Before the lesson:</a:t>
            </a:r>
          </a:p>
          <a:p>
            <a:pPr lvl="1"/>
            <a:r>
              <a:rPr lang="en-GB" dirty="0" sz="1600"/>
              <a:t>Print LP1 — Locating Brazil (1 per pupil)</a:t>
            </a:r>
          </a:p>
          <a:p>
            <a:pPr lvl="1"/>
            <a:r>
              <a:rPr lang="en-GB" dirty="0" sz="1600"/>
              <a:t>Print South America outline maps (1 per pupil) — unless included on LP</a:t>
            </a:r>
          </a:p>
          <a:p>
            <a:r>
              <a:rPr lang="en-GB" dirty="0" sz="1800">
                <a:b/>
              </a:rPr>
              <a:t>Slide 7 — Let’s find Brazil (We Do):</a:t>
            </a:r>
          </a:p>
          <a:p>
            <a:pPr lvl="1"/>
            <a:r>
              <a:rPr lang="en-GB" dirty="0" sz="1600"/>
              <a:t>Display a world map on the board — must show both hemispheres, the Equator and the Tropic of Capricorn</a:t>
            </a:r>
          </a:p>
          <a:p>
            <a:r>
              <a:rPr lang="en-GB" dirty="0" sz="1800">
                <a:b/>
              </a:rPr>
              <a:t>Slide 8 — Label South America (We Do):</a:t>
            </a:r>
          </a:p>
          <a:p>
            <a:pPr lvl="1"/>
            <a:r>
              <a:rPr lang="en-GB" dirty="0" sz="1600"/>
              <a:t>Keep map on board. Pupils will use their South America outline map from the LP.</a:t>
            </a:r>
          </a:p>
          <a:p>
            <a:pPr lvl="1"/>
            <a:r>
              <a:rPr lang="en-GB" dirty="0" sz="1600"/>
              <a:t>This is Lesson 1 — pupils have no prior notes. Slide says “Use the map on the board.” only.</a:t>
            </a:r>
          </a:p>
          <a:p>
            <a:r>
              <a:rPr lang="en-GB" dirty="0" sz="1800">
                <a:b/>
              </a:rPr>
              <a:t>Slide 9 — Write your location description (You Do):</a:t>
            </a:r>
          </a:p>
          <a:p>
            <a:pPr lvl="1"/>
            <a:r>
              <a:rPr lang="en-GB" dirty="0" sz="1600"/>
              <a:t>Distribute LPs before this slide. Pupils use sentence starters and vocabulary from the 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, Space &amp; Sca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D2C3B9E7-B64F-9144-B093-0DE3631703F7}"/>
    </a:ext>
  </a:extLst>
</a:theme>
</file>

<file path=ppt/theme/theme2.xml><?xml version="1.0" encoding="utf-8"?>
<a:theme xmlns:a="http://schemas.openxmlformats.org/drawingml/2006/main" name="Human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E81D0F21-355D-B94F-B206-BFD661D1789F}"/>
    </a:ext>
  </a:extLst>
</a:theme>
</file>

<file path=ppt/theme/theme3.xml><?xml version="1.0" encoding="utf-8"?>
<a:theme xmlns:a="http://schemas.openxmlformats.org/drawingml/2006/main" name="Cultural Awareness &amp; Divers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9893858-C156-AB4E-9927-8667689EC1DC}"/>
    </a:ext>
  </a:extLst>
</a:theme>
</file>

<file path=ppt/theme/theme4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1114C6C5-458E-3141-886F-AAB2FE0B17DB}"/>
    </a:ext>
  </a:extLst>
</a:theme>
</file>

<file path=ppt/theme/theme5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3DF64C86-57E4-4142-8814-3273357A8EBC}"/>
    </a:ext>
  </a:extLst>
</a:theme>
</file>

<file path=ppt/theme/theme6.xml><?xml version="1.0" encoding="utf-8"?>
<a:theme xmlns:a="http://schemas.openxmlformats.org/drawingml/2006/main" name="Z - Not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BC516BF9-485D-214F-8D36-360E50611C64}" vid="{CF74EC8C-93CA-004C-BE05-B0B3FDDB52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Props1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95EA48-DC2D-459B-B922-A2C4EE3BFC7C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9e6dd442-da5e-411e-833f-0fee7dcd7819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848fd07-94db-4308-8950-9cb0e230b9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8</TotalTime>
  <Words>773</Words>
  <Application>Microsoft Macintosh PowerPoint</Application>
  <PresentationFormat>Widescreen</PresentationFormat>
  <Paragraphs>122</Paragraphs>
  <Slides>13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Twinkl Cursive Looped</vt:lpstr>
      <vt:lpstr>Place, Space &amp; Scale</vt:lpstr>
      <vt:lpstr>Human Geography</vt:lpstr>
      <vt:lpstr>Cultural Awareness &amp; Diversity</vt:lpstr>
      <vt:lpstr>Physical Geography</vt:lpstr>
      <vt:lpstr>Environmental Impact &amp; Sustainability</vt:lpstr>
      <vt:lpstr>Z - Notes</vt:lpstr>
      <vt:lpstr>The Oracy Framework</vt:lpstr>
      <vt:lpstr>PowerPoint Presentation</vt:lpstr>
      <vt:lpstr>PowerPoint Presentation</vt:lpstr>
      <vt:lpstr>PowerPoint Presentation</vt:lpstr>
      <vt:lpstr>PowerPoint Presentation</vt:lpstr>
      <vt:lpstr>Connections</vt:lpstr>
      <vt:lpstr>Engage your prior knowledge</vt:lpstr>
      <vt:lpstr>Tuesday 23 June 2026</vt:lpstr>
      <vt:lpstr>Latitude, longitude and location</vt:lpstr>
      <vt:lpstr>Let's find Brazil.</vt:lpstr>
      <vt:lpstr>Label South America together.</vt:lpstr>
      <vt:lpstr>Write your location description.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2</cp:revision>
  <dcterms:created xsi:type="dcterms:W3CDTF">2026-06-21T16:44:49Z</dcterms:created>
  <dcterms:modified xsi:type="dcterms:W3CDTF">2026-06-21T18:42:18Z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