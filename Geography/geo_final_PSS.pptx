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odttf" ContentType="application/vnd.openxmlformats-officedocument.obfuscatedFon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4"/>
    <p:sldMasterId id="2147483772" r:id="rId5"/>
    <p:sldMasterId id="2147483676" r:id="rId6"/>
    <p:sldMasterId id="2147483688" r:id="rId7"/>
    <p:sldMasterId id="2147483788" r:id="rId8"/>
  </p:sldMasterIdLst>
  <p:notesMasterIdLst>
    <p:notesMasterId r:id="rId10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Twinkl Cursive Looped" panose="020B0502050000060200" pitchFamily="34" charset="0"/>
      <p:regular r:id="rId25"/>
    </p:embeddedFont>
  </p:embeddedFontLst>
  <p:extLst>
    <p:ext uri="{521415D9-36F7-43E2-AB2F-B90AF26B5E84}">
      <p14:sectionLst xmlns:p14="http://schemas.microsoft.com/office/powerpoint/2010/main">
        <p14:section name="Resources" id="{154E198E-0130-A84B-84B2-A60C971BA2A2}">
          <p14:sldIdLst/>
        </p14:section>
        <p14:section name="Slide Deck" id="{66BEB757-3A3E-994B-8B52-AC6FEC5ACC75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EEB0"/>
    <a:srgbClr val="4574C4"/>
    <a:srgbClr val="BDD7EF"/>
    <a:srgbClr val="DDEAF8"/>
    <a:srgbClr val="FFEC9F"/>
    <a:srgbClr val="FFF3CC"/>
    <a:srgbClr val="61CCF5"/>
    <a:srgbClr val="B1B1FF"/>
    <a:srgbClr val="FDD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3"/>
    <p:restoredTop sz="94658"/>
  </p:normalViewPr>
  <p:slideViewPr>
    <p:cSldViewPr snapToGrid="0">
      <p:cViewPr varScale="1">
        <p:scale>
          <a:sx n="120" d="100"/>
          <a:sy n="120" d="100"/>
        </p:scale>
        <p:origin x="9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font" Target="fonts/font1.odtt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48081D9B-5E24-4A44-A38E-60CF0FCB9C87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C49D36C8-F0F3-6D40-939B-09DEAE02A2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8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" panose="02000000000000000000" pitchFamily="2" charset="77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emf"/><Relationship Id="rId2" Type="http://schemas.openxmlformats.org/officeDocument/2006/relationships/image" Target="../media/image6.png"/><Relationship Id="rId16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emf"/><Relationship Id="rId11" Type="http://schemas.openxmlformats.org/officeDocument/2006/relationships/image" Target="../media/image17.svg"/><Relationship Id="rId5" Type="http://schemas.openxmlformats.org/officeDocument/2006/relationships/image" Target="../media/image11.png"/><Relationship Id="rId15" Type="http://schemas.openxmlformats.org/officeDocument/2006/relationships/image" Target="../media/image21.emf"/><Relationship Id="rId10" Type="http://schemas.openxmlformats.org/officeDocument/2006/relationships/image" Target="../media/image16.emf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4.png"/><Relationship Id="rId3" Type="http://schemas.openxmlformats.org/officeDocument/2006/relationships/image" Target="../media/image9.png"/><Relationship Id="rId7" Type="http://schemas.microsoft.com/office/2007/relationships/hdphoto" Target="../media/hdphoto2.wdp"/><Relationship Id="rId12" Type="http://schemas.openxmlformats.org/officeDocument/2006/relationships/image" Target="../media/image3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png"/><Relationship Id="rId11" Type="http://schemas.openxmlformats.org/officeDocument/2006/relationships/image" Target="../media/image32.png"/><Relationship Id="rId5" Type="http://schemas.openxmlformats.org/officeDocument/2006/relationships/image" Target="../media/image11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10.png"/><Relationship Id="rId9" Type="http://schemas.openxmlformats.org/officeDocument/2006/relationships/image" Target="../media/image26.png"/><Relationship Id="rId14" Type="http://schemas.openxmlformats.org/officeDocument/2006/relationships/image" Target="../media/image35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image" Target="../media/image21.emf"/><Relationship Id="rId3" Type="http://schemas.openxmlformats.org/officeDocument/2006/relationships/image" Target="../media/image37.emf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emf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emf"/><Relationship Id="rId4" Type="http://schemas.openxmlformats.org/officeDocument/2006/relationships/image" Target="../media/image12.emf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7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34.png"/><Relationship Id="rId12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3.png"/><Relationship Id="rId11" Type="http://schemas.microsoft.com/office/2007/relationships/hdphoto" Target="../media/hdphoto2.wdp"/><Relationship Id="rId5" Type="http://schemas.openxmlformats.org/officeDocument/2006/relationships/image" Target="../media/image32.png"/><Relationship Id="rId10" Type="http://schemas.openxmlformats.org/officeDocument/2006/relationships/image" Target="../media/image24.png"/><Relationship Id="rId4" Type="http://schemas.openxmlformats.org/officeDocument/2006/relationships/image" Target="../media/image37.emf"/><Relationship Id="rId9" Type="http://schemas.openxmlformats.org/officeDocument/2006/relationships/image" Target="../media/image36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image" Target="../media/image21.emf"/><Relationship Id="rId3" Type="http://schemas.openxmlformats.org/officeDocument/2006/relationships/image" Target="../media/image38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4.emf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emf"/><Relationship Id="rId4" Type="http://schemas.openxmlformats.org/officeDocument/2006/relationships/image" Target="../media/image12.emf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12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4.png"/><Relationship Id="rId11" Type="http://schemas.microsoft.com/office/2007/relationships/hdphoto" Target="../media/hdphoto2.wdp"/><Relationship Id="rId5" Type="http://schemas.openxmlformats.org/officeDocument/2006/relationships/image" Target="../media/image33.png"/><Relationship Id="rId10" Type="http://schemas.openxmlformats.org/officeDocument/2006/relationships/image" Target="../media/image24.png"/><Relationship Id="rId4" Type="http://schemas.openxmlformats.org/officeDocument/2006/relationships/image" Target="../media/image32.png"/><Relationship Id="rId9" Type="http://schemas.openxmlformats.org/officeDocument/2006/relationships/image" Target="../media/image38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image" Target="../media/image21.emf"/><Relationship Id="rId3" Type="http://schemas.openxmlformats.org/officeDocument/2006/relationships/image" Target="../media/image3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4.emf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emf"/><Relationship Id="rId4" Type="http://schemas.openxmlformats.org/officeDocument/2006/relationships/image" Target="../media/image12.emf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microsoft.com/office/2007/relationships/hdphoto" Target="../media/hdphoto2.wdp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12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4.png"/><Relationship Id="rId11" Type="http://schemas.microsoft.com/office/2007/relationships/hdphoto" Target="../media/hdphoto2.wdp"/><Relationship Id="rId5" Type="http://schemas.openxmlformats.org/officeDocument/2006/relationships/image" Target="../media/image33.png"/><Relationship Id="rId10" Type="http://schemas.openxmlformats.org/officeDocument/2006/relationships/image" Target="../media/image24.png"/><Relationship Id="rId4" Type="http://schemas.openxmlformats.org/officeDocument/2006/relationships/image" Target="../media/image32.png"/><Relationship Id="rId9" Type="http://schemas.openxmlformats.org/officeDocument/2006/relationships/image" Target="../media/image39.png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image" Target="../media/image21.emf"/><Relationship Id="rId3" Type="http://schemas.openxmlformats.org/officeDocument/2006/relationships/image" Target="../media/image40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4.emf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emf"/><Relationship Id="rId4" Type="http://schemas.openxmlformats.org/officeDocument/2006/relationships/image" Target="../media/image12.emf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0.png"/><Relationship Id="rId4" Type="http://schemas.openxmlformats.org/officeDocument/2006/relationships/image" Target="../media/image6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microsoft.com/office/2007/relationships/hdphoto" Target="../media/hdphoto2.wdp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12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4.png"/><Relationship Id="rId11" Type="http://schemas.microsoft.com/office/2007/relationships/hdphoto" Target="../media/hdphoto2.wdp"/><Relationship Id="rId5" Type="http://schemas.openxmlformats.org/officeDocument/2006/relationships/image" Target="../media/image33.png"/><Relationship Id="rId10" Type="http://schemas.openxmlformats.org/officeDocument/2006/relationships/image" Target="../media/image24.png"/><Relationship Id="rId4" Type="http://schemas.openxmlformats.org/officeDocument/2006/relationships/image" Target="../media/image32.png"/><Relationship Id="rId9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250684" y="23797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21" name="Picture 17">
            <a:extLst>
              <a:ext uri="{FF2B5EF4-FFF2-40B4-BE49-F238E27FC236}">
                <a16:creationId xmlns:a16="http://schemas.microsoft.com/office/drawing/2014/main" id="{8E2B66C8-56E7-D5AC-A43F-D8A64E7DB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745" y="1216492"/>
            <a:ext cx="1173543" cy="102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D9AC7F5-F0E5-1321-D781-89CEA212523E}"/>
              </a:ext>
            </a:extLst>
          </p:cNvPr>
          <p:cNvSpPr txBox="1"/>
          <p:nvPr userDrawn="1"/>
        </p:nvSpPr>
        <p:spPr>
          <a:xfrm>
            <a:off x="2929516" y="769604"/>
            <a:ext cx="3804247" cy="592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50" b="0" i="0" u="sng" dirty="0">
                <a:latin typeface="Twinkl Cursive Looped" panose="02000000000000000000" pitchFamily="2" charset="77"/>
              </a:rPr>
              <a:t>Our Key Question is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0132" y="1369643"/>
            <a:ext cx="5251759" cy="105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 dirty="0"/>
              <a:t>KQ</a:t>
            </a:r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D03401-106F-132D-DED4-52A004198E1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48000" y="2693156"/>
            <a:ext cx="60960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1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B672B1-AC07-685F-26E5-5FE38F1AF523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368C0B-8A7A-3819-1CA5-AA42533CF6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4E810595-460A-F4B0-EB30-F88DB90CAD48}"/>
              </a:ext>
            </a:extLst>
          </p:cNvPr>
          <p:cNvGrpSpPr/>
          <p:nvPr userDrawn="1"/>
        </p:nvGrpSpPr>
        <p:grpSpPr>
          <a:xfrm>
            <a:off x="337910" y="1027775"/>
            <a:ext cx="5580141" cy="5377327"/>
            <a:chOff x="419854" y="971549"/>
            <a:chExt cx="5580141" cy="5377327"/>
          </a:xfrm>
        </p:grpSpPr>
        <p:sp>
          <p:nvSpPr>
            <p:cNvPr id="26" name="Block Arc 25">
              <a:extLst>
                <a:ext uri="{FF2B5EF4-FFF2-40B4-BE49-F238E27FC236}">
                  <a16:creationId xmlns:a16="http://schemas.microsoft.com/office/drawing/2014/main" id="{D65A4DA7-AE87-EB39-9C76-F0E505405E0D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11880000"/>
                <a:gd name="adj2" fmla="val 1620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32" name="Block Arc 31">
              <a:extLst>
                <a:ext uri="{FF2B5EF4-FFF2-40B4-BE49-F238E27FC236}">
                  <a16:creationId xmlns:a16="http://schemas.microsoft.com/office/drawing/2014/main" id="{F7DB73B0-E970-8F1F-5855-A3A70B6077FA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7560000"/>
                <a:gd name="adj2" fmla="val 1188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AE117020-31D5-CC00-87CA-8035D37D912D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3240000"/>
                <a:gd name="adj2" fmla="val 756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C2D54078-E26A-533B-B6EA-5D9ACE39198A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20520000"/>
                <a:gd name="adj2" fmla="val 324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35" name="Block Arc 34">
              <a:extLst>
                <a:ext uri="{FF2B5EF4-FFF2-40B4-BE49-F238E27FC236}">
                  <a16:creationId xmlns:a16="http://schemas.microsoft.com/office/drawing/2014/main" id="{FF98B4B1-9ACD-D1BA-8AF4-2FDF4CF99F02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16200000"/>
                <a:gd name="adj2" fmla="val 2052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4BC1237A-9E27-686B-64DF-A1D1C62E290B}"/>
                </a:ext>
              </a:extLst>
            </p:cNvPr>
            <p:cNvSpPr/>
            <p:nvPr userDrawn="1"/>
          </p:nvSpPr>
          <p:spPr>
            <a:xfrm>
              <a:off x="2184003" y="2842324"/>
              <a:ext cx="2051843" cy="2051843"/>
            </a:xfrm>
            <a:custGeom>
              <a:avLst/>
              <a:gdLst>
                <a:gd name="csX0" fmla="*/ 0 w 2051843"/>
                <a:gd name="csY0" fmla="*/ 1025922 h 2051843"/>
                <a:gd name="csX1" fmla="*/ 1025922 w 2051843"/>
                <a:gd name="csY1" fmla="*/ 0 h 2051843"/>
                <a:gd name="csX2" fmla="*/ 2051844 w 2051843"/>
                <a:gd name="csY2" fmla="*/ 1025922 h 2051843"/>
                <a:gd name="csX3" fmla="*/ 1025922 w 2051843"/>
                <a:gd name="csY3" fmla="*/ 2051844 h 2051843"/>
                <a:gd name="csX4" fmla="*/ 0 w 2051843"/>
                <a:gd name="csY4" fmla="*/ 1025922 h 20518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51843" h="2051843">
                  <a:moveTo>
                    <a:pt x="0" y="1025922"/>
                  </a:moveTo>
                  <a:cubicBezTo>
                    <a:pt x="0" y="459321"/>
                    <a:pt x="459321" y="0"/>
                    <a:pt x="1025922" y="0"/>
                  </a:cubicBezTo>
                  <a:cubicBezTo>
                    <a:pt x="1592523" y="0"/>
                    <a:pt x="2051844" y="459321"/>
                    <a:pt x="2051844" y="1025922"/>
                  </a:cubicBezTo>
                  <a:cubicBezTo>
                    <a:pt x="2051844" y="1592523"/>
                    <a:pt x="1592523" y="2051844"/>
                    <a:pt x="1025922" y="2051844"/>
                  </a:cubicBezTo>
                  <a:cubicBezTo>
                    <a:pt x="459321" y="2051844"/>
                    <a:pt x="0" y="1592523"/>
                    <a:pt x="0" y="1025922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1285" tIns="351285" rIns="351285" bIns="351285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4000" b="0" kern="1200"/>
            </a:p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4000" b="0" kern="12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5AB3D2A-30C3-AE50-86D6-B59B9BFC088C}"/>
                </a:ext>
              </a:extLst>
            </p:cNvPr>
            <p:cNvSpPr txBox="1"/>
            <p:nvPr userDrawn="1"/>
          </p:nvSpPr>
          <p:spPr>
            <a:xfrm rot="16367761">
              <a:off x="2223417" y="2469219"/>
              <a:ext cx="1973014" cy="2366341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8617501"/>
                </a:avLst>
              </a:prstTxWarp>
              <a:spAutoFit/>
            </a:bodyPr>
            <a:lstStyle/>
            <a:p>
              <a:pPr algn="ctr"/>
              <a:r>
                <a:rPr lang="en-GB" sz="3200" b="0">
                  <a:solidFill>
                    <a:schemeClr val="accent6">
                      <a:lumMod val="50000"/>
                    </a:schemeClr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Substantive Concepts </a:t>
              </a:r>
            </a:p>
          </p:txBody>
        </p:sp>
        <p:pic>
          <p:nvPicPr>
            <p:cNvPr id="42" name="Picture 1" descr="Macintosh HD:Users:nicholasgarrick:Dropbox:1 LupL:6 Resources:Images and Icons:Icons:Geographer:icon_5211.png">
              <a:extLst>
                <a:ext uri="{FF2B5EF4-FFF2-40B4-BE49-F238E27FC236}">
                  <a16:creationId xmlns:a16="http://schemas.microsoft.com/office/drawing/2014/main" id="{5B75D6AF-6141-A4B9-9C20-458D575F48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679" y="3227210"/>
              <a:ext cx="1223996" cy="1223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6583BF4-6930-A2A4-385A-34EA0BF40CEB}"/>
                </a:ext>
              </a:extLst>
            </p:cNvPr>
            <p:cNvSpPr/>
            <p:nvPr userDrawn="1"/>
          </p:nvSpPr>
          <p:spPr>
            <a:xfrm>
              <a:off x="2284992" y="4136928"/>
              <a:ext cx="1836223" cy="986274"/>
            </a:xfrm>
            <a:prstGeom prst="rect">
              <a:avLst/>
            </a:prstGeom>
            <a:noFill/>
            <a:effectLst/>
          </p:spPr>
          <p:txBody>
            <a:bodyPr wrap="none" lIns="91440" tIns="45720" rIns="91440" bIns="45720">
              <a:prstTxWarp prst="textArchDown">
                <a:avLst>
                  <a:gd name="adj" fmla="val 96006"/>
                </a:avLst>
              </a:prstTxWarp>
              <a:spAutoFit/>
            </a:bodyPr>
            <a:lstStyle/>
            <a:p>
              <a:pPr algn="ctr"/>
              <a:r>
                <a:rPr lang="en-GB" sz="1800" b="0" cap="none" spc="0">
                  <a:ln w="0"/>
                  <a:solidFill>
                    <a:schemeClr val="tx1"/>
                  </a:solidFill>
                  <a:effectLst/>
                  <a:latin typeface="Twinkl Cursive Looped" panose="02000000000000000000" pitchFamily="2" charset="77"/>
                </a:rPr>
                <a:t>Compassion</a:t>
              </a: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DFB448D8-045C-CB84-C7A7-DF41CD4181C1}"/>
                </a:ext>
              </a:extLst>
            </p:cNvPr>
            <p:cNvSpPr/>
            <p:nvPr userDrawn="1"/>
          </p:nvSpPr>
          <p:spPr>
            <a:xfrm>
              <a:off x="4563705" y="2476891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0660" tIns="230660" rIns="230660" bIns="2306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600" b="0" kern="1200">
                  <a:solidFill>
                    <a:schemeClr val="accent6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Physical Geography</a:t>
              </a: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5E42A1FB-80B3-51C5-0076-233BF3D12C7E}"/>
                </a:ext>
              </a:extLst>
            </p:cNvPr>
            <p:cNvSpPr/>
            <p:nvPr userDrawn="1"/>
          </p:nvSpPr>
          <p:spPr>
            <a:xfrm>
              <a:off x="3772300" y="4912586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CCCCFF"/>
            </a:solidFill>
            <a:ln w="38100"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5580" tIns="225580" rIns="225580" bIns="22558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b="0" kern="1200">
                  <a:solidFill>
                    <a:srgbClr val="7030A0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Environmental Impact &amp; Sustainability</a:t>
              </a: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4595039-749F-BE96-0D5E-FEEBB2E6521F}"/>
                </a:ext>
              </a:extLst>
            </p:cNvPr>
            <p:cNvSpPr/>
            <p:nvPr userDrawn="1"/>
          </p:nvSpPr>
          <p:spPr>
            <a:xfrm>
              <a:off x="1211259" y="4912586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FFCCCC"/>
            </a:solidFill>
            <a:ln w="38100">
              <a:solidFill>
                <a:srgbClr val="C3580C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0660" tIns="230660" rIns="230660" bIns="2306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600" b="0" kern="1200">
                  <a:solidFill>
                    <a:srgbClr val="C3580C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Human Geography</a:t>
              </a: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D800002-0BFF-BDBE-517D-C47ACC98E67B}"/>
                </a:ext>
              </a:extLst>
            </p:cNvPr>
            <p:cNvSpPr/>
            <p:nvPr userDrawn="1"/>
          </p:nvSpPr>
          <p:spPr>
            <a:xfrm>
              <a:off x="419854" y="2476891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DDEAF8"/>
            </a:solidFill>
            <a:ln w="38100">
              <a:solidFill>
                <a:srgbClr val="4574C4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8120" tIns="228120" rIns="228120" bIns="22812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b="0" kern="1200">
                  <a:solidFill>
                    <a:srgbClr val="4574C4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Cultural awareness &amp; diversity </a:t>
              </a: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9D7BD638-2823-584C-9B68-061561BAC55B}"/>
                </a:ext>
              </a:extLst>
            </p:cNvPr>
            <p:cNvSpPr/>
            <p:nvPr userDrawn="1"/>
          </p:nvSpPr>
          <p:spPr>
            <a:xfrm>
              <a:off x="2491779" y="971549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FFF2CC"/>
            </a:solidFill>
            <a:ln w="38100">
              <a:solidFill>
                <a:srgbClr val="FFC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5740" tIns="235740" rIns="235740" bIns="23574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000" b="0" kern="1200">
                  <a:solidFill>
                    <a:srgbClr val="FFC000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Place, Space &amp; Scale</a:t>
              </a:r>
            </a:p>
          </p:txBody>
        </p:sp>
      </p:grpSp>
      <p:pic>
        <p:nvPicPr>
          <p:cNvPr id="117" name="Picture 116">
            <a:extLst>
              <a:ext uri="{FF2B5EF4-FFF2-40B4-BE49-F238E27FC236}">
                <a16:creationId xmlns:a16="http://schemas.microsoft.com/office/drawing/2014/main" id="{89753F3C-9219-C1C9-DB62-C7A95EEC27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68746" y="713681"/>
            <a:ext cx="5566957" cy="569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01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4C3142-EB23-8F25-054D-72ACFF70EA0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82BEF9B-0F50-2FB7-1168-8E7D81DC9F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60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468346-116A-66E6-812B-38A1A615A19E}"/>
              </a:ext>
            </a:extLst>
          </p:cNvPr>
          <p:cNvSpPr txBox="1"/>
          <p:nvPr userDrawn="1"/>
        </p:nvSpPr>
        <p:spPr>
          <a:xfrm>
            <a:off x="923238" y="808490"/>
            <a:ext cx="2860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spaces that have been defined by a given name. We can describe them by their location, shape, boundaries, features, physical and human characteristics.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737784-658A-AD05-8998-BAF2495F66FD}"/>
              </a:ext>
            </a:extLst>
          </p:cNvPr>
          <p:cNvGrpSpPr/>
          <p:nvPr userDrawn="1"/>
        </p:nvGrpSpPr>
        <p:grpSpPr>
          <a:xfrm>
            <a:off x="57580" y="1031926"/>
            <a:ext cx="865658" cy="744149"/>
            <a:chOff x="57580" y="1031926"/>
            <a:chExt cx="865658" cy="74414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F052065-1DDB-E2DC-0F3B-396DB5BB06C8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6DFED09-CF66-B228-0F68-9682750806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1DB2582-79EF-90E8-ADCB-2AE7029E691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0DE7C01-422A-A7BB-1D1B-3A49D84E46E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BF84855-F164-7917-D065-84DDE64A51A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11" name="Picture 10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16D06F16-D317-4C08-C147-AFE6431A94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426F523-D2E6-E414-F47E-F0FCA36951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1CB9C8-816F-DF00-0844-27C1265768A2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  <p:grpSp>
        <p:nvGrpSpPr>
          <p:cNvPr id="5" name="Group 4" hidden="1">
            <a:extLst>
              <a:ext uri="{FF2B5EF4-FFF2-40B4-BE49-F238E27FC236}">
                <a16:creationId xmlns:a16="http://schemas.microsoft.com/office/drawing/2014/main" id="{90EC6178-66B6-01DC-1F12-EB84BD45947B}"/>
              </a:ext>
            </a:extLst>
          </p:cNvPr>
          <p:cNvGrpSpPr/>
          <p:nvPr userDrawn="1"/>
        </p:nvGrpSpPr>
        <p:grpSpPr>
          <a:xfrm>
            <a:off x="4033305" y="4320166"/>
            <a:ext cx="2317966" cy="2317966"/>
            <a:chOff x="1553560" y="1499185"/>
            <a:chExt cx="2317966" cy="231796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7C8CF0-A937-A8E8-7EF0-44879B9BD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13" name="Picture 1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1FB3CDC-4B6D-416C-7AD3-BF061CBE1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FDB189-C58F-3DA2-FBFC-D5EDA5A442D2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15" name="Group 14" hidden="1">
            <a:extLst>
              <a:ext uri="{FF2B5EF4-FFF2-40B4-BE49-F238E27FC236}">
                <a16:creationId xmlns:a16="http://schemas.microsoft.com/office/drawing/2014/main" id="{F426E287-F19C-64E5-75CB-4CFFAA85761B}"/>
              </a:ext>
            </a:extLst>
          </p:cNvPr>
          <p:cNvGrpSpPr/>
          <p:nvPr userDrawn="1"/>
        </p:nvGrpSpPr>
        <p:grpSpPr>
          <a:xfrm>
            <a:off x="2158640" y="4318660"/>
            <a:ext cx="2317967" cy="2317967"/>
            <a:chOff x="2033634" y="4440139"/>
            <a:chExt cx="2317967" cy="231796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36CBDBE-231F-8452-CA97-93E01AED1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19" name="Picture 1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B42E10A-4922-2098-E7CA-5ED9090A4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BCC37A-4FC2-5D80-8B2C-A80733848AC7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21" name="Group 20" hidden="1">
            <a:extLst>
              <a:ext uri="{FF2B5EF4-FFF2-40B4-BE49-F238E27FC236}">
                <a16:creationId xmlns:a16="http://schemas.microsoft.com/office/drawing/2014/main" id="{4912B08E-A145-0051-6FC4-D75D151C70C9}"/>
              </a:ext>
            </a:extLst>
          </p:cNvPr>
          <p:cNvGrpSpPr/>
          <p:nvPr userDrawn="1"/>
        </p:nvGrpSpPr>
        <p:grpSpPr>
          <a:xfrm>
            <a:off x="5905242" y="4322973"/>
            <a:ext cx="2387476" cy="2311677"/>
            <a:chOff x="3849998" y="4440139"/>
            <a:chExt cx="2387476" cy="231167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297519D-A535-47BF-D62A-28DEBD1BA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63128B1-B65B-F124-BFF5-0C38487096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967F17B-B947-42CA-8E84-E61756770BC3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25" name="Group 24" hidden="1">
            <a:extLst>
              <a:ext uri="{FF2B5EF4-FFF2-40B4-BE49-F238E27FC236}">
                <a16:creationId xmlns:a16="http://schemas.microsoft.com/office/drawing/2014/main" id="{7B4114D4-7266-69CC-5E08-C616ED972402}"/>
              </a:ext>
            </a:extLst>
          </p:cNvPr>
          <p:cNvGrpSpPr/>
          <p:nvPr userDrawn="1"/>
        </p:nvGrpSpPr>
        <p:grpSpPr>
          <a:xfrm>
            <a:off x="292714" y="4320798"/>
            <a:ext cx="2311678" cy="2311678"/>
            <a:chOff x="265848" y="1468917"/>
            <a:chExt cx="2311678" cy="231167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DA73CD7-A081-078A-C4C7-965E23097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D4B6BAF-6EE2-1751-80B4-7DD8583EEAB3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29" name="Picture 28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F71746FE-BE43-551B-568B-A2EA692B552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3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30" name="Picture 29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A94999F7-ED3B-9396-7927-A0E141DCFB8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170C087-9BB7-E55E-C1A6-99B4B0A9BFDA}"/>
                </a:ext>
              </a:extLst>
            </p:cNvPr>
            <p:cNvSpPr txBox="1"/>
            <p:nvPr/>
          </p:nvSpPr>
          <p:spPr>
            <a:xfrm>
              <a:off x="667424" y="1899565"/>
              <a:ext cx="14733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36" name="Group 35" hidden="1">
            <a:extLst>
              <a:ext uri="{FF2B5EF4-FFF2-40B4-BE49-F238E27FC236}">
                <a16:creationId xmlns:a16="http://schemas.microsoft.com/office/drawing/2014/main" id="{FF57327F-F4D8-3321-6BD0-518960357787}"/>
              </a:ext>
            </a:extLst>
          </p:cNvPr>
          <p:cNvGrpSpPr/>
          <p:nvPr userDrawn="1"/>
        </p:nvGrpSpPr>
        <p:grpSpPr>
          <a:xfrm>
            <a:off x="7759743" y="4318660"/>
            <a:ext cx="2311677" cy="2311677"/>
            <a:chOff x="1419928" y="1940604"/>
            <a:chExt cx="2311677" cy="2311677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C850675-4709-5B44-ABA7-1CC3E0915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38" name="Picture 3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FF66A8D-8DDD-8995-2412-85EEB3F58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143188E-A293-9598-7FB7-C1DCA69CEA29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0" name="Group 39" hidden="1">
            <a:extLst>
              <a:ext uri="{FF2B5EF4-FFF2-40B4-BE49-F238E27FC236}">
                <a16:creationId xmlns:a16="http://schemas.microsoft.com/office/drawing/2014/main" id="{DD6FDB06-103C-66F7-BA7C-0BC355175619}"/>
              </a:ext>
            </a:extLst>
          </p:cNvPr>
          <p:cNvGrpSpPr/>
          <p:nvPr userDrawn="1"/>
        </p:nvGrpSpPr>
        <p:grpSpPr>
          <a:xfrm>
            <a:off x="2167658" y="2450369"/>
            <a:ext cx="2317966" cy="2317966"/>
            <a:chOff x="1553560" y="1499185"/>
            <a:chExt cx="2317966" cy="2317966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0ECD7D2-93E2-249D-6206-39ED8F59E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42" name="Picture 4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F7F777ED-9600-AD13-FE3D-57A1CED67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9C049AB-3CC8-DC42-2A72-E7B5C4116274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4" name="Group 43" hidden="1">
            <a:extLst>
              <a:ext uri="{FF2B5EF4-FFF2-40B4-BE49-F238E27FC236}">
                <a16:creationId xmlns:a16="http://schemas.microsoft.com/office/drawing/2014/main" id="{4085B5BC-0E93-33B1-AE6A-29EDFB80727F}"/>
              </a:ext>
            </a:extLst>
          </p:cNvPr>
          <p:cNvGrpSpPr/>
          <p:nvPr userDrawn="1"/>
        </p:nvGrpSpPr>
        <p:grpSpPr>
          <a:xfrm>
            <a:off x="292993" y="2448863"/>
            <a:ext cx="2317967" cy="2317967"/>
            <a:chOff x="2033634" y="4440139"/>
            <a:chExt cx="2317967" cy="2317967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74954D53-277E-8EF8-1EA6-81595BBAE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46" name="Picture 4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7868FA9-CEC7-30AF-C41F-1EDE40A34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47E068A-7F83-03D7-DA32-72E586C29290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8" name="Group 47" hidden="1">
            <a:extLst>
              <a:ext uri="{FF2B5EF4-FFF2-40B4-BE49-F238E27FC236}">
                <a16:creationId xmlns:a16="http://schemas.microsoft.com/office/drawing/2014/main" id="{F03109F7-6604-8659-1BBF-249C125ADC51}"/>
              </a:ext>
            </a:extLst>
          </p:cNvPr>
          <p:cNvGrpSpPr/>
          <p:nvPr userDrawn="1"/>
        </p:nvGrpSpPr>
        <p:grpSpPr>
          <a:xfrm>
            <a:off x="4039595" y="2453176"/>
            <a:ext cx="2387476" cy="2311677"/>
            <a:chOff x="3849998" y="4440139"/>
            <a:chExt cx="2387476" cy="2311677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93F5130-08B5-7728-5157-4A4FC71C4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269EE462-D491-054A-8735-5EE6F69A7D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3AF6DA4-E376-FB4F-346D-D82850E41155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52" name="Group 51" hidden="1">
            <a:extLst>
              <a:ext uri="{FF2B5EF4-FFF2-40B4-BE49-F238E27FC236}">
                <a16:creationId xmlns:a16="http://schemas.microsoft.com/office/drawing/2014/main" id="{07021E29-5917-D9E5-7161-343A361E0EDA}"/>
              </a:ext>
            </a:extLst>
          </p:cNvPr>
          <p:cNvGrpSpPr/>
          <p:nvPr userDrawn="1"/>
        </p:nvGrpSpPr>
        <p:grpSpPr>
          <a:xfrm>
            <a:off x="5894096" y="2448863"/>
            <a:ext cx="2311677" cy="2311677"/>
            <a:chOff x="1419928" y="1940604"/>
            <a:chExt cx="2311677" cy="2311677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0E2CC0DC-9630-6222-8570-84675E280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54" name="Picture 5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DD72CF8-CE32-F88E-86FA-9B5EF52AC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184B871-65E3-2931-1229-F482CDBB4B72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56" name="Group 55" hidden="1">
            <a:extLst>
              <a:ext uri="{FF2B5EF4-FFF2-40B4-BE49-F238E27FC236}">
                <a16:creationId xmlns:a16="http://schemas.microsoft.com/office/drawing/2014/main" id="{66E11F0C-4647-2B9B-6B59-1CAF219D8999}"/>
              </a:ext>
            </a:extLst>
          </p:cNvPr>
          <p:cNvGrpSpPr/>
          <p:nvPr userDrawn="1"/>
        </p:nvGrpSpPr>
        <p:grpSpPr>
          <a:xfrm>
            <a:off x="7759121" y="2451300"/>
            <a:ext cx="2317967" cy="2317967"/>
            <a:chOff x="2033634" y="4440139"/>
            <a:chExt cx="2317967" cy="2317967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47BB09A5-9DC5-5C26-5451-040316D0A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58" name="Picture 5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0A3869ED-2BF7-D2B7-D0E1-1529D818E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F8741D5-C7D7-8B71-B351-0697F0E76DB0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60" name="Group 59" hidden="1">
            <a:extLst>
              <a:ext uri="{FF2B5EF4-FFF2-40B4-BE49-F238E27FC236}">
                <a16:creationId xmlns:a16="http://schemas.microsoft.com/office/drawing/2014/main" id="{D74CED2C-2AF9-787B-F044-A7092725901D}"/>
              </a:ext>
            </a:extLst>
          </p:cNvPr>
          <p:cNvGrpSpPr/>
          <p:nvPr userDrawn="1"/>
        </p:nvGrpSpPr>
        <p:grpSpPr>
          <a:xfrm>
            <a:off x="5899000" y="566030"/>
            <a:ext cx="2317966" cy="2317966"/>
            <a:chOff x="1553560" y="1499185"/>
            <a:chExt cx="2317966" cy="2317966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020B7C4A-BBF3-2327-15FD-0197BB849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62" name="Picture 6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A8617FE-04F2-1637-1245-102060D7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B528CCE-13BB-743C-9666-784223D6AEF7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64" name="Group 63" hidden="1">
            <a:extLst>
              <a:ext uri="{FF2B5EF4-FFF2-40B4-BE49-F238E27FC236}">
                <a16:creationId xmlns:a16="http://schemas.microsoft.com/office/drawing/2014/main" id="{C0EC83B3-5B71-043B-B329-C31B743BD158}"/>
              </a:ext>
            </a:extLst>
          </p:cNvPr>
          <p:cNvGrpSpPr/>
          <p:nvPr userDrawn="1"/>
        </p:nvGrpSpPr>
        <p:grpSpPr>
          <a:xfrm>
            <a:off x="4033584" y="576120"/>
            <a:ext cx="2317967" cy="2317967"/>
            <a:chOff x="2033634" y="4440139"/>
            <a:chExt cx="2317967" cy="2317967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CF3F3FAE-2F96-ED81-F490-FA2F11D5C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66" name="Picture 6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582AE0E-EA6F-A03C-CDCB-FFE791677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B2F07CF-2906-BDB7-B3BE-4C2E2B7D7232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68" name="Group 67" hidden="1">
            <a:extLst>
              <a:ext uri="{FF2B5EF4-FFF2-40B4-BE49-F238E27FC236}">
                <a16:creationId xmlns:a16="http://schemas.microsoft.com/office/drawing/2014/main" id="{CBD02271-23F6-954C-E2A0-17684A91C326}"/>
              </a:ext>
            </a:extLst>
          </p:cNvPr>
          <p:cNvGrpSpPr/>
          <p:nvPr userDrawn="1"/>
        </p:nvGrpSpPr>
        <p:grpSpPr>
          <a:xfrm>
            <a:off x="7759121" y="579892"/>
            <a:ext cx="2387476" cy="2311677"/>
            <a:chOff x="3849998" y="4440139"/>
            <a:chExt cx="2387476" cy="2311677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B20B77C2-1680-32B9-286A-0DCA5A2CB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54903A00-2CAF-89D9-5219-953E0884F3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9294937-540E-630D-A463-1896B68DBE9B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72" name="Group 71" hidden="1">
            <a:extLst>
              <a:ext uri="{FF2B5EF4-FFF2-40B4-BE49-F238E27FC236}">
                <a16:creationId xmlns:a16="http://schemas.microsoft.com/office/drawing/2014/main" id="{92BA26EF-E7E4-7B54-AF54-132E15FF9908}"/>
              </a:ext>
            </a:extLst>
          </p:cNvPr>
          <p:cNvGrpSpPr/>
          <p:nvPr userDrawn="1"/>
        </p:nvGrpSpPr>
        <p:grpSpPr>
          <a:xfrm>
            <a:off x="9632885" y="2456658"/>
            <a:ext cx="2311677" cy="2311677"/>
            <a:chOff x="1419928" y="1940604"/>
            <a:chExt cx="2311677" cy="2311677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7D403383-FB6C-205A-D759-27A13B8F0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74" name="Picture 7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0E96DE15-0D98-BFD1-74AD-95AE3B649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9AD19C7-BE90-0393-88F1-3AFBF87717CC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76" name="Group 75" hidden="1">
            <a:extLst>
              <a:ext uri="{FF2B5EF4-FFF2-40B4-BE49-F238E27FC236}">
                <a16:creationId xmlns:a16="http://schemas.microsoft.com/office/drawing/2014/main" id="{F37147B6-ECCB-14E8-4033-A06A4AB0E662}"/>
              </a:ext>
            </a:extLst>
          </p:cNvPr>
          <p:cNvGrpSpPr/>
          <p:nvPr userDrawn="1"/>
        </p:nvGrpSpPr>
        <p:grpSpPr>
          <a:xfrm>
            <a:off x="9630342" y="586580"/>
            <a:ext cx="2311678" cy="2311678"/>
            <a:chOff x="265848" y="1468917"/>
            <a:chExt cx="2311678" cy="2311678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119D3A19-4C5A-11D5-E3BD-0FBBC812A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C2DAEA2E-51FF-0676-4756-F72CC6DE6608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80" name="Picture 79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9D2118D8-D0D7-C083-C455-65DB7EA5C39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3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81" name="Picture 80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BD19A24C-2985-7D3C-457D-377F78C4710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5B255FE-0DA0-FA6C-C9B9-9EF770C248DB}"/>
                </a:ext>
              </a:extLst>
            </p:cNvPr>
            <p:cNvSpPr txBox="1"/>
            <p:nvPr/>
          </p:nvSpPr>
          <p:spPr>
            <a:xfrm>
              <a:off x="667424" y="1899565"/>
              <a:ext cx="14733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626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572C4D2-64B4-1B32-68D7-DC03C679292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DD991092-BCCC-E70B-ADBC-A96CF09BB70B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ADA91177-EA61-A14F-48D8-9FDF4FDA3BDF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14D384F1-2722-256C-0B84-CA37221FCFDC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27" name="Rectangle: Rounded Corners 12">
                    <a:extLst>
                      <a:ext uri="{FF2B5EF4-FFF2-40B4-BE49-F238E27FC236}">
                        <a16:creationId xmlns:a16="http://schemas.microsoft.com/office/drawing/2014/main" id="{D78E21CA-437C-E8E6-D43F-7FB2BDD79DF7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Rectangle: Rounded Corners 4">
                    <a:extLst>
                      <a:ext uri="{FF2B5EF4-FFF2-40B4-BE49-F238E27FC236}">
                        <a16:creationId xmlns:a16="http://schemas.microsoft.com/office/drawing/2014/main" id="{78EC23C4-1992-220E-873E-902A6715F9E6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787CDB7E-949B-491F-5C11-1723326B1CA5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25" name="Picture 124">
                    <a:extLst>
                      <a:ext uri="{FF2B5EF4-FFF2-40B4-BE49-F238E27FC236}">
                        <a16:creationId xmlns:a16="http://schemas.microsoft.com/office/drawing/2014/main" id="{B0216510-CCFD-8238-F8E5-772CFF29E6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46C3A5F4-3B03-A278-1907-2AB241FAF2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D3DEC776-1FA8-AD8E-F0A6-5A041B4487D6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B850CB8-AFE7-F6FF-4B59-55E6B4ED76C5}"/>
                </a:ext>
              </a:extLst>
            </p:cNvPr>
            <p:cNvSpPr txBox="1"/>
            <p:nvPr/>
          </p:nvSpPr>
          <p:spPr>
            <a:xfrm>
              <a:off x="6767704" y="37869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know I live in South West England and can name some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cities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the region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. I can name some countries in Europe and describe a place in the Mediterranean. </a:t>
              </a: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583309" y="1869817"/>
            <a:ext cx="269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areas that have been defined by a given name. 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466AB6B-12CA-B770-FC7A-C9C398FD84B9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B746930-222B-86B4-89C0-C8DC202EF3EB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46F2FF87-3180-D2B4-D77E-EFD684493CCE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04D6BE85-A902-2EBF-1495-D6BA8628D9A9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39" name="Rectangle: Rounded Corners 9">
                    <a:extLst>
                      <a:ext uri="{FF2B5EF4-FFF2-40B4-BE49-F238E27FC236}">
                        <a16:creationId xmlns:a16="http://schemas.microsoft.com/office/drawing/2014/main" id="{D7FB5E20-2597-C2F9-9D1F-032BEE084135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0" name="Rectangle: Rounded Corners 4">
                    <a:extLst>
                      <a:ext uri="{FF2B5EF4-FFF2-40B4-BE49-F238E27FC236}">
                        <a16:creationId xmlns:a16="http://schemas.microsoft.com/office/drawing/2014/main" id="{CBAB15B9-D2D2-7071-FE7D-4836909AFF45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FEC6F23F-F501-E370-737C-7E5904F01B95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37" name="Picture 136">
                    <a:extLst>
                      <a:ext uri="{FF2B5EF4-FFF2-40B4-BE49-F238E27FC236}">
                        <a16:creationId xmlns:a16="http://schemas.microsoft.com/office/drawing/2014/main" id="{D9CB490D-D898-A179-70A1-0499A117EC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28FD4341-097C-C237-D68D-557B2D3A852E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D8EAC55-2763-2E54-A516-F75C56290EB9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147B050-DCFA-BD81-F8D1-37EAD487D659}"/>
                </a:ext>
              </a:extLst>
            </p:cNvPr>
            <p:cNvSpPr txBox="1"/>
            <p:nvPr/>
          </p:nvSpPr>
          <p:spPr>
            <a:xfrm>
              <a:off x="6824631" y="479839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a map to locate the seven continents and five oceans. I know that England is in the continent Europe and China is in the continent Asia.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88E5574-5424-3800-FBBA-A065DAC6D9BA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794C7E4-08FC-3E62-5385-741FB5A5AE2B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6D23B01-63B5-9745-6BD4-FF90FDA7FFA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46" name="Rectangle: Rounded Corners 3">
                  <a:extLst>
                    <a:ext uri="{FF2B5EF4-FFF2-40B4-BE49-F238E27FC236}">
                      <a16:creationId xmlns:a16="http://schemas.microsoft.com/office/drawing/2014/main" id="{2EDFC930-7F32-8E38-3B3E-B0DCC43E6F33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5C6F202A-9BFF-F6BB-D3B4-FD9992240FC2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48" name="Picture 147">
                    <a:extLst>
                      <a:ext uri="{FF2B5EF4-FFF2-40B4-BE49-F238E27FC236}">
                        <a16:creationId xmlns:a16="http://schemas.microsoft.com/office/drawing/2014/main" id="{C9B7B796-5F7C-3AF9-11C3-AE48B1EF69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B6408EC0-CF69-72D6-22D4-E55345FD11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3972111-5E24-221D-A3AE-4FAF4317106C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D65EB27-4FE8-704E-2D3A-5DDD8D09673C}"/>
                </a:ext>
              </a:extLst>
            </p:cNvPr>
            <p:cNvSpPr txBox="1"/>
            <p:nvPr/>
          </p:nvSpPr>
          <p:spPr>
            <a:xfrm>
              <a:off x="6824631" y="58896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know where I live and where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Wallscourt Farm Academy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is. I know I live in England and can name the four countries of the United Kingdom. 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9234EFC2-7245-7BAF-F63C-270DF7E6370D}"/>
              </a:ext>
            </a:extLst>
          </p:cNvPr>
          <p:cNvGrpSpPr/>
          <p:nvPr userDrawn="1"/>
        </p:nvGrpSpPr>
        <p:grpSpPr>
          <a:xfrm>
            <a:off x="3511272" y="1660451"/>
            <a:ext cx="8322595" cy="929821"/>
            <a:chOff x="3511272" y="1660451"/>
            <a:chExt cx="8322595" cy="929821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DEEFC061-CBED-68B4-A25E-8AD3A3B706B3}"/>
                </a:ext>
              </a:extLst>
            </p:cNvPr>
            <p:cNvGrpSpPr/>
            <p:nvPr/>
          </p:nvGrpSpPr>
          <p:grpSpPr>
            <a:xfrm>
              <a:off x="3511272" y="1660451"/>
              <a:ext cx="8322595" cy="929821"/>
              <a:chOff x="3511272" y="1660451"/>
              <a:chExt cx="8322595" cy="929821"/>
            </a:xfrm>
          </p:grpSpPr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A67AA86D-5F2B-4D69-CA90-49AE6659FD37}"/>
                  </a:ext>
                </a:extLst>
              </p:cNvPr>
              <p:cNvGrpSpPr/>
              <p:nvPr/>
            </p:nvGrpSpPr>
            <p:grpSpPr>
              <a:xfrm>
                <a:off x="3511272" y="1660451"/>
                <a:ext cx="8322595" cy="929821"/>
                <a:chOff x="3511272" y="1660451"/>
                <a:chExt cx="8322595" cy="929821"/>
              </a:xfrm>
            </p:grpSpPr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DB56F36C-57E1-02C8-9E19-B0DE95151757}"/>
                    </a:ext>
                  </a:extLst>
                </p:cNvPr>
                <p:cNvGrpSpPr/>
                <p:nvPr/>
              </p:nvGrpSpPr>
              <p:grpSpPr>
                <a:xfrm>
                  <a:off x="3533230" y="1690272"/>
                  <a:ext cx="8300637" cy="900000"/>
                  <a:chOff x="7998350" y="1737362"/>
                  <a:chExt cx="1713901" cy="2844795"/>
                </a:xfrm>
              </p:grpSpPr>
              <p:sp>
                <p:nvSpPr>
                  <p:cNvPr id="159" name="Rectangle: Rounded Corners 18">
                    <a:extLst>
                      <a:ext uri="{FF2B5EF4-FFF2-40B4-BE49-F238E27FC236}">
                        <a16:creationId xmlns:a16="http://schemas.microsoft.com/office/drawing/2014/main" id="{32978E12-436D-FE20-BAC1-14F2F597E312}"/>
                      </a:ext>
                    </a:extLst>
                  </p:cNvPr>
                  <p:cNvSpPr/>
                  <p:nvPr/>
                </p:nvSpPr>
                <p:spPr>
                  <a:xfrm>
                    <a:off x="7998350" y="1737362"/>
                    <a:ext cx="1713901" cy="2844795"/>
                  </a:xfrm>
                  <a:prstGeom prst="roundRect">
                    <a:avLst/>
                  </a:prstGeom>
                  <a:solidFill>
                    <a:srgbClr val="F9D2B5"/>
                  </a:solidFill>
                  <a:ln>
                    <a:solidFill>
                      <a:srgbClr val="F9D2B5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0" name="Rectangle: Rounded Corners 4">
                    <a:extLst>
                      <a:ext uri="{FF2B5EF4-FFF2-40B4-BE49-F238E27FC236}">
                        <a16:creationId xmlns:a16="http://schemas.microsoft.com/office/drawing/2014/main" id="{ECED4EB8-7F21-7787-D921-C190707E57E3}"/>
                      </a:ext>
                    </a:extLst>
                  </p:cNvPr>
                  <p:cNvSpPr txBox="1"/>
                  <p:nvPr/>
                </p:nvSpPr>
                <p:spPr>
                  <a:xfrm>
                    <a:off x="8082016" y="1821028"/>
                    <a:ext cx="1546569" cy="2677463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56" name="Group 155">
                  <a:extLst>
                    <a:ext uri="{FF2B5EF4-FFF2-40B4-BE49-F238E27FC236}">
                      <a16:creationId xmlns:a16="http://schemas.microsoft.com/office/drawing/2014/main" id="{C4516AA0-06C6-3028-8F3D-12CD2A08E539}"/>
                    </a:ext>
                  </a:extLst>
                </p:cNvPr>
                <p:cNvGrpSpPr/>
                <p:nvPr/>
              </p:nvGrpSpPr>
              <p:grpSpPr>
                <a:xfrm>
                  <a:off x="3511272" y="1660451"/>
                  <a:ext cx="801261" cy="903352"/>
                  <a:chOff x="4418485" y="450020"/>
                  <a:chExt cx="801261" cy="903352"/>
                </a:xfrm>
              </p:grpSpPr>
              <p:pic>
                <p:nvPicPr>
                  <p:cNvPr id="157" name="Picture 156">
                    <a:extLst>
                      <a:ext uri="{FF2B5EF4-FFF2-40B4-BE49-F238E27FC236}">
                        <a16:creationId xmlns:a16="http://schemas.microsoft.com/office/drawing/2014/main" id="{87E30BFB-6798-F90C-9A5A-2DFD33F6AB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1848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D6A332EC-B155-7AB0-B5D4-EA56CD37DC2D}"/>
                      </a:ext>
                    </a:extLst>
                  </p:cNvPr>
                  <p:cNvSpPr txBox="1"/>
                  <p:nvPr/>
                </p:nvSpPr>
                <p:spPr>
                  <a:xfrm>
                    <a:off x="466042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5</a:t>
                    </a:r>
                  </a:p>
                </p:txBody>
              </p:sp>
            </p:grpSp>
          </p:grp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4C0135F2-54D2-4F20-1872-C0BE2CCECBAB}"/>
                  </a:ext>
                </a:extLst>
              </p:cNvPr>
              <p:cNvSpPr txBox="1"/>
              <p:nvPr/>
            </p:nvSpPr>
            <p:spPr>
              <a:xfrm>
                <a:off x="4392766" y="1788757"/>
                <a:ext cx="2299228" cy="738664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Waterways in the UK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Significant cities around the world</a:t>
                </a:r>
              </a:p>
            </p:txBody>
          </p:sp>
        </p:grp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56259CB-66C1-EE2B-3605-95C4FE427597}"/>
                </a:ext>
              </a:extLst>
            </p:cNvPr>
            <p:cNvSpPr txBox="1"/>
            <p:nvPr/>
          </p:nvSpPr>
          <p:spPr>
            <a:xfrm>
              <a:off x="6824631" y="1736562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explain the location and functions of some waterways in the United Kingdom. I can name and compare some countries and cities around the world. 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1C51D6F-9B82-78D2-3E56-2CC37064D297}"/>
              </a:ext>
            </a:extLst>
          </p:cNvPr>
          <p:cNvGrpSpPr/>
          <p:nvPr userDrawn="1"/>
        </p:nvGrpSpPr>
        <p:grpSpPr>
          <a:xfrm>
            <a:off x="3525668" y="2707320"/>
            <a:ext cx="8308198" cy="954107"/>
            <a:chOff x="3525668" y="2707320"/>
            <a:chExt cx="8308198" cy="954107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C84BC7-360F-82FE-D852-17506775C6F8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4C1A94B3-1B9C-2743-32AB-4B83AFF0C3A8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3738305E-36B9-41B9-E67E-47F2D1F68F75}"/>
                    </a:ext>
                  </a:extLst>
                </p:cNvPr>
                <p:cNvGrpSpPr/>
                <p:nvPr/>
              </p:nvGrpSpPr>
              <p:grpSpPr>
                <a:xfrm>
                  <a:off x="3533229" y="2722725"/>
                  <a:ext cx="8300637" cy="900000"/>
                  <a:chOff x="5998798" y="1737362"/>
                  <a:chExt cx="1713901" cy="2844795"/>
                </a:xfrm>
              </p:grpSpPr>
              <p:sp>
                <p:nvSpPr>
                  <p:cNvPr id="170" name="Rectangle: Rounded Corners 15">
                    <a:extLst>
                      <a:ext uri="{FF2B5EF4-FFF2-40B4-BE49-F238E27FC236}">
                        <a16:creationId xmlns:a16="http://schemas.microsoft.com/office/drawing/2014/main" id="{750B889C-4590-2233-1B06-6A75B19246CF}"/>
                      </a:ext>
                    </a:extLst>
                  </p:cNvPr>
                  <p:cNvSpPr/>
                  <p:nvPr/>
                </p:nvSpPr>
                <p:spPr>
                  <a:xfrm>
                    <a:off x="5998798" y="1737362"/>
                    <a:ext cx="1713901" cy="2844795"/>
                  </a:xfrm>
                  <a:prstGeom prst="roundRect">
                    <a:avLst/>
                  </a:prstGeom>
                  <a:solidFill>
                    <a:srgbClr val="BDD7EF"/>
                  </a:solidFill>
                  <a:ln>
                    <a:noFill/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1" name="Rectangle: Rounded Corners 4">
                    <a:extLst>
                      <a:ext uri="{FF2B5EF4-FFF2-40B4-BE49-F238E27FC236}">
                        <a16:creationId xmlns:a16="http://schemas.microsoft.com/office/drawing/2014/main" id="{9B6102C5-D823-0B4F-B267-AAD650C9FB01}"/>
                      </a:ext>
                    </a:extLst>
                  </p:cNvPr>
                  <p:cNvSpPr txBox="1"/>
                  <p:nvPr/>
                </p:nvSpPr>
                <p:spPr>
                  <a:xfrm>
                    <a:off x="6082464" y="1821028"/>
                    <a:ext cx="1546569" cy="2344261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4F48F122-E542-6645-1730-8D916B6C940C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68" name="Picture 167">
                    <a:extLst>
                      <a:ext uri="{FF2B5EF4-FFF2-40B4-BE49-F238E27FC236}">
                        <a16:creationId xmlns:a16="http://schemas.microsoft.com/office/drawing/2014/main" id="{075A870B-9788-88E5-4712-9B7442C105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055B0069-2F7F-3BDD-7014-7C9EC2D78D6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E66FC725-A387-28A8-C7D7-4B9A65D69567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8AC9B67A-0F15-331A-E781-7F016E8795CF}"/>
                </a:ext>
              </a:extLst>
            </p:cNvPr>
            <p:cNvSpPr txBox="1"/>
            <p:nvPr/>
          </p:nvSpPr>
          <p:spPr>
            <a:xfrm>
              <a:off x="6824631" y="2707320"/>
              <a:ext cx="488210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world maps to locate the equator, tropics and  hemispheres and use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 latitude and longitude to locate places.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 can name significant cities in the UK describe a place in South America. </a:t>
              </a: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C03EA156-7E21-1D05-39B0-4AA499688BDB}"/>
              </a:ext>
            </a:extLst>
          </p:cNvPr>
          <p:cNvSpPr txBox="1"/>
          <p:nvPr userDrawn="1"/>
        </p:nvSpPr>
        <p:spPr>
          <a:xfrm>
            <a:off x="596419" y="3486712"/>
            <a:ext cx="2740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Scale is when we ‘zoom –in and zoom-out’ to explore local, regional and global patterns and connections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084291-0649-F1E8-23A2-23A2A3BF6154}"/>
              </a:ext>
            </a:extLst>
          </p:cNvPr>
          <p:cNvSpPr txBox="1"/>
          <p:nvPr userDrawn="1"/>
        </p:nvSpPr>
        <p:spPr>
          <a:xfrm>
            <a:off x="598388" y="2520074"/>
            <a:ext cx="2805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Space</a:t>
            </a:r>
            <a:r>
              <a:rPr kumimoji="0" lang="en-GB" sz="14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 is about the importance of places and the way people organise where we live.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59BE6D9-7D41-2DA0-FF2C-8A78E82B899F}"/>
              </a:ext>
            </a:extLst>
          </p:cNvPr>
          <p:cNvGrpSpPr/>
          <p:nvPr userDrawn="1"/>
        </p:nvGrpSpPr>
        <p:grpSpPr>
          <a:xfrm>
            <a:off x="3508831" y="646450"/>
            <a:ext cx="8325036" cy="931047"/>
            <a:chOff x="3508831" y="646450"/>
            <a:chExt cx="8325036" cy="931047"/>
          </a:xfrm>
        </p:grpSpPr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9859DEE5-3D1D-F9F2-5E9D-DEEB528BD11E}"/>
                </a:ext>
              </a:extLst>
            </p:cNvPr>
            <p:cNvGrpSpPr/>
            <p:nvPr userDrawn="1"/>
          </p:nvGrpSpPr>
          <p:grpSpPr>
            <a:xfrm>
              <a:off x="3508831" y="646450"/>
              <a:ext cx="8325036" cy="931047"/>
              <a:chOff x="3508831" y="646450"/>
              <a:chExt cx="8325036" cy="931047"/>
            </a:xfrm>
          </p:grpSpPr>
          <p:grpSp>
            <p:nvGrpSpPr>
              <p:cNvPr id="175" name="Group 174">
                <a:extLst>
                  <a:ext uri="{FF2B5EF4-FFF2-40B4-BE49-F238E27FC236}">
                    <a16:creationId xmlns:a16="http://schemas.microsoft.com/office/drawing/2014/main" id="{11C8D3E0-4B27-375B-D6F5-136D0D4ED7D5}"/>
                  </a:ext>
                </a:extLst>
              </p:cNvPr>
              <p:cNvGrpSpPr/>
              <p:nvPr/>
            </p:nvGrpSpPr>
            <p:grpSpPr>
              <a:xfrm>
                <a:off x="3508831" y="646450"/>
                <a:ext cx="8325036" cy="931047"/>
                <a:chOff x="3508831" y="646450"/>
                <a:chExt cx="8325036" cy="931047"/>
              </a:xfrm>
            </p:grpSpPr>
            <p:grpSp>
              <p:nvGrpSpPr>
                <p:cNvPr id="177" name="Group 176">
                  <a:extLst>
                    <a:ext uri="{FF2B5EF4-FFF2-40B4-BE49-F238E27FC236}">
                      <a16:creationId xmlns:a16="http://schemas.microsoft.com/office/drawing/2014/main" id="{C0672889-0B91-BDC3-6628-96F77569C5EC}"/>
                    </a:ext>
                  </a:extLst>
                </p:cNvPr>
                <p:cNvGrpSpPr/>
                <p:nvPr/>
              </p:nvGrpSpPr>
              <p:grpSpPr>
                <a:xfrm>
                  <a:off x="3533230" y="677497"/>
                  <a:ext cx="8300637" cy="900000"/>
                  <a:chOff x="1999694" y="1717038"/>
                  <a:chExt cx="1713901" cy="2885442"/>
                </a:xfrm>
              </p:grpSpPr>
              <p:sp>
                <p:nvSpPr>
                  <p:cNvPr id="181" name="Rectangle: Rounded Corners 23">
                    <a:extLst>
                      <a:ext uri="{FF2B5EF4-FFF2-40B4-BE49-F238E27FC236}">
                        <a16:creationId xmlns:a16="http://schemas.microsoft.com/office/drawing/2014/main" id="{E46D7EA9-004F-348D-62A1-FB233571FFB4}"/>
                      </a:ext>
                    </a:extLst>
                  </p:cNvPr>
                  <p:cNvSpPr/>
                  <p:nvPr/>
                </p:nvSpPr>
                <p:spPr>
                  <a:xfrm>
                    <a:off x="1999694" y="1717038"/>
                    <a:ext cx="1713901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2" name="Rectangle: Rounded Corners 4">
                    <a:extLst>
                      <a:ext uri="{FF2B5EF4-FFF2-40B4-BE49-F238E27FC236}">
                        <a16:creationId xmlns:a16="http://schemas.microsoft.com/office/drawing/2014/main" id="{C3C91E5E-19E6-4DCD-D752-5A666A60F31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78" name="Group 177">
                  <a:extLst>
                    <a:ext uri="{FF2B5EF4-FFF2-40B4-BE49-F238E27FC236}">
                      <a16:creationId xmlns:a16="http://schemas.microsoft.com/office/drawing/2014/main" id="{F34E1136-40DD-C50F-EC2A-EF9F24B5E4B2}"/>
                    </a:ext>
                  </a:extLst>
                </p:cNvPr>
                <p:cNvGrpSpPr/>
                <p:nvPr/>
              </p:nvGrpSpPr>
              <p:grpSpPr>
                <a:xfrm>
                  <a:off x="3508831" y="646450"/>
                  <a:ext cx="801261" cy="903352"/>
                  <a:chOff x="4407115" y="450020"/>
                  <a:chExt cx="801261" cy="903352"/>
                </a:xfrm>
              </p:grpSpPr>
              <p:pic>
                <p:nvPicPr>
                  <p:cNvPr id="179" name="Picture 178">
                    <a:extLst>
                      <a:ext uri="{FF2B5EF4-FFF2-40B4-BE49-F238E27FC236}">
                        <a16:creationId xmlns:a16="http://schemas.microsoft.com/office/drawing/2014/main" id="{2BA6A8E3-E49E-549A-6266-49606C611E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0711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80" name="TextBox 179">
                    <a:extLst>
                      <a:ext uri="{FF2B5EF4-FFF2-40B4-BE49-F238E27FC236}">
                        <a16:creationId xmlns:a16="http://schemas.microsoft.com/office/drawing/2014/main" id="{B9D27963-C652-7874-DE6E-7A89D649224E}"/>
                      </a:ext>
                    </a:extLst>
                  </p:cNvPr>
                  <p:cNvSpPr txBox="1"/>
                  <p:nvPr/>
                </p:nvSpPr>
                <p:spPr>
                  <a:xfrm>
                    <a:off x="464905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6</a:t>
                    </a:r>
                  </a:p>
                </p:txBody>
              </p:sp>
            </p:grpSp>
          </p:grp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3FBB05B-3E0D-1E92-46C6-FCE8309682BF}"/>
                  </a:ext>
                </a:extLst>
              </p:cNvPr>
              <p:cNvSpPr txBox="1"/>
              <p:nvPr/>
            </p:nvSpPr>
            <p:spPr>
              <a:xfrm>
                <a:off x="6824631" y="780010"/>
                <a:ext cx="4882103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I can describe the location of significant highland areas in the UK and locate and name significant mountain ranges and volcanoes around the world.</a:t>
                </a:r>
              </a:p>
            </p:txBody>
          </p:sp>
        </p:grp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9DADB22E-D0E7-6B2A-2187-4FAF2EA15BBE}"/>
                </a:ext>
              </a:extLst>
            </p:cNvPr>
            <p:cNvSpPr txBox="1"/>
            <p:nvPr userDrawn="1"/>
          </p:nvSpPr>
          <p:spPr>
            <a:xfrm>
              <a:off x="4392765" y="692560"/>
              <a:ext cx="2299228" cy="867930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Highlands in the UK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Mountains, volcanoes and earthquakes around the world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16FC6D-02CF-0369-9BF5-714D19C48255}"/>
              </a:ext>
            </a:extLst>
          </p:cNvPr>
          <p:cNvGrpSpPr/>
          <p:nvPr userDrawn="1"/>
        </p:nvGrpSpPr>
        <p:grpSpPr>
          <a:xfrm>
            <a:off x="79830" y="956034"/>
            <a:ext cx="865658" cy="744149"/>
            <a:chOff x="156589" y="971826"/>
            <a:chExt cx="865658" cy="74414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05F1859-534C-A3B2-1089-FC2963208EAF}"/>
                </a:ext>
              </a:extLst>
            </p:cNvPr>
            <p:cNvGrpSpPr/>
            <p:nvPr userDrawn="1"/>
          </p:nvGrpSpPr>
          <p:grpSpPr>
            <a:xfrm>
              <a:off x="368025" y="971826"/>
              <a:ext cx="500775" cy="483300"/>
              <a:chOff x="182509" y="2709452"/>
              <a:chExt cx="1909033" cy="18424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4FAF9F7-CFFB-712E-8174-6B08F12753C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226DCCE-7F90-3D2D-7B92-68AB3D71E65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8FE28DF-CD74-E91F-7E90-9A581130751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C24270A-47E8-90CC-808D-6468B8BA2DF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9" name="Picture 8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F1BC72FC-661B-8A27-D566-ACE39CD9C0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93868" y="1318751"/>
              <a:ext cx="428379" cy="397224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9A8F77E-48E5-C692-3290-5C0784924E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rcRect b="18880"/>
            <a:stretch>
              <a:fillRect/>
            </a:stretch>
          </p:blipFill>
          <p:spPr>
            <a:xfrm>
              <a:off x="156589" y="1305725"/>
              <a:ext cx="505729" cy="410250"/>
            </a:xfrm>
            <a:prstGeom prst="rect">
              <a:avLst/>
            </a:prstGeom>
          </p:spPr>
        </p:pic>
      </p:grp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57185FD-3197-DAEA-211F-4586140FDF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8880"/>
          <a:stretch>
            <a:fillRect/>
          </a:stretch>
        </p:blipFill>
        <p:spPr>
          <a:xfrm>
            <a:off x="79900" y="1921592"/>
            <a:ext cx="505729" cy="410250"/>
          </a:xfrm>
          <a:prstGeom prst="rect">
            <a:avLst/>
          </a:prstGeom>
        </p:spPr>
      </p:pic>
      <p:pic>
        <p:nvPicPr>
          <p:cNvPr id="3" name="Picture 2" descr="A black arrow pointing to a line&#10;&#10;AI-generated content may be incorrect.">
            <a:extLst>
              <a:ext uri="{FF2B5EF4-FFF2-40B4-BE49-F238E27FC236}">
                <a16:creationId xmlns:a16="http://schemas.microsoft.com/office/drawing/2014/main" id="{E4E22923-73F2-85BB-0E14-C1224F23C1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944" y="3748770"/>
            <a:ext cx="428379" cy="39722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4A8653C-3F9A-E6D1-5387-8F326F19BE14}"/>
              </a:ext>
            </a:extLst>
          </p:cNvPr>
          <p:cNvGrpSpPr/>
          <p:nvPr userDrawn="1"/>
        </p:nvGrpSpPr>
        <p:grpSpPr>
          <a:xfrm>
            <a:off x="89359" y="2684566"/>
            <a:ext cx="500775" cy="483300"/>
            <a:chOff x="182509" y="2709452"/>
            <a:chExt cx="1909033" cy="18424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E4D4E9A-EAB4-AF3B-1D50-3B0BC3C675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36075"/>
            <a:stretch>
              <a:fillRect/>
            </a:stretch>
          </p:blipFill>
          <p:spPr>
            <a:xfrm>
              <a:off x="306750" y="3420521"/>
              <a:ext cx="1691777" cy="113134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8A1E50-058E-AF3E-F086-478E877820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399765" y="2709452"/>
              <a:ext cx="1691777" cy="39722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BC4737-519C-6B37-5079-5B57CEB56E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82509" y="3047811"/>
              <a:ext cx="958202" cy="39722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F6BD36D-B43A-63C8-6538-2A67302326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086043" y="3047811"/>
              <a:ext cx="958202" cy="39722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66D92C-0198-E900-4E7E-62704528657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Place, space and scale</a:t>
            </a:r>
          </a:p>
        </p:txBody>
      </p:sp>
      <p:pic>
        <p:nvPicPr>
          <p:cNvPr id="18" name="Picture 1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E0B62B8-2F8F-2437-D5B8-EB0DB1C1B8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40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183" grpId="0"/>
      <p:bldP spid="184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9CE78D3-4D6F-90E5-681F-7AB795A4E326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FAE3346-142E-AE49-4A0E-030FA725EB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4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D893F5CB-E312-B8E4-9D3B-5A16B80FF8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943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4433074-4860-5888-A9EA-F8EC030A0F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20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35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19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277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187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A96BDBD-0A8D-C301-4B6D-B2CE4821C0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682AB36-2705-DE99-3278-5B4C7D6540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2C4081E0-2302-6168-4F67-D9199AFAD8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62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AB26837E-1D4F-F726-60AB-917B51308CFA}"/>
              </a:ext>
            </a:extLst>
          </p:cNvPr>
          <p:cNvSpPr/>
          <p:nvPr userDrawn="1"/>
        </p:nvSpPr>
        <p:spPr>
          <a:xfrm>
            <a:off x="1250684" y="23797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3" name="Picture 17">
            <a:extLst>
              <a:ext uri="{FF2B5EF4-FFF2-40B4-BE49-F238E27FC236}">
                <a16:creationId xmlns:a16="http://schemas.microsoft.com/office/drawing/2014/main" id="{B0513C2C-57A5-49F9-C54D-0851042800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745" y="1216492"/>
            <a:ext cx="1173543" cy="102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396E58-5621-FA2F-2AAD-297E76C71ED4}"/>
              </a:ext>
            </a:extLst>
          </p:cNvPr>
          <p:cNvSpPr txBox="1"/>
          <p:nvPr userDrawn="1"/>
        </p:nvSpPr>
        <p:spPr>
          <a:xfrm>
            <a:off x="2929516" y="769604"/>
            <a:ext cx="3804247" cy="592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50" b="0" i="0" u="sng" dirty="0">
                <a:latin typeface="Twinkl Cursive Looped" panose="02000000000000000000" pitchFamily="2" charset="77"/>
              </a:rPr>
              <a:t>Our Key Question is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E781BDCF-5B45-49AA-F720-6F9E3C636A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0132" y="1369643"/>
            <a:ext cx="5251759" cy="105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 dirty="0"/>
              <a:t>KQ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70D605-383A-8F4F-43AD-C18673D71AA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48000" y="2693156"/>
            <a:ext cx="60960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640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3180A-16BA-1B9B-F2DE-A96AA7638A11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3F8B152-2B26-BF10-7707-76FE1E887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5A9B88D-B99D-F4D7-197B-F04B99564EAC}"/>
              </a:ext>
            </a:extLst>
          </p:cNvPr>
          <p:cNvGrpSpPr/>
          <p:nvPr userDrawn="1"/>
        </p:nvGrpSpPr>
        <p:grpSpPr>
          <a:xfrm>
            <a:off x="337910" y="1027775"/>
            <a:ext cx="5580141" cy="5377327"/>
            <a:chOff x="419854" y="971549"/>
            <a:chExt cx="5580141" cy="5377327"/>
          </a:xfrm>
        </p:grpSpPr>
        <p:sp>
          <p:nvSpPr>
            <p:cNvPr id="116" name="Block Arc 115">
              <a:extLst>
                <a:ext uri="{FF2B5EF4-FFF2-40B4-BE49-F238E27FC236}">
                  <a16:creationId xmlns:a16="http://schemas.microsoft.com/office/drawing/2014/main" id="{736FCE79-BDC7-8099-A259-2DB4CF852C4E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11880000"/>
                <a:gd name="adj2" fmla="val 1620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17" name="Block Arc 116">
              <a:extLst>
                <a:ext uri="{FF2B5EF4-FFF2-40B4-BE49-F238E27FC236}">
                  <a16:creationId xmlns:a16="http://schemas.microsoft.com/office/drawing/2014/main" id="{D78E668E-AF51-82AD-4928-931B3BFD3BF7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7560000"/>
                <a:gd name="adj2" fmla="val 1188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18" name="Block Arc 117">
              <a:extLst>
                <a:ext uri="{FF2B5EF4-FFF2-40B4-BE49-F238E27FC236}">
                  <a16:creationId xmlns:a16="http://schemas.microsoft.com/office/drawing/2014/main" id="{D5AB6BB9-3707-C91D-ABC7-539873C1D12A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3240000"/>
                <a:gd name="adj2" fmla="val 756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19" name="Block Arc 118">
              <a:extLst>
                <a:ext uri="{FF2B5EF4-FFF2-40B4-BE49-F238E27FC236}">
                  <a16:creationId xmlns:a16="http://schemas.microsoft.com/office/drawing/2014/main" id="{1203DEA9-5320-DAF8-7BA7-F8F176D6FAC3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20520000"/>
                <a:gd name="adj2" fmla="val 324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20" name="Block Arc 119">
              <a:extLst>
                <a:ext uri="{FF2B5EF4-FFF2-40B4-BE49-F238E27FC236}">
                  <a16:creationId xmlns:a16="http://schemas.microsoft.com/office/drawing/2014/main" id="{C1B5D1B0-E4D6-BCFB-1162-2B97B529C0EE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16200000"/>
                <a:gd name="adj2" fmla="val 2052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65A8234-E631-326F-EC58-2B8A2C04EF69}"/>
                </a:ext>
              </a:extLst>
            </p:cNvPr>
            <p:cNvSpPr/>
            <p:nvPr userDrawn="1"/>
          </p:nvSpPr>
          <p:spPr>
            <a:xfrm>
              <a:off x="2184003" y="2842324"/>
              <a:ext cx="2051843" cy="2051843"/>
            </a:xfrm>
            <a:custGeom>
              <a:avLst/>
              <a:gdLst>
                <a:gd name="csX0" fmla="*/ 0 w 2051843"/>
                <a:gd name="csY0" fmla="*/ 1025922 h 2051843"/>
                <a:gd name="csX1" fmla="*/ 1025922 w 2051843"/>
                <a:gd name="csY1" fmla="*/ 0 h 2051843"/>
                <a:gd name="csX2" fmla="*/ 2051844 w 2051843"/>
                <a:gd name="csY2" fmla="*/ 1025922 h 2051843"/>
                <a:gd name="csX3" fmla="*/ 1025922 w 2051843"/>
                <a:gd name="csY3" fmla="*/ 2051844 h 2051843"/>
                <a:gd name="csX4" fmla="*/ 0 w 2051843"/>
                <a:gd name="csY4" fmla="*/ 1025922 h 20518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51843" h="2051843">
                  <a:moveTo>
                    <a:pt x="0" y="1025922"/>
                  </a:moveTo>
                  <a:cubicBezTo>
                    <a:pt x="0" y="459321"/>
                    <a:pt x="459321" y="0"/>
                    <a:pt x="1025922" y="0"/>
                  </a:cubicBezTo>
                  <a:cubicBezTo>
                    <a:pt x="1592523" y="0"/>
                    <a:pt x="2051844" y="459321"/>
                    <a:pt x="2051844" y="1025922"/>
                  </a:cubicBezTo>
                  <a:cubicBezTo>
                    <a:pt x="2051844" y="1592523"/>
                    <a:pt x="1592523" y="2051844"/>
                    <a:pt x="1025922" y="2051844"/>
                  </a:cubicBezTo>
                  <a:cubicBezTo>
                    <a:pt x="459321" y="2051844"/>
                    <a:pt x="0" y="1592523"/>
                    <a:pt x="0" y="1025922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1285" tIns="351285" rIns="351285" bIns="351285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4000" b="0" kern="1200"/>
            </a:p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4000" b="0" kern="120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5DAEA33E-587C-7CF8-6EB1-3262618B7382}"/>
                </a:ext>
              </a:extLst>
            </p:cNvPr>
            <p:cNvSpPr txBox="1"/>
            <p:nvPr userDrawn="1"/>
          </p:nvSpPr>
          <p:spPr>
            <a:xfrm rot="16367761">
              <a:off x="2223417" y="2469219"/>
              <a:ext cx="1973014" cy="2366341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8617501"/>
                </a:avLst>
              </a:prstTxWarp>
              <a:spAutoFit/>
            </a:bodyPr>
            <a:lstStyle/>
            <a:p>
              <a:pPr algn="ctr"/>
              <a:r>
                <a:rPr lang="en-GB" sz="3200" b="0">
                  <a:solidFill>
                    <a:schemeClr val="accent6">
                      <a:lumMod val="50000"/>
                    </a:schemeClr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Substantive Concepts </a:t>
              </a:r>
            </a:p>
          </p:txBody>
        </p:sp>
        <p:pic>
          <p:nvPicPr>
            <p:cNvPr id="123" name="Picture 1" descr="Macintosh HD:Users:nicholasgarrick:Dropbox:1 LupL:6 Resources:Images and Icons:Icons:Geographer:icon_5211.png">
              <a:extLst>
                <a:ext uri="{FF2B5EF4-FFF2-40B4-BE49-F238E27FC236}">
                  <a16:creationId xmlns:a16="http://schemas.microsoft.com/office/drawing/2014/main" id="{5C403724-F3C4-FA94-7E03-A0C23F39905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679" y="3227210"/>
              <a:ext cx="1223996" cy="1223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209CCF63-AF84-8D6F-5C7B-483E109AE386}"/>
                </a:ext>
              </a:extLst>
            </p:cNvPr>
            <p:cNvSpPr/>
            <p:nvPr userDrawn="1"/>
          </p:nvSpPr>
          <p:spPr>
            <a:xfrm>
              <a:off x="2284992" y="4136928"/>
              <a:ext cx="1836223" cy="986274"/>
            </a:xfrm>
            <a:prstGeom prst="rect">
              <a:avLst/>
            </a:prstGeom>
            <a:noFill/>
            <a:effectLst/>
          </p:spPr>
          <p:txBody>
            <a:bodyPr wrap="none" lIns="91440" tIns="45720" rIns="91440" bIns="45720">
              <a:prstTxWarp prst="textArchDown">
                <a:avLst>
                  <a:gd name="adj" fmla="val 96006"/>
                </a:avLst>
              </a:prstTxWarp>
              <a:spAutoFit/>
            </a:bodyPr>
            <a:lstStyle/>
            <a:p>
              <a:pPr algn="ctr"/>
              <a:r>
                <a:rPr lang="en-GB" sz="1800" b="0" cap="none" spc="0">
                  <a:ln w="0"/>
                  <a:solidFill>
                    <a:schemeClr val="tx1"/>
                  </a:solidFill>
                  <a:effectLst/>
                  <a:latin typeface="Twinkl Cursive Looped" panose="02000000000000000000" pitchFamily="2" charset="77"/>
                </a:rPr>
                <a:t>Compassion</a:t>
              </a:r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B08EE44-7FB2-037E-0428-180853D3B70E}"/>
                </a:ext>
              </a:extLst>
            </p:cNvPr>
            <p:cNvSpPr/>
            <p:nvPr userDrawn="1"/>
          </p:nvSpPr>
          <p:spPr>
            <a:xfrm>
              <a:off x="4563705" y="2476891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0660" tIns="230660" rIns="230660" bIns="2306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600" b="0" kern="1200">
                  <a:solidFill>
                    <a:schemeClr val="accent6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Physical Geography</a:t>
              </a:r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23C7DB1A-CB22-5F69-2683-DAAA77EB7347}"/>
                </a:ext>
              </a:extLst>
            </p:cNvPr>
            <p:cNvSpPr/>
            <p:nvPr userDrawn="1"/>
          </p:nvSpPr>
          <p:spPr>
            <a:xfrm>
              <a:off x="3772300" y="4912586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CCCCFF"/>
            </a:solidFill>
            <a:ln w="38100"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5580" tIns="225580" rIns="225580" bIns="22558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b="0" kern="1200">
                  <a:solidFill>
                    <a:srgbClr val="7030A0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Environmental Impact &amp; Sustainability</a:t>
              </a:r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01F67362-A917-44AA-81A5-926296A4CF9C}"/>
                </a:ext>
              </a:extLst>
            </p:cNvPr>
            <p:cNvSpPr/>
            <p:nvPr userDrawn="1"/>
          </p:nvSpPr>
          <p:spPr>
            <a:xfrm>
              <a:off x="1211259" y="4912586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FFCCCC"/>
            </a:solidFill>
            <a:ln w="38100">
              <a:solidFill>
                <a:srgbClr val="C3580C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0660" tIns="230660" rIns="230660" bIns="2306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600" b="0" kern="1200">
                  <a:solidFill>
                    <a:srgbClr val="C3580C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Human Geography</a:t>
              </a:r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D840086D-499B-0EE9-55C7-0F778EC985C1}"/>
                </a:ext>
              </a:extLst>
            </p:cNvPr>
            <p:cNvSpPr/>
            <p:nvPr userDrawn="1"/>
          </p:nvSpPr>
          <p:spPr>
            <a:xfrm>
              <a:off x="419854" y="2476891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DDEAF8"/>
            </a:solidFill>
            <a:ln w="38100">
              <a:solidFill>
                <a:srgbClr val="4574C4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8120" tIns="228120" rIns="228120" bIns="22812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b="0" kern="1200">
                  <a:solidFill>
                    <a:srgbClr val="4574C4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Cultural awareness &amp; diversity </a:t>
              </a:r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C6734893-F85D-3DAA-CE60-D2878D66B47D}"/>
                </a:ext>
              </a:extLst>
            </p:cNvPr>
            <p:cNvSpPr/>
            <p:nvPr userDrawn="1"/>
          </p:nvSpPr>
          <p:spPr>
            <a:xfrm>
              <a:off x="2491779" y="971549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FFF2CC"/>
            </a:solidFill>
            <a:ln w="38100">
              <a:solidFill>
                <a:srgbClr val="FFC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5740" tIns="235740" rIns="235740" bIns="23574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000" b="0" kern="1200">
                  <a:solidFill>
                    <a:srgbClr val="FFC000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Place, Space &amp; Scale</a:t>
              </a:r>
            </a:p>
          </p:txBody>
        </p:sp>
      </p:grpSp>
      <p:pic>
        <p:nvPicPr>
          <p:cNvPr id="130" name="Picture 129">
            <a:extLst>
              <a:ext uri="{FF2B5EF4-FFF2-40B4-BE49-F238E27FC236}">
                <a16:creationId xmlns:a16="http://schemas.microsoft.com/office/drawing/2014/main" id="{DC35AE63-83CF-B811-0E23-0D936586E1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68746" y="713681"/>
            <a:ext cx="5566957" cy="569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2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A4C266-4F85-3F09-DE59-533D9948FE9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F129D93-BE2A-487B-6A1B-C757CA3763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115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86A2CA-7706-DE44-CA7D-393232DF743C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places, including towns, cities, jobs, transport and how humans affect the environment.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1F81D1-2DFF-7F3B-FA22-10EA11D395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1141596"/>
            <a:ext cx="783960" cy="441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66B223-D952-E1B4-7E7E-ED950042696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9FF8332-CC3E-70A4-C2CC-E3FEBD9591EE}"/>
              </a:ext>
            </a:extLst>
          </p:cNvPr>
          <p:cNvGrpSpPr/>
          <p:nvPr userDrawn="1"/>
        </p:nvGrpSpPr>
        <p:grpSpPr>
          <a:xfrm>
            <a:off x="4033305" y="4320166"/>
            <a:ext cx="2317966" cy="2317966"/>
            <a:chOff x="1553560" y="1499185"/>
            <a:chExt cx="2317966" cy="231796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E60F51F-9BE3-A7E9-047F-201DF9747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6" name="Picture 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B8CC8EE-F221-0FB7-8EA5-2DCCD1546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0EDEDD5-7010-5D17-EAD6-CE4E43F4563C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A82769C-D7BE-3FD8-D0DC-71C956968227}"/>
              </a:ext>
            </a:extLst>
          </p:cNvPr>
          <p:cNvGrpSpPr/>
          <p:nvPr userDrawn="1"/>
        </p:nvGrpSpPr>
        <p:grpSpPr>
          <a:xfrm>
            <a:off x="2158640" y="4318660"/>
            <a:ext cx="2317967" cy="2317967"/>
            <a:chOff x="2033634" y="4440139"/>
            <a:chExt cx="2317967" cy="231796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0E055DC-203B-077F-EE85-5A4426D8F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11" name="Picture 1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23F425E-0751-4C81-8917-8F983EEC8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19D0F6-8302-5521-E030-ED161C7E3EE7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3D532A-D6EC-52E4-76F0-C739F4700399}"/>
              </a:ext>
            </a:extLst>
          </p:cNvPr>
          <p:cNvGrpSpPr/>
          <p:nvPr userDrawn="1"/>
        </p:nvGrpSpPr>
        <p:grpSpPr>
          <a:xfrm>
            <a:off x="5905242" y="4322973"/>
            <a:ext cx="2387476" cy="2311677"/>
            <a:chOff x="3849998" y="4440139"/>
            <a:chExt cx="2387476" cy="231167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CBFFD3D-9D7B-E895-D4D7-96F54649F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21B2D4B7-EB09-DEC3-5005-B52A08E28F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480D5C4-B298-DC55-CD39-10A4C548DF04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EC6E203-DE70-73FD-C52A-FF1A1D5EC441}"/>
              </a:ext>
            </a:extLst>
          </p:cNvPr>
          <p:cNvGrpSpPr/>
          <p:nvPr userDrawn="1"/>
        </p:nvGrpSpPr>
        <p:grpSpPr>
          <a:xfrm>
            <a:off x="292714" y="4320798"/>
            <a:ext cx="2311678" cy="2311678"/>
            <a:chOff x="265848" y="1468917"/>
            <a:chExt cx="2311678" cy="231167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5F40B0D-6E41-35E8-B7A9-2D8A0232A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EC6CE5A-EEB3-86D1-A7EA-4E7226ECC6F8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21" name="Picture 20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6A39633B-96AE-D44B-412A-0E7CB5DB5C1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22" name="Picture 21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EAE79E23-C044-B5A5-DE69-1BFB7A4E9E6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3E5CCD5-1B20-FB60-3A03-5101E4BAABBF}"/>
                </a:ext>
              </a:extLst>
            </p:cNvPr>
            <p:cNvSpPr txBox="1"/>
            <p:nvPr/>
          </p:nvSpPr>
          <p:spPr>
            <a:xfrm>
              <a:off x="667424" y="1899565"/>
              <a:ext cx="14733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53E69E7-BA86-B5D2-A0F1-5EC830C920C6}"/>
              </a:ext>
            </a:extLst>
          </p:cNvPr>
          <p:cNvGrpSpPr/>
          <p:nvPr userDrawn="1"/>
        </p:nvGrpSpPr>
        <p:grpSpPr>
          <a:xfrm>
            <a:off x="7759743" y="4318660"/>
            <a:ext cx="2311677" cy="2311677"/>
            <a:chOff x="1419928" y="1940604"/>
            <a:chExt cx="2311677" cy="2311677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0307704-E427-152A-A4D6-A81038F5B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0B6D8087-299D-6C46-FC24-17140B2CD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F9A0AC-E550-26D4-FAFA-0A97211E0FAF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EA8AFBB-7C44-FFDD-1C2C-D4019DD3EE3B}"/>
              </a:ext>
            </a:extLst>
          </p:cNvPr>
          <p:cNvGrpSpPr/>
          <p:nvPr userDrawn="1"/>
        </p:nvGrpSpPr>
        <p:grpSpPr>
          <a:xfrm>
            <a:off x="2167658" y="2450369"/>
            <a:ext cx="2317966" cy="2317966"/>
            <a:chOff x="1553560" y="1499185"/>
            <a:chExt cx="2317966" cy="2317966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338E567-4B0A-C99F-74F1-A1174CB6B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29" name="Picture 2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9E73F3C-C8D4-790A-F796-8295595C2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3DA9658-B823-B9E3-D57E-210D657645B1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A96E31A-9008-2235-4AC0-F620BC1DC6D0}"/>
              </a:ext>
            </a:extLst>
          </p:cNvPr>
          <p:cNvGrpSpPr/>
          <p:nvPr userDrawn="1"/>
        </p:nvGrpSpPr>
        <p:grpSpPr>
          <a:xfrm>
            <a:off x="292993" y="2448863"/>
            <a:ext cx="2317967" cy="2317967"/>
            <a:chOff x="2033634" y="4440139"/>
            <a:chExt cx="2317967" cy="2317967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6A643CA-7A07-E011-01CC-4D713F304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33" name="Picture 3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D517F14A-173C-6E20-1F7D-45F3D0CC5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5195E1-4689-E52C-99CA-6CF2C6A422DB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01DA8B2-CB6C-8DBC-2A25-CA170CA93665}"/>
              </a:ext>
            </a:extLst>
          </p:cNvPr>
          <p:cNvGrpSpPr/>
          <p:nvPr userDrawn="1"/>
        </p:nvGrpSpPr>
        <p:grpSpPr>
          <a:xfrm>
            <a:off x="4039595" y="2453176"/>
            <a:ext cx="2387476" cy="2311677"/>
            <a:chOff x="3849998" y="4440139"/>
            <a:chExt cx="2387476" cy="2311677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E5AEC53-EEB4-E1EF-6919-6CFE6B447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ED4101A1-1D7F-AE97-E8B6-C71135F297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B75E683-24CE-D047-3F09-F8C0D0FAE5A0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31C47BC-5A33-F251-BADF-DF7D19690A0D}"/>
              </a:ext>
            </a:extLst>
          </p:cNvPr>
          <p:cNvGrpSpPr/>
          <p:nvPr userDrawn="1"/>
        </p:nvGrpSpPr>
        <p:grpSpPr>
          <a:xfrm>
            <a:off x="5894096" y="2448863"/>
            <a:ext cx="2311677" cy="2311677"/>
            <a:chOff x="1419928" y="1940604"/>
            <a:chExt cx="2311677" cy="2311677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4BDA29A0-83B3-D69F-1A22-DB463AB0D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42" name="Picture 4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32B324F-F682-34AF-CB11-876B9F620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EA02C1A-81AA-A7D9-F98D-BCC35CAC4E52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A49CBF-DD24-8F24-C16C-4CAC3D0E5DFE}"/>
              </a:ext>
            </a:extLst>
          </p:cNvPr>
          <p:cNvGrpSpPr/>
          <p:nvPr userDrawn="1"/>
        </p:nvGrpSpPr>
        <p:grpSpPr>
          <a:xfrm>
            <a:off x="7759121" y="2451300"/>
            <a:ext cx="2317967" cy="2317967"/>
            <a:chOff x="2033634" y="4440139"/>
            <a:chExt cx="2317967" cy="2317967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E7EFA54F-BA9C-4216-2075-807D1DB3C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46" name="Picture 4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E9E07DCD-2CED-5F43-7664-726CC49BF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990E61B-8E14-1CBC-C049-7E8AE81C7426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E69A662-8383-B9CC-6C51-B18D9B23C8D1}"/>
              </a:ext>
            </a:extLst>
          </p:cNvPr>
          <p:cNvGrpSpPr/>
          <p:nvPr userDrawn="1"/>
        </p:nvGrpSpPr>
        <p:grpSpPr>
          <a:xfrm>
            <a:off x="5899000" y="566030"/>
            <a:ext cx="2317966" cy="2317966"/>
            <a:chOff x="1553560" y="1499185"/>
            <a:chExt cx="2317966" cy="231796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CAB3D08-3C87-B31E-20AF-0D8C5E8F3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50" name="Picture 4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68123692-3718-7D38-0FC9-BC596961F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042580E-3500-74B8-4E91-FD7AD14F59BA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721B1F6-4D82-CA68-3CA8-E3A085AB0C29}"/>
              </a:ext>
            </a:extLst>
          </p:cNvPr>
          <p:cNvGrpSpPr/>
          <p:nvPr userDrawn="1"/>
        </p:nvGrpSpPr>
        <p:grpSpPr>
          <a:xfrm>
            <a:off x="4033584" y="576120"/>
            <a:ext cx="2317967" cy="2317967"/>
            <a:chOff x="2033634" y="4440139"/>
            <a:chExt cx="2317967" cy="2317967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FEC5FA55-AEE4-C028-C35E-E591548C5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54" name="Picture 5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0CADCBC7-EBB5-73B6-6B18-960D9DCB3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0F75623-17B4-254B-F2FF-DC4FBB4E2367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8194600-5281-E0F4-2DC6-3DB0E534F08D}"/>
              </a:ext>
            </a:extLst>
          </p:cNvPr>
          <p:cNvGrpSpPr/>
          <p:nvPr userDrawn="1"/>
        </p:nvGrpSpPr>
        <p:grpSpPr>
          <a:xfrm>
            <a:off x="7759121" y="579892"/>
            <a:ext cx="2387476" cy="2311677"/>
            <a:chOff x="3849998" y="4440139"/>
            <a:chExt cx="2387476" cy="2311677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E2E493F2-20E1-F325-A706-979389173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B07C4CCD-45B9-FA2F-D05F-64CEF30AC9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F590676-135D-BEA7-5724-29AF4E7E4087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C51B7A5-C64F-7017-2CA2-01A8A1A5AD02}"/>
              </a:ext>
            </a:extLst>
          </p:cNvPr>
          <p:cNvGrpSpPr/>
          <p:nvPr userDrawn="1"/>
        </p:nvGrpSpPr>
        <p:grpSpPr>
          <a:xfrm>
            <a:off x="9632885" y="2456658"/>
            <a:ext cx="2311677" cy="2311677"/>
            <a:chOff x="1419928" y="1940604"/>
            <a:chExt cx="2311677" cy="2311677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1B182922-1E2C-66B2-BBF3-B2AD3F889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62" name="Picture 6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6AA2A5C-EDC6-19EB-0287-4AA7857CD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4CC422C-675F-425F-96FD-F61E532E7731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8D3B987-2774-ACE5-9078-D7F26224C739}"/>
              </a:ext>
            </a:extLst>
          </p:cNvPr>
          <p:cNvGrpSpPr/>
          <p:nvPr userDrawn="1"/>
        </p:nvGrpSpPr>
        <p:grpSpPr>
          <a:xfrm>
            <a:off x="9630342" y="586580"/>
            <a:ext cx="2311678" cy="2311678"/>
            <a:chOff x="265848" y="1468917"/>
            <a:chExt cx="2311678" cy="2311678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CCA22E2-B049-2B57-B6B3-855EBD11E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AF1ACF77-AED3-89B1-4BA2-67434DC67F16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68" name="Picture 67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46D0CD07-01A0-1C47-45BD-BA3AA078EA3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69" name="Picture 68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A40252DC-730E-9019-50D0-D438BBFA717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D0BC765-B547-57AB-2D38-CC3F50A6BC1F}"/>
                </a:ext>
              </a:extLst>
            </p:cNvPr>
            <p:cNvSpPr txBox="1"/>
            <p:nvPr/>
          </p:nvSpPr>
          <p:spPr>
            <a:xfrm>
              <a:off x="667424" y="1899565"/>
              <a:ext cx="14733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161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209565" y="1716741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places. This includes towns, cities, jobs, transport and how humans affect the environment.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B5B3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2FF8227-CDB1-6860-CD50-9A17DBC304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72090" y="939862"/>
            <a:ext cx="1296694" cy="72961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6FC126-FD82-1317-DB8C-FB74C9A9AB3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6202A21-3D36-A70A-AAD4-4B6336CB56EA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817E33F-3504-0BE9-05B4-F6A810AE7E6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FEA21353-D433-3ADC-D22F-8EFCF7E5CFAF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8" name="Rectangle: Rounded Corners 12">
                    <a:extLst>
                      <a:ext uri="{FF2B5EF4-FFF2-40B4-BE49-F238E27FC236}">
                        <a16:creationId xmlns:a16="http://schemas.microsoft.com/office/drawing/2014/main" id="{65ABC842-FD91-5AFC-D204-38D2B5AC5F9A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Rectangle: Rounded Corners 4">
                    <a:extLst>
                      <a:ext uri="{FF2B5EF4-FFF2-40B4-BE49-F238E27FC236}">
                        <a16:creationId xmlns:a16="http://schemas.microsoft.com/office/drawing/2014/main" id="{79515D7F-4CC7-9E23-554D-78BD4437C718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6FB2032A-C69A-FE48-D1A0-E11713D3F3F9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9CEFD77B-B429-872B-E798-DC8809BAE5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698F628-B378-9A7A-F75F-60658D6D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984EDD-7012-A5DD-2FB0-201287FB3372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C1FC94-CD87-854D-1AA9-9227C2E7A9ED}"/>
                </a:ext>
              </a:extLst>
            </p:cNvPr>
            <p:cNvSpPr txBox="1"/>
            <p:nvPr/>
          </p:nvSpPr>
          <p:spPr>
            <a:xfrm>
              <a:off x="6767704" y="38250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how people use the land in my region and the Mediterranean. This includes jobs, leisure and transport links.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5D963C-B4B9-DC5B-1915-5D891F8D0C3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70D541C-C382-33D0-17B5-1EDC0378E0A6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EA6B126-1276-28BA-A2F2-B7A2A99AE82D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F10E2EA-B570-721A-9AC0-C18A6558E74E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29" name="Rectangle: Rounded Corners 9">
                    <a:extLst>
                      <a:ext uri="{FF2B5EF4-FFF2-40B4-BE49-F238E27FC236}">
                        <a16:creationId xmlns:a16="http://schemas.microsoft.com/office/drawing/2014/main" id="{F0F31D55-95CE-160E-BF9F-A1EC65E9BE22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Rectangle: Rounded Corners 4">
                    <a:extLst>
                      <a:ext uri="{FF2B5EF4-FFF2-40B4-BE49-F238E27FC236}">
                        <a16:creationId xmlns:a16="http://schemas.microsoft.com/office/drawing/2014/main" id="{D4ED4B8C-C6EA-703B-DED8-F1F70EFDE90A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08DCDFE-911A-7803-C8A2-4CED6585D52F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27" name="Picture 26">
                    <a:extLst>
                      <a:ext uri="{FF2B5EF4-FFF2-40B4-BE49-F238E27FC236}">
                        <a16:creationId xmlns:a16="http://schemas.microsoft.com/office/drawing/2014/main" id="{0FCFA404-8758-5D13-7BEE-E9B4B40CFE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A4B8FF0-A4B3-AEA7-8625-B2928936206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DC5647-75BD-CFBC-F401-547281551DE5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2ADC3D-D3EF-6E50-8D54-BDD70E5F9E72}"/>
                </a:ext>
              </a:extLst>
            </p:cNvPr>
            <p:cNvSpPr txBox="1"/>
            <p:nvPr/>
          </p:nvSpPr>
          <p:spPr>
            <a:xfrm>
              <a:off x="6824631" y="4899996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explain similarities and differences between human features in my local area and Guizhou in South West China.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0694D1-9829-8011-10D7-64CBFD35DEBF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A5ACA5C-8369-742B-2646-B953ADB8ECA3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A7F2370-CBF9-A1C5-107F-8F1ACCB9FF9C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36" name="Rectangle: Rounded Corners 3">
                  <a:extLst>
                    <a:ext uri="{FF2B5EF4-FFF2-40B4-BE49-F238E27FC236}">
                      <a16:creationId xmlns:a16="http://schemas.microsoft.com/office/drawing/2014/main" id="{B78330E8-6785-F487-6B0B-8EB48358012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C2A4B0A-9D16-FFC3-182A-97C980E9020F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38" name="Picture 37">
                    <a:extLst>
                      <a:ext uri="{FF2B5EF4-FFF2-40B4-BE49-F238E27FC236}">
                        <a16:creationId xmlns:a16="http://schemas.microsoft.com/office/drawing/2014/main" id="{D87461E1-7338-A9F5-15FF-DF1BD48C42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426D8057-EEBF-4542-ED22-17CC3E3D1AA6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339A26-54D6-A3BF-E316-573BDA5305BF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F0E2E54-86B6-EC2A-E811-C38B40137A53}"/>
                </a:ext>
              </a:extLst>
            </p:cNvPr>
            <p:cNvSpPr txBox="1"/>
            <p:nvPr/>
          </p:nvSpPr>
          <p:spPr>
            <a:xfrm>
              <a:off x="6824631" y="58642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my home, my school and the area where I live. I can name different human features and jobs in my local area.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4C4081B-0293-78EF-8960-3E5C9C5B06FB}"/>
              </a:ext>
            </a:extLst>
          </p:cNvPr>
          <p:cNvGrpSpPr/>
          <p:nvPr userDrawn="1"/>
        </p:nvGrpSpPr>
        <p:grpSpPr>
          <a:xfrm>
            <a:off x="3511272" y="1660451"/>
            <a:ext cx="8322595" cy="929821"/>
            <a:chOff x="3511272" y="1660451"/>
            <a:chExt cx="8322595" cy="929821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78D6B8A-9D02-5D99-5B16-F3B241559F04}"/>
                </a:ext>
              </a:extLst>
            </p:cNvPr>
            <p:cNvGrpSpPr/>
            <p:nvPr/>
          </p:nvGrpSpPr>
          <p:grpSpPr>
            <a:xfrm>
              <a:off x="3511272" y="1660451"/>
              <a:ext cx="8322595" cy="929821"/>
              <a:chOff x="3511272" y="1660451"/>
              <a:chExt cx="8322595" cy="929821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B9013952-C50B-F327-F5FE-4C1A10C7D2BC}"/>
                  </a:ext>
                </a:extLst>
              </p:cNvPr>
              <p:cNvGrpSpPr/>
              <p:nvPr/>
            </p:nvGrpSpPr>
            <p:grpSpPr>
              <a:xfrm>
                <a:off x="3511272" y="1660451"/>
                <a:ext cx="8322595" cy="929821"/>
                <a:chOff x="3511272" y="1660451"/>
                <a:chExt cx="8322595" cy="929821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390B0F62-087E-50D5-8099-E578870D54E5}"/>
                    </a:ext>
                  </a:extLst>
                </p:cNvPr>
                <p:cNvGrpSpPr/>
                <p:nvPr/>
              </p:nvGrpSpPr>
              <p:grpSpPr>
                <a:xfrm>
                  <a:off x="3533230" y="1690272"/>
                  <a:ext cx="8300637" cy="900000"/>
                  <a:chOff x="7998350" y="1737362"/>
                  <a:chExt cx="1713901" cy="2844795"/>
                </a:xfrm>
              </p:grpSpPr>
              <p:sp>
                <p:nvSpPr>
                  <p:cNvPr id="49" name="Rectangle: Rounded Corners 18">
                    <a:extLst>
                      <a:ext uri="{FF2B5EF4-FFF2-40B4-BE49-F238E27FC236}">
                        <a16:creationId xmlns:a16="http://schemas.microsoft.com/office/drawing/2014/main" id="{61D6F655-FB1B-9FF2-CFFA-1629E4992B66}"/>
                      </a:ext>
                    </a:extLst>
                  </p:cNvPr>
                  <p:cNvSpPr/>
                  <p:nvPr/>
                </p:nvSpPr>
                <p:spPr>
                  <a:xfrm>
                    <a:off x="7998350" y="1737362"/>
                    <a:ext cx="1713901" cy="2844795"/>
                  </a:xfrm>
                  <a:prstGeom prst="roundRect">
                    <a:avLst/>
                  </a:prstGeom>
                  <a:solidFill>
                    <a:srgbClr val="F9D2B5"/>
                  </a:solidFill>
                  <a:ln>
                    <a:solidFill>
                      <a:srgbClr val="F9D2B5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0" name="Rectangle: Rounded Corners 4">
                    <a:extLst>
                      <a:ext uri="{FF2B5EF4-FFF2-40B4-BE49-F238E27FC236}">
                        <a16:creationId xmlns:a16="http://schemas.microsoft.com/office/drawing/2014/main" id="{B73B4EDD-0700-470D-85BE-551E694A4A5A}"/>
                      </a:ext>
                    </a:extLst>
                  </p:cNvPr>
                  <p:cNvSpPr txBox="1"/>
                  <p:nvPr/>
                </p:nvSpPr>
                <p:spPr>
                  <a:xfrm>
                    <a:off x="8082016" y="1821028"/>
                    <a:ext cx="1546569" cy="2677463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0A124A6D-B5F8-3FC4-0B29-7D55DD59DD70}"/>
                    </a:ext>
                  </a:extLst>
                </p:cNvPr>
                <p:cNvGrpSpPr/>
                <p:nvPr/>
              </p:nvGrpSpPr>
              <p:grpSpPr>
                <a:xfrm>
                  <a:off x="3511272" y="1660451"/>
                  <a:ext cx="801261" cy="903352"/>
                  <a:chOff x="4418485" y="450020"/>
                  <a:chExt cx="801261" cy="903352"/>
                </a:xfrm>
              </p:grpSpPr>
              <p:pic>
                <p:nvPicPr>
                  <p:cNvPr id="47" name="Picture 46">
                    <a:extLst>
                      <a:ext uri="{FF2B5EF4-FFF2-40B4-BE49-F238E27FC236}">
                        <a16:creationId xmlns:a16="http://schemas.microsoft.com/office/drawing/2014/main" id="{56D3D482-D6AB-2DD3-9E5C-D6576E0712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1848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EB2A44CD-E792-6D7C-03BD-0BFAE597635F}"/>
                      </a:ext>
                    </a:extLst>
                  </p:cNvPr>
                  <p:cNvSpPr txBox="1"/>
                  <p:nvPr/>
                </p:nvSpPr>
                <p:spPr>
                  <a:xfrm>
                    <a:off x="466042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5</a:t>
                    </a:r>
                  </a:p>
                </p:txBody>
              </p:sp>
            </p:grp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78A6E14-4F82-4CD4-33AF-DC35CB3B546E}"/>
                  </a:ext>
                </a:extLst>
              </p:cNvPr>
              <p:cNvSpPr txBox="1"/>
              <p:nvPr/>
            </p:nvSpPr>
            <p:spPr>
              <a:xfrm>
                <a:off x="4392766" y="1788757"/>
                <a:ext cx="2299228" cy="738664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Waterways in the UK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Significant cities around the world</a:t>
                </a: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D14C80E-35A2-C191-71F3-7436F36B5EE4}"/>
                </a:ext>
              </a:extLst>
            </p:cNvPr>
            <p:cNvSpPr txBox="1"/>
            <p:nvPr/>
          </p:nvSpPr>
          <p:spPr>
            <a:xfrm>
              <a:off x="6824631" y="1769504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explain how people use rivers and waterways. I can explain how human activity can change places and affect the environment.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7B63172-9799-EF95-5E76-1C161E1F42FA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E1F87DA-AD0E-441D-B862-D4F21F8BF72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AAB5D67-279F-260A-29B3-4CEAFF9A6F32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60" name="Rectangle: Rounded Corners 15">
                  <a:extLst>
                    <a:ext uri="{FF2B5EF4-FFF2-40B4-BE49-F238E27FC236}">
                      <a16:creationId xmlns:a16="http://schemas.microsoft.com/office/drawing/2014/main" id="{A1F9D0EE-7678-1BFD-D27E-C5392E89BA37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1C475E96-233D-17E8-9592-DDAC8B1B0471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58" name="Picture 57">
                    <a:extLst>
                      <a:ext uri="{FF2B5EF4-FFF2-40B4-BE49-F238E27FC236}">
                        <a16:creationId xmlns:a16="http://schemas.microsoft.com/office/drawing/2014/main" id="{F2F19F78-0E80-8C67-5132-AA17A1BF1C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9E7F21B-ED07-8174-4C9F-4C380FBED5AD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ED4395-13B2-5B6A-F285-0D2D2BAA096D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F1C3216-1E2F-1047-38CA-71DB21BB6542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compare and contrast different land use patterns in the UK and South America. 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DFD74C-AE04-9087-1DB8-56C3A17EB8F0}"/>
              </a:ext>
            </a:extLst>
          </p:cNvPr>
          <p:cNvGrpSpPr/>
          <p:nvPr userDrawn="1"/>
        </p:nvGrpSpPr>
        <p:grpSpPr>
          <a:xfrm>
            <a:off x="3508831" y="646450"/>
            <a:ext cx="8325036" cy="931047"/>
            <a:chOff x="3508831" y="646450"/>
            <a:chExt cx="8325036" cy="931047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ABE1A24-8B56-26E0-B8C8-CDDC3A9BFDF6}"/>
                </a:ext>
              </a:extLst>
            </p:cNvPr>
            <p:cNvGrpSpPr/>
            <p:nvPr userDrawn="1"/>
          </p:nvGrpSpPr>
          <p:grpSpPr>
            <a:xfrm>
              <a:off x="3508831" y="646450"/>
              <a:ext cx="8325036" cy="931047"/>
              <a:chOff x="3508831" y="646450"/>
              <a:chExt cx="8325036" cy="931047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5A3E730C-FD8C-7879-90D1-F56D95D1FC0A}"/>
                  </a:ext>
                </a:extLst>
              </p:cNvPr>
              <p:cNvGrpSpPr/>
              <p:nvPr/>
            </p:nvGrpSpPr>
            <p:grpSpPr>
              <a:xfrm>
                <a:off x="3508831" y="646450"/>
                <a:ext cx="8325036" cy="931047"/>
                <a:chOff x="3508831" y="646450"/>
                <a:chExt cx="8325036" cy="931047"/>
              </a:xfrm>
            </p:grpSpPr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4BBE20DF-66B9-E481-3671-01CF20FE2334}"/>
                    </a:ext>
                  </a:extLst>
                </p:cNvPr>
                <p:cNvGrpSpPr/>
                <p:nvPr/>
              </p:nvGrpSpPr>
              <p:grpSpPr>
                <a:xfrm>
                  <a:off x="3533230" y="677497"/>
                  <a:ext cx="8300637" cy="900000"/>
                  <a:chOff x="1999694" y="1717038"/>
                  <a:chExt cx="1713901" cy="2885442"/>
                </a:xfrm>
              </p:grpSpPr>
              <p:sp>
                <p:nvSpPr>
                  <p:cNvPr id="71" name="Rectangle: Rounded Corners 23">
                    <a:extLst>
                      <a:ext uri="{FF2B5EF4-FFF2-40B4-BE49-F238E27FC236}">
                        <a16:creationId xmlns:a16="http://schemas.microsoft.com/office/drawing/2014/main" id="{30CD5474-066B-988F-1648-E190A9F03A9D}"/>
                      </a:ext>
                    </a:extLst>
                  </p:cNvPr>
                  <p:cNvSpPr/>
                  <p:nvPr/>
                </p:nvSpPr>
                <p:spPr>
                  <a:xfrm>
                    <a:off x="1999694" y="1717038"/>
                    <a:ext cx="1713901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2" name="Rectangle: Rounded Corners 4">
                    <a:extLst>
                      <a:ext uri="{FF2B5EF4-FFF2-40B4-BE49-F238E27FC236}">
                        <a16:creationId xmlns:a16="http://schemas.microsoft.com/office/drawing/2014/main" id="{E4FC0E32-1223-CB32-2E1C-A3E17B80C5B6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988F6D83-44AC-49EC-6503-AC9286CE4868}"/>
                    </a:ext>
                  </a:extLst>
                </p:cNvPr>
                <p:cNvGrpSpPr/>
                <p:nvPr/>
              </p:nvGrpSpPr>
              <p:grpSpPr>
                <a:xfrm>
                  <a:off x="3508831" y="646450"/>
                  <a:ext cx="801261" cy="903352"/>
                  <a:chOff x="4407115" y="450020"/>
                  <a:chExt cx="801261" cy="903352"/>
                </a:xfrm>
              </p:grpSpPr>
              <p:pic>
                <p:nvPicPr>
                  <p:cNvPr id="69" name="Picture 68">
                    <a:extLst>
                      <a:ext uri="{FF2B5EF4-FFF2-40B4-BE49-F238E27FC236}">
                        <a16:creationId xmlns:a16="http://schemas.microsoft.com/office/drawing/2014/main" id="{82F058C6-0673-23BC-1544-F1AA863637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0711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5A5026DD-B004-23C8-96A1-90994AE7A880}"/>
                      </a:ext>
                    </a:extLst>
                  </p:cNvPr>
                  <p:cNvSpPr txBox="1"/>
                  <p:nvPr/>
                </p:nvSpPr>
                <p:spPr>
                  <a:xfrm>
                    <a:off x="464905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6</a:t>
                    </a:r>
                  </a:p>
                </p:txBody>
              </p:sp>
            </p:grp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8752281-B0E5-41B9-1F20-FB3098EE2301}"/>
                  </a:ext>
                </a:extLst>
              </p:cNvPr>
              <p:cNvSpPr txBox="1"/>
              <p:nvPr/>
            </p:nvSpPr>
            <p:spPr>
              <a:xfrm>
                <a:off x="6824631" y="827779"/>
                <a:ext cx="48821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I know how human activity contributes to climate change and how this affects people in different places. </a:t>
                </a: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2620CCF-C643-A35F-4DD9-F58D3ABF6FEE}"/>
                </a:ext>
              </a:extLst>
            </p:cNvPr>
            <p:cNvSpPr txBox="1"/>
            <p:nvPr userDrawn="1"/>
          </p:nvSpPr>
          <p:spPr>
            <a:xfrm>
              <a:off x="4392765" y="692560"/>
              <a:ext cx="2299228" cy="867930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Highlands in the UK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Mountains, volcanoes and earthquakes around the world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8709356-0806-8FCD-FA4C-347A007A245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4F1D520-8D84-CAD1-9F31-5D33AE989C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68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76B5987-E34B-3374-2D16-1118493B96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D2AC8D-5B45-FBC6-ED64-5FA76590AD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BF02F0-7222-DE82-65FB-CFBE9801A4C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2AC4955-95E9-B976-BBF3-D7F6896026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321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I’m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E1FA7D91-B467-DE06-BAEA-1D4513FF48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530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BB1EB2E-3AEE-0F1F-1115-2ACC63E0D5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3710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681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2284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563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613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3097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80870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0764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8347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C6021-E34C-20CE-40D1-F8E01C7FE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56FD54D-6C8A-AFC9-56C1-4C1712A52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198537-C7C3-0133-D001-8D777FBB27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783822F-1EEA-F096-6671-4866AC36F7D8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862739-FA4B-EEA3-CD2F-BFCE5A87560E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72E8A4-31C5-DBAA-944F-F2DD42A24AB7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2671F131-8DA2-36F0-6311-BCD322217C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EDB6FC2-B0B6-F2D4-105B-D5AACC9F5A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BA938BB2-D8F5-EFAF-82D6-E53B74F00C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872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1FC9E395-FFD6-6BB5-69FA-5AFA03858056}"/>
              </a:ext>
            </a:extLst>
          </p:cNvPr>
          <p:cNvSpPr/>
          <p:nvPr userDrawn="1"/>
        </p:nvSpPr>
        <p:spPr>
          <a:xfrm>
            <a:off x="1250684" y="23797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3" name="Picture 17">
            <a:extLst>
              <a:ext uri="{FF2B5EF4-FFF2-40B4-BE49-F238E27FC236}">
                <a16:creationId xmlns:a16="http://schemas.microsoft.com/office/drawing/2014/main" id="{26F5FD94-A67E-3749-C9E3-54E03A1F1B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745" y="1216492"/>
            <a:ext cx="1173543" cy="102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E9028A-26A2-1266-43B1-80360948D6BB}"/>
              </a:ext>
            </a:extLst>
          </p:cNvPr>
          <p:cNvSpPr txBox="1"/>
          <p:nvPr userDrawn="1"/>
        </p:nvSpPr>
        <p:spPr>
          <a:xfrm>
            <a:off x="2929516" y="769604"/>
            <a:ext cx="3804247" cy="592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50" b="0" i="0" u="sng" dirty="0">
                <a:latin typeface="Twinkl Cursive Looped" panose="02000000000000000000" pitchFamily="2" charset="77"/>
              </a:rPr>
              <a:t>Our Key Question is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D5400ED-33AE-9BC2-085A-57B525B4D9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0132" y="1369643"/>
            <a:ext cx="5251759" cy="105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 dirty="0"/>
              <a:t>KQ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FE25DE-2E6C-B78B-4749-BB5675FA59B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48000" y="2693156"/>
            <a:ext cx="60960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1626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0D5788-D6F3-1EF3-52FE-3A9B7F2F7A8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21F989F-E8F9-972B-C8C1-36FAA615DC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5E01855-4B2B-9649-8286-C4F295D95117}"/>
              </a:ext>
            </a:extLst>
          </p:cNvPr>
          <p:cNvGrpSpPr/>
          <p:nvPr userDrawn="1"/>
        </p:nvGrpSpPr>
        <p:grpSpPr>
          <a:xfrm>
            <a:off x="337910" y="1027775"/>
            <a:ext cx="5580141" cy="5377327"/>
            <a:chOff x="419854" y="971549"/>
            <a:chExt cx="5580141" cy="5377327"/>
          </a:xfrm>
        </p:grpSpPr>
        <p:sp>
          <p:nvSpPr>
            <p:cNvPr id="116" name="Block Arc 115">
              <a:extLst>
                <a:ext uri="{FF2B5EF4-FFF2-40B4-BE49-F238E27FC236}">
                  <a16:creationId xmlns:a16="http://schemas.microsoft.com/office/drawing/2014/main" id="{BD558592-AF05-2F4F-CF9D-4E8D08081312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11880000"/>
                <a:gd name="adj2" fmla="val 1620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17" name="Block Arc 116">
              <a:extLst>
                <a:ext uri="{FF2B5EF4-FFF2-40B4-BE49-F238E27FC236}">
                  <a16:creationId xmlns:a16="http://schemas.microsoft.com/office/drawing/2014/main" id="{D4C993A4-0627-0286-D4A2-E88F26E7CA32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7560000"/>
                <a:gd name="adj2" fmla="val 1188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18" name="Block Arc 117">
              <a:extLst>
                <a:ext uri="{FF2B5EF4-FFF2-40B4-BE49-F238E27FC236}">
                  <a16:creationId xmlns:a16="http://schemas.microsoft.com/office/drawing/2014/main" id="{CC5764A7-4252-D2AA-F713-F2022A0EBA3D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3240000"/>
                <a:gd name="adj2" fmla="val 756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19" name="Block Arc 118">
              <a:extLst>
                <a:ext uri="{FF2B5EF4-FFF2-40B4-BE49-F238E27FC236}">
                  <a16:creationId xmlns:a16="http://schemas.microsoft.com/office/drawing/2014/main" id="{8AE80653-61AD-134E-D835-99720806159F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20520000"/>
                <a:gd name="adj2" fmla="val 324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20" name="Block Arc 119">
              <a:extLst>
                <a:ext uri="{FF2B5EF4-FFF2-40B4-BE49-F238E27FC236}">
                  <a16:creationId xmlns:a16="http://schemas.microsoft.com/office/drawing/2014/main" id="{24C050FD-9404-B972-1AD7-9C249FDEB841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16200000"/>
                <a:gd name="adj2" fmla="val 2052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4FDE46BC-9E07-DDFE-A4FD-0122017D53C2}"/>
                </a:ext>
              </a:extLst>
            </p:cNvPr>
            <p:cNvSpPr/>
            <p:nvPr userDrawn="1"/>
          </p:nvSpPr>
          <p:spPr>
            <a:xfrm>
              <a:off x="2184003" y="2842324"/>
              <a:ext cx="2051843" cy="2051843"/>
            </a:xfrm>
            <a:custGeom>
              <a:avLst/>
              <a:gdLst>
                <a:gd name="csX0" fmla="*/ 0 w 2051843"/>
                <a:gd name="csY0" fmla="*/ 1025922 h 2051843"/>
                <a:gd name="csX1" fmla="*/ 1025922 w 2051843"/>
                <a:gd name="csY1" fmla="*/ 0 h 2051843"/>
                <a:gd name="csX2" fmla="*/ 2051844 w 2051843"/>
                <a:gd name="csY2" fmla="*/ 1025922 h 2051843"/>
                <a:gd name="csX3" fmla="*/ 1025922 w 2051843"/>
                <a:gd name="csY3" fmla="*/ 2051844 h 2051843"/>
                <a:gd name="csX4" fmla="*/ 0 w 2051843"/>
                <a:gd name="csY4" fmla="*/ 1025922 h 20518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51843" h="2051843">
                  <a:moveTo>
                    <a:pt x="0" y="1025922"/>
                  </a:moveTo>
                  <a:cubicBezTo>
                    <a:pt x="0" y="459321"/>
                    <a:pt x="459321" y="0"/>
                    <a:pt x="1025922" y="0"/>
                  </a:cubicBezTo>
                  <a:cubicBezTo>
                    <a:pt x="1592523" y="0"/>
                    <a:pt x="2051844" y="459321"/>
                    <a:pt x="2051844" y="1025922"/>
                  </a:cubicBezTo>
                  <a:cubicBezTo>
                    <a:pt x="2051844" y="1592523"/>
                    <a:pt x="1592523" y="2051844"/>
                    <a:pt x="1025922" y="2051844"/>
                  </a:cubicBezTo>
                  <a:cubicBezTo>
                    <a:pt x="459321" y="2051844"/>
                    <a:pt x="0" y="1592523"/>
                    <a:pt x="0" y="1025922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1285" tIns="351285" rIns="351285" bIns="351285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4000" b="0" kern="1200"/>
            </a:p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4000" b="0" kern="120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41A9ADB3-4460-6595-0AA9-42FFAFF16A63}"/>
                </a:ext>
              </a:extLst>
            </p:cNvPr>
            <p:cNvSpPr txBox="1"/>
            <p:nvPr userDrawn="1"/>
          </p:nvSpPr>
          <p:spPr>
            <a:xfrm rot="16367761">
              <a:off x="2223417" y="2469219"/>
              <a:ext cx="1973014" cy="2366341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8617501"/>
                </a:avLst>
              </a:prstTxWarp>
              <a:spAutoFit/>
            </a:bodyPr>
            <a:lstStyle/>
            <a:p>
              <a:pPr algn="ctr"/>
              <a:r>
                <a:rPr lang="en-GB" sz="3200" b="0">
                  <a:solidFill>
                    <a:schemeClr val="accent6">
                      <a:lumMod val="50000"/>
                    </a:schemeClr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Substantive Concepts </a:t>
              </a:r>
            </a:p>
          </p:txBody>
        </p:sp>
        <p:pic>
          <p:nvPicPr>
            <p:cNvPr id="123" name="Picture 1" descr="Macintosh HD:Users:nicholasgarrick:Dropbox:1 LupL:6 Resources:Images and Icons:Icons:Geographer:icon_5211.png">
              <a:extLst>
                <a:ext uri="{FF2B5EF4-FFF2-40B4-BE49-F238E27FC236}">
                  <a16:creationId xmlns:a16="http://schemas.microsoft.com/office/drawing/2014/main" id="{CEA7861F-7024-3D17-0E1B-7E26D67F3E5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679" y="3227210"/>
              <a:ext cx="1223996" cy="1223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79004A2B-AF5F-B93F-AFBD-6A4036C469B2}"/>
                </a:ext>
              </a:extLst>
            </p:cNvPr>
            <p:cNvSpPr/>
            <p:nvPr userDrawn="1"/>
          </p:nvSpPr>
          <p:spPr>
            <a:xfrm>
              <a:off x="2284992" y="4136928"/>
              <a:ext cx="1836223" cy="986274"/>
            </a:xfrm>
            <a:prstGeom prst="rect">
              <a:avLst/>
            </a:prstGeom>
            <a:noFill/>
            <a:effectLst/>
          </p:spPr>
          <p:txBody>
            <a:bodyPr wrap="none" lIns="91440" tIns="45720" rIns="91440" bIns="45720">
              <a:prstTxWarp prst="textArchDown">
                <a:avLst>
                  <a:gd name="adj" fmla="val 96006"/>
                </a:avLst>
              </a:prstTxWarp>
              <a:spAutoFit/>
            </a:bodyPr>
            <a:lstStyle/>
            <a:p>
              <a:pPr algn="ctr"/>
              <a:r>
                <a:rPr lang="en-GB" sz="1800" b="0" cap="none" spc="0">
                  <a:ln w="0"/>
                  <a:solidFill>
                    <a:schemeClr val="tx1"/>
                  </a:solidFill>
                  <a:effectLst/>
                  <a:latin typeface="Twinkl Cursive Looped" panose="02000000000000000000" pitchFamily="2" charset="77"/>
                </a:rPr>
                <a:t>Compassion</a:t>
              </a:r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7C7B9717-E8B5-A17D-D2AB-1AA74DDBDCF9}"/>
                </a:ext>
              </a:extLst>
            </p:cNvPr>
            <p:cNvSpPr/>
            <p:nvPr userDrawn="1"/>
          </p:nvSpPr>
          <p:spPr>
            <a:xfrm>
              <a:off x="4563705" y="2476891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0660" tIns="230660" rIns="230660" bIns="2306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600" b="0" kern="1200">
                  <a:solidFill>
                    <a:schemeClr val="accent6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Physical Geography</a:t>
              </a:r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7C580672-BF6A-5C44-A5A5-552F558862A1}"/>
                </a:ext>
              </a:extLst>
            </p:cNvPr>
            <p:cNvSpPr/>
            <p:nvPr userDrawn="1"/>
          </p:nvSpPr>
          <p:spPr>
            <a:xfrm>
              <a:off x="3772300" y="4912586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CCCCFF"/>
            </a:solidFill>
            <a:ln w="38100"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5580" tIns="225580" rIns="225580" bIns="22558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b="0" kern="1200">
                  <a:solidFill>
                    <a:srgbClr val="7030A0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Environmental Impact &amp; Sustainability</a:t>
              </a:r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F7D9B43A-5458-6D29-F8FD-A58D2AAC1B0A}"/>
                </a:ext>
              </a:extLst>
            </p:cNvPr>
            <p:cNvSpPr/>
            <p:nvPr userDrawn="1"/>
          </p:nvSpPr>
          <p:spPr>
            <a:xfrm>
              <a:off x="1211259" y="4912586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FFCCCC"/>
            </a:solidFill>
            <a:ln w="38100">
              <a:solidFill>
                <a:srgbClr val="C3580C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0660" tIns="230660" rIns="230660" bIns="2306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600" b="0" kern="1200">
                  <a:solidFill>
                    <a:srgbClr val="C3580C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Human Geography</a:t>
              </a:r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811B90D5-BFD9-ABB7-33B2-18E558A10865}"/>
                </a:ext>
              </a:extLst>
            </p:cNvPr>
            <p:cNvSpPr/>
            <p:nvPr userDrawn="1"/>
          </p:nvSpPr>
          <p:spPr>
            <a:xfrm>
              <a:off x="419854" y="2476891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DDEAF8"/>
            </a:solidFill>
            <a:ln w="38100">
              <a:solidFill>
                <a:srgbClr val="4574C4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8120" tIns="228120" rIns="228120" bIns="22812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b="0" kern="1200">
                  <a:solidFill>
                    <a:srgbClr val="4574C4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Cultural awareness &amp; diversity </a:t>
              </a:r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358E024F-A748-6C65-FDB2-A6D1B4F1F6F0}"/>
                </a:ext>
              </a:extLst>
            </p:cNvPr>
            <p:cNvSpPr/>
            <p:nvPr userDrawn="1"/>
          </p:nvSpPr>
          <p:spPr>
            <a:xfrm>
              <a:off x="2491779" y="971549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FFF2CC"/>
            </a:solidFill>
            <a:ln w="38100">
              <a:solidFill>
                <a:srgbClr val="FFC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5740" tIns="235740" rIns="235740" bIns="23574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000" b="0" kern="1200">
                  <a:solidFill>
                    <a:srgbClr val="FFC000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Place, Space &amp; Scale</a:t>
              </a:r>
            </a:p>
          </p:txBody>
        </p:sp>
      </p:grpSp>
      <p:pic>
        <p:nvPicPr>
          <p:cNvPr id="130" name="Picture 129">
            <a:extLst>
              <a:ext uri="{FF2B5EF4-FFF2-40B4-BE49-F238E27FC236}">
                <a16:creationId xmlns:a16="http://schemas.microsoft.com/office/drawing/2014/main" id="{82C4419C-47BC-2FB2-9A3F-0ECC25B22B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68746" y="713681"/>
            <a:ext cx="5566957" cy="569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2837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A18B94-3BC6-2B80-8733-0D19E7534B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1B0758B-96F8-281B-5EDB-3A5AF4F5BC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948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208491-7D4F-DF12-CFE1-84A861DF3329}"/>
              </a:ext>
            </a:extLst>
          </p:cNvPr>
          <p:cNvSpPr txBox="1"/>
          <p:nvPr userDrawn="1"/>
        </p:nvSpPr>
        <p:spPr>
          <a:xfrm>
            <a:off x="923238" y="1014230"/>
            <a:ext cx="2860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0AABF0A-7E21-F779-B0D9-F8EF959FAB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96080" y="975198"/>
            <a:ext cx="907028" cy="777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625CF3-DBA2-15E8-2E8D-C0F15A3016A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8CBC2DC-C389-E3B1-749C-AF1C3BC538FF}"/>
              </a:ext>
            </a:extLst>
          </p:cNvPr>
          <p:cNvGrpSpPr/>
          <p:nvPr userDrawn="1"/>
        </p:nvGrpSpPr>
        <p:grpSpPr>
          <a:xfrm>
            <a:off x="4033305" y="4320166"/>
            <a:ext cx="2317966" cy="2317966"/>
            <a:chOff x="1553560" y="1499185"/>
            <a:chExt cx="2317966" cy="231796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8E6E5E5-BD86-F8DE-9361-3A7233817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6" name="Picture 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CF20BCD-5543-A48A-9E70-023D35E73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9AD837C-B063-49CA-3956-A2F9B42FE6B2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DCC7117-D2D8-C5BB-318D-9F2FACEB4700}"/>
              </a:ext>
            </a:extLst>
          </p:cNvPr>
          <p:cNvGrpSpPr/>
          <p:nvPr userDrawn="1"/>
        </p:nvGrpSpPr>
        <p:grpSpPr>
          <a:xfrm>
            <a:off x="2158640" y="4318660"/>
            <a:ext cx="2317967" cy="2317967"/>
            <a:chOff x="2033634" y="4440139"/>
            <a:chExt cx="2317967" cy="231796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74FCF74-C55D-3A97-6987-0253308C5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09D24436-04F5-F882-F2AC-9B012FAB1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3574A7-8E93-2926-9AA8-B19945647909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E70BA28-3597-B825-7EAF-C95674884854}"/>
              </a:ext>
            </a:extLst>
          </p:cNvPr>
          <p:cNvGrpSpPr/>
          <p:nvPr userDrawn="1"/>
        </p:nvGrpSpPr>
        <p:grpSpPr>
          <a:xfrm>
            <a:off x="5905242" y="4322973"/>
            <a:ext cx="2387476" cy="2311677"/>
            <a:chOff x="3849998" y="4440139"/>
            <a:chExt cx="2387476" cy="231167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4BBC2FA-C0B3-8058-EEC9-3BCF957CA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4AB74E01-0137-FCD6-95D4-F455180B90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79F0F8-E858-0D6C-B396-EC11C2C49564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341A55-90D7-ACA9-F1DC-F7959BBAF8FF}"/>
              </a:ext>
            </a:extLst>
          </p:cNvPr>
          <p:cNvGrpSpPr/>
          <p:nvPr userDrawn="1"/>
        </p:nvGrpSpPr>
        <p:grpSpPr>
          <a:xfrm>
            <a:off x="292714" y="4320798"/>
            <a:ext cx="2311678" cy="2311678"/>
            <a:chOff x="265848" y="1468917"/>
            <a:chExt cx="2311678" cy="231167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F51F526-802C-F137-C962-B98182B57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B08F359-33BF-9CF4-D55A-E33DD85FE66F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21" name="Picture 20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6FF45AE4-232C-56EB-1752-8AA18D0AB42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22" name="Picture 21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9AB61F55-1E48-7213-10C9-CACF08E7A1F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0C124B-6DC8-DE83-4B02-2F68FD852E8A}"/>
                </a:ext>
              </a:extLst>
            </p:cNvPr>
            <p:cNvSpPr txBox="1"/>
            <p:nvPr/>
          </p:nvSpPr>
          <p:spPr>
            <a:xfrm>
              <a:off x="667424" y="1899565"/>
              <a:ext cx="14733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9FC970-BCDE-32BB-1EA9-48CE4E66AEEE}"/>
              </a:ext>
            </a:extLst>
          </p:cNvPr>
          <p:cNvGrpSpPr/>
          <p:nvPr userDrawn="1"/>
        </p:nvGrpSpPr>
        <p:grpSpPr>
          <a:xfrm>
            <a:off x="7759743" y="4318660"/>
            <a:ext cx="2311677" cy="2311677"/>
            <a:chOff x="1419928" y="1940604"/>
            <a:chExt cx="2311677" cy="2311677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985B877-FA99-BCC2-EEB2-769642296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260885B-C334-B9DF-9ED9-32486CA3F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AF4266-D627-A40D-3145-6E7DA7BA2AF7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06B110-68A7-102F-2D3A-2E89AB28A92D}"/>
              </a:ext>
            </a:extLst>
          </p:cNvPr>
          <p:cNvGrpSpPr/>
          <p:nvPr userDrawn="1"/>
        </p:nvGrpSpPr>
        <p:grpSpPr>
          <a:xfrm>
            <a:off x="2167658" y="2450369"/>
            <a:ext cx="2317966" cy="2317966"/>
            <a:chOff x="1553560" y="1499185"/>
            <a:chExt cx="2317966" cy="2317966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3F414F1-6903-51ED-DE3C-97C913053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29" name="Picture 2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EC31A73-DAF3-37E6-8D79-03C88D475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1E5A0A-0F9C-6BEC-0DFF-03498D12C66B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6FA556B-C670-C8A6-2191-1015F06819BF}"/>
              </a:ext>
            </a:extLst>
          </p:cNvPr>
          <p:cNvGrpSpPr/>
          <p:nvPr userDrawn="1"/>
        </p:nvGrpSpPr>
        <p:grpSpPr>
          <a:xfrm>
            <a:off x="292993" y="2448863"/>
            <a:ext cx="2317967" cy="2317967"/>
            <a:chOff x="2033634" y="4440139"/>
            <a:chExt cx="2317967" cy="2317967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3848093-8079-18D4-2789-4C227E3FB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33" name="Picture 3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D46C5E08-D418-CB85-D63E-BBBFCE836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D84A70D-4E2C-52D2-E846-5FC523D87272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414FCC-A4C0-4B05-C0A4-36BB6455A942}"/>
              </a:ext>
            </a:extLst>
          </p:cNvPr>
          <p:cNvGrpSpPr/>
          <p:nvPr userDrawn="1"/>
        </p:nvGrpSpPr>
        <p:grpSpPr>
          <a:xfrm>
            <a:off x="4039595" y="2453176"/>
            <a:ext cx="2387476" cy="2311677"/>
            <a:chOff x="3849998" y="4440139"/>
            <a:chExt cx="2387476" cy="2311677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4E75AA1-3F93-4154-A4AB-37B9C2C15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C48F817E-27FB-4AA0-50C4-6F77EB03B0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41E01F8-5983-7406-512B-BD35E50D1E65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343D9B0-528A-043E-9F89-A78295D28B6E}"/>
              </a:ext>
            </a:extLst>
          </p:cNvPr>
          <p:cNvGrpSpPr/>
          <p:nvPr userDrawn="1"/>
        </p:nvGrpSpPr>
        <p:grpSpPr>
          <a:xfrm>
            <a:off x="5894096" y="2448863"/>
            <a:ext cx="2311677" cy="2311677"/>
            <a:chOff x="1419928" y="1940604"/>
            <a:chExt cx="2311677" cy="2311677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3430F834-287A-EB22-ABCF-73A3C8A42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42" name="Picture 4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415E501-3FA6-C8E4-F06E-A04254A2A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3530699-47B2-4A25-56EC-B24AAC3049D3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E9D55FE-FEBD-774D-AC1F-EFD50B979CFE}"/>
              </a:ext>
            </a:extLst>
          </p:cNvPr>
          <p:cNvGrpSpPr/>
          <p:nvPr userDrawn="1"/>
        </p:nvGrpSpPr>
        <p:grpSpPr>
          <a:xfrm>
            <a:off x="7759121" y="2451300"/>
            <a:ext cx="2317967" cy="2317967"/>
            <a:chOff x="2033634" y="4440139"/>
            <a:chExt cx="2317967" cy="2317967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71890B4-64BE-8B90-A327-25FE8774B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46" name="Picture 4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F9BCDDCD-4809-2531-A5CB-0E476392C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A759455-B3EA-53DB-B22B-752D0EE687D4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EA860AA-3A36-DE06-C878-DDDF5465857A}"/>
              </a:ext>
            </a:extLst>
          </p:cNvPr>
          <p:cNvGrpSpPr/>
          <p:nvPr userDrawn="1"/>
        </p:nvGrpSpPr>
        <p:grpSpPr>
          <a:xfrm>
            <a:off x="5899000" y="566030"/>
            <a:ext cx="2317966" cy="2317966"/>
            <a:chOff x="1553560" y="1499185"/>
            <a:chExt cx="2317966" cy="231796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B54C5F6-D418-1F33-C646-CD691D4EF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50" name="Picture 4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67E0AC90-8D10-9FF2-0AD2-DC3EE8ADC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5C46733-B082-6DA6-FE89-08F220C70A5A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58B51DD-ADDA-1709-E1B5-1F75F7A6ABC8}"/>
              </a:ext>
            </a:extLst>
          </p:cNvPr>
          <p:cNvGrpSpPr/>
          <p:nvPr userDrawn="1"/>
        </p:nvGrpSpPr>
        <p:grpSpPr>
          <a:xfrm>
            <a:off x="4033584" y="576120"/>
            <a:ext cx="2317967" cy="2317967"/>
            <a:chOff x="2033634" y="4440139"/>
            <a:chExt cx="2317967" cy="2317967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C0FB3CD1-C461-2A53-C446-DD86EFC11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54" name="Picture 5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17D28DB-F381-8899-EB7C-2E353349B1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5EB007E-C6A8-FFC2-5145-B7B685C53DBE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DA40C36-F2DB-5D78-18EC-3B2A8A09C605}"/>
              </a:ext>
            </a:extLst>
          </p:cNvPr>
          <p:cNvGrpSpPr/>
          <p:nvPr userDrawn="1"/>
        </p:nvGrpSpPr>
        <p:grpSpPr>
          <a:xfrm>
            <a:off x="7759121" y="579892"/>
            <a:ext cx="2387476" cy="2311677"/>
            <a:chOff x="3849998" y="4440139"/>
            <a:chExt cx="2387476" cy="2311677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08089A0C-20D4-93DE-D433-EB5EA3F6E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B73501A2-AF76-F90C-299E-985DFAAFB0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9718B72-A00B-9EC8-E6D0-BE67FFAFB02E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83F5C5E-911E-BA3D-3592-EB2A933471D8}"/>
              </a:ext>
            </a:extLst>
          </p:cNvPr>
          <p:cNvGrpSpPr/>
          <p:nvPr userDrawn="1"/>
        </p:nvGrpSpPr>
        <p:grpSpPr>
          <a:xfrm>
            <a:off x="9632885" y="2456658"/>
            <a:ext cx="2311677" cy="2311677"/>
            <a:chOff x="1419928" y="1940604"/>
            <a:chExt cx="2311677" cy="2311677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CFDF8DA4-2811-8DA0-211A-A2E08ABAD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62" name="Picture 6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EE04A88-0CDE-918C-A633-E87A41037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DF0598F-8EA1-EA72-C86A-F55B86BA463F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525EEC4-7299-85A9-4379-00AC44B746E5}"/>
              </a:ext>
            </a:extLst>
          </p:cNvPr>
          <p:cNvGrpSpPr/>
          <p:nvPr userDrawn="1"/>
        </p:nvGrpSpPr>
        <p:grpSpPr>
          <a:xfrm>
            <a:off x="9630342" y="586580"/>
            <a:ext cx="2311678" cy="2311678"/>
            <a:chOff x="265848" y="1468917"/>
            <a:chExt cx="2311678" cy="2311678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0FE68FD9-E07C-9A37-6627-0CEA07DB3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7ABB1E7-26A0-2461-9E59-65E0D218623A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68" name="Picture 67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539F5577-C5EF-0D70-AF58-C67C6E09D5E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69" name="Picture 68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DB693035-1B85-B76A-C378-12CBDE0AB97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DFB44A8-EBD8-7D46-5EF5-8B9274761A75}"/>
                </a:ext>
              </a:extLst>
            </p:cNvPr>
            <p:cNvSpPr txBox="1"/>
            <p:nvPr/>
          </p:nvSpPr>
          <p:spPr>
            <a:xfrm>
              <a:off x="667424" y="1899565"/>
              <a:ext cx="14733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945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C8BF6DC9-4879-BFDE-6EAD-2048D1CB9783}"/>
              </a:ext>
            </a:extLst>
          </p:cNvPr>
          <p:cNvSpPr txBox="1"/>
          <p:nvPr userDrawn="1"/>
        </p:nvSpPr>
        <p:spPr>
          <a:xfrm>
            <a:off x="105741" y="1697448"/>
            <a:ext cx="3205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9AF734A-10FE-70CD-AF99-9AF7547E84EC}"/>
              </a:ext>
            </a:extLst>
          </p:cNvPr>
          <p:cNvSpPr txBox="1"/>
          <p:nvPr userDrawn="1"/>
        </p:nvSpPr>
        <p:spPr>
          <a:xfrm>
            <a:off x="100582" y="2536175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We can make links between the physical and human geography of a place and how this affects the culture of the people living there.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8" name="Picture 9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7240A49-8CEB-0760-E2CE-D638C0D3B0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E2A5BD02-2ABD-339B-D4FE-C954EF27AA2D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1C54AB1-890B-8155-8020-C83CAD4D534D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5AC154A-7405-B3CB-1FF5-D12C183AE71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A440A67D-62E4-3B3F-2150-E1CC98870307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4" name="Rectangle: Rounded Corners 12">
                    <a:extLst>
                      <a:ext uri="{FF2B5EF4-FFF2-40B4-BE49-F238E27FC236}">
                        <a16:creationId xmlns:a16="http://schemas.microsoft.com/office/drawing/2014/main" id="{9D734C61-CAA5-618C-A66F-EAF3892E648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Rectangle: Rounded Corners 4">
                    <a:extLst>
                      <a:ext uri="{FF2B5EF4-FFF2-40B4-BE49-F238E27FC236}">
                        <a16:creationId xmlns:a16="http://schemas.microsoft.com/office/drawing/2014/main" id="{3386500E-1CE7-B8C3-BF6C-830B34E6D25F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6C81FABF-2A4B-46AA-2AF7-82EC10906F8D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2" name="Picture 101">
                    <a:extLst>
                      <a:ext uri="{FF2B5EF4-FFF2-40B4-BE49-F238E27FC236}">
                        <a16:creationId xmlns:a16="http://schemas.microsoft.com/office/drawing/2014/main" id="{FBFF1364-3FEE-EF67-2907-211411F8BA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5FB7DB65-D848-5490-073E-D52A9A65C7F2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B6C111E-44F8-BE02-E3A1-4593968F2369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2043D60-F0CC-30DD-8067-C1FD931F6A76}"/>
                </a:ext>
              </a:extLst>
            </p:cNvPr>
            <p:cNvSpPr txBox="1"/>
            <p:nvPr/>
          </p:nvSpPr>
          <p:spPr>
            <a:xfrm>
              <a:off x="6767704" y="3895375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the Mediterranean.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C4178A9-F41E-222F-246F-159870BAB92F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CD0691E-F0BE-2A65-2D56-3FE4A5981DE7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C64B9DD4-75BA-5FBA-C0B5-E7E621A5AFD6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A21F9263-BABA-FD45-12F5-4D203291E992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5" name="Rectangle: Rounded Corners 9">
                    <a:extLst>
                      <a:ext uri="{FF2B5EF4-FFF2-40B4-BE49-F238E27FC236}">
                        <a16:creationId xmlns:a16="http://schemas.microsoft.com/office/drawing/2014/main" id="{AEFB0A30-E10C-8D1A-3041-6E5883ABE2E0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" name="Rectangle: Rounded Corners 4">
                    <a:extLst>
                      <a:ext uri="{FF2B5EF4-FFF2-40B4-BE49-F238E27FC236}">
                        <a16:creationId xmlns:a16="http://schemas.microsoft.com/office/drawing/2014/main" id="{DF7C6A30-18F1-7530-4C14-F489703DE5B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4E5C9BD5-11C9-4B1D-91E1-6229B0486C77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13" name="Picture 112">
                    <a:extLst>
                      <a:ext uri="{FF2B5EF4-FFF2-40B4-BE49-F238E27FC236}">
                        <a16:creationId xmlns:a16="http://schemas.microsoft.com/office/drawing/2014/main" id="{D9EDFD36-373E-B34F-13F8-3626F1ACB3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1DF21842-FC53-C46C-CD59-25F1718B5A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B8B35A7-2DB4-92EB-F10D-5FD04B43A80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6A5AC59-EF7C-0106-DE8A-39321E258CED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explain the similarities and differences in culture where I live in the United Kingdom and in Guizhou region in South West China.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DFB1D6E-5FE5-AACA-EBE1-D1E650535C72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3EDE152-7C0F-D137-5FFF-A46E24409617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CA858FC-45BE-5821-7A04-F91C656C2A1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22" name="Rectangle: Rounded Corners 3">
                  <a:extLst>
                    <a:ext uri="{FF2B5EF4-FFF2-40B4-BE49-F238E27FC236}">
                      <a16:creationId xmlns:a16="http://schemas.microsoft.com/office/drawing/2014/main" id="{F90FAE8F-E73A-5EB8-960A-D6787FE3D5CB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B78DE608-63BC-8143-3015-0A9E81C4E71A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4" name="Picture 123">
                    <a:extLst>
                      <a:ext uri="{FF2B5EF4-FFF2-40B4-BE49-F238E27FC236}">
                        <a16:creationId xmlns:a16="http://schemas.microsoft.com/office/drawing/2014/main" id="{B73B8142-91D1-DB2A-D67D-A90E791DB7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4F424B14-D548-76DE-56C2-19C2486EED38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5D83EF1-D711-C42E-31D1-0AC5F8097132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2D7F9D6-E21E-751B-AA90-38F97F44AD11}"/>
                </a:ext>
              </a:extLst>
            </p:cNvPr>
            <p:cNvSpPr txBox="1"/>
            <p:nvPr/>
          </p:nvSpPr>
          <p:spPr>
            <a:xfrm>
              <a:off x="6824631" y="5878352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that culture means the way of life of a group of people. I can talk about the different people, jobs and landmarks in my local area. 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0174ED3-1591-C122-B174-9ED18E78DA8F}"/>
              </a:ext>
            </a:extLst>
          </p:cNvPr>
          <p:cNvGrpSpPr/>
          <p:nvPr userDrawn="1"/>
        </p:nvGrpSpPr>
        <p:grpSpPr>
          <a:xfrm>
            <a:off x="3511272" y="1660451"/>
            <a:ext cx="8322595" cy="929821"/>
            <a:chOff x="3511272" y="1660451"/>
            <a:chExt cx="8322595" cy="929821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5E1874A1-4DDC-67D4-356F-3C46D6D62DF3}"/>
                </a:ext>
              </a:extLst>
            </p:cNvPr>
            <p:cNvGrpSpPr/>
            <p:nvPr/>
          </p:nvGrpSpPr>
          <p:grpSpPr>
            <a:xfrm>
              <a:off x="3511272" y="1660451"/>
              <a:ext cx="8322595" cy="929821"/>
              <a:chOff x="3511272" y="1660451"/>
              <a:chExt cx="8322595" cy="929821"/>
            </a:xfrm>
          </p:grpSpPr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678AA696-6B02-A7A3-4DE1-65B50997F272}"/>
                  </a:ext>
                </a:extLst>
              </p:cNvPr>
              <p:cNvGrpSpPr/>
              <p:nvPr/>
            </p:nvGrpSpPr>
            <p:grpSpPr>
              <a:xfrm>
                <a:off x="3511272" y="1660451"/>
                <a:ext cx="8322595" cy="929821"/>
                <a:chOff x="3511272" y="1660451"/>
                <a:chExt cx="8322595" cy="929821"/>
              </a:xfrm>
            </p:grpSpPr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2202DFEC-6E7A-05DE-393B-1A4097177B79}"/>
                    </a:ext>
                  </a:extLst>
                </p:cNvPr>
                <p:cNvGrpSpPr/>
                <p:nvPr/>
              </p:nvGrpSpPr>
              <p:grpSpPr>
                <a:xfrm>
                  <a:off x="3533230" y="1690272"/>
                  <a:ext cx="8300637" cy="900000"/>
                  <a:chOff x="7998350" y="1737362"/>
                  <a:chExt cx="1713901" cy="2844795"/>
                </a:xfrm>
              </p:grpSpPr>
              <p:sp>
                <p:nvSpPr>
                  <p:cNvPr id="135" name="Rectangle: Rounded Corners 18">
                    <a:extLst>
                      <a:ext uri="{FF2B5EF4-FFF2-40B4-BE49-F238E27FC236}">
                        <a16:creationId xmlns:a16="http://schemas.microsoft.com/office/drawing/2014/main" id="{22F2A76F-7B49-51D6-7089-0E6337FB6832}"/>
                      </a:ext>
                    </a:extLst>
                  </p:cNvPr>
                  <p:cNvSpPr/>
                  <p:nvPr/>
                </p:nvSpPr>
                <p:spPr>
                  <a:xfrm>
                    <a:off x="7998350" y="1737362"/>
                    <a:ext cx="1713901" cy="2844795"/>
                  </a:xfrm>
                  <a:prstGeom prst="roundRect">
                    <a:avLst/>
                  </a:prstGeom>
                  <a:solidFill>
                    <a:srgbClr val="F9D2B5"/>
                  </a:solidFill>
                  <a:ln>
                    <a:solidFill>
                      <a:srgbClr val="F9D2B5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6" name="Rectangle: Rounded Corners 4">
                    <a:extLst>
                      <a:ext uri="{FF2B5EF4-FFF2-40B4-BE49-F238E27FC236}">
                        <a16:creationId xmlns:a16="http://schemas.microsoft.com/office/drawing/2014/main" id="{9720A827-B69A-5113-1D92-8D5EB2578377}"/>
                      </a:ext>
                    </a:extLst>
                  </p:cNvPr>
                  <p:cNvSpPr txBox="1"/>
                  <p:nvPr/>
                </p:nvSpPr>
                <p:spPr>
                  <a:xfrm>
                    <a:off x="8082016" y="1821028"/>
                    <a:ext cx="1546569" cy="2677463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32" name="Group 131">
                  <a:extLst>
                    <a:ext uri="{FF2B5EF4-FFF2-40B4-BE49-F238E27FC236}">
                      <a16:creationId xmlns:a16="http://schemas.microsoft.com/office/drawing/2014/main" id="{FCC8A544-239E-C67E-7F6F-94A50AC879E1}"/>
                    </a:ext>
                  </a:extLst>
                </p:cNvPr>
                <p:cNvGrpSpPr/>
                <p:nvPr/>
              </p:nvGrpSpPr>
              <p:grpSpPr>
                <a:xfrm>
                  <a:off x="3511272" y="1660451"/>
                  <a:ext cx="801261" cy="903352"/>
                  <a:chOff x="4418485" y="450020"/>
                  <a:chExt cx="801261" cy="903352"/>
                </a:xfrm>
              </p:grpSpPr>
              <p:pic>
                <p:nvPicPr>
                  <p:cNvPr id="133" name="Picture 132">
                    <a:extLst>
                      <a:ext uri="{FF2B5EF4-FFF2-40B4-BE49-F238E27FC236}">
                        <a16:creationId xmlns:a16="http://schemas.microsoft.com/office/drawing/2014/main" id="{85AB5951-856C-FCB3-0026-DAA1E9E4FE5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1848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34" name="TextBox 133">
                    <a:extLst>
                      <a:ext uri="{FF2B5EF4-FFF2-40B4-BE49-F238E27FC236}">
                        <a16:creationId xmlns:a16="http://schemas.microsoft.com/office/drawing/2014/main" id="{D8B132E8-4370-91EF-25D0-928355269B89}"/>
                      </a:ext>
                    </a:extLst>
                  </p:cNvPr>
                  <p:cNvSpPr txBox="1"/>
                  <p:nvPr/>
                </p:nvSpPr>
                <p:spPr>
                  <a:xfrm>
                    <a:off x="466042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5</a:t>
                    </a:r>
                  </a:p>
                </p:txBody>
              </p:sp>
            </p:grpSp>
          </p:grp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D3C9E9F0-46C1-533A-5103-CB373190F419}"/>
                  </a:ext>
                </a:extLst>
              </p:cNvPr>
              <p:cNvSpPr txBox="1"/>
              <p:nvPr/>
            </p:nvSpPr>
            <p:spPr>
              <a:xfrm>
                <a:off x="4392766" y="1788757"/>
                <a:ext cx="2299228" cy="738664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Waterways in the UK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Significant cities around the world</a:t>
                </a:r>
              </a:p>
            </p:txBody>
          </p:sp>
        </p:grp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5B9D671-9A55-8A64-3D9E-871B060E893A}"/>
                </a:ext>
              </a:extLst>
            </p:cNvPr>
            <p:cNvSpPr txBox="1"/>
            <p:nvPr/>
          </p:nvSpPr>
          <p:spPr>
            <a:xfrm>
              <a:off x="6824631" y="1783572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talk about the diverse people and cultures in cities around the world. I can explain how waterways can affect the culture and way of life in a place.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D5C4F10-7879-58F2-1D60-FEB4CC3988EC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EA1DE59-E551-BCE6-3048-2019ECF7A4E1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4F7FBA9-111E-45B7-0BA8-B6431491B9DA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42" name="Rectangle: Rounded Corners 15">
                  <a:extLst>
                    <a:ext uri="{FF2B5EF4-FFF2-40B4-BE49-F238E27FC236}">
                      <a16:creationId xmlns:a16="http://schemas.microsoft.com/office/drawing/2014/main" id="{05CF309E-DCC1-5D56-6DC4-6BBFFAD71AA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AF0581E7-C97C-B1F7-165D-2382B94DFED3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4" name="Picture 143">
                    <a:extLst>
                      <a:ext uri="{FF2B5EF4-FFF2-40B4-BE49-F238E27FC236}">
                        <a16:creationId xmlns:a16="http://schemas.microsoft.com/office/drawing/2014/main" id="{3E32F10A-5F31-DD7A-FB94-AC970FCDCB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2339432D-B2CF-50C9-AB21-97EC561BB5C1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DE578201-4E89-1051-7197-9B61870A5C64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52D4432-96B0-6C7C-ED06-407C6E793917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South America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3D875776-857C-C59F-0DE9-010FD9D5113D}"/>
              </a:ext>
            </a:extLst>
          </p:cNvPr>
          <p:cNvGrpSpPr/>
          <p:nvPr userDrawn="1"/>
        </p:nvGrpSpPr>
        <p:grpSpPr>
          <a:xfrm>
            <a:off x="3508831" y="646450"/>
            <a:ext cx="8325036" cy="980689"/>
            <a:chOff x="3508831" y="646450"/>
            <a:chExt cx="8325036" cy="980689"/>
          </a:xfrm>
        </p:grpSpPr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D48E16BC-C4C7-46DD-5CB8-E9E9C62E2481}"/>
                </a:ext>
              </a:extLst>
            </p:cNvPr>
            <p:cNvGrpSpPr/>
            <p:nvPr userDrawn="1"/>
          </p:nvGrpSpPr>
          <p:grpSpPr>
            <a:xfrm>
              <a:off x="3508831" y="646450"/>
              <a:ext cx="8325036" cy="980689"/>
              <a:chOff x="3508831" y="646450"/>
              <a:chExt cx="8325036" cy="980689"/>
            </a:xfrm>
          </p:grpSpPr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AB0FE959-11D8-D393-01D8-50FF982F123E}"/>
                  </a:ext>
                </a:extLst>
              </p:cNvPr>
              <p:cNvGrpSpPr/>
              <p:nvPr/>
            </p:nvGrpSpPr>
            <p:grpSpPr>
              <a:xfrm>
                <a:off x="3508831" y="646450"/>
                <a:ext cx="8325036" cy="931047"/>
                <a:chOff x="3508831" y="646450"/>
                <a:chExt cx="8325036" cy="931047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9DBDB92E-8178-801B-E2E4-DE65541F425A}"/>
                    </a:ext>
                  </a:extLst>
                </p:cNvPr>
                <p:cNvGrpSpPr/>
                <p:nvPr/>
              </p:nvGrpSpPr>
              <p:grpSpPr>
                <a:xfrm>
                  <a:off x="3533230" y="677497"/>
                  <a:ext cx="8300637" cy="900000"/>
                  <a:chOff x="1999694" y="1717038"/>
                  <a:chExt cx="1713901" cy="2885442"/>
                </a:xfrm>
              </p:grpSpPr>
              <p:sp>
                <p:nvSpPr>
                  <p:cNvPr id="155" name="Rectangle: Rounded Corners 23">
                    <a:extLst>
                      <a:ext uri="{FF2B5EF4-FFF2-40B4-BE49-F238E27FC236}">
                        <a16:creationId xmlns:a16="http://schemas.microsoft.com/office/drawing/2014/main" id="{C94F5A8A-60AB-81FB-E22F-D2122D30E95E}"/>
                      </a:ext>
                    </a:extLst>
                  </p:cNvPr>
                  <p:cNvSpPr/>
                  <p:nvPr/>
                </p:nvSpPr>
                <p:spPr>
                  <a:xfrm>
                    <a:off x="1999694" y="1717038"/>
                    <a:ext cx="1713901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6" name="Rectangle: Rounded Corners 4">
                    <a:extLst>
                      <a:ext uri="{FF2B5EF4-FFF2-40B4-BE49-F238E27FC236}">
                        <a16:creationId xmlns:a16="http://schemas.microsoft.com/office/drawing/2014/main" id="{71FB1637-EBFE-5649-3880-13BD1DB109A0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8270EC54-F51A-AE19-D14D-15DE7082A02E}"/>
                    </a:ext>
                  </a:extLst>
                </p:cNvPr>
                <p:cNvGrpSpPr/>
                <p:nvPr/>
              </p:nvGrpSpPr>
              <p:grpSpPr>
                <a:xfrm>
                  <a:off x="3508831" y="646450"/>
                  <a:ext cx="801261" cy="903352"/>
                  <a:chOff x="4407115" y="450020"/>
                  <a:chExt cx="801261" cy="903352"/>
                </a:xfrm>
              </p:grpSpPr>
              <p:pic>
                <p:nvPicPr>
                  <p:cNvPr id="153" name="Picture 152">
                    <a:extLst>
                      <a:ext uri="{FF2B5EF4-FFF2-40B4-BE49-F238E27FC236}">
                        <a16:creationId xmlns:a16="http://schemas.microsoft.com/office/drawing/2014/main" id="{13B24C4A-4AF6-E679-F1CA-08C0C8390AB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0711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54" name="TextBox 153">
                    <a:extLst>
                      <a:ext uri="{FF2B5EF4-FFF2-40B4-BE49-F238E27FC236}">
                        <a16:creationId xmlns:a16="http://schemas.microsoft.com/office/drawing/2014/main" id="{6C394EAC-C1A9-4742-F9AE-C9E98ADB404D}"/>
                      </a:ext>
                    </a:extLst>
                  </p:cNvPr>
                  <p:cNvSpPr txBox="1"/>
                  <p:nvPr/>
                </p:nvSpPr>
                <p:spPr>
                  <a:xfrm>
                    <a:off x="464905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6</a:t>
                    </a:r>
                  </a:p>
                </p:txBody>
              </p:sp>
            </p:grpSp>
          </p:grp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31AB71ED-41F5-3310-DB28-E02045E867B6}"/>
                  </a:ext>
                </a:extLst>
              </p:cNvPr>
              <p:cNvSpPr txBox="1"/>
              <p:nvPr/>
            </p:nvSpPr>
            <p:spPr>
              <a:xfrm>
                <a:off x="6824631" y="673032"/>
                <a:ext cx="488210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400" b="0" i="0">
                    <a:solidFill>
                      <a:prstClr val="black"/>
                    </a:solidFill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 can explain how the physical geography of the Highlands affects the culture there. I can explain the impact on people and their culture when volcanoes erupt or earthquakes strike. </a:t>
                </a:r>
                <a:endPara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D2486C9-1AD5-5AA0-63CC-F41C4781F010}"/>
                </a:ext>
              </a:extLst>
            </p:cNvPr>
            <p:cNvSpPr txBox="1"/>
            <p:nvPr userDrawn="1"/>
          </p:nvSpPr>
          <p:spPr>
            <a:xfrm>
              <a:off x="4392765" y="692560"/>
              <a:ext cx="2299228" cy="867930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Highlands in the UK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Mountains, volcanoes and earthquakes around the world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5B7A67-87DA-CD98-0E72-A3ED1AB3DE02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Cultural awareness &amp; diversity</a:t>
            </a:r>
          </a:p>
        </p:txBody>
      </p:sp>
      <p:pic>
        <p:nvPicPr>
          <p:cNvPr id="8" name="Picture 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F5FB5CF-05B9-B200-9085-D29357F06A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94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93" grpId="0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F80A4B6-DBA2-D228-5E62-DC28674BE8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9E28B79-F94C-7819-45A7-F129CBA2F1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49868-55C0-C948-8F46-8AFCF36233F9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C9D795B-495A-F977-229D-60D09C3BE6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1454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F5E13AFA-3970-5633-8869-613679954D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83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D282E2-C594-7769-1AA9-A48C71FC4D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331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6756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6915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5933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3643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0F729-013A-63E2-0214-1ED40F1427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500ED0-92C3-76B7-A98C-25AE755D9C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FF592F4-2BCB-5EAB-A130-75D137594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F1BFD2F-BDEB-870D-A592-57DB317404BB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8E24C5-732E-FB6C-FB21-5938A2ECB0BC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A97946-BA60-699D-D8E2-BB99BE443572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B1965D64-3352-1DA8-13E4-D16ACCAA89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00867787-551F-CF0C-BC20-2470D109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8FBB344-85B5-76A3-3AAC-250B1EC04D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222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DABD13CE-A089-7EC6-D295-E57F4B36EC43}"/>
              </a:ext>
            </a:extLst>
          </p:cNvPr>
          <p:cNvSpPr/>
          <p:nvPr userDrawn="1"/>
        </p:nvSpPr>
        <p:spPr>
          <a:xfrm>
            <a:off x="1250684" y="23797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3" name="Picture 17">
            <a:extLst>
              <a:ext uri="{FF2B5EF4-FFF2-40B4-BE49-F238E27FC236}">
                <a16:creationId xmlns:a16="http://schemas.microsoft.com/office/drawing/2014/main" id="{9B9461F3-5BAA-DE66-40BA-2CD3395F17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745" y="1216492"/>
            <a:ext cx="1173543" cy="102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C7346A-3FDB-9DEC-B534-20B0CE92C85D}"/>
              </a:ext>
            </a:extLst>
          </p:cNvPr>
          <p:cNvSpPr txBox="1"/>
          <p:nvPr userDrawn="1"/>
        </p:nvSpPr>
        <p:spPr>
          <a:xfrm>
            <a:off x="2929516" y="769604"/>
            <a:ext cx="3804247" cy="592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50" b="0" i="0" u="sng" dirty="0">
                <a:latin typeface="Twinkl Cursive Looped" panose="02000000000000000000" pitchFamily="2" charset="77"/>
              </a:rPr>
              <a:t>Our Key Question is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57AE6B17-CAB5-0E98-5539-593922B30D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0132" y="1369643"/>
            <a:ext cx="5251759" cy="105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 dirty="0"/>
              <a:t>KQ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FEA70C-1F28-9BA9-014D-0D27BE25C60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48000" y="2693156"/>
            <a:ext cx="60960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168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D7AD81-E14F-C5B1-6D8B-66EEBD8EFD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18EE7AE-F359-0788-9079-EAE09AB5E8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80E7EF4-6EA9-4428-CA54-518DED335C31}"/>
              </a:ext>
            </a:extLst>
          </p:cNvPr>
          <p:cNvGrpSpPr/>
          <p:nvPr userDrawn="1"/>
        </p:nvGrpSpPr>
        <p:grpSpPr>
          <a:xfrm>
            <a:off x="337910" y="1027775"/>
            <a:ext cx="5580141" cy="5377327"/>
            <a:chOff x="419854" y="971549"/>
            <a:chExt cx="5580141" cy="5377327"/>
          </a:xfrm>
        </p:grpSpPr>
        <p:sp>
          <p:nvSpPr>
            <p:cNvPr id="116" name="Block Arc 115">
              <a:extLst>
                <a:ext uri="{FF2B5EF4-FFF2-40B4-BE49-F238E27FC236}">
                  <a16:creationId xmlns:a16="http://schemas.microsoft.com/office/drawing/2014/main" id="{61ABCF02-B7DE-7547-39E5-A6ACD9C4AEFC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11880000"/>
                <a:gd name="adj2" fmla="val 1620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17" name="Block Arc 116">
              <a:extLst>
                <a:ext uri="{FF2B5EF4-FFF2-40B4-BE49-F238E27FC236}">
                  <a16:creationId xmlns:a16="http://schemas.microsoft.com/office/drawing/2014/main" id="{B3E43D32-F468-A9FF-69AF-14F60D208247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7560000"/>
                <a:gd name="adj2" fmla="val 1188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18" name="Block Arc 117">
              <a:extLst>
                <a:ext uri="{FF2B5EF4-FFF2-40B4-BE49-F238E27FC236}">
                  <a16:creationId xmlns:a16="http://schemas.microsoft.com/office/drawing/2014/main" id="{C20C26EA-A850-2761-2B93-7731F709A430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3240000"/>
                <a:gd name="adj2" fmla="val 756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19" name="Block Arc 118">
              <a:extLst>
                <a:ext uri="{FF2B5EF4-FFF2-40B4-BE49-F238E27FC236}">
                  <a16:creationId xmlns:a16="http://schemas.microsoft.com/office/drawing/2014/main" id="{00A5D80F-2C0D-CE22-1DEA-D7A50505D0D9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20520000"/>
                <a:gd name="adj2" fmla="val 324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20" name="Block Arc 119">
              <a:extLst>
                <a:ext uri="{FF2B5EF4-FFF2-40B4-BE49-F238E27FC236}">
                  <a16:creationId xmlns:a16="http://schemas.microsoft.com/office/drawing/2014/main" id="{579EEAA4-80CF-D123-1843-F13AC8894229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16200000"/>
                <a:gd name="adj2" fmla="val 2052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F292B54B-4C68-26BD-25CB-0122D73F8032}"/>
                </a:ext>
              </a:extLst>
            </p:cNvPr>
            <p:cNvSpPr/>
            <p:nvPr userDrawn="1"/>
          </p:nvSpPr>
          <p:spPr>
            <a:xfrm>
              <a:off x="2184003" y="2842324"/>
              <a:ext cx="2051843" cy="2051843"/>
            </a:xfrm>
            <a:custGeom>
              <a:avLst/>
              <a:gdLst>
                <a:gd name="csX0" fmla="*/ 0 w 2051843"/>
                <a:gd name="csY0" fmla="*/ 1025922 h 2051843"/>
                <a:gd name="csX1" fmla="*/ 1025922 w 2051843"/>
                <a:gd name="csY1" fmla="*/ 0 h 2051843"/>
                <a:gd name="csX2" fmla="*/ 2051844 w 2051843"/>
                <a:gd name="csY2" fmla="*/ 1025922 h 2051843"/>
                <a:gd name="csX3" fmla="*/ 1025922 w 2051843"/>
                <a:gd name="csY3" fmla="*/ 2051844 h 2051843"/>
                <a:gd name="csX4" fmla="*/ 0 w 2051843"/>
                <a:gd name="csY4" fmla="*/ 1025922 h 20518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51843" h="2051843">
                  <a:moveTo>
                    <a:pt x="0" y="1025922"/>
                  </a:moveTo>
                  <a:cubicBezTo>
                    <a:pt x="0" y="459321"/>
                    <a:pt x="459321" y="0"/>
                    <a:pt x="1025922" y="0"/>
                  </a:cubicBezTo>
                  <a:cubicBezTo>
                    <a:pt x="1592523" y="0"/>
                    <a:pt x="2051844" y="459321"/>
                    <a:pt x="2051844" y="1025922"/>
                  </a:cubicBezTo>
                  <a:cubicBezTo>
                    <a:pt x="2051844" y="1592523"/>
                    <a:pt x="1592523" y="2051844"/>
                    <a:pt x="1025922" y="2051844"/>
                  </a:cubicBezTo>
                  <a:cubicBezTo>
                    <a:pt x="459321" y="2051844"/>
                    <a:pt x="0" y="1592523"/>
                    <a:pt x="0" y="1025922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1285" tIns="351285" rIns="351285" bIns="351285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4000" b="0" kern="1200"/>
            </a:p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4000" b="0" kern="120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C010B2C6-BA6C-19D0-F22B-3F6658F5AFE7}"/>
                </a:ext>
              </a:extLst>
            </p:cNvPr>
            <p:cNvSpPr txBox="1"/>
            <p:nvPr userDrawn="1"/>
          </p:nvSpPr>
          <p:spPr>
            <a:xfrm rot="16367761">
              <a:off x="2223417" y="2469219"/>
              <a:ext cx="1973014" cy="2366341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8617501"/>
                </a:avLst>
              </a:prstTxWarp>
              <a:spAutoFit/>
            </a:bodyPr>
            <a:lstStyle/>
            <a:p>
              <a:pPr algn="ctr"/>
              <a:r>
                <a:rPr lang="en-GB" sz="3200" b="0">
                  <a:solidFill>
                    <a:schemeClr val="accent6">
                      <a:lumMod val="50000"/>
                    </a:schemeClr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Substantive Concepts </a:t>
              </a:r>
            </a:p>
          </p:txBody>
        </p:sp>
        <p:pic>
          <p:nvPicPr>
            <p:cNvPr id="123" name="Picture 1" descr="Macintosh HD:Users:nicholasgarrick:Dropbox:1 LupL:6 Resources:Images and Icons:Icons:Geographer:icon_5211.png">
              <a:extLst>
                <a:ext uri="{FF2B5EF4-FFF2-40B4-BE49-F238E27FC236}">
                  <a16:creationId xmlns:a16="http://schemas.microsoft.com/office/drawing/2014/main" id="{5933F2E7-1085-425A-8C42-55B17BC3805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679" y="3227210"/>
              <a:ext cx="1223996" cy="1223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ABDF190C-99B1-96E0-2589-7ADE751F9721}"/>
                </a:ext>
              </a:extLst>
            </p:cNvPr>
            <p:cNvSpPr/>
            <p:nvPr userDrawn="1"/>
          </p:nvSpPr>
          <p:spPr>
            <a:xfrm>
              <a:off x="2284992" y="4136928"/>
              <a:ext cx="1836223" cy="986274"/>
            </a:xfrm>
            <a:prstGeom prst="rect">
              <a:avLst/>
            </a:prstGeom>
            <a:noFill/>
            <a:effectLst/>
          </p:spPr>
          <p:txBody>
            <a:bodyPr wrap="none" lIns="91440" tIns="45720" rIns="91440" bIns="45720">
              <a:prstTxWarp prst="textArchDown">
                <a:avLst>
                  <a:gd name="adj" fmla="val 96006"/>
                </a:avLst>
              </a:prstTxWarp>
              <a:spAutoFit/>
            </a:bodyPr>
            <a:lstStyle/>
            <a:p>
              <a:pPr algn="ctr"/>
              <a:r>
                <a:rPr lang="en-GB" sz="1800" b="0" cap="none" spc="0">
                  <a:ln w="0"/>
                  <a:solidFill>
                    <a:schemeClr val="tx1"/>
                  </a:solidFill>
                  <a:effectLst/>
                  <a:latin typeface="Twinkl Cursive Looped" panose="02000000000000000000" pitchFamily="2" charset="77"/>
                </a:rPr>
                <a:t>Compassion</a:t>
              </a:r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F10CB9A-0563-7994-F4F6-D8D1C21D8F1D}"/>
                </a:ext>
              </a:extLst>
            </p:cNvPr>
            <p:cNvSpPr/>
            <p:nvPr userDrawn="1"/>
          </p:nvSpPr>
          <p:spPr>
            <a:xfrm>
              <a:off x="4563705" y="2476891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0660" tIns="230660" rIns="230660" bIns="2306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600" b="0" kern="1200">
                  <a:solidFill>
                    <a:schemeClr val="accent6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Physical Geography</a:t>
              </a:r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3955DE8C-62E0-B6BD-466B-0822B74EFCB0}"/>
                </a:ext>
              </a:extLst>
            </p:cNvPr>
            <p:cNvSpPr/>
            <p:nvPr userDrawn="1"/>
          </p:nvSpPr>
          <p:spPr>
            <a:xfrm>
              <a:off x="3772300" y="4912586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CCCCFF"/>
            </a:solidFill>
            <a:ln w="38100"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5580" tIns="225580" rIns="225580" bIns="22558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b="0" kern="1200">
                  <a:solidFill>
                    <a:srgbClr val="7030A0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Environmental Impact &amp; Sustainability</a:t>
              </a:r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C8AD00B-1488-7B01-833C-58DA93753B62}"/>
                </a:ext>
              </a:extLst>
            </p:cNvPr>
            <p:cNvSpPr/>
            <p:nvPr userDrawn="1"/>
          </p:nvSpPr>
          <p:spPr>
            <a:xfrm>
              <a:off x="1211259" y="4912586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FFCCCC"/>
            </a:solidFill>
            <a:ln w="38100">
              <a:solidFill>
                <a:srgbClr val="C3580C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0660" tIns="230660" rIns="230660" bIns="2306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600" b="0" kern="1200">
                  <a:solidFill>
                    <a:srgbClr val="C3580C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Human Geography</a:t>
              </a:r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7E219200-6D09-1673-C4B7-4A7F189B6360}"/>
                </a:ext>
              </a:extLst>
            </p:cNvPr>
            <p:cNvSpPr/>
            <p:nvPr userDrawn="1"/>
          </p:nvSpPr>
          <p:spPr>
            <a:xfrm>
              <a:off x="419854" y="2476891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DDEAF8"/>
            </a:solidFill>
            <a:ln w="38100">
              <a:solidFill>
                <a:srgbClr val="4574C4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8120" tIns="228120" rIns="228120" bIns="22812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b="0" kern="1200">
                  <a:solidFill>
                    <a:srgbClr val="4574C4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Cultural awareness &amp; diversity </a:t>
              </a:r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0E588B38-4903-256F-08B6-FA68FD0805ED}"/>
                </a:ext>
              </a:extLst>
            </p:cNvPr>
            <p:cNvSpPr/>
            <p:nvPr userDrawn="1"/>
          </p:nvSpPr>
          <p:spPr>
            <a:xfrm>
              <a:off x="2491779" y="971549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FFF2CC"/>
            </a:solidFill>
            <a:ln w="38100">
              <a:solidFill>
                <a:srgbClr val="FFC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5740" tIns="235740" rIns="235740" bIns="23574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000" b="0" kern="1200">
                  <a:solidFill>
                    <a:srgbClr val="FFC000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Place, Space &amp; Scale</a:t>
              </a:r>
            </a:p>
          </p:txBody>
        </p:sp>
      </p:grpSp>
      <p:pic>
        <p:nvPicPr>
          <p:cNvPr id="130" name="Picture 129">
            <a:extLst>
              <a:ext uri="{FF2B5EF4-FFF2-40B4-BE49-F238E27FC236}">
                <a16:creationId xmlns:a16="http://schemas.microsoft.com/office/drawing/2014/main" id="{97C5EB9C-5C23-A0E5-834A-93D516EB28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68746" y="713681"/>
            <a:ext cx="5566957" cy="569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92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F31070-AF5E-9C1E-7965-8FF24EB0F38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9D23409-95E1-96FF-02C9-973F72D34B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785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F47FFF7-129D-F356-260B-EE9AA89ED6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33A436-9AD0-6EB1-1B41-6A171B90C01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B0E7BA-6EAE-D08A-1FCC-62C1FE7503AA}"/>
              </a:ext>
            </a:extLst>
          </p:cNvPr>
          <p:cNvGrpSpPr/>
          <p:nvPr userDrawn="1"/>
        </p:nvGrpSpPr>
        <p:grpSpPr>
          <a:xfrm>
            <a:off x="4033305" y="4320166"/>
            <a:ext cx="2317966" cy="2317966"/>
            <a:chOff x="1553560" y="1499185"/>
            <a:chExt cx="2317966" cy="231796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84133D9-5AC0-8DD6-1A41-D29BD6942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6" name="Picture 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A6CB761-C3C7-F47D-403A-ED9207EEE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F77284F-51D9-634A-0F5E-D1CBB24A6047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DACBC5E-751B-6549-DAA9-6F6A320D12AC}"/>
              </a:ext>
            </a:extLst>
          </p:cNvPr>
          <p:cNvGrpSpPr/>
          <p:nvPr userDrawn="1"/>
        </p:nvGrpSpPr>
        <p:grpSpPr>
          <a:xfrm>
            <a:off x="2158640" y="4318660"/>
            <a:ext cx="2317967" cy="2317967"/>
            <a:chOff x="2033634" y="4440139"/>
            <a:chExt cx="2317967" cy="231796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750ADC8-FA6D-B5F2-DD3D-BE49D9DFE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11" name="Picture 1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CF5305F-28E6-4887-9723-5B2646EB8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E0DE58-9E8F-8633-0D5B-D8280D702237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CCCE4B1-14E2-2D63-6E22-C9B5905A495F}"/>
              </a:ext>
            </a:extLst>
          </p:cNvPr>
          <p:cNvGrpSpPr/>
          <p:nvPr userDrawn="1"/>
        </p:nvGrpSpPr>
        <p:grpSpPr>
          <a:xfrm>
            <a:off x="5905242" y="4322973"/>
            <a:ext cx="2387476" cy="2311677"/>
            <a:chOff x="3849998" y="4440139"/>
            <a:chExt cx="2387476" cy="231167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1BB681A-CFA7-BBEE-E3A1-5900EC879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632FF018-677E-F97E-EEF8-64143325F6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DFAFA1-5EFF-B20A-5A46-E7D2A7B25FEC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B455D9D-0132-B904-A09B-3A133DB8610D}"/>
              </a:ext>
            </a:extLst>
          </p:cNvPr>
          <p:cNvGrpSpPr/>
          <p:nvPr userDrawn="1"/>
        </p:nvGrpSpPr>
        <p:grpSpPr>
          <a:xfrm>
            <a:off x="292714" y="4320798"/>
            <a:ext cx="2311678" cy="2311678"/>
            <a:chOff x="265848" y="1468917"/>
            <a:chExt cx="2311678" cy="231167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637C537-BE58-19D3-7E8E-B7D65C707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19661AF-A39A-4DC6-EC7D-28D8E5F1DCA0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21" name="Picture 20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DF2A0A31-15ED-D06A-1320-CABF9CE7161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22" name="Picture 21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9FB3B5E6-114F-6C9F-2283-506FFB62071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8F15A5B-7E73-DA74-10D6-6A554A21BB9F}"/>
                </a:ext>
              </a:extLst>
            </p:cNvPr>
            <p:cNvSpPr txBox="1"/>
            <p:nvPr/>
          </p:nvSpPr>
          <p:spPr>
            <a:xfrm>
              <a:off x="667424" y="1899565"/>
              <a:ext cx="14733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AF7E76E-3FFE-2576-4C04-DF940F6DF5E1}"/>
              </a:ext>
            </a:extLst>
          </p:cNvPr>
          <p:cNvGrpSpPr/>
          <p:nvPr userDrawn="1"/>
        </p:nvGrpSpPr>
        <p:grpSpPr>
          <a:xfrm>
            <a:off x="7759743" y="4318660"/>
            <a:ext cx="2311677" cy="2311677"/>
            <a:chOff x="1419928" y="1940604"/>
            <a:chExt cx="2311677" cy="2311677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5438D7C-F728-8270-3275-716B0465C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3BB2CB9-7ECF-1026-61C7-91EB16250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B587C48-1743-2843-2957-2DE389D9D9CE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6140806-5EBA-44BB-AF10-3D4BE209A632}"/>
              </a:ext>
            </a:extLst>
          </p:cNvPr>
          <p:cNvGrpSpPr/>
          <p:nvPr userDrawn="1"/>
        </p:nvGrpSpPr>
        <p:grpSpPr>
          <a:xfrm>
            <a:off x="2167658" y="2450369"/>
            <a:ext cx="2317966" cy="2317966"/>
            <a:chOff x="1553560" y="1499185"/>
            <a:chExt cx="2317966" cy="2317966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D61DC61-5892-FC05-6B84-2D6E0E326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29" name="Picture 2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613EA4DD-D981-559D-D249-E13EFF3F6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DCF636C-6035-ED70-EEBA-CD68E76F05BA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CBDCBBB-2370-DD68-6496-DA0018F3E1B2}"/>
              </a:ext>
            </a:extLst>
          </p:cNvPr>
          <p:cNvGrpSpPr/>
          <p:nvPr userDrawn="1"/>
        </p:nvGrpSpPr>
        <p:grpSpPr>
          <a:xfrm>
            <a:off x="292993" y="2448863"/>
            <a:ext cx="2317967" cy="2317967"/>
            <a:chOff x="2033634" y="4440139"/>
            <a:chExt cx="2317967" cy="2317967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C8B5676-B1E1-0580-C685-656808825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33" name="Picture 3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F56B99F-8E55-3F1F-57AA-FEB4E5081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BCA3FF2-EC85-EDAA-B896-204D01D91126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A94D6C9-28CB-9638-647C-3620031E5C39}"/>
              </a:ext>
            </a:extLst>
          </p:cNvPr>
          <p:cNvGrpSpPr/>
          <p:nvPr userDrawn="1"/>
        </p:nvGrpSpPr>
        <p:grpSpPr>
          <a:xfrm>
            <a:off x="4039595" y="2453176"/>
            <a:ext cx="2387476" cy="2311677"/>
            <a:chOff x="3849998" y="4440139"/>
            <a:chExt cx="2387476" cy="2311677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816B433-0165-D5EE-10EC-2644A5131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3F4BD0D3-A424-2BF4-60D4-331EA29069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0C39637-7A44-466A-83D9-6027ED3DAF9A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75DC258-DF07-9793-19A2-4EE02B6A7662}"/>
              </a:ext>
            </a:extLst>
          </p:cNvPr>
          <p:cNvGrpSpPr/>
          <p:nvPr userDrawn="1"/>
        </p:nvGrpSpPr>
        <p:grpSpPr>
          <a:xfrm>
            <a:off x="5894096" y="2448863"/>
            <a:ext cx="2311677" cy="2311677"/>
            <a:chOff x="1419928" y="1940604"/>
            <a:chExt cx="2311677" cy="2311677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A874362E-2E70-EE77-AFA6-738F21BD4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42" name="Picture 4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84AA8B1-186E-40A5-833D-CCF484A7E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424F76-4E73-2794-A70D-28D6A2818D31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9F0EFFE-6ED9-1065-5084-7DF1F1408453}"/>
              </a:ext>
            </a:extLst>
          </p:cNvPr>
          <p:cNvGrpSpPr/>
          <p:nvPr userDrawn="1"/>
        </p:nvGrpSpPr>
        <p:grpSpPr>
          <a:xfrm>
            <a:off x="7759121" y="2451300"/>
            <a:ext cx="2317967" cy="2317967"/>
            <a:chOff x="2033634" y="4440139"/>
            <a:chExt cx="2317967" cy="2317967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2E974C3-C480-1A0D-3817-18B365DF3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46" name="Picture 4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A20432E-ED9F-F50E-A728-216436A72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729BEF4-2C19-A030-88EF-7C5E9A542999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6A4462-B30F-ABC3-2620-A1300E3DB64A}"/>
              </a:ext>
            </a:extLst>
          </p:cNvPr>
          <p:cNvGrpSpPr/>
          <p:nvPr userDrawn="1"/>
        </p:nvGrpSpPr>
        <p:grpSpPr>
          <a:xfrm>
            <a:off x="5899000" y="566030"/>
            <a:ext cx="2317966" cy="2317966"/>
            <a:chOff x="1553560" y="1499185"/>
            <a:chExt cx="2317966" cy="231796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6F202F7D-F59A-2922-A35B-6EF7B9049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50" name="Picture 4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69DE13C-04F6-ED91-C38B-4891A751C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EA6EB85-C0E0-CC14-08AB-228B78367F18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0BD50B0-D11C-FFDD-6883-9E94630EA61E}"/>
              </a:ext>
            </a:extLst>
          </p:cNvPr>
          <p:cNvGrpSpPr/>
          <p:nvPr userDrawn="1"/>
        </p:nvGrpSpPr>
        <p:grpSpPr>
          <a:xfrm>
            <a:off x="4033584" y="576120"/>
            <a:ext cx="2317967" cy="2317967"/>
            <a:chOff x="2033634" y="4440139"/>
            <a:chExt cx="2317967" cy="2317967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01E1D438-0771-0C89-6E28-CFF24A7DC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54" name="Picture 5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7BD831F-174F-07E8-491A-C86DD1724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07592B2-1A49-F724-499A-B698500F3783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FD90CDA-2F2B-034F-0D5F-002BCCFB9663}"/>
              </a:ext>
            </a:extLst>
          </p:cNvPr>
          <p:cNvGrpSpPr/>
          <p:nvPr userDrawn="1"/>
        </p:nvGrpSpPr>
        <p:grpSpPr>
          <a:xfrm>
            <a:off x="7759121" y="579892"/>
            <a:ext cx="2387476" cy="2311677"/>
            <a:chOff x="3849998" y="4440139"/>
            <a:chExt cx="2387476" cy="2311677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93975E9C-FA02-6850-40F9-FF72CC162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97AB2695-C820-6C8A-2D13-C93B71B944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A53D013-0809-9220-22C0-F39061E7C066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CAAFB92-C423-A493-64C7-6F1AE517D4A9}"/>
              </a:ext>
            </a:extLst>
          </p:cNvPr>
          <p:cNvGrpSpPr/>
          <p:nvPr userDrawn="1"/>
        </p:nvGrpSpPr>
        <p:grpSpPr>
          <a:xfrm>
            <a:off x="9632885" y="2456658"/>
            <a:ext cx="2311677" cy="2311677"/>
            <a:chOff x="1419928" y="1940604"/>
            <a:chExt cx="2311677" cy="2311677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AB932071-8038-8842-F01C-E09D1CD6F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62" name="Picture 6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B2FAC58-E151-DC5A-6BB7-84246C09A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7224885-8832-BD36-D825-6A4202D0EF48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8B10227-369F-23F8-1E29-877599445452}"/>
              </a:ext>
            </a:extLst>
          </p:cNvPr>
          <p:cNvGrpSpPr/>
          <p:nvPr userDrawn="1"/>
        </p:nvGrpSpPr>
        <p:grpSpPr>
          <a:xfrm>
            <a:off x="9630342" y="586580"/>
            <a:ext cx="2311678" cy="2311678"/>
            <a:chOff x="265848" y="1468917"/>
            <a:chExt cx="2311678" cy="2311678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B9D3BD6-1F78-4E6D-26FD-24A9E0885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3424879-852A-F455-4716-A39839A2A9E7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68" name="Picture 67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6A5414C9-42D1-8EF9-D942-164B29D31A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69" name="Picture 68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5FB1C1FD-67A0-A159-407E-75877D9F69E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F472E5B-A091-D9DB-D62B-89C7D55FB464}"/>
                </a:ext>
              </a:extLst>
            </p:cNvPr>
            <p:cNvSpPr txBox="1"/>
            <p:nvPr/>
          </p:nvSpPr>
          <p:spPr>
            <a:xfrm>
              <a:off x="667424" y="1899565"/>
              <a:ext cx="14733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7779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103162" y="1752700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9284B1C-ACB5-B703-9C2A-5839A1AF4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000"/>
          <a:stretch>
            <a:fillRect/>
          </a:stretch>
        </p:blipFill>
        <p:spPr>
          <a:xfrm>
            <a:off x="31378" y="883956"/>
            <a:ext cx="902901" cy="77649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E49E2FC-EFFD-F8D2-A5E6-3F1EBDB42E7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C56C45F-E666-5B60-5705-8C2C29EC8C74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CD9B0-F4EC-6FAA-B969-3D3FD9CD7AEC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0CF3A17F-15B9-9926-B98A-D4AA988019A8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57" name="Rectangle: Rounded Corners 12">
                    <a:extLst>
                      <a:ext uri="{FF2B5EF4-FFF2-40B4-BE49-F238E27FC236}">
                        <a16:creationId xmlns:a16="http://schemas.microsoft.com/office/drawing/2014/main" id="{95F931B1-CDE4-AB61-6D8B-FE6C5E6749C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tangle: Rounded Corners 4">
                    <a:extLst>
                      <a:ext uri="{FF2B5EF4-FFF2-40B4-BE49-F238E27FC236}">
                        <a16:creationId xmlns:a16="http://schemas.microsoft.com/office/drawing/2014/main" id="{F1B22BAA-DCE2-E6D1-D5FA-DD4FA64D46B3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ED2FF4C-14AE-95FD-F4AC-EEBA4A4A9192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" name="Picture 9">
                    <a:extLst>
                      <a:ext uri="{FF2B5EF4-FFF2-40B4-BE49-F238E27FC236}">
                        <a16:creationId xmlns:a16="http://schemas.microsoft.com/office/drawing/2014/main" id="{EBE5FFFA-7A0C-3B93-9250-F9B812D6F9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1E27B828-01EF-0DAE-18EB-3F15D4E733B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5FDD96-05D1-7D18-81C8-ABA6F57E351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A1F722-7CC2-D5FC-8C43-51680DC524C5}"/>
                </a:ext>
              </a:extLst>
            </p:cNvPr>
            <p:cNvSpPr txBox="1"/>
            <p:nvPr/>
          </p:nvSpPr>
          <p:spPr>
            <a:xfrm>
              <a:off x="6767704" y="380238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and compare physical features in my region and in the Mediterranean. I can explain what a biome is and give examples from the Mediterranean and the UK.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0375B82-E516-08FE-4D25-AF3CBF3C3AE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B3DC981-845B-7B7F-319F-76EEC4A80B5D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167391BC-833A-7FD1-4EEB-EA868F88DBC4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C39A79FA-DEED-E0F2-163D-13F59230E5CA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0" name="Rectangle: Rounded Corners 9">
                    <a:extLst>
                      <a:ext uri="{FF2B5EF4-FFF2-40B4-BE49-F238E27FC236}">
                        <a16:creationId xmlns:a16="http://schemas.microsoft.com/office/drawing/2014/main" id="{6D67646D-1660-B235-318B-C1495E2E165C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tangle: Rounded Corners 4">
                    <a:extLst>
                      <a:ext uri="{FF2B5EF4-FFF2-40B4-BE49-F238E27FC236}">
                        <a16:creationId xmlns:a16="http://schemas.microsoft.com/office/drawing/2014/main" id="{469E9C14-B6CA-F438-6CE2-0E29A88B783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1B3829AD-9F58-2A26-37D6-D4F3040499E2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8" name="Picture 107">
                    <a:extLst>
                      <a:ext uri="{FF2B5EF4-FFF2-40B4-BE49-F238E27FC236}">
                        <a16:creationId xmlns:a16="http://schemas.microsoft.com/office/drawing/2014/main" id="{F1F232DA-1391-C60E-B25A-EECF098368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DAAC683A-4E80-8630-07E4-BDD3F3A96DBD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0AC895A-3291-F8F9-FA35-69065F6A6BE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4DE1B41-AFF4-BE3A-C9A8-39183C6B8017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the difference between weather and climate and know that some places are hotter or colder. I can name and compare physical features in my local area and Guizhou.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7CFE614-1889-EAC3-4693-70121470C32E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4172FF4-59AA-9592-DF0B-F72A4298D96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48C91D26-3183-BEE2-3FED-F9CF5AE5F7A9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7" name="Rectangle: Rounded Corners 3">
                  <a:extLst>
                    <a:ext uri="{FF2B5EF4-FFF2-40B4-BE49-F238E27FC236}">
                      <a16:creationId xmlns:a16="http://schemas.microsoft.com/office/drawing/2014/main" id="{47BB46CD-FD23-4BF9-7839-26C483FD8B07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6AFEFF20-7781-0E28-7335-B293936BFB2C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19" name="Picture 118">
                    <a:extLst>
                      <a:ext uri="{FF2B5EF4-FFF2-40B4-BE49-F238E27FC236}">
                        <a16:creationId xmlns:a16="http://schemas.microsoft.com/office/drawing/2014/main" id="{085357BB-C861-4F4B-DC47-D25F56C709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46A5B6BE-8B2D-782B-B8E8-4D64A84A75D9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F2F78A2-F0AF-6C40-2384-F08761224904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38D4198-A593-6D80-4336-4468B93A0135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what the weather and the four seasons are. I know some physical features around my local area.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29C1860-61FE-78E7-8BAB-EAE59EA2837B}"/>
              </a:ext>
            </a:extLst>
          </p:cNvPr>
          <p:cNvGrpSpPr/>
          <p:nvPr userDrawn="1"/>
        </p:nvGrpSpPr>
        <p:grpSpPr>
          <a:xfrm>
            <a:off x="3511272" y="1660451"/>
            <a:ext cx="8322595" cy="929821"/>
            <a:chOff x="3511272" y="1660451"/>
            <a:chExt cx="8322595" cy="929821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39F2FAAE-1107-01E4-0BCD-8DEEA6A8667B}"/>
                </a:ext>
              </a:extLst>
            </p:cNvPr>
            <p:cNvGrpSpPr/>
            <p:nvPr/>
          </p:nvGrpSpPr>
          <p:grpSpPr>
            <a:xfrm>
              <a:off x="3511272" y="1660451"/>
              <a:ext cx="8322595" cy="929821"/>
              <a:chOff x="3511272" y="1660451"/>
              <a:chExt cx="8322595" cy="929821"/>
            </a:xfrm>
          </p:grpSpPr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5EDC0A46-9087-838A-00C5-AA846EF87A19}"/>
                  </a:ext>
                </a:extLst>
              </p:cNvPr>
              <p:cNvGrpSpPr/>
              <p:nvPr/>
            </p:nvGrpSpPr>
            <p:grpSpPr>
              <a:xfrm>
                <a:off x="3511272" y="1660451"/>
                <a:ext cx="8322595" cy="929821"/>
                <a:chOff x="3511272" y="1660451"/>
                <a:chExt cx="8322595" cy="929821"/>
              </a:xfrm>
            </p:grpSpPr>
            <p:grpSp>
              <p:nvGrpSpPr>
                <p:cNvPr id="126" name="Group 125">
                  <a:extLst>
                    <a:ext uri="{FF2B5EF4-FFF2-40B4-BE49-F238E27FC236}">
                      <a16:creationId xmlns:a16="http://schemas.microsoft.com/office/drawing/2014/main" id="{3947AA89-7FF4-09D3-E965-E4AEC98ACC9C}"/>
                    </a:ext>
                  </a:extLst>
                </p:cNvPr>
                <p:cNvGrpSpPr/>
                <p:nvPr/>
              </p:nvGrpSpPr>
              <p:grpSpPr>
                <a:xfrm>
                  <a:off x="3533230" y="1690272"/>
                  <a:ext cx="8300637" cy="900000"/>
                  <a:chOff x="7998350" y="1737362"/>
                  <a:chExt cx="1713901" cy="2844795"/>
                </a:xfrm>
              </p:grpSpPr>
              <p:sp>
                <p:nvSpPr>
                  <p:cNvPr id="130" name="Rectangle: Rounded Corners 18">
                    <a:extLst>
                      <a:ext uri="{FF2B5EF4-FFF2-40B4-BE49-F238E27FC236}">
                        <a16:creationId xmlns:a16="http://schemas.microsoft.com/office/drawing/2014/main" id="{5DBD66EA-9182-DC57-27DD-D06B8F56D955}"/>
                      </a:ext>
                    </a:extLst>
                  </p:cNvPr>
                  <p:cNvSpPr/>
                  <p:nvPr/>
                </p:nvSpPr>
                <p:spPr>
                  <a:xfrm>
                    <a:off x="7998350" y="1737362"/>
                    <a:ext cx="1713901" cy="2844795"/>
                  </a:xfrm>
                  <a:prstGeom prst="roundRect">
                    <a:avLst/>
                  </a:prstGeom>
                  <a:solidFill>
                    <a:srgbClr val="F9D2B5"/>
                  </a:solidFill>
                  <a:ln>
                    <a:solidFill>
                      <a:srgbClr val="F9D2B5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1" name="Rectangle: Rounded Corners 4">
                    <a:extLst>
                      <a:ext uri="{FF2B5EF4-FFF2-40B4-BE49-F238E27FC236}">
                        <a16:creationId xmlns:a16="http://schemas.microsoft.com/office/drawing/2014/main" id="{619184A2-912D-563E-192D-4B48762312D4}"/>
                      </a:ext>
                    </a:extLst>
                  </p:cNvPr>
                  <p:cNvSpPr txBox="1"/>
                  <p:nvPr/>
                </p:nvSpPr>
                <p:spPr>
                  <a:xfrm>
                    <a:off x="8082016" y="1821028"/>
                    <a:ext cx="1546569" cy="2677463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BDE4959B-624B-7224-37A9-0F6D0A13F278}"/>
                    </a:ext>
                  </a:extLst>
                </p:cNvPr>
                <p:cNvGrpSpPr/>
                <p:nvPr/>
              </p:nvGrpSpPr>
              <p:grpSpPr>
                <a:xfrm>
                  <a:off x="3511272" y="1660451"/>
                  <a:ext cx="801261" cy="903352"/>
                  <a:chOff x="4418485" y="450020"/>
                  <a:chExt cx="801261" cy="903352"/>
                </a:xfrm>
              </p:grpSpPr>
              <p:pic>
                <p:nvPicPr>
                  <p:cNvPr id="128" name="Picture 127">
                    <a:extLst>
                      <a:ext uri="{FF2B5EF4-FFF2-40B4-BE49-F238E27FC236}">
                        <a16:creationId xmlns:a16="http://schemas.microsoft.com/office/drawing/2014/main" id="{64CC1C35-4D66-2206-A7FF-A8C77A5288D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1848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4FDB12D1-757F-5405-1372-D80C3AD6AE61}"/>
                      </a:ext>
                    </a:extLst>
                  </p:cNvPr>
                  <p:cNvSpPr txBox="1"/>
                  <p:nvPr/>
                </p:nvSpPr>
                <p:spPr>
                  <a:xfrm>
                    <a:off x="466042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5</a:t>
                    </a:r>
                  </a:p>
                </p:txBody>
              </p:sp>
            </p:grpSp>
          </p:grp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B466E44-6DFF-9C1D-ABB6-79628250701B}"/>
                  </a:ext>
                </a:extLst>
              </p:cNvPr>
              <p:cNvSpPr txBox="1"/>
              <p:nvPr/>
            </p:nvSpPr>
            <p:spPr>
              <a:xfrm>
                <a:off x="4392766" y="1788757"/>
                <a:ext cx="2299228" cy="738664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Waterways in the UK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Significant cities around the world</a:t>
                </a:r>
              </a:p>
            </p:txBody>
          </p:sp>
        </p:grp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745D34E-F28E-4226-EE7E-901760D239A7}"/>
                </a:ext>
              </a:extLst>
            </p:cNvPr>
            <p:cNvSpPr txBox="1"/>
            <p:nvPr/>
          </p:nvSpPr>
          <p:spPr>
            <a:xfrm>
              <a:off x="6824631" y="1783572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explain how the water cycle works and why it is important. I can explain the parts of river and how they change the land.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9171E4A-419D-1960-1660-B47E01E3D572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E0D34104-9B75-EA51-A3CC-155587BBEB3D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211C4DDD-4E45-64F7-1A59-B29BB7FEA2C4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7" name="Rectangle: Rounded Corners 15">
                  <a:extLst>
                    <a:ext uri="{FF2B5EF4-FFF2-40B4-BE49-F238E27FC236}">
                      <a16:creationId xmlns:a16="http://schemas.microsoft.com/office/drawing/2014/main" id="{D9DF815D-BC98-19CD-3271-2B6062CAC9A9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5AEB2E4E-22C4-9E91-A37D-9648508D2A4A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39" name="Picture 138">
                    <a:extLst>
                      <a:ext uri="{FF2B5EF4-FFF2-40B4-BE49-F238E27FC236}">
                        <a16:creationId xmlns:a16="http://schemas.microsoft.com/office/drawing/2014/main" id="{B28AD876-015C-6447-58F1-EA22451BFF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22E26D94-288A-3313-7620-18292CBDD54A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C40D716-2DF9-7BBE-8085-C72039D586A2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43B4708-3D6A-D4BF-1405-4FAA78DDDEAD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A372671-89C9-6BF2-EA12-358FAE99D8D5}"/>
              </a:ext>
            </a:extLst>
          </p:cNvPr>
          <p:cNvGrpSpPr/>
          <p:nvPr userDrawn="1"/>
        </p:nvGrpSpPr>
        <p:grpSpPr>
          <a:xfrm>
            <a:off x="3508831" y="646450"/>
            <a:ext cx="8325036" cy="931047"/>
            <a:chOff x="3508831" y="646450"/>
            <a:chExt cx="8325036" cy="931047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9488241F-ADA7-7D6B-D773-608BBD45D8A7}"/>
                </a:ext>
              </a:extLst>
            </p:cNvPr>
            <p:cNvGrpSpPr/>
            <p:nvPr userDrawn="1"/>
          </p:nvGrpSpPr>
          <p:grpSpPr>
            <a:xfrm>
              <a:off x="3508831" y="646450"/>
              <a:ext cx="8325036" cy="931047"/>
              <a:chOff x="3508831" y="646450"/>
              <a:chExt cx="8325036" cy="931047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66445721-2270-F8D7-6DC2-BA303CB795B7}"/>
                  </a:ext>
                </a:extLst>
              </p:cNvPr>
              <p:cNvGrpSpPr/>
              <p:nvPr/>
            </p:nvGrpSpPr>
            <p:grpSpPr>
              <a:xfrm>
                <a:off x="3508831" y="646450"/>
                <a:ext cx="8325036" cy="931047"/>
                <a:chOff x="3508831" y="646450"/>
                <a:chExt cx="8325036" cy="931047"/>
              </a:xfrm>
            </p:grpSpPr>
            <p:grpSp>
              <p:nvGrpSpPr>
                <p:cNvPr id="146" name="Group 145">
                  <a:extLst>
                    <a:ext uri="{FF2B5EF4-FFF2-40B4-BE49-F238E27FC236}">
                      <a16:creationId xmlns:a16="http://schemas.microsoft.com/office/drawing/2014/main" id="{453BD3BE-E3F4-B655-0EC9-746E213482EC}"/>
                    </a:ext>
                  </a:extLst>
                </p:cNvPr>
                <p:cNvGrpSpPr/>
                <p:nvPr/>
              </p:nvGrpSpPr>
              <p:grpSpPr>
                <a:xfrm>
                  <a:off x="3533230" y="677497"/>
                  <a:ext cx="8300637" cy="900000"/>
                  <a:chOff x="1999694" y="1717038"/>
                  <a:chExt cx="1713901" cy="2885442"/>
                </a:xfrm>
              </p:grpSpPr>
              <p:sp>
                <p:nvSpPr>
                  <p:cNvPr id="150" name="Rectangle: Rounded Corners 23">
                    <a:extLst>
                      <a:ext uri="{FF2B5EF4-FFF2-40B4-BE49-F238E27FC236}">
                        <a16:creationId xmlns:a16="http://schemas.microsoft.com/office/drawing/2014/main" id="{ABC2CE35-33F1-E8D1-7761-CA31CF364439}"/>
                      </a:ext>
                    </a:extLst>
                  </p:cNvPr>
                  <p:cNvSpPr/>
                  <p:nvPr/>
                </p:nvSpPr>
                <p:spPr>
                  <a:xfrm>
                    <a:off x="1999694" y="1717038"/>
                    <a:ext cx="1713901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1" name="Rectangle: Rounded Corners 4">
                    <a:extLst>
                      <a:ext uri="{FF2B5EF4-FFF2-40B4-BE49-F238E27FC236}">
                        <a16:creationId xmlns:a16="http://schemas.microsoft.com/office/drawing/2014/main" id="{7A098AB1-3977-8B4D-B21D-94AB37D45D33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483D36E9-76E8-AF69-0A69-F691923CD2F7}"/>
                    </a:ext>
                  </a:extLst>
                </p:cNvPr>
                <p:cNvGrpSpPr/>
                <p:nvPr/>
              </p:nvGrpSpPr>
              <p:grpSpPr>
                <a:xfrm>
                  <a:off x="3508831" y="646450"/>
                  <a:ext cx="801261" cy="903352"/>
                  <a:chOff x="4407115" y="450020"/>
                  <a:chExt cx="801261" cy="903352"/>
                </a:xfrm>
              </p:grpSpPr>
              <p:pic>
                <p:nvPicPr>
                  <p:cNvPr id="148" name="Picture 147">
                    <a:extLst>
                      <a:ext uri="{FF2B5EF4-FFF2-40B4-BE49-F238E27FC236}">
                        <a16:creationId xmlns:a16="http://schemas.microsoft.com/office/drawing/2014/main" id="{78145127-5C2E-B5E8-2272-C20BA081ED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0711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97A24108-D87E-E3B9-92EA-DAD7C52E86F3}"/>
                      </a:ext>
                    </a:extLst>
                  </p:cNvPr>
                  <p:cNvSpPr txBox="1"/>
                  <p:nvPr/>
                </p:nvSpPr>
                <p:spPr>
                  <a:xfrm>
                    <a:off x="464905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6</a:t>
                    </a:r>
                  </a:p>
                </p:txBody>
              </p:sp>
            </p:grp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303CCC0-4B8E-A763-1800-3D4790A36847}"/>
                  </a:ext>
                </a:extLst>
              </p:cNvPr>
              <p:cNvSpPr txBox="1"/>
              <p:nvPr/>
            </p:nvSpPr>
            <p:spPr>
              <a:xfrm>
                <a:off x="6824631" y="766021"/>
                <a:ext cx="4882103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400" b="0" i="0">
                    <a:solidFill>
                      <a:prstClr val="black"/>
                    </a:solidFill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 know that the Earth is made of layers. I can explain how the movement of tectonic plates cause the creation of mountains, volcanoes and earthquakes. </a:t>
                </a:r>
                <a:endPara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5350B347-0E0D-A98B-7388-402B03492D33}"/>
                </a:ext>
              </a:extLst>
            </p:cNvPr>
            <p:cNvSpPr txBox="1"/>
            <p:nvPr userDrawn="1"/>
          </p:nvSpPr>
          <p:spPr>
            <a:xfrm>
              <a:off x="4392765" y="692560"/>
              <a:ext cx="2299228" cy="867930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Highlands in the UK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Mountains, volcanoes and earthquakes around the world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98A1B6D-67F7-F99F-9C09-FE4E90651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5E3F61D-B928-3510-A776-3C3F6586BED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Physical Geography</a:t>
            </a:r>
          </a:p>
        </p:txBody>
      </p:sp>
    </p:spTree>
    <p:extLst>
      <p:ext uri="{BB962C8B-B14F-4D97-AF65-F5344CB8AC3E}">
        <p14:creationId xmlns:p14="http://schemas.microsoft.com/office/powerpoint/2010/main" val="26063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781BF93-85A7-C744-36C2-0F821E8738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A7A137-46BE-41B3-8129-A8C4DD05848F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2023D4C-E739-574B-0D0E-AE5D4969B2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157A84E-B2C1-579C-3015-1FBC031412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668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A26F170F-2A34-51B3-CA05-11C54204D4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16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88E71F8-6BAE-0B02-D973-40B20FD54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5030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9726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1311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9572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3968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20CE31-0DB1-CF74-2D30-243CB61C1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155504-0D7D-E12F-2810-C8050974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61449B4-373F-26EB-5DD3-8EA50FF6F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CF9E021-CDAB-AF6F-D110-50079C97376D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CB0474-FA16-FF09-A32D-46D9EB113A2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804A85-EC78-C2DA-D09E-7451F0B086DB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0C7433EE-8E28-A156-C234-1746B0F8A3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38A8B543-CEF5-FC3B-6C84-50A7AB8E57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AF88D0C-1D9F-76B2-0A0C-CA0BF90260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6130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35051010-E4C7-DADD-5092-AAED2F05E9CC}"/>
              </a:ext>
            </a:extLst>
          </p:cNvPr>
          <p:cNvSpPr/>
          <p:nvPr userDrawn="1"/>
        </p:nvSpPr>
        <p:spPr>
          <a:xfrm>
            <a:off x="1250684" y="23797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3" name="Picture 17">
            <a:extLst>
              <a:ext uri="{FF2B5EF4-FFF2-40B4-BE49-F238E27FC236}">
                <a16:creationId xmlns:a16="http://schemas.microsoft.com/office/drawing/2014/main" id="{197E947B-E3E0-4CD7-B4E8-356B924F6B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745" y="1216492"/>
            <a:ext cx="1173543" cy="102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234C38-FE49-3C10-199C-A3C4FABCC831}"/>
              </a:ext>
            </a:extLst>
          </p:cNvPr>
          <p:cNvSpPr txBox="1"/>
          <p:nvPr userDrawn="1"/>
        </p:nvSpPr>
        <p:spPr>
          <a:xfrm>
            <a:off x="2929516" y="769604"/>
            <a:ext cx="3804247" cy="592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50" b="0" i="0" u="sng" dirty="0">
                <a:latin typeface="Twinkl Cursive Looped" panose="02000000000000000000" pitchFamily="2" charset="77"/>
              </a:rPr>
              <a:t>Our Key Question is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F512F890-AB2E-BF34-6796-A5C0736410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0132" y="1369643"/>
            <a:ext cx="5251759" cy="105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 dirty="0"/>
              <a:t>KQ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FE4E48-F36B-6151-CF9F-6BDDD97094F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48000" y="2693156"/>
            <a:ext cx="60960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325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5D9FAA-5F2A-C965-5709-A9EF45085CB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71A9D8C-4901-A95F-F38A-5DA5B05192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8E8DA4D-B326-1396-3FDF-AAF6D1463305}"/>
              </a:ext>
            </a:extLst>
          </p:cNvPr>
          <p:cNvGrpSpPr/>
          <p:nvPr userDrawn="1"/>
        </p:nvGrpSpPr>
        <p:grpSpPr>
          <a:xfrm>
            <a:off x="337910" y="1027775"/>
            <a:ext cx="5580141" cy="5377327"/>
            <a:chOff x="419854" y="971549"/>
            <a:chExt cx="5580141" cy="5377327"/>
          </a:xfrm>
        </p:grpSpPr>
        <p:sp>
          <p:nvSpPr>
            <p:cNvPr id="3" name="Block Arc 2">
              <a:extLst>
                <a:ext uri="{FF2B5EF4-FFF2-40B4-BE49-F238E27FC236}">
                  <a16:creationId xmlns:a16="http://schemas.microsoft.com/office/drawing/2014/main" id="{C18153CF-C3E6-67D5-171B-C8AF46DF58DC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11880000"/>
                <a:gd name="adj2" fmla="val 1620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5" name="Block Arc 4">
              <a:extLst>
                <a:ext uri="{FF2B5EF4-FFF2-40B4-BE49-F238E27FC236}">
                  <a16:creationId xmlns:a16="http://schemas.microsoft.com/office/drawing/2014/main" id="{C4B58509-42E7-295D-DE3E-14FA3BD0D7FA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7560000"/>
                <a:gd name="adj2" fmla="val 1188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6" name="Block Arc 5">
              <a:extLst>
                <a:ext uri="{FF2B5EF4-FFF2-40B4-BE49-F238E27FC236}">
                  <a16:creationId xmlns:a16="http://schemas.microsoft.com/office/drawing/2014/main" id="{B222A3FB-6D7F-733E-6918-917BBEDB8C07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3240000"/>
                <a:gd name="adj2" fmla="val 756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8" name="Block Arc 7">
              <a:extLst>
                <a:ext uri="{FF2B5EF4-FFF2-40B4-BE49-F238E27FC236}">
                  <a16:creationId xmlns:a16="http://schemas.microsoft.com/office/drawing/2014/main" id="{4BDF2386-8534-3AF0-0A03-14EABA25CB5F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20520000"/>
                <a:gd name="adj2" fmla="val 324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0" name="Block Arc 9">
              <a:extLst>
                <a:ext uri="{FF2B5EF4-FFF2-40B4-BE49-F238E27FC236}">
                  <a16:creationId xmlns:a16="http://schemas.microsoft.com/office/drawing/2014/main" id="{72A03C51-A788-AA95-44F8-FDBF93BD22BB}"/>
                </a:ext>
              </a:extLst>
            </p:cNvPr>
            <p:cNvSpPr/>
            <p:nvPr userDrawn="1"/>
          </p:nvSpPr>
          <p:spPr>
            <a:xfrm>
              <a:off x="979667" y="1637988"/>
              <a:ext cx="4460515" cy="4460515"/>
            </a:xfrm>
            <a:prstGeom prst="blockArc">
              <a:avLst>
                <a:gd name="adj1" fmla="val 16200000"/>
                <a:gd name="adj2" fmla="val 20520000"/>
                <a:gd name="adj3" fmla="val 4637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b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BF1E782-D3E9-0304-FF65-10A271804146}"/>
                </a:ext>
              </a:extLst>
            </p:cNvPr>
            <p:cNvSpPr/>
            <p:nvPr userDrawn="1"/>
          </p:nvSpPr>
          <p:spPr>
            <a:xfrm>
              <a:off x="2184003" y="2842324"/>
              <a:ext cx="2051843" cy="2051843"/>
            </a:xfrm>
            <a:custGeom>
              <a:avLst/>
              <a:gdLst>
                <a:gd name="csX0" fmla="*/ 0 w 2051843"/>
                <a:gd name="csY0" fmla="*/ 1025922 h 2051843"/>
                <a:gd name="csX1" fmla="*/ 1025922 w 2051843"/>
                <a:gd name="csY1" fmla="*/ 0 h 2051843"/>
                <a:gd name="csX2" fmla="*/ 2051844 w 2051843"/>
                <a:gd name="csY2" fmla="*/ 1025922 h 2051843"/>
                <a:gd name="csX3" fmla="*/ 1025922 w 2051843"/>
                <a:gd name="csY3" fmla="*/ 2051844 h 2051843"/>
                <a:gd name="csX4" fmla="*/ 0 w 2051843"/>
                <a:gd name="csY4" fmla="*/ 1025922 h 20518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51843" h="2051843">
                  <a:moveTo>
                    <a:pt x="0" y="1025922"/>
                  </a:moveTo>
                  <a:cubicBezTo>
                    <a:pt x="0" y="459321"/>
                    <a:pt x="459321" y="0"/>
                    <a:pt x="1025922" y="0"/>
                  </a:cubicBezTo>
                  <a:cubicBezTo>
                    <a:pt x="1592523" y="0"/>
                    <a:pt x="2051844" y="459321"/>
                    <a:pt x="2051844" y="1025922"/>
                  </a:cubicBezTo>
                  <a:cubicBezTo>
                    <a:pt x="2051844" y="1592523"/>
                    <a:pt x="1592523" y="2051844"/>
                    <a:pt x="1025922" y="2051844"/>
                  </a:cubicBezTo>
                  <a:cubicBezTo>
                    <a:pt x="459321" y="2051844"/>
                    <a:pt x="0" y="1592523"/>
                    <a:pt x="0" y="1025922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1285" tIns="351285" rIns="351285" bIns="351285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4000" b="0" kern="1200"/>
            </a:p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4000" b="0" kern="12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CE099C-251A-835A-D83B-A2C6CDE573B2}"/>
                </a:ext>
              </a:extLst>
            </p:cNvPr>
            <p:cNvSpPr txBox="1"/>
            <p:nvPr userDrawn="1"/>
          </p:nvSpPr>
          <p:spPr>
            <a:xfrm rot="16367761">
              <a:off x="2223417" y="2469219"/>
              <a:ext cx="1973014" cy="2366341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8617501"/>
                </a:avLst>
              </a:prstTxWarp>
              <a:spAutoFit/>
            </a:bodyPr>
            <a:lstStyle/>
            <a:p>
              <a:pPr algn="ctr"/>
              <a:r>
                <a:rPr lang="en-GB" sz="3200" b="0">
                  <a:solidFill>
                    <a:schemeClr val="accent6">
                      <a:lumMod val="50000"/>
                    </a:schemeClr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Substantive Concepts </a:t>
              </a:r>
            </a:p>
          </p:txBody>
        </p:sp>
        <p:pic>
          <p:nvPicPr>
            <p:cNvPr id="14" name="Picture 1" descr="Macintosh HD:Users:nicholasgarrick:Dropbox:1 LupL:6 Resources:Images and Icons:Icons:Geographer:icon_5211.png">
              <a:extLst>
                <a:ext uri="{FF2B5EF4-FFF2-40B4-BE49-F238E27FC236}">
                  <a16:creationId xmlns:a16="http://schemas.microsoft.com/office/drawing/2014/main" id="{542D5801-704A-A991-0F39-F5E9D9D19CE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679" y="3227210"/>
              <a:ext cx="1223996" cy="1223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992206E-1771-F45F-F330-4312191854BE}"/>
                </a:ext>
              </a:extLst>
            </p:cNvPr>
            <p:cNvSpPr/>
            <p:nvPr userDrawn="1"/>
          </p:nvSpPr>
          <p:spPr>
            <a:xfrm>
              <a:off x="2284992" y="4136928"/>
              <a:ext cx="1836223" cy="986274"/>
            </a:xfrm>
            <a:prstGeom prst="rect">
              <a:avLst/>
            </a:prstGeom>
            <a:noFill/>
            <a:effectLst/>
          </p:spPr>
          <p:txBody>
            <a:bodyPr wrap="none" lIns="91440" tIns="45720" rIns="91440" bIns="45720">
              <a:prstTxWarp prst="textArchDown">
                <a:avLst>
                  <a:gd name="adj" fmla="val 96006"/>
                </a:avLst>
              </a:prstTxWarp>
              <a:spAutoFit/>
            </a:bodyPr>
            <a:lstStyle/>
            <a:p>
              <a:pPr algn="ctr"/>
              <a:r>
                <a:rPr lang="en-GB" sz="1800" b="0" cap="none" spc="0">
                  <a:ln w="0"/>
                  <a:solidFill>
                    <a:schemeClr val="tx1"/>
                  </a:solidFill>
                  <a:effectLst/>
                  <a:latin typeface="Twinkl Cursive Looped" panose="02000000000000000000" pitchFamily="2" charset="77"/>
                </a:rPr>
                <a:t>Compassion</a:t>
              </a: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C274BD6-9EE5-304D-D815-CC65B22814C8}"/>
                </a:ext>
              </a:extLst>
            </p:cNvPr>
            <p:cNvSpPr/>
            <p:nvPr userDrawn="1"/>
          </p:nvSpPr>
          <p:spPr>
            <a:xfrm>
              <a:off x="4563705" y="2476891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0660" tIns="230660" rIns="230660" bIns="2306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600" b="0" kern="1200">
                  <a:solidFill>
                    <a:schemeClr val="accent6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Physical Geography</a:t>
              </a: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19896C4-8E22-29B5-ECA9-4A42943E0744}"/>
                </a:ext>
              </a:extLst>
            </p:cNvPr>
            <p:cNvSpPr/>
            <p:nvPr userDrawn="1"/>
          </p:nvSpPr>
          <p:spPr>
            <a:xfrm>
              <a:off x="3772300" y="4912586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CCCCFF"/>
            </a:solidFill>
            <a:ln w="38100"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5580" tIns="225580" rIns="225580" bIns="22558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b="0" kern="1200">
                  <a:solidFill>
                    <a:srgbClr val="7030A0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Environmental Impact &amp; Sustainability</a:t>
              </a: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27E100F-2EC3-59EE-AFFB-DF4267E0C616}"/>
                </a:ext>
              </a:extLst>
            </p:cNvPr>
            <p:cNvSpPr/>
            <p:nvPr userDrawn="1"/>
          </p:nvSpPr>
          <p:spPr>
            <a:xfrm>
              <a:off x="1211259" y="4912586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FFCCCC"/>
            </a:solidFill>
            <a:ln w="38100">
              <a:solidFill>
                <a:srgbClr val="C3580C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0660" tIns="230660" rIns="230660" bIns="2306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600" b="0" kern="1200">
                  <a:solidFill>
                    <a:srgbClr val="C3580C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Human Geography</a:t>
              </a: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FDFFF2C-C25D-22F1-BAF5-6FEFD55D134A}"/>
                </a:ext>
              </a:extLst>
            </p:cNvPr>
            <p:cNvSpPr/>
            <p:nvPr userDrawn="1"/>
          </p:nvSpPr>
          <p:spPr>
            <a:xfrm>
              <a:off x="419854" y="2476891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DDEAF8"/>
            </a:solidFill>
            <a:ln w="38100">
              <a:solidFill>
                <a:srgbClr val="4574C4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8120" tIns="228120" rIns="228120" bIns="22812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b="0" kern="1200">
                  <a:solidFill>
                    <a:srgbClr val="4574C4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Cultural awareness &amp; diversity </a:t>
              </a: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78100DE-A7F9-B58A-ABBB-4A1ED450EC28}"/>
                </a:ext>
              </a:extLst>
            </p:cNvPr>
            <p:cNvSpPr/>
            <p:nvPr userDrawn="1"/>
          </p:nvSpPr>
          <p:spPr>
            <a:xfrm>
              <a:off x="2491779" y="971549"/>
              <a:ext cx="1436290" cy="1436290"/>
            </a:xfrm>
            <a:custGeom>
              <a:avLst/>
              <a:gdLst>
                <a:gd name="csX0" fmla="*/ 0 w 1436290"/>
                <a:gd name="csY0" fmla="*/ 718145 h 1436290"/>
                <a:gd name="csX1" fmla="*/ 718145 w 1436290"/>
                <a:gd name="csY1" fmla="*/ 0 h 1436290"/>
                <a:gd name="csX2" fmla="*/ 1436290 w 1436290"/>
                <a:gd name="csY2" fmla="*/ 718145 h 1436290"/>
                <a:gd name="csX3" fmla="*/ 718145 w 1436290"/>
                <a:gd name="csY3" fmla="*/ 1436290 h 1436290"/>
                <a:gd name="csX4" fmla="*/ 0 w 1436290"/>
                <a:gd name="csY4" fmla="*/ 718145 h 1436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FFF2CC"/>
            </a:solidFill>
            <a:ln w="38100">
              <a:solidFill>
                <a:srgbClr val="FFC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5740" tIns="235740" rIns="235740" bIns="23574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000" b="0" kern="1200">
                  <a:solidFill>
                    <a:srgbClr val="FFC000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Place, Space &amp; Scale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1D6A3834-7F70-B66F-2DF4-36345DF911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68746" y="713681"/>
            <a:ext cx="5566957" cy="569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797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AACB11-BAD2-FA1C-1458-34E0DEF57E1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754E65-7573-6EE4-B06E-A6412EDA67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70559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67AC669-DA44-5096-B865-FAFB61A9F3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17E443-6322-CB9D-C2E2-88BE255BC8D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7A97A5-6F4A-7470-8EB0-F02D019B834C}"/>
              </a:ext>
            </a:extLst>
          </p:cNvPr>
          <p:cNvGrpSpPr/>
          <p:nvPr userDrawn="1"/>
        </p:nvGrpSpPr>
        <p:grpSpPr>
          <a:xfrm>
            <a:off x="4033305" y="4320166"/>
            <a:ext cx="2317966" cy="2317966"/>
            <a:chOff x="1553560" y="1499185"/>
            <a:chExt cx="2317966" cy="231796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0D77DFD-F3F8-63D5-A814-CF72D69CC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6" name="Picture 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E38CDC80-FE80-B94A-F52A-F28C87C51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B24A3C3-B0CB-4C8D-1A68-9E2EB66752AE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65319D8-9A39-4DE1-6DA3-49A0376A6129}"/>
              </a:ext>
            </a:extLst>
          </p:cNvPr>
          <p:cNvGrpSpPr/>
          <p:nvPr userDrawn="1"/>
        </p:nvGrpSpPr>
        <p:grpSpPr>
          <a:xfrm>
            <a:off x="2158640" y="4318660"/>
            <a:ext cx="2317967" cy="2317967"/>
            <a:chOff x="2033634" y="4440139"/>
            <a:chExt cx="2317967" cy="231796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92FB0EF-1F33-ED61-0090-9DEA81876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11" name="Picture 1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CA5E28D-19E6-3309-747A-BCA53D384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02BD44C-73BE-2F60-4A92-69753C468A52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96BC53-4479-13E5-915F-64DBD13506C7}"/>
              </a:ext>
            </a:extLst>
          </p:cNvPr>
          <p:cNvGrpSpPr/>
          <p:nvPr userDrawn="1"/>
        </p:nvGrpSpPr>
        <p:grpSpPr>
          <a:xfrm>
            <a:off x="5905242" y="4322973"/>
            <a:ext cx="2387476" cy="2311677"/>
            <a:chOff x="3849998" y="4440139"/>
            <a:chExt cx="2387476" cy="231167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4EF7279-C462-17D7-7ADC-B96A4F216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13E9386F-8924-F39E-CD02-1080A9B0AA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CB6B784-2666-3129-C95C-16D08CDDFDAA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CA810B-FBDF-6F3E-A5E5-1D9BF8DAF4FF}"/>
              </a:ext>
            </a:extLst>
          </p:cNvPr>
          <p:cNvGrpSpPr/>
          <p:nvPr userDrawn="1"/>
        </p:nvGrpSpPr>
        <p:grpSpPr>
          <a:xfrm>
            <a:off x="292714" y="4320798"/>
            <a:ext cx="2311678" cy="2311678"/>
            <a:chOff x="265848" y="1468917"/>
            <a:chExt cx="2311678" cy="231167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A3245EF-FC98-294F-61A0-F7830D6EC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9835527-4470-A8BE-BC96-0770EA156CC0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21" name="Picture 20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7DB9D3E6-9006-3BEF-BA71-0511F929F0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22" name="Picture 21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6D73F555-612A-06A8-042D-A3909B609F6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634F9E1-3460-77DD-CD52-42DB015EDD70}"/>
                </a:ext>
              </a:extLst>
            </p:cNvPr>
            <p:cNvSpPr txBox="1"/>
            <p:nvPr/>
          </p:nvSpPr>
          <p:spPr>
            <a:xfrm>
              <a:off x="667424" y="1899565"/>
              <a:ext cx="14733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DCF8781-6C74-C3C3-E01F-247FEDA90A22}"/>
              </a:ext>
            </a:extLst>
          </p:cNvPr>
          <p:cNvGrpSpPr/>
          <p:nvPr userDrawn="1"/>
        </p:nvGrpSpPr>
        <p:grpSpPr>
          <a:xfrm>
            <a:off x="7759743" y="4318660"/>
            <a:ext cx="2311677" cy="2311677"/>
            <a:chOff x="1419928" y="1940604"/>
            <a:chExt cx="2311677" cy="2311677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0260952-19FD-6B7F-13DA-E80F85241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F7E85FC-C2B5-409E-47BB-12326F0A4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70DB0DB-0237-B952-4156-81A541701034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DD5936D-CFFD-0C7B-E8E4-87811C9D7CE9}"/>
              </a:ext>
            </a:extLst>
          </p:cNvPr>
          <p:cNvGrpSpPr/>
          <p:nvPr userDrawn="1"/>
        </p:nvGrpSpPr>
        <p:grpSpPr>
          <a:xfrm>
            <a:off x="2167658" y="2450369"/>
            <a:ext cx="2317966" cy="2317966"/>
            <a:chOff x="1553560" y="1499185"/>
            <a:chExt cx="2317966" cy="2317966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616AB7C-84BE-5B6D-9150-33B8C339A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29" name="Picture 2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49F7CAC2-2641-F1F7-B01B-404522C5A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C4F7890-BAF4-7706-D101-2CCD951ACEA1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8830C8-59EF-19F3-FF92-EEA5664B0224}"/>
              </a:ext>
            </a:extLst>
          </p:cNvPr>
          <p:cNvGrpSpPr/>
          <p:nvPr userDrawn="1"/>
        </p:nvGrpSpPr>
        <p:grpSpPr>
          <a:xfrm>
            <a:off x="292993" y="2448863"/>
            <a:ext cx="2317967" cy="2317967"/>
            <a:chOff x="2033634" y="4440139"/>
            <a:chExt cx="2317967" cy="2317967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493B8C5-013C-AD26-1091-CCAA0B23A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33" name="Picture 3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8A156B2-E837-836A-5FDC-FE2971931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85D73C5-ABAA-85FE-AC7E-68CB09C72AE4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06428A5-8FE8-B39A-E6C2-56D0C6963561}"/>
              </a:ext>
            </a:extLst>
          </p:cNvPr>
          <p:cNvGrpSpPr/>
          <p:nvPr userDrawn="1"/>
        </p:nvGrpSpPr>
        <p:grpSpPr>
          <a:xfrm>
            <a:off x="4039595" y="2453176"/>
            <a:ext cx="2387476" cy="2311677"/>
            <a:chOff x="3849998" y="4440139"/>
            <a:chExt cx="2387476" cy="2311677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B2E92F0-1CB1-158E-B7C3-A98EF0E2E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E830A986-E946-6878-9100-8EB8C4944A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DBCCAC5-FB60-886C-1447-A4ED21F71ADD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AFA354A-DBFA-C579-804D-AFC647FCCBC9}"/>
              </a:ext>
            </a:extLst>
          </p:cNvPr>
          <p:cNvGrpSpPr/>
          <p:nvPr userDrawn="1"/>
        </p:nvGrpSpPr>
        <p:grpSpPr>
          <a:xfrm>
            <a:off x="5894096" y="2448863"/>
            <a:ext cx="2311677" cy="2311677"/>
            <a:chOff x="1419928" y="1940604"/>
            <a:chExt cx="2311677" cy="2311677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9EBC0F8-6189-549D-13BD-E9406A0DE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42" name="Picture 4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0D5B441-935D-A092-A89F-42409C097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28DE19C-9BBD-7639-74C6-7743922A4023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F5BF59A-F0D3-76BE-1960-332B15B12B5B}"/>
              </a:ext>
            </a:extLst>
          </p:cNvPr>
          <p:cNvGrpSpPr/>
          <p:nvPr userDrawn="1"/>
        </p:nvGrpSpPr>
        <p:grpSpPr>
          <a:xfrm>
            <a:off x="7759121" y="2451300"/>
            <a:ext cx="2317967" cy="2317967"/>
            <a:chOff x="2033634" y="4440139"/>
            <a:chExt cx="2317967" cy="2317967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198D8F66-9B98-0114-5349-DBDCB6522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46" name="Picture 4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007782E-152B-17AC-833E-0C00D487B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1DD9E67-F973-EE3F-E81E-83D82C56C359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D0DF0D2-0CD2-4D84-BA06-345F0D964329}"/>
              </a:ext>
            </a:extLst>
          </p:cNvPr>
          <p:cNvGrpSpPr/>
          <p:nvPr userDrawn="1"/>
        </p:nvGrpSpPr>
        <p:grpSpPr>
          <a:xfrm>
            <a:off x="5899000" y="566030"/>
            <a:ext cx="2317966" cy="2317966"/>
            <a:chOff x="1553560" y="1499185"/>
            <a:chExt cx="2317966" cy="231796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5B99C454-371B-524F-FB1A-1DF9F3B30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50" name="Picture 4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67EEBD49-73F0-69B0-72F5-8B728E557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6B9BD67-6BA1-C944-76E5-51E81747E335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1365761-FA71-4ED6-20C3-4613AD178901}"/>
              </a:ext>
            </a:extLst>
          </p:cNvPr>
          <p:cNvGrpSpPr/>
          <p:nvPr userDrawn="1"/>
        </p:nvGrpSpPr>
        <p:grpSpPr>
          <a:xfrm>
            <a:off x="4033584" y="576120"/>
            <a:ext cx="2317967" cy="2317967"/>
            <a:chOff x="2033634" y="4440139"/>
            <a:chExt cx="2317967" cy="2317967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F786A41-AB31-196C-2411-86E8349D0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54" name="Picture 5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F5C5FFB-0D53-87B0-D227-075A7A549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2E66F7E-8E29-6C3E-3767-665F7104AE23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946155C-845C-D186-DDFA-7A6E72ADE8A1}"/>
              </a:ext>
            </a:extLst>
          </p:cNvPr>
          <p:cNvGrpSpPr/>
          <p:nvPr userDrawn="1"/>
        </p:nvGrpSpPr>
        <p:grpSpPr>
          <a:xfrm>
            <a:off x="7759121" y="579892"/>
            <a:ext cx="2387476" cy="2311677"/>
            <a:chOff x="3849998" y="4440139"/>
            <a:chExt cx="2387476" cy="2311677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73325398-17BA-8767-16FE-145890E15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D491E590-AE18-3B40-A56B-1072FACAAE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D02EB35-3FD4-90EC-416D-EA40A2E50B5D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AB58AE8-0F18-8389-674F-27C0C6DD5C47}"/>
              </a:ext>
            </a:extLst>
          </p:cNvPr>
          <p:cNvGrpSpPr/>
          <p:nvPr userDrawn="1"/>
        </p:nvGrpSpPr>
        <p:grpSpPr>
          <a:xfrm>
            <a:off x="9632885" y="2456658"/>
            <a:ext cx="2311677" cy="2311677"/>
            <a:chOff x="1419928" y="1940604"/>
            <a:chExt cx="2311677" cy="2311677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AD1BCA9B-6A3B-83E4-55E0-758646A45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62" name="Picture 6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E37E8E1A-2C4E-ABC1-6B16-E6BA85003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19CA8DB-468A-2A68-FF00-E55FA9A3A816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414D128-77C1-D180-B608-BFF5F6529004}"/>
              </a:ext>
            </a:extLst>
          </p:cNvPr>
          <p:cNvGrpSpPr/>
          <p:nvPr userDrawn="1"/>
        </p:nvGrpSpPr>
        <p:grpSpPr>
          <a:xfrm>
            <a:off x="9630342" y="586580"/>
            <a:ext cx="2311678" cy="2311678"/>
            <a:chOff x="265848" y="1468917"/>
            <a:chExt cx="2311678" cy="2311678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C3A5E4F6-7226-9CD5-CB88-3E31F6D0F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A492F254-9093-4490-0AE3-C4BDFE30F5E5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68" name="Picture 67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B6BBB76B-1639-A221-281A-AC0BB38321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69" name="Picture 68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79FB2815-DC1A-E2C0-EEC2-3FB43773D69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A0A13BF-2F9F-5BC2-8463-1278D8D1B042}"/>
                </a:ext>
              </a:extLst>
            </p:cNvPr>
            <p:cNvSpPr txBox="1"/>
            <p:nvPr/>
          </p:nvSpPr>
          <p:spPr>
            <a:xfrm>
              <a:off x="667424" y="1899565"/>
              <a:ext cx="14733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17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B1B1FF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93534" y="1894865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F4801E2F-605B-6715-F377-B8ADE2F32855}"/>
              </a:ext>
            </a:extLst>
          </p:cNvPr>
          <p:cNvSpPr txBox="1"/>
          <p:nvPr userDrawn="1"/>
        </p:nvSpPr>
        <p:spPr>
          <a:xfrm>
            <a:off x="85221" y="3079842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It involves the interaction between physical and human environments and the effect they have on each other. 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E839CC3-866D-DAC4-AA75-A829A239DB46}"/>
              </a:ext>
            </a:extLst>
          </p:cNvPr>
          <p:cNvSpPr txBox="1"/>
          <p:nvPr userDrawn="1"/>
        </p:nvSpPr>
        <p:spPr>
          <a:xfrm>
            <a:off x="85221" y="4044121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When we are Being a Geographer, we think about what is natural and what is man-made in our environment, and how we can live more sustainably.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F62B3F-B24C-7A75-519B-05332E2D5F6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66FF2D-0A1A-B277-069D-332B2323A220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D2D617E-E09E-B15C-5BA8-0FEDD315C7BB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E11128B-D333-FDC5-2CD2-67B2D2101231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0" name="Rectangle: Rounded Corners 12">
                    <a:extLst>
                      <a:ext uri="{FF2B5EF4-FFF2-40B4-BE49-F238E27FC236}">
                        <a16:creationId xmlns:a16="http://schemas.microsoft.com/office/drawing/2014/main" id="{7DB0B7F2-89F9-C136-7D06-593FD33F050E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" name="Rectangle: Rounded Corners 4">
                    <a:extLst>
                      <a:ext uri="{FF2B5EF4-FFF2-40B4-BE49-F238E27FC236}">
                        <a16:creationId xmlns:a16="http://schemas.microsoft.com/office/drawing/2014/main" id="{E176FD70-2633-7D23-07A2-B3EE2D05E9B1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5183ACA2-B1AC-970B-A8A2-A01135DC3DFF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9" name="Picture 8">
                    <a:extLst>
                      <a:ext uri="{FF2B5EF4-FFF2-40B4-BE49-F238E27FC236}">
                        <a16:creationId xmlns:a16="http://schemas.microsoft.com/office/drawing/2014/main" id="{5ADA602A-39E5-CF61-8567-4FD5E832DC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0F00F44-F494-704A-8544-7968DA0A6C01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CD40ED-E8A2-4783-5657-AFB823604F7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2F746C-88BC-706F-10DD-B1A1F6C82C2E}"/>
                </a:ext>
              </a:extLst>
            </p:cNvPr>
            <p:cNvSpPr txBox="1"/>
            <p:nvPr/>
          </p:nvSpPr>
          <p:spPr>
            <a:xfrm>
              <a:off x="6767704" y="3802386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activity affects habitats around the world. I can explain how people’s choices can protect the environment for the future. 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142D110-9A5B-663B-FEA4-631B55E60E03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4D2B20E-4846-D613-6022-C7145317AAC8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304A4915-2CDD-B186-20BA-B9ECB4C09B9C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7FC1643A-EC4C-D21B-2CEA-4734B31818B3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1" name="Rectangle: Rounded Corners 9">
                    <a:extLst>
                      <a:ext uri="{FF2B5EF4-FFF2-40B4-BE49-F238E27FC236}">
                        <a16:creationId xmlns:a16="http://schemas.microsoft.com/office/drawing/2014/main" id="{5CB4F8EC-E9E2-36F0-97BD-0D215CE3059F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Rectangle: Rounded Corners 4">
                    <a:extLst>
                      <a:ext uri="{FF2B5EF4-FFF2-40B4-BE49-F238E27FC236}">
                        <a16:creationId xmlns:a16="http://schemas.microsoft.com/office/drawing/2014/main" id="{BD6532CE-76D8-7DDE-6583-A25D26ADB0A2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B0D500DB-0A8D-7EDE-F324-7F5BDB085929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9" name="Picture 108">
                    <a:extLst>
                      <a:ext uri="{FF2B5EF4-FFF2-40B4-BE49-F238E27FC236}">
                        <a16:creationId xmlns:a16="http://schemas.microsoft.com/office/drawing/2014/main" id="{B37BBF63-092F-9029-650E-47203FFB34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47C8D7FC-5423-A960-F2CE-46BA93B871E5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E7E904E-24DB-1AD4-7EA6-66F172E2C14E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E1CAB4E-0E4F-5357-B8C0-5346B74046BF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behaviour can affect the world. I can think of ways that we can help our environment and oceans. 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C04C43F-9AEF-D70D-7B37-637C049EFCE9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4D10131E-31AA-D59F-FA35-D1120BB096E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F6B11EB6-F482-D20C-9EB8-4694307BE64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8" name="Rectangle: Rounded Corners 3">
                  <a:extLst>
                    <a:ext uri="{FF2B5EF4-FFF2-40B4-BE49-F238E27FC236}">
                      <a16:creationId xmlns:a16="http://schemas.microsoft.com/office/drawing/2014/main" id="{A8683132-44F3-83F7-D73D-1654C9BD4E8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233C009A-44B9-79EA-5E68-4DDD27E3F3C0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0" name="Picture 119">
                    <a:extLst>
                      <a:ext uri="{FF2B5EF4-FFF2-40B4-BE49-F238E27FC236}">
                        <a16:creationId xmlns:a16="http://schemas.microsoft.com/office/drawing/2014/main" id="{6BC6DCF5-939A-ECAA-5EE5-5C4879C5E9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26246DA9-EF4A-7A42-5980-25A548FAA6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04B6EE7-C6AF-A812-0BFF-1BEEBAC4D248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1254BAB-F777-7F1F-FFA9-A7102160181B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people and animals share the world. I can explain simple ways of how to look after my environment. 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8513C7C-D2A0-3B7A-AE74-05EF4FD865B6}"/>
              </a:ext>
            </a:extLst>
          </p:cNvPr>
          <p:cNvGrpSpPr/>
          <p:nvPr userDrawn="1"/>
        </p:nvGrpSpPr>
        <p:grpSpPr>
          <a:xfrm>
            <a:off x="3511272" y="1660451"/>
            <a:ext cx="8322595" cy="929821"/>
            <a:chOff x="3511272" y="1660451"/>
            <a:chExt cx="8322595" cy="929821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FD22114C-133F-5341-49F1-48A890A7D709}"/>
                </a:ext>
              </a:extLst>
            </p:cNvPr>
            <p:cNvGrpSpPr/>
            <p:nvPr/>
          </p:nvGrpSpPr>
          <p:grpSpPr>
            <a:xfrm>
              <a:off x="3511272" y="1660451"/>
              <a:ext cx="8322595" cy="929821"/>
              <a:chOff x="3511272" y="1660451"/>
              <a:chExt cx="8322595" cy="929821"/>
            </a:xfrm>
          </p:grpSpPr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B51DFB13-FD8C-77A3-2FC3-DA8C22543392}"/>
                  </a:ext>
                </a:extLst>
              </p:cNvPr>
              <p:cNvGrpSpPr/>
              <p:nvPr/>
            </p:nvGrpSpPr>
            <p:grpSpPr>
              <a:xfrm>
                <a:off x="3511272" y="1660451"/>
                <a:ext cx="8322595" cy="929821"/>
                <a:chOff x="3511272" y="1660451"/>
                <a:chExt cx="8322595" cy="929821"/>
              </a:xfrm>
            </p:grpSpPr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F5CA4AD8-1D85-F71F-0EB8-D078E48754F7}"/>
                    </a:ext>
                  </a:extLst>
                </p:cNvPr>
                <p:cNvGrpSpPr/>
                <p:nvPr/>
              </p:nvGrpSpPr>
              <p:grpSpPr>
                <a:xfrm>
                  <a:off x="3533230" y="1690272"/>
                  <a:ext cx="8300637" cy="900000"/>
                  <a:chOff x="7998350" y="1737362"/>
                  <a:chExt cx="1713901" cy="2844795"/>
                </a:xfrm>
              </p:grpSpPr>
              <p:sp>
                <p:nvSpPr>
                  <p:cNvPr id="131" name="Rectangle: Rounded Corners 18">
                    <a:extLst>
                      <a:ext uri="{FF2B5EF4-FFF2-40B4-BE49-F238E27FC236}">
                        <a16:creationId xmlns:a16="http://schemas.microsoft.com/office/drawing/2014/main" id="{CBF0D63C-648B-B219-7281-E9A8417FA603}"/>
                      </a:ext>
                    </a:extLst>
                  </p:cNvPr>
                  <p:cNvSpPr/>
                  <p:nvPr/>
                </p:nvSpPr>
                <p:spPr>
                  <a:xfrm>
                    <a:off x="7998350" y="1737362"/>
                    <a:ext cx="1713901" cy="2844795"/>
                  </a:xfrm>
                  <a:prstGeom prst="roundRect">
                    <a:avLst/>
                  </a:prstGeom>
                  <a:solidFill>
                    <a:srgbClr val="F9D2B5"/>
                  </a:solidFill>
                  <a:ln>
                    <a:solidFill>
                      <a:srgbClr val="F9D2B5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2" name="Rectangle: Rounded Corners 4">
                    <a:extLst>
                      <a:ext uri="{FF2B5EF4-FFF2-40B4-BE49-F238E27FC236}">
                        <a16:creationId xmlns:a16="http://schemas.microsoft.com/office/drawing/2014/main" id="{42D8D87E-D1B8-B492-64E1-154B8231481E}"/>
                      </a:ext>
                    </a:extLst>
                  </p:cNvPr>
                  <p:cNvSpPr txBox="1"/>
                  <p:nvPr/>
                </p:nvSpPr>
                <p:spPr>
                  <a:xfrm>
                    <a:off x="8082016" y="1821028"/>
                    <a:ext cx="1546569" cy="2677463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28" name="Group 127">
                  <a:extLst>
                    <a:ext uri="{FF2B5EF4-FFF2-40B4-BE49-F238E27FC236}">
                      <a16:creationId xmlns:a16="http://schemas.microsoft.com/office/drawing/2014/main" id="{E0FA49B3-1E3F-FC2E-0A14-F73AE218BD3D}"/>
                    </a:ext>
                  </a:extLst>
                </p:cNvPr>
                <p:cNvGrpSpPr/>
                <p:nvPr/>
              </p:nvGrpSpPr>
              <p:grpSpPr>
                <a:xfrm>
                  <a:off x="3511272" y="1660451"/>
                  <a:ext cx="801261" cy="903352"/>
                  <a:chOff x="4418485" y="450020"/>
                  <a:chExt cx="801261" cy="903352"/>
                </a:xfrm>
              </p:grpSpPr>
              <p:pic>
                <p:nvPicPr>
                  <p:cNvPr id="129" name="Picture 128">
                    <a:extLst>
                      <a:ext uri="{FF2B5EF4-FFF2-40B4-BE49-F238E27FC236}">
                        <a16:creationId xmlns:a16="http://schemas.microsoft.com/office/drawing/2014/main" id="{A01906FD-F3D7-2F05-609D-24D7E39F50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1848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C2DF665C-58A6-ADBA-313F-FF27C8E0927B}"/>
                      </a:ext>
                    </a:extLst>
                  </p:cNvPr>
                  <p:cNvSpPr txBox="1"/>
                  <p:nvPr/>
                </p:nvSpPr>
                <p:spPr>
                  <a:xfrm>
                    <a:off x="466042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5</a:t>
                    </a:r>
                  </a:p>
                </p:txBody>
              </p:sp>
            </p:grpSp>
          </p:grp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F2CD5BB2-315F-86FD-472B-71016B04C813}"/>
                  </a:ext>
                </a:extLst>
              </p:cNvPr>
              <p:cNvSpPr txBox="1"/>
              <p:nvPr/>
            </p:nvSpPr>
            <p:spPr>
              <a:xfrm>
                <a:off x="4392766" y="1788757"/>
                <a:ext cx="2299228" cy="738664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Waterways in the UK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Significant cities around the world</a:t>
                </a:r>
              </a:p>
            </p:txBody>
          </p: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D676DA7-4F3E-A283-67BA-16AA8726DBF5}"/>
                </a:ext>
              </a:extLst>
            </p:cNvPr>
            <p:cNvSpPr txBox="1"/>
            <p:nvPr/>
          </p:nvSpPr>
          <p:spPr>
            <a:xfrm>
              <a:off x="6824631" y="1783572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explain the difference between renewable and non-renewable resources. I know the importance of sustainability to humans and the planet. 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BBC6348-8F2D-29C2-516F-7B7FB9695EFB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EA996A48-88EA-6263-4D0F-13790E011A8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2A913D7-2341-4295-A769-303DE7DAEC09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8" name="Rectangle: Rounded Corners 15">
                  <a:extLst>
                    <a:ext uri="{FF2B5EF4-FFF2-40B4-BE49-F238E27FC236}">
                      <a16:creationId xmlns:a16="http://schemas.microsoft.com/office/drawing/2014/main" id="{FC5C05D4-1170-A456-6F92-DC602BBDC8B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F867F0A4-B989-987C-07CF-473AA4BA4D62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0" name="Picture 139">
                    <a:extLst>
                      <a:ext uri="{FF2B5EF4-FFF2-40B4-BE49-F238E27FC236}">
                        <a16:creationId xmlns:a16="http://schemas.microsoft.com/office/drawing/2014/main" id="{FA326AB0-6806-6C08-F96A-9F8999FA35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BC80C0CB-3842-9A67-A8B5-1D9353CB9B0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24F4F00-A848-2996-B368-44F7F6416503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11D1384-2FD0-B0DF-AA64-937986C8BE24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CD766FC-3807-6065-72C4-DCF43B6A66E6}"/>
              </a:ext>
            </a:extLst>
          </p:cNvPr>
          <p:cNvGrpSpPr/>
          <p:nvPr userDrawn="1"/>
        </p:nvGrpSpPr>
        <p:grpSpPr>
          <a:xfrm>
            <a:off x="3508831" y="646450"/>
            <a:ext cx="8325036" cy="931047"/>
            <a:chOff x="3508831" y="646450"/>
            <a:chExt cx="8325036" cy="931047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A9055FCC-7C33-12DD-A412-1EACE2F78172}"/>
                </a:ext>
              </a:extLst>
            </p:cNvPr>
            <p:cNvGrpSpPr/>
            <p:nvPr userDrawn="1"/>
          </p:nvGrpSpPr>
          <p:grpSpPr>
            <a:xfrm>
              <a:off x="3508831" y="646450"/>
              <a:ext cx="8325036" cy="931047"/>
              <a:chOff x="3508831" y="646450"/>
              <a:chExt cx="8325036" cy="931047"/>
            </a:xfrm>
          </p:grpSpPr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9CC33B00-DFD3-3736-1AE7-5E0027C13BBE}"/>
                  </a:ext>
                </a:extLst>
              </p:cNvPr>
              <p:cNvGrpSpPr/>
              <p:nvPr/>
            </p:nvGrpSpPr>
            <p:grpSpPr>
              <a:xfrm>
                <a:off x="3508831" y="646450"/>
                <a:ext cx="8325036" cy="931047"/>
                <a:chOff x="3508831" y="646450"/>
                <a:chExt cx="8325036" cy="931047"/>
              </a:xfrm>
            </p:grpSpPr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2080D86D-13F0-D557-EA78-ADD696A3C3CB}"/>
                    </a:ext>
                  </a:extLst>
                </p:cNvPr>
                <p:cNvGrpSpPr/>
                <p:nvPr/>
              </p:nvGrpSpPr>
              <p:grpSpPr>
                <a:xfrm>
                  <a:off x="3533230" y="677497"/>
                  <a:ext cx="8300637" cy="900000"/>
                  <a:chOff x="1999694" y="1717038"/>
                  <a:chExt cx="1713901" cy="2885442"/>
                </a:xfrm>
              </p:grpSpPr>
              <p:sp>
                <p:nvSpPr>
                  <p:cNvPr id="151" name="Rectangle: Rounded Corners 23">
                    <a:extLst>
                      <a:ext uri="{FF2B5EF4-FFF2-40B4-BE49-F238E27FC236}">
                        <a16:creationId xmlns:a16="http://schemas.microsoft.com/office/drawing/2014/main" id="{7F6CF302-CC58-69FD-7C30-DE815F143A8D}"/>
                      </a:ext>
                    </a:extLst>
                  </p:cNvPr>
                  <p:cNvSpPr/>
                  <p:nvPr/>
                </p:nvSpPr>
                <p:spPr>
                  <a:xfrm>
                    <a:off x="1999694" y="1717038"/>
                    <a:ext cx="1713901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2" name="Rectangle: Rounded Corners 4">
                    <a:extLst>
                      <a:ext uri="{FF2B5EF4-FFF2-40B4-BE49-F238E27FC236}">
                        <a16:creationId xmlns:a16="http://schemas.microsoft.com/office/drawing/2014/main" id="{43F401BC-769A-6BC5-C4B3-E3A48297AD37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48" name="Group 147">
                  <a:extLst>
                    <a:ext uri="{FF2B5EF4-FFF2-40B4-BE49-F238E27FC236}">
                      <a16:creationId xmlns:a16="http://schemas.microsoft.com/office/drawing/2014/main" id="{B4C1F96E-6E9A-5434-770E-A50E3FA1727C}"/>
                    </a:ext>
                  </a:extLst>
                </p:cNvPr>
                <p:cNvGrpSpPr/>
                <p:nvPr/>
              </p:nvGrpSpPr>
              <p:grpSpPr>
                <a:xfrm>
                  <a:off x="3508831" y="646450"/>
                  <a:ext cx="801261" cy="903352"/>
                  <a:chOff x="4407115" y="450020"/>
                  <a:chExt cx="801261" cy="903352"/>
                </a:xfrm>
              </p:grpSpPr>
              <p:pic>
                <p:nvPicPr>
                  <p:cNvPr id="149" name="Picture 148">
                    <a:extLst>
                      <a:ext uri="{FF2B5EF4-FFF2-40B4-BE49-F238E27FC236}">
                        <a16:creationId xmlns:a16="http://schemas.microsoft.com/office/drawing/2014/main" id="{6E035422-CB67-B453-6EBB-0F01E0A122D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0711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3F2A40F8-FC98-2D11-02AE-DA854AE09B63}"/>
                      </a:ext>
                    </a:extLst>
                  </p:cNvPr>
                  <p:cNvSpPr txBox="1"/>
                  <p:nvPr/>
                </p:nvSpPr>
                <p:spPr>
                  <a:xfrm>
                    <a:off x="464905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6</a:t>
                    </a:r>
                  </a:p>
                </p:txBody>
              </p:sp>
            </p:grpSp>
          </p:grp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F0BD63B3-C4DC-B34C-F1AA-A03799FFBA33}"/>
                  </a:ext>
                </a:extLst>
              </p:cNvPr>
              <p:cNvSpPr txBox="1"/>
              <p:nvPr/>
            </p:nvSpPr>
            <p:spPr>
              <a:xfrm>
                <a:off x="6824631" y="766021"/>
                <a:ext cx="4882103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400" b="0" i="0">
                    <a:solidFill>
                      <a:prstClr val="black"/>
                    </a:solidFill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 can explain how climate change can affect people, wildlife and environments in different places. I can suggest ways people can live more sustainably.  </a:t>
                </a:r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FCAF9EA-AB32-9F79-8861-C29717207A89}"/>
                </a:ext>
              </a:extLst>
            </p:cNvPr>
            <p:cNvSpPr txBox="1"/>
            <p:nvPr userDrawn="1"/>
          </p:nvSpPr>
          <p:spPr>
            <a:xfrm>
              <a:off x="4392765" y="692560"/>
              <a:ext cx="2299228" cy="867930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Highlands in the UK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Mountains, volcanoes and earthquakes around the world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68B894-20C9-9A18-D1E3-AC3DFD82BA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5490982-16A9-FBB6-A35F-113DAB24388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76B55A1-CA27-B16C-8F6D-1AA02AA18D02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Environmental impact and sustainability</a:t>
            </a:r>
          </a:p>
        </p:txBody>
      </p:sp>
    </p:spTree>
    <p:extLst>
      <p:ext uri="{BB962C8B-B14F-4D97-AF65-F5344CB8AC3E}">
        <p14:creationId xmlns:p14="http://schemas.microsoft.com/office/powerpoint/2010/main" val="15699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187" grpId="0"/>
      <p:bldP spid="188" grpId="0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EC3E4FE-C4C8-0CD5-73D5-8F95A599AE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4322BA7-DA94-FDFE-7A7B-D5438A1482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C57756-EBCF-A581-82CD-558554934C04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82546E5-3935-ACDB-26F2-53733128AA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0826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" name="Picture 17">
            <a:extLst>
              <a:ext uri="{FF2B5EF4-FFF2-40B4-BE49-F238E27FC236}">
                <a16:creationId xmlns:a16="http://schemas.microsoft.com/office/drawing/2014/main" id="{000648E7-97B9-D1D3-490C-AAF2E3A785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46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BBF9FDF-75DA-CFF3-BA62-2E74EDB80D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6322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347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509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842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87065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83ABA-2E28-20F3-21C8-C6D213F54C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326CD2-ADCC-7E76-89DE-BC13046C4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612590E-3C17-F676-4D10-1008049D02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19CD1FD-0FA0-D21D-D1F0-64BDB53C1C77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8EA24D-55B0-8144-AA39-968CC2FDB519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E2A5F2-A79A-546A-3141-7274CF067AEF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B76A4C4-2BF9-6349-E000-2E819614C2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7B60BF0-4537-D3E5-640C-003C735C4A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66E2C34-794D-A693-366B-C959F7B50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93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31A5D-81D7-86BF-9F89-C85C5614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F32C4-272F-4D79-223B-CA8E0909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AA001-1B5D-CDA2-38CC-7F60FF1FB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4F31996-478E-AB49-B249-C881152DC864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A51DE-BFC5-5128-5E55-DAFE88A4F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FA9D7-B4D9-EF1F-23DF-1D659D7FE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3310EA2-8160-1046-A641-CE136A204D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494340E5-87E4-F310-37BE-2238F82839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67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817" r:id="rId3"/>
    <p:sldLayoutId id="2147483740" r:id="rId4"/>
    <p:sldLayoutId id="2147483661" r:id="rId5"/>
    <p:sldLayoutId id="2147483784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83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CCC">
            <a:alpha val="6781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524C0-1C92-5DC2-66E0-3ADCE332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25FAD-D996-CA58-6C3E-BC095EB37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AA94B-D759-4801-6CD1-6E66DA677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1619F549-3D0B-A141-8D63-915844BA9B42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AD4FF-5DD4-B9F1-35A1-B9862AD1F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04EC7-5020-8356-6563-5BA3702F3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61437F6C-24F6-F24E-A689-35A7F3AD4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16B47AD8-5AFC-CF11-0F61-90D0198211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96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825" r:id="rId3"/>
    <p:sldLayoutId id="2147483775" r:id="rId4"/>
    <p:sldLayoutId id="2147483776" r:id="rId5"/>
    <p:sldLayoutId id="2147483785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83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7824A-0AF9-4738-F221-B8183E45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93C30-E0D9-1E88-B519-0D30E9E46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33E9E-6EAA-0D76-BB96-53A73E3C3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029319A-4A70-5A4B-9E33-842C4C45AE69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DB60E-0F55-9A54-FA03-71EDCEAD3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3676D-669A-39FA-6B0F-1727CC0B2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CE6401-4AF7-AE42-9690-ECB39B553F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DCA81AE5-4318-55E7-A3E0-6DF245A247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4573C4"/>
          </a:solidFill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38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826" r:id="rId3"/>
    <p:sldLayoutId id="2147483751" r:id="rId4"/>
    <p:sldLayoutId id="2147483662" r:id="rId5"/>
    <p:sldLayoutId id="2147483786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83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0F56E-FE65-F3F1-9FAC-DB93F156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DE58-64FF-3948-39DF-734AF3C45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9CB98-5757-3839-A7C0-D2C85F063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FE44AB8-700B-C141-9852-6FF3C722C54D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89FE-E21F-55B3-2929-A51FD86C0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86D3-F974-31AE-72A2-76BAF8DF7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9DF32073-090B-5244-8DDA-E3F3620238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664928D8-8CB7-A497-4A96-C332731D19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06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827" r:id="rId3"/>
    <p:sldLayoutId id="2147483762" r:id="rId4"/>
    <p:sldLayoutId id="2147483653" r:id="rId5"/>
    <p:sldLayoutId id="2147483787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83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CCFF">
            <a:alpha val="6502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E6823-EDB8-9AF5-DE99-4442ED5B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26269-E179-A117-5DE4-D44CFD7F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36E3F-E940-26AF-C9D6-0EAE33CAA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A809972E-73E4-474F-8C19-461BACEB0A05}" type="datetimeFigureOut">
              <a:rPr lang="en-US" smtClean="0"/>
              <a:pPr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2106-0A4F-4AFD-C8DE-FAEBDA8B6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DD94-F41F-4285-6735-0993E2CF4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24EFB3-8909-4640-BE76-2FC085DA8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0" name="Frame 99">
            <a:extLst>
              <a:ext uri="{FF2B5EF4-FFF2-40B4-BE49-F238E27FC236}">
                <a16:creationId xmlns:a16="http://schemas.microsoft.com/office/drawing/2014/main" id="{4E42EF8C-46E9-DA7C-1794-5AA3EA43FB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76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28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3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_rels/slide2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2.xml'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emf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8.emf"/><Relationship Id="rId7" Type="http://schemas.openxmlformats.org/officeDocument/2006/relationships/image" Target="../media/image6.png"/><Relationship Id="rId8" Type="http://schemas.openxmlformats.org/officeDocument/2006/relationships/image" Target="../media/image22.png"/><Relationship Id="rId9" Type="http://schemas.openxmlformats.org/officeDocument/2006/relationships/image" Target="../media/image12.emf"/><Relationship Id="rId10" Type="http://schemas.openxmlformats.org/officeDocument/2006/relationships/image" Target="../media/image17.svg"/><Relationship Id="rId11" Type="http://schemas.openxmlformats.org/officeDocument/2006/relationships/image" Target="../media/image11.png"/><Relationship Id="rId12" Type="http://schemas.openxmlformats.org/officeDocument/2006/relationships/image" Target="../media/image21.emf"/><Relationship Id="rId13" Type="http://schemas.openxmlformats.org/officeDocument/2006/relationships/image" Target="../media/image16.emf"/><Relationship Id="rId14" Type="http://schemas.openxmlformats.org/officeDocument/2006/relationships/image" Target="../media/image10.png"/><Relationship Id="rId15" Type="http://schemas.openxmlformats.org/officeDocument/2006/relationships/image" Target="../media/image15.png"/><Relationship Id="rId16" Type="http://schemas.openxmlformats.org/officeDocument/2006/relationships/image" Target="../media/image20.png"/></Relationships>
</file>

<file path=ppt/slides/_rels/slide5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7.xml'/></Relationships>
</file>

<file path=ppt/slides/_rels/slide6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8.xml'/></Relationships>
</file>

<file path=ppt/slides/_rels/slide7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6.xml'/></Relationships>
</file>

<file path=ppt/slides/_rels/slide8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9.xml'/></Relationships>
</file>

<file path=ppt/slides/_rels/slide9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10.xml'/></Relationships>
</file>

<file path=ppt/slides/_rels/slide10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12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h10"/>
          <p:cNvSpPr>
            <a:spLocks noGrp="1"/>
          </p:cNvSpPr>
          <p:nvPr>
            <p:ph type="body" idx="10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do the geographies of England and Brazil compare?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rogTitle"/>
          <p:cNvSpPr txBox="1"/>
          <p:nvPr/>
        </p:nvSpPr>
        <p:spPr>
          <a:xfrm>
            <a:off x="120000" y="1050000"/>
            <a:ext cx="3080000" cy="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GB" sz="1800" b="1" dirty="0">
                <a:latin typeface="Twinkl Cursive Looped"/>
              </a:rPr>
              <a:t>Place, space and scale</a:t>
            </a:r>
          </a:p>
        </p:txBody>
      </p:sp>
      <p:pic>
        <p:nvPicPr>
          <p:cNvPr id="310" name="Picture 3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" y="1666875"/>
            <a:ext cx="650000" cy="536250"/>
          </a:xfrm>
          <a:prstGeom prst="rect">
            <a:avLst/>
          </a:prstGeom>
        </p:spPr>
      </p:pic>
      <p:sp>
        <p:nvSpPr>
          <p:cNvPr id="311" name="DefText311"/>
          <p:cNvSpPr txBox="1"/>
          <p:nvPr/>
        </p:nvSpPr>
        <p:spPr>
          <a:xfrm>
            <a:off x="850000" y="1610000"/>
            <a:ext cx="2290000" cy="6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000" dirty="0">
                <a:latin typeface="Aptos"/>
              </a:rPr>
              <a:t>Places are areas that have been defined by a given name.</a:t>
            </a:r>
          </a:p>
        </p:txBody>
      </p:sp>
      <p:pic>
        <p:nvPicPr>
          <p:cNvPr id="312" name="Picture 3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0" y="2335642"/>
            <a:ext cx="650000" cy="618716"/>
          </a:xfrm>
          <a:prstGeom prst="rect">
            <a:avLst/>
          </a:prstGeom>
        </p:spPr>
      </p:pic>
      <p:sp>
        <p:nvSpPr>
          <p:cNvPr id="313" name="DefText313"/>
          <p:cNvSpPr txBox="1"/>
          <p:nvPr/>
        </p:nvSpPr>
        <p:spPr>
          <a:xfrm>
            <a:off x="850000" y="2320000"/>
            <a:ext cx="2290000" cy="6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000" dirty="0">
                <a:latin typeface="Aptos"/>
              </a:rPr>
              <a:t>Space is about the importance of places and the way people organise where we live.</a:t>
            </a:r>
          </a:p>
        </p:txBody>
      </p:sp>
      <p:pic>
        <p:nvPicPr>
          <p:cNvPr id="314" name="Picture 3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0" y="3049118"/>
            <a:ext cx="650000" cy="611764"/>
          </a:xfrm>
          <a:prstGeom prst="rect">
            <a:avLst/>
          </a:prstGeom>
        </p:spPr>
      </p:pic>
      <p:sp>
        <p:nvSpPr>
          <p:cNvPr id="315" name="DefText315"/>
          <p:cNvSpPr txBox="1"/>
          <p:nvPr/>
        </p:nvSpPr>
        <p:spPr>
          <a:xfrm>
            <a:off x="850000" y="3030000"/>
            <a:ext cx="2290000" cy="6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000" dirty="0">
                <a:latin typeface="Aptos"/>
              </a:rPr>
              <a:t>Scale is when we 'zoom-in and zoom-out' to explore local, regional and global patterns and connections.</a:t>
            </a:r>
          </a:p>
        </p:txBody>
      </p:sp>
      <p:pic>
        <p:nvPicPr>
          <p:cNvPr id="400" name="Strip400"/>
          <p:cNvPicPr>
            <a:picLocks noChangeAspect="0"/>
          </p:cNvPicPr>
          <p:nvPr/>
        </p:nvPicPr>
        <p:blipFill>
          <a:blip r:embed="rId5"/>
          <a:stretch>
            <a:fillRect/>
          </a:stretch>
        </p:blipFill>
        <p:spPr>
          <a:xfrm>
            <a:off x="3400000" y="5723330"/>
            <a:ext cx="8642000" cy="934666"/>
          </a:xfrm>
          <a:prstGeom prst="rect">
            <a:avLst/>
          </a:prstGeom>
        </p:spPr>
      </p:pic>
      <p:pic>
        <p:nvPicPr>
          <p:cNvPr id="401" name="Strip401"/>
          <p:cNvPicPr>
            <a:picLocks noChangeAspect="0"/>
          </p:cNvPicPr>
          <p:nvPr/>
        </p:nvPicPr>
        <p:blipFill>
          <a:blip r:embed="rId6"/>
          <a:stretch>
            <a:fillRect/>
          </a:stretch>
        </p:blipFill>
        <p:spPr>
          <a:xfrm>
            <a:off x="3400000" y="4788664"/>
            <a:ext cx="8642000" cy="934666"/>
          </a:xfrm>
          <a:prstGeom prst="rect">
            <a:avLst/>
          </a:prstGeom>
        </p:spPr>
      </p:pic>
      <p:pic>
        <p:nvPicPr>
          <p:cNvPr id="402" name="Strip402"/>
          <p:cNvPicPr>
            <a:picLocks noChangeAspect="0"/>
          </p:cNvPicPr>
          <p:nvPr/>
        </p:nvPicPr>
        <p:blipFill>
          <a:blip r:embed="rId7"/>
          <a:stretch>
            <a:fillRect/>
          </a:stretch>
        </p:blipFill>
        <p:spPr>
          <a:xfrm>
            <a:off x="3400000" y="3853998"/>
            <a:ext cx="8642000" cy="934666"/>
          </a:xfrm>
          <a:prstGeom prst="rect">
            <a:avLst/>
          </a:prstGeom>
        </p:spPr>
      </p:pic>
      <p:pic>
        <p:nvPicPr>
          <p:cNvPr id="403" name="Strip403"/>
          <p:cNvPicPr>
            <a:picLocks noChangeAspect="0"/>
          </p:cNvPicPr>
          <p:nvPr/>
        </p:nvPicPr>
        <p:blipFill>
          <a:blip r:embed="rId8"/>
          <a:stretch>
            <a:fillRect/>
          </a:stretch>
        </p:blipFill>
        <p:spPr>
          <a:xfrm>
            <a:off x="3400000" y="2919332"/>
            <a:ext cx="8642000" cy="934666"/>
          </a:xfrm>
          <a:prstGeom prst="rect">
            <a:avLst/>
          </a:prstGeom>
        </p:spPr>
      </p:pic>
      <p:pic>
        <p:nvPicPr>
          <p:cNvPr id="404" name="Strip404"/>
          <p:cNvPicPr>
            <a:picLocks noChangeAspect="0"/>
          </p:cNvPicPr>
          <p:nvPr/>
        </p:nvPicPr>
        <p:blipFill>
          <a:blip r:embed="rId9"/>
          <a:stretch>
            <a:fillRect/>
          </a:stretch>
        </p:blipFill>
        <p:spPr>
          <a:xfrm>
            <a:off x="3400000" y="1984666"/>
            <a:ext cx="8642000" cy="934666"/>
          </a:xfrm>
          <a:prstGeom prst="rect">
            <a:avLst/>
          </a:prstGeom>
        </p:spPr>
      </p:pic>
      <p:pic>
        <p:nvPicPr>
          <p:cNvPr id="405" name="Strip405"/>
          <p:cNvPicPr>
            <a:picLocks noChangeAspect="0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0000" y="1050000"/>
            <a:ext cx="8642000" cy="934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" grpId="0" build="p"/>
      <p:bldP spid="401" grpId="0" build="p"/>
      <p:bldP spid="402" grpId="0" build="p"/>
      <p:bldP spid="403" grpId="0" build="p"/>
      <p:bldP spid="404" grpId="0" build="p"/>
      <p:bldP spid="405" grpId="0" build="p"/>
    </p:bld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468346-116A-66E6-812B-38A1A615A19E}"/>
              </a:ext>
            </a:extLst>
          </p:cNvPr>
          <p:cNvSpPr txBox="1"/>
          <p:nvPr userDrawn="1"/>
        </p:nvSpPr>
        <p:spPr>
          <a:xfrm>
            <a:off x="923238" y="808490"/>
            <a:ext cx="2860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spaces that have been defined by a given name. We can describe them by their location, shape, boundaries, features, physical and human characteristics.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737784-658A-AD05-8998-BAF2495F66FD}"/>
              </a:ext>
            </a:extLst>
          </p:cNvPr>
          <p:cNvGrpSpPr/>
          <p:nvPr userDrawn="1"/>
        </p:nvGrpSpPr>
        <p:grpSpPr>
          <a:xfrm>
            <a:off x="57580" y="1031926"/>
            <a:ext cx="865658" cy="744149"/>
            <a:chOff x="57580" y="1031926"/>
            <a:chExt cx="865658" cy="74414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F052065-1DDB-E2DC-0F3B-396DB5BB06C8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6DFED09-CF66-B228-0F68-9682750806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1DB2582-79EF-90E8-ADCB-2AE7029E691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0DE7C01-422A-A7BB-1D1B-3A49D84E46E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BF84855-F164-7917-D065-84DDE64A51A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11" name="Picture 10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16D06F16-D317-4C08-C147-AFE6431A94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426F523-D2E6-E414-F47E-F0FCA36951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1CB9C8-816F-DF00-0844-27C1265768A2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  <p:grpSp>
        <p:nvGrpSpPr>
          <p:cNvPr id="5" name="Group 4" hidden="1">
            <a:extLst>
              <a:ext uri="{FF2B5EF4-FFF2-40B4-BE49-F238E27FC236}">
                <a16:creationId xmlns:a16="http://schemas.microsoft.com/office/drawing/2014/main" id="{90EC6178-66B6-01DC-1F12-EB84BD45947B}"/>
              </a:ext>
            </a:extLst>
          </p:cNvPr>
          <p:cNvGrpSpPr/>
          <p:nvPr userDrawn="1"/>
        </p:nvGrpSpPr>
        <p:grpSpPr>
          <a:xfrm>
            <a:off x="4033305" y="4320166"/>
            <a:ext cx="2317966" cy="2317966"/>
            <a:chOff x="1553560" y="1499185"/>
            <a:chExt cx="2317966" cy="231796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7C8CF0-A937-A8E8-7EF0-44879B9BD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13" name="Picture 1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1FB3CDC-4B6D-416C-7AD3-BF061CBE1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FDB189-C58F-3DA2-FBFC-D5EDA5A442D2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15" name="Group 14" hidden="1">
            <a:extLst>
              <a:ext uri="{FF2B5EF4-FFF2-40B4-BE49-F238E27FC236}">
                <a16:creationId xmlns:a16="http://schemas.microsoft.com/office/drawing/2014/main" id="{F426E287-F19C-64E5-75CB-4CFFAA85761B}"/>
              </a:ext>
            </a:extLst>
          </p:cNvPr>
          <p:cNvGrpSpPr/>
          <p:nvPr userDrawn="1"/>
        </p:nvGrpSpPr>
        <p:grpSpPr>
          <a:xfrm>
            <a:off x="2158640" y="4318660"/>
            <a:ext cx="2317967" cy="2317967"/>
            <a:chOff x="2033634" y="4440139"/>
            <a:chExt cx="2317967" cy="231796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36CBDBE-231F-8452-CA97-93E01AED1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19" name="Picture 1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B42E10A-4922-2098-E7CA-5ED9090A4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BCC37A-4FC2-5D80-8B2C-A80733848AC7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21" name="Group 20" hidden="1">
            <a:extLst>
              <a:ext uri="{FF2B5EF4-FFF2-40B4-BE49-F238E27FC236}">
                <a16:creationId xmlns:a16="http://schemas.microsoft.com/office/drawing/2014/main" id="{4912B08E-A145-0051-6FC4-D75D151C70C9}"/>
              </a:ext>
            </a:extLst>
          </p:cNvPr>
          <p:cNvGrpSpPr/>
          <p:nvPr userDrawn="1"/>
        </p:nvGrpSpPr>
        <p:grpSpPr>
          <a:xfrm>
            <a:off x="5905242" y="4322973"/>
            <a:ext cx="2387476" cy="2311677"/>
            <a:chOff x="3849998" y="4440139"/>
            <a:chExt cx="2387476" cy="231167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297519D-A535-47BF-D62A-28DEBD1BA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63128B1-B65B-F124-BFF5-0C38487096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967F17B-B947-42CA-8E84-E61756770BC3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4114D4-7266-69CC-5E08-C616ED972402}"/>
              </a:ext>
            </a:extLst>
          </p:cNvPr>
          <p:cNvGrpSpPr/>
          <p:nvPr userDrawn="1"/>
        </p:nvGrpSpPr>
        <p:grpSpPr>
          <a:xfrm>
            <a:off x="292714" y="4320798"/>
            <a:ext cx="2311678" cy="2311678"/>
            <a:chOff x="265848" y="1468917"/>
            <a:chExt cx="2311678" cy="231167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DA73CD7-A081-078A-C4C7-965E23097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D4B6BAF-6EE2-1751-80B4-7DD8583EEAB3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29" name="Picture 28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F71746FE-BE43-551B-568B-A2EA692B552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30" name="Picture 29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A94999F7-ED3B-9396-7927-A0E141DCFB8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6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170C087-9BB7-E55E-C1A6-99B4B0A9BFDA}"/>
                </a:ext>
              </a:extLst>
            </p:cNvPr>
            <p:cNvSpPr txBox="1"/>
            <p:nvPr/>
          </p:nvSpPr>
          <p:spPr>
            <a:xfrm>
              <a:off x="667424" y="1899565"/>
              <a:ext cx="14733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Locating England and Brazil</a:t>
              </a:r>
            </a:p>
          </p:txBody>
        </p:sp>
      </p:grpSp>
      <p:grpSp>
        <p:nvGrpSpPr>
          <p:cNvPr id="36" name="Group 35" hidden="1">
            <a:extLst>
              <a:ext uri="{FF2B5EF4-FFF2-40B4-BE49-F238E27FC236}">
                <a16:creationId xmlns:a16="http://schemas.microsoft.com/office/drawing/2014/main" id="{FF57327F-F4D8-3321-6BD0-518960357787}"/>
              </a:ext>
            </a:extLst>
          </p:cNvPr>
          <p:cNvGrpSpPr/>
          <p:nvPr userDrawn="1"/>
        </p:nvGrpSpPr>
        <p:grpSpPr>
          <a:xfrm>
            <a:off x="7759743" y="4318660"/>
            <a:ext cx="2311677" cy="2311677"/>
            <a:chOff x="1419928" y="1940604"/>
            <a:chExt cx="2311677" cy="2311677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C850675-4709-5B44-ABA7-1CC3E0915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38" name="Picture 3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FF66A8D-8DDD-8995-2412-85EEB3F58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143188E-A293-9598-7FB7-C1DCA69CEA29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0" name="Group 39" hidden="1">
            <a:extLst>
              <a:ext uri="{FF2B5EF4-FFF2-40B4-BE49-F238E27FC236}">
                <a16:creationId xmlns:a16="http://schemas.microsoft.com/office/drawing/2014/main" id="{DD6FDB06-103C-66F7-BA7C-0BC355175619}"/>
              </a:ext>
            </a:extLst>
          </p:cNvPr>
          <p:cNvGrpSpPr/>
          <p:nvPr userDrawn="1"/>
        </p:nvGrpSpPr>
        <p:grpSpPr>
          <a:xfrm>
            <a:off x="2167658" y="2450369"/>
            <a:ext cx="2317966" cy="2317966"/>
            <a:chOff x="1553560" y="1499185"/>
            <a:chExt cx="2317966" cy="2317966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0ECD7D2-93E2-249D-6206-39ED8F59E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42" name="Picture 4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F7F777ED-9600-AD13-FE3D-57A1CED67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9C049AB-3CC8-DC42-2A72-E7B5C4116274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4" name="Group 43" hidden="1">
            <a:extLst>
              <a:ext uri="{FF2B5EF4-FFF2-40B4-BE49-F238E27FC236}">
                <a16:creationId xmlns:a16="http://schemas.microsoft.com/office/drawing/2014/main" id="{4085B5BC-0E93-33B1-AE6A-29EDFB80727F}"/>
              </a:ext>
            </a:extLst>
          </p:cNvPr>
          <p:cNvGrpSpPr/>
          <p:nvPr userDrawn="1"/>
        </p:nvGrpSpPr>
        <p:grpSpPr>
          <a:xfrm>
            <a:off x="292993" y="2448863"/>
            <a:ext cx="2317967" cy="2317967"/>
            <a:chOff x="2033634" y="4440139"/>
            <a:chExt cx="2317967" cy="2317967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74954D53-277E-8EF8-1EA6-81595BBAE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46" name="Picture 4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7868FA9-CEC7-30AF-C41F-1EDE40A34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47E068A-7F83-03D7-DA32-72E586C29290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8" name="Group 47" hidden="1">
            <a:extLst>
              <a:ext uri="{FF2B5EF4-FFF2-40B4-BE49-F238E27FC236}">
                <a16:creationId xmlns:a16="http://schemas.microsoft.com/office/drawing/2014/main" id="{F03109F7-6604-8659-1BBF-249C125ADC51}"/>
              </a:ext>
            </a:extLst>
          </p:cNvPr>
          <p:cNvGrpSpPr/>
          <p:nvPr userDrawn="1"/>
        </p:nvGrpSpPr>
        <p:grpSpPr>
          <a:xfrm>
            <a:off x="4039595" y="2453176"/>
            <a:ext cx="2387476" cy="2311677"/>
            <a:chOff x="3849998" y="4440139"/>
            <a:chExt cx="2387476" cy="2311677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93F5130-08B5-7728-5157-4A4FC71C4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269EE462-D491-054A-8735-5EE6F69A7D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3AF6DA4-E376-FB4F-346D-D82850E41155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52" name="Group 51" hidden="1">
            <a:extLst>
              <a:ext uri="{FF2B5EF4-FFF2-40B4-BE49-F238E27FC236}">
                <a16:creationId xmlns:a16="http://schemas.microsoft.com/office/drawing/2014/main" id="{07021E29-5917-D9E5-7161-343A361E0EDA}"/>
              </a:ext>
            </a:extLst>
          </p:cNvPr>
          <p:cNvGrpSpPr/>
          <p:nvPr userDrawn="1"/>
        </p:nvGrpSpPr>
        <p:grpSpPr>
          <a:xfrm>
            <a:off x="5894096" y="2448863"/>
            <a:ext cx="2311677" cy="2311677"/>
            <a:chOff x="1419928" y="1940604"/>
            <a:chExt cx="2311677" cy="2311677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0E2CC0DC-9630-6222-8570-84675E280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54" name="Picture 5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DD72CF8-CE32-F88E-86FA-9B5EF52AC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184B871-65E3-2931-1229-F482CDBB4B72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56" name="Group 55" hidden="1">
            <a:extLst>
              <a:ext uri="{FF2B5EF4-FFF2-40B4-BE49-F238E27FC236}">
                <a16:creationId xmlns:a16="http://schemas.microsoft.com/office/drawing/2014/main" id="{66E11F0C-4647-2B9B-6B59-1CAF219D8999}"/>
              </a:ext>
            </a:extLst>
          </p:cNvPr>
          <p:cNvGrpSpPr/>
          <p:nvPr userDrawn="1"/>
        </p:nvGrpSpPr>
        <p:grpSpPr>
          <a:xfrm>
            <a:off x="7759121" y="2451300"/>
            <a:ext cx="2317967" cy="2317967"/>
            <a:chOff x="2033634" y="4440139"/>
            <a:chExt cx="2317967" cy="2317967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47BB09A5-9DC5-5C26-5451-040316D0A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58" name="Picture 5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0A3869ED-2BF7-D2B7-D0E1-1529D818E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F8741D5-C7D7-8B71-B351-0697F0E76DB0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60" name="Group 59" hidden="1">
            <a:extLst>
              <a:ext uri="{FF2B5EF4-FFF2-40B4-BE49-F238E27FC236}">
                <a16:creationId xmlns:a16="http://schemas.microsoft.com/office/drawing/2014/main" id="{D74CED2C-2AF9-787B-F044-A7092725901D}"/>
              </a:ext>
            </a:extLst>
          </p:cNvPr>
          <p:cNvGrpSpPr/>
          <p:nvPr userDrawn="1"/>
        </p:nvGrpSpPr>
        <p:grpSpPr>
          <a:xfrm>
            <a:off x="5899000" y="566030"/>
            <a:ext cx="2317966" cy="2317966"/>
            <a:chOff x="1553560" y="1499185"/>
            <a:chExt cx="2317966" cy="2317966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020B7C4A-BBF3-2327-15FD-0197BB849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62" name="Picture 6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A8617FE-04F2-1637-1245-102060D7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B528CCE-13BB-743C-9666-784223D6AEF7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64" name="Group 63" hidden="1">
            <a:extLst>
              <a:ext uri="{FF2B5EF4-FFF2-40B4-BE49-F238E27FC236}">
                <a16:creationId xmlns:a16="http://schemas.microsoft.com/office/drawing/2014/main" id="{C0EC83B3-5B71-043B-B329-C31B743BD158}"/>
              </a:ext>
            </a:extLst>
          </p:cNvPr>
          <p:cNvGrpSpPr/>
          <p:nvPr userDrawn="1"/>
        </p:nvGrpSpPr>
        <p:grpSpPr>
          <a:xfrm>
            <a:off x="4033584" y="576120"/>
            <a:ext cx="2317967" cy="2317967"/>
            <a:chOff x="2033634" y="4440139"/>
            <a:chExt cx="2317967" cy="2317967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CF3F3FAE-2F96-ED81-F490-FA2F11D5C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66" name="Picture 6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582AE0E-EA6F-A03C-CDCB-FFE791677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B2F07CF-2906-BDB7-B3BE-4C2E2B7D7232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68" name="Group 67" hidden="1">
            <a:extLst>
              <a:ext uri="{FF2B5EF4-FFF2-40B4-BE49-F238E27FC236}">
                <a16:creationId xmlns:a16="http://schemas.microsoft.com/office/drawing/2014/main" id="{CBD02271-23F6-954C-E2A0-17684A91C326}"/>
              </a:ext>
            </a:extLst>
          </p:cNvPr>
          <p:cNvGrpSpPr/>
          <p:nvPr userDrawn="1"/>
        </p:nvGrpSpPr>
        <p:grpSpPr>
          <a:xfrm>
            <a:off x="7759121" y="579892"/>
            <a:ext cx="2387476" cy="2311677"/>
            <a:chOff x="3849998" y="4440139"/>
            <a:chExt cx="2387476" cy="2311677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B20B77C2-1680-32B9-286A-0DCA5A2CB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54903A00-2CAF-89D9-5219-953E0884F3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9294937-540E-630D-A463-1896B68DBE9B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72" name="Group 71" hidden="1">
            <a:extLst>
              <a:ext uri="{FF2B5EF4-FFF2-40B4-BE49-F238E27FC236}">
                <a16:creationId xmlns:a16="http://schemas.microsoft.com/office/drawing/2014/main" id="{92BA26EF-E7E4-7B54-AF54-132E15FF9908}"/>
              </a:ext>
            </a:extLst>
          </p:cNvPr>
          <p:cNvGrpSpPr/>
          <p:nvPr userDrawn="1"/>
        </p:nvGrpSpPr>
        <p:grpSpPr>
          <a:xfrm>
            <a:off x="9632885" y="2456658"/>
            <a:ext cx="2311677" cy="2311677"/>
            <a:chOff x="1419928" y="1940604"/>
            <a:chExt cx="2311677" cy="2311677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7D403383-FB6C-205A-D759-27A13B8F0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74" name="Picture 7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0E96DE15-0D98-BFD1-74AD-95AE3B649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9AD19C7-BE90-0393-88F1-3AFBF87717CC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76" name="Group 75" hidden="1">
            <a:extLst>
              <a:ext uri="{FF2B5EF4-FFF2-40B4-BE49-F238E27FC236}">
                <a16:creationId xmlns:a16="http://schemas.microsoft.com/office/drawing/2014/main" id="{F37147B6-ECCB-14E8-4033-A06A4AB0E662}"/>
              </a:ext>
            </a:extLst>
          </p:cNvPr>
          <p:cNvGrpSpPr/>
          <p:nvPr userDrawn="1"/>
        </p:nvGrpSpPr>
        <p:grpSpPr>
          <a:xfrm>
            <a:off x="9630342" y="586580"/>
            <a:ext cx="2311678" cy="2311678"/>
            <a:chOff x="265848" y="1468917"/>
            <a:chExt cx="2311678" cy="2311678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119D3A19-4C5A-11D5-E3BD-0FBBC812A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C2DAEA2E-51FF-0676-4756-F72CC6DE6608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80" name="Picture 79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9D2118D8-D0D7-C083-C455-65DB7EA5C39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81" name="Picture 80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BD19A24C-2985-7D3C-457D-377F78C4710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6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5B255FE-0DA0-FA6C-C9B9-9EF770C248DB}"/>
                </a:ext>
              </a:extLst>
            </p:cNvPr>
            <p:cNvSpPr txBox="1"/>
            <p:nvPr/>
          </p:nvSpPr>
          <p:spPr>
            <a:xfrm>
              <a:off x="667424" y="1899565"/>
              <a:ext cx="14733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 dirty="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</p:bld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01" name="LOContent501"/>
          <p:cNvSpPr txBox="1"/>
          <p:nvPr/>
        </p:nvSpPr>
        <p:spPr>
          <a:xfrm>
            <a:off x="698500" y="4719286"/>
            <a:ext cx="2559050" cy="169862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400" dirty="0">
                <a:latin typeface="Twinkl Cursive Looped"/>
              </a:rPr>
              <a:t>Locate England and Brazil on a world map and describe their positions</a:t>
            </a:r>
          </a:p>
        </p:txBody>
      </p:sp>
      <p:sp>
        <p:nvSpPr>
          <p:cNvPr id="502" name="LOContent502"/>
          <p:cNvSpPr txBox="1"/>
          <p:nvPr/>
        </p:nvSpPr>
        <p:spPr>
          <a:xfrm>
            <a:off x="4877594" y="4719287"/>
            <a:ext cx="2559050" cy="169862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400" dirty="0">
                <a:latin typeface="Twinkl Cursive Looped"/>
              </a:rPr>
              <a:t>geographers always begin by asking where a place is and what they expect to find there</a:t>
            </a:r>
          </a:p>
        </p:txBody>
      </p:sp>
      <p:sp>
        <p:nvSpPr>
          <p:cNvPr id="503" name="LOContent503"/>
          <p:cNvSpPr txBox="1"/>
          <p:nvPr/>
        </p:nvSpPr>
        <p:spPr>
          <a:xfrm>
            <a:off x="9056688" y="4719287"/>
            <a:ext cx="2559050" cy="169862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400" dirty="0">
                <a:latin typeface="Twinkl Cursive Looped"/>
              </a:rPr>
              <a:t>locating both countries on a blank world map and writing two predictions about how they might differ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knowledge am I bringing to this enquiry?</a:t>
            </a:r>
          </a:p>
          <a:p>
            <a:r>
              <a:rPr lang="en-GB" dirty="0"/>
              <a:t>What would I like to find out?</a:t>
            </a:r>
          </a:p>
        </p:txBody>
      </p:sp>
      <p:graphicFrame>
        <p:nvGraphicFramePr>
          <p:cNvPr id="200" name="KWL Table"/>
          <p:cNvGraphicFramePr>
            <a:graphicFrameLocks noGrp="1"/>
          </p:cNvGraphicFramePr>
          <p:nvPr/>
        </p:nvGraphicFramePr>
        <p:xfrm>
          <a:off x="457200" y="2200000"/>
          <a:ext cx="11277600" cy="4458000"/>
        </p:xfrm>
        <a:graphic>
          <a:graphicData uri="http://schemas.openxmlformats.org/drawingml/2006/table">
            <a:tbl>
              <a:tblPr firstRow="1"/>
              <a:tblGrid>
                <a:gridCol w="5638800"/>
                <a:gridCol w="5638800"/>
              </a:tblGrid>
              <a:tr h="50000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rgbClr val="FFFFFF"/>
                          </a:solidFill>
                        </a:rPr>
                        <a:t>Prior Knowledge and Skill</a:t>
                      </a:r>
                    </a:p>
                  </a:txBody>
                  <a:tcPr marL="91440" marT="45720">
                    <a:solidFill>
                      <a:srgbClr val="1798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rgbClr val="FFFFFF"/>
                          </a:solidFill>
                        </a:rPr>
                        <a:t>I am curious about...</a:t>
                      </a:r>
                    </a:p>
                  </a:txBody>
                  <a:tcPr marL="91440" marT="45720">
                    <a:solidFill>
                      <a:srgbClr val="1798D3"/>
                    </a:solidFill>
                  </a:tcPr>
                </a:tc>
              </a:tr>
              <a:tr h="3958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h10"/>
          <p:cNvSpPr>
            <a:spLocks noGrp="1"/>
          </p:cNvSpPr>
          <p:nvPr>
            <p:ph type="body" idx="10"/>
          </p:nvPr>
        </p:nvSpPr>
        <p:spPr/>
        <p:txBody>
          <a:bodyPr>
            <a:normAutofit/>
          </a:bodyPr>
          <a:lstStyle/>
          <a:p>
            <a:r>
              <a:rPr lang="en-GB" dirty="0"/>
              <a:t>hemisphere: one half of the Earth, divided either at the Equator (north/south) or the Prime Meridian (east/west)</a:t>
            </a:r>
          </a:p>
          <a:p>
            <a:r>
              <a:rPr lang="en-GB" dirty="0"/>
              <a:t>longitude: imaginary lines running from the North Pole to the South Pole, measuring distance east or west of the Prime Meridian</a:t>
            </a:r>
          </a:p>
          <a:p>
            <a:r>
              <a:rPr lang="en-GB" dirty="0"/>
              <a:t>latitude: imaginary lines running east to west around the Earth, measuring distance north or south of the Equator</a:t>
            </a:r>
          </a:p>
          <a:p>
            <a:r>
              <a:rPr lang="en-GB" dirty="0"/>
              <a:t>continent: one of the seven large land masses on Earth (e.g. South America, Europe)</a:t>
            </a:r>
          </a:p>
          <a:p>
            <a:r>
              <a:rPr lang="en-GB" dirty="0"/>
              <a:t>Equator: the imaginary line at 0° latitude that divides the Earth into the northern and southern hemispheres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on Earth are England and Brazil?</a:t>
            </a:r>
          </a:p>
        </p:txBody>
      </p:sp>
      <p:sp>
        <p:nvSpPr>
          <p:cNvPr id="101" name="ph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England sits in north-west Europe at around 52°N, 1°W. Brazil dominates the eastern side of South America, straddling the Equator between 5°N and 33°S. Because Brazil is so large, parts of it are in both the northern and southern hemispheres.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Locating both countries together</a:t>
            </a:r>
          </a:p>
        </p:txBody>
      </p:sp>
      <p:sp>
        <p:nvSpPr>
          <p:cNvPr id="101" name="ph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Using an atlas, find and label England and Brazil on a blank world map. Mark the Equator, the Tropic of Capricorn, and the Prime Meridian. Write the approximate latitude and longitude of London and Brasília.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in the world?</a:t>
            </a:r>
          </a:p>
        </p:txBody>
      </p:sp>
      <p:sp>
        <p:nvSpPr>
          <p:cNvPr id="101" name="ph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Complete the world map independently, adding compass directions and a key. Write three geographical facts about the position of each country.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ce, Space &amp; Sca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8" id="{780A8106-D8F1-BC45-BB32-1391F62FAC81}" vid="{9B1601A2-E4A9-9449-ACB3-F7A13806880A}"/>
    </a:ext>
  </a:extLst>
</a:theme>
</file>

<file path=ppt/theme/theme2.xml><?xml version="1.0" encoding="utf-8"?>
<a:theme xmlns:a="http://schemas.openxmlformats.org/drawingml/2006/main" name="Human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8" id="{780A8106-D8F1-BC45-BB32-1391F62FAC81}" vid="{BA67E7C2-81C4-CD4A-93E4-B0DF78FAE264}"/>
    </a:ext>
  </a:extLst>
</a:theme>
</file>

<file path=ppt/theme/theme3.xml><?xml version="1.0" encoding="utf-8"?>
<a:theme xmlns:a="http://schemas.openxmlformats.org/drawingml/2006/main" name="Cultural Awareness &amp; Divers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8" id="{780A8106-D8F1-BC45-BB32-1391F62FAC81}" vid="{A92CE0F0-8DDB-B14F-8BFE-D7BB83D88359}"/>
    </a:ext>
  </a:extLst>
</a:theme>
</file>

<file path=ppt/theme/theme4.xml><?xml version="1.0" encoding="utf-8"?>
<a:theme xmlns:a="http://schemas.openxmlformats.org/drawingml/2006/main" name="Physical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8" id="{780A8106-D8F1-BC45-BB32-1391F62FAC81}" vid="{29353F55-540F-9748-B24F-B72830C39E1C}"/>
    </a:ext>
  </a:extLst>
</a:theme>
</file>

<file path=ppt/theme/theme5.xml><?xml version="1.0" encoding="utf-8"?>
<a:theme xmlns:a="http://schemas.openxmlformats.org/drawingml/2006/main" name="Environmental Impact &amp; Sustainabil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8" id="{780A8106-D8F1-BC45-BB32-1391F62FAC81}" vid="{F40FF323-142C-2C4E-92AF-D404E2D3825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EF9E5F-4208-4CCB-9209-F9F1400DE9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95EA48-DC2D-459B-B922-A2C4EE3BFC7C}">
  <ds:schemaRefs>
    <ds:schemaRef ds:uri="http://purl.org/dc/dcmitype/"/>
    <ds:schemaRef ds:uri="http://schemas.microsoft.com/office/2006/metadata/properties"/>
    <ds:schemaRef ds:uri="4848fd07-94db-4308-8950-9cb0e230b958"/>
    <ds:schemaRef ds:uri="http://schemas.openxmlformats.org/package/2006/metadata/core-properties"/>
    <ds:schemaRef ds:uri="http://purl.org/dc/elements/1.1/"/>
    <ds:schemaRef ds:uri="9e6dd442-da5e-411e-833f-0fee7dcd781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D711390-D44A-4E93-AE20-B41395FDED8B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Place, Space &amp; Scale</Template>
  <TotalTime>30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Twinkl Cursive Looped</vt:lpstr>
      <vt:lpstr>Place, Space &amp; Scale</vt:lpstr>
      <vt:lpstr>Human Geography</vt:lpstr>
      <vt:lpstr>Cultural Awareness &amp; Diversity</vt:lpstr>
      <vt:lpstr>Physical Geography</vt:lpstr>
      <vt:lpstr>Environmental Impact &amp; Sustainability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4</cp:revision>
  <dcterms:created xsi:type="dcterms:W3CDTF">2026-07-12T17:32:50Z</dcterms:created>
  <dcterms:modified xsi:type="dcterms:W3CDTF">2026-07-12T18:02:50Z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