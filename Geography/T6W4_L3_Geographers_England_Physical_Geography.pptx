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4301" r:id="rId10"/>
    <p:sldId id="4302" r:id="rId13"/>
    <p:sldId id="4303" r:id="rId14"/>
    <p:sldId id="4304" r:id="rId15"/>
    <p:sldId id="4305" r:id="rId16"/>
    <p:sldId id="4306" r:id="rId17"/>
    <p:sldId id="4307" r:id="rId29"/>
    <p:sldId id="4308" r:id="rId30"/>
    <p:sldId id="4309" r:id="rId31"/>
    <p:sldId id="4310" r:id="rId18"/>
    <p:sldId id="4311" r:id="rId19"/>
    <p:sldId id="4312" r:id="rId20"/>
    <p:sldId id="4313" r:id="rId21"/>
    <p:sldId id="4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s" id="{154E198E-0130-A84B-84B2-A60C971BA2A2}">
          <p14:sldIdLst>
            <p14:sldId id="256"/>
            <p14:sldId id="257"/>
            <p14:sldId id="258"/>
            <p14:sldId id="259"/>
          </p14:sldIdLst>
        </p14:section>
        <p14:section name="Slide Deck" id="{66BEB757-3A3E-994B-8B52-AC6FEC5ACC7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ableStyles" Target="tableStyles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069325" y="5079350"/>
            <a:ext cx="8554700" cy="481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763" y="801688"/>
            <a:ext cx="7129462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4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1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29.xml.rels><?xml version="1.0" encoding="UTF-8"?>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hdphoto1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3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36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4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4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4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4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51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5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9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6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6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6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6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66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7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  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?>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?>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6.xml.rels><?xml version="1.0" encoding="UTF-8"?>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18" r:id="rId13"/>
    <p:sldLayoutId id="2147483831" r:id="rId14"/>
    <p:sldLayoutId id="21474837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19" r:id="rId13"/>
    <p:sldLayoutId id="2147483832" r:id="rId14"/>
    <p:sldLayoutId id="21474837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20" r:id="rId13"/>
    <p:sldLayoutId id="2147483833" r:id="rId14"/>
    <p:sldLayoutId id="21474837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21" r:id="rId13"/>
    <p:sldLayoutId id="2147483834" r:id="rId14"/>
    <p:sldLayoutId id="214748376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22" r:id="rId13"/>
    <p:sldLayoutId id="2147483835" r:id="rId14"/>
    <p:sldLayoutId id="214748381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conn_col.emf"/><Relationship Id="rId3" Type="http://schemas.openxmlformats.org/officeDocument/2006/relationships/image" Target="../media/conn_grey.emf"/><Relationship Id="rId4" Type="http://schemas.openxmlformats.org/officeDocument/2006/relationships/image" Target="../media/conn_icon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📋 Teacher Checklist — Lesson 3: England Physical Geography</a:t>
            </a:r>
          </a:p>
        </p:txBody>
      </p:sp>
      <p:sp>
        <p:nvSpPr>
          <p:cNvPr id="23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700" dirty="0"/>
              <a:t>Before the lesson:</a:t>
            </a:r>
          </a:p>
          <a:p>
            <a:pPr lvl="1"/>
            <a:r>
              <a:rPr lang="en-GB" sz="1700" dirty="0"/>
              <a:t>Print LP3 — England Physical Geography (1 per pupil)</a:t>
            </a:r>
          </a:p>
          <a:p>
            <a:pPr lvl="1"/>
            <a:r>
              <a:rPr lang="en-GB" sz="1700" dirty="0"/>
              <a:t>Display topographical map of England on board for We Do 1</a:t>
            </a:r>
          </a:p>
          <a:p>
            <a:pPr lvl="1"/>
            <a:r>
              <a:rPr lang="en-GB" sz="1700" dirty="0"/>
              <a:t>Pupils will use comparison table on LP for We Do 2</a:t>
            </a:r>
          </a:p>
          <a:p>
            <a:r>
              <a:rPr lang="en-GB" sz="1700" dirty="0"/>
              <a:t>Recap quiz (slide after LO) tests L2 content — Brazil's biomes and climate</a:t>
            </a:r>
          </a:p>
          <a:p>
            <a:r>
              <a:rPr lang="en-GB" sz="1700" dirty="0"/>
              <a:t>Vocabulary slide before I Do introduces: temperate, topography, deciduous</a:t>
            </a:r>
          </a:p>
          <a:p>
            <a:r>
              <a:rPr lang="en-GB" sz="1700" dirty="0"/>
              <a:t>Slide order: Recap quiz → Vocabulary → I Do → We Do 1 → We Do 2 → You Do → LR</a:t>
            </a:r>
          </a:p>
          <a:p>
            <a:r>
              <a:rPr lang="en-GB" sz="1700" dirty="0"/>
              <a:t>Key teaching point:</a:t>
            </a:r>
          </a:p>
          <a:p>
            <a:pPr lvl="1"/>
            <a:r>
              <a:rPr lang="en-GB" sz="1700" dirty="0"/>
              <a:t>England is further from the Equator than Brazil → cooler, no tropical climate</a:t>
            </a:r>
          </a:p>
          <a:p>
            <a:pPr lvl="1"/>
            <a:r>
              <a:rPr lang="en-GB" sz="1700" dirty="0"/>
              <a:t>England = cold and wet; Brazil (north) = hot and wet — wet for different reasons!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64E0-0ED6-F208-F723-46B8345C2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Are England and Brazil different?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B3466-067C-3FCD-C3B1-7F181CDBA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293" y="5761822"/>
            <a:ext cx="3893119" cy="1066100"/>
          </a:xfrm>
        </p:spPr>
        <p:txBody>
          <a:bodyPr/>
          <a:lstStyle/>
          <a:p>
            <a:r>
              <a:rPr lang="en-GB" dirty="0"/>
              <a:t>Year 4 Maple</a:t>
            </a:r>
          </a:p>
          <a:p>
            <a:r>
              <a:rPr lang="en-GB" dirty="0"/>
              <a:t>Friday 26 June 2026</a:t>
            </a:r>
          </a:p>
        </p:txBody>
      </p:sp>
    </p:spTree>
    <p:extLst>
      <p:ext uri="{BB962C8B-B14F-4D97-AF65-F5344CB8AC3E}">
        <p14:creationId xmlns:p14="http://schemas.microsoft.com/office/powerpoint/2010/main" val="269555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9FA7-D464-DB16-F9D9-1A8F22C9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DA825-4A9F-8790-0FB2-64DF3A55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4699" y="4308522"/>
            <a:ext cx="2311677" cy="2311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5F9710-C058-4AAB-0AE9-43EB97DCFAE3}"/>
              </a:ext>
            </a:extLst>
          </p:cNvPr>
          <p:cNvSpPr txBox="1"/>
          <p:nvPr/>
        </p:nvSpPr>
        <p:spPr>
          <a:xfrm>
            <a:off x="3538549" y="472558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1 ✓ Locating Brazil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B39C3-B7BA-66B4-CB70-85C53379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34800" y="4308522"/>
            <a:ext cx="2317967" cy="2317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6542-736F-868F-AFBC-EC2927048E44}"/>
              </a:ext>
            </a:extLst>
          </p:cNvPr>
          <p:cNvSpPr txBox="1"/>
          <p:nvPr/>
        </p:nvSpPr>
        <p:spPr>
          <a:xfrm>
            <a:off x="1786266" y="4777132"/>
            <a:ext cx="1298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winkl Cursive Looped" panose="02000000000000000000" pitchFamily="2" charset="77"/>
              </a:rPr>
              <a:t>Lesson 2 ✓ Brazil physical geography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B2614B-06E3-135C-6D45-607F4667111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4EA72E"/>
              <a:prstClr val="white"/>
            </a:duotone>
          </a:blip>
          <a:stretch>
            <a:fillRect/>
          </a:stretch>
        </p:blipFill>
        <p:spPr>
          <a:xfrm>
            <a:off x="4957200" y="4302232"/>
            <a:ext cx="2311677" cy="23116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50DA9-3C46-2B1D-CC52-2A2D75718E1F}"/>
              </a:ext>
            </a:extLst>
          </p:cNvPr>
          <p:cNvSpPr txBox="1"/>
          <p:nvPr/>
        </p:nvSpPr>
        <p:spPr>
          <a:xfrm>
            <a:off x="5411050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3 → TODAY: England comparison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784B6A-717C-6318-5D17-C7E4CFC419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1774" y="4302232"/>
            <a:ext cx="2311677" cy="23116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7B0251-6BB0-1D08-6C63-D6A67076886F}"/>
              </a:ext>
            </a:extLst>
          </p:cNvPr>
          <p:cNvSpPr txBox="1"/>
          <p:nvPr/>
        </p:nvSpPr>
        <p:spPr>
          <a:xfrm>
            <a:off x="7275624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Human geography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C10349-D842-12E8-C3D3-D68FB0137A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77952" y="2459165"/>
            <a:ext cx="2311677" cy="23116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FCB0377-6D62-9F03-9E66-6B6B2C8A4209}"/>
              </a:ext>
            </a:extLst>
          </p:cNvPr>
          <p:cNvSpPr txBox="1"/>
          <p:nvPr/>
        </p:nvSpPr>
        <p:spPr>
          <a:xfrm>
            <a:off x="3531802" y="2876223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Culture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0F10C3-A213-7AD6-ADFC-B6E04EFDF5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0453" y="2459165"/>
            <a:ext cx="2311677" cy="2311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B2ACFC-574F-E2EA-1287-383E50438186}"/>
              </a:ext>
            </a:extLst>
          </p:cNvPr>
          <p:cNvSpPr txBox="1"/>
          <p:nvPr/>
        </p:nvSpPr>
        <p:spPr>
          <a:xfrm>
            <a:off x="5404303" y="2876223"/>
            <a:ext cx="13960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</a:t>
            </a:r>
            <a:r>
              <a:rPr lang="en-US" sz="1400" dirty="0">
                <a:latin typeface="Twinkl Cursive Looped" panose="02000000000000000000" pitchFamily="2" charset="77"/>
              </a:rPr>
              <a:t>Environment</a:t>
            </a:r>
            <a:endParaRPr lang="en-US" dirty="0">
              <a:latin typeface="Twinkl Cursive Looped" panose="02000000000000000000" pitchFamily="2" charset="77"/>
            </a:endParaRPr>
          </a:p>
        </p:txBody>
      </p:sp>
      <p:pic>
        <p:nvPicPr>
          <p:cNvPr id="27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040889C-1C9E-285A-C962-166D7057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8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9" fill="hold">
                      <p:stCondLst>
                        <p:cond delay="indefinite"/>
                      </p:stCondLst>
                      <p:childTnLst>
                        <p:par>
                          <p:cTn id="2010" fill="hold">
                            <p:stCondLst>
                              <p:cond delay="0"/>
                            </p:stCondLst>
                            <p:childTnLst>
                              <p:par>
                                <p:cTn id="20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9" fill="hold">
                      <p:stCondLst>
                        <p:cond delay="indefinite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9" fill="hold">
                      <p:stCondLst>
                        <p:cond delay="indefinite"/>
                      </p:stCondLst>
                      <p:childTnLst>
                        <p:par>
                          <p:cTn id="203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9" fill="hold">
                      <p:stCondLst>
                        <p:cond delay="indefinite"/>
                      </p:stCondLst>
                      <p:childTnLst>
                        <p:par>
                          <p:cTn id="2040" fill="hold">
                            <p:stCondLst>
                              <p:cond delay="0"/>
                            </p:stCondLst>
                            <p:childTnLst>
                              <p:par>
                                <p:cTn id="20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9" fill="hold">
                      <p:stCondLst>
                        <p:cond delay="indefinite"/>
                      </p:stCondLst>
                      <p:childTnLst>
                        <p:par>
                          <p:cTn id="2050" fill="hold">
                            <p:stCondLst>
                              <p:cond delay="0"/>
                            </p:stCondLst>
                            <p:childTnLst>
                              <p:par>
                                <p:cTn id="20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9" fill="hold">
                      <p:stCondLst>
                        <p:cond delay="indefinite"/>
                      </p:stCondLst>
                      <p:childTnLst>
                        <p:par>
                          <p:cTn id="2060" fill="hold">
                            <p:stCondLst>
                              <p:cond delay="0"/>
                            </p:stCondLst>
                            <p:childTnLst>
                              <p:par>
                                <p:cTn id="20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Engage your prior knowledge</a:t>
            </a:r>
          </a:p>
        </p:txBody>
      </p:sp>
      <p:sp>
        <p:nvSpPr>
          <p:cNvPr id="202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Our Key Question is: Are England and Brazil different?</a:t>
            </a:r>
          </a:p>
          <a:p>
            <a:endParaRPr lang="en-GB" dirty="0"/>
          </a:p>
          <a:p>
            <a:r>
              <a:rPr lang="en-GB" sz="1800" dirty="0"/>
              <a:t>What do you remember about England's landscape from previous years?</a:t>
            </a:r>
          </a:p>
          <a:p>
            <a:endParaRPr lang="en-GB" dirty="0"/>
          </a:p>
          <a:p>
            <a:r>
              <a:rPr lang="en-GB" sz="1800" dirty="0"/>
              <a:t>How would you describe the weather where we live? Is it similar to or different from Brazil?</a:t>
            </a:r>
          </a:p>
          <a:p>
            <a:endParaRPr lang="en-GB" dirty="0"/>
          </a:p>
          <a:p>
            <a:r>
              <a:rPr lang="en-GB" sz="1800" dirty="0"/>
              <a:t>Which do you think has more variation in landscape — England or Brazil?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/>
              <a:t>Friday 26 June 2026</a:t>
            </a:r>
          </a:p>
        </p:txBody>
      </p:sp>
      <p:sp xmlns:p="http://schemas.openxmlformats.org/presentationml/2006/main" xmlns:a="http://schemas.openxmlformats.org/drawingml/2006/main">
        <p:nvSpPr>
          <p:cNvPr id="210" name="lo10"/>
          <p:cNvSpPr>
            <a:spLocks noGrp="1"/>
          </p:cNvSpPr>
          <p:nvPr>
            <p:ph idx="10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describe and compare England's physical geography with Brazil's.</a:t>
            </a:r>
          </a:p>
        </p:txBody>
      </p:sp>
      <p:sp xmlns:p="http://schemas.openxmlformats.org/presentationml/2006/main" xmlns:a="http://schemas.openxmlformats.org/drawingml/2006/main">
        <p:nvSpPr>
          <p:cNvPr id="211" name="lo13"/>
          <p:cNvSpPr>
            <a:spLocks noGrp="1"/>
          </p:cNvSpPr>
          <p:nvPr>
            <p:ph idx="13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comparing places is a core geographical skill and it helps us answer our enquiry question about England and Brazil.</a:t>
            </a:r>
          </a:p>
        </p:txBody>
      </p:sp>
      <p:sp xmlns:p="http://schemas.openxmlformats.org/presentationml/2006/main" xmlns:a="http://schemas.openxmlformats.org/drawingml/2006/main">
        <p:nvSpPr>
          <p:cNvPr id="212" name="lo14"/>
          <p:cNvSpPr>
            <a:spLocks noGrp="1"/>
          </p:cNvSpPr>
          <p:nvPr>
            <p:ph idx="14"/>
          </p:nvPr>
        </p:nvSpPr>
        <p:spPr>
          <a:xfrm>
            <a:off x="8979945" y="5200000"/>
            <a:ext cx="2559050" cy="984000"/>
          </a:xfrm>
        </p:spPr>
        <p:txBody>
          <a:bodyPr insTp="1000000" rtlCol="0">
            <a:normAutofit/>
          </a:bodyPr>
          <a:lstStyle/>
          <a:p>
            <a:r>
              <a:rPr lang="en-GB" dirty="0" sz="1400"/>
              <a:t>writing a comparison that uses at least two geographical vocabulary words and evidence from both countries.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63" fill="hold">
                      <p:stCondLst>
                        <p:cond delay="indefinite"/>
                      </p:stCondLst>
                      <p:childTnLst>
                        <p:par>
                          <p:cTn id="1064" fill="hold">
                            <p:stCondLst>
                              <p:cond delay="0"/>
                            </p:stCondLst>
                            <p:childTnLst>
                              <p:par>
                                <p:cTn id="10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England's physical geography</a:t>
            </a:r>
          </a:p>
        </p:txBody>
      </p:sp>
      <p:sp>
        <p:nvSpPr>
          <p:cNvPr id="214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England's climate:</a:t>
            </a:r>
          </a:p>
          <a:p>
            <a:pPr lvl="1"/>
            <a:r>
              <a:rPr lang="en-GB" sz="1800" dirty="0"/>
              <a:t>Temperate maritime — mild all year, wetter in the west, cooler in the north</a:t>
            </a:r>
          </a:p>
          <a:p>
            <a:pPr lvl="1"/>
            <a:r>
              <a:rPr lang="en-GB" sz="1800" dirty="0"/>
              <a:t>Further from the Equator than Brazil, so much cooler and less intense sunshine</a:t>
            </a:r>
          </a:p>
          <a:p>
            <a:endParaRPr lang="en-GB" dirty="0"/>
          </a:p>
          <a:p>
            <a:r>
              <a:rPr lang="en-GB" sz="1800" dirty="0"/>
              <a:t>England's biomes:</a:t>
            </a:r>
          </a:p>
          <a:p>
            <a:pPr lvl="1"/>
            <a:r>
              <a:rPr lang="en-GB" sz="1800" dirty="0"/>
              <a:t>Temperate deciduous forest — the main natural biome; trees lose leaves in winter</a:t>
            </a:r>
          </a:p>
          <a:p>
            <a:pPr lvl="1"/>
            <a:r>
              <a:rPr lang="en-GB" sz="1800" dirty="0"/>
              <a:t>Upland moorland — found in the highlands; heather and grasses, very wet</a:t>
            </a:r>
          </a:p>
          <a:p>
            <a:endParaRPr lang="en-GB" dirty="0"/>
          </a:p>
          <a:p>
            <a:r>
              <a:rPr lang="en-GB" sz="1800" dirty="0"/>
              <a:t>England's topography:</a:t>
            </a:r>
          </a:p>
          <a:p>
            <a:pPr lvl="1"/>
            <a:r>
              <a:rPr lang="en-GB" sz="1800" dirty="0"/>
              <a:t>Highlands in the north and west (Pennines, Lake District, Dartmoor)</a:t>
            </a:r>
          </a:p>
          <a:p>
            <a:pPr lvl="1"/>
            <a:r>
              <a:rPr lang="en-GB" sz="1800" dirty="0"/>
              <a:t>Lowlands in the south and east — flat plains, river valleys and farmland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Find the highlands and lowlands.</a:t>
            </a:r>
          </a:p>
        </p:txBody>
      </p:sp>
      <p:sp>
        <p:nvSpPr>
          <p:cNvPr id="216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Look at the topographical map of England on the board.</a:t>
            </a:r>
          </a:p>
          <a:p>
            <a:endParaRPr lang="en-GB" dirty="0"/>
          </a:p>
          <a:p>
            <a:r>
              <a:rPr lang="en-GB" sz="1800" dirty="0"/>
              <a:t>Find and point to:</a:t>
            </a:r>
          </a:p>
          <a:p>
            <a:endParaRPr lang="en-GB" dirty="0"/>
          </a:p>
          <a:p>
            <a:pPr lvl="1"/>
            <a:r>
              <a:rPr lang="en-GB" sz="1800" dirty="0"/>
              <a:t>An area of highland — where is it? North, south, east or west?</a:t>
            </a:r>
          </a:p>
          <a:p>
            <a:pPr lvl="1"/>
            <a:r>
              <a:rPr lang="en-GB" sz="1800" dirty="0"/>
              <a:t>An area of lowland — how is it different?</a:t>
            </a:r>
          </a:p>
          <a:p>
            <a:pPr lvl="1"/>
            <a:r>
              <a:rPr lang="en-GB" sz="1800" dirty="0"/>
              <a:t>A major river — which direction does it flow? Why?</a:t>
            </a:r>
          </a:p>
          <a:p>
            <a:endParaRPr lang="en-GB" dirty="0"/>
          </a:p>
          <a:p>
            <a:r>
              <a:rPr lang="en-GB" sz="1800" dirty="0"/>
              <a:t>Now compare with Brazil: which country has more variety in landscape?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Compare England and Brazil.</a:t>
            </a:r>
          </a:p>
        </p:txBody>
      </p:sp>
      <p:sp>
        <p:nvSpPr>
          <p:cNvPr id="218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Use the comparison table on your learning paper.</a:t>
            </a:r>
          </a:p>
          <a:p>
            <a:endParaRPr lang="en-GB" dirty="0"/>
          </a:p>
          <a:p>
            <a:r>
              <a:rPr lang="en-GB" sz="1800" dirty="0"/>
              <a:t>Work with your partner to complete:</a:t>
            </a:r>
          </a:p>
          <a:p>
            <a:endParaRPr lang="en-GB" dirty="0"/>
          </a:p>
          <a:p>
            <a:pPr lvl="1"/>
            <a:r>
              <a:rPr lang="en-GB" sz="1800" dirty="0"/>
              <a:t>Climate type — what is each country's climate?</a:t>
            </a:r>
          </a:p>
          <a:p>
            <a:pPr lvl="1"/>
            <a:r>
              <a:rPr lang="en-GB" sz="1800" dirty="0"/>
              <a:t>Temperature — hot, mild or cold? Does it change?</a:t>
            </a:r>
          </a:p>
          <a:p>
            <a:pPr lvl="1"/>
            <a:r>
              <a:rPr lang="en-GB" sz="1800" dirty="0"/>
              <a:t>Main biome — what is the natural vegetation?</a:t>
            </a:r>
          </a:p>
          <a:p>
            <a:pPr lvl="1"/>
            <a:r>
              <a:rPr lang="en-GB" sz="1800" dirty="0"/>
              <a:t>Topography — highlands, lowlands or both?</a:t>
            </a:r>
          </a:p>
          <a:p>
            <a:endParaRPr lang="en-GB" dirty="0"/>
          </a:p>
          <a:p>
            <a:r>
              <a:rPr lang="en-GB" sz="1800" dirty="0"/>
              <a:t>Be ready to share one comparison with the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Write your comparison.</a:t>
            </a:r>
          </a:p>
        </p:txBody>
      </p:sp>
      <p:sp>
        <p:nvSpPr>
          <p:cNvPr id="220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Use these sentence starters:</a:t>
            </a:r>
          </a:p>
          <a:p>
            <a:endParaRPr lang="en-GB" dirty="0"/>
          </a:p>
          <a:p>
            <a:pPr lvl="1"/>
            <a:r>
              <a:rPr lang="en-GB" sz="1800" dirty="0"/>
              <a:t>England is different from Brazil because…</a:t>
            </a:r>
          </a:p>
          <a:p>
            <a:pPr lvl="1"/>
            <a:r>
              <a:rPr lang="en-GB" sz="1800" dirty="0"/>
              <a:t>Unlike Brazil, England…</a:t>
            </a:r>
          </a:p>
          <a:p>
            <a:pPr lvl="1"/>
            <a:r>
              <a:rPr lang="en-GB" sz="1800" dirty="0"/>
              <a:t>One similarity between England and Brazil is…</a:t>
            </a:r>
          </a:p>
          <a:p>
            <a:endParaRPr lang="en-GB" dirty="0"/>
          </a:p>
          <a:p>
            <a:r>
              <a:rPr lang="en-GB" sz="1800" dirty="0"/>
              <a:t>Use at least TWO geographical vocabulary words.</a:t>
            </a:r>
          </a:p>
          <a:p>
            <a:endParaRPr lang="en-GB" dirty="0"/>
          </a:p>
          <a:p>
            <a:r>
              <a:rPr lang="en-GB" sz="1800" dirty="0"/>
              <a:t>Challenge: Why does England have four seasons when parts of Brazil only have two?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h10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dirty="0"/>
              <a:t>What surprised you most about England's physical geography?</a:t>
            </a:r>
          </a:p>
        </p:txBody>
      </p:sp>
      <p:sp>
        <p:nvSpPr>
          <p:cNvPr id="222" name="ph1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Why does a country's distance from the Equator affect its climate?</a:t>
            </a:r>
          </a:p>
        </p:txBody>
      </p:sp>
      <p:sp>
        <p:nvSpPr>
          <p:cNvPr id="223" name="ph1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dirty="0"/>
              <a:t>What is one similarity between England and Brazil?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Quiz</a:t>
            </a:r>
          </a:p>
        </p:txBody>
      </p:sp>
      <p:sp>
        <p:nvSpPr>
          <p:cNvPr id="24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700" dirty="0"/>
              <a:t>Name the three main biomes found in Brazil.</a:t>
            </a:r>
          </a:p>
          <a:p>
            <a:pPr lvl="1"/>
            <a:r>
              <a:rPr lang="en-GB" sz="1700" dirty="0"/>
              <a:t>Answer: tropical rainforest, cerrado, pantanal</a:t>
            </a:r>
          </a:p>
          <a:p>
            <a:endParaRPr lang="en-GB" dirty="0"/>
          </a:p>
          <a:p>
            <a:r>
              <a:rPr lang="en-GB" sz="1700" dirty="0"/>
              <a:t>True or false? Brazil's climate is tropical because the Equator passes through the north.</a:t>
            </a:r>
          </a:p>
          <a:p>
            <a:pPr lvl="1"/>
            <a:r>
              <a:rPr lang="en-GB" sz="1700" dirty="0"/>
              <a:t>Answer: True</a:t>
            </a:r>
          </a:p>
          <a:p>
            <a:endParaRPr lang="en-GB" dirty="0"/>
          </a:p>
          <a:p>
            <a:r>
              <a:rPr lang="en-GB" sz="1700" dirty="0"/>
              <a:t>Why is it wrong to say rainforest soil is fertile?</a:t>
            </a:r>
          </a:p>
          <a:p>
            <a:pPr lvl="1"/>
            <a:r>
              <a:rPr lang="en-GB" sz="1700" dirty="0"/>
              <a:t>Answer: the nutrients are held in the plants, not the soil</a:t>
            </a:r>
          </a:p>
          <a:p>
            <a:endParaRPr lang="en-GB" dirty="0"/>
          </a:p>
          <a:p>
            <a:r>
              <a:rPr lang="en-GB" sz="1700" dirty="0"/>
              <a:t>Which biome is a savanna with wet and dry seasons — cerrado or pantanal?</a:t>
            </a:r>
          </a:p>
          <a:p>
            <a:pPr lvl="1"/>
            <a:r>
              <a:rPr lang="en-GB" sz="1700" dirty="0"/>
              <a:t>Answer: cerrado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Vocabulary</a:t>
            </a:r>
          </a:p>
        </p:txBody>
      </p:sp>
      <p:sp>
        <p:nvSpPr>
          <p:cNvPr id="243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700" dirty="0"/>
              <a:t>Temperate</a:t>
            </a:r>
          </a:p>
          <a:p>
            <a:pPr lvl="1"/>
            <a:r>
              <a:rPr lang="en-GB" sz="1700" dirty="0"/>
              <a:t>A climate that is mild — not very hot or very cold — with rain spread through the year</a:t>
            </a:r>
          </a:p>
          <a:p>
            <a:endParaRPr lang="en-GB" dirty="0"/>
          </a:p>
          <a:p>
            <a:r>
              <a:rPr lang="en-GB" sz="1700" dirty="0"/>
              <a:t>Deciduous</a:t>
            </a:r>
          </a:p>
          <a:p>
            <a:pPr lvl="1"/>
            <a:r>
              <a:rPr lang="en-GB" sz="1700" dirty="0"/>
              <a:t>A type of tree that loses its leaves in autumn and grows new ones in spring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/>
              <a:t>Understanding topography</a:t>
            </a:r>
          </a:p>
        </p:txBody>
      </p:sp>
      <p:sp>
        <p:nvSpPr>
          <p:cNvPr id="25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500" dirty="0"/>
              <a:t>Topography means the shape of the land — how high, low, flat or hilly a place is.</a:t>
            </a:r>
          </a:p>
          <a:p>
            <a:endParaRPr lang="en-GB" dirty="0"/>
          </a:p>
          <a:p>
            <a:pPr lvl="1"/>
            <a:r>
              <a:rPr lang="en-GB" sz="1500" dirty="0"/>
              <a:t>Highland — hills and mountains. The land is high up.</a:t>
            </a:r>
          </a:p>
          <a:p>
            <a:pPr lvl="1"/>
            <a:r>
              <a:rPr lang="en-GB" sz="1500" dirty="0"/>
              <a:t>Lowland — flat plains and valleys. The land is low and often flat.</a:t>
            </a:r>
          </a:p>
          <a:p>
            <a:endParaRPr lang="en-GB" dirty="0"/>
          </a:p>
          <a:p>
            <a:r>
              <a:rPr lang="en-GB" sz="1500" dirty="0"/>
              <a:t>Example: the Pennines run through the north of England — this is an area of highland.</a:t>
            </a:r>
          </a:p>
          <a:p>
            <a:r>
              <a:rPr lang="en-GB" sz="1500" dirty="0"/>
              <a:t>Example: East Anglia in the south-east of England is mostly flat — this is an area of lowland.</a:t>
            </a:r>
          </a:p>
          <a:p>
            <a:endParaRPr lang="en-GB" dirty="0"/>
          </a:p>
          <a:p>
            <a:r>
              <a:rPr lang="en-GB" sz="1500" dirty="0"/>
              <a:t>On a map, highland is often shown in brown or dark green. Lowland is often shown in pale green.</a:t>
            </a:r>
          </a:p>
          <a:p>
            <a:endParaRPr lang="en-GB" dirty="0"/>
          </a:p>
          <a:p>
            <a:r>
              <a:rPr lang="en-GB" sz="1500" dirty="0"/>
              <a:t>Look at the map on the board. Find one area that looks like highland and one that looks like lowland. Discuss with your trio: how can you tell the difference?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95EA48-DC2D-459B-B922-A2C4EE3BFC7C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9e6dd442-da5e-411e-833f-0fee7dcd7819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848fd07-94db-4308-8950-9cb0e230b9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8</TotalTime>
  <Words>773</Words>
  <Application>Microsoft Macintosh PowerPoint</Application>
  <PresentationFormat>Widescreen</PresentationFormat>
  <Paragraphs>122</Paragraphs>
  <Slides>13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Z - Notes</vt:lpstr>
      <vt:lpstr>The Oracy Framework</vt:lpstr>
      <vt:lpstr>PowerPoint Presentation</vt:lpstr>
      <vt:lpstr>PowerPoint Presentation</vt:lpstr>
      <vt:lpstr>PowerPoint Presentation</vt:lpstr>
      <vt:lpstr>PowerPoint Presentation</vt:lpstr>
      <vt:lpstr>Connections</vt:lpstr>
      <vt:lpstr>Engage your prior knowledge</vt:lpstr>
      <vt:lpstr>Tuesday 23 June 2026</vt:lpstr>
      <vt:lpstr>Latitude, longitude and location</vt:lpstr>
      <vt:lpstr>Let's find Brazil.</vt:lpstr>
      <vt:lpstr>Label South America together.</vt:lpstr>
      <vt:lpstr>Write your location description.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2</cp:revision>
  <dcterms:created xsi:type="dcterms:W3CDTF">2026-06-21T16:44:49Z</dcterms:created>
  <dcterms:modified xsi:type="dcterms:W3CDTF">2026-06-21T18:42:18Z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