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4"/>
  </p:sldMasterIdLst>
  <p:notesMasterIdLst>
    <p:notesMasterId r:id="rId37"/>
  </p:notesMasterIdLst>
  <p:sldIdLst>
    <p:sldId id="4001" r:id="rId5"/>
    <p:sldId id="4002" r:id="rId6"/>
    <p:sldId id="4003" r:id="rId7"/>
    <p:sldId id="4004" r:id="rId8"/>
    <p:sldId id="4005" r:id="rId9"/>
    <p:sldId id="4006" r:id="rId10"/>
    <p:sldId id="4007" r:id="rId11"/>
    <p:sldId id="4008" r:id="rId12"/>
    <p:sldId id="4009" r:id="rId13"/>
    <p:sldId id="4010" r:id="rId14"/>
    <p:sldId id="4011" r:id="rId15"/>
    <p:sldId id="4012" r:id="rId16"/>
    <p:sldId id="4013" r:id="rId17"/>
    <p:sldId id="4014" r:id="rId18"/>
    <p:sldId id="4015" r:id="rId1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CF8"/>
    <a:srgbClr val="FF2F92"/>
    <a:srgbClr val="DEEBF7"/>
    <a:srgbClr val="FFFFFF"/>
    <a:srgbClr val="FFFC00"/>
    <a:srgbClr val="92D050"/>
    <a:srgbClr val="E7EEE6"/>
    <a:srgbClr val="2E231A"/>
    <a:srgbClr val="49B949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451C63-56E7-4EBF-81BF-5BC191E403AF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3B77943-79BB-4D75-BB83-B0782482F446}">
      <dgm:prSet phldrT="[Text]"/>
      <dgm:spPr>
        <a:solidFill>
          <a:srgbClr val="DAE3F3"/>
        </a:solidFill>
        <a:ln w="38100">
          <a:solidFill>
            <a:srgbClr val="4472C4"/>
          </a:solidFill>
        </a:ln>
      </dgm:spPr>
      <dgm:t>
        <a:bodyPr/>
        <a:lstStyle/>
        <a:p>
          <a:endParaRPr lang="en-GB"/>
        </a:p>
        <a:p>
          <a:endParaRPr lang="en-GB"/>
        </a:p>
      </dgm:t>
    </dgm:pt>
    <dgm:pt modelId="{BF69E45C-870E-4CF5-BE19-6B8BD9950810}" type="parTrans" cxnId="{E93958A2-D8FF-4E34-8E21-EF01D93CE0C5}">
      <dgm:prSet/>
      <dgm:spPr/>
      <dgm:t>
        <a:bodyPr/>
        <a:lstStyle/>
        <a:p>
          <a:endParaRPr lang="en-GB"/>
        </a:p>
      </dgm:t>
    </dgm:pt>
    <dgm:pt modelId="{8736C1B4-1091-4FFE-A41C-126BAD603F86}" type="sibTrans" cxnId="{E93958A2-D8FF-4E34-8E21-EF01D93CE0C5}">
      <dgm:prSet/>
      <dgm:spPr/>
      <dgm:t>
        <a:bodyPr/>
        <a:lstStyle/>
        <a:p>
          <a:endParaRPr lang="en-GB"/>
        </a:p>
      </dgm:t>
    </dgm:pt>
    <dgm:pt modelId="{A1B71D7C-CEE2-48FB-876C-D8358EF52E01}">
      <dgm:prSet phldrT="[Text]" custT="1"/>
      <dgm:spPr>
        <a:solidFill>
          <a:srgbClr val="BDD7EE"/>
        </a:solidFill>
        <a:ln w="38100"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sz="1400" b="1">
              <a:solidFill>
                <a:schemeClr val="accent1">
                  <a:lumMod val="75000"/>
                </a:schemeClr>
              </a:solidFill>
              <a:latin typeface="Sassoon Infant Rg" panose="02000503030000020003"/>
            </a:rPr>
            <a:t>Composition</a:t>
          </a:r>
        </a:p>
        <a:p>
          <a:r>
            <a:rPr lang="en-GB" sz="1100" b="0">
              <a:solidFill>
                <a:schemeClr val="accent1">
                  <a:lumMod val="75000"/>
                </a:schemeClr>
              </a:solidFill>
              <a:latin typeface="Sassoon Infant Rg" panose="02000503030000020003"/>
              <a:ea typeface="Sassoon Infant Rg" panose="02000503030000020003" pitchFamily="2" charset="0"/>
            </a:rPr>
            <a:t>(planning, paragraphs, layouts, characterisation)</a:t>
          </a:r>
        </a:p>
      </dgm:t>
    </dgm:pt>
    <dgm:pt modelId="{5B130F9E-FC51-4B49-B3EB-174977B591A6}" type="parTrans" cxnId="{F24F65B7-73FC-4C68-A13B-E28AE93FB840}">
      <dgm:prSet/>
      <dgm:spPr/>
      <dgm:t>
        <a:bodyPr/>
        <a:lstStyle/>
        <a:p>
          <a:endParaRPr lang="en-GB"/>
        </a:p>
      </dgm:t>
    </dgm:pt>
    <dgm:pt modelId="{AEE1104B-6A2E-4203-ADFE-0F618FAE6FC0}" type="sibTrans" cxnId="{F24F65B7-73FC-4C68-A13B-E28AE93FB840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B3ED78B5-363E-4DDE-9899-979653BD7748}">
      <dgm:prSet custT="1"/>
      <dgm:spPr>
        <a:solidFill>
          <a:srgbClr val="FCD0E2"/>
        </a:solidFill>
        <a:ln w="28575">
          <a:solidFill>
            <a:srgbClr val="FF3399"/>
          </a:solidFill>
        </a:ln>
      </dgm:spPr>
      <dgm:t>
        <a:bodyPr/>
        <a:lstStyle/>
        <a:p>
          <a:r>
            <a:rPr lang="en-GB" sz="1600" b="1">
              <a:solidFill>
                <a:srgbClr val="FE1288"/>
              </a:solidFill>
              <a:latin typeface="Sassoon Infant Rg" panose="02000503030000020003"/>
            </a:rPr>
            <a:t>Editing &amp; Revising</a:t>
          </a:r>
        </a:p>
        <a:p>
          <a:r>
            <a:rPr lang="en-GB" sz="1000" b="0">
              <a:solidFill>
                <a:srgbClr val="FE1288"/>
              </a:solidFill>
              <a:latin typeface="Sassoon Infant Rg" panose="02000503030000020003"/>
            </a:rPr>
            <a:t>(editing = accuracy, revising = upleveling thinking about our success criteria)</a:t>
          </a:r>
          <a:endParaRPr lang="en-GB" sz="1600" b="1">
            <a:solidFill>
              <a:srgbClr val="FE1288"/>
            </a:solidFill>
            <a:latin typeface="Sassoon Infant Rg" panose="02000503030000020003"/>
          </a:endParaRPr>
        </a:p>
      </dgm:t>
    </dgm:pt>
    <dgm:pt modelId="{53230468-D165-4661-9540-FF18360366ED}" type="parTrans" cxnId="{F1822D6F-60FB-4B7B-9B13-B0F2E68E1189}">
      <dgm:prSet/>
      <dgm:spPr/>
      <dgm:t>
        <a:bodyPr/>
        <a:lstStyle/>
        <a:p>
          <a:endParaRPr lang="en-GB"/>
        </a:p>
      </dgm:t>
    </dgm:pt>
    <dgm:pt modelId="{E483365F-2A7E-45A2-A8D1-FAACAA3D18BC}" type="sibTrans" cxnId="{F1822D6F-60FB-4B7B-9B13-B0F2E68E1189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56E2D7A0-FFA5-4AA2-B8BF-477E9B09C626}">
      <dgm:prSet custT="1"/>
      <dgm:spPr>
        <a:solidFill>
          <a:schemeClr val="accent6">
            <a:lumMod val="40000"/>
            <a:lumOff val="60000"/>
          </a:schemeClr>
        </a:solidFill>
        <a:ln w="28575">
          <a:solidFill>
            <a:srgbClr val="00B050"/>
          </a:solidFill>
        </a:ln>
      </dgm:spPr>
      <dgm:t>
        <a:bodyPr lIns="0" tIns="0" rIns="0" bIns="0"/>
        <a:lstStyle/>
        <a:p>
          <a:endParaRPr lang="en-GB" sz="1000" b="0">
            <a:solidFill>
              <a:schemeClr val="accent6">
                <a:lumMod val="75000"/>
              </a:schemeClr>
            </a:solidFill>
            <a:latin typeface="Sassoon Infant Rg" panose="02000503030000020003"/>
          </a:endParaRPr>
        </a:p>
      </dgm:t>
    </dgm:pt>
    <dgm:pt modelId="{E475C3FE-8EA4-466A-AA29-96D60388C2C6}" type="parTrans" cxnId="{04DC175A-F316-4C8B-9275-60FE5B8D0948}">
      <dgm:prSet/>
      <dgm:spPr/>
      <dgm:t>
        <a:bodyPr/>
        <a:lstStyle/>
        <a:p>
          <a:endParaRPr lang="en-GB"/>
        </a:p>
      </dgm:t>
    </dgm:pt>
    <dgm:pt modelId="{04D7F05F-6C53-4D74-8335-4ACD3492563D}" type="sibTrans" cxnId="{04DC175A-F316-4C8B-9275-60FE5B8D0948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229D9945-62EB-41F8-A115-4FE9AE8FFEFB}">
      <dgm:prSet custT="1"/>
      <dgm:spPr>
        <a:solidFill>
          <a:srgbClr val="FFC7B3"/>
        </a:solidFill>
        <a:ln w="28575">
          <a:solidFill>
            <a:schemeClr val="accent4"/>
          </a:solidFill>
        </a:ln>
      </dgm:spPr>
      <dgm:t>
        <a:bodyPr lIns="0" tIns="0" rIns="0" bIns="0"/>
        <a:lstStyle/>
        <a:p>
          <a:r>
            <a:rPr lang="en-GB" sz="1600" b="1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Cohesion</a:t>
          </a:r>
          <a:endParaRPr lang="en-GB" sz="1800" b="1">
            <a:solidFill>
              <a:schemeClr val="accent2">
                <a:lumMod val="75000"/>
              </a:schemeClr>
            </a:solidFill>
            <a:latin typeface="Sassoon Infant Rg" panose="02000503030000020003"/>
          </a:endParaRPr>
        </a:p>
        <a:p>
          <a:r>
            <a:rPr lang="en-GB" sz="1200" b="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(flow of writing: openers, adverbials, pronouns, punctuation)</a:t>
          </a:r>
        </a:p>
      </dgm:t>
    </dgm:pt>
    <dgm:pt modelId="{8A76B9CB-AB3C-4C0A-8DEA-631464993387}" type="parTrans" cxnId="{F778A256-1D6E-4649-B6F1-AB0879DD5F60}">
      <dgm:prSet/>
      <dgm:spPr/>
      <dgm:t>
        <a:bodyPr/>
        <a:lstStyle/>
        <a:p>
          <a:endParaRPr lang="en-GB"/>
        </a:p>
      </dgm:t>
    </dgm:pt>
    <dgm:pt modelId="{C0ED7EA7-12EE-4CA9-A459-B9D8B2BCC108}" type="sibTrans" cxnId="{F778A256-1D6E-4649-B6F1-AB0879DD5F60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C7ACD972-40F2-48B9-A4C4-C148A79EB095}">
      <dgm:prSet custT="1"/>
      <dgm:spPr>
        <a:solidFill>
          <a:srgbClr val="FFF19F"/>
        </a:solidFill>
        <a:ln w="28575">
          <a:solidFill>
            <a:schemeClr val="accent4">
              <a:lumMod val="75000"/>
            </a:schemeClr>
          </a:solidFill>
        </a:ln>
      </dgm:spPr>
      <dgm:t>
        <a:bodyPr lIns="0" rIns="0"/>
        <a:lstStyle/>
        <a:p>
          <a:r>
            <a:rPr lang="en-GB" sz="1600" b="1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Sentence Structure</a:t>
          </a:r>
        </a:p>
        <a:p>
          <a:r>
            <a:rPr lang="en-GB" sz="1050" b="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(simple, compound, complex sentences; clauses; noun phrases)</a:t>
          </a:r>
        </a:p>
      </dgm:t>
    </dgm:pt>
    <dgm:pt modelId="{8B240793-F8CA-4DC2-AD98-190D61BF4AAF}" type="parTrans" cxnId="{7FC4CCE3-7A63-4885-ACD0-2198D7BA61BA}">
      <dgm:prSet/>
      <dgm:spPr/>
      <dgm:t>
        <a:bodyPr/>
        <a:lstStyle/>
        <a:p>
          <a:endParaRPr lang="en-GB"/>
        </a:p>
      </dgm:t>
    </dgm:pt>
    <dgm:pt modelId="{C7869593-8BCC-4C50-B0FF-F678F0C23440}" type="sibTrans" cxnId="{7FC4CCE3-7A63-4885-ACD0-2198D7BA61BA}">
      <dgm:prSet/>
      <dgm:spPr>
        <a:solidFill>
          <a:srgbClr val="BDD7EE"/>
        </a:solidFill>
      </dgm:spPr>
      <dgm:t>
        <a:bodyPr/>
        <a:lstStyle/>
        <a:p>
          <a:endParaRPr lang="en-GB"/>
        </a:p>
      </dgm:t>
    </dgm:pt>
    <dgm:pt modelId="{864A0757-90E4-4F71-9771-558444054F44}">
      <dgm:prSet custT="1"/>
      <dgm:spPr>
        <a:solidFill>
          <a:srgbClr val="F7CCFC"/>
        </a:solidFill>
        <a:ln w="28575">
          <a:solidFill>
            <a:srgbClr val="7030A0"/>
          </a:solidFill>
        </a:ln>
      </dgm:spPr>
      <dgm:t>
        <a:bodyPr lIns="0" rIns="0"/>
        <a:lstStyle/>
        <a:p>
          <a:r>
            <a:rPr lang="en-GB" sz="1400" b="1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Vocabulary</a:t>
          </a:r>
        </a:p>
        <a:p>
          <a:r>
            <a:rPr lang="en-GB" sz="900" b="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(adventurous word choices, technical language, selecting language for effect, figurative language)</a:t>
          </a:r>
        </a:p>
      </dgm:t>
    </dgm:pt>
    <dgm:pt modelId="{5980955E-0284-4342-A64B-D3B3A1BB1654}" type="parTrans" cxnId="{8EC99ECA-3D69-4529-A2EC-1986320E57EC}">
      <dgm:prSet/>
      <dgm:spPr/>
      <dgm:t>
        <a:bodyPr/>
        <a:lstStyle/>
        <a:p>
          <a:endParaRPr lang="en-GB"/>
        </a:p>
      </dgm:t>
    </dgm:pt>
    <dgm:pt modelId="{AC6F6306-6686-4E9B-A77A-1DAA2EA33A44}" type="sibTrans" cxnId="{8EC99ECA-3D69-4529-A2EC-1986320E57EC}">
      <dgm:prSet/>
      <dgm:spPr/>
      <dgm:t>
        <a:bodyPr/>
        <a:lstStyle/>
        <a:p>
          <a:endParaRPr lang="en-GB"/>
        </a:p>
      </dgm:t>
    </dgm:pt>
    <dgm:pt modelId="{A6F5CC1E-DC45-4B34-9D9B-C2084679F9EC}" type="pres">
      <dgm:prSet presAssocID="{D0451C63-56E7-4EBF-81BF-5BC191E403A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4F9142E-2BF6-46BF-8BA2-648CA2893E52}" type="pres">
      <dgm:prSet presAssocID="{43B77943-79BB-4D75-BB83-B0782482F446}" presName="centerShape" presStyleLbl="node0" presStyleIdx="0" presStyleCnt="1" custLinFactNeighborY="1470"/>
      <dgm:spPr/>
    </dgm:pt>
    <dgm:pt modelId="{42300B8A-BC3C-4C5A-A59D-EF79175243DB}" type="pres">
      <dgm:prSet presAssocID="{A1B71D7C-CEE2-48FB-876C-D8358EF52E01}" presName="node" presStyleLbl="node1" presStyleIdx="0" presStyleCnt="6" custScaleX="112281" custScaleY="111676" custRadScaleRad="102351" custRadScaleInc="-1531">
        <dgm:presLayoutVars>
          <dgm:bulletEnabled val="1"/>
        </dgm:presLayoutVars>
      </dgm:prSet>
      <dgm:spPr/>
    </dgm:pt>
    <dgm:pt modelId="{C6139256-68C7-4515-BA1D-1C7F56C25554}" type="pres">
      <dgm:prSet presAssocID="{A1B71D7C-CEE2-48FB-876C-D8358EF52E01}" presName="dummy" presStyleCnt="0"/>
      <dgm:spPr/>
    </dgm:pt>
    <dgm:pt modelId="{098A9C61-527E-4070-93A8-0AF5DAFCAFB9}" type="pres">
      <dgm:prSet presAssocID="{AEE1104B-6A2E-4203-ADFE-0F618FAE6FC0}" presName="sibTrans" presStyleLbl="sibTrans2D1" presStyleIdx="0" presStyleCnt="6" custLinFactNeighborX="691" custLinFactNeighborY="-569"/>
      <dgm:spPr/>
    </dgm:pt>
    <dgm:pt modelId="{887F63AB-ADD2-4E3C-8371-4CB7A52EE0F5}" type="pres">
      <dgm:prSet presAssocID="{B3ED78B5-363E-4DDE-9899-979653BD7748}" presName="node" presStyleLbl="node1" presStyleIdx="1" presStyleCnt="6" custScaleX="112281" custScaleY="111676">
        <dgm:presLayoutVars>
          <dgm:bulletEnabled val="1"/>
        </dgm:presLayoutVars>
      </dgm:prSet>
      <dgm:spPr/>
    </dgm:pt>
    <dgm:pt modelId="{2280E60E-B643-4BBC-9317-6FF3BE36D54B}" type="pres">
      <dgm:prSet presAssocID="{B3ED78B5-363E-4DDE-9899-979653BD7748}" presName="dummy" presStyleCnt="0"/>
      <dgm:spPr/>
    </dgm:pt>
    <dgm:pt modelId="{C205EA7A-6113-4776-A3B8-1435E8370DFD}" type="pres">
      <dgm:prSet presAssocID="{E483365F-2A7E-45A2-A8D1-FAACAA3D18BC}" presName="sibTrans" presStyleLbl="sibTrans2D1" presStyleIdx="1" presStyleCnt="6"/>
      <dgm:spPr/>
    </dgm:pt>
    <dgm:pt modelId="{ED6EB0B0-A5D8-4B94-B33F-46B84AEAE95A}" type="pres">
      <dgm:prSet presAssocID="{56E2D7A0-FFA5-4AA2-B8BF-477E9B09C626}" presName="node" presStyleLbl="node1" presStyleIdx="2" presStyleCnt="6" custScaleX="112281" custScaleY="111676">
        <dgm:presLayoutVars>
          <dgm:bulletEnabled val="1"/>
        </dgm:presLayoutVars>
      </dgm:prSet>
      <dgm:spPr/>
    </dgm:pt>
    <dgm:pt modelId="{3D43BBBB-F177-43B4-98DB-1C25D1DD6384}" type="pres">
      <dgm:prSet presAssocID="{56E2D7A0-FFA5-4AA2-B8BF-477E9B09C626}" presName="dummy" presStyleCnt="0"/>
      <dgm:spPr/>
    </dgm:pt>
    <dgm:pt modelId="{FA4F4E66-7908-4F0B-8F01-1A2F31C53846}" type="pres">
      <dgm:prSet presAssocID="{04D7F05F-6C53-4D74-8335-4ACD3492563D}" presName="sibTrans" presStyleLbl="sibTrans2D1" presStyleIdx="2" presStyleCnt="6"/>
      <dgm:spPr/>
    </dgm:pt>
    <dgm:pt modelId="{DCECFFD5-18C8-4D1B-83A9-45599D385995}" type="pres">
      <dgm:prSet presAssocID="{229D9945-62EB-41F8-A115-4FE9AE8FFEFB}" presName="node" presStyleLbl="node1" presStyleIdx="3" presStyleCnt="6" custScaleX="112281" custScaleY="111676">
        <dgm:presLayoutVars>
          <dgm:bulletEnabled val="1"/>
        </dgm:presLayoutVars>
      </dgm:prSet>
      <dgm:spPr/>
    </dgm:pt>
    <dgm:pt modelId="{D59E8C21-4DB6-42F2-BA4C-346CC2995240}" type="pres">
      <dgm:prSet presAssocID="{229D9945-62EB-41F8-A115-4FE9AE8FFEFB}" presName="dummy" presStyleCnt="0"/>
      <dgm:spPr/>
    </dgm:pt>
    <dgm:pt modelId="{E463BEE0-7083-4E05-8C60-0B67E26D749F}" type="pres">
      <dgm:prSet presAssocID="{C0ED7EA7-12EE-4CA9-A459-B9D8B2BCC108}" presName="sibTrans" presStyleLbl="sibTrans2D1" presStyleIdx="3" presStyleCnt="6"/>
      <dgm:spPr/>
    </dgm:pt>
    <dgm:pt modelId="{1461967D-F510-4DC4-A6A9-E1A913110870}" type="pres">
      <dgm:prSet presAssocID="{C7ACD972-40F2-48B9-A4C4-C148A79EB095}" presName="node" presStyleLbl="node1" presStyleIdx="4" presStyleCnt="6" custScaleX="112570" custScaleY="111676" custRadScaleRad="100333" custRadScaleInc="2693">
        <dgm:presLayoutVars>
          <dgm:bulletEnabled val="1"/>
        </dgm:presLayoutVars>
      </dgm:prSet>
      <dgm:spPr/>
    </dgm:pt>
    <dgm:pt modelId="{A813DD2D-F87D-4F44-9E2C-4CCE6D08C1DB}" type="pres">
      <dgm:prSet presAssocID="{C7ACD972-40F2-48B9-A4C4-C148A79EB095}" presName="dummy" presStyleCnt="0"/>
      <dgm:spPr/>
    </dgm:pt>
    <dgm:pt modelId="{B5449882-2139-4E09-B445-F01F4AD1CDBA}" type="pres">
      <dgm:prSet presAssocID="{C7869593-8BCC-4C50-B0FF-F678F0C23440}" presName="sibTrans" presStyleLbl="sibTrans2D1" presStyleIdx="4" presStyleCnt="6" custLinFactNeighborX="-691" custLinFactNeighborY="-230"/>
      <dgm:spPr/>
    </dgm:pt>
    <dgm:pt modelId="{FED2A338-A74D-4C2D-8638-855C6B454919}" type="pres">
      <dgm:prSet presAssocID="{864A0757-90E4-4F71-9771-558444054F44}" presName="node" presStyleLbl="node1" presStyleIdx="5" presStyleCnt="6">
        <dgm:presLayoutVars>
          <dgm:bulletEnabled val="1"/>
        </dgm:presLayoutVars>
      </dgm:prSet>
      <dgm:spPr/>
    </dgm:pt>
    <dgm:pt modelId="{E2DB19ED-6265-4950-8FCD-F5F75E3F8BDA}" type="pres">
      <dgm:prSet presAssocID="{864A0757-90E4-4F71-9771-558444054F44}" presName="dummy" presStyleCnt="0"/>
      <dgm:spPr/>
    </dgm:pt>
    <dgm:pt modelId="{291C4135-7051-4918-8058-420B2C83DBB7}" type="pres">
      <dgm:prSet presAssocID="{AC6F6306-6686-4E9B-A77A-1DAA2EA33A44}" presName="sibTrans" presStyleLbl="sibTrans2D1" presStyleIdx="5" presStyleCnt="6"/>
      <dgm:spPr/>
    </dgm:pt>
  </dgm:ptLst>
  <dgm:cxnLst>
    <dgm:cxn modelId="{9BB0AE05-6274-4F34-BC36-A1806C728B9B}" type="presOf" srcId="{B3ED78B5-363E-4DDE-9899-979653BD7748}" destId="{887F63AB-ADD2-4E3C-8371-4CB7A52EE0F5}" srcOrd="0" destOrd="0" presId="urn:microsoft.com/office/officeart/2005/8/layout/radial6"/>
    <dgm:cxn modelId="{52B5E339-221A-49A2-A577-CD76CFC7F96D}" type="presOf" srcId="{04D7F05F-6C53-4D74-8335-4ACD3492563D}" destId="{FA4F4E66-7908-4F0B-8F01-1A2F31C53846}" srcOrd="0" destOrd="0" presId="urn:microsoft.com/office/officeart/2005/8/layout/radial6"/>
    <dgm:cxn modelId="{F778A256-1D6E-4649-B6F1-AB0879DD5F60}" srcId="{43B77943-79BB-4D75-BB83-B0782482F446}" destId="{229D9945-62EB-41F8-A115-4FE9AE8FFEFB}" srcOrd="3" destOrd="0" parTransId="{8A76B9CB-AB3C-4C0A-8DEA-631464993387}" sibTransId="{C0ED7EA7-12EE-4CA9-A459-B9D8B2BCC108}"/>
    <dgm:cxn modelId="{04DC175A-F316-4C8B-9275-60FE5B8D0948}" srcId="{43B77943-79BB-4D75-BB83-B0782482F446}" destId="{56E2D7A0-FFA5-4AA2-B8BF-477E9B09C626}" srcOrd="2" destOrd="0" parTransId="{E475C3FE-8EA4-466A-AA29-96D60388C2C6}" sibTransId="{04D7F05F-6C53-4D74-8335-4ACD3492563D}"/>
    <dgm:cxn modelId="{E767D85B-388D-4734-983F-28511C314B1F}" type="presOf" srcId="{43B77943-79BB-4D75-BB83-B0782482F446}" destId="{34F9142E-2BF6-46BF-8BA2-648CA2893E52}" srcOrd="0" destOrd="0" presId="urn:microsoft.com/office/officeart/2005/8/layout/radial6"/>
    <dgm:cxn modelId="{FA337963-36CF-40FF-83E7-ED8A7CA0E597}" type="presOf" srcId="{AC6F6306-6686-4E9B-A77A-1DAA2EA33A44}" destId="{291C4135-7051-4918-8058-420B2C83DBB7}" srcOrd="0" destOrd="0" presId="urn:microsoft.com/office/officeart/2005/8/layout/radial6"/>
    <dgm:cxn modelId="{F1822D6F-60FB-4B7B-9B13-B0F2E68E1189}" srcId="{43B77943-79BB-4D75-BB83-B0782482F446}" destId="{B3ED78B5-363E-4DDE-9899-979653BD7748}" srcOrd="1" destOrd="0" parTransId="{53230468-D165-4661-9540-FF18360366ED}" sibTransId="{E483365F-2A7E-45A2-A8D1-FAACAA3D18BC}"/>
    <dgm:cxn modelId="{10CFCC7E-69C1-40F8-B271-C440FFB4820D}" type="presOf" srcId="{56E2D7A0-FFA5-4AA2-B8BF-477E9B09C626}" destId="{ED6EB0B0-A5D8-4B94-B33F-46B84AEAE95A}" srcOrd="0" destOrd="0" presId="urn:microsoft.com/office/officeart/2005/8/layout/radial6"/>
    <dgm:cxn modelId="{DAC62E87-0FF8-45C3-9E43-E7836D684971}" type="presOf" srcId="{C7ACD972-40F2-48B9-A4C4-C148A79EB095}" destId="{1461967D-F510-4DC4-A6A9-E1A913110870}" srcOrd="0" destOrd="0" presId="urn:microsoft.com/office/officeart/2005/8/layout/radial6"/>
    <dgm:cxn modelId="{D51FA88E-50AA-4460-8409-7052740EED60}" type="presOf" srcId="{229D9945-62EB-41F8-A115-4FE9AE8FFEFB}" destId="{DCECFFD5-18C8-4D1B-83A9-45599D385995}" srcOrd="0" destOrd="0" presId="urn:microsoft.com/office/officeart/2005/8/layout/radial6"/>
    <dgm:cxn modelId="{61E25793-5346-4D5E-A268-E9EB469F6052}" type="presOf" srcId="{C0ED7EA7-12EE-4CA9-A459-B9D8B2BCC108}" destId="{E463BEE0-7083-4E05-8C60-0B67E26D749F}" srcOrd="0" destOrd="0" presId="urn:microsoft.com/office/officeart/2005/8/layout/radial6"/>
    <dgm:cxn modelId="{E93958A2-D8FF-4E34-8E21-EF01D93CE0C5}" srcId="{D0451C63-56E7-4EBF-81BF-5BC191E403AF}" destId="{43B77943-79BB-4D75-BB83-B0782482F446}" srcOrd="0" destOrd="0" parTransId="{BF69E45C-870E-4CF5-BE19-6B8BD9950810}" sibTransId="{8736C1B4-1091-4FFE-A41C-126BAD603F86}"/>
    <dgm:cxn modelId="{651246AD-6F72-4A9E-91E5-0A6345B86790}" type="presOf" srcId="{864A0757-90E4-4F71-9771-558444054F44}" destId="{FED2A338-A74D-4C2D-8638-855C6B454919}" srcOrd="0" destOrd="0" presId="urn:microsoft.com/office/officeart/2005/8/layout/radial6"/>
    <dgm:cxn modelId="{F24F65B7-73FC-4C68-A13B-E28AE93FB840}" srcId="{43B77943-79BB-4D75-BB83-B0782482F446}" destId="{A1B71D7C-CEE2-48FB-876C-D8358EF52E01}" srcOrd="0" destOrd="0" parTransId="{5B130F9E-FC51-4B49-B3EB-174977B591A6}" sibTransId="{AEE1104B-6A2E-4203-ADFE-0F618FAE6FC0}"/>
    <dgm:cxn modelId="{70ADA1C3-9B39-4A67-B10A-4088EF8F42F2}" type="presOf" srcId="{C7869593-8BCC-4C50-B0FF-F678F0C23440}" destId="{B5449882-2139-4E09-B445-F01F4AD1CDBA}" srcOrd="0" destOrd="0" presId="urn:microsoft.com/office/officeart/2005/8/layout/radial6"/>
    <dgm:cxn modelId="{8EC99ECA-3D69-4529-A2EC-1986320E57EC}" srcId="{43B77943-79BB-4D75-BB83-B0782482F446}" destId="{864A0757-90E4-4F71-9771-558444054F44}" srcOrd="5" destOrd="0" parTransId="{5980955E-0284-4342-A64B-D3B3A1BB1654}" sibTransId="{AC6F6306-6686-4E9B-A77A-1DAA2EA33A44}"/>
    <dgm:cxn modelId="{3F30D0D0-5424-4891-879E-8A82CFFFDF25}" type="presOf" srcId="{A1B71D7C-CEE2-48FB-876C-D8358EF52E01}" destId="{42300B8A-BC3C-4C5A-A59D-EF79175243DB}" srcOrd="0" destOrd="0" presId="urn:microsoft.com/office/officeart/2005/8/layout/radial6"/>
    <dgm:cxn modelId="{354DB2D2-859B-47F4-9205-FB98B0CEE0C5}" type="presOf" srcId="{D0451C63-56E7-4EBF-81BF-5BC191E403AF}" destId="{A6F5CC1E-DC45-4B34-9D9B-C2084679F9EC}" srcOrd="0" destOrd="0" presId="urn:microsoft.com/office/officeart/2005/8/layout/radial6"/>
    <dgm:cxn modelId="{7FC4CCE3-7A63-4885-ACD0-2198D7BA61BA}" srcId="{43B77943-79BB-4D75-BB83-B0782482F446}" destId="{C7ACD972-40F2-48B9-A4C4-C148A79EB095}" srcOrd="4" destOrd="0" parTransId="{8B240793-F8CA-4DC2-AD98-190D61BF4AAF}" sibTransId="{C7869593-8BCC-4C50-B0FF-F678F0C23440}"/>
    <dgm:cxn modelId="{F41DD4FB-A3CE-45BD-B77E-4CD0BC5A2245}" type="presOf" srcId="{AEE1104B-6A2E-4203-ADFE-0F618FAE6FC0}" destId="{098A9C61-527E-4070-93A8-0AF5DAFCAFB9}" srcOrd="0" destOrd="0" presId="urn:microsoft.com/office/officeart/2005/8/layout/radial6"/>
    <dgm:cxn modelId="{AC2832FF-CA4D-4808-AD70-275B24341FE6}" type="presOf" srcId="{E483365F-2A7E-45A2-A8D1-FAACAA3D18BC}" destId="{C205EA7A-6113-4776-A3B8-1435E8370DFD}" srcOrd="0" destOrd="0" presId="urn:microsoft.com/office/officeart/2005/8/layout/radial6"/>
    <dgm:cxn modelId="{E25B379E-158E-4A92-A5D5-3F182578F6B4}" type="presParOf" srcId="{A6F5CC1E-DC45-4B34-9D9B-C2084679F9EC}" destId="{34F9142E-2BF6-46BF-8BA2-648CA2893E52}" srcOrd="0" destOrd="0" presId="urn:microsoft.com/office/officeart/2005/8/layout/radial6"/>
    <dgm:cxn modelId="{26ED4237-64DD-4A19-A893-2CD3258086E2}" type="presParOf" srcId="{A6F5CC1E-DC45-4B34-9D9B-C2084679F9EC}" destId="{42300B8A-BC3C-4C5A-A59D-EF79175243DB}" srcOrd="1" destOrd="0" presId="urn:microsoft.com/office/officeart/2005/8/layout/radial6"/>
    <dgm:cxn modelId="{50362267-1B3B-4D34-96D3-A7C7E59C197A}" type="presParOf" srcId="{A6F5CC1E-DC45-4B34-9D9B-C2084679F9EC}" destId="{C6139256-68C7-4515-BA1D-1C7F56C25554}" srcOrd="2" destOrd="0" presId="urn:microsoft.com/office/officeart/2005/8/layout/radial6"/>
    <dgm:cxn modelId="{33778B6E-8472-4F64-8960-33106DEFAEF5}" type="presParOf" srcId="{A6F5CC1E-DC45-4B34-9D9B-C2084679F9EC}" destId="{098A9C61-527E-4070-93A8-0AF5DAFCAFB9}" srcOrd="3" destOrd="0" presId="urn:microsoft.com/office/officeart/2005/8/layout/radial6"/>
    <dgm:cxn modelId="{672E71FF-AC75-42A3-B4A4-084AF284C5E2}" type="presParOf" srcId="{A6F5CC1E-DC45-4B34-9D9B-C2084679F9EC}" destId="{887F63AB-ADD2-4E3C-8371-4CB7A52EE0F5}" srcOrd="4" destOrd="0" presId="urn:microsoft.com/office/officeart/2005/8/layout/radial6"/>
    <dgm:cxn modelId="{48C79BD6-605B-4A9C-B1F8-BDFBC110EB00}" type="presParOf" srcId="{A6F5CC1E-DC45-4B34-9D9B-C2084679F9EC}" destId="{2280E60E-B643-4BBC-9317-6FF3BE36D54B}" srcOrd="5" destOrd="0" presId="urn:microsoft.com/office/officeart/2005/8/layout/radial6"/>
    <dgm:cxn modelId="{3D71B9D3-A9BC-4363-8CDD-91BFBBF63790}" type="presParOf" srcId="{A6F5CC1E-DC45-4B34-9D9B-C2084679F9EC}" destId="{C205EA7A-6113-4776-A3B8-1435E8370DFD}" srcOrd="6" destOrd="0" presId="urn:microsoft.com/office/officeart/2005/8/layout/radial6"/>
    <dgm:cxn modelId="{01479B8F-EC58-4D89-88AC-85F28395F614}" type="presParOf" srcId="{A6F5CC1E-DC45-4B34-9D9B-C2084679F9EC}" destId="{ED6EB0B0-A5D8-4B94-B33F-46B84AEAE95A}" srcOrd="7" destOrd="0" presId="urn:microsoft.com/office/officeart/2005/8/layout/radial6"/>
    <dgm:cxn modelId="{21C0448A-2FCD-45AF-B0F6-1AAB60B69C5F}" type="presParOf" srcId="{A6F5CC1E-DC45-4B34-9D9B-C2084679F9EC}" destId="{3D43BBBB-F177-43B4-98DB-1C25D1DD6384}" srcOrd="8" destOrd="0" presId="urn:microsoft.com/office/officeart/2005/8/layout/radial6"/>
    <dgm:cxn modelId="{C6A846DF-F6C4-42D4-BBC8-0900351CF4D3}" type="presParOf" srcId="{A6F5CC1E-DC45-4B34-9D9B-C2084679F9EC}" destId="{FA4F4E66-7908-4F0B-8F01-1A2F31C53846}" srcOrd="9" destOrd="0" presId="urn:microsoft.com/office/officeart/2005/8/layout/radial6"/>
    <dgm:cxn modelId="{A50D10D7-D109-469C-BD81-0A1852CA30AB}" type="presParOf" srcId="{A6F5CC1E-DC45-4B34-9D9B-C2084679F9EC}" destId="{DCECFFD5-18C8-4D1B-83A9-45599D385995}" srcOrd="10" destOrd="0" presId="urn:microsoft.com/office/officeart/2005/8/layout/radial6"/>
    <dgm:cxn modelId="{5754D6E3-870C-4D9B-9699-B3EC3C753FCB}" type="presParOf" srcId="{A6F5CC1E-DC45-4B34-9D9B-C2084679F9EC}" destId="{D59E8C21-4DB6-42F2-BA4C-346CC2995240}" srcOrd="11" destOrd="0" presId="urn:microsoft.com/office/officeart/2005/8/layout/radial6"/>
    <dgm:cxn modelId="{4CA41875-9FF8-4BE3-A6F3-FBB73A7EF1B5}" type="presParOf" srcId="{A6F5CC1E-DC45-4B34-9D9B-C2084679F9EC}" destId="{E463BEE0-7083-4E05-8C60-0B67E26D749F}" srcOrd="12" destOrd="0" presId="urn:microsoft.com/office/officeart/2005/8/layout/radial6"/>
    <dgm:cxn modelId="{6648DE3F-552C-4F41-8AB1-3DE7DAA755D2}" type="presParOf" srcId="{A6F5CC1E-DC45-4B34-9D9B-C2084679F9EC}" destId="{1461967D-F510-4DC4-A6A9-E1A913110870}" srcOrd="13" destOrd="0" presId="urn:microsoft.com/office/officeart/2005/8/layout/radial6"/>
    <dgm:cxn modelId="{E7EE864A-EFBA-4FA8-BDF2-4F1327804F73}" type="presParOf" srcId="{A6F5CC1E-DC45-4B34-9D9B-C2084679F9EC}" destId="{A813DD2D-F87D-4F44-9E2C-4CCE6D08C1DB}" srcOrd="14" destOrd="0" presId="urn:microsoft.com/office/officeart/2005/8/layout/radial6"/>
    <dgm:cxn modelId="{9B56F497-B640-49EE-9785-A90B44469886}" type="presParOf" srcId="{A6F5CC1E-DC45-4B34-9D9B-C2084679F9EC}" destId="{B5449882-2139-4E09-B445-F01F4AD1CDBA}" srcOrd="15" destOrd="0" presId="urn:microsoft.com/office/officeart/2005/8/layout/radial6"/>
    <dgm:cxn modelId="{C5EB9737-C015-4A30-8D86-1741BA7CC326}" type="presParOf" srcId="{A6F5CC1E-DC45-4B34-9D9B-C2084679F9EC}" destId="{FED2A338-A74D-4C2D-8638-855C6B454919}" srcOrd="16" destOrd="0" presId="urn:microsoft.com/office/officeart/2005/8/layout/radial6"/>
    <dgm:cxn modelId="{70FB991C-98EA-49E3-880E-F4120531A533}" type="presParOf" srcId="{A6F5CC1E-DC45-4B34-9D9B-C2084679F9EC}" destId="{E2DB19ED-6265-4950-8FCD-F5F75E3F8BDA}" srcOrd="17" destOrd="0" presId="urn:microsoft.com/office/officeart/2005/8/layout/radial6"/>
    <dgm:cxn modelId="{A58E5494-02DE-44CF-AAE1-4926EDE464EB}" type="presParOf" srcId="{A6F5CC1E-DC45-4B34-9D9B-C2084679F9EC}" destId="{291C4135-7051-4918-8058-420B2C83DBB7}" srcOrd="18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C4135-7051-4918-8058-420B2C83DBB7}">
      <dsp:nvSpPr>
        <dsp:cNvPr id="0" name=""/>
        <dsp:cNvSpPr/>
      </dsp:nvSpPr>
      <dsp:spPr>
        <a:xfrm>
          <a:off x="1968003" y="612337"/>
          <a:ext cx="4193930" cy="4193930"/>
        </a:xfrm>
        <a:prstGeom prst="blockArc">
          <a:avLst>
            <a:gd name="adj1" fmla="val 12599940"/>
            <a:gd name="adj2" fmla="val 16181166"/>
            <a:gd name="adj3" fmla="val 452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49882-2139-4E09-B445-F01F4AD1CDBA}">
      <dsp:nvSpPr>
        <dsp:cNvPr id="0" name=""/>
        <dsp:cNvSpPr/>
      </dsp:nvSpPr>
      <dsp:spPr>
        <a:xfrm>
          <a:off x="1935033" y="609573"/>
          <a:ext cx="4193930" cy="4193930"/>
        </a:xfrm>
        <a:prstGeom prst="blockArc">
          <a:avLst>
            <a:gd name="adj1" fmla="val 9039044"/>
            <a:gd name="adj2" fmla="val 12613284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3BEE0-7083-4E05-8C60-0B67E26D749F}">
      <dsp:nvSpPr>
        <dsp:cNvPr id="0" name=""/>
        <dsp:cNvSpPr/>
      </dsp:nvSpPr>
      <dsp:spPr>
        <a:xfrm>
          <a:off x="1960151" y="612383"/>
          <a:ext cx="4193930" cy="4193930"/>
        </a:xfrm>
        <a:prstGeom prst="blockArc">
          <a:avLst>
            <a:gd name="adj1" fmla="val 5386859"/>
            <a:gd name="adj2" fmla="val 9025875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F4E66-7908-4F0B-8F01-1A2F31C53846}">
      <dsp:nvSpPr>
        <dsp:cNvPr id="0" name=""/>
        <dsp:cNvSpPr/>
      </dsp:nvSpPr>
      <dsp:spPr>
        <a:xfrm>
          <a:off x="1967986" y="612368"/>
          <a:ext cx="4193930" cy="4193930"/>
        </a:xfrm>
        <a:prstGeom prst="blockArc">
          <a:avLst>
            <a:gd name="adj1" fmla="val 1800000"/>
            <a:gd name="adj2" fmla="val 5400000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5EA7A-6113-4776-A3B8-1435E8370DFD}">
      <dsp:nvSpPr>
        <dsp:cNvPr id="0" name=""/>
        <dsp:cNvSpPr/>
      </dsp:nvSpPr>
      <dsp:spPr>
        <a:xfrm>
          <a:off x="1967986" y="612368"/>
          <a:ext cx="4193930" cy="4193930"/>
        </a:xfrm>
        <a:prstGeom prst="blockArc">
          <a:avLst>
            <a:gd name="adj1" fmla="val 19800000"/>
            <a:gd name="adj2" fmla="val 1800000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A9C61-527E-4070-93A8-0AF5DAFCAFB9}">
      <dsp:nvSpPr>
        <dsp:cNvPr id="0" name=""/>
        <dsp:cNvSpPr/>
      </dsp:nvSpPr>
      <dsp:spPr>
        <a:xfrm>
          <a:off x="1996948" y="588474"/>
          <a:ext cx="4193930" cy="4193930"/>
        </a:xfrm>
        <a:prstGeom prst="blockArc">
          <a:avLst>
            <a:gd name="adj1" fmla="val 16181226"/>
            <a:gd name="adj2" fmla="val 19800059"/>
            <a:gd name="adj3" fmla="val 4521"/>
          </a:avLst>
        </a:prstGeom>
        <a:solidFill>
          <a:srgbClr val="BDD7EE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9142E-2BF6-46BF-8BA2-648CA2893E52}">
      <dsp:nvSpPr>
        <dsp:cNvPr id="0" name=""/>
        <dsp:cNvSpPr/>
      </dsp:nvSpPr>
      <dsp:spPr>
        <a:xfrm>
          <a:off x="3124357" y="1828996"/>
          <a:ext cx="1881187" cy="1881187"/>
        </a:xfrm>
        <a:prstGeom prst="ellipse">
          <a:avLst/>
        </a:prstGeom>
        <a:solidFill>
          <a:srgbClr val="DAE3F3"/>
        </a:solidFill>
        <a:ln w="38100" cap="flat" cmpd="sng" algn="ctr">
          <a:solidFill>
            <a:srgbClr val="4472C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700" kern="1200"/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700" kern="1200"/>
        </a:p>
      </dsp:txBody>
      <dsp:txXfrm>
        <a:off x="3399850" y="2104489"/>
        <a:ext cx="1330201" cy="1330201"/>
      </dsp:txXfrm>
    </dsp:sp>
    <dsp:sp modelId="{42300B8A-BC3C-4C5A-A59D-EF79175243DB}">
      <dsp:nvSpPr>
        <dsp:cNvPr id="0" name=""/>
        <dsp:cNvSpPr/>
      </dsp:nvSpPr>
      <dsp:spPr>
        <a:xfrm>
          <a:off x="3314465" y="-75517"/>
          <a:ext cx="1478551" cy="1470584"/>
        </a:xfrm>
        <a:prstGeom prst="ellipse">
          <a:avLst/>
        </a:prstGeom>
        <a:solidFill>
          <a:srgbClr val="BDD7EE"/>
        </a:solidFill>
        <a:ln w="381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solidFill>
                <a:schemeClr val="accent1">
                  <a:lumMod val="75000"/>
                </a:schemeClr>
              </a:solidFill>
              <a:latin typeface="Sassoon Infant Rg" panose="02000503030000020003"/>
            </a:rPr>
            <a:t>Composition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>
              <a:solidFill>
                <a:schemeClr val="accent1">
                  <a:lumMod val="75000"/>
                </a:schemeClr>
              </a:solidFill>
              <a:latin typeface="Sassoon Infant Rg" panose="02000503030000020003"/>
              <a:ea typeface="Sassoon Infant Rg" panose="02000503030000020003" pitchFamily="2" charset="0"/>
            </a:rPr>
            <a:t>(planning, paragraphs, layouts, characterisation)</a:t>
          </a:r>
        </a:p>
      </dsp:txBody>
      <dsp:txXfrm>
        <a:off x="3530994" y="139845"/>
        <a:ext cx="1045493" cy="1039860"/>
      </dsp:txXfrm>
    </dsp:sp>
    <dsp:sp modelId="{887F63AB-ADD2-4E3C-8371-4CB7A52EE0F5}">
      <dsp:nvSpPr>
        <dsp:cNvPr id="0" name=""/>
        <dsp:cNvSpPr/>
      </dsp:nvSpPr>
      <dsp:spPr>
        <a:xfrm>
          <a:off x="5100646" y="949261"/>
          <a:ext cx="1478551" cy="1470584"/>
        </a:xfrm>
        <a:prstGeom prst="ellipse">
          <a:avLst/>
        </a:prstGeom>
        <a:solidFill>
          <a:srgbClr val="FCD0E2"/>
        </a:solidFill>
        <a:ln w="28575" cap="flat" cmpd="sng" algn="ctr">
          <a:solidFill>
            <a:srgbClr val="FF339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rgbClr val="FE1288"/>
              </a:solidFill>
              <a:latin typeface="Sassoon Infant Rg" panose="02000503030000020003"/>
            </a:rPr>
            <a:t>Editing &amp; Revising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0" kern="1200">
              <a:solidFill>
                <a:srgbClr val="FE1288"/>
              </a:solidFill>
              <a:latin typeface="Sassoon Infant Rg" panose="02000503030000020003"/>
            </a:rPr>
            <a:t>(editing = accuracy, revising = upleveling thinking about our success criteria)</a:t>
          </a:r>
          <a:endParaRPr lang="en-GB" sz="1600" b="1" kern="1200">
            <a:solidFill>
              <a:srgbClr val="FE1288"/>
            </a:solidFill>
            <a:latin typeface="Sassoon Infant Rg" panose="02000503030000020003"/>
          </a:endParaRPr>
        </a:p>
      </dsp:txBody>
      <dsp:txXfrm>
        <a:off x="5317175" y="1164623"/>
        <a:ext cx="1045493" cy="1039860"/>
      </dsp:txXfrm>
    </dsp:sp>
    <dsp:sp modelId="{ED6EB0B0-A5D8-4B94-B33F-46B84AEAE95A}">
      <dsp:nvSpPr>
        <dsp:cNvPr id="0" name=""/>
        <dsp:cNvSpPr/>
      </dsp:nvSpPr>
      <dsp:spPr>
        <a:xfrm>
          <a:off x="5100646" y="2998820"/>
          <a:ext cx="1478551" cy="1470584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 w="28575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b="0" kern="1200">
            <a:solidFill>
              <a:schemeClr val="accent6">
                <a:lumMod val="75000"/>
              </a:schemeClr>
            </a:solidFill>
            <a:latin typeface="Sassoon Infant Rg" panose="02000503030000020003"/>
          </a:endParaRPr>
        </a:p>
      </dsp:txBody>
      <dsp:txXfrm>
        <a:off x="5317175" y="3214182"/>
        <a:ext cx="1045493" cy="1039860"/>
      </dsp:txXfrm>
    </dsp:sp>
    <dsp:sp modelId="{DCECFFD5-18C8-4D1B-83A9-45599D385995}">
      <dsp:nvSpPr>
        <dsp:cNvPr id="0" name=""/>
        <dsp:cNvSpPr/>
      </dsp:nvSpPr>
      <dsp:spPr>
        <a:xfrm>
          <a:off x="3325675" y="4023600"/>
          <a:ext cx="1478551" cy="1470584"/>
        </a:xfrm>
        <a:prstGeom prst="ellipse">
          <a:avLst/>
        </a:prstGeom>
        <a:solidFill>
          <a:srgbClr val="FFC7B3"/>
        </a:solidFill>
        <a:ln w="28575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Cohesion</a:t>
          </a:r>
          <a:endParaRPr lang="en-GB" sz="1800" b="1" kern="1200">
            <a:solidFill>
              <a:schemeClr val="accent2">
                <a:lumMod val="75000"/>
              </a:schemeClr>
            </a:solidFill>
            <a:latin typeface="Sassoon Infant Rg" panose="02000503030000020003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>
              <a:solidFill>
                <a:schemeClr val="accent2">
                  <a:lumMod val="75000"/>
                </a:schemeClr>
              </a:solidFill>
              <a:latin typeface="Sassoon Infant Rg" panose="02000503030000020003"/>
            </a:rPr>
            <a:t>(flow of writing: openers, adverbials, pronouns, punctuation)</a:t>
          </a:r>
        </a:p>
      </dsp:txBody>
      <dsp:txXfrm>
        <a:off x="3542204" y="4238962"/>
        <a:ext cx="1045493" cy="1039860"/>
      </dsp:txXfrm>
    </dsp:sp>
    <dsp:sp modelId="{1461967D-F510-4DC4-A6A9-E1A913110870}">
      <dsp:nvSpPr>
        <dsp:cNvPr id="0" name=""/>
        <dsp:cNvSpPr/>
      </dsp:nvSpPr>
      <dsp:spPr>
        <a:xfrm>
          <a:off x="1533305" y="2985447"/>
          <a:ext cx="1482356" cy="1470584"/>
        </a:xfrm>
        <a:prstGeom prst="ellipse">
          <a:avLst/>
        </a:prstGeom>
        <a:solidFill>
          <a:srgbClr val="FFF19F"/>
        </a:solidFill>
        <a:ln w="28575" cap="flat" cmpd="sng" algn="ctr">
          <a:solidFill>
            <a:schemeClr val="accent4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0320" rIns="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Sentence Structure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0" kern="1200">
              <a:solidFill>
                <a:schemeClr val="accent4">
                  <a:lumMod val="75000"/>
                </a:schemeClr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(simple, compound, complex sentences; clauses; noun phrases)</a:t>
          </a:r>
        </a:p>
      </dsp:txBody>
      <dsp:txXfrm>
        <a:off x="1750391" y="3200809"/>
        <a:ext cx="1048184" cy="1039860"/>
      </dsp:txXfrm>
    </dsp:sp>
    <dsp:sp modelId="{FED2A338-A74D-4C2D-8638-855C6B454919}">
      <dsp:nvSpPr>
        <dsp:cNvPr id="0" name=""/>
        <dsp:cNvSpPr/>
      </dsp:nvSpPr>
      <dsp:spPr>
        <a:xfrm>
          <a:off x="1631565" y="1026138"/>
          <a:ext cx="1316831" cy="1316831"/>
        </a:xfrm>
        <a:prstGeom prst="ellipse">
          <a:avLst/>
        </a:prstGeom>
        <a:solidFill>
          <a:srgbClr val="F7CCFC"/>
        </a:solidFill>
        <a:ln w="28575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Vocabulary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0" kern="1200">
              <a:solidFill>
                <a:srgbClr val="002060"/>
              </a:solidFill>
              <a:latin typeface="Sassoon Infant Rg" panose="02000503030000020003" pitchFamily="2" charset="0"/>
              <a:ea typeface="Sassoon Infant Rg" panose="02000503030000020003" pitchFamily="2" charset="0"/>
            </a:rPr>
            <a:t>(adventurous word choices, technical language, selecting language for effect, figurative language)</a:t>
          </a:r>
        </a:p>
      </dsp:txBody>
      <dsp:txXfrm>
        <a:off x="1824410" y="1218983"/>
        <a:ext cx="931141" cy="931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9:34:01.02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0126E8D-530E-4E03-95AB-A9A339AF49CE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AF3014B5-151D-468A-B94E-68F12689CB7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48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microsoft.com/office/2007/relationships/hdphoto" Target="../media/hdphoto1.wdp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microsoft.com/office/2007/relationships/hdphoto" Target="../media/hdphoto4.wdp"/><Relationship Id="rId17" Type="http://schemas.openxmlformats.org/officeDocument/2006/relationships/image" Target="../media/image22.png"/><Relationship Id="rId2" Type="http://schemas.openxmlformats.org/officeDocument/2006/relationships/image" Target="../media/image13.png"/><Relationship Id="rId16" Type="http://schemas.microsoft.com/office/2007/relationships/hdphoto" Target="../media/hdphoto6.wdp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10" Type="http://schemas.microsoft.com/office/2007/relationships/hdphoto" Target="../media/hdphoto3.wdp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microsoft.com/office/2007/relationships/hdphoto" Target="../media/hdphoto5.wdp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png"/><Relationship Id="rId11" Type="http://schemas.openxmlformats.org/officeDocument/2006/relationships/image" Target="../media/image11.png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4">
            <a:extLst>
              <a:ext uri="{FF2B5EF4-FFF2-40B4-BE49-F238E27FC236}">
                <a16:creationId xmlns:a16="http://schemas.microsoft.com/office/drawing/2014/main" id="{CDCACA2F-ADFC-69E9-04BD-DAAEF993EB7A}"/>
              </a:ext>
            </a:extLst>
          </p:cNvPr>
          <p:cNvSpPr/>
          <p:nvPr/>
        </p:nvSpPr>
        <p:spPr>
          <a:xfrm>
            <a:off x="4072380" y="174114"/>
            <a:ext cx="7893378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GB" sz="4800" b="0" i="0">
                <a:solidFill>
                  <a:schemeClr val="tx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How do writers use language for effect??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ED66F4-F611-079D-F6E2-E11B0CADC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1820974"/>
            <a:ext cx="1178351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5A9E2-9C5C-FC70-B80B-630E8532DCD1}"/>
              </a:ext>
            </a:extLst>
          </p:cNvPr>
          <p:cNvSpPr txBox="1"/>
          <p:nvPr/>
        </p:nvSpPr>
        <p:spPr>
          <a:xfrm>
            <a:off x="226243" y="174114"/>
            <a:ext cx="48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>
                <a:latin typeface="Twinkl Cursive Looped" panose="02000000000000000000" pitchFamily="2" charset="77"/>
              </a:rPr>
              <a:t>Our Enquiry question is…</a:t>
            </a:r>
          </a:p>
        </p:txBody>
      </p:sp>
      <p:pic>
        <p:nvPicPr>
          <p:cNvPr id="6" name="Picture 5" descr="A picture containing room&#10;&#10;Description automatically generated">
            <a:extLst>
              <a:ext uri="{FF2B5EF4-FFF2-40B4-BE49-F238E27FC236}">
                <a16:creationId xmlns:a16="http://schemas.microsoft.com/office/drawing/2014/main" id="{1395CC20-EA57-18D4-B892-045E7B2211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3" y="3096007"/>
            <a:ext cx="2453811" cy="3561586"/>
          </a:xfrm>
          <a:prstGeom prst="rect">
            <a:avLst/>
          </a:prstGeom>
          <a:ln>
            <a:noFill/>
          </a:ln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1DD61C-B4D7-7863-E9C2-BDBF3F21F5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84620" y="4152982"/>
            <a:ext cx="1481138" cy="2032000"/>
          </a:xfrm>
        </p:spPr>
        <p:txBody>
          <a:bodyPr/>
          <a:lstStyle>
            <a:lvl1pPr>
              <a:defRPr i="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" name="Thought Bubble: Cloud 4">
            <a:extLst>
              <a:ext uri="{FF2B5EF4-FFF2-40B4-BE49-F238E27FC236}">
                <a16:creationId xmlns:a16="http://schemas.microsoft.com/office/drawing/2014/main" id="{C6D98AA2-FD8F-1753-4B02-19FE38C55F93}"/>
              </a:ext>
            </a:extLst>
          </p:cNvPr>
          <p:cNvSpPr/>
          <p:nvPr userDrawn="1"/>
        </p:nvSpPr>
        <p:spPr>
          <a:xfrm>
            <a:off x="4072380" y="174114"/>
            <a:ext cx="7893378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GB" sz="4800" b="0" i="0">
                <a:solidFill>
                  <a:schemeClr val="tx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How do authors convey emotion?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AB8542-6182-7A12-FBA4-CFB98A15FD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52" y="1820974"/>
            <a:ext cx="1178351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0D110E-0E61-818A-CCAA-08C2B7E13AB6}"/>
              </a:ext>
            </a:extLst>
          </p:cNvPr>
          <p:cNvSpPr txBox="1"/>
          <p:nvPr userDrawn="1"/>
        </p:nvSpPr>
        <p:spPr>
          <a:xfrm>
            <a:off x="226243" y="174114"/>
            <a:ext cx="4849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0" i="0">
                <a:latin typeface="Twinkl Cursive Looped" panose="02000000000000000000" pitchFamily="2" charset="77"/>
              </a:rPr>
              <a:t>Our Enquiry question is…</a:t>
            </a:r>
          </a:p>
        </p:txBody>
      </p:sp>
      <p:pic>
        <p:nvPicPr>
          <p:cNvPr id="10" name="Picture 9" descr="A picture containing room&#10;&#10;Description automatically generated">
            <a:extLst>
              <a:ext uri="{FF2B5EF4-FFF2-40B4-BE49-F238E27FC236}">
                <a16:creationId xmlns:a16="http://schemas.microsoft.com/office/drawing/2014/main" id="{69BEC9D7-F664-15DC-B042-2E148F351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3" y="3096007"/>
            <a:ext cx="2453811" cy="3561586"/>
          </a:xfrm>
          <a:prstGeom prst="rect">
            <a:avLst/>
          </a:prstGeom>
          <a:ln>
            <a:noFill/>
          </a:ln>
        </p:spPr>
      </p:pic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801311D9-ADC1-4796-1B40-E4498F37C39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10483850" y="6359525"/>
            <a:ext cx="1598613" cy="411163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43465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Concep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8">
            <a:extLst>
              <a:ext uri="{FF2B5EF4-FFF2-40B4-BE49-F238E27FC236}">
                <a16:creationId xmlns:a16="http://schemas.microsoft.com/office/drawing/2014/main" id="{58FDA134-C5A3-CB9F-122A-C1192CDCB5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Speech Bubble: Rectangle with Corners Rounded 20">
            <a:extLst>
              <a:ext uri="{FF2B5EF4-FFF2-40B4-BE49-F238E27FC236}">
                <a16:creationId xmlns:a16="http://schemas.microsoft.com/office/drawing/2014/main" id="{F46FF9FB-4200-48E3-CDA9-DE800F269CEF}"/>
              </a:ext>
            </a:extLst>
          </p:cNvPr>
          <p:cNvSpPr/>
          <p:nvPr userDrawn="1"/>
        </p:nvSpPr>
        <p:spPr>
          <a:xfrm>
            <a:off x="6564086" y="712642"/>
            <a:ext cx="4800599" cy="1779124"/>
          </a:xfrm>
          <a:prstGeom prst="wedgeRoundRectCallout">
            <a:avLst>
              <a:gd name="adj1" fmla="val -6608"/>
              <a:gd name="adj2" fmla="val 7369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2000">
                <a:solidFill>
                  <a:schemeClr val="tx1"/>
                </a:solidFill>
                <a:latin typeface="Twinkl Cursive Looped" panose="02000000000000000000" pitchFamily="2" charset="77"/>
              </a:rPr>
              <a:t>Writing allows us to communicate our ideas and express our identity to the world around us.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799E41-5580-5120-108C-E3F2667087AC}"/>
              </a:ext>
            </a:extLst>
          </p:cNvPr>
          <p:cNvGrpSpPr/>
          <p:nvPr userDrawn="1"/>
        </p:nvGrpSpPr>
        <p:grpSpPr>
          <a:xfrm>
            <a:off x="-877176" y="480180"/>
            <a:ext cx="8128000" cy="5418667"/>
            <a:chOff x="-855404" y="719666"/>
            <a:chExt cx="8128000" cy="54186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CA2EB78-F433-C7D7-09DA-6E0EC3BB7A4B}"/>
                </a:ext>
              </a:extLst>
            </p:cNvPr>
            <p:cNvGrpSpPr/>
            <p:nvPr/>
          </p:nvGrpSpPr>
          <p:grpSpPr>
            <a:xfrm>
              <a:off x="-855404" y="719666"/>
              <a:ext cx="8128000" cy="5418667"/>
              <a:chOff x="158295" y="719666"/>
              <a:chExt cx="8128000" cy="5418667"/>
            </a:xfrm>
          </p:grpSpPr>
          <p:graphicFrame>
            <p:nvGraphicFramePr>
              <p:cNvPr id="14" name="Diagram 13">
                <a:extLst>
                  <a:ext uri="{FF2B5EF4-FFF2-40B4-BE49-F238E27FC236}">
                    <a16:creationId xmlns:a16="http://schemas.microsoft.com/office/drawing/2014/main" id="{DAC0ADB5-7E68-E3D8-9640-965A8143D3E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57061540"/>
                  </p:ext>
                </p:extLst>
              </p:nvPr>
            </p:nvGraphicFramePr>
            <p:xfrm>
              <a:off x="158295" y="71966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CD2579-1DC0-6439-6F95-BFE0C2A100E4}"/>
                  </a:ext>
                </a:extLst>
              </p:cNvPr>
              <p:cNvSpPr txBox="1"/>
              <p:nvPr/>
            </p:nvSpPr>
            <p:spPr>
              <a:xfrm rot="16367761">
                <a:off x="3260800" y="2179571"/>
                <a:ext cx="1973014" cy="2366341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Circle">
                  <a:avLst>
                    <a:gd name="adj" fmla="val 15621190"/>
                  </a:avLst>
                </a:prstTxWarp>
                <a:spAutoFit/>
              </a:bodyPr>
              <a:lstStyle/>
              <a:p>
                <a:pPr algn="ctr"/>
                <a:r>
                  <a:rPr lang="en-GB" sz="3200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Key concepts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DC86E1-536F-CCCF-3D15-D1018C63180E}"/>
                  </a:ext>
                </a:extLst>
              </p:cNvPr>
              <p:cNvSpPr txBox="1"/>
              <p:nvPr/>
            </p:nvSpPr>
            <p:spPr>
              <a:xfrm>
                <a:off x="2466547" y="3776903"/>
                <a:ext cx="35471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800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Being a </a:t>
                </a:r>
              </a:p>
              <a:p>
                <a:pPr algn="ctr"/>
                <a:r>
                  <a:rPr lang="en-GB" b="1">
                    <a:solidFill>
                      <a:srgbClr val="0070C0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Writer</a:t>
                </a:r>
                <a:endParaRPr lang="en-GB" sz="1800" b="1">
                  <a:solidFill>
                    <a:srgbClr val="0070C0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9B83671-3697-DB6A-79E2-FE1A87D84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7192" y="3970334"/>
                <a:ext cx="1103794" cy="969292"/>
              </a:xfrm>
              <a:prstGeom prst="rect">
                <a:avLst/>
              </a:prstGeom>
            </p:spPr>
          </p:pic>
          <p:pic>
            <p:nvPicPr>
              <p:cNvPr id="18" name="Picture 4">
                <a:extLst>
                  <a:ext uri="{FF2B5EF4-FFF2-40B4-BE49-F238E27FC236}">
                    <a16:creationId xmlns:a16="http://schemas.microsoft.com/office/drawing/2014/main" id="{49CC0311-99EF-2D4A-72AC-38989B459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8551" y="2782325"/>
                <a:ext cx="1004469" cy="9628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Arrow: Bent 22">
              <a:extLst>
                <a:ext uri="{FF2B5EF4-FFF2-40B4-BE49-F238E27FC236}">
                  <a16:creationId xmlns:a16="http://schemas.microsoft.com/office/drawing/2014/main" id="{62127C97-122D-ADAF-36A3-026415B5EFA9}"/>
                </a:ext>
              </a:extLst>
            </p:cNvPr>
            <p:cNvSpPr/>
            <p:nvPr/>
          </p:nvSpPr>
          <p:spPr>
            <a:xfrm rot="5400000">
              <a:off x="5607009" y="4529327"/>
              <a:ext cx="861337" cy="595615"/>
            </a:xfrm>
            <a:prstGeom prst="bentArrow">
              <a:avLst>
                <a:gd name="adj1" fmla="val 19000"/>
                <a:gd name="adj2" fmla="val 25000"/>
                <a:gd name="adj3" fmla="val 25000"/>
                <a:gd name="adj4" fmla="val 4375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5464D8A-02CC-CF59-60EB-158DC8294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756308" y="2959785"/>
            <a:ext cx="1332436" cy="16342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F85455-3D66-D3E5-CD05-E799BE8841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096303" y="2583086"/>
            <a:ext cx="1186938" cy="1694889"/>
          </a:xfrm>
          <a:prstGeom prst="rect">
            <a:avLst/>
          </a:prstGeom>
        </p:spPr>
      </p:pic>
      <p:sp>
        <p:nvSpPr>
          <p:cNvPr id="21" name="Rectangle: Rounded Corners 27">
            <a:extLst>
              <a:ext uri="{FF2B5EF4-FFF2-40B4-BE49-F238E27FC236}">
                <a16:creationId xmlns:a16="http://schemas.microsoft.com/office/drawing/2014/main" id="{E014B258-E78F-BADE-31B3-0EDDCBCF6DF9}"/>
              </a:ext>
            </a:extLst>
          </p:cNvPr>
          <p:cNvSpPr/>
          <p:nvPr userDrawn="1"/>
        </p:nvSpPr>
        <p:spPr>
          <a:xfrm>
            <a:off x="11364685" y="195943"/>
            <a:ext cx="609601" cy="2842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LKS2</a:t>
            </a:r>
          </a:p>
        </p:txBody>
      </p:sp>
      <p:pic>
        <p:nvPicPr>
          <p:cNvPr id="22" name="Picture 21" descr="A group of icons with words&#10;&#10;AI-generated content may be incorrect.">
            <a:extLst>
              <a:ext uri="{FF2B5EF4-FFF2-40B4-BE49-F238E27FC236}">
                <a16:creationId xmlns:a16="http://schemas.microsoft.com/office/drawing/2014/main" id="{4810A1F8-DFFE-C7E4-43CD-5FF4466C191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326673" y="5138135"/>
            <a:ext cx="7432356" cy="1360065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35659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quiry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B14427-3D8F-C48B-809E-2641E983B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8752" y="1169487"/>
            <a:ext cx="8994497" cy="2387600"/>
          </a:xfrm>
        </p:spPr>
        <p:txBody>
          <a:bodyPr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D44BF013-3CAD-6F88-26CE-6681EDD895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79" y="5196690"/>
            <a:ext cx="1679750" cy="147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2720CC-D27C-3CAC-E8FF-DEAEA76726DB}"/>
                  </a:ext>
                </a:extLst>
              </p14:cNvPr>
              <p14:cNvContentPartPr/>
              <p14:nvPr userDrawn="1"/>
            </p14:nvContentPartPr>
            <p14:xfrm>
              <a:off x="10551314" y="6733957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2720CC-D27C-3CAC-E8FF-DEAEA76726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5194" y="67278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2E51263-56C4-007F-C061-1DDB61A71BB7}"/>
              </a:ext>
            </a:extLst>
          </p:cNvPr>
          <p:cNvSpPr txBox="1"/>
          <p:nvPr userDrawn="1"/>
        </p:nvSpPr>
        <p:spPr>
          <a:xfrm>
            <a:off x="1598753" y="3760616"/>
            <a:ext cx="8994496" cy="1435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Challenge:</a:t>
            </a:r>
          </a:p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Purpose</a:t>
            </a:r>
            <a:r>
              <a:rPr lang="en-GB" sz="2000">
                <a:latin typeface="Twinkl Cursive Looped" panose="02000000000000000000" pitchFamily="2" charset="7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en-GB" sz="2000" b="1">
                <a:latin typeface="Twinkl Cursive Looped" panose="02000000000000000000" pitchFamily="2" charset="77"/>
              </a:rPr>
              <a:t>Audience</a:t>
            </a:r>
            <a:r>
              <a:rPr lang="en-GB" sz="2000">
                <a:latin typeface="Twinkl Cursive Looped" panose="02000000000000000000" pitchFamily="2" charset="77"/>
              </a:rPr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8A547B-6A94-9A41-BF74-8DB5E9A873D1}"/>
              </a:ext>
            </a:extLst>
          </p:cNvPr>
          <p:cNvSpPr txBox="1"/>
          <p:nvPr userDrawn="1"/>
        </p:nvSpPr>
        <p:spPr>
          <a:xfrm>
            <a:off x="990357" y="93525"/>
            <a:ext cx="961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0" i="0">
                <a:latin typeface="Twinkl Cursive Looped" panose="02000000000000000000" pitchFamily="2" charset="77"/>
              </a:rPr>
              <a:t>Enquiry - Being a writer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EBFBC87-5DAB-0BC0-8847-D1EE6D32FF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31" y="5447722"/>
            <a:ext cx="5138738" cy="841375"/>
          </a:xfrm>
        </p:spPr>
        <p:txBody>
          <a:bodyPr>
            <a:noAutofit/>
          </a:bodyPr>
          <a:lstStyle>
            <a:lvl1pPr algn="ctr">
              <a:buNone/>
              <a:defRPr sz="400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Day a.m.</a:t>
            </a:r>
          </a:p>
        </p:txBody>
      </p:sp>
      <p:pic>
        <p:nvPicPr>
          <p:cNvPr id="14" name="Picture 13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07CDAC2-42B5-AF76-74A6-6FA2888908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249" y="93165"/>
            <a:ext cx="1651489" cy="164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7356BB5-54CC-2C49-119E-ABA348D7D6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8639" y="152862"/>
            <a:ext cx="1257300" cy="18288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54BB350A-C598-F012-9294-5B2871EC19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3805" y="3919545"/>
            <a:ext cx="7640714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EC0F6257-0DFF-9A2D-B385-6F2A5A912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16469" y="4358546"/>
            <a:ext cx="7848050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C3CDB1C5-7C71-0F89-9EE3-B3DBFBC5F8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3427" y="4821062"/>
            <a:ext cx="7731092" cy="313305"/>
          </a:xfrm>
        </p:spPr>
        <p:txBody>
          <a:bodyPr>
            <a:noAutofit/>
          </a:bodyPr>
          <a:lstStyle>
            <a:lvl1pPr algn="l">
              <a:buNone/>
              <a:defRPr sz="2000" b="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insert…</a:t>
            </a:r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9547EF1A-FBA6-E246-0C60-F295143CE645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73822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S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C48A443-4217-8D94-1CBF-40F5242F4877}"/>
              </a:ext>
            </a:extLst>
          </p:cNvPr>
          <p:cNvSpPr txBox="1"/>
          <p:nvPr/>
        </p:nvSpPr>
        <p:spPr>
          <a:xfrm>
            <a:off x="1156771" y="359821"/>
            <a:ext cx="961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0" i="0">
                <a:latin typeface="Twinkl Cursive Looped" panose="02000000000000000000" pitchFamily="2" charset="77"/>
              </a:rPr>
              <a:t>Enquiry - Being a writer</a:t>
            </a:r>
          </a:p>
        </p:txBody>
      </p:sp>
      <p:pic>
        <p:nvPicPr>
          <p:cNvPr id="17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31CFA139-07F8-CCBE-F01F-CE0540462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394" y="3546341"/>
            <a:ext cx="2967212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66256B4-FB76-FE56-647C-73763F8D2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96265" y="1809941"/>
            <a:ext cx="5138738" cy="841375"/>
          </a:xfrm>
        </p:spPr>
        <p:txBody>
          <a:bodyPr>
            <a:noAutofit/>
          </a:bodyPr>
          <a:lstStyle>
            <a:lvl1pPr algn="ctr">
              <a:buNone/>
              <a:defRPr sz="400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Day a.m.</a:t>
            </a:r>
          </a:p>
        </p:txBody>
      </p:sp>
      <p:pic>
        <p:nvPicPr>
          <p:cNvPr id="3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BC41B23F-05BB-617F-DCA6-FF8AAB7B3D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394" y="3546341"/>
            <a:ext cx="2967212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A6A3FD4D-1AA7-0081-266B-9482C49B0C8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93477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D56006D9-1335-F661-72AA-6B6D0400C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i="0"/>
            </a:lvl1pPr>
          </a:lstStyle>
          <a:p>
            <a:r>
              <a:rPr lang="en-GB" dirty="0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3BDB3CA-16D2-10C2-1B6E-4ED5A497CB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4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sz="16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3" name="Media Placeholder 8">
            <a:extLst>
              <a:ext uri="{FF2B5EF4-FFF2-40B4-BE49-F238E27FC236}">
                <a16:creationId xmlns:a16="http://schemas.microsoft.com/office/drawing/2014/main" id="{638EA5C2-9E91-E429-EBE0-1777B588400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1482391-6604-3B87-A388-F9D7A19862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4038" y="448468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628AD0DB-CE14-D6F2-2254-535E13229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9811" y="446409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A6424571-E656-60D6-7FC8-5E4AFB3C2E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73666" y="4443508"/>
            <a:ext cx="2795587" cy="17367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234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4" name="Picture 3" descr="A close-up of a card&#10;&#10;AI-generated content may be incorrect.">
            <a:extLst>
              <a:ext uri="{FF2B5EF4-FFF2-40B4-BE49-F238E27FC236}">
                <a16:creationId xmlns:a16="http://schemas.microsoft.com/office/drawing/2014/main" id="{17BDC2BB-DA77-CA24-620C-A60F80F4E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5" name="Picture 4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FFCEDCA4-5840-D1ED-4374-DF25EE6BB9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658DDC16-A158-4518-1431-7EC8F521D388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6865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sign&#10;&#10;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pic>
        <p:nvPicPr>
          <p:cNvPr id="4" name="Picture 3" descr="A close-up of a pink sign&#10;&#10;AI-generated content may be incorrect.">
            <a:extLst>
              <a:ext uri="{FF2B5EF4-FFF2-40B4-BE49-F238E27FC236}">
                <a16:creationId xmlns:a16="http://schemas.microsoft.com/office/drawing/2014/main" id="{B44060F6-303F-47CC-481E-B9DD51419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85D168E-9DF7-063E-E5FA-EC20A9CD6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4858029D-68F9-521A-1AFE-C5AFCB0CC384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951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581A9594-F87A-CB36-0ABE-02311C173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21" y="120460"/>
            <a:ext cx="1605893" cy="661250"/>
          </a:xfrm>
          <a:prstGeom prst="rect">
            <a:avLst/>
          </a:prstGeom>
        </p:spPr>
      </p:pic>
      <p:pic>
        <p:nvPicPr>
          <p:cNvPr id="4" name="Picture 3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75C624FD-5353-4FB3-9F7F-A8AD95C7E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21" y="120460"/>
            <a:ext cx="1605893" cy="6612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48640B76-20A9-FF00-F36B-4F378F2055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31804D1C-F540-D1B8-F905-DEB244B1FFE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85571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900AD193-2DC7-1578-A05D-9BBEEF0D8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442" y="206432"/>
            <a:ext cx="1511300" cy="6286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5D49223C-623B-7CCA-8226-A89B79F79A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74BF2990-C6DC-5DC8-DFD5-24469B5B62A0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6624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-feed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pink sign&#10;&#10;AI-generated content may be incorrect.">
            <a:extLst>
              <a:ext uri="{FF2B5EF4-FFF2-40B4-BE49-F238E27FC236}">
                <a16:creationId xmlns:a16="http://schemas.microsoft.com/office/drawing/2014/main" id="{7CE8091E-E8A3-2C41-15F3-13CF21EAE9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475" y="-1065565"/>
            <a:ext cx="1650650" cy="709370"/>
          </a:xfrm>
          <a:prstGeom prst="rect">
            <a:avLst/>
          </a:prstGeom>
        </p:spPr>
      </p:pic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D267AE21-3708-9878-8E93-E6DB38AE58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392" y="-1055198"/>
            <a:ext cx="1623367" cy="668445"/>
          </a:xfrm>
          <a:prstGeom prst="rect">
            <a:avLst/>
          </a:prstGeom>
        </p:spPr>
      </p:pic>
      <p:pic>
        <p:nvPicPr>
          <p:cNvPr id="4" name="Picture 3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10F20908-8D73-B70B-EE9D-DDCCC096ED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25" y="-1075660"/>
            <a:ext cx="1623367" cy="675266"/>
          </a:xfrm>
          <a:prstGeom prst="rect">
            <a:avLst/>
          </a:prstGeom>
        </p:spPr>
      </p:pic>
      <p:pic>
        <p:nvPicPr>
          <p:cNvPr id="5" name="Picture 4" descr="A close-up of a card&#10;&#10;AI-generated content may be incorrect.">
            <a:extLst>
              <a:ext uri="{FF2B5EF4-FFF2-40B4-BE49-F238E27FC236}">
                <a16:creationId xmlns:a16="http://schemas.microsoft.com/office/drawing/2014/main" id="{961A3F42-6653-90C1-9F29-A58F82A2361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842" y="-1092849"/>
            <a:ext cx="1493770" cy="736654"/>
          </a:xfrm>
          <a:prstGeom prst="rect">
            <a:avLst/>
          </a:prstGeom>
        </p:spPr>
      </p:pic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1EA32F11-F57D-731D-6F46-A49BF51670DD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>
            <a:lvl1pPr>
              <a:defRPr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icon to add media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E852A3-E407-F70F-A18B-7673975F3A6D}"/>
              </a:ext>
            </a:extLst>
          </p:cNvPr>
          <p:cNvCxnSpPr>
            <a:cxnSpLocks/>
          </p:cNvCxnSpPr>
          <p:nvPr userDrawn="1"/>
        </p:nvCxnSpPr>
        <p:spPr>
          <a:xfrm>
            <a:off x="0" y="3986220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B33D82-4819-6A3E-9081-425311AF9C58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5999" y="0"/>
            <a:ext cx="1" cy="2866437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76020483-B556-3066-D375-D2562571DD0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9802"/>
          <a:stretch/>
        </p:blipFill>
        <p:spPr>
          <a:xfrm>
            <a:off x="8552726" y="80151"/>
            <a:ext cx="542923" cy="548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16340F-5FF7-4E72-EF46-55D799691B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3457" y="1189994"/>
            <a:ext cx="757163" cy="494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7AEA74-7C2C-0DA8-E0A2-24F895055F7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3"/>
            <a:ext cx="686562" cy="6000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8E1264-CDBC-7F1A-5298-346C3FAE1C9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44" y="4043941"/>
            <a:ext cx="636365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27677F-D477-05F5-E26F-B39192E093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7033" y="4186245"/>
            <a:ext cx="650036" cy="71437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6F5D594-167D-574E-D53F-A97A4C86C4A9}"/>
              </a:ext>
            </a:extLst>
          </p:cNvPr>
          <p:cNvSpPr/>
          <p:nvPr userDrawn="1"/>
        </p:nvSpPr>
        <p:spPr>
          <a:xfrm>
            <a:off x="10369265" y="4124325"/>
            <a:ext cx="1665573" cy="25606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C1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C2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C3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winkl Cursive Looped" panose="02000000000000000000" pitchFamily="2" charset="77"/>
              </a:rPr>
              <a:t>C4</a:t>
            </a:r>
          </a:p>
          <a:p>
            <a:pPr algn="ctr"/>
            <a:endParaRPr lang="en-GB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A5177-06AF-F810-E0E6-84D0FEB9472F}"/>
              </a:ext>
            </a:extLst>
          </p:cNvPr>
          <p:cNvCxnSpPr>
            <a:cxnSpLocks/>
          </p:cNvCxnSpPr>
          <p:nvPr userDrawn="1"/>
        </p:nvCxnSpPr>
        <p:spPr>
          <a:xfrm>
            <a:off x="9163050" y="59356"/>
            <a:ext cx="0" cy="39268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9B8822-24AA-42EE-6FF2-4C2D6F2EF4BF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6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D114824-E0C7-663B-AE08-8C249B8CD8A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0" y="1772678"/>
            <a:ext cx="502428" cy="4794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7D7A06-02F3-5BA9-9A96-BBC70F5C0DC7}"/>
              </a:ext>
            </a:extLst>
          </p:cNvPr>
          <p:cNvSpPr txBox="1"/>
          <p:nvPr userDrawn="1"/>
        </p:nvSpPr>
        <p:spPr>
          <a:xfrm>
            <a:off x="137435" y="596220"/>
            <a:ext cx="5801268" cy="3293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u="sng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GB" sz="1600" u="sng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Things to consider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1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2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3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4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5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latin typeface="Twinkl Cursive Looped" panose="02000000000000000000" pitchFamily="2" charset="77"/>
                <a:ea typeface="Sassoon Infant Rg" panose="02000503030000020003" pitchFamily="2" charset="0"/>
              </a:rPr>
              <a:t>6</a:t>
            </a:r>
          </a:p>
          <a:p>
            <a:pPr marL="285750" indent="-285750">
              <a:buFontTx/>
              <a:buChar char="-"/>
            </a:pPr>
            <a:endParaRPr lang="en-GB" sz="1600" dirty="0"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F54CA-CF03-0BB8-9B2A-B7D1A1E3C7E1}"/>
              </a:ext>
            </a:extLst>
          </p:cNvPr>
          <p:cNvSpPr txBox="1"/>
          <p:nvPr userDrawn="1"/>
        </p:nvSpPr>
        <p:spPr>
          <a:xfrm>
            <a:off x="9737002" y="1845507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B29B0-5897-0011-B248-6AF927ABCE98}"/>
              </a:ext>
            </a:extLst>
          </p:cNvPr>
          <p:cNvSpPr txBox="1"/>
          <p:nvPr userDrawn="1"/>
        </p:nvSpPr>
        <p:spPr>
          <a:xfrm>
            <a:off x="812999" y="4250959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A54CC-815A-6B44-6E0A-013150B3E215}"/>
              </a:ext>
            </a:extLst>
          </p:cNvPr>
          <p:cNvSpPr txBox="1"/>
          <p:nvPr userDrawn="1"/>
        </p:nvSpPr>
        <p:spPr>
          <a:xfrm>
            <a:off x="6114927" y="180094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E348A-F5CF-545B-AB87-E270AA745CDB}"/>
              </a:ext>
            </a:extLst>
          </p:cNvPr>
          <p:cNvSpPr txBox="1"/>
          <p:nvPr userDrawn="1"/>
        </p:nvSpPr>
        <p:spPr>
          <a:xfrm>
            <a:off x="9968496" y="1334292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9C439F-95D3-3BA1-497D-DE0589EC98EA}"/>
              </a:ext>
            </a:extLst>
          </p:cNvPr>
          <p:cNvSpPr txBox="1"/>
          <p:nvPr userDrawn="1"/>
        </p:nvSpPr>
        <p:spPr>
          <a:xfrm>
            <a:off x="6179868" y="114237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2BF8D9-2730-0458-8DDA-3E7712E1144B}"/>
              </a:ext>
            </a:extLst>
          </p:cNvPr>
          <p:cNvSpPr txBox="1"/>
          <p:nvPr userDrawn="1"/>
        </p:nvSpPr>
        <p:spPr>
          <a:xfrm>
            <a:off x="963617" y="135630"/>
            <a:ext cx="489827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400" dirty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 - Clifton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57FA9C-7A94-AC98-595D-4599A7348737}"/>
              </a:ext>
            </a:extLst>
          </p:cNvPr>
          <p:cNvGrpSpPr/>
          <p:nvPr userDrawn="1"/>
        </p:nvGrpSpPr>
        <p:grpSpPr>
          <a:xfrm>
            <a:off x="8421056" y="1838579"/>
            <a:ext cx="697934" cy="351845"/>
            <a:chOff x="3792251" y="3855257"/>
            <a:chExt cx="834434" cy="514481"/>
          </a:xfrm>
          <a:solidFill>
            <a:srgbClr val="0070C0"/>
          </a:solidFill>
        </p:grpSpPr>
        <p:sp>
          <p:nvSpPr>
            <p:cNvPr id="26" name="Rounded Rectangular Callout 25">
              <a:extLst>
                <a:ext uri="{FF2B5EF4-FFF2-40B4-BE49-F238E27FC236}">
                  <a16:creationId xmlns:a16="http://schemas.microsoft.com/office/drawing/2014/main" id="{10772BFD-2307-461C-6C9B-F3C5CCF8A7BA}"/>
                </a:ext>
              </a:extLst>
            </p:cNvPr>
            <p:cNvSpPr/>
            <p:nvPr/>
          </p:nvSpPr>
          <p:spPr>
            <a:xfrm>
              <a:off x="3792251" y="4063895"/>
              <a:ext cx="542594" cy="305843"/>
            </a:xfrm>
            <a:prstGeom prst="wedgeRoundRectCallout">
              <a:avLst>
                <a:gd name="adj1" fmla="val -30985"/>
                <a:gd name="adj2" fmla="val 84113"/>
                <a:gd name="adj3" fmla="val 1666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>
                <a:solidFill>
                  <a:schemeClr val="bg1"/>
                </a:solidFill>
                <a:latin typeface="Twinkl Cursive Looped" panose="02000000000000000000" pitchFamily="2" charset="77"/>
              </a:endParaRPr>
            </a:p>
          </p:txBody>
        </p:sp>
        <p:sp>
          <p:nvSpPr>
            <p:cNvPr id="27" name="Rounded Rectangular Callout 26">
              <a:extLst>
                <a:ext uri="{FF2B5EF4-FFF2-40B4-BE49-F238E27FC236}">
                  <a16:creationId xmlns:a16="http://schemas.microsoft.com/office/drawing/2014/main" id="{CC616CA0-72AE-6D2C-7FE8-C1CCDE34B85F}"/>
                </a:ext>
              </a:extLst>
            </p:cNvPr>
            <p:cNvSpPr/>
            <p:nvPr/>
          </p:nvSpPr>
          <p:spPr>
            <a:xfrm>
              <a:off x="3957795" y="3855257"/>
              <a:ext cx="668890" cy="389052"/>
            </a:xfrm>
            <a:prstGeom prst="wedgeRoundRectCallout">
              <a:avLst>
                <a:gd name="adj1" fmla="val 17745"/>
                <a:gd name="adj2" fmla="val 73307"/>
                <a:gd name="adj3" fmla="val 1666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bg1"/>
                  </a:solidFill>
                  <a:latin typeface="Twinkl Cursive Looped" panose="02000000000000000000" pitchFamily="2" charset="77"/>
                </a:rPr>
                <a:t>SLC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7965CCB-D4FB-4CB2-DE16-F91D0918D606}"/>
              </a:ext>
            </a:extLst>
          </p:cNvPr>
          <p:cNvSpPr txBox="1"/>
          <p:nvPr userDrawn="1"/>
        </p:nvSpPr>
        <p:spPr>
          <a:xfrm>
            <a:off x="6247652" y="2213512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C1 - </a:t>
            </a:r>
            <a:r>
              <a:rPr lang="en-GB" sz="1050" dirty="0">
                <a:latin typeface="Twinkl Cursive Looped" panose="02000000000000000000" pitchFamily="2" charset="77"/>
              </a:rPr>
              <a:t>REASON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BA9EF0-7607-BC09-7C67-6C63CBBE2F0C}"/>
              </a:ext>
            </a:extLst>
          </p:cNvPr>
          <p:cNvSpPr txBox="1"/>
          <p:nvPr userDrawn="1"/>
        </p:nvSpPr>
        <p:spPr>
          <a:xfrm>
            <a:off x="6739992" y="26450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C2 - </a:t>
            </a:r>
            <a:r>
              <a:rPr lang="en-GB" sz="1050" dirty="0">
                <a:latin typeface="Twinkl Cursive Looped" panose="02000000000000000000" pitchFamily="2" charset="77"/>
              </a:rPr>
              <a:t>REASON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0FD351-E411-45F2-6809-A667969437FD}"/>
              </a:ext>
            </a:extLst>
          </p:cNvPr>
          <p:cNvSpPr txBox="1"/>
          <p:nvPr userDrawn="1"/>
        </p:nvSpPr>
        <p:spPr>
          <a:xfrm>
            <a:off x="9342644" y="2360254"/>
            <a:ext cx="7409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C4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C5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709B3-00C9-F775-733E-79312D1D0439}"/>
              </a:ext>
            </a:extLst>
          </p:cNvPr>
          <p:cNvSpPr txBox="1"/>
          <p:nvPr userDrawn="1"/>
        </p:nvSpPr>
        <p:spPr>
          <a:xfrm>
            <a:off x="6248484" y="346364"/>
            <a:ext cx="2461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Twinkl Cursive Looped" panose="02000000000000000000" pitchFamily="2" charset="77"/>
              </a:rPr>
              <a:t>c1 </a:t>
            </a:r>
            <a:r>
              <a:rPr lang="en-GB" sz="1100" dirty="0">
                <a:latin typeface="Twinkl Cursive Looped" panose="02000000000000000000" pitchFamily="2" charset="77"/>
              </a:rPr>
              <a:t>– independence and clarity</a:t>
            </a:r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c2 </a:t>
            </a:r>
            <a:r>
              <a:rPr lang="en-GB" sz="1200" dirty="0">
                <a:latin typeface="Twinkl Cursive Looped" panose="02000000000000000000" pitchFamily="2" charset="77"/>
              </a:rPr>
              <a:t>- extensive</a:t>
            </a:r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c3 </a:t>
            </a:r>
            <a:r>
              <a:rPr lang="en-GB" sz="1200" dirty="0">
                <a:latin typeface="Twinkl Cursive Looped" panose="02000000000000000000" pitchFamily="2" charset="77"/>
              </a:rPr>
              <a:t>– clear and precise</a:t>
            </a:r>
          </a:p>
          <a:p>
            <a:pPr algn="l"/>
            <a:r>
              <a:rPr lang="en-GB" dirty="0">
                <a:latin typeface="Twinkl Cursive Looped" panose="02000000000000000000" pitchFamily="2" charset="77"/>
              </a:rPr>
              <a:t>C4+</a:t>
            </a:r>
            <a:r>
              <a:rPr lang="en-GB" sz="1200" dirty="0">
                <a:latin typeface="Twinkl Cursive Looped" panose="02000000000000000000" pitchFamily="2" charset="77"/>
              </a:rPr>
              <a:t> - </a:t>
            </a:r>
            <a:endParaRPr lang="en-GB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6C8752-7FD0-4951-F797-810215B4E483}"/>
              </a:ext>
            </a:extLst>
          </p:cNvPr>
          <p:cNvSpPr txBox="1"/>
          <p:nvPr userDrawn="1"/>
        </p:nvSpPr>
        <p:spPr>
          <a:xfrm>
            <a:off x="9247210" y="86176"/>
            <a:ext cx="744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B2CB33-8411-9938-FB7C-43FB6FB407A2}"/>
              </a:ext>
            </a:extLst>
          </p:cNvPr>
          <p:cNvSpPr txBox="1"/>
          <p:nvPr userDrawn="1"/>
        </p:nvSpPr>
        <p:spPr>
          <a:xfrm>
            <a:off x="262353" y="5103084"/>
            <a:ext cx="9989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Twinkl Cursive Looped" panose="02000000000000000000" pitchFamily="2" charset="77"/>
              </a:rPr>
              <a:t>comment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6D9E31-34A7-37D9-C8C1-2097A3ACEBCC}"/>
              </a:ext>
            </a:extLst>
          </p:cNvPr>
          <p:cNvSpPr txBox="1"/>
          <p:nvPr userDrawn="1"/>
        </p:nvSpPr>
        <p:spPr>
          <a:xfrm>
            <a:off x="262353" y="4670440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atin typeface="Twinkl Cursive Looped" panose="02000000000000000000" pitchFamily="2" charset="77"/>
              </a:rPr>
              <a:t>Title / focus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9F1BFB-19C3-CE0B-E9B1-5AB81CFE3885}"/>
              </a:ext>
            </a:extLst>
          </p:cNvPr>
          <p:cNvSpPr txBox="1"/>
          <p:nvPr userDrawn="1"/>
        </p:nvSpPr>
        <p:spPr>
          <a:xfrm>
            <a:off x="10755004" y="130882"/>
            <a:ext cx="7457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C5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C6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C7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winkl Cursive Looped" panose="02000000000000000000" pitchFamily="2" charset="77"/>
              </a:rPr>
              <a:t>C8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39F8A3-4AFD-3D1A-9A0F-EA8EC86B15C6}"/>
              </a:ext>
            </a:extLst>
          </p:cNvPr>
          <p:cNvGrpSpPr/>
          <p:nvPr userDrawn="1"/>
        </p:nvGrpSpPr>
        <p:grpSpPr>
          <a:xfrm>
            <a:off x="5037801" y="3013901"/>
            <a:ext cx="2114482" cy="2089183"/>
            <a:chOff x="5037801" y="3013901"/>
            <a:chExt cx="2114482" cy="208918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96EBF2-D38B-890E-A9A7-4A7AB1A186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696" y="3106859"/>
              <a:ext cx="0" cy="253804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15A9B5-E121-67DC-BF50-808F3C039A79}"/>
                </a:ext>
              </a:extLst>
            </p:cNvPr>
            <p:cNvSpPr txBox="1"/>
            <p:nvPr userDrawn="1"/>
          </p:nvSpPr>
          <p:spPr>
            <a:xfrm rot="16200000">
              <a:off x="5060303" y="3011105"/>
              <a:ext cx="2069477" cy="2114482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094218"/>
                </a:avLst>
              </a:prstTxWarp>
              <a:spAutoFit/>
            </a:bodyPr>
            <a:lstStyle/>
            <a:p>
              <a:pPr algn="ctr"/>
              <a:r>
                <a:rPr lang="en-GB" sz="2000" dirty="0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Being a Writer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7657F09-B3D2-D661-55DC-CD4A4ECFF8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7" b="627"/>
            <a:stretch/>
          </p:blipFill>
          <p:spPr>
            <a:xfrm>
              <a:off x="5476666" y="3290982"/>
              <a:ext cx="1267574" cy="1254241"/>
            </a:xfrm>
            <a:prstGeom prst="ellipse">
              <a:avLst/>
            </a:prstGeom>
            <a:ln w="38100">
              <a:solidFill>
                <a:srgbClr val="0070C0"/>
              </a:solidFill>
            </a:ln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6D50577-EBF0-6F73-BEB8-5040302C5B3E}"/>
                </a:ext>
              </a:extLst>
            </p:cNvPr>
            <p:cNvSpPr/>
            <p:nvPr userDrawn="1"/>
          </p:nvSpPr>
          <p:spPr>
            <a:xfrm>
              <a:off x="5229425" y="3013901"/>
              <a:ext cx="1855214" cy="18478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>
                  <a:gd name="adj" fmla="val 18174041"/>
                </a:avLst>
              </a:prstTxWarp>
              <a:spAutoFit/>
            </a:bodyPr>
            <a:lstStyle/>
            <a:p>
              <a:pPr algn="ctr"/>
              <a:r>
                <a:rPr lang="en-GB" sz="2000" dirty="0">
                  <a:ln w="22225">
                    <a:noFill/>
                    <a:prstDash val="solid"/>
                  </a:ln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feedforward</a:t>
              </a:r>
              <a:endParaRPr lang="en-GB" sz="2000" cap="none" spc="0" dirty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240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  <p:bldP spid="34" grpId="0"/>
      <p:bldP spid="35" grpId="0"/>
      <p:bldP spid="36" grpId="0"/>
      <p:bldP spid="37" grpId="0"/>
      <p:bldP spid="38" grpId="0"/>
      <p:bldP spid="39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6" name="Picture 5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9564ED98-CA10-B61B-2B62-474EE796BA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9473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dia Placeholder 8">
            <a:extLst>
              <a:ext uri="{FF2B5EF4-FFF2-40B4-BE49-F238E27FC236}">
                <a16:creationId xmlns:a16="http://schemas.microsoft.com/office/drawing/2014/main" id="{1361E347-BFE1-3BD6-915A-0227733C990F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641182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8A97-A842-41C0-0520-7D688F4F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7A11D-219E-C3C1-CBA7-FD607AA7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4A70-FA1A-835D-6CCB-D562CB97C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8F50310E-7BA1-9A8E-BBEB-0804AE31E89C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4109383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BAA2-823E-F1D3-28F6-5DB0798C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E0B2E-9D5E-F3ED-F220-8D8FC0519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DABA0-4A48-1735-F3DC-EA381ECA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1D479-9003-7BC3-1543-513E17B69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DB2E2-87B6-D88F-696B-1A9F6E088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83D33253-FAD9-229A-7D6D-8174F454C038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0607675" y="6289675"/>
            <a:ext cx="1484313" cy="444500"/>
          </a:xfrm>
        </p:spPr>
        <p:txBody>
          <a:bodyPr/>
          <a:lstStyle/>
          <a:p>
            <a:r>
              <a:rPr lang="en-GB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745239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AA6228-F73F-D8B9-5F48-E86C9594E0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1" name="Google Shape;65;p1">
            <a:extLst>
              <a:ext uri="{FF2B5EF4-FFF2-40B4-BE49-F238E27FC236}">
                <a16:creationId xmlns:a16="http://schemas.microsoft.com/office/drawing/2014/main" id="{C1305342-075C-F937-30CC-E0CD0D80B05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 w="0"/>
        </p:spPr>
      </p:pic>
      <p:pic>
        <p:nvPicPr>
          <p:cNvPr id="12" name="Google Shape;66;p1">
            <a:extLst>
              <a:ext uri="{FF2B5EF4-FFF2-40B4-BE49-F238E27FC236}">
                <a16:creationId xmlns:a16="http://schemas.microsoft.com/office/drawing/2014/main" id="{3D5E20BE-10F0-E16B-7773-CCC0A5A3061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 w="0"/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72507BF-32F6-6592-B6C4-69F3D3CF513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14" name="Google Shape;68;p1">
              <a:extLst>
                <a:ext uri="{FF2B5EF4-FFF2-40B4-BE49-F238E27FC236}">
                  <a16:creationId xmlns:a16="http://schemas.microsoft.com/office/drawing/2014/main" id="{37048448-9EFC-2D14-6C23-92AD1D5CD2C8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69;p1">
              <a:extLst>
                <a:ext uri="{FF2B5EF4-FFF2-40B4-BE49-F238E27FC236}">
                  <a16:creationId xmlns:a16="http://schemas.microsoft.com/office/drawing/2014/main" id="{020A840D-F809-D687-56E7-2BE6D30B9EEA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70;p1">
              <a:extLst>
                <a:ext uri="{FF2B5EF4-FFF2-40B4-BE49-F238E27FC236}">
                  <a16:creationId xmlns:a16="http://schemas.microsoft.com/office/drawing/2014/main" id="{B3554F48-57C1-9A8D-EFC8-B54CC79A6BED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71;p1">
              <a:extLst>
                <a:ext uri="{FF2B5EF4-FFF2-40B4-BE49-F238E27FC236}">
                  <a16:creationId xmlns:a16="http://schemas.microsoft.com/office/drawing/2014/main" id="{A9ECB43F-B5AE-649D-D177-F7C7A4085F09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72;p1">
              <a:extLst>
                <a:ext uri="{FF2B5EF4-FFF2-40B4-BE49-F238E27FC236}">
                  <a16:creationId xmlns:a16="http://schemas.microsoft.com/office/drawing/2014/main" id="{EBE602EA-8CE1-A8FA-AD2E-BCC0B1ACA10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73;p1">
              <a:extLst>
                <a:ext uri="{FF2B5EF4-FFF2-40B4-BE49-F238E27FC236}">
                  <a16:creationId xmlns:a16="http://schemas.microsoft.com/office/drawing/2014/main" id="{CC96D712-EF33-5AA4-4A2E-D10B6ED9B08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74;p1">
              <a:extLst>
                <a:ext uri="{FF2B5EF4-FFF2-40B4-BE49-F238E27FC236}">
                  <a16:creationId xmlns:a16="http://schemas.microsoft.com/office/drawing/2014/main" id="{E3A4CE8A-AAE4-FE46-4B41-3C15D5290A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75;p1">
              <a:extLst>
                <a:ext uri="{FF2B5EF4-FFF2-40B4-BE49-F238E27FC236}">
                  <a16:creationId xmlns:a16="http://schemas.microsoft.com/office/drawing/2014/main" id="{E7018622-6283-5A76-86A5-021E3FFA2DE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 w="0"/>
          </p:spPr>
        </p:pic>
        <p:pic>
          <p:nvPicPr>
            <p:cNvPr id="22" name="Google Shape;76;p1">
              <a:extLst>
                <a:ext uri="{FF2B5EF4-FFF2-40B4-BE49-F238E27FC236}">
                  <a16:creationId xmlns:a16="http://schemas.microsoft.com/office/drawing/2014/main" id="{4245ABFD-260F-B2AB-03EF-7F663372732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 w="0"/>
          </p:spPr>
        </p:pic>
        <p:sp>
          <p:nvSpPr>
            <p:cNvPr id="23" name="Google Shape;77;p1">
              <a:extLst>
                <a:ext uri="{FF2B5EF4-FFF2-40B4-BE49-F238E27FC236}">
                  <a16:creationId xmlns:a16="http://schemas.microsoft.com/office/drawing/2014/main" id="{A03DC768-ABC7-73AD-BB87-57EC3ABCEC79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8;p1">
              <a:extLst>
                <a:ext uri="{FF2B5EF4-FFF2-40B4-BE49-F238E27FC236}">
                  <a16:creationId xmlns:a16="http://schemas.microsoft.com/office/drawing/2014/main" id="{53D9BD77-31F8-225C-8DF6-EC0896D22568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9;p1">
              <a:extLst>
                <a:ext uri="{FF2B5EF4-FFF2-40B4-BE49-F238E27FC236}">
                  <a16:creationId xmlns:a16="http://schemas.microsoft.com/office/drawing/2014/main" id="{932A2315-3780-7350-351F-EB6484AC2D64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0;p1">
              <a:extLst>
                <a:ext uri="{FF2B5EF4-FFF2-40B4-BE49-F238E27FC236}">
                  <a16:creationId xmlns:a16="http://schemas.microsoft.com/office/drawing/2014/main" id="{0F155292-9284-FD55-BA9F-65E89FFD369D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1;p1">
              <a:extLst>
                <a:ext uri="{FF2B5EF4-FFF2-40B4-BE49-F238E27FC236}">
                  <a16:creationId xmlns:a16="http://schemas.microsoft.com/office/drawing/2014/main" id="{59349477-ED61-5DE1-28A7-C5B122E74B1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2;p1">
              <a:extLst>
                <a:ext uri="{FF2B5EF4-FFF2-40B4-BE49-F238E27FC236}">
                  <a16:creationId xmlns:a16="http://schemas.microsoft.com/office/drawing/2014/main" id="{1192F79C-C463-5E88-3995-AC4A1D0F572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 w="0"/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oogle Shape;83;p1">
            <a:extLst>
              <a:ext uri="{FF2B5EF4-FFF2-40B4-BE49-F238E27FC236}">
                <a16:creationId xmlns:a16="http://schemas.microsoft.com/office/drawing/2014/main" id="{4BD80331-3743-A082-F2CB-77076B9AD88C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 w="0"/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487627-56BE-7233-D9D5-D621609BB959}"/>
              </a:ext>
            </a:extLst>
          </p:cNvPr>
          <p:cNvSpPr txBox="1"/>
          <p:nvPr userDrawn="1"/>
        </p:nvSpPr>
        <p:spPr>
          <a:xfrm>
            <a:off x="204148" y="143188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530E69C-C0FC-7B17-993A-76452BBAC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CB6CE24-5ECB-8429-3B69-796B94DDA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EA78E95-0EF4-BE5E-ECBE-A99FFA4E7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287EBEB-4CC1-EB1E-C512-4765901B94DC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093585-931D-FB84-AC92-6AB8DD501231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BE2A4C-CB2D-91E6-037A-8B2233CC0B4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  <a:p>
            <a:endParaRPr lang="en-US" sz="2400" b="0" i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D8F337D-B3E7-ECBE-F6AB-D288F3A245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E54F6ADF-7592-92D1-82F9-ADD8258328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53E32D3-AC69-B02A-EA56-17D6204037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en-GB"/>
              <a:t>Insert</a:t>
            </a:r>
            <a:endParaRPr lang="en-US"/>
          </a:p>
        </p:txBody>
      </p:sp>
      <p:sp>
        <p:nvSpPr>
          <p:cNvPr id="5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66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290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45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28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sign&#10;&#10;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pic>
        <p:nvPicPr>
          <p:cNvPr id="4" name="Picture 3" descr="A close-up of a pink sign&#10;&#10;AI-generated content may be incorrect.">
            <a:extLst>
              <a:ext uri="{FF2B5EF4-FFF2-40B4-BE49-F238E27FC236}">
                <a16:creationId xmlns:a16="http://schemas.microsoft.com/office/drawing/2014/main" id="{B44060F6-303F-47CC-481E-B9DD514198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14" y="113196"/>
            <a:ext cx="1536700" cy="660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7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085D168E-9DF7-063E-E5FA-EC20A9CD64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91" y="920764"/>
            <a:ext cx="647581" cy="64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Media Placeholder 8"/>
          <p:cNvSpPr>
            <a:spLocks noGrp="1"/>
          </p:cNvSpPr>
          <p:nvPr>
            <p:ph type="media" idx="15"/>
          </p:nvPr>
        </p:nvSpPr>
        <p:spPr>
          <a:xfrm>
            <a:off x="10607675" y="6289675"/>
            <a:ext cx="1484313" cy="444500"/>
          </a:xfrm>
          <a:prstGeom prst="rect">
            <a:avLst/>
          </a:prstGeom>
          <a:noFill/>
          <a:ln w="0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62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8D70D-55A8-11BA-DE55-C14C5FBE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07E47-679C-A35E-7E3A-96A091E30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6F4B34-A21D-32A6-5F1C-434AC0C9FF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01A16-EA1C-46EA-4E33-6F5AAFB49F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239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8" r:id="rId2"/>
    <p:sldLayoutId id="2147483699" r:id="rId3"/>
    <p:sldLayoutId id="2147483685" r:id="rId4"/>
    <p:sldLayoutId id="2147483686" r:id="rId5"/>
    <p:sldLayoutId id="2147483688" r:id="rId6"/>
    <p:sldLayoutId id="2147483689" r:id="rId7"/>
    <p:sldLayoutId id="2147483690" r:id="rId8"/>
    <p:sldLayoutId id="2147483691" r:id="rId9"/>
    <p:sldLayoutId id="2147483695" r:id="rId10"/>
    <p:sldLayoutId id="2147483687" r:id="rId11"/>
    <p:sldLayoutId id="2147483692" r:id="rId12"/>
    <p:sldLayoutId id="2147483693" r:id="rId13"/>
    <p:sldLayoutId id="2147483677" r:id="rId14"/>
    <p:sldLayoutId id="2147483700" r:id="rId15"/>
    <p:sldLayoutId id="2147483701" r:id="rId16"/>
    <p:sldLayoutId id="2147483702" r:id="rId17"/>
    <p:sldLayoutId id="214748370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image" Target="../media/hat_back_cover.jp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kc_wheel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8A7403-4153-B4C0-7E8E-9D7722BEE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06185-E658-44E3-1E36-D53BBC4FF8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Monday 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BFE335-CA31-18EC-9924-D70042D17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powerful narrative and survival guide inspired by Varjak Paw.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9CC734-6829-5C7C-6006-89B84FEE8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To Entertain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9C3ADD-8AAC-C76A-E158-9A70471D4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Y4 learners</a:t>
            </a:r>
          </a:p>
        </p:txBody>
      </p:sp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7FC67E59-F8AF-4877-233A-07D41FF0ED5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366" r="2366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9E75FA87-AA23-182D-1900-B7482196E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8531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9642DB-382E-40F3-39E9-F82035D1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a writer make a reader feel characters’ emotions?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3E7DD57F-7E3E-E37A-12BF-13BA8862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/>
          <a:p>
            <a:r>
              <a:rPr lang="en-GB" dirty="0"/>
              <a:t>write speech using inverted commas, capital letters and correct end punctuation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A364A86-C542-5088-167B-C3D240F6E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I can punctuate dialogue accurately so that my writing is clear for the reader.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CF3FA1DE-C68E-3B52-3999-CBA3782D5B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converting dialogue from the book into correctly punctuated direct speech.</a:t>
            </a:r>
          </a:p>
        </p:txBody>
      </p:sp>
      <p:pic>
        <p:nvPicPr>
          <p:cNvPr id="2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D4292C79-8FD4-BD8A-6C69-6A6A381DB9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3583" y="6435649"/>
            <a:ext cx="1130823" cy="33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ConceptsWhe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Grammar Warm-Up</a:t>
            </a:r>
          </a:p>
        </p:txBody>
      </p:sp>
      <p:sp>
        <p:nvSpPr>
          <p:cNvPr id="20" name="Subtitle"/>
          <p:cNvSpPr/>
          <p:nvPr/>
        </p:nvSpPr>
        <p:spPr>
          <a:xfrm>
            <a:off x="618786" y="1100000"/>
            <a:ext cx="10973228" cy="7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2133" dirty="0">
                <a:solidFill>
                  <a:srgbClr val="2C3E50"/>
                </a:solidFill>
                <a:latin typeface="Twinkl Cursive Looped" panose="02000000000000000000" pitchFamily="2" charset="77"/>
              </a:rPr>
              <a:t>What is the mistake? Can you spot the error in each sentence?</a:t>
            </a:r>
          </a:p>
        </p:txBody>
      </p:sp>
      <p:sp>
        <p:nvSpPr>
          <p:cNvPr id="10" name="Header10"/>
          <p:cNvSpPr/>
          <p:nvPr/>
        </p:nvSpPr>
        <p:spPr>
          <a:xfrm>
            <a:off x="618786" y="2200000"/>
            <a:ext cx="3413760" cy="548640"/>
          </a:xfrm>
          <a:prstGeom prst="rect">
            <a:avLst/>
          </a:prstGeom>
          <a:solidFill>
            <a:srgbClr val="1F618D"/>
          </a:solidFill>
          <a:ln/>
        </p:spPr>
        <p:txBody>
          <a:bodyPr anchor="ctr"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1</a:t>
            </a:r>
          </a:p>
        </p:txBody>
      </p:sp>
      <p:sp>
        <p:nvSpPr>
          <p:cNvPr id="11" name="Body11"/>
          <p:cNvSpPr/>
          <p:nvPr/>
        </p:nvSpPr>
        <p:spPr>
          <a:xfrm>
            <a:off x="618786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r>
              <a:rPr lang="en-GB" sz="2200" dirty="0">
                <a:latin typeface="Twinkl Cursive Looped" panose="02000000000000000000" pitchFamily="2" charset="77"/>
              </a:rPr>
              <a:t>"have you seen my hat?" asked the bear.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Spot the error!</a:t>
            </a:r>
          </a:p>
        </p:txBody>
      </p:sp>
      <p:sp>
        <p:nvSpPr>
          <p:cNvPr id="12" name="Header12"/>
          <p:cNvSpPr/>
          <p:nvPr/>
        </p:nvSpPr>
        <p:spPr>
          <a:xfrm>
            <a:off x="4378264" y="2200000"/>
            <a:ext cx="3413760" cy="548640"/>
          </a:xfrm>
          <a:prstGeom prst="rect">
            <a:avLst/>
          </a:prstGeom>
          <a:solidFill>
            <a:srgbClr val="CA6F1E"/>
          </a:solidFill>
          <a:ln/>
        </p:spPr>
        <p:txBody>
          <a:bodyPr anchor="ctr"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2</a:t>
            </a:r>
          </a:p>
        </p:txBody>
      </p:sp>
      <p:sp>
        <p:nvSpPr>
          <p:cNvPr id="13" name="Body13"/>
          <p:cNvSpPr/>
          <p:nvPr/>
        </p:nvSpPr>
        <p:spPr>
          <a:xfrm>
            <a:off x="4378264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r>
              <a:rPr lang="en-GB" sz="2200" dirty="0">
                <a:latin typeface="Twinkl Cursive Looped" panose="02000000000000000000" pitchFamily="2" charset="77"/>
              </a:rPr>
              <a:t>"Have you seen my hat? asked the bear.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Spot the error!</a:t>
            </a:r>
          </a:p>
        </p:txBody>
      </p:sp>
      <p:sp>
        <p:nvSpPr>
          <p:cNvPr id="14" name="Header14"/>
          <p:cNvSpPr/>
          <p:nvPr/>
        </p:nvSpPr>
        <p:spPr>
          <a:xfrm>
            <a:off x="8168640" y="2200000"/>
            <a:ext cx="3413760" cy="548640"/>
          </a:xfrm>
          <a:prstGeom prst="rect">
            <a:avLst/>
          </a:prstGeom>
          <a:solidFill>
            <a:srgbClr val="6C3483"/>
          </a:solidFill>
          <a:ln/>
        </p:spPr>
        <p:txBody>
          <a:bodyPr anchor="ctr">
            <a:norm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  <a:latin typeface="Twinkl Cursive Looped" panose="02000000000000000000" pitchFamily="2" charset="77"/>
              </a:rPr>
              <a:t>Sentence 3</a:t>
            </a:r>
          </a:p>
        </p:txBody>
      </p:sp>
      <p:sp>
        <p:nvSpPr>
          <p:cNvPr id="15" name="Body15"/>
          <p:cNvSpPr/>
          <p:nvPr/>
        </p:nvSpPr>
        <p:spPr>
          <a:xfrm>
            <a:off x="8168640" y="2748640"/>
            <a:ext cx="3413760" cy="32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r>
              <a:rPr lang="en-GB" sz="2200" dirty="0">
                <a:latin typeface="Twinkl Cursive Looped" panose="02000000000000000000" pitchFamily="2" charset="77"/>
              </a:rPr>
              <a:t>"Have you seen my hat”? asked the bear.</a:t>
            </a:r>
          </a:p>
          <a:p>
            <a:endParaRPr lang="en-GB" dirty="0"/>
          </a:p>
          <a:p>
            <a:r>
              <a:rPr lang="en-GB" sz="2200" dirty="0">
                <a:latin typeface="Twinkl Cursive Looped" panose="02000000000000000000" pitchFamily="2" charset="77"/>
              </a:rPr>
              <a:t>Spot the error!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Let's remind ourselves...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Yesterday we read the whole story. Klassen doesn't use inverted commas in his book,</a:t>
            </a:r>
          </a:p>
          <a:p>
            <a:pPr marL="0" indent="0">
              <a:buNone/>
            </a:pPr>
            <a:r>
              <a:rPr lang="en-GB" dirty="0"/>
              <a:t>but when we write speech, we always need them.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Here is the Bear and Fox conversation from the story: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Have you seen my hat?</a:t>
            </a:r>
          </a:p>
          <a:p>
            <a:pPr marL="0" indent="0">
              <a:buNone/>
            </a:pPr>
            <a:r>
              <a:rPr lang="en-GB" dirty="0"/>
              <a:t>No. I have not seen any hats around here.</a:t>
            </a:r>
          </a:p>
          <a:p>
            <a:pPr marL="0" indent="0">
              <a:buNone/>
            </a:pPr>
            <a:r>
              <a:rPr lang="en-GB" dirty="0"/>
              <a:t>OK. Thank you anyway.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needs to change before this counts as correctly written speech?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Note"/>
          <p:cNvSpPr/>
          <p:nvPr/>
        </p:nvSpPr>
        <p:spPr>
          <a:xfrm>
            <a:off x="300000" y="250000"/>
            <a:ext cx="11592000" cy="6100000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[ INSERT BOOK SPREAD: Bear and Fox ]</a:t>
            </a:r>
          </a:p>
          <a:p>
            <a:pPr algn="ctr"/>
            <a:endParaRPr lang="en-GB" dirty="0">
              <a:latin typeface="Twinkl Cursive Looped" panose="02000000000000000000" pitchFamily="2" charset="77"/>
            </a:endParaRP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Display the double-page spread showing the Bear meeting the Fox.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This is the conversation: Have you seen my hat? / No. I have not seen any hats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around here. / OK. Thank you anyway.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Adding speech punctuation</a:t>
            </a:r>
          </a:p>
        </p:txBody>
      </p:sp>
      <p:sp>
        <p:nvSpPr>
          <p:cNvPr id="10" name="LeftLabel"/>
          <p:cNvSpPr/>
          <p:nvPr/>
        </p:nvSpPr>
        <p:spPr>
          <a:xfrm>
            <a:off x="250000" y="1450000"/>
            <a:ext cx="5500000" cy="44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Klassen's text (no inverted commas)</a:t>
            </a:r>
          </a:p>
        </p:txBody>
      </p:sp>
      <p:sp>
        <p:nvSpPr>
          <p:cNvPr id="11" name="LeftBody"/>
          <p:cNvSpPr/>
          <p:nvPr/>
        </p:nvSpPr>
        <p:spPr>
          <a:xfrm>
            <a:off x="250000" y="1890000"/>
            <a:ext cx="5500000" cy="4800000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Have you seen my hat?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No. I have not seen any hats around here.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OK. Thank you anyway.</a:t>
            </a:r>
          </a:p>
        </p:txBody>
      </p:sp>
      <p:sp>
        <p:nvSpPr>
          <p:cNvPr id="12" name="RightLabel"/>
          <p:cNvSpPr/>
          <p:nvPr/>
        </p:nvSpPr>
        <p:spPr>
          <a:xfrm>
            <a:off x="6350000" y="1450000"/>
            <a:ext cx="5500000" cy="44000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1800" dirty="0" b="1">
                <a:solidFill>
                  <a:srgbClr val="FFFFFF"/>
                </a:solidFill>
                <a:latin typeface="Twinkl Cursive Looped" panose="02000000000000000000" pitchFamily="2" charset="77"/>
              </a:rPr>
              <a:t>With speech punctuation</a:t>
            </a:r>
          </a:p>
        </p:txBody>
      </p:sp>
      <p:sp>
        <p:nvSpPr>
          <p:cNvPr id="13" name="RightBody"/>
          <p:cNvSpPr/>
          <p:nvPr/>
        </p:nvSpPr>
        <p:spPr>
          <a:xfrm>
            <a:off x="6350000" y="1890000"/>
            <a:ext cx="5500000" cy="480000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“Have you seen my hat?” asked the bear.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“No. I have not seen any hats around here,”</a:t>
            </a: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replied the fox.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22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“OK. Thank you anyway,” said the bear.</a:t>
            </a:r>
          </a:p>
        </p:txBody>
      </p:sp>
      <p:sp>
        <p:nvSpPr>
          <p:cNvPr id="14" name="Arrow"/>
          <p:cNvSpPr/>
          <p:nvPr/>
        </p:nvSpPr>
        <p:spPr>
          <a:xfrm>
            <a:off x="5870000" y="3690000"/>
            <a:ext cx="430000" cy="5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5200" dirty="0">
                <a:solidFill>
                  <a:srgbClr val="1A252F"/>
                </a:solidFill>
              </a:rPr>
              <a:t>→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9122-D918-9218-0E59-3FE04E14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Speech Punctuation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EDCB-8DB5-D394-878C-10F26241F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437005"/>
            <a:ext cx="119454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Can you remember all the rules for writing speech punctuation?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Inverted commas / speech marks around what is said.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2F92"/>
                </a:solidFill>
              </a:rPr>
              <a:t>Capital letter at the beginning of the speech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Punctuation </a:t>
            </a:r>
            <a:r>
              <a:rPr lang="en-GB" b="1" u="sng" dirty="0">
                <a:solidFill>
                  <a:schemeClr val="accent2"/>
                </a:solidFill>
              </a:rPr>
              <a:t>inside the speech marks </a:t>
            </a:r>
            <a:r>
              <a:rPr lang="en-GB" b="1" dirty="0"/>
              <a:t>(, ? ! </a:t>
            </a:r>
            <a:r>
              <a:rPr lang="en-GB" sz="1800" b="1" dirty="0"/>
              <a:t>or</a:t>
            </a:r>
            <a:r>
              <a:rPr lang="en-GB" b="1" dirty="0"/>
              <a:t> .)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A reporting clause or a way to make it clear who has spoken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</a:rPr>
              <a:t>Additional information for how it was said or what the character is doing</a:t>
            </a:r>
          </a:p>
          <a:p>
            <a:pPr marL="0" indent="0">
              <a:buNone/>
            </a:pPr>
            <a:r>
              <a:rPr lang="en-GB" b="1" dirty="0"/>
              <a:t>All other sentence punctuation rules.</a:t>
            </a:r>
            <a:r>
              <a:rPr lang="en-GB" dirty="0"/>
              <a:t> </a:t>
            </a:r>
          </a:p>
        </p:txBody>
      </p:sp>
      <p:pic>
        <p:nvPicPr>
          <p:cNvPr id="4" name="Picture 3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EEEBC0B-517F-53C8-B96C-B090FE2D2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518" y="5366198"/>
            <a:ext cx="1623367" cy="668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8BEE2F-16EE-C623-7079-370EDC5BDA21}"/>
              </a:ext>
            </a:extLst>
          </p:cNvPr>
          <p:cNvSpPr txBox="1"/>
          <p:nvPr/>
        </p:nvSpPr>
        <p:spPr>
          <a:xfrm>
            <a:off x="3831221" y="5942568"/>
            <a:ext cx="452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Twinkl Cursive Looped" panose="02000000000000000000" pitchFamily="2" charset="77"/>
              </a:rPr>
              <a:t>What are the rules for speech punctuation?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49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Let's convert this together.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Now let's try this one together. Convert the Bear and Turtle conversation</a:t>
            </a:r>
          </a:p>
          <a:p>
            <a:pPr marL="0" indent="0">
              <a:buNone/>
            </a:pPr>
            <a:r>
              <a:rPr lang="en-GB" dirty="0"/>
              <a:t>into correctly punctuated direct speech. Use your checklist to help.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Have you seen my hat?</a:t>
            </a:r>
          </a:p>
          <a:p>
            <a:pPr marL="0" indent="0">
              <a:buNone/>
            </a:pPr>
            <a:r>
              <a:rPr lang="en-GB" dirty="0"/>
              <a:t>I haven't seen anything all day. I have been trying to climb this rock.</a:t>
            </a:r>
          </a:p>
          <a:p>
            <a:pPr marL="0" indent="0">
              <a:buNone/>
            </a:pPr>
            <a:r>
              <a:rPr lang="en-GB" dirty="0"/>
              <a:t>Would you like me to lift you on top of it?</a:t>
            </a:r>
          </a:p>
          <a:p>
            <a:pPr marL="0" indent="0">
              <a:buNone/>
            </a:pPr>
            <a:r>
              <a:rPr lang="en-GB" dirty="0"/>
              <a:t>Yes, please.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Think: who is speaking each time? What punctuation is needed?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Note"/>
          <p:cNvSpPr/>
          <p:nvPr/>
        </p:nvSpPr>
        <p:spPr>
          <a:xfrm>
            <a:off x="300000" y="250000"/>
            <a:ext cx="11592000" cy="6100000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[ INSERT BOOK SPREAD: Bear and Turtle ]</a:t>
            </a:r>
          </a:p>
          <a:p>
            <a:pPr algn="ctr"/>
            <a:endParaRPr lang="en-GB" dirty="0">
              <a:latin typeface="Twinkl Cursive Looped" panose="02000000000000000000" pitchFamily="2" charset="77"/>
            </a:endParaRP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Display the double-page spread showing the Bear meeting the Turtle.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Conversation: Have you seen my hat? / I haven't seen anything all day.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I have been trying to climb this rock. / Would you like me to lift you?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Yes, please.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did we do?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“Have you seen my hat?” asked the bear.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“I haven't seen anything all day. I have been trying to climb this rock,”</a:t>
            </a:r>
          </a:p>
          <a:p>
            <a:pPr marL="0" indent="0">
              <a:buNone/>
            </a:pPr>
            <a:r>
              <a:rPr lang="en-GB" dirty="0"/>
              <a:t>said the turtle.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“Would you like me to lift you on top of it?” asked the bear.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“Yes, please,” said the turtle.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246528" y="365125"/>
            <a:ext cx="10206000" cy="619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Convert the Bear and Snake conversation into correctly punctuated direct speech.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Have you seen my hat?</a:t>
            </a:r>
          </a:p>
          <a:p>
            <a:pPr marL="0" indent="0">
              <a:buNone/>
            </a:pPr>
            <a:r>
              <a:rPr lang="en-GB" dirty="0"/>
              <a:t>I saw a hat once. It was blue and round.</a:t>
            </a:r>
          </a:p>
          <a:p>
            <a:pPr marL="0" indent="0">
              <a:buNone/>
            </a:pPr>
            <a:r>
              <a:rPr lang="en-GB" dirty="0"/>
              <a:t>My hat doesn't look like that. Thank you anyway.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Remember to:</a:t>
            </a:r>
          </a:p>
          <a:p>
            <a:pPr marL="0" indent="0">
              <a:buNone/>
            </a:pPr>
            <a:r>
              <a:rPr lang="en-GB" dirty="0"/>
              <a:t>  •  add inverted commas around what is said</a:t>
            </a:r>
          </a:p>
          <a:p>
            <a:pPr marL="0" indent="0">
              <a:buNone/>
            </a:pPr>
            <a:r>
              <a:rPr lang="en-GB" dirty="0"/>
              <a:t>  •  use a capital letter at the start of speech</a:t>
            </a:r>
          </a:p>
          <a:p>
            <a:pPr marL="0" indent="0">
              <a:buNone/>
            </a:pPr>
            <a:r>
              <a:rPr lang="en-GB" dirty="0"/>
              <a:t>  •  put punctuation inside the closing inverted comma</a:t>
            </a:r>
          </a:p>
          <a:p>
            <a:pPr marL="0" indent="0">
              <a:buNone/>
            </a:pPr>
            <a:r>
              <a:rPr lang="en-GB" dirty="0"/>
              <a:t>  •  add a reporting clause to show who is speaking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Peer check: swap with your partner and check using the speech punctuation checklist.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Note"/>
          <p:cNvSpPr/>
          <p:nvPr/>
        </p:nvSpPr>
        <p:spPr>
          <a:xfrm>
            <a:off x="300000" y="250000"/>
            <a:ext cx="11592000" cy="6100000"/>
          </a:xfrm>
          <a:prstGeom prst="rect">
            <a:avLst/>
          </a:prstGeom>
          <a:solidFill>
            <a:srgbClr val="F2F3F4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[ INSERT BOOK SPREAD: Bear and Snake ]</a:t>
            </a:r>
          </a:p>
          <a:p>
            <a:pPr algn="ctr"/>
            <a:endParaRPr lang="en-GB" dirty="0">
              <a:latin typeface="Twinkl Cursive Looped" panose="02000000000000000000" pitchFamily="2" charset="77"/>
            </a:endParaRP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Display the double-page spread showing the Bear meeting the Snake.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Conversation: Have you seen my hat? / I saw a hat once. It was blue and round.</a:t>
            </a:r>
          </a:p>
          <a:p>
            <a:pPr algn="ctr"/>
            <a:r>
              <a:rPr lang="en-GB" sz="24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/ My hat doesn't look like that. Thank you anyway.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Now try on your own.</a:t>
            </a:r>
          </a:p>
        </p:txBody>
      </p:sp>
      <p:sp>
        <p:nvSpPr>
          <p:cNvPr id="10" name="SnakeText"/>
          <p:cNvSpPr/>
          <p:nvPr/>
        </p:nvSpPr>
        <p:spPr>
          <a:xfrm>
            <a:off x="618786" y="1700000"/>
            <a:ext cx="5200000" cy="21000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2200" dirty="0">
                <a:solidFill>
                  <a:srgbClr val="2C3E50"/>
                </a:solidFill>
                <a:latin typeface="Twinkl Cursive Looped" panose="02000000000000000000" pitchFamily="2" charset="77"/>
              </a:rPr>
              <a:t>Have you seen my hat?</a:t>
            </a:r>
          </a:p>
          <a:p>
            <a:pPr algn="l"/>
            <a:r>
              <a:rPr lang="en-GB" sz="2200" dirty="0">
                <a:solidFill>
                  <a:srgbClr val="2C3E50"/>
                </a:solidFill>
                <a:latin typeface="Twinkl Cursive Looped" panose="02000000000000000000" pitchFamily="2" charset="77"/>
              </a:rPr>
              <a:t>I saw a hat once. It was blue and round.</a:t>
            </a:r>
          </a:p>
          <a:p>
            <a:pPr algn="l"/>
            <a:r>
              <a:rPr lang="en-GB" sz="2200" dirty="0">
                <a:solidFill>
                  <a:srgbClr val="2C3E50"/>
                </a:solidFill>
                <a:latin typeface="Twinkl Cursive Looped" panose="02000000000000000000" pitchFamily="2" charset="77"/>
              </a:rPr>
              <a:t>My hat doesn't look like that. Thank you anyway.</a:t>
            </a:r>
          </a:p>
        </p:txBody>
      </p:sp>
      <p:sp>
        <p:nvSpPr>
          <p:cNvPr id="11" name="Instructions"/>
          <p:cNvSpPr/>
          <p:nvPr/>
        </p:nvSpPr>
        <p:spPr>
          <a:xfrm>
            <a:off x="6050000" y="1700000"/>
            <a:ext cx="5524000" cy="21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1.  Convert this conversation into correctly</a:t>
            </a:r>
          </a:p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     punctuated direct speech.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2.  Check your work using the speech</a:t>
            </a:r>
          </a:p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     punctuation checklist.</a:t>
            </a:r>
          </a:p>
          <a:p>
            <a:pPr algn="l"/>
            <a:endParaRPr lang="en-GB" dirty="0">
              <a:latin typeface="Twinkl Cursive Looped" panose="02000000000000000000" pitchFamily="2" charset="77"/>
            </a:endParaRPr>
          </a:p>
          <a:p>
            <a:pPr algn="l"/>
            <a:r>
              <a:rPr lang="en-GB" sz="1900" dirty="0">
                <a:solidFill>
                  <a:srgbClr val="1A252F"/>
                </a:solidFill>
                <a:latin typeface="Twinkl Cursive Looped" panose="02000000000000000000" pitchFamily="2" charset="77"/>
              </a:rPr>
              <a:t>3.  Swap with a partner and peer check.</a:t>
            </a:r>
          </a:p>
        </p:txBody>
      </p:sp>
      <p:sp>
        <p:nvSpPr>
          <p:cNvPr id="12" name="Challenge"/>
          <p:cNvSpPr/>
          <p:nvPr/>
        </p:nvSpPr>
        <p:spPr>
          <a:xfrm>
            <a:off x="618786" y="3900000"/>
            <a:ext cx="10973228" cy="500000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GB" sz="1900" dirty="0">
                <a:solidFill>
                  <a:srgbClr val="FFFFFF"/>
                </a:solidFill>
                <a:latin typeface="Twinkl Cursive Looped" panose="02000000000000000000" pitchFamily="2" charset="77"/>
              </a:rPr>
              <a:t>Challenge: choose a different speech verb for each line — not just ‘said’.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ADED-093D-F7A3-CB38-887F48FC26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Which speech punctuation rule did you find trickiest today?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27ECFA-A42A-C29F-54A2-76693013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using inverted commas help the reader?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74B6AC-A132-C991-3E1D-EC387F3C7C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Which piece of speech you wrote today are you most pleased with?</a:t>
            </a:r>
          </a:p>
        </p:txBody>
      </p:sp>
      <p:sp>
        <p:nvSpPr>
          <p:cNvPr id="50" name="TimerPH"/>
          <p:cNvSpPr>
            <a:spLocks noGrp="1"/>
          </p:cNvSpPr>
          <p:nvPr>
            <p:ph type="media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49156"/>
      </p:ext>
    </p:extLst>
  </p:cSld>
  <p:clrMapOvr>
    <a:masterClrMapping/>
  </p:clrMapOvr>
</p:sld>
</file>

<file path=ppt/theme/theme1.xml><?xml version="1.0" encoding="utf-8"?>
<a:theme xmlns:a="http://schemas.openxmlformats.org/drawingml/2006/main" name="Y4-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riters Y4" id="{BD61C293-31E1-D44E-801A-879F4B14F233}" vid="{1A96E79C-AC00-874D-89C4-CA15C0329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2AF586-B0EC-4134-916D-7D2C325123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B9D6E3-7B6B-42C4-BFBE-DA0ABC98CB10}">
  <ds:schemaRefs>
    <ds:schemaRef ds:uri="http://purl.org/dc/terms/"/>
    <ds:schemaRef ds:uri="http://schemas.microsoft.com/office/infopath/2007/PartnerControls"/>
    <ds:schemaRef ds:uri="4848fd07-94db-4308-8950-9cb0e230b958"/>
    <ds:schemaRef ds:uri="http://purl.org/dc/dcmitype/"/>
    <ds:schemaRef ds:uri="9e6dd442-da5e-411e-833f-0fee7dcd7819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51D2C11-57AF-4F8F-B52E-93801166CD87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Y4-Theme</Template>
  <TotalTime>54</TotalTime>
  <Words>932</Words>
  <Application>Microsoft Macintosh PowerPoint</Application>
  <PresentationFormat>Widescreen</PresentationFormat>
  <Paragraphs>104</Paragraphs>
  <Slides>32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Sassoon Infant Rg</vt:lpstr>
      <vt:lpstr>Twinkl Cursive Looped</vt:lpstr>
      <vt:lpstr>Twinkl Cursive Looped Light</vt:lpstr>
      <vt:lpstr>Y4-Theme</vt:lpstr>
      <vt:lpstr>How do writers use dialogue?</vt:lpstr>
      <vt:lpstr>How do writers use dialogue?</vt:lpstr>
      <vt:lpstr>Grammar Warm-Up</vt:lpstr>
      <vt:lpstr>Our new book…</vt:lpstr>
      <vt:lpstr>Let’s read our new book.   We are only reading the text. What do you notice about how the story is told?</vt:lpstr>
      <vt:lpstr>PowerPoint Presentation</vt:lpstr>
      <vt:lpstr>PowerPoint Presentation</vt:lpstr>
      <vt:lpstr>What did you notice about the story?</vt:lpstr>
      <vt:lpstr>Let’s read it again, this time the full book. What do the pictures tell us that the words did not?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extra information did you get from the pictures?</vt:lpstr>
      <vt:lpstr>How do authors use dialogue?</vt:lpstr>
      <vt:lpstr>Identify the dialogue.</vt:lpstr>
      <vt:lpstr>What makes the rabbit seem suspicious?</vt:lpstr>
      <vt:lpstr>Speech Punctuation</vt:lpstr>
      <vt:lpstr>Re-write the dialogue in your learning journey.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5</cp:revision>
  <cp:lastPrinted>2025-01-10T12:20:03Z</cp:lastPrinted>
  <dcterms:created xsi:type="dcterms:W3CDTF">2026-04-10T12:44:25Z</dcterms:created>
  <dcterms:modified xsi:type="dcterms:W3CDTF">2026-04-10T13:39:12Z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