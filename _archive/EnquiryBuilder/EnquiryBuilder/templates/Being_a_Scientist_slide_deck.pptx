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56" r:id="rId5"/>
    <p:sldId id="259" r:id="rId6"/>
    <p:sldId id="319" r:id="rId7"/>
    <p:sldId id="329" r:id="rId8"/>
    <p:sldId id="318" r:id="rId9"/>
    <p:sldId id="323" r:id="rId10"/>
    <p:sldId id="324" r:id="rId11"/>
    <p:sldId id="330" r:id="rId12"/>
    <p:sldId id="331" r:id="rId13"/>
    <p:sldId id="261" r:id="rId14"/>
    <p:sldId id="2079" r:id="rId15"/>
    <p:sldId id="1613" r:id="rId16"/>
    <p:sldId id="1614" r:id="rId17"/>
    <p:sldId id="1611" r:id="rId18"/>
    <p:sldId id="1612" r:id="rId19"/>
    <p:sldId id="258" r:id="rId20"/>
    <p:sldId id="328" r:id="rId21"/>
    <p:sldId id="257" r:id="rId22"/>
    <p:sldId id="326" r:id="rId23"/>
  </p:sldIdLst>
  <p:sldSz cx="12192000" cy="6858000"/>
  <p:notesSz cx="6797675" cy="9926638"/>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D2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16" d="100"/>
          <a:sy n="116" d="100"/>
        </p:scale>
        <p:origin x="8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451C63-56E7-4EBF-81BF-5BC191E403AF}"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GB"/>
        </a:p>
      </dgm:t>
    </dgm:pt>
    <dgm:pt modelId="{43B77943-79BB-4D75-BB83-B0782482F446}">
      <dgm:prSet phldrT="[Text]"/>
      <dgm:spPr>
        <a:solidFill>
          <a:srgbClr val="DAE3F3"/>
        </a:solidFill>
        <a:ln w="38100">
          <a:solidFill>
            <a:srgbClr val="4472C4"/>
          </a:solidFill>
        </a:ln>
      </dgm:spPr>
      <dgm:t>
        <a:bodyPr/>
        <a:lstStyle/>
        <a:p>
          <a:endParaRPr lang="en-GB"/>
        </a:p>
        <a:p>
          <a:endParaRPr lang="en-GB"/>
        </a:p>
      </dgm:t>
    </dgm:pt>
    <dgm:pt modelId="{BF69E45C-870E-4CF5-BE19-6B8BD9950810}" type="parTrans" cxnId="{E93958A2-D8FF-4E34-8E21-EF01D93CE0C5}">
      <dgm:prSet/>
      <dgm:spPr/>
      <dgm:t>
        <a:bodyPr/>
        <a:lstStyle/>
        <a:p>
          <a:endParaRPr lang="en-GB"/>
        </a:p>
      </dgm:t>
    </dgm:pt>
    <dgm:pt modelId="{8736C1B4-1091-4FFE-A41C-126BAD603F86}" type="sibTrans" cxnId="{E93958A2-D8FF-4E34-8E21-EF01D93CE0C5}">
      <dgm:prSet/>
      <dgm:spPr/>
      <dgm:t>
        <a:bodyPr/>
        <a:lstStyle/>
        <a:p>
          <a:endParaRPr lang="en-GB"/>
        </a:p>
      </dgm:t>
    </dgm:pt>
    <dgm:pt modelId="{A1B71D7C-CEE2-48FB-876C-D8358EF52E01}">
      <dgm:prSet phldrT="[Text]"/>
      <dgm:spPr>
        <a:solidFill>
          <a:srgbClr val="FFF2CC"/>
        </a:solidFill>
        <a:ln w="38100">
          <a:solidFill>
            <a:srgbClr val="FFC000"/>
          </a:solidFill>
        </a:ln>
      </dgm:spPr>
      <dgm:t>
        <a:bodyPr/>
        <a:lstStyle/>
        <a:p>
          <a:r>
            <a:rPr lang="en-GB" b="1">
              <a:solidFill>
                <a:schemeClr val="accent2"/>
              </a:solidFill>
              <a:latin typeface="Sassoon Infant Rg" panose="02000503030000020003" pitchFamily="2" charset="0"/>
              <a:ea typeface="Sassoon Infant Rg" panose="02000503030000020003" pitchFamily="2" charset="0"/>
            </a:rPr>
            <a:t>Chemistry</a:t>
          </a:r>
        </a:p>
      </dgm:t>
    </dgm:pt>
    <dgm:pt modelId="{5B130F9E-FC51-4B49-B3EB-174977B591A6}" type="parTrans" cxnId="{F24F65B7-73FC-4C68-A13B-E28AE93FB840}">
      <dgm:prSet/>
      <dgm:spPr/>
      <dgm:t>
        <a:bodyPr/>
        <a:lstStyle/>
        <a:p>
          <a:endParaRPr lang="en-GB"/>
        </a:p>
      </dgm:t>
    </dgm:pt>
    <dgm:pt modelId="{AEE1104B-6A2E-4203-ADFE-0F618FAE6FC0}" type="sibTrans" cxnId="{F24F65B7-73FC-4C68-A13B-E28AE93FB840}">
      <dgm:prSet/>
      <dgm:spPr>
        <a:solidFill>
          <a:srgbClr val="DAE3F3"/>
        </a:solidFill>
      </dgm:spPr>
      <dgm:t>
        <a:bodyPr/>
        <a:lstStyle/>
        <a:p>
          <a:endParaRPr lang="en-GB"/>
        </a:p>
      </dgm:t>
    </dgm:pt>
    <dgm:pt modelId="{C4BA1ED9-762F-49C0-9505-B0F050322C83}">
      <dgm:prSet phldrT="[Text]" custT="1"/>
      <dgm:spPr>
        <a:solidFill>
          <a:srgbClr val="E2F0D9"/>
        </a:solidFill>
        <a:ln w="38100">
          <a:solidFill>
            <a:srgbClr val="00AE4B"/>
          </a:solidFill>
        </a:ln>
      </dgm:spPr>
      <dgm:t>
        <a:bodyPr/>
        <a:lstStyle/>
        <a:p>
          <a:r>
            <a:rPr lang="en-GB" sz="1800" b="1">
              <a:solidFill>
                <a:srgbClr val="00B050"/>
              </a:solidFill>
              <a:latin typeface="Sassoon Infant Rg" panose="02000503030000020003" pitchFamily="2" charset="0"/>
              <a:ea typeface="Sassoon Infant Rg" panose="02000503030000020003" pitchFamily="2" charset="0"/>
            </a:rPr>
            <a:t>Earth and Space</a:t>
          </a:r>
        </a:p>
      </dgm:t>
    </dgm:pt>
    <dgm:pt modelId="{ADC01DB2-97A5-427C-9F42-C1062E6289D8}" type="parTrans" cxnId="{AC4E28A8-C019-422A-A423-717503640A78}">
      <dgm:prSet/>
      <dgm:spPr/>
      <dgm:t>
        <a:bodyPr/>
        <a:lstStyle/>
        <a:p>
          <a:endParaRPr lang="en-GB"/>
        </a:p>
      </dgm:t>
    </dgm:pt>
    <dgm:pt modelId="{424DF276-50BB-4708-842D-34A82B3358E2}" type="sibTrans" cxnId="{AC4E28A8-C019-422A-A423-717503640A78}">
      <dgm:prSet/>
      <dgm:spPr>
        <a:solidFill>
          <a:srgbClr val="DAE3F3"/>
        </a:solidFill>
      </dgm:spPr>
      <dgm:t>
        <a:bodyPr/>
        <a:lstStyle/>
        <a:p>
          <a:endParaRPr lang="en-GB"/>
        </a:p>
      </dgm:t>
    </dgm:pt>
    <dgm:pt modelId="{B5BF971C-BC5C-4E5A-9ADD-2F23F8A22214}">
      <dgm:prSet phldrT="[Text]" custT="1"/>
      <dgm:spPr>
        <a:solidFill>
          <a:srgbClr val="CCCCFF"/>
        </a:solidFill>
        <a:ln w="38100">
          <a:solidFill>
            <a:srgbClr val="7030A0"/>
          </a:solidFill>
        </a:ln>
      </dgm:spPr>
      <dgm:t>
        <a:bodyPr/>
        <a:lstStyle/>
        <a:p>
          <a:r>
            <a:rPr lang="en-GB" sz="1800" b="1">
              <a:solidFill>
                <a:srgbClr val="7030A0"/>
              </a:solidFill>
              <a:latin typeface="Sassoon Infant Rg" panose="02000503030000020003" pitchFamily="2" charset="0"/>
              <a:ea typeface="Sassoon Infant Rg" panose="02000503030000020003" pitchFamily="2" charset="0"/>
            </a:rPr>
            <a:t>Biology</a:t>
          </a:r>
        </a:p>
      </dgm:t>
    </dgm:pt>
    <dgm:pt modelId="{EA4F1DD2-2B60-41EA-944A-8A0080E106AA}" type="parTrans" cxnId="{EA7DD118-F271-4768-A374-FD20C5AEF3B8}">
      <dgm:prSet/>
      <dgm:spPr/>
      <dgm:t>
        <a:bodyPr/>
        <a:lstStyle/>
        <a:p>
          <a:endParaRPr lang="en-GB"/>
        </a:p>
      </dgm:t>
    </dgm:pt>
    <dgm:pt modelId="{9A01FCBC-289C-4469-BFAB-B35B331C0ECF}" type="sibTrans" cxnId="{EA7DD118-F271-4768-A374-FD20C5AEF3B8}">
      <dgm:prSet/>
      <dgm:spPr>
        <a:solidFill>
          <a:srgbClr val="DAE3F3"/>
        </a:solidFill>
      </dgm:spPr>
      <dgm:t>
        <a:bodyPr/>
        <a:lstStyle/>
        <a:p>
          <a:endParaRPr lang="en-GB"/>
        </a:p>
      </dgm:t>
    </dgm:pt>
    <dgm:pt modelId="{54B98577-0FD9-48C2-BA7E-AF3ABB43BEDB}">
      <dgm:prSet phldrT="[Text]" custT="1"/>
      <dgm:spPr>
        <a:solidFill>
          <a:srgbClr val="DAE3F3"/>
        </a:solidFill>
        <a:ln w="38100">
          <a:solidFill>
            <a:srgbClr val="4472C4"/>
          </a:solidFill>
        </a:ln>
      </dgm:spPr>
      <dgm:t>
        <a:bodyPr/>
        <a:lstStyle/>
        <a:p>
          <a:r>
            <a:rPr lang="en-GB" sz="1800" b="1">
              <a:solidFill>
                <a:srgbClr val="4472C4"/>
              </a:solidFill>
              <a:latin typeface="Sassoon Infant Rg" panose="02000503030000020003" pitchFamily="2" charset="0"/>
              <a:ea typeface="Sassoon Infant Rg" panose="02000503030000020003" pitchFamily="2" charset="0"/>
            </a:rPr>
            <a:t>Physics</a:t>
          </a:r>
        </a:p>
      </dgm:t>
    </dgm:pt>
    <dgm:pt modelId="{9BA51763-FFE0-4A21-8BA2-395DB8E9DC19}" type="parTrans" cxnId="{135C06C2-9448-47C6-9B91-CB0235E6969E}">
      <dgm:prSet/>
      <dgm:spPr/>
      <dgm:t>
        <a:bodyPr/>
        <a:lstStyle/>
        <a:p>
          <a:endParaRPr lang="en-GB"/>
        </a:p>
      </dgm:t>
    </dgm:pt>
    <dgm:pt modelId="{6283D916-8AE8-45B0-97EC-5A710C5DF2A1}" type="sibTrans" cxnId="{135C06C2-9448-47C6-9B91-CB0235E6969E}">
      <dgm:prSet/>
      <dgm:spPr>
        <a:solidFill>
          <a:srgbClr val="DAE3F3"/>
        </a:solidFill>
      </dgm:spPr>
      <dgm:t>
        <a:bodyPr/>
        <a:lstStyle/>
        <a:p>
          <a:endParaRPr lang="en-GB"/>
        </a:p>
      </dgm:t>
    </dgm:pt>
    <dgm:pt modelId="{A6F5CC1E-DC45-4B34-9D9B-C2084679F9EC}" type="pres">
      <dgm:prSet presAssocID="{D0451C63-56E7-4EBF-81BF-5BC191E403AF}" presName="Name0" presStyleCnt="0">
        <dgm:presLayoutVars>
          <dgm:chMax val="1"/>
          <dgm:dir/>
          <dgm:animLvl val="ctr"/>
          <dgm:resizeHandles val="exact"/>
        </dgm:presLayoutVars>
      </dgm:prSet>
      <dgm:spPr/>
    </dgm:pt>
    <dgm:pt modelId="{34F9142E-2BF6-46BF-8BA2-648CA2893E52}" type="pres">
      <dgm:prSet presAssocID="{43B77943-79BB-4D75-BB83-B0782482F446}" presName="centerShape" presStyleLbl="node0" presStyleIdx="0" presStyleCnt="1"/>
      <dgm:spPr/>
    </dgm:pt>
    <dgm:pt modelId="{42300B8A-BC3C-4C5A-A59D-EF79175243DB}" type="pres">
      <dgm:prSet presAssocID="{A1B71D7C-CEE2-48FB-876C-D8358EF52E01}" presName="node" presStyleLbl="node1" presStyleIdx="0" presStyleCnt="4">
        <dgm:presLayoutVars>
          <dgm:bulletEnabled val="1"/>
        </dgm:presLayoutVars>
      </dgm:prSet>
      <dgm:spPr/>
    </dgm:pt>
    <dgm:pt modelId="{C6139256-68C7-4515-BA1D-1C7F56C25554}" type="pres">
      <dgm:prSet presAssocID="{A1B71D7C-CEE2-48FB-876C-D8358EF52E01}" presName="dummy" presStyleCnt="0"/>
      <dgm:spPr/>
    </dgm:pt>
    <dgm:pt modelId="{098A9C61-527E-4070-93A8-0AF5DAFCAFB9}" type="pres">
      <dgm:prSet presAssocID="{AEE1104B-6A2E-4203-ADFE-0F618FAE6FC0}" presName="sibTrans" presStyleLbl="sibTrans2D1" presStyleIdx="0" presStyleCnt="4"/>
      <dgm:spPr/>
    </dgm:pt>
    <dgm:pt modelId="{B3B09D88-51E8-444E-A3C2-F4CD391EFE62}" type="pres">
      <dgm:prSet presAssocID="{C4BA1ED9-762F-49C0-9505-B0F050322C83}" presName="node" presStyleLbl="node1" presStyleIdx="1" presStyleCnt="4">
        <dgm:presLayoutVars>
          <dgm:bulletEnabled val="1"/>
        </dgm:presLayoutVars>
      </dgm:prSet>
      <dgm:spPr/>
    </dgm:pt>
    <dgm:pt modelId="{6270E589-3702-4582-803C-D453CB9F102D}" type="pres">
      <dgm:prSet presAssocID="{C4BA1ED9-762F-49C0-9505-B0F050322C83}" presName="dummy" presStyleCnt="0"/>
      <dgm:spPr/>
    </dgm:pt>
    <dgm:pt modelId="{1DC0A1E9-5692-4F68-BCAA-2A7B1AF910F4}" type="pres">
      <dgm:prSet presAssocID="{424DF276-50BB-4708-842D-34A82B3358E2}" presName="sibTrans" presStyleLbl="sibTrans2D1" presStyleIdx="1" presStyleCnt="4"/>
      <dgm:spPr/>
    </dgm:pt>
    <dgm:pt modelId="{C19BC3B5-28ED-44F5-8C4A-D774CF77DC05}" type="pres">
      <dgm:prSet presAssocID="{B5BF971C-BC5C-4E5A-9ADD-2F23F8A22214}" presName="node" presStyleLbl="node1" presStyleIdx="2" presStyleCnt="4">
        <dgm:presLayoutVars>
          <dgm:bulletEnabled val="1"/>
        </dgm:presLayoutVars>
      </dgm:prSet>
      <dgm:spPr/>
    </dgm:pt>
    <dgm:pt modelId="{4F7CB213-4995-4EA7-A8B2-420482120353}" type="pres">
      <dgm:prSet presAssocID="{B5BF971C-BC5C-4E5A-9ADD-2F23F8A22214}" presName="dummy" presStyleCnt="0"/>
      <dgm:spPr/>
    </dgm:pt>
    <dgm:pt modelId="{2E4C0133-A457-44EE-8166-9212AA6D3990}" type="pres">
      <dgm:prSet presAssocID="{9A01FCBC-289C-4469-BFAB-B35B331C0ECF}" presName="sibTrans" presStyleLbl="sibTrans2D1" presStyleIdx="2" presStyleCnt="4"/>
      <dgm:spPr/>
    </dgm:pt>
    <dgm:pt modelId="{50D451EE-14E1-483D-A1FD-C48E48F84656}" type="pres">
      <dgm:prSet presAssocID="{54B98577-0FD9-48C2-BA7E-AF3ABB43BEDB}" presName="node" presStyleLbl="node1" presStyleIdx="3" presStyleCnt="4">
        <dgm:presLayoutVars>
          <dgm:bulletEnabled val="1"/>
        </dgm:presLayoutVars>
      </dgm:prSet>
      <dgm:spPr/>
    </dgm:pt>
    <dgm:pt modelId="{6D27F98D-67F5-4332-ABA6-0CD232DF2D42}" type="pres">
      <dgm:prSet presAssocID="{54B98577-0FD9-48C2-BA7E-AF3ABB43BEDB}" presName="dummy" presStyleCnt="0"/>
      <dgm:spPr/>
    </dgm:pt>
    <dgm:pt modelId="{7E874FC6-553F-48F1-82AF-A0E82E43FD0F}" type="pres">
      <dgm:prSet presAssocID="{6283D916-8AE8-45B0-97EC-5A710C5DF2A1}" presName="sibTrans" presStyleLbl="sibTrans2D1" presStyleIdx="3" presStyleCnt="4"/>
      <dgm:spPr/>
    </dgm:pt>
  </dgm:ptLst>
  <dgm:cxnLst>
    <dgm:cxn modelId="{EA7DD118-F271-4768-A374-FD20C5AEF3B8}" srcId="{43B77943-79BB-4D75-BB83-B0782482F446}" destId="{B5BF971C-BC5C-4E5A-9ADD-2F23F8A22214}" srcOrd="2" destOrd="0" parTransId="{EA4F1DD2-2B60-41EA-944A-8A0080E106AA}" sibTransId="{9A01FCBC-289C-4469-BFAB-B35B331C0ECF}"/>
    <dgm:cxn modelId="{FE22BB24-028B-4F70-881D-223C38F1F553}" type="presOf" srcId="{43B77943-79BB-4D75-BB83-B0782482F446}" destId="{34F9142E-2BF6-46BF-8BA2-648CA2893E52}" srcOrd="0" destOrd="0" presId="urn:microsoft.com/office/officeart/2005/8/layout/radial6"/>
    <dgm:cxn modelId="{65C49630-9995-4856-898D-0FEAB10AEC2C}" type="presOf" srcId="{A1B71D7C-CEE2-48FB-876C-D8358EF52E01}" destId="{42300B8A-BC3C-4C5A-A59D-EF79175243DB}" srcOrd="0" destOrd="0" presId="urn:microsoft.com/office/officeart/2005/8/layout/radial6"/>
    <dgm:cxn modelId="{FABAF349-5D9D-4860-B64D-7792D6E81BB2}" type="presOf" srcId="{9A01FCBC-289C-4469-BFAB-B35B331C0ECF}" destId="{2E4C0133-A457-44EE-8166-9212AA6D3990}" srcOrd="0" destOrd="0" presId="urn:microsoft.com/office/officeart/2005/8/layout/radial6"/>
    <dgm:cxn modelId="{47D8325C-0474-4ED6-8674-C6E5238F1010}" type="presOf" srcId="{424DF276-50BB-4708-842D-34A82B3358E2}" destId="{1DC0A1E9-5692-4F68-BCAA-2A7B1AF910F4}" srcOrd="0" destOrd="0" presId="urn:microsoft.com/office/officeart/2005/8/layout/radial6"/>
    <dgm:cxn modelId="{09FE2E64-CEF5-47FB-8703-0966C948A028}" type="presOf" srcId="{C4BA1ED9-762F-49C0-9505-B0F050322C83}" destId="{B3B09D88-51E8-444E-A3C2-F4CD391EFE62}" srcOrd="0" destOrd="0" presId="urn:microsoft.com/office/officeart/2005/8/layout/radial6"/>
    <dgm:cxn modelId="{E93958A2-D8FF-4E34-8E21-EF01D93CE0C5}" srcId="{D0451C63-56E7-4EBF-81BF-5BC191E403AF}" destId="{43B77943-79BB-4D75-BB83-B0782482F446}" srcOrd="0" destOrd="0" parTransId="{BF69E45C-870E-4CF5-BE19-6B8BD9950810}" sibTransId="{8736C1B4-1091-4FFE-A41C-126BAD603F86}"/>
    <dgm:cxn modelId="{AC4E28A8-C019-422A-A423-717503640A78}" srcId="{43B77943-79BB-4D75-BB83-B0782482F446}" destId="{C4BA1ED9-762F-49C0-9505-B0F050322C83}" srcOrd="1" destOrd="0" parTransId="{ADC01DB2-97A5-427C-9F42-C1062E6289D8}" sibTransId="{424DF276-50BB-4708-842D-34A82B3358E2}"/>
    <dgm:cxn modelId="{683AE8B1-23EA-4729-9DF4-DFA47D2CB1C4}" type="presOf" srcId="{AEE1104B-6A2E-4203-ADFE-0F618FAE6FC0}" destId="{098A9C61-527E-4070-93A8-0AF5DAFCAFB9}" srcOrd="0" destOrd="0" presId="urn:microsoft.com/office/officeart/2005/8/layout/radial6"/>
    <dgm:cxn modelId="{F24F65B7-73FC-4C68-A13B-E28AE93FB840}" srcId="{43B77943-79BB-4D75-BB83-B0782482F446}" destId="{A1B71D7C-CEE2-48FB-876C-D8358EF52E01}" srcOrd="0" destOrd="0" parTransId="{5B130F9E-FC51-4B49-B3EB-174977B591A6}" sibTransId="{AEE1104B-6A2E-4203-ADFE-0F618FAE6FC0}"/>
    <dgm:cxn modelId="{135C06C2-9448-47C6-9B91-CB0235E6969E}" srcId="{43B77943-79BB-4D75-BB83-B0782482F446}" destId="{54B98577-0FD9-48C2-BA7E-AF3ABB43BEDB}" srcOrd="3" destOrd="0" parTransId="{9BA51763-FFE0-4A21-8BA2-395DB8E9DC19}" sibTransId="{6283D916-8AE8-45B0-97EC-5A710C5DF2A1}"/>
    <dgm:cxn modelId="{354DB2D2-859B-47F4-9205-FB98B0CEE0C5}" type="presOf" srcId="{D0451C63-56E7-4EBF-81BF-5BC191E403AF}" destId="{A6F5CC1E-DC45-4B34-9D9B-C2084679F9EC}" srcOrd="0" destOrd="0" presId="urn:microsoft.com/office/officeart/2005/8/layout/radial6"/>
    <dgm:cxn modelId="{1BF810D7-014F-4945-997F-D6A9084E12E1}" type="presOf" srcId="{B5BF971C-BC5C-4E5A-9ADD-2F23F8A22214}" destId="{C19BC3B5-28ED-44F5-8C4A-D774CF77DC05}" srcOrd="0" destOrd="0" presId="urn:microsoft.com/office/officeart/2005/8/layout/radial6"/>
    <dgm:cxn modelId="{69FEA0D8-601B-4664-B7AB-1C63115B5876}" type="presOf" srcId="{6283D916-8AE8-45B0-97EC-5A710C5DF2A1}" destId="{7E874FC6-553F-48F1-82AF-A0E82E43FD0F}" srcOrd="0" destOrd="0" presId="urn:microsoft.com/office/officeart/2005/8/layout/radial6"/>
    <dgm:cxn modelId="{5F05FEDC-9D42-46EA-A03C-6FD5AB5854E0}" type="presOf" srcId="{54B98577-0FD9-48C2-BA7E-AF3ABB43BEDB}" destId="{50D451EE-14E1-483D-A1FD-C48E48F84656}" srcOrd="0" destOrd="0" presId="urn:microsoft.com/office/officeart/2005/8/layout/radial6"/>
    <dgm:cxn modelId="{608168DC-01C0-45D2-9528-F2B8E4E02AEA}" type="presParOf" srcId="{A6F5CC1E-DC45-4B34-9D9B-C2084679F9EC}" destId="{34F9142E-2BF6-46BF-8BA2-648CA2893E52}" srcOrd="0" destOrd="0" presId="urn:microsoft.com/office/officeart/2005/8/layout/radial6"/>
    <dgm:cxn modelId="{D1ADEFFD-75DA-4048-9072-FA66C6D22372}" type="presParOf" srcId="{A6F5CC1E-DC45-4B34-9D9B-C2084679F9EC}" destId="{42300B8A-BC3C-4C5A-A59D-EF79175243DB}" srcOrd="1" destOrd="0" presId="urn:microsoft.com/office/officeart/2005/8/layout/radial6"/>
    <dgm:cxn modelId="{0C648F02-BC79-4046-ABBB-CA6D30437665}" type="presParOf" srcId="{A6F5CC1E-DC45-4B34-9D9B-C2084679F9EC}" destId="{C6139256-68C7-4515-BA1D-1C7F56C25554}" srcOrd="2" destOrd="0" presId="urn:microsoft.com/office/officeart/2005/8/layout/radial6"/>
    <dgm:cxn modelId="{EB559426-5886-48A6-840D-8385B0E7A4FD}" type="presParOf" srcId="{A6F5CC1E-DC45-4B34-9D9B-C2084679F9EC}" destId="{098A9C61-527E-4070-93A8-0AF5DAFCAFB9}" srcOrd="3" destOrd="0" presId="urn:microsoft.com/office/officeart/2005/8/layout/radial6"/>
    <dgm:cxn modelId="{6ACDBEDA-99BD-44F8-A61F-381EA09984C2}" type="presParOf" srcId="{A6F5CC1E-DC45-4B34-9D9B-C2084679F9EC}" destId="{B3B09D88-51E8-444E-A3C2-F4CD391EFE62}" srcOrd="4" destOrd="0" presId="urn:microsoft.com/office/officeart/2005/8/layout/radial6"/>
    <dgm:cxn modelId="{764CCF3A-DF18-422F-A42B-DC4231AAAE7B}" type="presParOf" srcId="{A6F5CC1E-DC45-4B34-9D9B-C2084679F9EC}" destId="{6270E589-3702-4582-803C-D453CB9F102D}" srcOrd="5" destOrd="0" presId="urn:microsoft.com/office/officeart/2005/8/layout/radial6"/>
    <dgm:cxn modelId="{37510624-DABB-4510-9502-124C3698AEE7}" type="presParOf" srcId="{A6F5CC1E-DC45-4B34-9D9B-C2084679F9EC}" destId="{1DC0A1E9-5692-4F68-BCAA-2A7B1AF910F4}" srcOrd="6" destOrd="0" presId="urn:microsoft.com/office/officeart/2005/8/layout/radial6"/>
    <dgm:cxn modelId="{F0524885-AB22-4CC6-8A5D-EF0541756BA1}" type="presParOf" srcId="{A6F5CC1E-DC45-4B34-9D9B-C2084679F9EC}" destId="{C19BC3B5-28ED-44F5-8C4A-D774CF77DC05}" srcOrd="7" destOrd="0" presId="urn:microsoft.com/office/officeart/2005/8/layout/radial6"/>
    <dgm:cxn modelId="{95B81586-FD31-42A2-8C48-8D9451295CD4}" type="presParOf" srcId="{A6F5CC1E-DC45-4B34-9D9B-C2084679F9EC}" destId="{4F7CB213-4995-4EA7-A8B2-420482120353}" srcOrd="8" destOrd="0" presId="urn:microsoft.com/office/officeart/2005/8/layout/radial6"/>
    <dgm:cxn modelId="{632DBC4E-F22E-4AD6-87EE-14CF9255EFAC}" type="presParOf" srcId="{A6F5CC1E-DC45-4B34-9D9B-C2084679F9EC}" destId="{2E4C0133-A457-44EE-8166-9212AA6D3990}" srcOrd="9" destOrd="0" presId="urn:microsoft.com/office/officeart/2005/8/layout/radial6"/>
    <dgm:cxn modelId="{B57280FE-EA1B-4F80-82ED-17A31FB844D3}" type="presParOf" srcId="{A6F5CC1E-DC45-4B34-9D9B-C2084679F9EC}" destId="{50D451EE-14E1-483D-A1FD-C48E48F84656}" srcOrd="10" destOrd="0" presId="urn:microsoft.com/office/officeart/2005/8/layout/radial6"/>
    <dgm:cxn modelId="{A3231FBB-41E1-4D0D-BE1F-8F30087ABC3A}" type="presParOf" srcId="{A6F5CC1E-DC45-4B34-9D9B-C2084679F9EC}" destId="{6D27F98D-67F5-4332-ABA6-0CD232DF2D42}" srcOrd="11" destOrd="0" presId="urn:microsoft.com/office/officeart/2005/8/layout/radial6"/>
    <dgm:cxn modelId="{72315608-CA86-47D9-AF0E-0B05A8821DB7}" type="presParOf" srcId="{A6F5CC1E-DC45-4B34-9D9B-C2084679F9EC}" destId="{7E874FC6-553F-48F1-82AF-A0E82E43FD0F}" srcOrd="12" destOrd="0" presId="urn:microsoft.com/office/officeart/2005/8/layout/radial6"/>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5AC37F-2C6E-4F08-971B-2D4300BA0034}" type="doc">
      <dgm:prSet loTypeId="urn:microsoft.com/office/officeart/2005/8/layout/chart3" loCatId="cycle" qsTypeId="urn:microsoft.com/office/officeart/2005/8/quickstyle/simple1" qsCatId="simple" csTypeId="urn:microsoft.com/office/officeart/2005/8/colors/accent1_2" csCatId="accent1" phldr="1"/>
      <dgm:spPr/>
    </dgm:pt>
    <dgm:pt modelId="{B5B0CF34-2600-46D6-8B75-017CF5458D58}">
      <dgm:prSet phldrT="[Text]"/>
      <dgm:spPr>
        <a:solidFill>
          <a:srgbClr val="FFC7B3"/>
        </a:solidFill>
        <a:ln>
          <a:noFill/>
        </a:ln>
      </dgm:spPr>
      <dgm:t>
        <a:bodyPr/>
        <a:lstStyle/>
        <a:p>
          <a:r>
            <a:rPr lang="en-GB" b="1">
              <a:solidFill>
                <a:schemeClr val="tx1"/>
              </a:solidFill>
              <a:latin typeface="Sassoon Infant Rg" panose="02000503030000020003" pitchFamily="2" charset="0"/>
              <a:ea typeface="Sassoon Infant Rg" panose="02000503030000020003" pitchFamily="2" charset="0"/>
            </a:rPr>
            <a:t>Plan and Question</a:t>
          </a:r>
        </a:p>
      </dgm:t>
    </dgm:pt>
    <dgm:pt modelId="{8EC2EF94-344F-4799-9CA8-1A1F582701C0}" type="parTrans" cxnId="{23C53151-7C63-46A6-8D7C-3E82E4668D54}">
      <dgm:prSet/>
      <dgm:spPr/>
      <dgm:t>
        <a:bodyPr/>
        <a:lstStyle/>
        <a:p>
          <a:endParaRPr lang="en-GB"/>
        </a:p>
      </dgm:t>
    </dgm:pt>
    <dgm:pt modelId="{80B188ED-24EC-4712-B77C-110F40C0ED93}" type="sibTrans" cxnId="{23C53151-7C63-46A6-8D7C-3E82E4668D54}">
      <dgm:prSet/>
      <dgm:spPr/>
      <dgm:t>
        <a:bodyPr/>
        <a:lstStyle/>
        <a:p>
          <a:endParaRPr lang="en-GB"/>
        </a:p>
      </dgm:t>
    </dgm:pt>
    <dgm:pt modelId="{6BE5B492-07D4-4024-8274-68C45B6A01EC}">
      <dgm:prSet phldrT="[Text]"/>
      <dgm:spPr>
        <a:solidFill>
          <a:srgbClr val="FFAFDB"/>
        </a:solidFill>
        <a:ln>
          <a:noFill/>
        </a:ln>
      </dgm:spPr>
      <dgm:t>
        <a:bodyPr/>
        <a:lstStyle/>
        <a:p>
          <a:r>
            <a:rPr lang="en-GB" b="1">
              <a:solidFill>
                <a:schemeClr val="tx1"/>
              </a:solidFill>
              <a:latin typeface="Sassoon Infant Rg" panose="02000503030000020003" pitchFamily="2" charset="0"/>
              <a:ea typeface="Sassoon Infant Rg" panose="02000503030000020003" pitchFamily="2" charset="0"/>
            </a:rPr>
            <a:t>Test</a:t>
          </a:r>
        </a:p>
      </dgm:t>
    </dgm:pt>
    <dgm:pt modelId="{52DBB1B4-6CB6-4C9D-945F-0D8DE9763D0F}" type="parTrans" cxnId="{F03D0886-7F16-4B56-BE53-FE717A304979}">
      <dgm:prSet/>
      <dgm:spPr/>
      <dgm:t>
        <a:bodyPr/>
        <a:lstStyle/>
        <a:p>
          <a:endParaRPr lang="en-GB"/>
        </a:p>
      </dgm:t>
    </dgm:pt>
    <dgm:pt modelId="{914C4660-F68B-413A-96D3-70B654E45E7F}" type="sibTrans" cxnId="{F03D0886-7F16-4B56-BE53-FE717A304979}">
      <dgm:prSet/>
      <dgm:spPr/>
      <dgm:t>
        <a:bodyPr/>
        <a:lstStyle/>
        <a:p>
          <a:endParaRPr lang="en-GB"/>
        </a:p>
      </dgm:t>
    </dgm:pt>
    <dgm:pt modelId="{DF4AA65E-26A4-4C26-9976-F0B2CD677D3B}">
      <dgm:prSet phldrT="[Text]"/>
      <dgm:spPr>
        <a:solidFill>
          <a:srgbClr val="FFF19F"/>
        </a:solidFill>
        <a:ln>
          <a:noFill/>
        </a:ln>
      </dgm:spPr>
      <dgm:t>
        <a:bodyPr/>
        <a:lstStyle/>
        <a:p>
          <a:r>
            <a:rPr lang="en-GB" b="1">
              <a:solidFill>
                <a:schemeClr val="tx1"/>
              </a:solidFill>
              <a:latin typeface="Sassoon Infant Rg" panose="02000503030000020003" pitchFamily="2" charset="0"/>
              <a:ea typeface="Sassoon Infant Rg" panose="02000503030000020003" pitchFamily="2" charset="0"/>
            </a:rPr>
            <a:t>Observe and measure</a:t>
          </a:r>
        </a:p>
      </dgm:t>
    </dgm:pt>
    <dgm:pt modelId="{F758932D-5E81-4976-91DD-442B238EDEEF}" type="parTrans" cxnId="{7D27582D-FC83-463C-BF8D-BEFDC51CD80B}">
      <dgm:prSet/>
      <dgm:spPr/>
      <dgm:t>
        <a:bodyPr/>
        <a:lstStyle/>
        <a:p>
          <a:endParaRPr lang="en-GB"/>
        </a:p>
      </dgm:t>
    </dgm:pt>
    <dgm:pt modelId="{A0458991-E933-48EB-9B54-19732A7D7CA3}" type="sibTrans" cxnId="{7D27582D-FC83-463C-BF8D-BEFDC51CD80B}">
      <dgm:prSet/>
      <dgm:spPr/>
      <dgm:t>
        <a:bodyPr/>
        <a:lstStyle/>
        <a:p>
          <a:endParaRPr lang="en-GB"/>
        </a:p>
      </dgm:t>
    </dgm:pt>
    <dgm:pt modelId="{13AFCDED-7AD5-4452-9162-2C438199E2AE}">
      <dgm:prSet phldrT="[Text]"/>
      <dgm:spPr>
        <a:solidFill>
          <a:schemeClr val="accent6">
            <a:lumMod val="60000"/>
            <a:lumOff val="40000"/>
          </a:schemeClr>
        </a:solidFill>
        <a:ln>
          <a:noFill/>
        </a:ln>
      </dgm:spPr>
      <dgm:t>
        <a:bodyPr/>
        <a:lstStyle/>
        <a:p>
          <a:r>
            <a:rPr lang="en-GB" b="0">
              <a:solidFill>
                <a:schemeClr val="tx1"/>
              </a:solidFill>
              <a:latin typeface="Sassoon Infant Rg" panose="02000503030000020003" pitchFamily="2" charset="0"/>
              <a:ea typeface="Sassoon Infant Rg" panose="02000503030000020003" pitchFamily="2" charset="0"/>
            </a:rPr>
            <a:t>Record and present</a:t>
          </a:r>
        </a:p>
      </dgm:t>
    </dgm:pt>
    <dgm:pt modelId="{C6738539-F672-4339-942F-EAA32586076E}" type="parTrans" cxnId="{3B5A05B0-2F81-4BE3-A6D3-18881B342EF7}">
      <dgm:prSet/>
      <dgm:spPr/>
      <dgm:t>
        <a:bodyPr/>
        <a:lstStyle/>
        <a:p>
          <a:endParaRPr lang="en-GB"/>
        </a:p>
      </dgm:t>
    </dgm:pt>
    <dgm:pt modelId="{DB82C7AA-28CC-4ABF-AC85-10CB06920A1C}" type="sibTrans" cxnId="{3B5A05B0-2F81-4BE3-A6D3-18881B342EF7}">
      <dgm:prSet/>
      <dgm:spPr/>
      <dgm:t>
        <a:bodyPr/>
        <a:lstStyle/>
        <a:p>
          <a:endParaRPr lang="en-GB"/>
        </a:p>
      </dgm:t>
    </dgm:pt>
    <dgm:pt modelId="{C06E0883-9797-4DC2-8ABD-A69A6B688115}">
      <dgm:prSet phldrT="[Text]"/>
      <dgm:spPr>
        <a:solidFill>
          <a:srgbClr val="9FDDFF"/>
        </a:solidFill>
        <a:ln>
          <a:noFill/>
        </a:ln>
      </dgm:spPr>
      <dgm:t>
        <a:bodyPr/>
        <a:lstStyle/>
        <a:p>
          <a:r>
            <a:rPr lang="en-GB" b="0">
              <a:solidFill>
                <a:schemeClr val="tx1"/>
              </a:solidFill>
              <a:latin typeface="Sassoon Infant Rg" panose="02000503030000020003" pitchFamily="2" charset="0"/>
              <a:ea typeface="Sassoon Infant Rg" panose="02000503030000020003" pitchFamily="2" charset="0"/>
            </a:rPr>
            <a:t>Conclude</a:t>
          </a:r>
        </a:p>
      </dgm:t>
    </dgm:pt>
    <dgm:pt modelId="{A3BBD703-84B9-45BB-AC45-4B30BD5A0A0F}" type="parTrans" cxnId="{BB80CB64-3C13-44D4-BFE4-D9171BB2660F}">
      <dgm:prSet/>
      <dgm:spPr/>
      <dgm:t>
        <a:bodyPr/>
        <a:lstStyle/>
        <a:p>
          <a:endParaRPr lang="en-GB"/>
        </a:p>
      </dgm:t>
    </dgm:pt>
    <dgm:pt modelId="{39B4DEE0-D315-43CC-8E60-EF6C0E63042D}" type="sibTrans" cxnId="{BB80CB64-3C13-44D4-BFE4-D9171BB2660F}">
      <dgm:prSet/>
      <dgm:spPr/>
      <dgm:t>
        <a:bodyPr/>
        <a:lstStyle/>
        <a:p>
          <a:endParaRPr lang="en-GB"/>
        </a:p>
      </dgm:t>
    </dgm:pt>
    <dgm:pt modelId="{CC6E1910-1D0B-4841-86F4-9AF0761816CF}" type="pres">
      <dgm:prSet presAssocID="{AC5AC37F-2C6E-4F08-971B-2D4300BA0034}" presName="compositeShape" presStyleCnt="0">
        <dgm:presLayoutVars>
          <dgm:chMax val="7"/>
          <dgm:dir/>
          <dgm:resizeHandles val="exact"/>
        </dgm:presLayoutVars>
      </dgm:prSet>
      <dgm:spPr/>
    </dgm:pt>
    <dgm:pt modelId="{89DC922F-024C-4BDD-AD61-6C4C1382FADE}" type="pres">
      <dgm:prSet presAssocID="{AC5AC37F-2C6E-4F08-971B-2D4300BA0034}" presName="wedge1" presStyleLbl="node1" presStyleIdx="0" presStyleCnt="5" custLinFactNeighborX="-4442" custLinFactNeighborY="4296"/>
      <dgm:spPr/>
    </dgm:pt>
    <dgm:pt modelId="{A1532AD7-411D-468B-B691-71FBDCBC8036}" type="pres">
      <dgm:prSet presAssocID="{AC5AC37F-2C6E-4F08-971B-2D4300BA0034}" presName="wedge1Tx" presStyleLbl="node1" presStyleIdx="0" presStyleCnt="5">
        <dgm:presLayoutVars>
          <dgm:chMax val="0"/>
          <dgm:chPref val="0"/>
          <dgm:bulletEnabled val="1"/>
        </dgm:presLayoutVars>
      </dgm:prSet>
      <dgm:spPr/>
    </dgm:pt>
    <dgm:pt modelId="{58936AA0-0B89-4645-91A0-8B9B41F948F1}" type="pres">
      <dgm:prSet presAssocID="{AC5AC37F-2C6E-4F08-971B-2D4300BA0034}" presName="wedge2" presStyleLbl="node1" presStyleIdx="1" presStyleCnt="5" custLinFactNeighborX="-564" custLinFactNeighborY="-554"/>
      <dgm:spPr/>
    </dgm:pt>
    <dgm:pt modelId="{2D3B47F9-EF16-4F9D-A4FA-DB899BED48F4}" type="pres">
      <dgm:prSet presAssocID="{AC5AC37F-2C6E-4F08-971B-2D4300BA0034}" presName="wedge2Tx" presStyleLbl="node1" presStyleIdx="1" presStyleCnt="5">
        <dgm:presLayoutVars>
          <dgm:chMax val="0"/>
          <dgm:chPref val="0"/>
          <dgm:bulletEnabled val="1"/>
        </dgm:presLayoutVars>
      </dgm:prSet>
      <dgm:spPr/>
    </dgm:pt>
    <dgm:pt modelId="{C516C106-8C6B-4887-B149-4E05A1C61FC6}" type="pres">
      <dgm:prSet presAssocID="{AC5AC37F-2C6E-4F08-971B-2D4300BA0034}" presName="wedge3" presStyleLbl="node1" presStyleIdx="2" presStyleCnt="5"/>
      <dgm:spPr/>
    </dgm:pt>
    <dgm:pt modelId="{181C802E-1803-4BC1-9915-6FB92EEAA124}" type="pres">
      <dgm:prSet presAssocID="{AC5AC37F-2C6E-4F08-971B-2D4300BA0034}" presName="wedge3Tx" presStyleLbl="node1" presStyleIdx="2" presStyleCnt="5">
        <dgm:presLayoutVars>
          <dgm:chMax val="0"/>
          <dgm:chPref val="0"/>
          <dgm:bulletEnabled val="1"/>
        </dgm:presLayoutVars>
      </dgm:prSet>
      <dgm:spPr/>
    </dgm:pt>
    <dgm:pt modelId="{A28F0A0C-9743-4573-A759-3902FE3CBCFF}" type="pres">
      <dgm:prSet presAssocID="{AC5AC37F-2C6E-4F08-971B-2D4300BA0034}" presName="wedge4" presStyleLbl="node1" presStyleIdx="3" presStyleCnt="5"/>
      <dgm:spPr/>
    </dgm:pt>
    <dgm:pt modelId="{014FD06A-D5A0-4D65-A35E-080C058D5EB3}" type="pres">
      <dgm:prSet presAssocID="{AC5AC37F-2C6E-4F08-971B-2D4300BA0034}" presName="wedge4Tx" presStyleLbl="node1" presStyleIdx="3" presStyleCnt="5">
        <dgm:presLayoutVars>
          <dgm:chMax val="0"/>
          <dgm:chPref val="0"/>
          <dgm:bulletEnabled val="1"/>
        </dgm:presLayoutVars>
      </dgm:prSet>
      <dgm:spPr/>
    </dgm:pt>
    <dgm:pt modelId="{F77D5D9E-EA13-4EB2-91BF-751587878B65}" type="pres">
      <dgm:prSet presAssocID="{AC5AC37F-2C6E-4F08-971B-2D4300BA0034}" presName="wedge5" presStyleLbl="node1" presStyleIdx="4" presStyleCnt="5"/>
      <dgm:spPr/>
    </dgm:pt>
    <dgm:pt modelId="{E7867CFD-1D3B-4ED5-A393-252185F63A70}" type="pres">
      <dgm:prSet presAssocID="{AC5AC37F-2C6E-4F08-971B-2D4300BA0034}" presName="wedge5Tx" presStyleLbl="node1" presStyleIdx="4" presStyleCnt="5">
        <dgm:presLayoutVars>
          <dgm:chMax val="0"/>
          <dgm:chPref val="0"/>
          <dgm:bulletEnabled val="1"/>
        </dgm:presLayoutVars>
      </dgm:prSet>
      <dgm:spPr/>
    </dgm:pt>
  </dgm:ptLst>
  <dgm:cxnLst>
    <dgm:cxn modelId="{80952827-00F7-4588-8F4A-DF4A6235A95F}" type="presOf" srcId="{6BE5B492-07D4-4024-8274-68C45B6A01EC}" destId="{2D3B47F9-EF16-4F9D-A4FA-DB899BED48F4}" srcOrd="1" destOrd="0" presId="urn:microsoft.com/office/officeart/2005/8/layout/chart3"/>
    <dgm:cxn modelId="{7D27582D-FC83-463C-BF8D-BEFDC51CD80B}" srcId="{AC5AC37F-2C6E-4F08-971B-2D4300BA0034}" destId="{DF4AA65E-26A4-4C26-9976-F0B2CD677D3B}" srcOrd="2" destOrd="0" parTransId="{F758932D-5E81-4976-91DD-442B238EDEEF}" sibTransId="{A0458991-E933-48EB-9B54-19732A7D7CA3}"/>
    <dgm:cxn modelId="{1A18AA3E-19E4-4CC8-978C-86A145AFB6E6}" type="presOf" srcId="{AC5AC37F-2C6E-4F08-971B-2D4300BA0034}" destId="{CC6E1910-1D0B-4841-86F4-9AF0761816CF}" srcOrd="0" destOrd="0" presId="urn:microsoft.com/office/officeart/2005/8/layout/chart3"/>
    <dgm:cxn modelId="{12DC0D49-3520-4715-A55C-C71CA8A4B9BF}" type="presOf" srcId="{13AFCDED-7AD5-4452-9162-2C438199E2AE}" destId="{014FD06A-D5A0-4D65-A35E-080C058D5EB3}" srcOrd="1" destOrd="0" presId="urn:microsoft.com/office/officeart/2005/8/layout/chart3"/>
    <dgm:cxn modelId="{23C53151-7C63-46A6-8D7C-3E82E4668D54}" srcId="{AC5AC37F-2C6E-4F08-971B-2D4300BA0034}" destId="{B5B0CF34-2600-46D6-8B75-017CF5458D58}" srcOrd="0" destOrd="0" parTransId="{8EC2EF94-344F-4799-9CA8-1A1F582701C0}" sibTransId="{80B188ED-24EC-4712-B77C-110F40C0ED93}"/>
    <dgm:cxn modelId="{79F6A75A-1D6D-4ED9-9775-C45057AEE72F}" type="presOf" srcId="{B5B0CF34-2600-46D6-8B75-017CF5458D58}" destId="{A1532AD7-411D-468B-B691-71FBDCBC8036}" srcOrd="1" destOrd="0" presId="urn:microsoft.com/office/officeart/2005/8/layout/chart3"/>
    <dgm:cxn modelId="{BB80CB64-3C13-44D4-BFE4-D9171BB2660F}" srcId="{AC5AC37F-2C6E-4F08-971B-2D4300BA0034}" destId="{C06E0883-9797-4DC2-8ABD-A69A6B688115}" srcOrd="4" destOrd="0" parTransId="{A3BBD703-84B9-45BB-AC45-4B30BD5A0A0F}" sibTransId="{39B4DEE0-D315-43CC-8E60-EF6C0E63042D}"/>
    <dgm:cxn modelId="{2C86707A-AF74-465D-9FB2-21B43685B08E}" type="presOf" srcId="{C06E0883-9797-4DC2-8ABD-A69A6B688115}" destId="{E7867CFD-1D3B-4ED5-A393-252185F63A70}" srcOrd="1" destOrd="0" presId="urn:microsoft.com/office/officeart/2005/8/layout/chart3"/>
    <dgm:cxn modelId="{F03D0886-7F16-4B56-BE53-FE717A304979}" srcId="{AC5AC37F-2C6E-4F08-971B-2D4300BA0034}" destId="{6BE5B492-07D4-4024-8274-68C45B6A01EC}" srcOrd="1" destOrd="0" parTransId="{52DBB1B4-6CB6-4C9D-945F-0D8DE9763D0F}" sibTransId="{914C4660-F68B-413A-96D3-70B654E45E7F}"/>
    <dgm:cxn modelId="{5C7E5598-5072-4096-AF48-07A4F3E92492}" type="presOf" srcId="{B5B0CF34-2600-46D6-8B75-017CF5458D58}" destId="{89DC922F-024C-4BDD-AD61-6C4C1382FADE}" srcOrd="0" destOrd="0" presId="urn:microsoft.com/office/officeart/2005/8/layout/chart3"/>
    <dgm:cxn modelId="{6C59329B-41E2-4E94-803D-70368A937400}" type="presOf" srcId="{DF4AA65E-26A4-4C26-9976-F0B2CD677D3B}" destId="{181C802E-1803-4BC1-9915-6FB92EEAA124}" srcOrd="1" destOrd="0" presId="urn:microsoft.com/office/officeart/2005/8/layout/chart3"/>
    <dgm:cxn modelId="{D562F4A7-8FF9-4C06-B7C8-EA0241F1FD1D}" type="presOf" srcId="{13AFCDED-7AD5-4452-9162-2C438199E2AE}" destId="{A28F0A0C-9743-4573-A759-3902FE3CBCFF}" srcOrd="0" destOrd="0" presId="urn:microsoft.com/office/officeart/2005/8/layout/chart3"/>
    <dgm:cxn modelId="{3B5A05B0-2F81-4BE3-A6D3-18881B342EF7}" srcId="{AC5AC37F-2C6E-4F08-971B-2D4300BA0034}" destId="{13AFCDED-7AD5-4452-9162-2C438199E2AE}" srcOrd="3" destOrd="0" parTransId="{C6738539-F672-4339-942F-EAA32586076E}" sibTransId="{DB82C7AA-28CC-4ABF-AC85-10CB06920A1C}"/>
    <dgm:cxn modelId="{8EAC46C2-60D5-4387-8748-307CD39C649F}" type="presOf" srcId="{6BE5B492-07D4-4024-8274-68C45B6A01EC}" destId="{58936AA0-0B89-4645-91A0-8B9B41F948F1}" srcOrd="0" destOrd="0" presId="urn:microsoft.com/office/officeart/2005/8/layout/chart3"/>
    <dgm:cxn modelId="{B23615CD-CDB0-4BA3-BB8B-87B7B6432F73}" type="presOf" srcId="{DF4AA65E-26A4-4C26-9976-F0B2CD677D3B}" destId="{C516C106-8C6B-4887-B149-4E05A1C61FC6}" srcOrd="0" destOrd="0" presId="urn:microsoft.com/office/officeart/2005/8/layout/chart3"/>
    <dgm:cxn modelId="{42595FF7-6CD6-43AB-9603-D16F7CC891C4}" type="presOf" srcId="{C06E0883-9797-4DC2-8ABD-A69A6B688115}" destId="{F77D5D9E-EA13-4EB2-91BF-751587878B65}" srcOrd="0" destOrd="0" presId="urn:microsoft.com/office/officeart/2005/8/layout/chart3"/>
    <dgm:cxn modelId="{F2C101A2-44A3-4E73-8D84-BD6EE80130A5}" type="presParOf" srcId="{CC6E1910-1D0B-4841-86F4-9AF0761816CF}" destId="{89DC922F-024C-4BDD-AD61-6C4C1382FADE}" srcOrd="0" destOrd="0" presId="urn:microsoft.com/office/officeart/2005/8/layout/chart3"/>
    <dgm:cxn modelId="{DD85FD61-08BA-4D19-8391-662506573E6D}" type="presParOf" srcId="{CC6E1910-1D0B-4841-86F4-9AF0761816CF}" destId="{A1532AD7-411D-468B-B691-71FBDCBC8036}" srcOrd="1" destOrd="0" presId="urn:microsoft.com/office/officeart/2005/8/layout/chart3"/>
    <dgm:cxn modelId="{7753B6B9-BC16-4DA2-865A-5442BF31852E}" type="presParOf" srcId="{CC6E1910-1D0B-4841-86F4-9AF0761816CF}" destId="{58936AA0-0B89-4645-91A0-8B9B41F948F1}" srcOrd="2" destOrd="0" presId="urn:microsoft.com/office/officeart/2005/8/layout/chart3"/>
    <dgm:cxn modelId="{3F59F893-F429-4E4D-AF8D-F86641293D87}" type="presParOf" srcId="{CC6E1910-1D0B-4841-86F4-9AF0761816CF}" destId="{2D3B47F9-EF16-4F9D-A4FA-DB899BED48F4}" srcOrd="3" destOrd="0" presId="urn:microsoft.com/office/officeart/2005/8/layout/chart3"/>
    <dgm:cxn modelId="{281F5C53-A513-48FE-82DF-A1E1AD8E6F82}" type="presParOf" srcId="{CC6E1910-1D0B-4841-86F4-9AF0761816CF}" destId="{C516C106-8C6B-4887-B149-4E05A1C61FC6}" srcOrd="4" destOrd="0" presId="urn:microsoft.com/office/officeart/2005/8/layout/chart3"/>
    <dgm:cxn modelId="{219E7A3A-875D-4817-B1ED-B717CACA18EF}" type="presParOf" srcId="{CC6E1910-1D0B-4841-86F4-9AF0761816CF}" destId="{181C802E-1803-4BC1-9915-6FB92EEAA124}" srcOrd="5" destOrd="0" presId="urn:microsoft.com/office/officeart/2005/8/layout/chart3"/>
    <dgm:cxn modelId="{BCE89248-2A1B-43AF-82BF-733902E657A2}" type="presParOf" srcId="{CC6E1910-1D0B-4841-86F4-9AF0761816CF}" destId="{A28F0A0C-9743-4573-A759-3902FE3CBCFF}" srcOrd="6" destOrd="0" presId="urn:microsoft.com/office/officeart/2005/8/layout/chart3"/>
    <dgm:cxn modelId="{95494642-BC9F-465E-8444-6F4809375C6E}" type="presParOf" srcId="{CC6E1910-1D0B-4841-86F4-9AF0761816CF}" destId="{014FD06A-D5A0-4D65-A35E-080C058D5EB3}" srcOrd="7" destOrd="0" presId="urn:microsoft.com/office/officeart/2005/8/layout/chart3"/>
    <dgm:cxn modelId="{0DC342D7-3C0D-4898-98F6-B52C17DD0579}" type="presParOf" srcId="{CC6E1910-1D0B-4841-86F4-9AF0761816CF}" destId="{F77D5D9E-EA13-4EB2-91BF-751587878B65}" srcOrd="8" destOrd="0" presId="urn:microsoft.com/office/officeart/2005/8/layout/chart3"/>
    <dgm:cxn modelId="{EA7F313C-BFC3-4C7E-9FD6-E298F02CA9EC}" type="presParOf" srcId="{CC6E1910-1D0B-4841-86F4-9AF0761816CF}" destId="{E7867CFD-1D3B-4ED5-A393-252185F63A70}" srcOrd="9" destOrd="0" presId="urn:microsoft.com/office/officeart/2005/8/layout/char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874FC6-553F-48F1-82AF-A0E82E43FD0F}">
      <dsp:nvSpPr>
        <dsp:cNvPr id="0" name=""/>
        <dsp:cNvSpPr/>
      </dsp:nvSpPr>
      <dsp:spPr>
        <a:xfrm>
          <a:off x="1980380" y="625714"/>
          <a:ext cx="4167238" cy="4167238"/>
        </a:xfrm>
        <a:prstGeom prst="blockArc">
          <a:avLst>
            <a:gd name="adj1" fmla="val 10800000"/>
            <a:gd name="adj2" fmla="val 16200000"/>
            <a:gd name="adj3" fmla="val 4642"/>
          </a:avLst>
        </a:prstGeom>
        <a:solidFill>
          <a:srgbClr val="DAE3F3"/>
        </a:solidFill>
        <a:ln>
          <a:noFill/>
        </a:ln>
        <a:effectLst/>
      </dsp:spPr>
      <dsp:style>
        <a:lnRef idx="0">
          <a:scrgbClr r="0" g="0" b="0"/>
        </a:lnRef>
        <a:fillRef idx="1">
          <a:scrgbClr r="0" g="0" b="0"/>
        </a:fillRef>
        <a:effectRef idx="0">
          <a:scrgbClr r="0" g="0" b="0"/>
        </a:effectRef>
        <a:fontRef idx="minor">
          <a:schemeClr val="lt1"/>
        </a:fontRef>
      </dsp:style>
    </dsp:sp>
    <dsp:sp modelId="{2E4C0133-A457-44EE-8166-9212AA6D3990}">
      <dsp:nvSpPr>
        <dsp:cNvPr id="0" name=""/>
        <dsp:cNvSpPr/>
      </dsp:nvSpPr>
      <dsp:spPr>
        <a:xfrm>
          <a:off x="1980380" y="625714"/>
          <a:ext cx="4167238" cy="4167238"/>
        </a:xfrm>
        <a:prstGeom prst="blockArc">
          <a:avLst>
            <a:gd name="adj1" fmla="val 5400000"/>
            <a:gd name="adj2" fmla="val 10800000"/>
            <a:gd name="adj3" fmla="val 4642"/>
          </a:avLst>
        </a:prstGeom>
        <a:solidFill>
          <a:srgbClr val="DAE3F3"/>
        </a:solidFill>
        <a:ln>
          <a:noFill/>
        </a:ln>
        <a:effectLst/>
      </dsp:spPr>
      <dsp:style>
        <a:lnRef idx="0">
          <a:scrgbClr r="0" g="0" b="0"/>
        </a:lnRef>
        <a:fillRef idx="1">
          <a:scrgbClr r="0" g="0" b="0"/>
        </a:fillRef>
        <a:effectRef idx="0">
          <a:scrgbClr r="0" g="0" b="0"/>
        </a:effectRef>
        <a:fontRef idx="minor">
          <a:schemeClr val="lt1"/>
        </a:fontRef>
      </dsp:style>
    </dsp:sp>
    <dsp:sp modelId="{1DC0A1E9-5692-4F68-BCAA-2A7B1AF910F4}">
      <dsp:nvSpPr>
        <dsp:cNvPr id="0" name=""/>
        <dsp:cNvSpPr/>
      </dsp:nvSpPr>
      <dsp:spPr>
        <a:xfrm>
          <a:off x="1980380" y="625714"/>
          <a:ext cx="4167238" cy="4167238"/>
        </a:xfrm>
        <a:prstGeom prst="blockArc">
          <a:avLst>
            <a:gd name="adj1" fmla="val 0"/>
            <a:gd name="adj2" fmla="val 5400000"/>
            <a:gd name="adj3" fmla="val 4642"/>
          </a:avLst>
        </a:prstGeom>
        <a:solidFill>
          <a:srgbClr val="DAE3F3"/>
        </a:solidFill>
        <a:ln>
          <a:noFill/>
        </a:ln>
        <a:effectLst/>
      </dsp:spPr>
      <dsp:style>
        <a:lnRef idx="0">
          <a:scrgbClr r="0" g="0" b="0"/>
        </a:lnRef>
        <a:fillRef idx="1">
          <a:scrgbClr r="0" g="0" b="0"/>
        </a:fillRef>
        <a:effectRef idx="0">
          <a:scrgbClr r="0" g="0" b="0"/>
        </a:effectRef>
        <a:fontRef idx="minor">
          <a:schemeClr val="lt1"/>
        </a:fontRef>
      </dsp:style>
    </dsp:sp>
    <dsp:sp modelId="{098A9C61-527E-4070-93A8-0AF5DAFCAFB9}">
      <dsp:nvSpPr>
        <dsp:cNvPr id="0" name=""/>
        <dsp:cNvSpPr/>
      </dsp:nvSpPr>
      <dsp:spPr>
        <a:xfrm>
          <a:off x="1980380" y="625714"/>
          <a:ext cx="4167238" cy="4167238"/>
        </a:xfrm>
        <a:prstGeom prst="blockArc">
          <a:avLst>
            <a:gd name="adj1" fmla="val 16200000"/>
            <a:gd name="adj2" fmla="val 0"/>
            <a:gd name="adj3" fmla="val 4642"/>
          </a:avLst>
        </a:prstGeom>
        <a:solidFill>
          <a:srgbClr val="DAE3F3"/>
        </a:solidFill>
        <a:ln>
          <a:noFill/>
        </a:ln>
        <a:effectLst/>
      </dsp:spPr>
      <dsp:style>
        <a:lnRef idx="0">
          <a:scrgbClr r="0" g="0" b="0"/>
        </a:lnRef>
        <a:fillRef idx="1">
          <a:scrgbClr r="0" g="0" b="0"/>
        </a:fillRef>
        <a:effectRef idx="0">
          <a:scrgbClr r="0" g="0" b="0"/>
        </a:effectRef>
        <a:fontRef idx="minor">
          <a:schemeClr val="lt1"/>
        </a:fontRef>
      </dsp:style>
    </dsp:sp>
    <dsp:sp modelId="{34F9142E-2BF6-46BF-8BA2-648CA2893E52}">
      <dsp:nvSpPr>
        <dsp:cNvPr id="0" name=""/>
        <dsp:cNvSpPr/>
      </dsp:nvSpPr>
      <dsp:spPr>
        <a:xfrm>
          <a:off x="3104554" y="1749888"/>
          <a:ext cx="1918890" cy="1918890"/>
        </a:xfrm>
        <a:prstGeom prst="ellipse">
          <a:avLst/>
        </a:prstGeom>
        <a:solidFill>
          <a:srgbClr val="DAE3F3"/>
        </a:solidFill>
        <a:ln w="38100" cap="flat" cmpd="sng" algn="ctr">
          <a:solidFill>
            <a:srgbClr val="4472C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990" tIns="46990" rIns="46990" bIns="46990" numCol="1" spcCol="1270" anchor="ctr" anchorCtr="0">
          <a:noAutofit/>
        </a:bodyPr>
        <a:lstStyle/>
        <a:p>
          <a:pPr marL="0" lvl="0" indent="0" algn="ctr" defTabSz="1644650">
            <a:lnSpc>
              <a:spcPct val="90000"/>
            </a:lnSpc>
            <a:spcBef>
              <a:spcPct val="0"/>
            </a:spcBef>
            <a:spcAft>
              <a:spcPct val="35000"/>
            </a:spcAft>
            <a:buNone/>
          </a:pPr>
          <a:endParaRPr lang="en-GB" sz="3700" kern="1200"/>
        </a:p>
        <a:p>
          <a:pPr marL="0" lvl="0" indent="0" algn="ctr" defTabSz="1644650">
            <a:lnSpc>
              <a:spcPct val="90000"/>
            </a:lnSpc>
            <a:spcBef>
              <a:spcPct val="0"/>
            </a:spcBef>
            <a:spcAft>
              <a:spcPct val="35000"/>
            </a:spcAft>
            <a:buNone/>
          </a:pPr>
          <a:endParaRPr lang="en-GB" sz="3700" kern="1200"/>
        </a:p>
      </dsp:txBody>
      <dsp:txXfrm>
        <a:off x="3385569" y="2030903"/>
        <a:ext cx="1356860" cy="1356860"/>
      </dsp:txXfrm>
    </dsp:sp>
    <dsp:sp modelId="{42300B8A-BC3C-4C5A-A59D-EF79175243DB}">
      <dsp:nvSpPr>
        <dsp:cNvPr id="0" name=""/>
        <dsp:cNvSpPr/>
      </dsp:nvSpPr>
      <dsp:spPr>
        <a:xfrm>
          <a:off x="3392388" y="2458"/>
          <a:ext cx="1343223" cy="1343223"/>
        </a:xfrm>
        <a:prstGeom prst="ellipse">
          <a:avLst/>
        </a:prstGeom>
        <a:solidFill>
          <a:srgbClr val="FFF2CC"/>
        </a:solidFill>
        <a:ln w="3810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GB" sz="1700" b="1" kern="1200">
              <a:solidFill>
                <a:schemeClr val="accent2"/>
              </a:solidFill>
              <a:latin typeface="Sassoon Infant Rg" panose="02000503030000020003" pitchFamily="2" charset="0"/>
              <a:ea typeface="Sassoon Infant Rg" panose="02000503030000020003" pitchFamily="2" charset="0"/>
            </a:rPr>
            <a:t>Chemistry</a:t>
          </a:r>
        </a:p>
      </dsp:txBody>
      <dsp:txXfrm>
        <a:off x="3589098" y="199168"/>
        <a:ext cx="949803" cy="949803"/>
      </dsp:txXfrm>
    </dsp:sp>
    <dsp:sp modelId="{B3B09D88-51E8-444E-A3C2-F4CD391EFE62}">
      <dsp:nvSpPr>
        <dsp:cNvPr id="0" name=""/>
        <dsp:cNvSpPr/>
      </dsp:nvSpPr>
      <dsp:spPr>
        <a:xfrm>
          <a:off x="5427651" y="2037721"/>
          <a:ext cx="1343223" cy="1343223"/>
        </a:xfrm>
        <a:prstGeom prst="ellipse">
          <a:avLst/>
        </a:prstGeom>
        <a:solidFill>
          <a:srgbClr val="E2F0D9"/>
        </a:solidFill>
        <a:ln w="38100" cap="flat" cmpd="sng" algn="ctr">
          <a:solidFill>
            <a:srgbClr val="00AE4B"/>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b="1" kern="1200">
              <a:solidFill>
                <a:srgbClr val="00B050"/>
              </a:solidFill>
              <a:latin typeface="Sassoon Infant Rg" panose="02000503030000020003" pitchFamily="2" charset="0"/>
              <a:ea typeface="Sassoon Infant Rg" panose="02000503030000020003" pitchFamily="2" charset="0"/>
            </a:rPr>
            <a:t>Earth and Space</a:t>
          </a:r>
        </a:p>
      </dsp:txBody>
      <dsp:txXfrm>
        <a:off x="5624361" y="2234431"/>
        <a:ext cx="949803" cy="949803"/>
      </dsp:txXfrm>
    </dsp:sp>
    <dsp:sp modelId="{C19BC3B5-28ED-44F5-8C4A-D774CF77DC05}">
      <dsp:nvSpPr>
        <dsp:cNvPr id="0" name=""/>
        <dsp:cNvSpPr/>
      </dsp:nvSpPr>
      <dsp:spPr>
        <a:xfrm>
          <a:off x="3392388" y="4072985"/>
          <a:ext cx="1343223" cy="1343223"/>
        </a:xfrm>
        <a:prstGeom prst="ellipse">
          <a:avLst/>
        </a:prstGeom>
        <a:solidFill>
          <a:srgbClr val="CCCCFF"/>
        </a:solidFill>
        <a:ln w="381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b="1" kern="1200">
              <a:solidFill>
                <a:srgbClr val="7030A0"/>
              </a:solidFill>
              <a:latin typeface="Sassoon Infant Rg" panose="02000503030000020003" pitchFamily="2" charset="0"/>
              <a:ea typeface="Sassoon Infant Rg" panose="02000503030000020003" pitchFamily="2" charset="0"/>
            </a:rPr>
            <a:t>Biology</a:t>
          </a:r>
        </a:p>
      </dsp:txBody>
      <dsp:txXfrm>
        <a:off x="3589098" y="4269695"/>
        <a:ext cx="949803" cy="949803"/>
      </dsp:txXfrm>
    </dsp:sp>
    <dsp:sp modelId="{50D451EE-14E1-483D-A1FD-C48E48F84656}">
      <dsp:nvSpPr>
        <dsp:cNvPr id="0" name=""/>
        <dsp:cNvSpPr/>
      </dsp:nvSpPr>
      <dsp:spPr>
        <a:xfrm>
          <a:off x="1357124" y="2037721"/>
          <a:ext cx="1343223" cy="1343223"/>
        </a:xfrm>
        <a:prstGeom prst="ellipse">
          <a:avLst/>
        </a:prstGeom>
        <a:solidFill>
          <a:srgbClr val="DAE3F3"/>
        </a:solidFill>
        <a:ln w="38100" cap="flat" cmpd="sng" algn="ctr">
          <a:solidFill>
            <a:srgbClr val="4472C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b="1" kern="1200">
              <a:solidFill>
                <a:srgbClr val="4472C4"/>
              </a:solidFill>
              <a:latin typeface="Sassoon Infant Rg" panose="02000503030000020003" pitchFamily="2" charset="0"/>
              <a:ea typeface="Sassoon Infant Rg" panose="02000503030000020003" pitchFamily="2" charset="0"/>
            </a:rPr>
            <a:t>Physics</a:t>
          </a:r>
        </a:p>
      </dsp:txBody>
      <dsp:txXfrm>
        <a:off x="1553834" y="2234431"/>
        <a:ext cx="949803" cy="9498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DC922F-024C-4BDD-AD61-6C4C1382FADE}">
      <dsp:nvSpPr>
        <dsp:cNvPr id="0" name=""/>
        <dsp:cNvSpPr/>
      </dsp:nvSpPr>
      <dsp:spPr>
        <a:xfrm>
          <a:off x="1472746" y="519305"/>
          <a:ext cx="4551680" cy="4551680"/>
        </a:xfrm>
        <a:prstGeom prst="pie">
          <a:avLst>
            <a:gd name="adj1" fmla="val 16200000"/>
            <a:gd name="adj2" fmla="val 20520000"/>
          </a:avLst>
        </a:prstGeom>
        <a:solidFill>
          <a:srgbClr val="FFC7B3"/>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b="1" kern="1200">
              <a:solidFill>
                <a:schemeClr val="tx1"/>
              </a:solidFill>
              <a:latin typeface="Sassoon Infant Rg" panose="02000503030000020003" pitchFamily="2" charset="0"/>
              <a:ea typeface="Sassoon Infant Rg" panose="02000503030000020003" pitchFamily="2" charset="0"/>
            </a:rPr>
            <a:t>Plan and Question</a:t>
          </a:r>
        </a:p>
      </dsp:txBody>
      <dsp:txXfrm>
        <a:off x="3806024" y="1199348"/>
        <a:ext cx="1544320" cy="1056640"/>
      </dsp:txXfrm>
    </dsp:sp>
    <dsp:sp modelId="{58936AA0-0B89-4645-91A0-8B9B41F948F1}">
      <dsp:nvSpPr>
        <dsp:cNvPr id="0" name=""/>
        <dsp:cNvSpPr/>
      </dsp:nvSpPr>
      <dsp:spPr>
        <a:xfrm>
          <a:off x="1489951" y="518005"/>
          <a:ext cx="4551680" cy="4551680"/>
        </a:xfrm>
        <a:prstGeom prst="pie">
          <a:avLst>
            <a:gd name="adj1" fmla="val 20520000"/>
            <a:gd name="adj2" fmla="val 3240000"/>
          </a:avLst>
        </a:prstGeom>
        <a:solidFill>
          <a:srgbClr val="FFAFDB"/>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b="1" kern="1200">
              <a:solidFill>
                <a:schemeClr val="tx1"/>
              </a:solidFill>
              <a:latin typeface="Sassoon Infant Rg" panose="02000503030000020003" pitchFamily="2" charset="0"/>
              <a:ea typeface="Sassoon Infant Rg" panose="02000503030000020003" pitchFamily="2" charset="0"/>
            </a:rPr>
            <a:t>Test</a:t>
          </a:r>
        </a:p>
      </dsp:txBody>
      <dsp:txXfrm>
        <a:off x="4464800" y="2577098"/>
        <a:ext cx="1354666" cy="1143338"/>
      </dsp:txXfrm>
    </dsp:sp>
    <dsp:sp modelId="{C516C106-8C6B-4887-B149-4E05A1C61FC6}">
      <dsp:nvSpPr>
        <dsp:cNvPr id="0" name=""/>
        <dsp:cNvSpPr/>
      </dsp:nvSpPr>
      <dsp:spPr>
        <a:xfrm>
          <a:off x="1515623" y="543221"/>
          <a:ext cx="4551680" cy="4551680"/>
        </a:xfrm>
        <a:prstGeom prst="pie">
          <a:avLst>
            <a:gd name="adj1" fmla="val 3240000"/>
            <a:gd name="adj2" fmla="val 7560000"/>
          </a:avLst>
        </a:prstGeom>
        <a:solidFill>
          <a:srgbClr val="FFF19F"/>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b="1" kern="1200">
              <a:solidFill>
                <a:schemeClr val="tx1"/>
              </a:solidFill>
              <a:latin typeface="Sassoon Infant Rg" panose="02000503030000020003" pitchFamily="2" charset="0"/>
              <a:ea typeface="Sassoon Infant Rg" panose="02000503030000020003" pitchFamily="2" charset="0"/>
            </a:rPr>
            <a:t>Observe and measure</a:t>
          </a:r>
        </a:p>
      </dsp:txBody>
      <dsp:txXfrm>
        <a:off x="2978663" y="3956981"/>
        <a:ext cx="1625600" cy="975360"/>
      </dsp:txXfrm>
    </dsp:sp>
    <dsp:sp modelId="{A28F0A0C-9743-4573-A759-3902FE3CBCFF}">
      <dsp:nvSpPr>
        <dsp:cNvPr id="0" name=""/>
        <dsp:cNvSpPr/>
      </dsp:nvSpPr>
      <dsp:spPr>
        <a:xfrm>
          <a:off x="1515623" y="543221"/>
          <a:ext cx="4551680" cy="4551680"/>
        </a:xfrm>
        <a:prstGeom prst="pie">
          <a:avLst>
            <a:gd name="adj1" fmla="val 7560000"/>
            <a:gd name="adj2" fmla="val 11880000"/>
          </a:avLst>
        </a:prstGeom>
        <a:solidFill>
          <a:schemeClr val="accent6">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b="0" kern="1200">
              <a:solidFill>
                <a:schemeClr val="tx1"/>
              </a:solidFill>
              <a:latin typeface="Sassoon Infant Rg" panose="02000503030000020003" pitchFamily="2" charset="0"/>
              <a:ea typeface="Sassoon Infant Rg" panose="02000503030000020003" pitchFamily="2" charset="0"/>
            </a:rPr>
            <a:t>Record and present</a:t>
          </a:r>
        </a:p>
      </dsp:txBody>
      <dsp:txXfrm>
        <a:off x="1732370" y="2602314"/>
        <a:ext cx="1354666" cy="1143338"/>
      </dsp:txXfrm>
    </dsp:sp>
    <dsp:sp modelId="{F77D5D9E-EA13-4EB2-91BF-751587878B65}">
      <dsp:nvSpPr>
        <dsp:cNvPr id="0" name=""/>
        <dsp:cNvSpPr/>
      </dsp:nvSpPr>
      <dsp:spPr>
        <a:xfrm>
          <a:off x="1515623" y="543221"/>
          <a:ext cx="4551680" cy="4551680"/>
        </a:xfrm>
        <a:prstGeom prst="pie">
          <a:avLst>
            <a:gd name="adj1" fmla="val 11880000"/>
            <a:gd name="adj2" fmla="val 16200000"/>
          </a:avLst>
        </a:prstGeom>
        <a:solidFill>
          <a:srgbClr val="9FDDFF"/>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b="0" kern="1200">
              <a:solidFill>
                <a:schemeClr val="tx1"/>
              </a:solidFill>
              <a:latin typeface="Sassoon Infant Rg" panose="02000503030000020003" pitchFamily="2" charset="0"/>
              <a:ea typeface="Sassoon Infant Rg" panose="02000503030000020003" pitchFamily="2" charset="0"/>
            </a:rPr>
            <a:t>Conclude</a:t>
          </a:r>
        </a:p>
      </dsp:txBody>
      <dsp:txXfrm>
        <a:off x="2179410" y="1236810"/>
        <a:ext cx="1544320" cy="1056640"/>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650F699-13CA-4A28-B0BE-386DAA6B8EEB}" type="datetimeFigureOut">
              <a:rPr lang="en-GB" smtClean="0"/>
              <a:t>09/07/2026</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CF629491-41F3-4D9B-8AFE-07B5E093E5E9}" type="slidenum">
              <a:rPr lang="en-GB" smtClean="0"/>
              <a:t>‹#›</a:t>
            </a:fld>
            <a:endParaRPr lang="en-GB"/>
          </a:p>
        </p:txBody>
      </p:sp>
    </p:spTree>
    <p:extLst>
      <p:ext uri="{BB962C8B-B14F-4D97-AF65-F5344CB8AC3E}">
        <p14:creationId xmlns:p14="http://schemas.microsoft.com/office/powerpoint/2010/main" val="2216804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New enquiry session 1 – discussion of the different substantive concepts and which one will be the focus for this enquiry. Talk through the different historical skills you will also be using.</a:t>
            </a:r>
          </a:p>
        </p:txBody>
      </p:sp>
      <p:sp>
        <p:nvSpPr>
          <p:cNvPr id="4" name="Slide Number Placeholder 3"/>
          <p:cNvSpPr>
            <a:spLocks noGrp="1"/>
          </p:cNvSpPr>
          <p:nvPr>
            <p:ph type="sldNum" sz="quarter" idx="5"/>
          </p:nvPr>
        </p:nvSpPr>
        <p:spPr/>
        <p:txBody>
          <a:bodyPr/>
          <a:lstStyle/>
          <a:p>
            <a:fld id="{B7E8E8B9-ADA3-45E0-8420-BE5E8FCCF1F7}" type="slidenum">
              <a:rPr lang="en-GB" smtClean="0"/>
              <a:t>3</a:t>
            </a:fld>
            <a:endParaRPr lang="en-GB"/>
          </a:p>
        </p:txBody>
      </p:sp>
    </p:spTree>
    <p:extLst>
      <p:ext uri="{BB962C8B-B14F-4D97-AF65-F5344CB8AC3E}">
        <p14:creationId xmlns:p14="http://schemas.microsoft.com/office/powerpoint/2010/main" val="534011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45210-A2F5-7997-533C-286FB5250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5E6ED9-E1F0-53E3-153B-92C5A5882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267AE-69B3-B47E-16C4-FC84C3FA6C72}"/>
              </a:ext>
            </a:extLst>
          </p:cNvPr>
          <p:cNvSpPr>
            <a:spLocks noGrp="1"/>
          </p:cNvSpPr>
          <p:nvPr>
            <p:ph type="body" idx="1"/>
          </p:nvPr>
        </p:nvSpPr>
        <p:spPr/>
        <p:txBody>
          <a:bodyPr/>
          <a:lstStyle/>
          <a:p>
            <a:r>
              <a:rPr lang="en-GB"/>
              <a:t>New enquiry session 1 – look back at the building blocks of learning explored so far for this substantive concept.</a:t>
            </a:r>
          </a:p>
        </p:txBody>
      </p:sp>
      <p:sp>
        <p:nvSpPr>
          <p:cNvPr id="4" name="Slide Number Placeholder 3">
            <a:extLst>
              <a:ext uri="{FF2B5EF4-FFF2-40B4-BE49-F238E27FC236}">
                <a16:creationId xmlns:a16="http://schemas.microsoft.com/office/drawing/2014/main" id="{E061FA63-808F-C7F9-7BDD-1ED608CD52F1}"/>
              </a:ext>
            </a:extLst>
          </p:cNvPr>
          <p:cNvSpPr>
            <a:spLocks noGrp="1"/>
          </p:cNvSpPr>
          <p:nvPr>
            <p:ph type="sldNum" sz="quarter" idx="5"/>
          </p:nvPr>
        </p:nvSpPr>
        <p:spPr/>
        <p:txBody>
          <a:bodyPr/>
          <a:lstStyle/>
          <a:p>
            <a:fld id="{B7E8E8B9-ADA3-45E0-8420-BE5E8FCCF1F7}" type="slidenum">
              <a:rPr lang="en-GB" smtClean="0"/>
              <a:t>4</a:t>
            </a:fld>
            <a:endParaRPr lang="en-GB"/>
          </a:p>
        </p:txBody>
      </p:sp>
    </p:spTree>
    <p:extLst>
      <p:ext uri="{BB962C8B-B14F-4D97-AF65-F5344CB8AC3E}">
        <p14:creationId xmlns:p14="http://schemas.microsoft.com/office/powerpoint/2010/main" val="3544939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New enquiry session 1 – look back at the building blocks of learning explored so far for this substantive concept.</a:t>
            </a:r>
          </a:p>
        </p:txBody>
      </p:sp>
      <p:sp>
        <p:nvSpPr>
          <p:cNvPr id="4" name="Slide Number Placeholder 3"/>
          <p:cNvSpPr>
            <a:spLocks noGrp="1"/>
          </p:cNvSpPr>
          <p:nvPr>
            <p:ph type="sldNum" sz="quarter" idx="5"/>
          </p:nvPr>
        </p:nvSpPr>
        <p:spPr/>
        <p:txBody>
          <a:bodyPr/>
          <a:lstStyle/>
          <a:p>
            <a:fld id="{B7E8E8B9-ADA3-45E0-8420-BE5E8FCCF1F7}" type="slidenum">
              <a:rPr lang="en-GB" smtClean="0"/>
              <a:t>5</a:t>
            </a:fld>
            <a:endParaRPr lang="en-GB"/>
          </a:p>
        </p:txBody>
      </p:sp>
    </p:spTree>
    <p:extLst>
      <p:ext uri="{BB962C8B-B14F-4D97-AF65-F5344CB8AC3E}">
        <p14:creationId xmlns:p14="http://schemas.microsoft.com/office/powerpoint/2010/main" val="3228243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38BF9-0E13-0306-71A1-77B170B40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E854D-8F8E-1D57-3FFB-304F5B3FB5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448FF-43CE-77DE-FB6E-733E9998D8D3}"/>
              </a:ext>
            </a:extLst>
          </p:cNvPr>
          <p:cNvSpPr>
            <a:spLocks noGrp="1"/>
          </p:cNvSpPr>
          <p:nvPr>
            <p:ph type="body" idx="1"/>
          </p:nvPr>
        </p:nvSpPr>
        <p:spPr/>
        <p:txBody>
          <a:bodyPr/>
          <a:lstStyle/>
          <a:p>
            <a:r>
              <a:rPr lang="en-GB"/>
              <a:t>New enquiry session 1 – look back at the building blocks of learning explored so far for this substantive concept.</a:t>
            </a:r>
          </a:p>
        </p:txBody>
      </p:sp>
      <p:sp>
        <p:nvSpPr>
          <p:cNvPr id="4" name="Slide Number Placeholder 3">
            <a:extLst>
              <a:ext uri="{FF2B5EF4-FFF2-40B4-BE49-F238E27FC236}">
                <a16:creationId xmlns:a16="http://schemas.microsoft.com/office/drawing/2014/main" id="{7877D032-2555-C9CC-508C-C75B2836E51E}"/>
              </a:ext>
            </a:extLst>
          </p:cNvPr>
          <p:cNvSpPr>
            <a:spLocks noGrp="1"/>
          </p:cNvSpPr>
          <p:nvPr>
            <p:ph type="sldNum" sz="quarter" idx="5"/>
          </p:nvPr>
        </p:nvSpPr>
        <p:spPr/>
        <p:txBody>
          <a:bodyPr/>
          <a:lstStyle/>
          <a:p>
            <a:fld id="{B7E8E8B9-ADA3-45E0-8420-BE5E8FCCF1F7}" type="slidenum">
              <a:rPr lang="en-GB" smtClean="0"/>
              <a:t>6</a:t>
            </a:fld>
            <a:endParaRPr lang="en-GB"/>
          </a:p>
        </p:txBody>
      </p:sp>
    </p:spTree>
    <p:extLst>
      <p:ext uri="{BB962C8B-B14F-4D97-AF65-F5344CB8AC3E}">
        <p14:creationId xmlns:p14="http://schemas.microsoft.com/office/powerpoint/2010/main" val="1837524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80F35-A86A-C3CA-D6C8-BEE5A91B3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BD4D7-24F4-A5D3-5BA9-38301B7CA2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FF7D0-3CDF-80A4-3DB5-0A25909D0122}"/>
              </a:ext>
            </a:extLst>
          </p:cNvPr>
          <p:cNvSpPr>
            <a:spLocks noGrp="1"/>
          </p:cNvSpPr>
          <p:nvPr>
            <p:ph type="body" idx="1"/>
          </p:nvPr>
        </p:nvSpPr>
        <p:spPr/>
        <p:txBody>
          <a:bodyPr/>
          <a:lstStyle/>
          <a:p>
            <a:r>
              <a:rPr lang="en-GB"/>
              <a:t>New enquiry session 1 – look back at the building blocks of learning explored so far for this substantive concept.</a:t>
            </a:r>
          </a:p>
        </p:txBody>
      </p:sp>
      <p:sp>
        <p:nvSpPr>
          <p:cNvPr id="4" name="Slide Number Placeholder 3">
            <a:extLst>
              <a:ext uri="{FF2B5EF4-FFF2-40B4-BE49-F238E27FC236}">
                <a16:creationId xmlns:a16="http://schemas.microsoft.com/office/drawing/2014/main" id="{F7B0241E-2C6C-EF1C-1EF3-25C66F5B9F57}"/>
              </a:ext>
            </a:extLst>
          </p:cNvPr>
          <p:cNvSpPr>
            <a:spLocks noGrp="1"/>
          </p:cNvSpPr>
          <p:nvPr>
            <p:ph type="sldNum" sz="quarter" idx="5"/>
          </p:nvPr>
        </p:nvSpPr>
        <p:spPr/>
        <p:txBody>
          <a:bodyPr/>
          <a:lstStyle/>
          <a:p>
            <a:fld id="{B7E8E8B9-ADA3-45E0-8420-BE5E8FCCF1F7}" type="slidenum">
              <a:rPr lang="en-GB" smtClean="0"/>
              <a:t>7</a:t>
            </a:fld>
            <a:endParaRPr lang="en-GB"/>
          </a:p>
        </p:txBody>
      </p:sp>
    </p:spTree>
    <p:extLst>
      <p:ext uri="{BB962C8B-B14F-4D97-AF65-F5344CB8AC3E}">
        <p14:creationId xmlns:p14="http://schemas.microsoft.com/office/powerpoint/2010/main" val="2822545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might be a learning paper / Sticker that is completed independently.</a:t>
            </a:r>
          </a:p>
        </p:txBody>
      </p:sp>
      <p:sp>
        <p:nvSpPr>
          <p:cNvPr id="4" name="Slide Number Placeholder 3"/>
          <p:cNvSpPr>
            <a:spLocks noGrp="1"/>
          </p:cNvSpPr>
          <p:nvPr>
            <p:ph type="sldNum" sz="quarter" idx="5"/>
          </p:nvPr>
        </p:nvSpPr>
        <p:spPr/>
        <p:txBody>
          <a:bodyPr/>
          <a:lstStyle/>
          <a:p>
            <a:fld id="{CF629491-41F3-4D9B-8AFE-07B5E093E5E9}" type="slidenum">
              <a:rPr lang="en-GB" smtClean="0"/>
              <a:t>9</a:t>
            </a:fld>
            <a:endParaRPr lang="en-GB"/>
          </a:p>
        </p:txBody>
      </p:sp>
    </p:spTree>
    <p:extLst>
      <p:ext uri="{BB962C8B-B14F-4D97-AF65-F5344CB8AC3E}">
        <p14:creationId xmlns:p14="http://schemas.microsoft.com/office/powerpoint/2010/main" val="742239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It is a good idea to build the KO together over the course of the enquiry either revealing or adding detail a piece at a time </a:t>
            </a:r>
          </a:p>
        </p:txBody>
      </p:sp>
      <p:sp>
        <p:nvSpPr>
          <p:cNvPr id="4" name="Slide Number Placeholder 3"/>
          <p:cNvSpPr>
            <a:spLocks noGrp="1"/>
          </p:cNvSpPr>
          <p:nvPr>
            <p:ph type="sldNum" sz="quarter" idx="5"/>
          </p:nvPr>
        </p:nvSpPr>
        <p:spPr/>
        <p:txBody>
          <a:bodyPr/>
          <a:lstStyle/>
          <a:p>
            <a:fld id="{CF629491-41F3-4D9B-8AFE-07B5E093E5E9}" type="slidenum">
              <a:rPr lang="en-GB" smtClean="0"/>
              <a:t>10</a:t>
            </a:fld>
            <a:endParaRPr lang="en-GB"/>
          </a:p>
        </p:txBody>
      </p:sp>
    </p:spTree>
    <p:extLst>
      <p:ext uri="{BB962C8B-B14F-4D97-AF65-F5344CB8AC3E}">
        <p14:creationId xmlns:p14="http://schemas.microsoft.com/office/powerpoint/2010/main" val="466911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F5836-AE83-DAD9-02DD-63C4E455B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1C009-A303-42D6-D8AD-5B729021F7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3C40A-5400-ED34-87B4-408072500A25}"/>
              </a:ext>
            </a:extLst>
          </p:cNvPr>
          <p:cNvSpPr>
            <a:spLocks noGrp="1"/>
          </p:cNvSpPr>
          <p:nvPr>
            <p:ph type="body" idx="1"/>
          </p:nvPr>
        </p:nvSpPr>
        <p:spPr/>
        <p:txBody>
          <a:bodyPr/>
          <a:lstStyle/>
          <a:p>
            <a:r>
              <a:rPr lang="en-GB"/>
              <a:t>. Learner c is correct but if there is even a small source of light the cat’s eyes will shine.</a:t>
            </a:r>
          </a:p>
        </p:txBody>
      </p:sp>
      <p:sp>
        <p:nvSpPr>
          <p:cNvPr id="4" name="Slide Number Placeholder 3">
            <a:extLst>
              <a:ext uri="{FF2B5EF4-FFF2-40B4-BE49-F238E27FC236}">
                <a16:creationId xmlns:a16="http://schemas.microsoft.com/office/drawing/2014/main" id="{009D5C93-E332-E543-BD49-40EE5438750F}"/>
              </a:ext>
            </a:extLst>
          </p:cNvPr>
          <p:cNvSpPr>
            <a:spLocks noGrp="1"/>
          </p:cNvSpPr>
          <p:nvPr>
            <p:ph type="sldNum" sz="quarter" idx="5"/>
          </p:nvPr>
        </p:nvSpPr>
        <p:spPr/>
        <p:txBody>
          <a:bodyPr/>
          <a:lstStyle/>
          <a:p>
            <a:fld id="{CF629491-41F3-4D9B-8AFE-07B5E093E5E9}" type="slidenum">
              <a:rPr lang="en-GB" smtClean="0"/>
              <a:t>11</a:t>
            </a:fld>
            <a:endParaRPr lang="en-GB"/>
          </a:p>
        </p:txBody>
      </p:sp>
    </p:spTree>
    <p:extLst>
      <p:ext uri="{BB962C8B-B14F-4D97-AF65-F5344CB8AC3E}">
        <p14:creationId xmlns:p14="http://schemas.microsoft.com/office/powerpoint/2010/main" val="4166225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023B2-DC2A-AA56-CD61-072CFCA3F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6572E-A65C-90CE-95A0-DBB6C6B7A2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3D3717-EF99-A16A-824B-59558D654B9B}"/>
              </a:ext>
            </a:extLst>
          </p:cNvPr>
          <p:cNvSpPr>
            <a:spLocks noGrp="1"/>
          </p:cNvSpPr>
          <p:nvPr>
            <p:ph type="body" idx="1"/>
          </p:nvPr>
        </p:nvSpPr>
        <p:spPr/>
        <p:txBody>
          <a:bodyPr/>
          <a:lstStyle/>
          <a:p>
            <a:r>
              <a:rPr lang="en-GB"/>
              <a:t>Concept Cartoon example</a:t>
            </a:r>
          </a:p>
        </p:txBody>
      </p:sp>
      <p:sp>
        <p:nvSpPr>
          <p:cNvPr id="4" name="Slide Number Placeholder 3">
            <a:extLst>
              <a:ext uri="{FF2B5EF4-FFF2-40B4-BE49-F238E27FC236}">
                <a16:creationId xmlns:a16="http://schemas.microsoft.com/office/drawing/2014/main" id="{B0B161B8-39A8-B14B-6ED0-2AAE21112BAB}"/>
              </a:ext>
            </a:extLst>
          </p:cNvPr>
          <p:cNvSpPr>
            <a:spLocks noGrp="1"/>
          </p:cNvSpPr>
          <p:nvPr>
            <p:ph type="sldNum" sz="quarter" idx="5"/>
          </p:nvPr>
        </p:nvSpPr>
        <p:spPr/>
        <p:txBody>
          <a:bodyPr/>
          <a:lstStyle/>
          <a:p>
            <a:fld id="{CF629491-41F3-4D9B-8AFE-07B5E093E5E9}" type="slidenum">
              <a:rPr lang="en-GB" smtClean="0"/>
              <a:t>12</a:t>
            </a:fld>
            <a:endParaRPr lang="en-GB"/>
          </a:p>
        </p:txBody>
      </p:sp>
    </p:spTree>
    <p:extLst>
      <p:ext uri="{BB962C8B-B14F-4D97-AF65-F5344CB8AC3E}">
        <p14:creationId xmlns:p14="http://schemas.microsoft.com/office/powerpoint/2010/main" val="2103079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2D51F-13E4-1258-AAA2-527A44474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33BDDC-C688-648B-CEC9-EC829619EE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D2FB59-B68F-1EA4-AEE5-F49D7A20BBAC}"/>
              </a:ext>
            </a:extLst>
          </p:cNvPr>
          <p:cNvSpPr>
            <a:spLocks noGrp="1"/>
          </p:cNvSpPr>
          <p:nvPr>
            <p:ph type="body" idx="1"/>
          </p:nvPr>
        </p:nvSpPr>
        <p:spPr/>
        <p:txBody>
          <a:bodyPr/>
          <a:lstStyle/>
          <a:p>
            <a:r>
              <a:rPr lang="en-GB"/>
              <a:t>Concept Cartoon example</a:t>
            </a:r>
          </a:p>
        </p:txBody>
      </p:sp>
      <p:sp>
        <p:nvSpPr>
          <p:cNvPr id="4" name="Slide Number Placeholder 3">
            <a:extLst>
              <a:ext uri="{FF2B5EF4-FFF2-40B4-BE49-F238E27FC236}">
                <a16:creationId xmlns:a16="http://schemas.microsoft.com/office/drawing/2014/main" id="{2EC5E8DD-5CFB-D084-2EF5-1872535162EF}"/>
              </a:ext>
            </a:extLst>
          </p:cNvPr>
          <p:cNvSpPr>
            <a:spLocks noGrp="1"/>
          </p:cNvSpPr>
          <p:nvPr>
            <p:ph type="sldNum" sz="quarter" idx="5"/>
          </p:nvPr>
        </p:nvSpPr>
        <p:spPr/>
        <p:txBody>
          <a:bodyPr/>
          <a:lstStyle/>
          <a:p>
            <a:fld id="{CF629491-41F3-4D9B-8AFE-07B5E093E5E9}" type="slidenum">
              <a:rPr lang="en-GB" smtClean="0"/>
              <a:t>13</a:t>
            </a:fld>
            <a:endParaRPr lang="en-GB"/>
          </a:p>
        </p:txBody>
      </p:sp>
    </p:spTree>
    <p:extLst>
      <p:ext uri="{BB962C8B-B14F-4D97-AF65-F5344CB8AC3E}">
        <p14:creationId xmlns:p14="http://schemas.microsoft.com/office/powerpoint/2010/main" val="4142685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icons for use </a:t>
            </a:r>
            <a:r>
              <a:rPr lang="en-GB" err="1"/>
              <a:t>thoughout</a:t>
            </a:r>
            <a:endParaRPr lang="en-GB"/>
          </a:p>
        </p:txBody>
      </p:sp>
      <p:sp>
        <p:nvSpPr>
          <p:cNvPr id="4" name="Slide Number Placeholder 3"/>
          <p:cNvSpPr>
            <a:spLocks noGrp="1"/>
          </p:cNvSpPr>
          <p:nvPr>
            <p:ph type="sldNum" sz="quarter" idx="5"/>
          </p:nvPr>
        </p:nvSpPr>
        <p:spPr/>
        <p:txBody>
          <a:bodyPr/>
          <a:lstStyle/>
          <a:p>
            <a:fld id="{CF629491-41F3-4D9B-8AFE-07B5E093E5E9}" type="slidenum">
              <a:rPr lang="en-GB" smtClean="0"/>
              <a:t>16</a:t>
            </a:fld>
            <a:endParaRPr lang="en-GB"/>
          </a:p>
        </p:txBody>
      </p:sp>
    </p:spTree>
    <p:extLst>
      <p:ext uri="{BB962C8B-B14F-4D97-AF65-F5344CB8AC3E}">
        <p14:creationId xmlns:p14="http://schemas.microsoft.com/office/powerpoint/2010/main" val="3778240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States of being icons to be included as necessary</a:t>
            </a:r>
          </a:p>
        </p:txBody>
      </p:sp>
      <p:sp>
        <p:nvSpPr>
          <p:cNvPr id="4" name="Slide Number Placeholder 3"/>
          <p:cNvSpPr>
            <a:spLocks noGrp="1"/>
          </p:cNvSpPr>
          <p:nvPr>
            <p:ph type="sldNum" sz="quarter" idx="5"/>
          </p:nvPr>
        </p:nvSpPr>
        <p:spPr/>
        <p:txBody>
          <a:bodyPr/>
          <a:lstStyle/>
          <a:p>
            <a:fld id="{B7E8E8B9-ADA3-45E0-8420-BE5E8FCCF1F7}" type="slidenum">
              <a:rPr lang="en-GB" smtClean="0"/>
              <a:t>19</a:t>
            </a:fld>
            <a:endParaRPr lang="en-GB"/>
          </a:p>
        </p:txBody>
      </p:sp>
    </p:spTree>
    <p:extLst>
      <p:ext uri="{BB962C8B-B14F-4D97-AF65-F5344CB8AC3E}">
        <p14:creationId xmlns:p14="http://schemas.microsoft.com/office/powerpoint/2010/main" val="2796396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09/07/2026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09/07/2026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09/07/2026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09/07/2026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09/07/2026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09/07/2026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09/07/2026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09/07/2026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09/07/2026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09/07/2026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09/07/2026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09/07/2026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11.png"/><Relationship Id="rId18" Type="http://schemas.microsoft.com/office/2007/relationships/hdphoto" Target="../media/hdphoto4.wdp"/><Relationship Id="rId3" Type="http://schemas.openxmlformats.org/officeDocument/2006/relationships/diagramData" Target="../diagrams/data1.xml"/><Relationship Id="rId21" Type="http://schemas.openxmlformats.org/officeDocument/2006/relationships/image" Target="../media/image15.svg"/><Relationship Id="rId7" Type="http://schemas.microsoft.com/office/2007/relationships/diagramDrawing" Target="../diagrams/drawing1.xml"/><Relationship Id="rId12" Type="http://schemas.microsoft.com/office/2007/relationships/diagramDrawing" Target="../diagrams/drawing2.xml"/><Relationship Id="rId17" Type="http://schemas.openxmlformats.org/officeDocument/2006/relationships/image" Target="../media/image13.png"/><Relationship Id="rId2" Type="http://schemas.openxmlformats.org/officeDocument/2006/relationships/notesSlide" Target="../notesSlides/notesSlide1.xml"/><Relationship Id="rId16" Type="http://schemas.microsoft.com/office/2007/relationships/hdphoto" Target="../media/hdphoto3.wdp"/><Relationship Id="rId20" Type="http://schemas.openxmlformats.org/officeDocument/2006/relationships/image" Target="../media/image14.svg"/><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image" Target="../media/image12.png"/><Relationship Id="rId10" Type="http://schemas.openxmlformats.org/officeDocument/2006/relationships/diagramQuickStyle" Target="../diagrams/quickStyle2.xml"/><Relationship Id="rId19" Type="http://schemas.openxmlformats.org/officeDocument/2006/relationships/image" Target="../media/image10.png"/><Relationship Id="rId4" Type="http://schemas.openxmlformats.org/officeDocument/2006/relationships/diagramLayout" Target="../diagrams/layout1.xml"/><Relationship Id="rId9" Type="http://schemas.openxmlformats.org/officeDocument/2006/relationships/diagramLayout" Target="../diagrams/layout2.xml"/><Relationship Id="rId1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microsoft.com/office/2007/relationships/hdphoto" Target="../media/hdphoto5.wdp"/></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microsoft.com/office/2007/relationships/hdphoto" Target="../media/hdphoto5.wdp"/></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microsoft.com/office/2007/relationships/hdphoto" Target="../media/hdphoto5.wdp"/></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microsoft.com/office/2007/relationships/hdphoto" Target="../media/hdphoto5.wdp"/></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4.png"/><Relationship Id="rId7" Type="http://schemas.microsoft.com/office/2007/relationships/hdphoto" Target="../media/hdphoto1.wdp"/><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3.png"/><Relationship Id="rId10" Type="http://schemas.openxmlformats.org/officeDocument/2006/relationships/image" Target="../media/image20.png"/><Relationship Id="rId4" Type="http://schemas.openxmlformats.org/officeDocument/2006/relationships/image" Target="../media/image25.png"/><Relationship Id="rId9"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29.svg"/><Relationship Id="rId3" Type="http://schemas.openxmlformats.org/officeDocument/2006/relationships/image" Target="../media/image26.png"/><Relationship Id="rId7" Type="http://schemas.openxmlformats.org/officeDocument/2006/relationships/image" Target="../media/image23.png"/><Relationship Id="rId12" Type="http://schemas.openxmlformats.org/officeDocument/2006/relationships/image" Target="../media/image28.jpeg"/><Relationship Id="rId17" Type="http://schemas.openxmlformats.org/officeDocument/2006/relationships/hyperlink" Target="https://www.planassessment.com/" TargetMode="External"/><Relationship Id="rId2" Type="http://schemas.openxmlformats.org/officeDocument/2006/relationships/notesSlide" Target="../notesSlides/notesSlide11.xml"/><Relationship Id="rId16" Type="http://schemas.openxmlformats.org/officeDocument/2006/relationships/image" Target="../media/image32.sv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8.png"/><Relationship Id="rId5" Type="http://schemas.openxmlformats.org/officeDocument/2006/relationships/image" Target="../media/image27.png"/><Relationship Id="rId15" Type="http://schemas.openxmlformats.org/officeDocument/2006/relationships/image" Target="../media/image31.png"/><Relationship Id="rId10" Type="http://schemas.openxmlformats.org/officeDocument/2006/relationships/image" Target="../media/image7.png"/><Relationship Id="rId4" Type="http://schemas.openxmlformats.org/officeDocument/2006/relationships/image" Target="../media/image20.png"/><Relationship Id="rId9" Type="http://schemas.microsoft.com/office/2007/relationships/hdphoto" Target="../media/hdphoto1.wdp"/><Relationship Id="rId14" Type="http://schemas.openxmlformats.org/officeDocument/2006/relationships/image" Target="../media/image30.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A58416-12DE-F42A-1BA3-DF6B69D61D10}"/>
              </a:ext>
            </a:extLst>
          </p:cNvPr>
          <p:cNvSpPr txBox="1"/>
          <p:nvPr/>
        </p:nvSpPr>
        <p:spPr>
          <a:xfrm>
            <a:off x="404533" y="389293"/>
            <a:ext cx="11382933"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a:solidFill>
                  <a:srgbClr val="242424"/>
                </a:solidFill>
              </a:rPr>
              <a:t>Structure of Being a scientist Slides and LOE</a:t>
            </a:r>
          </a:p>
          <a:p>
            <a:endParaRPr lang="en-US" sz="2000" b="1" u="sng"/>
          </a:p>
          <a:p>
            <a:pPr>
              <a:buFont typeface=""/>
              <a:buChar char="•"/>
            </a:pPr>
            <a:r>
              <a:rPr lang="en-US" sz="2000">
                <a:solidFill>
                  <a:srgbClr val="242424"/>
                </a:solidFill>
              </a:rPr>
              <a:t>Slide one – show curriculum (first lesson and start of 2</a:t>
            </a:r>
            <a:r>
              <a:rPr lang="en-US" sz="2000" baseline="30000">
                <a:solidFill>
                  <a:srgbClr val="242424"/>
                </a:solidFill>
              </a:rPr>
              <a:t>nd</a:t>
            </a:r>
            <a:r>
              <a:rPr lang="en-US" sz="2000">
                <a:solidFill>
                  <a:srgbClr val="242424"/>
                </a:solidFill>
              </a:rPr>
              <a:t> week – make links</a:t>
            </a:r>
          </a:p>
          <a:p>
            <a:pPr>
              <a:buFont typeface=""/>
              <a:buChar char="•"/>
            </a:pPr>
            <a:r>
              <a:rPr lang="en-US" sz="2000">
                <a:solidFill>
                  <a:srgbClr val="242424"/>
                </a:solidFill>
              </a:rPr>
              <a:t>What is a scientist / being a scientist – focus on scientific skills</a:t>
            </a:r>
          </a:p>
          <a:p>
            <a:pPr>
              <a:buFont typeface=""/>
              <a:buChar char="•"/>
            </a:pPr>
            <a:r>
              <a:rPr lang="en-US" sz="2000">
                <a:solidFill>
                  <a:srgbClr val="242424"/>
                </a:solidFill>
              </a:rPr>
              <a:t>What, why, how? Of this lesson</a:t>
            </a:r>
          </a:p>
          <a:p>
            <a:pPr>
              <a:buFont typeface=""/>
              <a:buChar char="•"/>
            </a:pPr>
            <a:r>
              <a:rPr lang="en-US" sz="2000">
                <a:solidFill>
                  <a:srgbClr val="242424"/>
                </a:solidFill>
              </a:rPr>
              <a:t>Knowledge </a:t>
            </a:r>
            <a:r>
              <a:rPr lang="en-US" sz="2000" err="1">
                <a:solidFill>
                  <a:srgbClr val="242424"/>
                </a:solidFill>
              </a:rPr>
              <a:t>organisers</a:t>
            </a:r>
            <a:r>
              <a:rPr lang="en-US" sz="2000">
                <a:solidFill>
                  <a:srgbClr val="242424"/>
                </a:solidFill>
              </a:rPr>
              <a:t>  – update from previous lesson’s learning self populated by learners or constructed as a whole class on slides</a:t>
            </a:r>
          </a:p>
          <a:p>
            <a:pPr>
              <a:buFont typeface=""/>
              <a:buChar char="•"/>
            </a:pPr>
            <a:r>
              <a:rPr lang="en-US" sz="2000">
                <a:solidFill>
                  <a:srgbClr val="242424"/>
                </a:solidFill>
              </a:rPr>
              <a:t>Linked questions (x2 key pieces of knowledge from previous lesson)</a:t>
            </a:r>
          </a:p>
          <a:p>
            <a:pPr>
              <a:buFont typeface=""/>
              <a:buChar char="•"/>
            </a:pPr>
            <a:r>
              <a:rPr lang="en-US" sz="2000">
                <a:solidFill>
                  <a:srgbClr val="242424"/>
                </a:solidFill>
              </a:rPr>
              <a:t>In 1</a:t>
            </a:r>
            <a:r>
              <a:rPr lang="en-US" sz="2000" baseline="30000">
                <a:solidFill>
                  <a:srgbClr val="242424"/>
                </a:solidFill>
              </a:rPr>
              <a:t>st</a:t>
            </a:r>
            <a:r>
              <a:rPr lang="en-US" sz="2000">
                <a:solidFill>
                  <a:srgbClr val="242424"/>
                </a:solidFill>
              </a:rPr>
              <a:t> or 2</a:t>
            </a:r>
            <a:r>
              <a:rPr lang="en-US" sz="2000" baseline="30000">
                <a:solidFill>
                  <a:srgbClr val="242424"/>
                </a:solidFill>
              </a:rPr>
              <a:t>nd</a:t>
            </a:r>
            <a:r>
              <a:rPr lang="en-US" sz="2000">
                <a:solidFill>
                  <a:srgbClr val="242424"/>
                </a:solidFill>
              </a:rPr>
              <a:t> lesson introduce subject specific vocabulary (activity idea fed in facts) and provide opportunities to use it through out to ensure acquisition.</a:t>
            </a:r>
          </a:p>
          <a:p>
            <a:pPr>
              <a:buFont typeface=""/>
              <a:buChar char="•"/>
            </a:pPr>
            <a:r>
              <a:rPr lang="en-US" sz="2000">
                <a:solidFill>
                  <a:srgbClr val="242424"/>
                </a:solidFill>
              </a:rPr>
              <a:t>lesson slides following I do, we do, you do structure max 20 mins</a:t>
            </a:r>
          </a:p>
          <a:p>
            <a:pPr>
              <a:buFont typeface=""/>
              <a:buChar char="•"/>
            </a:pPr>
            <a:r>
              <a:rPr lang="en-US" sz="2000">
                <a:solidFill>
                  <a:srgbClr val="242424"/>
                </a:solidFill>
              </a:rPr>
              <a:t>Plenary: 2 questions at the end of lesson that can be used at start of next lesson</a:t>
            </a:r>
          </a:p>
          <a:p>
            <a:pPr>
              <a:buFont typeface=""/>
              <a:buChar char="•"/>
            </a:pPr>
            <a:r>
              <a:rPr lang="en-US" sz="2000">
                <a:solidFill>
                  <a:srgbClr val="242424"/>
                </a:solidFill>
              </a:rPr>
              <a:t>Quiz at end of enquiry with all the 2x questions from plenaries</a:t>
            </a:r>
            <a:endParaRPr lang="en-US" sz="2400">
              <a:solidFill>
                <a:srgbClr val="242424"/>
              </a:solidFill>
            </a:endParaRPr>
          </a:p>
        </p:txBody>
      </p:sp>
      <p:sp>
        <p:nvSpPr>
          <p:cNvPr id="2" name="Frame 1">
            <a:extLst>
              <a:ext uri="{FF2B5EF4-FFF2-40B4-BE49-F238E27FC236}">
                <a16:creationId xmlns:a16="http://schemas.microsoft.com/office/drawing/2014/main" id="{DB29E237-3ED3-D81E-EC51-25063668D150}"/>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BF61D6F3-BE72-682F-E1BA-0AD4842F6FA2}"/>
              </a:ext>
            </a:extLst>
          </p:cNvPr>
          <p:cNvSpPr/>
          <p:nvPr/>
        </p:nvSpPr>
        <p:spPr>
          <a:xfrm>
            <a:off x="1665866" y="215038"/>
            <a:ext cx="8504851" cy="2763090"/>
          </a:xfrm>
          <a:prstGeom prst="cloud">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descr="A picture containing room&#10;&#10;Description automatically generated">
            <a:extLst>
              <a:ext uri="{FF2B5EF4-FFF2-40B4-BE49-F238E27FC236}">
                <a16:creationId xmlns:a16="http://schemas.microsoft.com/office/drawing/2014/main" id="{FAD1A21A-B21C-B28F-6A5A-7DD1A384AE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34978" y="3024044"/>
            <a:ext cx="1179274" cy="1711658"/>
          </a:xfrm>
          <a:prstGeom prst="rect">
            <a:avLst/>
          </a:prstGeom>
        </p:spPr>
      </p:pic>
      <p:grpSp>
        <p:nvGrpSpPr>
          <p:cNvPr id="4" name="Group 3">
            <a:extLst>
              <a:ext uri="{FF2B5EF4-FFF2-40B4-BE49-F238E27FC236}">
                <a16:creationId xmlns:a16="http://schemas.microsoft.com/office/drawing/2014/main" id="{8BF9ACAE-FFEF-5DEC-6166-CC5E464B0AFF}"/>
              </a:ext>
            </a:extLst>
          </p:cNvPr>
          <p:cNvGrpSpPr/>
          <p:nvPr/>
        </p:nvGrpSpPr>
        <p:grpSpPr>
          <a:xfrm>
            <a:off x="10578232" y="182017"/>
            <a:ext cx="1436056" cy="1418744"/>
            <a:chOff x="9534228" y="92149"/>
            <a:chExt cx="1436056" cy="1418744"/>
          </a:xfrm>
        </p:grpSpPr>
        <p:pic>
          <p:nvPicPr>
            <p:cNvPr id="5" name="Picture 4">
              <a:extLst>
                <a:ext uri="{FF2B5EF4-FFF2-40B4-BE49-F238E27FC236}">
                  <a16:creationId xmlns:a16="http://schemas.microsoft.com/office/drawing/2014/main" id="{D0A9CF60-091C-5CED-8650-8EBDAE750136}"/>
                </a:ext>
              </a:extLst>
            </p:cNvPr>
            <p:cNvPicPr>
              <a:picLocks noChangeAspect="1"/>
            </p:cNvPicPr>
            <p:nvPr/>
          </p:nvPicPr>
          <p:blipFill>
            <a:blip r:embed="rId3"/>
            <a:stretch>
              <a:fillRect/>
            </a:stretch>
          </p:blipFill>
          <p:spPr>
            <a:xfrm>
              <a:off x="10294101" y="92149"/>
              <a:ext cx="676183" cy="676183"/>
            </a:xfrm>
            <a:prstGeom prst="rect">
              <a:avLst/>
            </a:prstGeom>
          </p:spPr>
        </p:pic>
        <p:pic>
          <p:nvPicPr>
            <p:cNvPr id="6" name="Picture 5">
              <a:extLst>
                <a:ext uri="{FF2B5EF4-FFF2-40B4-BE49-F238E27FC236}">
                  <a16:creationId xmlns:a16="http://schemas.microsoft.com/office/drawing/2014/main" id="{2E59752E-2F50-7871-E0A3-6C7D27916C0C}"/>
                </a:ext>
              </a:extLst>
            </p:cNvPr>
            <p:cNvPicPr>
              <a:picLocks noChangeAspect="1"/>
            </p:cNvPicPr>
            <p:nvPr/>
          </p:nvPicPr>
          <p:blipFill>
            <a:blip r:embed="rId4"/>
            <a:stretch>
              <a:fillRect/>
            </a:stretch>
          </p:blipFill>
          <p:spPr>
            <a:xfrm>
              <a:off x="9534228" y="825334"/>
              <a:ext cx="676183" cy="676183"/>
            </a:xfrm>
            <a:prstGeom prst="rect">
              <a:avLst/>
            </a:prstGeom>
          </p:spPr>
        </p:pic>
        <p:pic>
          <p:nvPicPr>
            <p:cNvPr id="7" name="Picture 6">
              <a:extLst>
                <a:ext uri="{FF2B5EF4-FFF2-40B4-BE49-F238E27FC236}">
                  <a16:creationId xmlns:a16="http://schemas.microsoft.com/office/drawing/2014/main" id="{C2656D8C-38E7-892E-7284-476FC8A90721}"/>
                </a:ext>
              </a:extLst>
            </p:cNvPr>
            <p:cNvPicPr>
              <a:picLocks noChangeAspect="1"/>
            </p:cNvPicPr>
            <p:nvPr/>
          </p:nvPicPr>
          <p:blipFill>
            <a:blip r:embed="rId5"/>
            <a:stretch>
              <a:fillRect/>
            </a:stretch>
          </p:blipFill>
          <p:spPr>
            <a:xfrm>
              <a:off x="9534229" y="92149"/>
              <a:ext cx="676183" cy="676183"/>
            </a:xfrm>
            <a:prstGeom prst="rect">
              <a:avLst/>
            </a:prstGeom>
          </p:spPr>
        </p:pic>
        <p:pic>
          <p:nvPicPr>
            <p:cNvPr id="8" name="Picture 7">
              <a:extLst>
                <a:ext uri="{FF2B5EF4-FFF2-40B4-BE49-F238E27FC236}">
                  <a16:creationId xmlns:a16="http://schemas.microsoft.com/office/drawing/2014/main" id="{B3F08735-A0C9-89CD-B0AE-D7FA38400EFD}"/>
                </a:ext>
              </a:extLst>
            </p:cNvPr>
            <p:cNvPicPr>
              <a:picLocks noChangeAspect="1"/>
            </p:cNvPicPr>
            <p:nvPr/>
          </p:nvPicPr>
          <p:blipFill>
            <a:blip r:embed="rId6"/>
            <a:stretch>
              <a:fillRect/>
            </a:stretch>
          </p:blipFill>
          <p:spPr>
            <a:xfrm>
              <a:off x="10294100" y="834710"/>
              <a:ext cx="676183" cy="676183"/>
            </a:xfrm>
            <a:prstGeom prst="rect">
              <a:avLst/>
            </a:prstGeom>
          </p:spPr>
        </p:pic>
      </p:grpSp>
      <p:sp>
        <p:nvSpPr>
          <p:cNvPr id="9" name="TextBox 8">
            <a:extLst>
              <a:ext uri="{FF2B5EF4-FFF2-40B4-BE49-F238E27FC236}">
                <a16:creationId xmlns:a16="http://schemas.microsoft.com/office/drawing/2014/main" id="{12B97B53-51A1-78D4-6A2A-1D3630234CE5}"/>
              </a:ext>
            </a:extLst>
          </p:cNvPr>
          <p:cNvSpPr txBox="1"/>
          <p:nvPr/>
        </p:nvSpPr>
        <p:spPr>
          <a:xfrm>
            <a:off x="4511555" y="6250547"/>
            <a:ext cx="2813471" cy="392415"/>
          </a:xfrm>
          <a:prstGeom prst="rect">
            <a:avLst/>
          </a:prstGeom>
          <a:noFill/>
        </p:spPr>
        <p:txBody>
          <a:bodyPr wrap="square" rtlCol="0">
            <a:spAutoFit/>
          </a:bodyPr>
          <a:lstStyle/>
          <a:p>
            <a:pPr algn="ctr"/>
            <a:r>
              <a:rPr lang="en-GB" sz="1950" b="1" dirty="0">
                <a:latin typeface="Sassoon Primary Rg" panose="02000606020000020004" pitchFamily="2" charset="0"/>
              </a:rPr>
              <a:t>Being a Scientist</a:t>
            </a:r>
          </a:p>
        </p:txBody>
      </p:sp>
      <p:sp>
        <p:nvSpPr>
          <p:cNvPr id="10" name="Frame 9">
            <a:extLst>
              <a:ext uri="{FF2B5EF4-FFF2-40B4-BE49-F238E27FC236}">
                <a16:creationId xmlns:a16="http://schemas.microsoft.com/office/drawing/2014/main" id="{D472920B-3AC3-6962-912A-ECD184C538D5}"/>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TextBox 10">
            <a:extLst>
              <a:ext uri="{FF2B5EF4-FFF2-40B4-BE49-F238E27FC236}">
                <a16:creationId xmlns:a16="http://schemas.microsoft.com/office/drawing/2014/main" id="{0A684FEC-9863-BED2-4AE1-54E4504ADAA7}"/>
              </a:ext>
            </a:extLst>
          </p:cNvPr>
          <p:cNvSpPr txBox="1"/>
          <p:nvPr/>
        </p:nvSpPr>
        <p:spPr>
          <a:xfrm>
            <a:off x="10412654" y="1600761"/>
            <a:ext cx="1686365" cy="242374"/>
          </a:xfrm>
          <a:prstGeom prst="rect">
            <a:avLst/>
          </a:prstGeom>
          <a:noFill/>
        </p:spPr>
        <p:txBody>
          <a:bodyPr wrap="square" rtlCol="0">
            <a:spAutoFit/>
          </a:bodyPr>
          <a:lstStyle/>
          <a:p>
            <a:pPr algn="ctr"/>
            <a:r>
              <a:rPr lang="en-GB" sz="975">
                <a:latin typeface="Sassoon Infant Rg" panose="02000503030000020003" pitchFamily="2" charset="0"/>
                <a:ea typeface="Sassoon Infant Rg" panose="02000503030000020003" pitchFamily="2" charset="0"/>
              </a:rPr>
              <a:t>21st Century Learning Skills</a:t>
            </a:r>
          </a:p>
        </p:txBody>
      </p:sp>
      <p:pic>
        <p:nvPicPr>
          <p:cNvPr id="12" name="Picture 11">
            <a:extLst>
              <a:ext uri="{FF2B5EF4-FFF2-40B4-BE49-F238E27FC236}">
                <a16:creationId xmlns:a16="http://schemas.microsoft.com/office/drawing/2014/main" id="{2BA7AD0B-4409-B039-0E4A-87475B161971}"/>
              </a:ext>
            </a:extLst>
          </p:cNvPr>
          <p:cNvPicPr>
            <a:picLocks noChangeAspect="1"/>
          </p:cNvPicPr>
          <p:nvPr/>
        </p:nvPicPr>
        <p:blipFill rotWithShape="1">
          <a:blip r:embed="rId7">
            <a:extLst>
              <a:ext uri="{BEBA8EAE-BF5A-486C-A8C5-ECC9F3942E4B}">
                <a14:imgProps xmlns:a14="http://schemas.microsoft.com/office/drawing/2010/main">
                  <a14:imgLayer r:embed="rId8">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6096000" y="3193166"/>
            <a:ext cx="1750251" cy="2146686"/>
          </a:xfrm>
          <a:prstGeom prst="rect">
            <a:avLst/>
          </a:prstGeom>
        </p:spPr>
      </p:pic>
      <p:pic>
        <p:nvPicPr>
          <p:cNvPr id="13" name="Picture 12">
            <a:extLst>
              <a:ext uri="{FF2B5EF4-FFF2-40B4-BE49-F238E27FC236}">
                <a16:creationId xmlns:a16="http://schemas.microsoft.com/office/drawing/2014/main" id="{DBF1DACB-B251-7FA9-5939-AB63D05676A6}"/>
              </a:ext>
            </a:extLst>
          </p:cNvPr>
          <p:cNvPicPr>
            <a:picLocks noChangeAspect="1"/>
          </p:cNvPicPr>
          <p:nvPr/>
        </p:nvPicPr>
        <p:blipFill rotWithShape="1">
          <a:blip r:embed="rId9">
            <a:extLst>
              <a:ext uri="{BEBA8EAE-BF5A-486C-A8C5-ECC9F3942E4B}">
                <a14:imgProps xmlns:a14="http://schemas.microsoft.com/office/drawing/2010/main">
                  <a14:imgLayer r:embed="rId8">
                    <a14:imgEffect>
                      <a14:backgroundRemoval t="61793" b="81925" l="64809" r="78176">
                        <a14:foregroundMark x1="75238" y1="61799" x2="75238" y2="61799"/>
                      </a14:backgroundRemoval>
                    </a14:imgEffect>
                  </a14:imgLayer>
                </a14:imgProps>
              </a:ext>
            </a:extLst>
          </a:blip>
          <a:srcRect l="63138" t="59276" r="20153" b="15559"/>
          <a:stretch/>
        </p:blipFill>
        <p:spPr>
          <a:xfrm>
            <a:off x="3007342" y="2841309"/>
            <a:ext cx="1679750" cy="2398601"/>
          </a:xfrm>
          <a:prstGeom prst="rect">
            <a:avLst/>
          </a:prstGeom>
        </p:spPr>
      </p:pic>
      <p:pic>
        <p:nvPicPr>
          <p:cNvPr id="14" name="Picture 13">
            <a:extLst>
              <a:ext uri="{FF2B5EF4-FFF2-40B4-BE49-F238E27FC236}">
                <a16:creationId xmlns:a16="http://schemas.microsoft.com/office/drawing/2014/main" id="{B49A040B-DA02-65B0-ED11-81A877B03AE2}"/>
              </a:ext>
            </a:extLst>
          </p:cNvPr>
          <p:cNvPicPr>
            <a:picLocks noChangeAspect="1"/>
          </p:cNvPicPr>
          <p:nvPr/>
        </p:nvPicPr>
        <p:blipFill rotWithShape="1">
          <a:blip r:embed="rId10">
            <a:extLst>
              <a:ext uri="{BEBA8EAE-BF5A-486C-A8C5-ECC9F3942E4B}">
                <a14:imgProps xmlns:a14="http://schemas.microsoft.com/office/drawing/2010/main">
                  <a14:imgLayer r:embed="rId8">
                    <a14:imgEffect>
                      <a14:backgroundRemoval t="61793" b="81925" l="43765" r="56864"/>
                    </a14:imgEffect>
                  </a14:imgLayer>
                </a14:imgProps>
              </a:ext>
            </a:extLst>
          </a:blip>
          <a:srcRect l="42128" t="59276" r="41499" b="15559"/>
          <a:stretch/>
        </p:blipFill>
        <p:spPr>
          <a:xfrm>
            <a:off x="4680150" y="3237191"/>
            <a:ext cx="1645920" cy="2398601"/>
          </a:xfrm>
          <a:prstGeom prst="rect">
            <a:avLst/>
          </a:prstGeom>
        </p:spPr>
      </p:pic>
      <p:grpSp>
        <p:nvGrpSpPr>
          <p:cNvPr id="15" name="Group 14">
            <a:extLst>
              <a:ext uri="{FF2B5EF4-FFF2-40B4-BE49-F238E27FC236}">
                <a16:creationId xmlns:a16="http://schemas.microsoft.com/office/drawing/2014/main" id="{BCA1F225-1C05-9920-AEA0-CFCE1FBCB296}"/>
              </a:ext>
            </a:extLst>
          </p:cNvPr>
          <p:cNvGrpSpPr/>
          <p:nvPr/>
        </p:nvGrpSpPr>
        <p:grpSpPr>
          <a:xfrm>
            <a:off x="2649646" y="773796"/>
            <a:ext cx="7344893" cy="2015968"/>
            <a:chOff x="1400000" y="126068"/>
            <a:chExt cx="7344893" cy="2015968"/>
          </a:xfrm>
        </p:grpSpPr>
        <p:pic>
          <p:nvPicPr>
            <p:cNvPr id="16" name="Picture 17">
              <a:extLst>
                <a:ext uri="{FF2B5EF4-FFF2-40B4-BE49-F238E27FC236}">
                  <a16:creationId xmlns:a16="http://schemas.microsoft.com/office/drawing/2014/main" id="{F490CF37-09D8-DA4F-EF1F-F05B636B1778}"/>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00000" y="126068"/>
              <a:ext cx="1679750" cy="1473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78C20B53-7D9C-E436-8FB4-6401EE398549}"/>
                </a:ext>
              </a:extLst>
            </p:cNvPr>
            <p:cNvSpPr txBox="1"/>
            <p:nvPr/>
          </p:nvSpPr>
          <p:spPr>
            <a:xfrm>
              <a:off x="2901299" y="129668"/>
              <a:ext cx="5843594" cy="1092607"/>
            </a:xfrm>
            <a:prstGeom prst="rect">
              <a:avLst/>
            </a:prstGeom>
            <a:noFill/>
          </p:spPr>
          <p:txBody>
            <a:bodyPr wrap="square" rtlCol="0">
              <a:spAutoFit/>
            </a:bodyPr>
            <a:lstStyle/>
            <a:p>
              <a:r>
                <a:rPr lang="en-GB" sz="3250" u="sng">
                  <a:latin typeface="Sassoon Primary Rg" panose="02000606020000020004" pitchFamily="2" charset="0"/>
                </a:rPr>
                <a:t>How does our planet compare to other planets?</a:t>
              </a:r>
            </a:p>
          </p:txBody>
        </p:sp>
        <p:sp>
          <p:nvSpPr>
            <p:cNvPr id="18" name="TextBox 17">
              <a:extLst>
                <a:ext uri="{FF2B5EF4-FFF2-40B4-BE49-F238E27FC236}">
                  <a16:creationId xmlns:a16="http://schemas.microsoft.com/office/drawing/2014/main" id="{B2987ABF-5516-84B1-DE1C-665E3F133617}"/>
                </a:ext>
              </a:extLst>
            </p:cNvPr>
            <p:cNvSpPr txBox="1"/>
            <p:nvPr/>
          </p:nvSpPr>
          <p:spPr>
            <a:xfrm>
              <a:off x="2933144" y="1249484"/>
              <a:ext cx="3624943" cy="892552"/>
            </a:xfrm>
            <a:prstGeom prst="rect">
              <a:avLst/>
            </a:prstGeom>
            <a:noFill/>
          </p:spPr>
          <p:txBody>
            <a:bodyPr wrap="square" rtlCol="0">
              <a:spAutoFit/>
            </a:bodyPr>
            <a:lstStyle>
              <a:defPPr>
                <a:defRPr lang="en-US"/>
              </a:defPPr>
              <a:lvl1pPr>
                <a:defRPr sz="3200">
                  <a:latin typeface="Sassoon Primary Rg" panose="02000606020000020004" pitchFamily="2" charset="0"/>
                </a:defRPr>
              </a:lvl1pPr>
            </a:lstStyle>
            <a:p>
              <a:r>
                <a:rPr lang="en-GB" sz="2600"/>
                <a:t>Our Challenge is: </a:t>
              </a:r>
            </a:p>
            <a:p>
              <a:r>
                <a:rPr lang="en-GB" sz="2600" b="1"/>
                <a:t>Design a new planet</a:t>
              </a:r>
            </a:p>
          </p:txBody>
        </p:sp>
      </p:grpSp>
      <p:sp>
        <p:nvSpPr>
          <p:cNvPr id="20" name="TextBox 19">
            <a:extLst>
              <a:ext uri="{FF2B5EF4-FFF2-40B4-BE49-F238E27FC236}">
                <a16:creationId xmlns:a16="http://schemas.microsoft.com/office/drawing/2014/main" id="{E7A8766A-75CA-9B1A-8A29-CFD9A32BF12D}"/>
              </a:ext>
            </a:extLst>
          </p:cNvPr>
          <p:cNvSpPr txBox="1"/>
          <p:nvPr/>
        </p:nvSpPr>
        <p:spPr>
          <a:xfrm>
            <a:off x="6924782" y="5743254"/>
            <a:ext cx="3653450" cy="646331"/>
          </a:xfrm>
          <a:prstGeom prst="rect">
            <a:avLst/>
          </a:prstGeom>
          <a:noFill/>
        </p:spPr>
        <p:txBody>
          <a:bodyPr wrap="square" rtlCol="0">
            <a:spAutoFit/>
          </a:bodyPr>
          <a:lstStyle/>
          <a:p>
            <a:r>
              <a:rPr lang="en-GB">
                <a:solidFill>
                  <a:srgbClr val="FF0000"/>
                </a:solidFill>
              </a:rPr>
              <a:t>Insert any other states of being icons for the </a:t>
            </a:r>
            <a:r>
              <a:rPr lang="en-GB" b="1" u="sng">
                <a:solidFill>
                  <a:srgbClr val="FF0000"/>
                </a:solidFill>
              </a:rPr>
              <a:t>whole</a:t>
            </a:r>
            <a:r>
              <a:rPr lang="en-GB">
                <a:solidFill>
                  <a:srgbClr val="FF0000"/>
                </a:solidFill>
              </a:rPr>
              <a:t> enquiry</a:t>
            </a:r>
          </a:p>
        </p:txBody>
      </p:sp>
      <p:pic>
        <p:nvPicPr>
          <p:cNvPr id="19" name="Picture 18">
            <a:extLst>
              <a:ext uri="{FF2B5EF4-FFF2-40B4-BE49-F238E27FC236}">
                <a16:creationId xmlns:a16="http://schemas.microsoft.com/office/drawing/2014/main" id="{450CA01A-EB08-079E-F8F3-26E0CB5E4ABC}"/>
              </a:ext>
            </a:extLst>
          </p:cNvPr>
          <p:cNvPicPr>
            <a:picLocks noChangeAspect="1"/>
          </p:cNvPicPr>
          <p:nvPr/>
        </p:nvPicPr>
        <p:blipFill>
          <a:blip r:embed="rId12" cstate="screen">
            <a:extLst>
              <a:ext uri="{28A0092B-C50C-407E-A947-70E740481C1C}">
                <a14:useLocalDpi xmlns:a14="http://schemas.microsoft.com/office/drawing/2010/main" val="0"/>
              </a:ext>
            </a:extLst>
          </a:blip>
          <a:stretch>
            <a:fillRect/>
          </a:stretch>
        </p:blipFill>
        <p:spPr>
          <a:xfrm>
            <a:off x="5543576" y="5339852"/>
            <a:ext cx="1104848" cy="856471"/>
          </a:xfrm>
          <a:prstGeom prst="rect">
            <a:avLst/>
          </a:prstGeom>
        </p:spPr>
      </p:pic>
    </p:spTree>
    <p:extLst>
      <p:ext uri="{BB962C8B-B14F-4D97-AF65-F5344CB8AC3E}">
        <p14:creationId xmlns:p14="http://schemas.microsoft.com/office/powerpoint/2010/main" val="2075050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03BDBC0F-EB58-0B9D-3EA5-65AC88E44F10}"/>
              </a:ext>
            </a:extLst>
          </p:cNvPr>
          <p:cNvGraphicFramePr/>
          <p:nvPr>
            <p:extLst>
              <p:ext uri="{D42A27DB-BD31-4B8C-83A1-F6EECF244321}">
                <p14:modId xmlns:p14="http://schemas.microsoft.com/office/powerpoint/2010/main" val="3539939713"/>
              </p:ext>
            </p:extLst>
          </p:nvPr>
        </p:nvGraphicFramePr>
        <p:xfrm>
          <a:off x="-854075"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2D889DBF-C540-A0D2-E5BF-3EB175833F60}"/>
              </a:ext>
            </a:extLst>
          </p:cNvPr>
          <p:cNvGraphicFramePr/>
          <p:nvPr>
            <p:extLst>
              <p:ext uri="{D42A27DB-BD31-4B8C-83A1-F6EECF244321}">
                <p14:modId xmlns:p14="http://schemas.microsoft.com/office/powerpoint/2010/main" val="810330850"/>
              </p:ext>
            </p:extLst>
          </p:nvPr>
        </p:nvGraphicFramePr>
        <p:xfrm>
          <a:off x="5193870" y="758937"/>
          <a:ext cx="7742236" cy="5418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6" name="Picture 15">
            <a:extLst>
              <a:ext uri="{FF2B5EF4-FFF2-40B4-BE49-F238E27FC236}">
                <a16:creationId xmlns:a16="http://schemas.microsoft.com/office/drawing/2014/main" id="{6A2AB61B-D2F0-EA38-3011-2A9E0260C3E5}"/>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9809" b="91281" l="9864" r="89796">
                        <a14:foregroundMark x1="35714" y1="37602" x2="56463" y2="37330"/>
                        <a14:foregroundMark x1="56463" y1="37330" x2="62585" y2="37330"/>
                        <a14:foregroundMark x1="26531" y1="46866" x2="44218" y2="47139"/>
                        <a14:foregroundMark x1="44218" y1="47139" x2="63605" y2="46322"/>
                        <a14:foregroundMark x1="63605" y1="46322" x2="72449" y2="47139"/>
                        <a14:foregroundMark x1="25170" y1="91553" x2="44558" y2="91008"/>
                        <a14:foregroundMark x1="44558" y1="91008" x2="63605" y2="91281"/>
                        <a14:foregroundMark x1="63605" y1="91281" x2="78231" y2="90736"/>
                        <a14:foregroundMark x1="24830" y1="73569" x2="35034" y2="71662"/>
                      </a14:backgroundRemoval>
                    </a14:imgEffect>
                  </a14:imgLayer>
                </a14:imgProps>
              </a:ext>
            </a:extLst>
          </a:blip>
          <a:stretch>
            <a:fillRect/>
          </a:stretch>
        </p:blipFill>
        <p:spPr>
          <a:xfrm>
            <a:off x="6782936" y="3590056"/>
            <a:ext cx="490989" cy="612902"/>
          </a:xfrm>
          <a:prstGeom prst="rect">
            <a:avLst/>
          </a:prstGeom>
        </p:spPr>
      </p:pic>
      <p:pic>
        <p:nvPicPr>
          <p:cNvPr id="12" name="Picture 11">
            <a:extLst>
              <a:ext uri="{FF2B5EF4-FFF2-40B4-BE49-F238E27FC236}">
                <a16:creationId xmlns:a16="http://schemas.microsoft.com/office/drawing/2014/main" id="{B4ACED82-06DF-F121-6897-019C5093CFF0}"/>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9804" b="89542" l="8840" r="91713">
                        <a14:foregroundMark x1="9116" y1="33987" x2="8840" y2="83660"/>
                        <a14:foregroundMark x1="89503" y1="61438" x2="91713" y2="63399"/>
                      </a14:backgroundRemoval>
                    </a14:imgEffect>
                  </a14:imgLayer>
                </a14:imgProps>
              </a:ext>
            </a:extLst>
          </a:blip>
          <a:stretch>
            <a:fillRect/>
          </a:stretch>
        </p:blipFill>
        <p:spPr>
          <a:xfrm>
            <a:off x="8637896" y="4166902"/>
            <a:ext cx="740041" cy="625560"/>
          </a:xfrm>
          <a:prstGeom prst="rect">
            <a:avLst/>
          </a:prstGeom>
        </p:spPr>
      </p:pic>
      <p:sp>
        <p:nvSpPr>
          <p:cNvPr id="20" name="Oval 19">
            <a:extLst>
              <a:ext uri="{FF2B5EF4-FFF2-40B4-BE49-F238E27FC236}">
                <a16:creationId xmlns:a16="http://schemas.microsoft.com/office/drawing/2014/main" id="{27C7EE43-73AF-3F2B-8734-22E7D81D44B7}"/>
              </a:ext>
            </a:extLst>
          </p:cNvPr>
          <p:cNvSpPr/>
          <p:nvPr/>
        </p:nvSpPr>
        <p:spPr>
          <a:xfrm>
            <a:off x="8409714" y="2955955"/>
            <a:ext cx="1196404" cy="1188720"/>
          </a:xfrm>
          <a:prstGeom prst="ellipse">
            <a:avLst/>
          </a:prstGeom>
          <a:solidFill>
            <a:srgbClr val="DAE3F3"/>
          </a:solidFill>
          <a:ln w="285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a:extLst>
              <a:ext uri="{FF2B5EF4-FFF2-40B4-BE49-F238E27FC236}">
                <a16:creationId xmlns:a16="http://schemas.microsoft.com/office/drawing/2014/main" id="{DCE421AF-B8BE-DF3F-FE7F-5CF50B7B01AA}"/>
              </a:ext>
            </a:extLst>
          </p:cNvPr>
          <p:cNvGrpSpPr/>
          <p:nvPr/>
        </p:nvGrpSpPr>
        <p:grpSpPr>
          <a:xfrm>
            <a:off x="9303074" y="1535108"/>
            <a:ext cx="740041" cy="558524"/>
            <a:chOff x="8294539" y="4936826"/>
            <a:chExt cx="802285" cy="694876"/>
          </a:xfrm>
        </p:grpSpPr>
        <p:pic>
          <p:nvPicPr>
            <p:cNvPr id="14" name="Picture 13">
              <a:extLst>
                <a:ext uri="{FF2B5EF4-FFF2-40B4-BE49-F238E27FC236}">
                  <a16:creationId xmlns:a16="http://schemas.microsoft.com/office/drawing/2014/main" id="{DC422D2D-144B-302F-6682-82000BE9FC0D}"/>
                </a:ext>
              </a:extLst>
            </p:cNvPr>
            <p:cNvPicPr>
              <a:picLocks noChangeAspect="1"/>
            </p:cNvPicPr>
            <p:nvPr/>
          </p:nvPicPr>
          <p:blipFill>
            <a:blip r:embed="rId17">
              <a:extLst>
                <a:ext uri="{BEBA8EAE-BF5A-486C-A8C5-ECC9F3942E4B}">
                  <a14:imgProps xmlns:a14="http://schemas.microsoft.com/office/drawing/2010/main">
                    <a14:imgLayer r:embed="rId18">
                      <a14:imgEffect>
                        <a14:backgroundRemoval t="9779" b="93060" l="9836" r="89891">
                          <a14:foregroundMark x1="24590" y1="93060" x2="24590" y2="93060"/>
                        </a14:backgroundRemoval>
                      </a14:imgEffect>
                    </a14:imgLayer>
                  </a14:imgProps>
                </a:ext>
              </a:extLst>
            </a:blip>
            <a:stretch>
              <a:fillRect/>
            </a:stretch>
          </p:blipFill>
          <p:spPr>
            <a:xfrm>
              <a:off x="8294539" y="4936826"/>
              <a:ext cx="802285" cy="694876"/>
            </a:xfrm>
            <a:prstGeom prst="rect">
              <a:avLst/>
            </a:prstGeom>
          </p:spPr>
        </p:pic>
        <p:sp>
          <p:nvSpPr>
            <p:cNvPr id="21" name="TextBox 20">
              <a:extLst>
                <a:ext uri="{FF2B5EF4-FFF2-40B4-BE49-F238E27FC236}">
                  <a16:creationId xmlns:a16="http://schemas.microsoft.com/office/drawing/2014/main" id="{855DFE03-D416-9DE9-D590-9651D561D91E}"/>
                </a:ext>
              </a:extLst>
            </p:cNvPr>
            <p:cNvSpPr txBox="1"/>
            <p:nvPr/>
          </p:nvSpPr>
          <p:spPr>
            <a:xfrm>
              <a:off x="8580382" y="4955874"/>
              <a:ext cx="419100" cy="523220"/>
            </a:xfrm>
            <a:prstGeom prst="rect">
              <a:avLst/>
            </a:prstGeom>
            <a:noFill/>
          </p:spPr>
          <p:txBody>
            <a:bodyPr wrap="square" rtlCol="0">
              <a:spAutoFit/>
            </a:bodyPr>
            <a:lstStyle/>
            <a:p>
              <a:r>
                <a:rPr lang="en-GB" sz="2800" b="1"/>
                <a:t>?</a:t>
              </a:r>
            </a:p>
          </p:txBody>
        </p:sp>
      </p:grpSp>
      <p:sp>
        <p:nvSpPr>
          <p:cNvPr id="34" name="TextBox 33">
            <a:extLst>
              <a:ext uri="{FF2B5EF4-FFF2-40B4-BE49-F238E27FC236}">
                <a16:creationId xmlns:a16="http://schemas.microsoft.com/office/drawing/2014/main" id="{F6038D67-A450-226E-4214-F03F7662FCBB}"/>
              </a:ext>
            </a:extLst>
          </p:cNvPr>
          <p:cNvSpPr txBox="1"/>
          <p:nvPr/>
        </p:nvSpPr>
        <p:spPr>
          <a:xfrm rot="16367761">
            <a:off x="2300018" y="2119651"/>
            <a:ext cx="1973014" cy="2366341"/>
          </a:xfrm>
          <a:prstGeom prst="rect">
            <a:avLst/>
          </a:prstGeom>
          <a:noFill/>
        </p:spPr>
        <p:txBody>
          <a:bodyPr wrap="square" rtlCol="0">
            <a:prstTxWarp prst="textCircle">
              <a:avLst>
                <a:gd name="adj" fmla="val 18617501"/>
              </a:avLst>
            </a:prstTxWarp>
            <a:spAutoFit/>
          </a:bodyPr>
          <a:lstStyle/>
          <a:p>
            <a:pPr algn="ctr"/>
            <a:r>
              <a:rPr lang="en-GB" sz="3200" b="1">
                <a:solidFill>
                  <a:srgbClr val="0070C0"/>
                </a:solidFill>
                <a:latin typeface="Sassoon Infant Rg" panose="02000503030000020003" pitchFamily="2" charset="0"/>
                <a:ea typeface="Sassoon Infant Rg" panose="02000503030000020003" pitchFamily="2" charset="0"/>
              </a:rPr>
              <a:t>Areas of Study</a:t>
            </a:r>
          </a:p>
        </p:txBody>
      </p:sp>
      <p:sp>
        <p:nvSpPr>
          <p:cNvPr id="39" name="TextBox 38">
            <a:extLst>
              <a:ext uri="{FF2B5EF4-FFF2-40B4-BE49-F238E27FC236}">
                <a16:creationId xmlns:a16="http://schemas.microsoft.com/office/drawing/2014/main" id="{F955825A-1236-3E8C-F2B1-AD4C4F61A093}"/>
              </a:ext>
            </a:extLst>
          </p:cNvPr>
          <p:cNvSpPr txBox="1"/>
          <p:nvPr/>
        </p:nvSpPr>
        <p:spPr>
          <a:xfrm>
            <a:off x="8626916" y="3683698"/>
            <a:ext cx="762000" cy="369332"/>
          </a:xfrm>
          <a:prstGeom prst="rect">
            <a:avLst/>
          </a:prstGeom>
          <a:noFill/>
        </p:spPr>
        <p:txBody>
          <a:bodyPr wrap="square" rtlCol="0">
            <a:spAutoFit/>
          </a:bodyPr>
          <a:lstStyle/>
          <a:p>
            <a:pPr algn="ctr"/>
            <a:r>
              <a:rPr lang="en-GB">
                <a:latin typeface="Sassoon Infant Rg" panose="02000503030000020003" pitchFamily="2" charset="0"/>
                <a:ea typeface="Sassoon Infant Rg" panose="02000503030000020003" pitchFamily="2" charset="0"/>
              </a:rPr>
              <a:t>Skills</a:t>
            </a:r>
          </a:p>
        </p:txBody>
      </p:sp>
      <p:sp>
        <p:nvSpPr>
          <p:cNvPr id="3" name="Frame 2">
            <a:extLst>
              <a:ext uri="{FF2B5EF4-FFF2-40B4-BE49-F238E27FC236}">
                <a16:creationId xmlns:a16="http://schemas.microsoft.com/office/drawing/2014/main" id="{0A41AC97-7B58-4555-68CB-FF60CDF71F73}"/>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6" name="Picture 5">
            <a:extLst>
              <a:ext uri="{FF2B5EF4-FFF2-40B4-BE49-F238E27FC236}">
                <a16:creationId xmlns:a16="http://schemas.microsoft.com/office/drawing/2014/main" id="{DA698239-9CC3-ECDF-2CD3-DFE5F3473C68}"/>
              </a:ext>
            </a:extLst>
          </p:cNvPr>
          <p:cNvPicPr>
            <a:picLocks noChangeAspect="1"/>
          </p:cNvPicPr>
          <p:nvPr/>
        </p:nvPicPr>
        <p:blipFill>
          <a:blip r:embed="rId19" cstate="screen">
            <a:extLst>
              <a:ext uri="{28A0092B-C50C-407E-A947-70E740481C1C}">
                <a14:useLocalDpi xmlns:a14="http://schemas.microsoft.com/office/drawing/2010/main" val="0"/>
              </a:ext>
            </a:extLst>
          </a:blip>
          <a:stretch>
            <a:fillRect/>
          </a:stretch>
        </p:blipFill>
        <p:spPr>
          <a:xfrm>
            <a:off x="2734100" y="3040036"/>
            <a:ext cx="1104848" cy="856471"/>
          </a:xfrm>
          <a:prstGeom prst="rect">
            <a:avLst/>
          </a:prstGeom>
        </p:spPr>
      </p:pic>
      <p:pic>
        <p:nvPicPr>
          <p:cNvPr id="7" name="Picture 6">
            <a:extLst>
              <a:ext uri="{FF2B5EF4-FFF2-40B4-BE49-F238E27FC236}">
                <a16:creationId xmlns:a16="http://schemas.microsoft.com/office/drawing/2014/main" id="{0E414176-93ED-BB31-2B4E-98162B320C77}"/>
              </a:ext>
            </a:extLst>
          </p:cNvPr>
          <p:cNvPicPr>
            <a:picLocks noChangeAspect="1"/>
          </p:cNvPicPr>
          <p:nvPr/>
        </p:nvPicPr>
        <p:blipFill>
          <a:blip r:embed="rId19" cstate="screen">
            <a:extLst>
              <a:ext uri="{28A0092B-C50C-407E-A947-70E740481C1C}">
                <a14:useLocalDpi xmlns:a14="http://schemas.microsoft.com/office/drawing/2010/main" val="0"/>
              </a:ext>
            </a:extLst>
          </a:blip>
          <a:stretch>
            <a:fillRect/>
          </a:stretch>
        </p:blipFill>
        <p:spPr>
          <a:xfrm>
            <a:off x="8679002" y="3111350"/>
            <a:ext cx="727542" cy="563986"/>
          </a:xfrm>
          <a:prstGeom prst="rect">
            <a:avLst/>
          </a:prstGeom>
        </p:spPr>
      </p:pic>
      <p:pic>
        <p:nvPicPr>
          <p:cNvPr id="13" name="Graphic 12" descr="Scientist female outline">
            <a:extLst>
              <a:ext uri="{FF2B5EF4-FFF2-40B4-BE49-F238E27FC236}">
                <a16:creationId xmlns:a16="http://schemas.microsoft.com/office/drawing/2014/main" id="{919DE156-E6D3-157A-3FFD-CA6AD6816CB1}"/>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0444417" y="3098798"/>
            <a:ext cx="660400" cy="660400"/>
          </a:xfrm>
          <a:prstGeom prst="rect">
            <a:avLst/>
          </a:prstGeom>
        </p:spPr>
      </p:pic>
      <p:pic>
        <p:nvPicPr>
          <p:cNvPr id="17" name="Graphic 16" descr="Flowchart outline">
            <a:extLst>
              <a:ext uri="{FF2B5EF4-FFF2-40B4-BE49-F238E27FC236}">
                <a16:creationId xmlns:a16="http://schemas.microsoft.com/office/drawing/2014/main" id="{934090FE-C942-17CB-510F-4674FF4B80B0}"/>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920906" y="1546409"/>
            <a:ext cx="713365" cy="713365"/>
          </a:xfrm>
          <a:prstGeom prst="rect">
            <a:avLst/>
          </a:prstGeom>
        </p:spPr>
      </p:pic>
    </p:spTree>
    <p:extLst>
      <p:ext uri="{BB962C8B-B14F-4D97-AF65-F5344CB8AC3E}">
        <p14:creationId xmlns:p14="http://schemas.microsoft.com/office/powerpoint/2010/main" val="2404030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1FDF3-43E5-495A-927A-50A8AD3862E4}"/>
            </a:ext>
          </a:extLst>
        </p:cNvPr>
        <p:cNvGrpSpPr/>
        <p:nvPr/>
      </p:nvGrpSpPr>
      <p:grpSpPr>
        <a:xfrm>
          <a:off x="0" y="0"/>
          <a:ext cx="0" cy="0"/>
          <a:chOff x="0" y="0"/>
          <a:chExt cx="0" cy="0"/>
        </a:xfrm>
      </p:grpSpPr>
      <p:sp>
        <p:nvSpPr>
          <p:cNvPr id="273" name="Freeform: Shape 272">
            <a:extLst>
              <a:ext uri="{FF2B5EF4-FFF2-40B4-BE49-F238E27FC236}">
                <a16:creationId xmlns:a16="http://schemas.microsoft.com/office/drawing/2014/main" id="{7B921A53-7644-7C4D-9184-28735F1E5954}"/>
              </a:ext>
            </a:extLst>
          </p:cNvPr>
          <p:cNvSpPr/>
          <p:nvPr/>
        </p:nvSpPr>
        <p:spPr>
          <a:xfrm>
            <a:off x="6801640" y="1684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284" name="Freeform: Shape 283">
            <a:extLst>
              <a:ext uri="{FF2B5EF4-FFF2-40B4-BE49-F238E27FC236}">
                <a16:creationId xmlns:a16="http://schemas.microsoft.com/office/drawing/2014/main" id="{4A45E84E-8083-BCF6-6332-9EE86417C1BB}"/>
              </a:ext>
            </a:extLst>
          </p:cNvPr>
          <p:cNvSpPr/>
          <p:nvPr/>
        </p:nvSpPr>
        <p:spPr>
          <a:xfrm>
            <a:off x="9467674" y="224090"/>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p>
        </p:txBody>
      </p:sp>
      <p:sp>
        <p:nvSpPr>
          <p:cNvPr id="285" name="Freeform: Shape 284">
            <a:extLst>
              <a:ext uri="{FF2B5EF4-FFF2-40B4-BE49-F238E27FC236}">
                <a16:creationId xmlns:a16="http://schemas.microsoft.com/office/drawing/2014/main" id="{FF94CDE8-C50D-6D80-BCE0-2FB6993CC5FB}"/>
              </a:ext>
            </a:extLst>
          </p:cNvPr>
          <p:cNvSpPr/>
          <p:nvPr/>
        </p:nvSpPr>
        <p:spPr>
          <a:xfrm>
            <a:off x="8109740" y="434950"/>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p>
        </p:txBody>
      </p:sp>
      <p:sp>
        <p:nvSpPr>
          <p:cNvPr id="286" name="Freeform: Shape 285">
            <a:extLst>
              <a:ext uri="{FF2B5EF4-FFF2-40B4-BE49-F238E27FC236}">
                <a16:creationId xmlns:a16="http://schemas.microsoft.com/office/drawing/2014/main" id="{E27E31B2-903F-11BE-FC00-ECCFE14C5595}"/>
              </a:ext>
            </a:extLst>
          </p:cNvPr>
          <p:cNvSpPr/>
          <p:nvPr/>
        </p:nvSpPr>
        <p:spPr>
          <a:xfrm>
            <a:off x="7186402" y="5493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7"/>
                  <a:pt x="131059" y="64883"/>
                </a:cubicBezTo>
                <a:cubicBezTo>
                  <a:pt x="131059" y="29048"/>
                  <a:pt x="101721" y="0"/>
                  <a:pt x="65530" y="0"/>
                </a:cubicBezTo>
                <a:cubicBezTo>
                  <a:pt x="29338" y="0"/>
                  <a:pt x="0" y="29048"/>
                  <a:pt x="0" y="64883"/>
                </a:cubicBezTo>
                <a:cubicBezTo>
                  <a:pt x="0" y="100717"/>
                  <a:pt x="29338" y="129765"/>
                  <a:pt x="65530" y="129765"/>
                </a:cubicBezTo>
                <a:close/>
                <a:moveTo>
                  <a:pt x="65530" y="43255"/>
                </a:moveTo>
                <a:cubicBezTo>
                  <a:pt x="77594" y="43255"/>
                  <a:pt x="87373" y="52938"/>
                  <a:pt x="87373" y="64883"/>
                </a:cubicBezTo>
                <a:cubicBezTo>
                  <a:pt x="87373" y="76828"/>
                  <a:pt x="77594" y="86510"/>
                  <a:pt x="65530" y="86510"/>
                </a:cubicBezTo>
                <a:cubicBezTo>
                  <a:pt x="53466" y="86510"/>
                  <a:pt x="43686" y="76828"/>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grpSp>
        <p:nvGrpSpPr>
          <p:cNvPr id="6" name="Group 5">
            <a:extLst>
              <a:ext uri="{FF2B5EF4-FFF2-40B4-BE49-F238E27FC236}">
                <a16:creationId xmlns:a16="http://schemas.microsoft.com/office/drawing/2014/main" id="{BDEB4FE3-A345-0C4D-6E72-29BE26D94E24}"/>
              </a:ext>
            </a:extLst>
          </p:cNvPr>
          <p:cNvGrpSpPr/>
          <p:nvPr/>
        </p:nvGrpSpPr>
        <p:grpSpPr>
          <a:xfrm>
            <a:off x="6417190" y="5097492"/>
            <a:ext cx="4969774" cy="661583"/>
            <a:chOff x="1999694" y="1717038"/>
            <a:chExt cx="1713901" cy="2885442"/>
          </a:xfrm>
        </p:grpSpPr>
        <p:sp>
          <p:nvSpPr>
            <p:cNvPr id="10" name="Rectangle: Rounded Corners 9">
              <a:extLst>
                <a:ext uri="{FF2B5EF4-FFF2-40B4-BE49-F238E27FC236}">
                  <a16:creationId xmlns:a16="http://schemas.microsoft.com/office/drawing/2014/main" id="{DB0CFC4E-2156-4CCA-9693-F67DCAEB5B39}"/>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1" name="Rectangle: Rounded Corners 4">
              <a:extLst>
                <a:ext uri="{FF2B5EF4-FFF2-40B4-BE49-F238E27FC236}">
                  <a16:creationId xmlns:a16="http://schemas.microsoft.com/office/drawing/2014/main" id="{A3FFC526-59EF-8D9C-039E-F32EE4067205}"/>
                </a:ext>
              </a:extLst>
            </p:cNvPr>
            <p:cNvSpPr txBox="1"/>
            <p:nvPr/>
          </p:nvSpPr>
          <p:spPr>
            <a:xfrm>
              <a:off x="2302269" y="1800703"/>
              <a:ext cx="1309138" cy="27181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sz="1600">
                  <a:solidFill>
                    <a:schemeClr val="tx1"/>
                  </a:solidFill>
                  <a:latin typeface="Sassoon Infant Rg" panose="02000503030000020003" pitchFamily="2" charset="0"/>
                  <a:ea typeface="Sassoon Infant Rg" panose="02000503030000020003" pitchFamily="2" charset="0"/>
                </a:rPr>
                <a:t>Living things and their habitats environment; The Human Body &amp; Systems</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0" name="Group 29">
            <a:extLst>
              <a:ext uri="{FF2B5EF4-FFF2-40B4-BE49-F238E27FC236}">
                <a16:creationId xmlns:a16="http://schemas.microsoft.com/office/drawing/2014/main" id="{559E52D6-90C6-0428-7094-B4D948775515}"/>
              </a:ext>
            </a:extLst>
          </p:cNvPr>
          <p:cNvGrpSpPr/>
          <p:nvPr/>
        </p:nvGrpSpPr>
        <p:grpSpPr>
          <a:xfrm>
            <a:off x="6532989" y="5035884"/>
            <a:ext cx="752715" cy="748493"/>
            <a:chOff x="4462145" y="450020"/>
            <a:chExt cx="801261" cy="903352"/>
          </a:xfrm>
        </p:grpSpPr>
        <p:pic>
          <p:nvPicPr>
            <p:cNvPr id="31" name="Picture 30">
              <a:extLst>
                <a:ext uri="{FF2B5EF4-FFF2-40B4-BE49-F238E27FC236}">
                  <a16:creationId xmlns:a16="http://schemas.microsoft.com/office/drawing/2014/main" id="{70C81164-976E-AD51-CBD8-25380BFC21D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2" name="TextBox 31">
              <a:extLst>
                <a:ext uri="{FF2B5EF4-FFF2-40B4-BE49-F238E27FC236}">
                  <a16:creationId xmlns:a16="http://schemas.microsoft.com/office/drawing/2014/main" id="{AA93CD69-7F54-3723-FC6B-898930C82C01}"/>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2</a:t>
              </a:r>
            </a:p>
          </p:txBody>
        </p:sp>
      </p:grpSp>
      <p:grpSp>
        <p:nvGrpSpPr>
          <p:cNvPr id="12" name="Group 11">
            <a:extLst>
              <a:ext uri="{FF2B5EF4-FFF2-40B4-BE49-F238E27FC236}">
                <a16:creationId xmlns:a16="http://schemas.microsoft.com/office/drawing/2014/main" id="{A0CC2A7B-68F6-DBA4-D936-85F8EF8631D7}"/>
              </a:ext>
            </a:extLst>
          </p:cNvPr>
          <p:cNvGrpSpPr/>
          <p:nvPr/>
        </p:nvGrpSpPr>
        <p:grpSpPr>
          <a:xfrm>
            <a:off x="6450333" y="4413131"/>
            <a:ext cx="4827428" cy="661583"/>
            <a:chOff x="3999246" y="1747524"/>
            <a:chExt cx="1713901" cy="2824471"/>
          </a:xfrm>
        </p:grpSpPr>
        <p:sp>
          <p:nvSpPr>
            <p:cNvPr id="13" name="Rectangle: Rounded Corners 12">
              <a:extLst>
                <a:ext uri="{FF2B5EF4-FFF2-40B4-BE49-F238E27FC236}">
                  <a16:creationId xmlns:a16="http://schemas.microsoft.com/office/drawing/2014/main" id="{2767D89D-A1F5-4BE1-24C3-F0857CA984A5}"/>
                </a:ext>
              </a:extLst>
            </p:cNvPr>
            <p:cNvSpPr/>
            <p:nvPr/>
          </p:nvSpPr>
          <p:spPr>
            <a:xfrm>
              <a:off x="3999246"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4" name="Rectangle: Rounded Corners 4">
              <a:extLst>
                <a:ext uri="{FF2B5EF4-FFF2-40B4-BE49-F238E27FC236}">
                  <a16:creationId xmlns:a16="http://schemas.microsoft.com/office/drawing/2014/main" id="{0F066D5C-0D72-F185-4691-40374BB15093}"/>
                </a:ext>
              </a:extLst>
            </p:cNvPr>
            <p:cNvSpPr txBox="1"/>
            <p:nvPr/>
          </p:nvSpPr>
          <p:spPr>
            <a:xfrm>
              <a:off x="4298936" y="1831189"/>
              <a:ext cx="1330545" cy="265713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The human body: Cells, systems, and health. Insects &amp; Plants</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3" name="Group 32">
            <a:extLst>
              <a:ext uri="{FF2B5EF4-FFF2-40B4-BE49-F238E27FC236}">
                <a16:creationId xmlns:a16="http://schemas.microsoft.com/office/drawing/2014/main" id="{E0625E23-EA8F-DDED-17CE-EEDBE77583D6}"/>
              </a:ext>
            </a:extLst>
          </p:cNvPr>
          <p:cNvGrpSpPr/>
          <p:nvPr/>
        </p:nvGrpSpPr>
        <p:grpSpPr>
          <a:xfrm>
            <a:off x="6486751" y="4356793"/>
            <a:ext cx="752715" cy="748493"/>
            <a:chOff x="4462145" y="450020"/>
            <a:chExt cx="801261" cy="903352"/>
          </a:xfrm>
        </p:grpSpPr>
        <p:pic>
          <p:nvPicPr>
            <p:cNvPr id="34" name="Picture 33">
              <a:extLst>
                <a:ext uri="{FF2B5EF4-FFF2-40B4-BE49-F238E27FC236}">
                  <a16:creationId xmlns:a16="http://schemas.microsoft.com/office/drawing/2014/main" id="{D3DDDA3D-767C-32E8-B997-D00A9DFBE53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5" name="TextBox 34">
              <a:extLst>
                <a:ext uri="{FF2B5EF4-FFF2-40B4-BE49-F238E27FC236}">
                  <a16:creationId xmlns:a16="http://schemas.microsoft.com/office/drawing/2014/main" id="{2AB92EDA-77DF-CFBB-67EC-8B5384A72067}"/>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3</a:t>
              </a:r>
            </a:p>
          </p:txBody>
        </p:sp>
      </p:grpSp>
      <p:grpSp>
        <p:nvGrpSpPr>
          <p:cNvPr id="15" name="Group 14">
            <a:extLst>
              <a:ext uri="{FF2B5EF4-FFF2-40B4-BE49-F238E27FC236}">
                <a16:creationId xmlns:a16="http://schemas.microsoft.com/office/drawing/2014/main" id="{B6E270CC-1A3A-2510-2B9D-E0BA00584799}"/>
              </a:ext>
            </a:extLst>
          </p:cNvPr>
          <p:cNvGrpSpPr/>
          <p:nvPr/>
        </p:nvGrpSpPr>
        <p:grpSpPr>
          <a:xfrm>
            <a:off x="6431265" y="3709371"/>
            <a:ext cx="4865561" cy="661583"/>
            <a:chOff x="5998798" y="1737362"/>
            <a:chExt cx="1713901" cy="2844795"/>
          </a:xfrm>
          <a:solidFill>
            <a:schemeClr val="accent4">
              <a:lumMod val="20000"/>
              <a:lumOff val="80000"/>
            </a:schemeClr>
          </a:solidFill>
        </p:grpSpPr>
        <p:sp>
          <p:nvSpPr>
            <p:cNvPr id="16" name="Rectangle: Rounded Corners 15">
              <a:extLst>
                <a:ext uri="{FF2B5EF4-FFF2-40B4-BE49-F238E27FC236}">
                  <a16:creationId xmlns:a16="http://schemas.microsoft.com/office/drawing/2014/main" id="{536DBE17-FB43-7E53-AF2C-EAB85D676FF4}"/>
                </a:ext>
              </a:extLst>
            </p:cNvPr>
            <p:cNvSpPr/>
            <p:nvPr/>
          </p:nvSpPr>
          <p:spPr>
            <a:xfrm>
              <a:off x="5998798" y="1737362"/>
              <a:ext cx="1713901" cy="2844795"/>
            </a:xfrm>
            <a:prstGeom prst="roundRect">
              <a:avLst/>
            </a:prstGeom>
            <a:grpFill/>
            <a:ln>
              <a:solidFill>
                <a:schemeClr val="tx2">
                  <a:lumMod val="10000"/>
                  <a:lumOff val="9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7" name="Rectangle: Rounded Corners 4">
              <a:extLst>
                <a:ext uri="{FF2B5EF4-FFF2-40B4-BE49-F238E27FC236}">
                  <a16:creationId xmlns:a16="http://schemas.microsoft.com/office/drawing/2014/main" id="{1F076D27-831C-20C6-6FC0-48F3636D58F7}"/>
                </a:ext>
              </a:extLst>
            </p:cNvPr>
            <p:cNvSpPr txBox="1"/>
            <p:nvPr/>
          </p:nvSpPr>
          <p:spPr>
            <a:xfrm>
              <a:off x="6253268" y="1821027"/>
              <a:ext cx="1375765" cy="2344260"/>
            </a:xfrm>
            <a:prstGeom prst="rect">
              <a:avLst/>
            </a:prstGeom>
            <a:grpFill/>
            <a:ln>
              <a:solidFill>
                <a:schemeClr val="tx2">
                  <a:lumMod val="10000"/>
                  <a:lumOff val="90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Classification of animals. Muscular and skeletal system</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6" name="Group 35">
            <a:extLst>
              <a:ext uri="{FF2B5EF4-FFF2-40B4-BE49-F238E27FC236}">
                <a16:creationId xmlns:a16="http://schemas.microsoft.com/office/drawing/2014/main" id="{5F7D0571-1573-A42A-F2C6-09A2680BEB25}"/>
              </a:ext>
            </a:extLst>
          </p:cNvPr>
          <p:cNvGrpSpPr/>
          <p:nvPr/>
        </p:nvGrpSpPr>
        <p:grpSpPr>
          <a:xfrm>
            <a:off x="6400961" y="3638841"/>
            <a:ext cx="752715" cy="748493"/>
            <a:chOff x="4462145" y="450020"/>
            <a:chExt cx="801261" cy="903352"/>
          </a:xfrm>
        </p:grpSpPr>
        <p:pic>
          <p:nvPicPr>
            <p:cNvPr id="37" name="Picture 36">
              <a:extLst>
                <a:ext uri="{FF2B5EF4-FFF2-40B4-BE49-F238E27FC236}">
                  <a16:creationId xmlns:a16="http://schemas.microsoft.com/office/drawing/2014/main" id="{8FF4E808-ED2E-3333-1012-447CC1CBEC0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8" name="TextBox 37">
              <a:extLst>
                <a:ext uri="{FF2B5EF4-FFF2-40B4-BE49-F238E27FC236}">
                  <a16:creationId xmlns:a16="http://schemas.microsoft.com/office/drawing/2014/main" id="{4E9A1F34-0BE7-454F-3E12-E90CD0A8736E}"/>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4</a:t>
              </a:r>
            </a:p>
          </p:txBody>
        </p:sp>
      </p:grpSp>
      <p:grpSp>
        <p:nvGrpSpPr>
          <p:cNvPr id="23" name="Group 22">
            <a:extLst>
              <a:ext uri="{FF2B5EF4-FFF2-40B4-BE49-F238E27FC236}">
                <a16:creationId xmlns:a16="http://schemas.microsoft.com/office/drawing/2014/main" id="{CA473E55-83F0-709A-28E6-C8A05ECFEB97}"/>
              </a:ext>
            </a:extLst>
          </p:cNvPr>
          <p:cNvGrpSpPr/>
          <p:nvPr/>
        </p:nvGrpSpPr>
        <p:grpSpPr>
          <a:xfrm>
            <a:off x="6532989" y="2250383"/>
            <a:ext cx="4791567" cy="814202"/>
            <a:chOff x="1999694" y="1449695"/>
            <a:chExt cx="1713901" cy="3152785"/>
          </a:xfrm>
        </p:grpSpPr>
        <p:sp>
          <p:nvSpPr>
            <p:cNvPr id="24" name="Rectangle: Rounded Corners 23">
              <a:extLst>
                <a:ext uri="{FF2B5EF4-FFF2-40B4-BE49-F238E27FC236}">
                  <a16:creationId xmlns:a16="http://schemas.microsoft.com/office/drawing/2014/main" id="{565756BF-FCEE-EC88-8A18-903D3EA33332}"/>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5" name="Rectangle: Rounded Corners 4">
              <a:extLst>
                <a:ext uri="{FF2B5EF4-FFF2-40B4-BE49-F238E27FC236}">
                  <a16:creationId xmlns:a16="http://schemas.microsoft.com/office/drawing/2014/main" id="{DB67DB2E-AB64-B128-AC44-43EEB0F614F0}"/>
                </a:ext>
              </a:extLst>
            </p:cNvPr>
            <p:cNvSpPr txBox="1"/>
            <p:nvPr/>
          </p:nvSpPr>
          <p:spPr>
            <a:xfrm>
              <a:off x="2233414" y="1449695"/>
              <a:ext cx="1480181" cy="271811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sz="1600">
                  <a:solidFill>
                    <a:schemeClr val="tx1"/>
                  </a:solidFill>
                  <a:latin typeface="Sassoon Infant Rg" panose="02000503030000020003" pitchFamily="2" charset="0"/>
                  <a:ea typeface="Sassoon Infant Rg" panose="02000503030000020003" pitchFamily="2" charset="0"/>
                </a:rPr>
                <a:t>Plant Structures &amp; Processes; Classifying Living Things; Human Body: Hormones &amp; Reproduction, evolution &amp; inheritance.</a:t>
              </a:r>
              <a:endParaRPr lang="en-GB" sz="1600" kern="1200">
                <a:solidFill>
                  <a:schemeClr val="tx1"/>
                </a:solidFill>
                <a:latin typeface="Sassoon Infant Rg" panose="02000503030000020003" pitchFamily="2" charset="0"/>
                <a:ea typeface="Sassoon Infant Rg" panose="02000503030000020003" pitchFamily="2" charset="0"/>
              </a:endParaRPr>
            </a:p>
          </p:txBody>
        </p:sp>
      </p:grpSp>
      <p:grpSp>
        <p:nvGrpSpPr>
          <p:cNvPr id="42" name="Group 41">
            <a:extLst>
              <a:ext uri="{FF2B5EF4-FFF2-40B4-BE49-F238E27FC236}">
                <a16:creationId xmlns:a16="http://schemas.microsoft.com/office/drawing/2014/main" id="{2ED49B01-4D17-8F8D-3BE0-32F00036415E}"/>
              </a:ext>
            </a:extLst>
          </p:cNvPr>
          <p:cNvGrpSpPr/>
          <p:nvPr/>
        </p:nvGrpSpPr>
        <p:grpSpPr>
          <a:xfrm>
            <a:off x="6467851" y="2298689"/>
            <a:ext cx="752715" cy="748493"/>
            <a:chOff x="1721712" y="2823332"/>
            <a:chExt cx="801261" cy="903352"/>
          </a:xfrm>
        </p:grpSpPr>
        <p:pic>
          <p:nvPicPr>
            <p:cNvPr id="43" name="Picture 42">
              <a:extLst>
                <a:ext uri="{FF2B5EF4-FFF2-40B4-BE49-F238E27FC236}">
                  <a16:creationId xmlns:a16="http://schemas.microsoft.com/office/drawing/2014/main" id="{1084A5AA-686D-EF62-C640-A00DDCE20B0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1721712" y="2823332"/>
              <a:ext cx="801261" cy="903352"/>
            </a:xfrm>
            <a:prstGeom prst="rect">
              <a:avLst/>
            </a:prstGeom>
          </p:spPr>
        </p:pic>
        <p:sp>
          <p:nvSpPr>
            <p:cNvPr id="44" name="TextBox 43">
              <a:extLst>
                <a:ext uri="{FF2B5EF4-FFF2-40B4-BE49-F238E27FC236}">
                  <a16:creationId xmlns:a16="http://schemas.microsoft.com/office/drawing/2014/main" id="{3E98909C-BD8D-B704-5C0A-F90E0B59477E}"/>
                </a:ext>
              </a:extLst>
            </p:cNvPr>
            <p:cNvSpPr txBox="1"/>
            <p:nvPr/>
          </p:nvSpPr>
          <p:spPr>
            <a:xfrm>
              <a:off x="1959488" y="3052739"/>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6</a:t>
              </a:r>
            </a:p>
          </p:txBody>
        </p:sp>
      </p:grpSp>
      <p:grpSp>
        <p:nvGrpSpPr>
          <p:cNvPr id="18" name="Group 17">
            <a:extLst>
              <a:ext uri="{FF2B5EF4-FFF2-40B4-BE49-F238E27FC236}">
                <a16:creationId xmlns:a16="http://schemas.microsoft.com/office/drawing/2014/main" id="{36E2F3F7-D0FB-616E-7935-71D3B0FA4B7C}"/>
              </a:ext>
            </a:extLst>
          </p:cNvPr>
          <p:cNvGrpSpPr/>
          <p:nvPr/>
        </p:nvGrpSpPr>
        <p:grpSpPr>
          <a:xfrm>
            <a:off x="6419256" y="3046473"/>
            <a:ext cx="4827428" cy="661583"/>
            <a:chOff x="7998350" y="1737362"/>
            <a:chExt cx="1713901" cy="2844795"/>
          </a:xfrm>
        </p:grpSpPr>
        <p:sp>
          <p:nvSpPr>
            <p:cNvPr id="19" name="Rectangle: Rounded Corners 18">
              <a:extLst>
                <a:ext uri="{FF2B5EF4-FFF2-40B4-BE49-F238E27FC236}">
                  <a16:creationId xmlns:a16="http://schemas.microsoft.com/office/drawing/2014/main" id="{91E67D8A-F5F3-F291-DC76-4332ADB73D67}"/>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0" name="Rectangle: Rounded Corners 4">
              <a:extLst>
                <a:ext uri="{FF2B5EF4-FFF2-40B4-BE49-F238E27FC236}">
                  <a16:creationId xmlns:a16="http://schemas.microsoft.com/office/drawing/2014/main" id="{2BE5B1A0-2F9A-0074-4503-445AFABF2C7A}"/>
                </a:ext>
              </a:extLst>
            </p:cNvPr>
            <p:cNvSpPr txBox="1"/>
            <p:nvPr/>
          </p:nvSpPr>
          <p:spPr>
            <a:xfrm>
              <a:off x="8322864" y="1821027"/>
              <a:ext cx="1305721" cy="267746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Circulatory and Respiratory System. Life cycles and seasonal changes.</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9" name="Group 38">
            <a:extLst>
              <a:ext uri="{FF2B5EF4-FFF2-40B4-BE49-F238E27FC236}">
                <a16:creationId xmlns:a16="http://schemas.microsoft.com/office/drawing/2014/main" id="{3EDF96BC-61FE-BA89-5A3A-61202D5DD153}"/>
              </a:ext>
            </a:extLst>
          </p:cNvPr>
          <p:cNvGrpSpPr/>
          <p:nvPr/>
        </p:nvGrpSpPr>
        <p:grpSpPr>
          <a:xfrm>
            <a:off x="6499917" y="2981007"/>
            <a:ext cx="752715" cy="748493"/>
            <a:chOff x="4462145" y="450020"/>
            <a:chExt cx="801261" cy="903352"/>
          </a:xfrm>
        </p:grpSpPr>
        <p:pic>
          <p:nvPicPr>
            <p:cNvPr id="40" name="Picture 39">
              <a:extLst>
                <a:ext uri="{FF2B5EF4-FFF2-40B4-BE49-F238E27FC236}">
                  <a16:creationId xmlns:a16="http://schemas.microsoft.com/office/drawing/2014/main" id="{9D82B538-BE9E-2269-945A-B09CBB481B6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41" name="TextBox 40">
              <a:extLst>
                <a:ext uri="{FF2B5EF4-FFF2-40B4-BE49-F238E27FC236}">
                  <a16:creationId xmlns:a16="http://schemas.microsoft.com/office/drawing/2014/main" id="{1AAD0F9B-7E65-14B4-3C78-4F65A565DEC9}"/>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5</a:t>
              </a:r>
            </a:p>
          </p:txBody>
        </p:sp>
      </p:grpSp>
      <p:sp>
        <p:nvSpPr>
          <p:cNvPr id="138" name="Frame 137">
            <a:extLst>
              <a:ext uri="{FF2B5EF4-FFF2-40B4-BE49-F238E27FC236}">
                <a16:creationId xmlns:a16="http://schemas.microsoft.com/office/drawing/2014/main" id="{62695489-7926-F472-1BCA-56C277D3EA07}"/>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06" name="Group 305">
            <a:extLst>
              <a:ext uri="{FF2B5EF4-FFF2-40B4-BE49-F238E27FC236}">
                <a16:creationId xmlns:a16="http://schemas.microsoft.com/office/drawing/2014/main" id="{B628D254-EEDF-14EA-E28C-22361E2FA882}"/>
              </a:ext>
            </a:extLst>
          </p:cNvPr>
          <p:cNvGrpSpPr/>
          <p:nvPr/>
        </p:nvGrpSpPr>
        <p:grpSpPr>
          <a:xfrm>
            <a:off x="6524130" y="5781853"/>
            <a:ext cx="4791569" cy="706284"/>
            <a:chOff x="7998350" y="1737362"/>
            <a:chExt cx="1713901" cy="2844795"/>
          </a:xfrm>
        </p:grpSpPr>
        <p:sp>
          <p:nvSpPr>
            <p:cNvPr id="307" name="Rectangle: Rounded Corners 306">
              <a:extLst>
                <a:ext uri="{FF2B5EF4-FFF2-40B4-BE49-F238E27FC236}">
                  <a16:creationId xmlns:a16="http://schemas.microsoft.com/office/drawing/2014/main" id="{E5FF212F-264B-4662-1B2A-A494A5F31C8B}"/>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08" name="Rectangle: Rounded Corners 4">
              <a:extLst>
                <a:ext uri="{FF2B5EF4-FFF2-40B4-BE49-F238E27FC236}">
                  <a16:creationId xmlns:a16="http://schemas.microsoft.com/office/drawing/2014/main" id="{77BE6B81-1758-3BC2-CCBE-D53018EAA56B}"/>
                </a:ext>
              </a:extLst>
            </p:cNvPr>
            <p:cNvSpPr txBox="1"/>
            <p:nvPr/>
          </p:nvSpPr>
          <p:spPr>
            <a:xfrm>
              <a:off x="8300036" y="1821028"/>
              <a:ext cx="1328549" cy="26774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Animals, Humans &amp; Plants</a:t>
              </a:r>
              <a:endParaRPr lang="en-GB"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12" name="Group 311">
            <a:extLst>
              <a:ext uri="{FF2B5EF4-FFF2-40B4-BE49-F238E27FC236}">
                <a16:creationId xmlns:a16="http://schemas.microsoft.com/office/drawing/2014/main" id="{D1817AFA-F0B3-F7B0-F6E6-A3F73DEA71D5}"/>
              </a:ext>
            </a:extLst>
          </p:cNvPr>
          <p:cNvGrpSpPr/>
          <p:nvPr/>
        </p:nvGrpSpPr>
        <p:grpSpPr>
          <a:xfrm>
            <a:off x="6569485" y="5750072"/>
            <a:ext cx="752715" cy="748493"/>
            <a:chOff x="6450334" y="5317226"/>
            <a:chExt cx="801261" cy="903352"/>
          </a:xfrm>
        </p:grpSpPr>
        <p:sp>
          <p:nvSpPr>
            <p:cNvPr id="29" name="TextBox 28">
              <a:extLst>
                <a:ext uri="{FF2B5EF4-FFF2-40B4-BE49-F238E27FC236}">
                  <a16:creationId xmlns:a16="http://schemas.microsoft.com/office/drawing/2014/main" id="{DB07E8FB-AB0A-31C7-64E1-259793663FD8}"/>
                </a:ext>
              </a:extLst>
            </p:cNvPr>
            <p:cNvSpPr txBox="1"/>
            <p:nvPr/>
          </p:nvSpPr>
          <p:spPr>
            <a:xfrm>
              <a:off x="6671572" y="5599207"/>
              <a:ext cx="389673"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1</a:t>
              </a:r>
            </a:p>
          </p:txBody>
        </p:sp>
        <p:pic>
          <p:nvPicPr>
            <p:cNvPr id="310" name="Picture 309">
              <a:extLst>
                <a:ext uri="{FF2B5EF4-FFF2-40B4-BE49-F238E27FC236}">
                  <a16:creationId xmlns:a16="http://schemas.microsoft.com/office/drawing/2014/main" id="{4DB58A28-493A-66B7-2A53-A84B5FD42D2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6450334" y="5317226"/>
              <a:ext cx="801261" cy="903352"/>
            </a:xfrm>
            <a:prstGeom prst="rect">
              <a:avLst/>
            </a:prstGeom>
          </p:spPr>
        </p:pic>
      </p:grpSp>
      <p:sp>
        <p:nvSpPr>
          <p:cNvPr id="320" name="Freeform: Shape 319">
            <a:extLst>
              <a:ext uri="{FF2B5EF4-FFF2-40B4-BE49-F238E27FC236}">
                <a16:creationId xmlns:a16="http://schemas.microsoft.com/office/drawing/2014/main" id="{AFF1C637-0C99-2E99-0C22-992D5DBDE990}"/>
              </a:ext>
            </a:extLst>
          </p:cNvPr>
          <p:cNvSpPr/>
          <p:nvPr/>
        </p:nvSpPr>
        <p:spPr>
          <a:xfrm>
            <a:off x="5838826" y="1098925"/>
            <a:ext cx="6099174" cy="5606668"/>
          </a:xfrm>
          <a:custGeom>
            <a:avLst/>
            <a:gdLst>
              <a:gd name="connsiteX0" fmla="*/ 513624 w 514349"/>
              <a:gd name="connsiteY0" fmla="*/ 5877 h 571500"/>
              <a:gd name="connsiteX1" fmla="*/ 504823 w 514349"/>
              <a:gd name="connsiteY1" fmla="*/ 0 h 571500"/>
              <a:gd name="connsiteX2" fmla="*/ 9523 w 514349"/>
              <a:gd name="connsiteY2" fmla="*/ 0 h 571500"/>
              <a:gd name="connsiteX3" fmla="*/ 0 w 514349"/>
              <a:gd name="connsiteY3" fmla="*/ 9527 h 571500"/>
              <a:gd name="connsiteX4" fmla="*/ 2789 w 514349"/>
              <a:gd name="connsiteY4" fmla="*/ 16259 h 571500"/>
              <a:gd name="connsiteX5" fmla="*/ 24144 w 514349"/>
              <a:gd name="connsiteY5" fmla="*/ 37624 h 571500"/>
              <a:gd name="connsiteX6" fmla="*/ 38098 w 514349"/>
              <a:gd name="connsiteY6" fmla="*/ 71295 h 571500"/>
              <a:gd name="connsiteX7" fmla="*/ 38098 w 514349"/>
              <a:gd name="connsiteY7" fmla="*/ 523875 h 571500"/>
              <a:gd name="connsiteX8" fmla="*/ 85723 w 514349"/>
              <a:gd name="connsiteY8" fmla="*/ 571500 h 571500"/>
              <a:gd name="connsiteX9" fmla="*/ 428623 w 514349"/>
              <a:gd name="connsiteY9" fmla="*/ 571500 h 571500"/>
              <a:gd name="connsiteX10" fmla="*/ 476248 w 514349"/>
              <a:gd name="connsiteY10" fmla="*/ 523875 h 571500"/>
              <a:gd name="connsiteX11" fmla="*/ 476248 w 514349"/>
              <a:gd name="connsiteY11" fmla="*/ 71295 h 571500"/>
              <a:gd name="connsiteX12" fmla="*/ 490202 w 514349"/>
              <a:gd name="connsiteY12" fmla="*/ 37624 h 571500"/>
              <a:gd name="connsiteX13" fmla="*/ 511557 w 514349"/>
              <a:gd name="connsiteY13" fmla="*/ 16259 h 571500"/>
              <a:gd name="connsiteX14" fmla="*/ 513624 w 514349"/>
              <a:gd name="connsiteY14" fmla="*/ 5877 h 571500"/>
              <a:gd name="connsiteX15" fmla="*/ 428623 w 514349"/>
              <a:gd name="connsiteY15" fmla="*/ 552450 h 571500"/>
              <a:gd name="connsiteX16" fmla="*/ 85723 w 514349"/>
              <a:gd name="connsiteY16" fmla="*/ 552450 h 571500"/>
              <a:gd name="connsiteX17" fmla="*/ 57148 w 514349"/>
              <a:gd name="connsiteY17" fmla="*/ 523875 h 571500"/>
              <a:gd name="connsiteX18" fmla="*/ 57148 w 514349"/>
              <a:gd name="connsiteY18" fmla="*/ 123739 h 571500"/>
              <a:gd name="connsiteX19" fmla="*/ 234113 w 514349"/>
              <a:gd name="connsiteY19" fmla="*/ 100013 h 571500"/>
              <a:gd name="connsiteX20" fmla="*/ 323848 w 514349"/>
              <a:gd name="connsiteY20" fmla="*/ 85725 h 571500"/>
              <a:gd name="connsiteX21" fmla="*/ 438348 w 514349"/>
              <a:gd name="connsiteY21" fmla="*/ 106804 h 571500"/>
              <a:gd name="connsiteX22" fmla="*/ 457198 w 514349"/>
              <a:gd name="connsiteY22" fmla="*/ 112919 h 571500"/>
              <a:gd name="connsiteX23" fmla="*/ 457198 w 514349"/>
              <a:gd name="connsiteY23" fmla="*/ 523875 h 571500"/>
              <a:gd name="connsiteX24" fmla="*/ 428623 w 514349"/>
              <a:gd name="connsiteY24" fmla="*/ 552450 h 571500"/>
              <a:gd name="connsiteX25" fmla="*/ 476715 w 514349"/>
              <a:gd name="connsiteY25" fmla="*/ 24165 h 571500"/>
              <a:gd name="connsiteX26" fmla="*/ 457198 w 514349"/>
              <a:gd name="connsiteY26" fmla="*/ 71295 h 571500"/>
              <a:gd name="connsiteX27" fmla="*/ 457198 w 514349"/>
              <a:gd name="connsiteY27" fmla="*/ 93202 h 571500"/>
              <a:gd name="connsiteX28" fmla="*/ 444816 w 514349"/>
              <a:gd name="connsiteY28" fmla="*/ 88897 h 571500"/>
              <a:gd name="connsiteX29" fmla="*/ 323848 w 514349"/>
              <a:gd name="connsiteY29" fmla="*/ 66675 h 571500"/>
              <a:gd name="connsiteX30" fmla="*/ 229312 w 514349"/>
              <a:gd name="connsiteY30" fmla="*/ 81563 h 571500"/>
              <a:gd name="connsiteX31" fmla="*/ 57148 w 514349"/>
              <a:gd name="connsiteY31" fmla="*/ 104699 h 571500"/>
              <a:gd name="connsiteX32" fmla="*/ 57148 w 514349"/>
              <a:gd name="connsiteY32" fmla="*/ 71295 h 571500"/>
              <a:gd name="connsiteX33" fmla="*/ 37641 w 514349"/>
              <a:gd name="connsiteY33" fmla="*/ 24184 h 571500"/>
              <a:gd name="connsiteX34" fmla="*/ 32678 w 514349"/>
              <a:gd name="connsiteY34" fmla="*/ 19212 h 571500"/>
              <a:gd name="connsiteX35" fmla="*/ 32745 w 514349"/>
              <a:gd name="connsiteY35" fmla="*/ 19050 h 571500"/>
              <a:gd name="connsiteX36" fmla="*/ 481601 w 514349"/>
              <a:gd name="connsiteY36" fmla="*/ 19050 h 571500"/>
              <a:gd name="connsiteX37" fmla="*/ 481668 w 514349"/>
              <a:gd name="connsiteY37" fmla="*/ 19212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14349" h="571500">
                <a:moveTo>
                  <a:pt x="513624" y="5877"/>
                </a:moveTo>
                <a:cubicBezTo>
                  <a:pt x="512149" y="2318"/>
                  <a:pt x="508675" y="-1"/>
                  <a:pt x="504823" y="0"/>
                </a:cubicBezTo>
                <a:lnTo>
                  <a:pt x="9523" y="0"/>
                </a:lnTo>
                <a:cubicBezTo>
                  <a:pt x="4262" y="1"/>
                  <a:pt x="-1" y="4266"/>
                  <a:pt x="0" y="9527"/>
                </a:cubicBezTo>
                <a:cubicBezTo>
                  <a:pt x="1" y="12052"/>
                  <a:pt x="1004" y="14473"/>
                  <a:pt x="2789" y="16259"/>
                </a:cubicBezTo>
                <a:lnTo>
                  <a:pt x="24144" y="37624"/>
                </a:lnTo>
                <a:cubicBezTo>
                  <a:pt x="33105" y="46533"/>
                  <a:pt x="38130" y="58658"/>
                  <a:pt x="38098" y="71295"/>
                </a:cubicBezTo>
                <a:lnTo>
                  <a:pt x="38098" y="523875"/>
                </a:lnTo>
                <a:cubicBezTo>
                  <a:pt x="38130" y="550165"/>
                  <a:pt x="59433" y="571469"/>
                  <a:pt x="85723" y="571500"/>
                </a:cubicBezTo>
                <a:lnTo>
                  <a:pt x="428623" y="571500"/>
                </a:lnTo>
                <a:cubicBezTo>
                  <a:pt x="454913" y="571469"/>
                  <a:pt x="476217" y="550165"/>
                  <a:pt x="476248" y="523875"/>
                </a:cubicBezTo>
                <a:lnTo>
                  <a:pt x="476248" y="71295"/>
                </a:lnTo>
                <a:cubicBezTo>
                  <a:pt x="476216" y="58658"/>
                  <a:pt x="481241" y="46533"/>
                  <a:pt x="490202" y="37624"/>
                </a:cubicBezTo>
                <a:lnTo>
                  <a:pt x="511557" y="16259"/>
                </a:lnTo>
                <a:cubicBezTo>
                  <a:pt x="514283" y="13535"/>
                  <a:pt x="515099" y="9437"/>
                  <a:pt x="513624" y="5877"/>
                </a:cubicBezTo>
                <a:close/>
                <a:moveTo>
                  <a:pt x="428623" y="552450"/>
                </a:moveTo>
                <a:lnTo>
                  <a:pt x="85723" y="552450"/>
                </a:lnTo>
                <a:cubicBezTo>
                  <a:pt x="69941" y="552450"/>
                  <a:pt x="57148" y="539657"/>
                  <a:pt x="57148" y="523875"/>
                </a:cubicBezTo>
                <a:lnTo>
                  <a:pt x="57148" y="123739"/>
                </a:lnTo>
                <a:cubicBezTo>
                  <a:pt x="116951" y="124062"/>
                  <a:pt x="176508" y="116077"/>
                  <a:pt x="234113" y="100013"/>
                </a:cubicBezTo>
                <a:cubicBezTo>
                  <a:pt x="263218" y="91110"/>
                  <a:pt x="293419" y="86302"/>
                  <a:pt x="323848" y="85725"/>
                </a:cubicBezTo>
                <a:cubicBezTo>
                  <a:pt x="363013" y="85345"/>
                  <a:pt x="401885" y="92501"/>
                  <a:pt x="438348" y="106804"/>
                </a:cubicBezTo>
                <a:cubicBezTo>
                  <a:pt x="444517" y="109177"/>
                  <a:pt x="450811" y="111219"/>
                  <a:pt x="457198" y="112919"/>
                </a:cubicBezTo>
                <a:lnTo>
                  <a:pt x="457198" y="523875"/>
                </a:lnTo>
                <a:cubicBezTo>
                  <a:pt x="457198" y="539657"/>
                  <a:pt x="444405" y="552450"/>
                  <a:pt x="428623" y="552450"/>
                </a:cubicBezTo>
                <a:close/>
                <a:moveTo>
                  <a:pt x="476715" y="24165"/>
                </a:moveTo>
                <a:cubicBezTo>
                  <a:pt x="464219" y="36666"/>
                  <a:pt x="457199" y="53619"/>
                  <a:pt x="457198" y="71295"/>
                </a:cubicBezTo>
                <a:lnTo>
                  <a:pt x="457198" y="93202"/>
                </a:lnTo>
                <a:cubicBezTo>
                  <a:pt x="453626" y="92069"/>
                  <a:pt x="449492" y="90583"/>
                  <a:pt x="444816" y="88897"/>
                </a:cubicBezTo>
                <a:cubicBezTo>
                  <a:pt x="406263" y="73898"/>
                  <a:pt x="365214" y="66357"/>
                  <a:pt x="323848" y="66675"/>
                </a:cubicBezTo>
                <a:cubicBezTo>
                  <a:pt x="291796" y="67197"/>
                  <a:pt x="259974" y="72208"/>
                  <a:pt x="229312" y="81563"/>
                </a:cubicBezTo>
                <a:cubicBezTo>
                  <a:pt x="173292" y="97306"/>
                  <a:pt x="115337" y="105093"/>
                  <a:pt x="57148" y="104699"/>
                </a:cubicBezTo>
                <a:lnTo>
                  <a:pt x="57148" y="71295"/>
                </a:lnTo>
                <a:cubicBezTo>
                  <a:pt x="57151" y="53626"/>
                  <a:pt x="50134" y="36679"/>
                  <a:pt x="37641" y="24184"/>
                </a:cubicBezTo>
                <a:lnTo>
                  <a:pt x="32678" y="19212"/>
                </a:lnTo>
                <a:cubicBezTo>
                  <a:pt x="32593" y="19126"/>
                  <a:pt x="32621" y="19050"/>
                  <a:pt x="32745" y="19050"/>
                </a:cubicBezTo>
                <a:lnTo>
                  <a:pt x="481601" y="19050"/>
                </a:lnTo>
                <a:cubicBezTo>
                  <a:pt x="481725" y="19050"/>
                  <a:pt x="481754" y="19126"/>
                  <a:pt x="481668" y="19212"/>
                </a:cubicBezTo>
                <a:close/>
              </a:path>
            </a:pathLst>
          </a:custGeom>
          <a:solidFill>
            <a:srgbClr val="000000"/>
          </a:solidFill>
          <a:ln w="9525" cap="flat">
            <a:noFill/>
            <a:prstDash val="solid"/>
            <a:miter/>
          </a:ln>
        </p:spPr>
        <p:txBody>
          <a:bodyPr rtlCol="0" anchor="ctr"/>
          <a:lstStyle/>
          <a:p>
            <a:endParaRPr lang="en-GB"/>
          </a:p>
        </p:txBody>
      </p:sp>
      <p:sp>
        <p:nvSpPr>
          <p:cNvPr id="326" name="Freeform: Shape 325">
            <a:extLst>
              <a:ext uri="{FF2B5EF4-FFF2-40B4-BE49-F238E27FC236}">
                <a16:creationId xmlns:a16="http://schemas.microsoft.com/office/drawing/2014/main" id="{6AA89EB7-45E7-8AC8-3DC4-D9FD4B1D3C52}"/>
              </a:ext>
            </a:extLst>
          </p:cNvPr>
          <p:cNvSpPr/>
          <p:nvPr/>
        </p:nvSpPr>
        <p:spPr>
          <a:xfrm>
            <a:off x="10249380" y="250021"/>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p>
        </p:txBody>
      </p:sp>
      <p:sp>
        <p:nvSpPr>
          <p:cNvPr id="327" name="Freeform: Shape 326">
            <a:extLst>
              <a:ext uri="{FF2B5EF4-FFF2-40B4-BE49-F238E27FC236}">
                <a16:creationId xmlns:a16="http://schemas.microsoft.com/office/drawing/2014/main" id="{6252D3B0-E993-92F3-0061-0EC55AB5F70D}"/>
              </a:ext>
            </a:extLst>
          </p:cNvPr>
          <p:cNvSpPr/>
          <p:nvPr/>
        </p:nvSpPr>
        <p:spPr>
          <a:xfrm>
            <a:off x="9879186" y="663515"/>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328" name="Freeform: Shape 327">
            <a:extLst>
              <a:ext uri="{FF2B5EF4-FFF2-40B4-BE49-F238E27FC236}">
                <a16:creationId xmlns:a16="http://schemas.microsoft.com/office/drawing/2014/main" id="{77D98C0C-EB9D-676D-EE6B-F3EC731F1CB0}"/>
              </a:ext>
            </a:extLst>
          </p:cNvPr>
          <p:cNvSpPr/>
          <p:nvPr/>
        </p:nvSpPr>
        <p:spPr>
          <a:xfrm>
            <a:off x="8705483" y="233286"/>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329" name="Freeform: Shape 328">
            <a:extLst>
              <a:ext uri="{FF2B5EF4-FFF2-40B4-BE49-F238E27FC236}">
                <a16:creationId xmlns:a16="http://schemas.microsoft.com/office/drawing/2014/main" id="{F1961F0A-0DD1-7753-19FD-77E9FF1CF8C1}"/>
              </a:ext>
            </a:extLst>
          </p:cNvPr>
          <p:cNvSpPr/>
          <p:nvPr/>
        </p:nvSpPr>
        <p:spPr>
          <a:xfrm>
            <a:off x="6579005" y="641948"/>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p>
        </p:txBody>
      </p:sp>
      <p:sp>
        <p:nvSpPr>
          <p:cNvPr id="2" name="TextBox 1">
            <a:extLst>
              <a:ext uri="{FF2B5EF4-FFF2-40B4-BE49-F238E27FC236}">
                <a16:creationId xmlns:a16="http://schemas.microsoft.com/office/drawing/2014/main" id="{2AC89B94-8B45-B230-522A-7E588C81D837}"/>
              </a:ext>
            </a:extLst>
          </p:cNvPr>
          <p:cNvSpPr txBox="1"/>
          <p:nvPr/>
        </p:nvSpPr>
        <p:spPr>
          <a:xfrm>
            <a:off x="144316" y="961919"/>
            <a:ext cx="5320278" cy="1413207"/>
          </a:xfrm>
          <a:prstGeom prst="rect">
            <a:avLst/>
          </a:prstGeom>
          <a:noFill/>
        </p:spPr>
        <p:txBody>
          <a:bodyPr wrap="square" rtlCol="0">
            <a:spAutoFit/>
          </a:bodyPr>
          <a:lstStyle/>
          <a:p>
            <a:pPr algn="l" rtl="0" fontAlgn="base">
              <a:lnSpc>
                <a:spcPts val="675"/>
              </a:lnSpc>
            </a:pPr>
            <a:r>
              <a:rPr lang="en-GB" sz="1800" b="1" i="0">
                <a:solidFill>
                  <a:srgbClr val="000000"/>
                </a:solidFill>
                <a:effectLst/>
                <a:latin typeface="Sassoon Infant Rg" panose="02000503030000020003" pitchFamily="2" charset="0"/>
                <a:ea typeface="Sassoon Infant Rg" panose="02000503030000020003" pitchFamily="2" charset="0"/>
              </a:rPr>
              <a:t> </a:t>
            </a:r>
            <a:endParaRPr lang="en-GB" b="1" i="0">
              <a:solidFill>
                <a:srgbClr val="000000"/>
              </a:solidFill>
              <a:effectLst/>
              <a:latin typeface="Sassoon Infant Rg" panose="02000503030000020003" pitchFamily="2" charset="0"/>
              <a:ea typeface="Sassoon Infant Rg" panose="02000503030000020003" pitchFamily="2" charset="0"/>
            </a:endParaRPr>
          </a:p>
          <a:p>
            <a:pPr algn="l" rtl="0" fontAlgn="base"/>
            <a:r>
              <a:rPr lang="en-GB" sz="2000" b="1" i="1">
                <a:solidFill>
                  <a:srgbClr val="000000"/>
                </a:solidFill>
                <a:effectLst/>
                <a:latin typeface="Sassoon Infant Rg" panose="02000503030000020003" pitchFamily="2" charset="0"/>
                <a:ea typeface="Sassoon Infant Rg" panose="02000503030000020003" pitchFamily="2" charset="0"/>
              </a:rPr>
              <a:t>About 3.8 years ago, on a planet called Earth, certain molecules combined to form particularly large and intricate structures called organisms. The story of organisms is called biology.</a:t>
            </a:r>
            <a:r>
              <a:rPr lang="en-GB" sz="2000" b="1" i="0">
                <a:solidFill>
                  <a:srgbClr val="000000"/>
                </a:solidFill>
                <a:effectLst/>
                <a:latin typeface="Sassoon Infant Rg" panose="02000503030000020003" pitchFamily="2" charset="0"/>
                <a:ea typeface="Sassoon Infant Rg" panose="02000503030000020003" pitchFamily="2" charset="0"/>
              </a:rPr>
              <a:t> </a:t>
            </a:r>
          </a:p>
        </p:txBody>
      </p:sp>
      <p:sp>
        <p:nvSpPr>
          <p:cNvPr id="3" name="TextBox 2">
            <a:extLst>
              <a:ext uri="{FF2B5EF4-FFF2-40B4-BE49-F238E27FC236}">
                <a16:creationId xmlns:a16="http://schemas.microsoft.com/office/drawing/2014/main" id="{53B9ECBD-981A-5241-D51E-DC75E06C649B}"/>
              </a:ext>
            </a:extLst>
          </p:cNvPr>
          <p:cNvSpPr txBox="1"/>
          <p:nvPr/>
        </p:nvSpPr>
        <p:spPr>
          <a:xfrm>
            <a:off x="1154787" y="348834"/>
            <a:ext cx="3831345" cy="523220"/>
          </a:xfrm>
          <a:prstGeom prst="rect">
            <a:avLst/>
          </a:prstGeom>
          <a:noFill/>
        </p:spPr>
        <p:txBody>
          <a:bodyPr wrap="square">
            <a:spAutoFit/>
          </a:bodyPr>
          <a:lstStyle/>
          <a:p>
            <a:pPr fontAlgn="base"/>
            <a:r>
              <a:rPr lang="en-GB" sz="2800" b="1">
                <a:solidFill>
                  <a:srgbClr val="000000"/>
                </a:solidFill>
                <a:latin typeface="Sassoon Infant Rg" panose="02000503030000020003" pitchFamily="2" charset="0"/>
                <a:ea typeface="Sassoon Infant Rg" panose="02000503030000020003" pitchFamily="2" charset="0"/>
              </a:rPr>
              <a:t>What is Biology?</a:t>
            </a:r>
            <a:r>
              <a:rPr lang="en-GB" sz="2800">
                <a:solidFill>
                  <a:srgbClr val="000000"/>
                </a:solidFill>
                <a:latin typeface="Sassoon Infant Rg" panose="02000503030000020003" pitchFamily="2" charset="0"/>
                <a:ea typeface="Sassoon Infant Rg" panose="02000503030000020003" pitchFamily="2" charset="0"/>
              </a:rPr>
              <a:t> </a:t>
            </a:r>
            <a:endParaRPr lang="en-GB" sz="6600" b="0" i="0">
              <a:solidFill>
                <a:srgbClr val="000000"/>
              </a:solidFill>
              <a:effectLst/>
              <a:latin typeface="Segoe UI" panose="020B0502040204020203" pitchFamily="34" charset="0"/>
            </a:endParaRPr>
          </a:p>
        </p:txBody>
      </p:sp>
      <p:pic>
        <p:nvPicPr>
          <p:cNvPr id="4" name="Picture 3">
            <a:extLst>
              <a:ext uri="{FF2B5EF4-FFF2-40B4-BE49-F238E27FC236}">
                <a16:creationId xmlns:a16="http://schemas.microsoft.com/office/drawing/2014/main" id="{EA7EE3FD-F1FD-0AAD-F053-A515850DF884}"/>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144316" y="105448"/>
            <a:ext cx="1104848" cy="856471"/>
          </a:xfrm>
          <a:prstGeom prst="rect">
            <a:avLst/>
          </a:prstGeom>
        </p:spPr>
      </p:pic>
      <p:sp>
        <p:nvSpPr>
          <p:cNvPr id="26" name="TextBox 25">
            <a:extLst>
              <a:ext uri="{FF2B5EF4-FFF2-40B4-BE49-F238E27FC236}">
                <a16:creationId xmlns:a16="http://schemas.microsoft.com/office/drawing/2014/main" id="{A38787DC-C597-E16E-3875-6468B1D3CAD5}"/>
              </a:ext>
            </a:extLst>
          </p:cNvPr>
          <p:cNvSpPr txBox="1"/>
          <p:nvPr/>
        </p:nvSpPr>
        <p:spPr>
          <a:xfrm>
            <a:off x="1585255" y="2582636"/>
            <a:ext cx="2438400" cy="461665"/>
          </a:xfrm>
          <a:prstGeom prst="rect">
            <a:avLst/>
          </a:prstGeom>
          <a:noFill/>
        </p:spPr>
        <p:txBody>
          <a:bodyPr wrap="square">
            <a:spAutoFit/>
          </a:bodyPr>
          <a:lstStyle/>
          <a:p>
            <a:pPr fontAlgn="base"/>
            <a:r>
              <a:rPr lang="en-GB" sz="2400" b="1" u="sng">
                <a:solidFill>
                  <a:srgbClr val="000000"/>
                </a:solidFill>
                <a:latin typeface="Sassoon Infant Rg" panose="02000503030000020003" pitchFamily="2" charset="0"/>
                <a:ea typeface="Sassoon Infant Rg" panose="02000503030000020003" pitchFamily="2" charset="0"/>
              </a:rPr>
              <a:t>Key concepts:</a:t>
            </a:r>
            <a:endParaRPr lang="en-GB" sz="6000" b="0" i="0" u="sng">
              <a:solidFill>
                <a:srgbClr val="000000"/>
              </a:solidFill>
              <a:effectLst/>
              <a:latin typeface="Segoe UI" panose="020B0502040204020203" pitchFamily="34" charset="0"/>
            </a:endParaRPr>
          </a:p>
        </p:txBody>
      </p:sp>
      <p:sp>
        <p:nvSpPr>
          <p:cNvPr id="53" name="Oval 52">
            <a:extLst>
              <a:ext uri="{FF2B5EF4-FFF2-40B4-BE49-F238E27FC236}">
                <a16:creationId xmlns:a16="http://schemas.microsoft.com/office/drawing/2014/main" id="{3A42AA5D-2B41-8032-DD1E-6038B9F0710B}"/>
              </a:ext>
            </a:extLst>
          </p:cNvPr>
          <p:cNvSpPr/>
          <p:nvPr/>
        </p:nvSpPr>
        <p:spPr>
          <a:xfrm>
            <a:off x="3608299" y="4711431"/>
            <a:ext cx="1773377" cy="160735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All organisms are classified based on how closely related they are on the tree of life.</a:t>
            </a:r>
          </a:p>
        </p:txBody>
      </p:sp>
      <p:sp>
        <p:nvSpPr>
          <p:cNvPr id="54" name="Oval 53">
            <a:extLst>
              <a:ext uri="{FF2B5EF4-FFF2-40B4-BE49-F238E27FC236}">
                <a16:creationId xmlns:a16="http://schemas.microsoft.com/office/drawing/2014/main" id="{DAB919C7-EB55-5522-B36A-A8C225F0B2D6}"/>
              </a:ext>
            </a:extLst>
          </p:cNvPr>
          <p:cNvSpPr/>
          <p:nvPr/>
        </p:nvSpPr>
        <p:spPr>
          <a:xfrm>
            <a:off x="472935" y="2981007"/>
            <a:ext cx="1681918" cy="15111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All organisms share a common set of essential life processes</a:t>
            </a:r>
          </a:p>
        </p:txBody>
      </p:sp>
      <p:sp>
        <p:nvSpPr>
          <p:cNvPr id="55" name="Oval 54">
            <a:extLst>
              <a:ext uri="{FF2B5EF4-FFF2-40B4-BE49-F238E27FC236}">
                <a16:creationId xmlns:a16="http://schemas.microsoft.com/office/drawing/2014/main" id="{17E56406-8294-A7D5-885E-E35A92FB7911}"/>
              </a:ext>
            </a:extLst>
          </p:cNvPr>
          <p:cNvSpPr/>
          <p:nvPr/>
        </p:nvSpPr>
        <p:spPr>
          <a:xfrm>
            <a:off x="4201955" y="2904053"/>
            <a:ext cx="1537915" cy="136486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Species arise, change, and become extinct over time</a:t>
            </a:r>
          </a:p>
        </p:txBody>
      </p:sp>
      <p:sp>
        <p:nvSpPr>
          <p:cNvPr id="56" name="Oval 55">
            <a:extLst>
              <a:ext uri="{FF2B5EF4-FFF2-40B4-BE49-F238E27FC236}">
                <a16:creationId xmlns:a16="http://schemas.microsoft.com/office/drawing/2014/main" id="{143B73ED-5881-C205-043C-890240757F90}"/>
              </a:ext>
            </a:extLst>
          </p:cNvPr>
          <p:cNvSpPr/>
          <p:nvPr/>
        </p:nvSpPr>
        <p:spPr>
          <a:xfrm>
            <a:off x="767803" y="4793887"/>
            <a:ext cx="1343333" cy="124247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Genetics maintain continuity plus allow for change</a:t>
            </a:r>
          </a:p>
        </p:txBody>
      </p:sp>
      <p:sp>
        <p:nvSpPr>
          <p:cNvPr id="57" name="Oval 56">
            <a:extLst>
              <a:ext uri="{FF2B5EF4-FFF2-40B4-BE49-F238E27FC236}">
                <a16:creationId xmlns:a16="http://schemas.microsoft.com/office/drawing/2014/main" id="{6FDF729D-238B-6FD5-8664-B64CAD5520F8}"/>
              </a:ext>
            </a:extLst>
          </p:cNvPr>
          <p:cNvSpPr/>
          <p:nvPr/>
        </p:nvSpPr>
        <p:spPr>
          <a:xfrm>
            <a:off x="2425204" y="3244990"/>
            <a:ext cx="1734454" cy="14508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Organisms interact with each other and with their environment</a:t>
            </a:r>
          </a:p>
        </p:txBody>
      </p:sp>
      <p:sp>
        <p:nvSpPr>
          <p:cNvPr id="7" name="TextBox 6">
            <a:extLst>
              <a:ext uri="{FF2B5EF4-FFF2-40B4-BE49-F238E27FC236}">
                <a16:creationId xmlns:a16="http://schemas.microsoft.com/office/drawing/2014/main" id="{5CB1564B-824F-B4D1-FB4A-3AC63A252B07}"/>
              </a:ext>
            </a:extLst>
          </p:cNvPr>
          <p:cNvSpPr txBox="1"/>
          <p:nvPr/>
        </p:nvSpPr>
        <p:spPr>
          <a:xfrm>
            <a:off x="8385348" y="1300852"/>
            <a:ext cx="2291560" cy="523220"/>
          </a:xfrm>
          <a:prstGeom prst="rect">
            <a:avLst/>
          </a:prstGeom>
          <a:noFill/>
        </p:spPr>
        <p:txBody>
          <a:bodyPr wrap="square">
            <a:spAutoFit/>
          </a:bodyPr>
          <a:lstStyle/>
          <a:p>
            <a:pPr fontAlgn="base"/>
            <a:r>
              <a:rPr lang="en-GB" sz="2800" b="1" u="sng">
                <a:solidFill>
                  <a:srgbClr val="000000"/>
                </a:solidFill>
                <a:latin typeface="Sassoon Infant Rg" panose="02000503030000020003" pitchFamily="2" charset="0"/>
                <a:ea typeface="Sassoon Infant Rg" panose="02000503030000020003" pitchFamily="2" charset="0"/>
              </a:rPr>
              <a:t>Contexts</a:t>
            </a:r>
            <a:endParaRPr lang="en-GB" sz="4800" b="0" i="0" u="sng">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4161339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37" presetClass="entr" presetSubtype="0" fill="hold" grpId="0" nodeType="clickEffect">
                                  <p:stCondLst>
                                    <p:cond delay="0"/>
                                  </p:stCondLst>
                                  <p:childTnLst>
                                    <p:set>
                                      <p:cBhvr>
                                        <p:cTn id="46" dur="1" fill="hold">
                                          <p:stCondLst>
                                            <p:cond delay="0"/>
                                          </p:stCondLst>
                                        </p:cTn>
                                        <p:tgtEl>
                                          <p:spTgt spid="57"/>
                                        </p:tgtEl>
                                        <p:attrNameLst>
                                          <p:attrName>style.visibility</p:attrName>
                                        </p:attrNameLst>
                                      </p:cBhvr>
                                      <p:to>
                                        <p:strVal val="visible"/>
                                      </p:to>
                                    </p:set>
                                    <p:animEffect transition="in" filter="fade">
                                      <p:cBhvr>
                                        <p:cTn id="47" dur="1000"/>
                                        <p:tgtEl>
                                          <p:spTgt spid="57"/>
                                        </p:tgtEl>
                                      </p:cBhvr>
                                    </p:animEffect>
                                    <p:anim calcmode="lin" valueType="num">
                                      <p:cBhvr>
                                        <p:cTn id="48" dur="1000" fill="hold"/>
                                        <p:tgtEl>
                                          <p:spTgt spid="57"/>
                                        </p:tgtEl>
                                        <p:attrNameLst>
                                          <p:attrName>ppt_x</p:attrName>
                                        </p:attrNameLst>
                                      </p:cBhvr>
                                      <p:tavLst>
                                        <p:tav tm="0">
                                          <p:val>
                                            <p:strVal val="#ppt_x"/>
                                          </p:val>
                                        </p:tav>
                                        <p:tav tm="100000">
                                          <p:val>
                                            <p:strVal val="#ppt_x"/>
                                          </p:val>
                                        </p:tav>
                                      </p:tavLst>
                                    </p:anim>
                                    <p:anim calcmode="lin" valueType="num">
                                      <p:cBhvr>
                                        <p:cTn id="49" dur="900" decel="100000" fill="hold"/>
                                        <p:tgtEl>
                                          <p:spTgt spid="57"/>
                                        </p:tgtEl>
                                        <p:attrNameLst>
                                          <p:attrName>ppt_y</p:attrName>
                                        </p:attrNameLst>
                                      </p:cBhvr>
                                      <p:tavLst>
                                        <p:tav tm="0">
                                          <p:val>
                                            <p:strVal val="#ppt_y+1"/>
                                          </p:val>
                                        </p:tav>
                                        <p:tav tm="100000">
                                          <p:val>
                                            <p:strVal val="#ppt_y-.03"/>
                                          </p:val>
                                        </p:tav>
                                      </p:tavLst>
                                    </p:anim>
                                    <p:anim calcmode="lin" valueType="num">
                                      <p:cBhvr>
                                        <p:cTn id="50" dur="100" accel="100000" fill="hold">
                                          <p:stCondLst>
                                            <p:cond delay="900"/>
                                          </p:stCondLst>
                                        </p:cTn>
                                        <p:tgtEl>
                                          <p:spTgt spid="57"/>
                                        </p:tgtEl>
                                        <p:attrNameLst>
                                          <p:attrName>ppt_y</p:attrName>
                                        </p:attrNameLst>
                                      </p:cBhvr>
                                      <p:tavLst>
                                        <p:tav tm="0">
                                          <p:val>
                                            <p:strVal val="#ppt_y-.03"/>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7" presetClass="entr" presetSubtype="0" fill="hold" grpId="0" nodeType="click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fade">
                                      <p:cBhvr>
                                        <p:cTn id="55" dur="1000"/>
                                        <p:tgtEl>
                                          <p:spTgt spid="54"/>
                                        </p:tgtEl>
                                      </p:cBhvr>
                                    </p:animEffect>
                                    <p:anim calcmode="lin" valueType="num">
                                      <p:cBhvr>
                                        <p:cTn id="56" dur="1000" fill="hold"/>
                                        <p:tgtEl>
                                          <p:spTgt spid="54"/>
                                        </p:tgtEl>
                                        <p:attrNameLst>
                                          <p:attrName>ppt_x</p:attrName>
                                        </p:attrNameLst>
                                      </p:cBhvr>
                                      <p:tavLst>
                                        <p:tav tm="0">
                                          <p:val>
                                            <p:strVal val="#ppt_x"/>
                                          </p:val>
                                        </p:tav>
                                        <p:tav tm="100000">
                                          <p:val>
                                            <p:strVal val="#ppt_x"/>
                                          </p:val>
                                        </p:tav>
                                      </p:tavLst>
                                    </p:anim>
                                    <p:anim calcmode="lin" valueType="num">
                                      <p:cBhvr>
                                        <p:cTn id="57" dur="900" decel="100000" fill="hold"/>
                                        <p:tgtEl>
                                          <p:spTgt spid="54"/>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54"/>
                                        </p:tgtEl>
                                        <p:attrNameLst>
                                          <p:attrName>ppt_y</p:attrName>
                                        </p:attrNameLst>
                                      </p:cBhvr>
                                      <p:tavLst>
                                        <p:tav tm="0">
                                          <p:val>
                                            <p:strVal val="#ppt_y-.03"/>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7" presetClass="entr" presetSubtype="0" fill="hold" grpId="0" nodeType="click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fade">
                                      <p:cBhvr>
                                        <p:cTn id="63" dur="1000"/>
                                        <p:tgtEl>
                                          <p:spTgt spid="53"/>
                                        </p:tgtEl>
                                      </p:cBhvr>
                                    </p:animEffect>
                                    <p:anim calcmode="lin" valueType="num">
                                      <p:cBhvr>
                                        <p:cTn id="64" dur="1000" fill="hold"/>
                                        <p:tgtEl>
                                          <p:spTgt spid="53"/>
                                        </p:tgtEl>
                                        <p:attrNameLst>
                                          <p:attrName>ppt_x</p:attrName>
                                        </p:attrNameLst>
                                      </p:cBhvr>
                                      <p:tavLst>
                                        <p:tav tm="0">
                                          <p:val>
                                            <p:strVal val="#ppt_x"/>
                                          </p:val>
                                        </p:tav>
                                        <p:tav tm="100000">
                                          <p:val>
                                            <p:strVal val="#ppt_x"/>
                                          </p:val>
                                        </p:tav>
                                      </p:tavLst>
                                    </p:anim>
                                    <p:anim calcmode="lin" valueType="num">
                                      <p:cBhvr>
                                        <p:cTn id="65" dur="900" decel="100000" fill="hold"/>
                                        <p:tgtEl>
                                          <p:spTgt spid="53"/>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53"/>
                                        </p:tgtEl>
                                        <p:attrNameLst>
                                          <p:attrName>ppt_y</p:attrName>
                                        </p:attrNameLst>
                                      </p:cBhvr>
                                      <p:tavLst>
                                        <p:tav tm="0">
                                          <p:val>
                                            <p:strVal val="#ppt_y-.03"/>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37" presetClass="entr" presetSubtype="0" fill="hold" grpId="0" nodeType="clickEffect">
                                  <p:stCondLst>
                                    <p:cond delay="0"/>
                                  </p:stCondLst>
                                  <p:childTnLst>
                                    <p:set>
                                      <p:cBhvr>
                                        <p:cTn id="70" dur="1" fill="hold">
                                          <p:stCondLst>
                                            <p:cond delay="0"/>
                                          </p:stCondLst>
                                        </p:cTn>
                                        <p:tgtEl>
                                          <p:spTgt spid="56"/>
                                        </p:tgtEl>
                                        <p:attrNameLst>
                                          <p:attrName>style.visibility</p:attrName>
                                        </p:attrNameLst>
                                      </p:cBhvr>
                                      <p:to>
                                        <p:strVal val="visible"/>
                                      </p:to>
                                    </p:set>
                                    <p:animEffect transition="in" filter="fade">
                                      <p:cBhvr>
                                        <p:cTn id="71" dur="1000"/>
                                        <p:tgtEl>
                                          <p:spTgt spid="56"/>
                                        </p:tgtEl>
                                      </p:cBhvr>
                                    </p:animEffect>
                                    <p:anim calcmode="lin" valueType="num">
                                      <p:cBhvr>
                                        <p:cTn id="72" dur="1000" fill="hold"/>
                                        <p:tgtEl>
                                          <p:spTgt spid="56"/>
                                        </p:tgtEl>
                                        <p:attrNameLst>
                                          <p:attrName>ppt_x</p:attrName>
                                        </p:attrNameLst>
                                      </p:cBhvr>
                                      <p:tavLst>
                                        <p:tav tm="0">
                                          <p:val>
                                            <p:strVal val="#ppt_x"/>
                                          </p:val>
                                        </p:tav>
                                        <p:tav tm="100000">
                                          <p:val>
                                            <p:strVal val="#ppt_x"/>
                                          </p:val>
                                        </p:tav>
                                      </p:tavLst>
                                    </p:anim>
                                    <p:anim calcmode="lin" valueType="num">
                                      <p:cBhvr>
                                        <p:cTn id="73" dur="900" decel="100000" fill="hold"/>
                                        <p:tgtEl>
                                          <p:spTgt spid="56"/>
                                        </p:tgtEl>
                                        <p:attrNameLst>
                                          <p:attrName>ppt_y</p:attrName>
                                        </p:attrNameLst>
                                      </p:cBhvr>
                                      <p:tavLst>
                                        <p:tav tm="0">
                                          <p:val>
                                            <p:strVal val="#ppt_y+1"/>
                                          </p:val>
                                        </p:tav>
                                        <p:tav tm="100000">
                                          <p:val>
                                            <p:strVal val="#ppt_y-.03"/>
                                          </p:val>
                                        </p:tav>
                                      </p:tavLst>
                                    </p:anim>
                                    <p:anim calcmode="lin" valueType="num">
                                      <p:cBhvr>
                                        <p:cTn id="74" dur="100" accel="100000" fill="hold">
                                          <p:stCondLst>
                                            <p:cond delay="900"/>
                                          </p:stCondLst>
                                        </p:cTn>
                                        <p:tgtEl>
                                          <p:spTgt spid="56"/>
                                        </p:tgtEl>
                                        <p:attrNameLst>
                                          <p:attrName>ppt_y</p:attrName>
                                        </p:attrNameLst>
                                      </p:cBhvr>
                                      <p:tavLst>
                                        <p:tav tm="0">
                                          <p:val>
                                            <p:strVal val="#ppt_y-.03"/>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37" presetClass="entr" presetSubtype="0" fill="hold" grpId="0" nodeType="clickEffect">
                                  <p:stCondLst>
                                    <p:cond delay="0"/>
                                  </p:stCondLst>
                                  <p:childTnLst>
                                    <p:set>
                                      <p:cBhvr>
                                        <p:cTn id="78" dur="1" fill="hold">
                                          <p:stCondLst>
                                            <p:cond delay="0"/>
                                          </p:stCondLst>
                                        </p:cTn>
                                        <p:tgtEl>
                                          <p:spTgt spid="55"/>
                                        </p:tgtEl>
                                        <p:attrNameLst>
                                          <p:attrName>style.visibility</p:attrName>
                                        </p:attrNameLst>
                                      </p:cBhvr>
                                      <p:to>
                                        <p:strVal val="visible"/>
                                      </p:to>
                                    </p:set>
                                    <p:animEffect transition="in" filter="fade">
                                      <p:cBhvr>
                                        <p:cTn id="79" dur="1000"/>
                                        <p:tgtEl>
                                          <p:spTgt spid="55"/>
                                        </p:tgtEl>
                                      </p:cBhvr>
                                    </p:animEffect>
                                    <p:anim calcmode="lin" valueType="num">
                                      <p:cBhvr>
                                        <p:cTn id="80" dur="1000" fill="hold"/>
                                        <p:tgtEl>
                                          <p:spTgt spid="55"/>
                                        </p:tgtEl>
                                        <p:attrNameLst>
                                          <p:attrName>ppt_x</p:attrName>
                                        </p:attrNameLst>
                                      </p:cBhvr>
                                      <p:tavLst>
                                        <p:tav tm="0">
                                          <p:val>
                                            <p:strVal val="#ppt_x"/>
                                          </p:val>
                                        </p:tav>
                                        <p:tav tm="100000">
                                          <p:val>
                                            <p:strVal val="#ppt_x"/>
                                          </p:val>
                                        </p:tav>
                                      </p:tavLst>
                                    </p:anim>
                                    <p:anim calcmode="lin" valueType="num">
                                      <p:cBhvr>
                                        <p:cTn id="81" dur="900" decel="100000" fill="hold"/>
                                        <p:tgtEl>
                                          <p:spTgt spid="55"/>
                                        </p:tgtEl>
                                        <p:attrNameLst>
                                          <p:attrName>ppt_y</p:attrName>
                                        </p:attrNameLst>
                                      </p:cBhvr>
                                      <p:tavLst>
                                        <p:tav tm="0">
                                          <p:val>
                                            <p:strVal val="#ppt_y+1"/>
                                          </p:val>
                                        </p:tav>
                                        <p:tav tm="100000">
                                          <p:val>
                                            <p:strVal val="#ppt_y-.03"/>
                                          </p:val>
                                        </p:tav>
                                      </p:tavLst>
                                    </p:anim>
                                    <p:anim calcmode="lin" valueType="num">
                                      <p:cBhvr>
                                        <p:cTn id="82" dur="100" accel="100000" fill="hold">
                                          <p:stCondLst>
                                            <p:cond delay="900"/>
                                          </p:stCondLst>
                                        </p:cTn>
                                        <p:tgtEl>
                                          <p:spTgt spid="5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53" grpId="0" animBg="1"/>
      <p:bldP spid="54" grpId="0" animBg="1"/>
      <p:bldP spid="55" grpId="0" animBg="1"/>
      <p:bldP spid="56" grpId="0" animBg="1"/>
      <p:bldP spid="5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Freeform: Shape 272">
            <a:extLst>
              <a:ext uri="{FF2B5EF4-FFF2-40B4-BE49-F238E27FC236}">
                <a16:creationId xmlns:a16="http://schemas.microsoft.com/office/drawing/2014/main" id="{8F4C2F65-8198-2512-7079-F49B5EAD1D1E}"/>
              </a:ext>
            </a:extLst>
          </p:cNvPr>
          <p:cNvSpPr/>
          <p:nvPr/>
        </p:nvSpPr>
        <p:spPr>
          <a:xfrm>
            <a:off x="6801640" y="1684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284" name="Freeform: Shape 283">
            <a:extLst>
              <a:ext uri="{FF2B5EF4-FFF2-40B4-BE49-F238E27FC236}">
                <a16:creationId xmlns:a16="http://schemas.microsoft.com/office/drawing/2014/main" id="{421FA5F6-82A2-8387-9815-35F2BE0401D6}"/>
              </a:ext>
            </a:extLst>
          </p:cNvPr>
          <p:cNvSpPr/>
          <p:nvPr/>
        </p:nvSpPr>
        <p:spPr>
          <a:xfrm>
            <a:off x="9467674" y="224090"/>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285" name="Freeform: Shape 284">
            <a:extLst>
              <a:ext uri="{FF2B5EF4-FFF2-40B4-BE49-F238E27FC236}">
                <a16:creationId xmlns:a16="http://schemas.microsoft.com/office/drawing/2014/main" id="{E3D25F18-603C-9CD7-F61B-BD0E82F25BC7}"/>
              </a:ext>
            </a:extLst>
          </p:cNvPr>
          <p:cNvSpPr/>
          <p:nvPr/>
        </p:nvSpPr>
        <p:spPr>
          <a:xfrm>
            <a:off x="8109740" y="434950"/>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286" name="Freeform: Shape 285">
            <a:extLst>
              <a:ext uri="{FF2B5EF4-FFF2-40B4-BE49-F238E27FC236}">
                <a16:creationId xmlns:a16="http://schemas.microsoft.com/office/drawing/2014/main" id="{9A96083D-FE52-4AA2-2981-8D639B6AB7FF}"/>
              </a:ext>
            </a:extLst>
          </p:cNvPr>
          <p:cNvSpPr/>
          <p:nvPr/>
        </p:nvSpPr>
        <p:spPr>
          <a:xfrm>
            <a:off x="7186402" y="5493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7"/>
                  <a:pt x="131059" y="64883"/>
                </a:cubicBezTo>
                <a:cubicBezTo>
                  <a:pt x="131059" y="29048"/>
                  <a:pt x="101721" y="0"/>
                  <a:pt x="65530" y="0"/>
                </a:cubicBezTo>
                <a:cubicBezTo>
                  <a:pt x="29338" y="0"/>
                  <a:pt x="0" y="29048"/>
                  <a:pt x="0" y="64883"/>
                </a:cubicBezTo>
                <a:cubicBezTo>
                  <a:pt x="0" y="100717"/>
                  <a:pt x="29338" y="129765"/>
                  <a:pt x="65530" y="129765"/>
                </a:cubicBezTo>
                <a:close/>
                <a:moveTo>
                  <a:pt x="65530" y="43255"/>
                </a:moveTo>
                <a:cubicBezTo>
                  <a:pt x="77594" y="43255"/>
                  <a:pt x="87373" y="52938"/>
                  <a:pt x="87373" y="64883"/>
                </a:cubicBezTo>
                <a:cubicBezTo>
                  <a:pt x="87373" y="76828"/>
                  <a:pt x="77594" y="86510"/>
                  <a:pt x="65530" y="86510"/>
                </a:cubicBezTo>
                <a:cubicBezTo>
                  <a:pt x="53466" y="86510"/>
                  <a:pt x="43686" y="76828"/>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51" name="TextBox 50">
            <a:extLst>
              <a:ext uri="{FF2B5EF4-FFF2-40B4-BE49-F238E27FC236}">
                <a16:creationId xmlns:a16="http://schemas.microsoft.com/office/drawing/2014/main" id="{1E947C82-5BCE-7163-0931-D8D796165B74}"/>
              </a:ext>
            </a:extLst>
          </p:cNvPr>
          <p:cNvSpPr txBox="1"/>
          <p:nvPr/>
        </p:nvSpPr>
        <p:spPr>
          <a:xfrm>
            <a:off x="144316" y="961919"/>
            <a:ext cx="5440510" cy="1200329"/>
          </a:xfrm>
          <a:prstGeom prst="rect">
            <a:avLst/>
          </a:prstGeom>
          <a:noFill/>
        </p:spPr>
        <p:txBody>
          <a:bodyPr wrap="square" rtlCol="0">
            <a:spAutoFit/>
          </a:bodyPr>
          <a:lstStyle/>
          <a:p>
            <a:pPr algn="just"/>
            <a:r>
              <a:rPr lang="en-GB" sz="1800" b="1" i="1">
                <a:solidFill>
                  <a:srgbClr val="000000"/>
                </a:solidFill>
                <a:effectLst/>
                <a:latin typeface="Sassoon Infant Rg" panose="02000503030000020003" pitchFamily="2" charset="0"/>
                <a:ea typeface="Sassoon Infant Rg" panose="02000503030000020003" pitchFamily="2" charset="0"/>
              </a:rPr>
              <a:t>About 13.8 billion years ago, matter, energy, time and space came into being in what is known as the Big Bang. The story of these fundamental features of our universe is called Physics.</a:t>
            </a:r>
            <a:r>
              <a:rPr lang="en-GB" sz="1800" b="1" i="0">
                <a:solidFill>
                  <a:srgbClr val="000000"/>
                </a:solidFill>
                <a:effectLst/>
                <a:latin typeface="Sassoon Infant Rg" panose="02000503030000020003" pitchFamily="2" charset="0"/>
                <a:ea typeface="Sassoon Infant Rg" panose="02000503030000020003" pitchFamily="2" charset="0"/>
              </a:rPr>
              <a:t> </a:t>
            </a:r>
            <a:endParaRPr lang="en-GB" sz="1400" b="1">
              <a:latin typeface="Sassoon Infant Rg" panose="02000503030000020003" pitchFamily="2" charset="0"/>
              <a:ea typeface="Sassoon Infant Rg" panose="02000503030000020003" pitchFamily="2" charset="0"/>
            </a:endParaRPr>
          </a:p>
        </p:txBody>
      </p:sp>
      <p:grpSp>
        <p:nvGrpSpPr>
          <p:cNvPr id="6" name="Group 5">
            <a:extLst>
              <a:ext uri="{FF2B5EF4-FFF2-40B4-BE49-F238E27FC236}">
                <a16:creationId xmlns:a16="http://schemas.microsoft.com/office/drawing/2014/main" id="{1139D0CF-00E4-9483-12FF-7ABAC091B00B}"/>
              </a:ext>
            </a:extLst>
          </p:cNvPr>
          <p:cNvGrpSpPr/>
          <p:nvPr/>
        </p:nvGrpSpPr>
        <p:grpSpPr>
          <a:xfrm>
            <a:off x="6417190" y="5097492"/>
            <a:ext cx="4969774" cy="661583"/>
            <a:chOff x="1999694" y="1717038"/>
            <a:chExt cx="1713901" cy="2885442"/>
          </a:xfrm>
        </p:grpSpPr>
        <p:sp>
          <p:nvSpPr>
            <p:cNvPr id="10" name="Rectangle: Rounded Corners 9">
              <a:extLst>
                <a:ext uri="{FF2B5EF4-FFF2-40B4-BE49-F238E27FC236}">
                  <a16:creationId xmlns:a16="http://schemas.microsoft.com/office/drawing/2014/main" id="{C6E1161F-9883-F4C9-79D5-58367EAA23F4}"/>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latin typeface="Sassoon Infant Rg" panose="02000503030000020003" pitchFamily="2" charset="0"/>
                <a:ea typeface="Sassoon Infant Rg" panose="02000503030000020003" pitchFamily="2" charset="0"/>
              </a:endParaRPr>
            </a:p>
          </p:txBody>
        </p:sp>
        <p:sp>
          <p:nvSpPr>
            <p:cNvPr id="11" name="Rectangle: Rounded Corners 4">
              <a:extLst>
                <a:ext uri="{FF2B5EF4-FFF2-40B4-BE49-F238E27FC236}">
                  <a16:creationId xmlns:a16="http://schemas.microsoft.com/office/drawing/2014/main" id="{11AD94A5-DBB4-B8DC-9A49-E9F0511A8388}"/>
                </a:ext>
              </a:extLst>
            </p:cNvPr>
            <p:cNvSpPr txBox="1"/>
            <p:nvPr/>
          </p:nvSpPr>
          <p:spPr>
            <a:xfrm>
              <a:off x="2264968" y="1800703"/>
              <a:ext cx="1364961" cy="27181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The Earth and its place in the solar system &amp; Electricity</a:t>
              </a:r>
              <a:endParaRPr lang="en-GB" sz="2000" kern="1200">
                <a:solidFill>
                  <a:schemeClr val="tx1"/>
                </a:solidFill>
                <a:latin typeface="Sassoon Infant Rg" panose="02000503030000020003" pitchFamily="2" charset="0"/>
                <a:ea typeface="Sassoon Infant Rg" panose="02000503030000020003" pitchFamily="2" charset="0"/>
              </a:endParaRPr>
            </a:p>
          </p:txBody>
        </p:sp>
      </p:grpSp>
      <p:grpSp>
        <p:nvGrpSpPr>
          <p:cNvPr id="30" name="Group 29">
            <a:extLst>
              <a:ext uri="{FF2B5EF4-FFF2-40B4-BE49-F238E27FC236}">
                <a16:creationId xmlns:a16="http://schemas.microsoft.com/office/drawing/2014/main" id="{659D64A0-0194-6AD6-0874-0A17E34B3D8B}"/>
              </a:ext>
            </a:extLst>
          </p:cNvPr>
          <p:cNvGrpSpPr/>
          <p:nvPr/>
        </p:nvGrpSpPr>
        <p:grpSpPr>
          <a:xfrm>
            <a:off x="6532989" y="5035884"/>
            <a:ext cx="752715" cy="748493"/>
            <a:chOff x="4462145" y="450020"/>
            <a:chExt cx="801261" cy="903352"/>
          </a:xfrm>
        </p:grpSpPr>
        <p:pic>
          <p:nvPicPr>
            <p:cNvPr id="31" name="Picture 30">
              <a:extLst>
                <a:ext uri="{FF2B5EF4-FFF2-40B4-BE49-F238E27FC236}">
                  <a16:creationId xmlns:a16="http://schemas.microsoft.com/office/drawing/2014/main" id="{98CBC144-68DE-DCD6-A068-45B00A9D599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2" name="TextBox 31">
              <a:extLst>
                <a:ext uri="{FF2B5EF4-FFF2-40B4-BE49-F238E27FC236}">
                  <a16:creationId xmlns:a16="http://schemas.microsoft.com/office/drawing/2014/main" id="{5F34EC7D-7B3F-AAAF-42B0-B63136A921F6}"/>
                </a:ext>
              </a:extLst>
            </p:cNvPr>
            <p:cNvSpPr txBox="1"/>
            <p:nvPr/>
          </p:nvSpPr>
          <p:spPr>
            <a:xfrm>
              <a:off x="4704080" y="708024"/>
              <a:ext cx="375920" cy="445745"/>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2</a:t>
              </a:r>
            </a:p>
          </p:txBody>
        </p:sp>
      </p:grpSp>
      <p:grpSp>
        <p:nvGrpSpPr>
          <p:cNvPr id="12" name="Group 11">
            <a:extLst>
              <a:ext uri="{FF2B5EF4-FFF2-40B4-BE49-F238E27FC236}">
                <a16:creationId xmlns:a16="http://schemas.microsoft.com/office/drawing/2014/main" id="{1F5AC170-9BA6-31F8-45EE-90C38A66E12D}"/>
              </a:ext>
            </a:extLst>
          </p:cNvPr>
          <p:cNvGrpSpPr/>
          <p:nvPr/>
        </p:nvGrpSpPr>
        <p:grpSpPr>
          <a:xfrm>
            <a:off x="6450333" y="4413131"/>
            <a:ext cx="4827428" cy="661583"/>
            <a:chOff x="3999246" y="1747524"/>
            <a:chExt cx="1713901" cy="2824471"/>
          </a:xfrm>
        </p:grpSpPr>
        <p:sp>
          <p:nvSpPr>
            <p:cNvPr id="13" name="Rectangle: Rounded Corners 12">
              <a:extLst>
                <a:ext uri="{FF2B5EF4-FFF2-40B4-BE49-F238E27FC236}">
                  <a16:creationId xmlns:a16="http://schemas.microsoft.com/office/drawing/2014/main" id="{58130BCF-8225-2463-CC55-1185BA124EEB}"/>
                </a:ext>
              </a:extLst>
            </p:cNvPr>
            <p:cNvSpPr/>
            <p:nvPr/>
          </p:nvSpPr>
          <p:spPr>
            <a:xfrm>
              <a:off x="3999246"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latin typeface="Sassoon Infant Rg" panose="02000503030000020003" pitchFamily="2" charset="0"/>
                <a:ea typeface="Sassoon Infant Rg" panose="02000503030000020003" pitchFamily="2" charset="0"/>
              </a:endParaRPr>
            </a:p>
          </p:txBody>
        </p:sp>
        <p:sp>
          <p:nvSpPr>
            <p:cNvPr id="14" name="Rectangle: Rounded Corners 4">
              <a:extLst>
                <a:ext uri="{FF2B5EF4-FFF2-40B4-BE49-F238E27FC236}">
                  <a16:creationId xmlns:a16="http://schemas.microsoft.com/office/drawing/2014/main" id="{28DD33E1-56A8-5DF8-2C36-5B929AFEADAF}"/>
                </a:ext>
              </a:extLst>
            </p:cNvPr>
            <p:cNvSpPr txBox="1"/>
            <p:nvPr/>
          </p:nvSpPr>
          <p:spPr>
            <a:xfrm>
              <a:off x="4082912" y="1831190"/>
              <a:ext cx="1546569" cy="265713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3" name="Group 32">
            <a:extLst>
              <a:ext uri="{FF2B5EF4-FFF2-40B4-BE49-F238E27FC236}">
                <a16:creationId xmlns:a16="http://schemas.microsoft.com/office/drawing/2014/main" id="{0BA77F6D-ABF4-8B36-D41D-210D37761317}"/>
              </a:ext>
            </a:extLst>
          </p:cNvPr>
          <p:cNvGrpSpPr/>
          <p:nvPr/>
        </p:nvGrpSpPr>
        <p:grpSpPr>
          <a:xfrm>
            <a:off x="6486751" y="4356793"/>
            <a:ext cx="752715" cy="748493"/>
            <a:chOff x="4462145" y="450020"/>
            <a:chExt cx="801261" cy="903352"/>
          </a:xfrm>
        </p:grpSpPr>
        <p:pic>
          <p:nvPicPr>
            <p:cNvPr id="34" name="Picture 33">
              <a:extLst>
                <a:ext uri="{FF2B5EF4-FFF2-40B4-BE49-F238E27FC236}">
                  <a16:creationId xmlns:a16="http://schemas.microsoft.com/office/drawing/2014/main" id="{D99B9DB2-1905-7ACA-6877-1E232C3C2C0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5" name="TextBox 34">
              <a:extLst>
                <a:ext uri="{FF2B5EF4-FFF2-40B4-BE49-F238E27FC236}">
                  <a16:creationId xmlns:a16="http://schemas.microsoft.com/office/drawing/2014/main" id="{09D1D1E6-6F63-7B11-AF96-CB6D260FAFC9}"/>
                </a:ext>
              </a:extLst>
            </p:cNvPr>
            <p:cNvSpPr txBox="1"/>
            <p:nvPr/>
          </p:nvSpPr>
          <p:spPr>
            <a:xfrm>
              <a:off x="4704080" y="708024"/>
              <a:ext cx="375920" cy="445745"/>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3</a:t>
              </a:r>
            </a:p>
          </p:txBody>
        </p:sp>
      </p:grpSp>
      <p:grpSp>
        <p:nvGrpSpPr>
          <p:cNvPr id="15" name="Group 14">
            <a:extLst>
              <a:ext uri="{FF2B5EF4-FFF2-40B4-BE49-F238E27FC236}">
                <a16:creationId xmlns:a16="http://schemas.microsoft.com/office/drawing/2014/main" id="{9418FA7D-6FC7-4E0F-9FD4-1011572067D4}"/>
              </a:ext>
            </a:extLst>
          </p:cNvPr>
          <p:cNvGrpSpPr/>
          <p:nvPr/>
        </p:nvGrpSpPr>
        <p:grpSpPr>
          <a:xfrm>
            <a:off x="6431265" y="3709371"/>
            <a:ext cx="4865561" cy="661583"/>
            <a:chOff x="5998798" y="1737362"/>
            <a:chExt cx="1713901" cy="2844795"/>
          </a:xfrm>
          <a:solidFill>
            <a:schemeClr val="accent4">
              <a:lumMod val="20000"/>
              <a:lumOff val="80000"/>
            </a:schemeClr>
          </a:solidFill>
        </p:grpSpPr>
        <p:sp>
          <p:nvSpPr>
            <p:cNvPr id="16" name="Rectangle: Rounded Corners 15">
              <a:extLst>
                <a:ext uri="{FF2B5EF4-FFF2-40B4-BE49-F238E27FC236}">
                  <a16:creationId xmlns:a16="http://schemas.microsoft.com/office/drawing/2014/main" id="{CC2022BF-D2BA-3D41-6C5C-69EC78FC16C7}"/>
                </a:ext>
              </a:extLst>
            </p:cNvPr>
            <p:cNvSpPr/>
            <p:nvPr/>
          </p:nvSpPr>
          <p:spPr>
            <a:xfrm>
              <a:off x="5998798" y="1737362"/>
              <a:ext cx="1713901" cy="2844795"/>
            </a:xfrm>
            <a:prstGeom prst="roundRect">
              <a:avLst/>
            </a:prstGeom>
            <a:grpFill/>
            <a:ln>
              <a:solidFill>
                <a:schemeClr val="tx2">
                  <a:lumMod val="10000"/>
                  <a:lumOff val="9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latin typeface="Sassoon Infant Rg" panose="02000503030000020003" pitchFamily="2" charset="0"/>
                <a:ea typeface="Sassoon Infant Rg" panose="02000503030000020003" pitchFamily="2" charset="0"/>
              </a:endParaRPr>
            </a:p>
          </p:txBody>
        </p:sp>
        <p:sp>
          <p:nvSpPr>
            <p:cNvPr id="17" name="Rectangle: Rounded Corners 4">
              <a:extLst>
                <a:ext uri="{FF2B5EF4-FFF2-40B4-BE49-F238E27FC236}">
                  <a16:creationId xmlns:a16="http://schemas.microsoft.com/office/drawing/2014/main" id="{3EDD6F9A-80BC-C13A-CC40-01521556799E}"/>
                </a:ext>
              </a:extLst>
            </p:cNvPr>
            <p:cNvSpPr txBox="1"/>
            <p:nvPr/>
          </p:nvSpPr>
          <p:spPr>
            <a:xfrm>
              <a:off x="6082464" y="1821028"/>
              <a:ext cx="1546569" cy="2344261"/>
            </a:xfrm>
            <a:prstGeom prst="rect">
              <a:avLst/>
            </a:prstGeom>
            <a:grpFill/>
            <a:ln>
              <a:solidFill>
                <a:schemeClr val="tx2">
                  <a:lumMod val="10000"/>
                  <a:lumOff val="90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6" name="Group 35">
            <a:extLst>
              <a:ext uri="{FF2B5EF4-FFF2-40B4-BE49-F238E27FC236}">
                <a16:creationId xmlns:a16="http://schemas.microsoft.com/office/drawing/2014/main" id="{55577502-0713-005C-FC5D-DD376A9A2967}"/>
              </a:ext>
            </a:extLst>
          </p:cNvPr>
          <p:cNvGrpSpPr/>
          <p:nvPr/>
        </p:nvGrpSpPr>
        <p:grpSpPr>
          <a:xfrm>
            <a:off x="6514242" y="3640129"/>
            <a:ext cx="752715" cy="748493"/>
            <a:chOff x="4462145" y="450020"/>
            <a:chExt cx="801261" cy="903352"/>
          </a:xfrm>
        </p:grpSpPr>
        <p:pic>
          <p:nvPicPr>
            <p:cNvPr id="37" name="Picture 36">
              <a:extLst>
                <a:ext uri="{FF2B5EF4-FFF2-40B4-BE49-F238E27FC236}">
                  <a16:creationId xmlns:a16="http://schemas.microsoft.com/office/drawing/2014/main" id="{6544C391-D35E-F42B-C677-352C731368A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8" name="TextBox 37">
              <a:extLst>
                <a:ext uri="{FF2B5EF4-FFF2-40B4-BE49-F238E27FC236}">
                  <a16:creationId xmlns:a16="http://schemas.microsoft.com/office/drawing/2014/main" id="{49D2403B-89A2-8B22-50FB-ACAA2CC8519E}"/>
                </a:ext>
              </a:extLst>
            </p:cNvPr>
            <p:cNvSpPr txBox="1"/>
            <p:nvPr/>
          </p:nvSpPr>
          <p:spPr>
            <a:xfrm>
              <a:off x="4704080" y="708024"/>
              <a:ext cx="375920" cy="445745"/>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4</a:t>
              </a:r>
            </a:p>
          </p:txBody>
        </p:sp>
      </p:grpSp>
      <p:grpSp>
        <p:nvGrpSpPr>
          <p:cNvPr id="23" name="Group 22">
            <a:extLst>
              <a:ext uri="{FF2B5EF4-FFF2-40B4-BE49-F238E27FC236}">
                <a16:creationId xmlns:a16="http://schemas.microsoft.com/office/drawing/2014/main" id="{2D58D09A-5EFA-A312-AA1B-59FACE901CC6}"/>
              </a:ext>
            </a:extLst>
          </p:cNvPr>
          <p:cNvGrpSpPr/>
          <p:nvPr/>
        </p:nvGrpSpPr>
        <p:grpSpPr>
          <a:xfrm>
            <a:off x="6532989" y="2319424"/>
            <a:ext cx="4791567" cy="745161"/>
            <a:chOff x="1999694" y="1717038"/>
            <a:chExt cx="1713901" cy="2885442"/>
          </a:xfrm>
        </p:grpSpPr>
        <p:sp>
          <p:nvSpPr>
            <p:cNvPr id="24" name="Rectangle: Rounded Corners 23">
              <a:extLst>
                <a:ext uri="{FF2B5EF4-FFF2-40B4-BE49-F238E27FC236}">
                  <a16:creationId xmlns:a16="http://schemas.microsoft.com/office/drawing/2014/main" id="{4DDDC8B3-6D40-50FA-A700-C6A6988BAC91}"/>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latin typeface="Sassoon Infant Rg" panose="02000503030000020003" pitchFamily="2" charset="0"/>
                <a:ea typeface="Sassoon Infant Rg" panose="02000503030000020003" pitchFamily="2" charset="0"/>
              </a:endParaRPr>
            </a:p>
          </p:txBody>
        </p:sp>
        <p:sp>
          <p:nvSpPr>
            <p:cNvPr id="25" name="Rectangle: Rounded Corners 4">
              <a:extLst>
                <a:ext uri="{FF2B5EF4-FFF2-40B4-BE49-F238E27FC236}">
                  <a16:creationId xmlns:a16="http://schemas.microsoft.com/office/drawing/2014/main" id="{14E3D7F0-7051-695E-6749-3D13F35E86A3}"/>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42" name="Group 41">
            <a:extLst>
              <a:ext uri="{FF2B5EF4-FFF2-40B4-BE49-F238E27FC236}">
                <a16:creationId xmlns:a16="http://schemas.microsoft.com/office/drawing/2014/main" id="{1C0C9FF8-F094-7654-F47A-5FC354387BDD}"/>
              </a:ext>
            </a:extLst>
          </p:cNvPr>
          <p:cNvGrpSpPr/>
          <p:nvPr/>
        </p:nvGrpSpPr>
        <p:grpSpPr>
          <a:xfrm>
            <a:off x="6467851" y="2298689"/>
            <a:ext cx="752715" cy="748493"/>
            <a:chOff x="1721712" y="2823332"/>
            <a:chExt cx="801261" cy="903352"/>
          </a:xfrm>
        </p:grpSpPr>
        <p:pic>
          <p:nvPicPr>
            <p:cNvPr id="43" name="Picture 42">
              <a:extLst>
                <a:ext uri="{FF2B5EF4-FFF2-40B4-BE49-F238E27FC236}">
                  <a16:creationId xmlns:a16="http://schemas.microsoft.com/office/drawing/2014/main" id="{A471F374-64F9-2DCC-8CF6-796837FB600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1721712" y="2823332"/>
              <a:ext cx="801261" cy="903352"/>
            </a:xfrm>
            <a:prstGeom prst="rect">
              <a:avLst/>
            </a:prstGeom>
          </p:spPr>
        </p:pic>
        <p:sp>
          <p:nvSpPr>
            <p:cNvPr id="44" name="TextBox 43">
              <a:extLst>
                <a:ext uri="{FF2B5EF4-FFF2-40B4-BE49-F238E27FC236}">
                  <a16:creationId xmlns:a16="http://schemas.microsoft.com/office/drawing/2014/main" id="{C01FA5D8-D6CE-6AC1-0138-799F9D0413DA}"/>
                </a:ext>
              </a:extLst>
            </p:cNvPr>
            <p:cNvSpPr txBox="1"/>
            <p:nvPr/>
          </p:nvSpPr>
          <p:spPr>
            <a:xfrm>
              <a:off x="1959488" y="3052738"/>
              <a:ext cx="375920" cy="445745"/>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6</a:t>
              </a:r>
            </a:p>
          </p:txBody>
        </p:sp>
      </p:grpSp>
      <p:grpSp>
        <p:nvGrpSpPr>
          <p:cNvPr id="18" name="Group 17">
            <a:extLst>
              <a:ext uri="{FF2B5EF4-FFF2-40B4-BE49-F238E27FC236}">
                <a16:creationId xmlns:a16="http://schemas.microsoft.com/office/drawing/2014/main" id="{0E08F2F7-17D1-8B6E-E55D-A007872F2D8D}"/>
              </a:ext>
            </a:extLst>
          </p:cNvPr>
          <p:cNvGrpSpPr/>
          <p:nvPr/>
        </p:nvGrpSpPr>
        <p:grpSpPr>
          <a:xfrm>
            <a:off x="6419256" y="3046473"/>
            <a:ext cx="4827428" cy="661583"/>
            <a:chOff x="7998350" y="1737362"/>
            <a:chExt cx="1713901" cy="2844795"/>
          </a:xfrm>
        </p:grpSpPr>
        <p:sp>
          <p:nvSpPr>
            <p:cNvPr id="19" name="Rectangle: Rounded Corners 18">
              <a:extLst>
                <a:ext uri="{FF2B5EF4-FFF2-40B4-BE49-F238E27FC236}">
                  <a16:creationId xmlns:a16="http://schemas.microsoft.com/office/drawing/2014/main" id="{CBDFA5F7-311F-67AD-ECEE-80079CCFBA7F}"/>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latin typeface="Sassoon Infant Rg" panose="02000503030000020003" pitchFamily="2" charset="0"/>
                <a:ea typeface="Sassoon Infant Rg" panose="02000503030000020003" pitchFamily="2" charset="0"/>
              </a:endParaRPr>
            </a:p>
          </p:txBody>
        </p:sp>
        <p:sp>
          <p:nvSpPr>
            <p:cNvPr id="20" name="Rectangle: Rounded Corners 4">
              <a:extLst>
                <a:ext uri="{FF2B5EF4-FFF2-40B4-BE49-F238E27FC236}">
                  <a16:creationId xmlns:a16="http://schemas.microsoft.com/office/drawing/2014/main" id="{FF033578-3835-00A6-76E4-C0AB1A3A5523}"/>
                </a:ext>
              </a:extLst>
            </p:cNvPr>
            <p:cNvSpPr txBox="1"/>
            <p:nvPr/>
          </p:nvSpPr>
          <p:spPr>
            <a:xfrm>
              <a:off x="8082016" y="1821028"/>
              <a:ext cx="1546569" cy="26774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9" name="Group 38">
            <a:extLst>
              <a:ext uri="{FF2B5EF4-FFF2-40B4-BE49-F238E27FC236}">
                <a16:creationId xmlns:a16="http://schemas.microsoft.com/office/drawing/2014/main" id="{F906C794-CBDA-5E92-00C0-FBAACD94F2CF}"/>
              </a:ext>
            </a:extLst>
          </p:cNvPr>
          <p:cNvGrpSpPr/>
          <p:nvPr/>
        </p:nvGrpSpPr>
        <p:grpSpPr>
          <a:xfrm>
            <a:off x="6499917" y="2981007"/>
            <a:ext cx="752715" cy="748493"/>
            <a:chOff x="4462145" y="450020"/>
            <a:chExt cx="801261" cy="903352"/>
          </a:xfrm>
        </p:grpSpPr>
        <p:pic>
          <p:nvPicPr>
            <p:cNvPr id="40" name="Picture 39">
              <a:extLst>
                <a:ext uri="{FF2B5EF4-FFF2-40B4-BE49-F238E27FC236}">
                  <a16:creationId xmlns:a16="http://schemas.microsoft.com/office/drawing/2014/main" id="{F30C9D78-DEA7-D2FF-0B4F-31B55B4BDC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41" name="TextBox 40">
              <a:extLst>
                <a:ext uri="{FF2B5EF4-FFF2-40B4-BE49-F238E27FC236}">
                  <a16:creationId xmlns:a16="http://schemas.microsoft.com/office/drawing/2014/main" id="{0D6C8624-9EE7-7922-98AF-74074B7680EE}"/>
                </a:ext>
              </a:extLst>
            </p:cNvPr>
            <p:cNvSpPr txBox="1"/>
            <p:nvPr/>
          </p:nvSpPr>
          <p:spPr>
            <a:xfrm>
              <a:off x="4704080" y="708024"/>
              <a:ext cx="375920" cy="445745"/>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5</a:t>
              </a:r>
            </a:p>
          </p:txBody>
        </p:sp>
      </p:grpSp>
      <p:sp>
        <p:nvSpPr>
          <p:cNvPr id="138" name="Frame 137">
            <a:extLst>
              <a:ext uri="{FF2B5EF4-FFF2-40B4-BE49-F238E27FC236}">
                <a16:creationId xmlns:a16="http://schemas.microsoft.com/office/drawing/2014/main" id="{040ED884-9876-7B47-E6C1-3771685A56BA}"/>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Sassoon Infant Rg" panose="02000503030000020003" pitchFamily="2" charset="0"/>
              <a:ea typeface="Sassoon Infant Rg" panose="02000503030000020003" pitchFamily="2" charset="0"/>
            </a:endParaRPr>
          </a:p>
        </p:txBody>
      </p:sp>
      <p:sp>
        <p:nvSpPr>
          <p:cNvPr id="204" name="TextBox 203">
            <a:extLst>
              <a:ext uri="{FF2B5EF4-FFF2-40B4-BE49-F238E27FC236}">
                <a16:creationId xmlns:a16="http://schemas.microsoft.com/office/drawing/2014/main" id="{7E13A81B-D245-267E-8C47-6DB275C94D37}"/>
              </a:ext>
            </a:extLst>
          </p:cNvPr>
          <p:cNvSpPr txBox="1"/>
          <p:nvPr/>
        </p:nvSpPr>
        <p:spPr>
          <a:xfrm>
            <a:off x="1271961" y="224090"/>
            <a:ext cx="2438400" cy="830997"/>
          </a:xfrm>
          <a:prstGeom prst="rect">
            <a:avLst/>
          </a:prstGeom>
          <a:noFill/>
        </p:spPr>
        <p:txBody>
          <a:bodyPr wrap="square">
            <a:spAutoFit/>
          </a:bodyPr>
          <a:lstStyle/>
          <a:p>
            <a:pPr algn="l" rtl="0" fontAlgn="base"/>
            <a:r>
              <a:rPr lang="en-GB" sz="2400" b="1" i="0">
                <a:solidFill>
                  <a:srgbClr val="000000"/>
                </a:solidFill>
                <a:effectLst/>
                <a:latin typeface="Sassoon Infant Rg" panose="02000503030000020003" pitchFamily="2" charset="0"/>
                <a:ea typeface="Sassoon Infant Rg" panose="02000503030000020003" pitchFamily="2" charset="0"/>
              </a:rPr>
              <a:t>What is Physics?</a:t>
            </a:r>
            <a:r>
              <a:rPr lang="en-GB" sz="2400" b="0" i="0">
                <a:solidFill>
                  <a:srgbClr val="000000"/>
                </a:solidFill>
                <a:effectLst/>
                <a:latin typeface="Sassoon Infant Rg" panose="02000503030000020003" pitchFamily="2" charset="0"/>
                <a:ea typeface="Sassoon Infant Rg" panose="02000503030000020003" pitchFamily="2" charset="0"/>
              </a:rPr>
              <a:t> </a:t>
            </a:r>
            <a:endParaRPr lang="en-GB" sz="6000" b="0" i="0">
              <a:solidFill>
                <a:srgbClr val="000000"/>
              </a:solidFill>
              <a:effectLst/>
              <a:latin typeface="Sassoon Infant Rg" panose="02000503030000020003" pitchFamily="2" charset="0"/>
              <a:ea typeface="Sassoon Infant Rg" panose="02000503030000020003" pitchFamily="2" charset="0"/>
            </a:endParaRPr>
          </a:p>
          <a:p>
            <a:pPr algn="l" rtl="0" fontAlgn="base"/>
            <a:r>
              <a:rPr lang="en-GB" sz="2400" b="0" i="0">
                <a:solidFill>
                  <a:srgbClr val="000000"/>
                </a:solidFill>
                <a:effectLst/>
                <a:latin typeface="Sassoon Infant Rg" panose="02000503030000020003" pitchFamily="2" charset="0"/>
                <a:ea typeface="Sassoon Infant Rg" panose="02000503030000020003" pitchFamily="2" charset="0"/>
              </a:rPr>
              <a:t> </a:t>
            </a:r>
            <a:endParaRPr lang="en-GB" sz="6000" b="0" i="0">
              <a:solidFill>
                <a:srgbClr val="000000"/>
              </a:solidFill>
              <a:effectLst/>
              <a:latin typeface="Sassoon Infant Rg" panose="02000503030000020003" pitchFamily="2" charset="0"/>
              <a:ea typeface="Sassoon Infant Rg" panose="02000503030000020003" pitchFamily="2" charset="0"/>
            </a:endParaRPr>
          </a:p>
        </p:txBody>
      </p:sp>
      <p:pic>
        <p:nvPicPr>
          <p:cNvPr id="269" name="Picture 268">
            <a:extLst>
              <a:ext uri="{FF2B5EF4-FFF2-40B4-BE49-F238E27FC236}">
                <a16:creationId xmlns:a16="http://schemas.microsoft.com/office/drawing/2014/main" id="{9AC1E345-6F8D-E3A7-8C2F-039D61E547F0}"/>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144316" y="105448"/>
            <a:ext cx="1104848" cy="856471"/>
          </a:xfrm>
          <a:prstGeom prst="rect">
            <a:avLst/>
          </a:prstGeom>
        </p:spPr>
      </p:pic>
      <p:grpSp>
        <p:nvGrpSpPr>
          <p:cNvPr id="306" name="Group 305">
            <a:extLst>
              <a:ext uri="{FF2B5EF4-FFF2-40B4-BE49-F238E27FC236}">
                <a16:creationId xmlns:a16="http://schemas.microsoft.com/office/drawing/2014/main" id="{E88EA99D-2498-1863-272F-E4092A0BFD05}"/>
              </a:ext>
            </a:extLst>
          </p:cNvPr>
          <p:cNvGrpSpPr/>
          <p:nvPr/>
        </p:nvGrpSpPr>
        <p:grpSpPr>
          <a:xfrm>
            <a:off x="6524130" y="5781853"/>
            <a:ext cx="4791569" cy="706284"/>
            <a:chOff x="7998350" y="1737362"/>
            <a:chExt cx="1713901" cy="2844795"/>
          </a:xfrm>
        </p:grpSpPr>
        <p:sp>
          <p:nvSpPr>
            <p:cNvPr id="307" name="Rectangle: Rounded Corners 306">
              <a:extLst>
                <a:ext uri="{FF2B5EF4-FFF2-40B4-BE49-F238E27FC236}">
                  <a16:creationId xmlns:a16="http://schemas.microsoft.com/office/drawing/2014/main" id="{5AECC87F-E6EB-6153-026E-BA4482E7FE50}"/>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latin typeface="Sassoon Infant Rg" panose="02000503030000020003" pitchFamily="2" charset="0"/>
                <a:ea typeface="Sassoon Infant Rg" panose="02000503030000020003" pitchFamily="2" charset="0"/>
              </a:endParaRPr>
            </a:p>
          </p:txBody>
        </p:sp>
        <p:sp>
          <p:nvSpPr>
            <p:cNvPr id="308" name="Rectangle: Rounded Corners 4">
              <a:extLst>
                <a:ext uri="{FF2B5EF4-FFF2-40B4-BE49-F238E27FC236}">
                  <a16:creationId xmlns:a16="http://schemas.microsoft.com/office/drawing/2014/main" id="{962A9BE5-3191-EB61-9581-AF38DD1B8ABE}"/>
                </a:ext>
              </a:extLst>
            </p:cNvPr>
            <p:cNvSpPr txBox="1"/>
            <p:nvPr/>
          </p:nvSpPr>
          <p:spPr>
            <a:xfrm>
              <a:off x="8082016" y="1821028"/>
              <a:ext cx="1546569" cy="26774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algn="ctr"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Magnetism</a:t>
              </a:r>
              <a:endParaRPr lang="en-GB" sz="2000" kern="1200">
                <a:solidFill>
                  <a:schemeClr val="tx1"/>
                </a:solidFill>
                <a:latin typeface="Sassoon Infant Rg" panose="02000503030000020003" pitchFamily="2" charset="0"/>
                <a:ea typeface="Sassoon Infant Rg" panose="02000503030000020003" pitchFamily="2" charset="0"/>
              </a:endParaRPr>
            </a:p>
          </p:txBody>
        </p:sp>
      </p:grpSp>
      <p:grpSp>
        <p:nvGrpSpPr>
          <p:cNvPr id="312" name="Group 311">
            <a:extLst>
              <a:ext uri="{FF2B5EF4-FFF2-40B4-BE49-F238E27FC236}">
                <a16:creationId xmlns:a16="http://schemas.microsoft.com/office/drawing/2014/main" id="{3CE127BA-564B-5280-CA1B-B28AED98EE24}"/>
              </a:ext>
            </a:extLst>
          </p:cNvPr>
          <p:cNvGrpSpPr/>
          <p:nvPr/>
        </p:nvGrpSpPr>
        <p:grpSpPr>
          <a:xfrm>
            <a:off x="6569485" y="5750072"/>
            <a:ext cx="752715" cy="748493"/>
            <a:chOff x="6450334" y="5317226"/>
            <a:chExt cx="801261" cy="903352"/>
          </a:xfrm>
        </p:grpSpPr>
        <p:sp>
          <p:nvSpPr>
            <p:cNvPr id="29" name="TextBox 28">
              <a:extLst>
                <a:ext uri="{FF2B5EF4-FFF2-40B4-BE49-F238E27FC236}">
                  <a16:creationId xmlns:a16="http://schemas.microsoft.com/office/drawing/2014/main" id="{AE6BC9D0-6E57-9241-5A20-50360ACC327E}"/>
                </a:ext>
              </a:extLst>
            </p:cNvPr>
            <p:cNvSpPr txBox="1"/>
            <p:nvPr/>
          </p:nvSpPr>
          <p:spPr>
            <a:xfrm>
              <a:off x="6671572" y="5599207"/>
              <a:ext cx="389673" cy="445745"/>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1</a:t>
              </a:r>
            </a:p>
          </p:txBody>
        </p:sp>
        <p:pic>
          <p:nvPicPr>
            <p:cNvPr id="310" name="Picture 309">
              <a:extLst>
                <a:ext uri="{FF2B5EF4-FFF2-40B4-BE49-F238E27FC236}">
                  <a16:creationId xmlns:a16="http://schemas.microsoft.com/office/drawing/2014/main" id="{33B3F6CA-10D2-96E0-0BB6-F6D82B2911E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6450334" y="5317226"/>
              <a:ext cx="801261" cy="903352"/>
            </a:xfrm>
            <a:prstGeom prst="rect">
              <a:avLst/>
            </a:prstGeom>
          </p:spPr>
        </p:pic>
      </p:grpSp>
      <p:sp>
        <p:nvSpPr>
          <p:cNvPr id="320" name="Freeform: Shape 319">
            <a:extLst>
              <a:ext uri="{FF2B5EF4-FFF2-40B4-BE49-F238E27FC236}">
                <a16:creationId xmlns:a16="http://schemas.microsoft.com/office/drawing/2014/main" id="{F16D635F-3D04-4E40-5618-13747C01C452}"/>
              </a:ext>
            </a:extLst>
          </p:cNvPr>
          <p:cNvSpPr/>
          <p:nvPr/>
        </p:nvSpPr>
        <p:spPr>
          <a:xfrm>
            <a:off x="5838826" y="1098925"/>
            <a:ext cx="6099174" cy="5606668"/>
          </a:xfrm>
          <a:custGeom>
            <a:avLst/>
            <a:gdLst>
              <a:gd name="connsiteX0" fmla="*/ 513624 w 514349"/>
              <a:gd name="connsiteY0" fmla="*/ 5877 h 571500"/>
              <a:gd name="connsiteX1" fmla="*/ 504823 w 514349"/>
              <a:gd name="connsiteY1" fmla="*/ 0 h 571500"/>
              <a:gd name="connsiteX2" fmla="*/ 9523 w 514349"/>
              <a:gd name="connsiteY2" fmla="*/ 0 h 571500"/>
              <a:gd name="connsiteX3" fmla="*/ 0 w 514349"/>
              <a:gd name="connsiteY3" fmla="*/ 9527 h 571500"/>
              <a:gd name="connsiteX4" fmla="*/ 2789 w 514349"/>
              <a:gd name="connsiteY4" fmla="*/ 16259 h 571500"/>
              <a:gd name="connsiteX5" fmla="*/ 24144 w 514349"/>
              <a:gd name="connsiteY5" fmla="*/ 37624 h 571500"/>
              <a:gd name="connsiteX6" fmla="*/ 38098 w 514349"/>
              <a:gd name="connsiteY6" fmla="*/ 71295 h 571500"/>
              <a:gd name="connsiteX7" fmla="*/ 38098 w 514349"/>
              <a:gd name="connsiteY7" fmla="*/ 523875 h 571500"/>
              <a:gd name="connsiteX8" fmla="*/ 85723 w 514349"/>
              <a:gd name="connsiteY8" fmla="*/ 571500 h 571500"/>
              <a:gd name="connsiteX9" fmla="*/ 428623 w 514349"/>
              <a:gd name="connsiteY9" fmla="*/ 571500 h 571500"/>
              <a:gd name="connsiteX10" fmla="*/ 476248 w 514349"/>
              <a:gd name="connsiteY10" fmla="*/ 523875 h 571500"/>
              <a:gd name="connsiteX11" fmla="*/ 476248 w 514349"/>
              <a:gd name="connsiteY11" fmla="*/ 71295 h 571500"/>
              <a:gd name="connsiteX12" fmla="*/ 490202 w 514349"/>
              <a:gd name="connsiteY12" fmla="*/ 37624 h 571500"/>
              <a:gd name="connsiteX13" fmla="*/ 511557 w 514349"/>
              <a:gd name="connsiteY13" fmla="*/ 16259 h 571500"/>
              <a:gd name="connsiteX14" fmla="*/ 513624 w 514349"/>
              <a:gd name="connsiteY14" fmla="*/ 5877 h 571500"/>
              <a:gd name="connsiteX15" fmla="*/ 428623 w 514349"/>
              <a:gd name="connsiteY15" fmla="*/ 552450 h 571500"/>
              <a:gd name="connsiteX16" fmla="*/ 85723 w 514349"/>
              <a:gd name="connsiteY16" fmla="*/ 552450 h 571500"/>
              <a:gd name="connsiteX17" fmla="*/ 57148 w 514349"/>
              <a:gd name="connsiteY17" fmla="*/ 523875 h 571500"/>
              <a:gd name="connsiteX18" fmla="*/ 57148 w 514349"/>
              <a:gd name="connsiteY18" fmla="*/ 123739 h 571500"/>
              <a:gd name="connsiteX19" fmla="*/ 234113 w 514349"/>
              <a:gd name="connsiteY19" fmla="*/ 100013 h 571500"/>
              <a:gd name="connsiteX20" fmla="*/ 323848 w 514349"/>
              <a:gd name="connsiteY20" fmla="*/ 85725 h 571500"/>
              <a:gd name="connsiteX21" fmla="*/ 438348 w 514349"/>
              <a:gd name="connsiteY21" fmla="*/ 106804 h 571500"/>
              <a:gd name="connsiteX22" fmla="*/ 457198 w 514349"/>
              <a:gd name="connsiteY22" fmla="*/ 112919 h 571500"/>
              <a:gd name="connsiteX23" fmla="*/ 457198 w 514349"/>
              <a:gd name="connsiteY23" fmla="*/ 523875 h 571500"/>
              <a:gd name="connsiteX24" fmla="*/ 428623 w 514349"/>
              <a:gd name="connsiteY24" fmla="*/ 552450 h 571500"/>
              <a:gd name="connsiteX25" fmla="*/ 476715 w 514349"/>
              <a:gd name="connsiteY25" fmla="*/ 24165 h 571500"/>
              <a:gd name="connsiteX26" fmla="*/ 457198 w 514349"/>
              <a:gd name="connsiteY26" fmla="*/ 71295 h 571500"/>
              <a:gd name="connsiteX27" fmla="*/ 457198 w 514349"/>
              <a:gd name="connsiteY27" fmla="*/ 93202 h 571500"/>
              <a:gd name="connsiteX28" fmla="*/ 444816 w 514349"/>
              <a:gd name="connsiteY28" fmla="*/ 88897 h 571500"/>
              <a:gd name="connsiteX29" fmla="*/ 323848 w 514349"/>
              <a:gd name="connsiteY29" fmla="*/ 66675 h 571500"/>
              <a:gd name="connsiteX30" fmla="*/ 229312 w 514349"/>
              <a:gd name="connsiteY30" fmla="*/ 81563 h 571500"/>
              <a:gd name="connsiteX31" fmla="*/ 57148 w 514349"/>
              <a:gd name="connsiteY31" fmla="*/ 104699 h 571500"/>
              <a:gd name="connsiteX32" fmla="*/ 57148 w 514349"/>
              <a:gd name="connsiteY32" fmla="*/ 71295 h 571500"/>
              <a:gd name="connsiteX33" fmla="*/ 37641 w 514349"/>
              <a:gd name="connsiteY33" fmla="*/ 24184 h 571500"/>
              <a:gd name="connsiteX34" fmla="*/ 32678 w 514349"/>
              <a:gd name="connsiteY34" fmla="*/ 19212 h 571500"/>
              <a:gd name="connsiteX35" fmla="*/ 32745 w 514349"/>
              <a:gd name="connsiteY35" fmla="*/ 19050 h 571500"/>
              <a:gd name="connsiteX36" fmla="*/ 481601 w 514349"/>
              <a:gd name="connsiteY36" fmla="*/ 19050 h 571500"/>
              <a:gd name="connsiteX37" fmla="*/ 481668 w 514349"/>
              <a:gd name="connsiteY37" fmla="*/ 19212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14349" h="571500">
                <a:moveTo>
                  <a:pt x="513624" y="5877"/>
                </a:moveTo>
                <a:cubicBezTo>
                  <a:pt x="512149" y="2318"/>
                  <a:pt x="508675" y="-1"/>
                  <a:pt x="504823" y="0"/>
                </a:cubicBezTo>
                <a:lnTo>
                  <a:pt x="9523" y="0"/>
                </a:lnTo>
                <a:cubicBezTo>
                  <a:pt x="4262" y="1"/>
                  <a:pt x="-1" y="4266"/>
                  <a:pt x="0" y="9527"/>
                </a:cubicBezTo>
                <a:cubicBezTo>
                  <a:pt x="1" y="12052"/>
                  <a:pt x="1004" y="14473"/>
                  <a:pt x="2789" y="16259"/>
                </a:cubicBezTo>
                <a:lnTo>
                  <a:pt x="24144" y="37624"/>
                </a:lnTo>
                <a:cubicBezTo>
                  <a:pt x="33105" y="46533"/>
                  <a:pt x="38130" y="58658"/>
                  <a:pt x="38098" y="71295"/>
                </a:cubicBezTo>
                <a:lnTo>
                  <a:pt x="38098" y="523875"/>
                </a:lnTo>
                <a:cubicBezTo>
                  <a:pt x="38130" y="550165"/>
                  <a:pt x="59433" y="571469"/>
                  <a:pt x="85723" y="571500"/>
                </a:cubicBezTo>
                <a:lnTo>
                  <a:pt x="428623" y="571500"/>
                </a:lnTo>
                <a:cubicBezTo>
                  <a:pt x="454913" y="571469"/>
                  <a:pt x="476217" y="550165"/>
                  <a:pt x="476248" y="523875"/>
                </a:cubicBezTo>
                <a:lnTo>
                  <a:pt x="476248" y="71295"/>
                </a:lnTo>
                <a:cubicBezTo>
                  <a:pt x="476216" y="58658"/>
                  <a:pt x="481241" y="46533"/>
                  <a:pt x="490202" y="37624"/>
                </a:cubicBezTo>
                <a:lnTo>
                  <a:pt x="511557" y="16259"/>
                </a:lnTo>
                <a:cubicBezTo>
                  <a:pt x="514283" y="13535"/>
                  <a:pt x="515099" y="9437"/>
                  <a:pt x="513624" y="5877"/>
                </a:cubicBezTo>
                <a:close/>
                <a:moveTo>
                  <a:pt x="428623" y="552450"/>
                </a:moveTo>
                <a:lnTo>
                  <a:pt x="85723" y="552450"/>
                </a:lnTo>
                <a:cubicBezTo>
                  <a:pt x="69941" y="552450"/>
                  <a:pt x="57148" y="539657"/>
                  <a:pt x="57148" y="523875"/>
                </a:cubicBezTo>
                <a:lnTo>
                  <a:pt x="57148" y="123739"/>
                </a:lnTo>
                <a:cubicBezTo>
                  <a:pt x="116951" y="124062"/>
                  <a:pt x="176508" y="116077"/>
                  <a:pt x="234113" y="100013"/>
                </a:cubicBezTo>
                <a:cubicBezTo>
                  <a:pt x="263218" y="91110"/>
                  <a:pt x="293419" y="86302"/>
                  <a:pt x="323848" y="85725"/>
                </a:cubicBezTo>
                <a:cubicBezTo>
                  <a:pt x="363013" y="85345"/>
                  <a:pt x="401885" y="92501"/>
                  <a:pt x="438348" y="106804"/>
                </a:cubicBezTo>
                <a:cubicBezTo>
                  <a:pt x="444517" y="109177"/>
                  <a:pt x="450811" y="111219"/>
                  <a:pt x="457198" y="112919"/>
                </a:cubicBezTo>
                <a:lnTo>
                  <a:pt x="457198" y="523875"/>
                </a:lnTo>
                <a:cubicBezTo>
                  <a:pt x="457198" y="539657"/>
                  <a:pt x="444405" y="552450"/>
                  <a:pt x="428623" y="552450"/>
                </a:cubicBezTo>
                <a:close/>
                <a:moveTo>
                  <a:pt x="476715" y="24165"/>
                </a:moveTo>
                <a:cubicBezTo>
                  <a:pt x="464219" y="36666"/>
                  <a:pt x="457199" y="53619"/>
                  <a:pt x="457198" y="71295"/>
                </a:cubicBezTo>
                <a:lnTo>
                  <a:pt x="457198" y="93202"/>
                </a:lnTo>
                <a:cubicBezTo>
                  <a:pt x="453626" y="92069"/>
                  <a:pt x="449492" y="90583"/>
                  <a:pt x="444816" y="88897"/>
                </a:cubicBezTo>
                <a:cubicBezTo>
                  <a:pt x="406263" y="73898"/>
                  <a:pt x="365214" y="66357"/>
                  <a:pt x="323848" y="66675"/>
                </a:cubicBezTo>
                <a:cubicBezTo>
                  <a:pt x="291796" y="67197"/>
                  <a:pt x="259974" y="72208"/>
                  <a:pt x="229312" y="81563"/>
                </a:cubicBezTo>
                <a:cubicBezTo>
                  <a:pt x="173292" y="97306"/>
                  <a:pt x="115337" y="105093"/>
                  <a:pt x="57148" y="104699"/>
                </a:cubicBezTo>
                <a:lnTo>
                  <a:pt x="57148" y="71295"/>
                </a:lnTo>
                <a:cubicBezTo>
                  <a:pt x="57151" y="53626"/>
                  <a:pt x="50134" y="36679"/>
                  <a:pt x="37641" y="24184"/>
                </a:cubicBezTo>
                <a:lnTo>
                  <a:pt x="32678" y="19212"/>
                </a:lnTo>
                <a:cubicBezTo>
                  <a:pt x="32593" y="19126"/>
                  <a:pt x="32621" y="19050"/>
                  <a:pt x="32745" y="19050"/>
                </a:cubicBezTo>
                <a:lnTo>
                  <a:pt x="481601" y="19050"/>
                </a:lnTo>
                <a:cubicBezTo>
                  <a:pt x="481725" y="19050"/>
                  <a:pt x="481754" y="19126"/>
                  <a:pt x="481668" y="19212"/>
                </a:cubicBezTo>
                <a:close/>
              </a:path>
            </a:pathLst>
          </a:custGeom>
          <a:solidFill>
            <a:srgbClr val="000000"/>
          </a:solidFill>
          <a:ln w="9525"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326" name="Freeform: Shape 325">
            <a:extLst>
              <a:ext uri="{FF2B5EF4-FFF2-40B4-BE49-F238E27FC236}">
                <a16:creationId xmlns:a16="http://schemas.microsoft.com/office/drawing/2014/main" id="{5D9CD1CD-552C-A38D-CD5A-A18BCEF1BC5C}"/>
              </a:ext>
            </a:extLst>
          </p:cNvPr>
          <p:cNvSpPr/>
          <p:nvPr/>
        </p:nvSpPr>
        <p:spPr>
          <a:xfrm>
            <a:off x="10249380" y="250021"/>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327" name="Freeform: Shape 326">
            <a:extLst>
              <a:ext uri="{FF2B5EF4-FFF2-40B4-BE49-F238E27FC236}">
                <a16:creationId xmlns:a16="http://schemas.microsoft.com/office/drawing/2014/main" id="{30861373-5CE7-13B6-2A21-5FC62ABEC608}"/>
              </a:ext>
            </a:extLst>
          </p:cNvPr>
          <p:cNvSpPr/>
          <p:nvPr/>
        </p:nvSpPr>
        <p:spPr>
          <a:xfrm>
            <a:off x="9879186" y="663515"/>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328" name="Freeform: Shape 327">
            <a:extLst>
              <a:ext uri="{FF2B5EF4-FFF2-40B4-BE49-F238E27FC236}">
                <a16:creationId xmlns:a16="http://schemas.microsoft.com/office/drawing/2014/main" id="{133D2380-75C3-E402-C30F-18FBA8B73EC9}"/>
              </a:ext>
            </a:extLst>
          </p:cNvPr>
          <p:cNvSpPr/>
          <p:nvPr/>
        </p:nvSpPr>
        <p:spPr>
          <a:xfrm>
            <a:off x="8705483" y="233286"/>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329" name="Freeform: Shape 328">
            <a:extLst>
              <a:ext uri="{FF2B5EF4-FFF2-40B4-BE49-F238E27FC236}">
                <a16:creationId xmlns:a16="http://schemas.microsoft.com/office/drawing/2014/main" id="{1FA70DC8-D56E-FB11-ACC9-2DBC76F2EBB0}"/>
              </a:ext>
            </a:extLst>
          </p:cNvPr>
          <p:cNvSpPr/>
          <p:nvPr/>
        </p:nvSpPr>
        <p:spPr>
          <a:xfrm>
            <a:off x="6579005" y="641948"/>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330" name="TextBox 329">
            <a:extLst>
              <a:ext uri="{FF2B5EF4-FFF2-40B4-BE49-F238E27FC236}">
                <a16:creationId xmlns:a16="http://schemas.microsoft.com/office/drawing/2014/main" id="{29B6674F-A75F-BCC6-E023-001BA1B40144}"/>
              </a:ext>
            </a:extLst>
          </p:cNvPr>
          <p:cNvSpPr txBox="1"/>
          <p:nvPr/>
        </p:nvSpPr>
        <p:spPr>
          <a:xfrm>
            <a:off x="7321283" y="3804532"/>
            <a:ext cx="3689743" cy="369332"/>
          </a:xfrm>
          <a:prstGeom prst="rect">
            <a:avLst/>
          </a:prstGeom>
          <a:noFill/>
        </p:spPr>
        <p:txBody>
          <a:bodyPr wrap="square" rtlCol="0">
            <a:spAutoFit/>
          </a:bodyPr>
          <a:lstStyle/>
          <a:p>
            <a:r>
              <a:rPr lang="en-GB" i="0">
                <a:solidFill>
                  <a:srgbClr val="000000"/>
                </a:solidFill>
                <a:effectLst/>
                <a:latin typeface="Sassoon Infant Rg" panose="02000503030000020003" pitchFamily="2" charset="0"/>
                <a:ea typeface="Sassoon Infant Rg" panose="02000503030000020003" pitchFamily="2" charset="0"/>
              </a:rPr>
              <a:t>Sound &amp; light, Materials, Electricity</a:t>
            </a:r>
            <a:endParaRPr lang="en-GB">
              <a:latin typeface="Sassoon Infant Rg" panose="02000503030000020003" pitchFamily="2" charset="0"/>
              <a:ea typeface="Sassoon Infant Rg" panose="02000503030000020003" pitchFamily="2" charset="0"/>
            </a:endParaRPr>
          </a:p>
        </p:txBody>
      </p:sp>
      <p:sp>
        <p:nvSpPr>
          <p:cNvPr id="331" name="TextBox 330">
            <a:extLst>
              <a:ext uri="{FF2B5EF4-FFF2-40B4-BE49-F238E27FC236}">
                <a16:creationId xmlns:a16="http://schemas.microsoft.com/office/drawing/2014/main" id="{643D2915-E0BD-0DE4-5D9F-12DF401EB5C6}"/>
              </a:ext>
            </a:extLst>
          </p:cNvPr>
          <p:cNvSpPr txBox="1"/>
          <p:nvPr/>
        </p:nvSpPr>
        <p:spPr>
          <a:xfrm>
            <a:off x="7337980" y="4578806"/>
            <a:ext cx="3806379" cy="369332"/>
          </a:xfrm>
          <a:prstGeom prst="rect">
            <a:avLst/>
          </a:prstGeom>
          <a:noFill/>
        </p:spPr>
        <p:txBody>
          <a:bodyPr wrap="square" rtlCol="0">
            <a:spAutoFit/>
          </a:bodyPr>
          <a:lstStyle/>
          <a:p>
            <a:r>
              <a:rPr lang="en-GB" i="0">
                <a:solidFill>
                  <a:srgbClr val="000000"/>
                </a:solidFill>
                <a:effectLst/>
                <a:latin typeface="Sassoon Infant Rg" panose="02000503030000020003" pitchFamily="2" charset="0"/>
                <a:ea typeface="Sassoon Infant Rg" panose="02000503030000020003" pitchFamily="2" charset="0"/>
              </a:rPr>
              <a:t>Forces and magnets</a:t>
            </a:r>
            <a:endParaRPr lang="en-GB">
              <a:latin typeface="Sassoon Infant Rg" panose="02000503030000020003" pitchFamily="2" charset="0"/>
              <a:ea typeface="Sassoon Infant Rg" panose="02000503030000020003" pitchFamily="2" charset="0"/>
            </a:endParaRPr>
          </a:p>
        </p:txBody>
      </p:sp>
      <p:sp>
        <p:nvSpPr>
          <p:cNvPr id="335" name="TextBox 334">
            <a:extLst>
              <a:ext uri="{FF2B5EF4-FFF2-40B4-BE49-F238E27FC236}">
                <a16:creationId xmlns:a16="http://schemas.microsoft.com/office/drawing/2014/main" id="{71BFB070-71F8-FDC8-80D5-4A3039DE92C9}"/>
              </a:ext>
            </a:extLst>
          </p:cNvPr>
          <p:cNvSpPr txBox="1"/>
          <p:nvPr/>
        </p:nvSpPr>
        <p:spPr>
          <a:xfrm>
            <a:off x="7337980" y="2470164"/>
            <a:ext cx="3828041" cy="369332"/>
          </a:xfrm>
          <a:prstGeom prst="rect">
            <a:avLst/>
          </a:prstGeom>
          <a:noFill/>
        </p:spPr>
        <p:txBody>
          <a:bodyPr wrap="square">
            <a:spAutoFit/>
          </a:bodyPr>
          <a:lstStyle/>
          <a:p>
            <a:r>
              <a:rPr lang="en-GB" i="0">
                <a:solidFill>
                  <a:srgbClr val="000000"/>
                </a:solidFill>
                <a:effectLst/>
                <a:latin typeface="Sassoon Infant Rg" panose="02000503030000020003" pitchFamily="2" charset="0"/>
                <a:ea typeface="Sassoon Infant Rg" panose="02000503030000020003" pitchFamily="2" charset="0"/>
              </a:rPr>
              <a:t>Matter and change; chemistry</a:t>
            </a:r>
            <a:endParaRPr lang="en-GB">
              <a:latin typeface="Sassoon Infant Rg" panose="02000503030000020003" pitchFamily="2" charset="0"/>
              <a:ea typeface="Sassoon Infant Rg" panose="02000503030000020003" pitchFamily="2" charset="0"/>
            </a:endParaRPr>
          </a:p>
        </p:txBody>
      </p:sp>
      <p:sp>
        <p:nvSpPr>
          <p:cNvPr id="337" name="TextBox 336">
            <a:extLst>
              <a:ext uri="{FF2B5EF4-FFF2-40B4-BE49-F238E27FC236}">
                <a16:creationId xmlns:a16="http://schemas.microsoft.com/office/drawing/2014/main" id="{6FA73B50-562D-DC02-E005-F90F9A5C9555}"/>
              </a:ext>
            </a:extLst>
          </p:cNvPr>
          <p:cNvSpPr txBox="1"/>
          <p:nvPr/>
        </p:nvSpPr>
        <p:spPr>
          <a:xfrm>
            <a:off x="7321284" y="3179286"/>
            <a:ext cx="3873686" cy="369332"/>
          </a:xfrm>
          <a:prstGeom prst="rect">
            <a:avLst/>
          </a:prstGeom>
          <a:noFill/>
        </p:spPr>
        <p:txBody>
          <a:bodyPr wrap="square">
            <a:spAutoFit/>
          </a:bodyPr>
          <a:lstStyle/>
          <a:p>
            <a:r>
              <a:rPr lang="en-GB" i="0">
                <a:solidFill>
                  <a:srgbClr val="000000"/>
                </a:solidFill>
                <a:effectLst/>
                <a:latin typeface="Sassoon Infant Rg" panose="02000503030000020003" pitchFamily="2" charset="0"/>
                <a:ea typeface="Sassoon Infant Rg" panose="02000503030000020003" pitchFamily="2" charset="0"/>
              </a:rPr>
              <a:t>Chemistry, Astronomy and Force</a:t>
            </a:r>
            <a:endParaRPr lang="en-GB">
              <a:latin typeface="Sassoon Infant Rg" panose="02000503030000020003" pitchFamily="2" charset="0"/>
              <a:ea typeface="Sassoon Infant Rg" panose="02000503030000020003" pitchFamily="2" charset="0"/>
            </a:endParaRPr>
          </a:p>
        </p:txBody>
      </p:sp>
      <p:sp>
        <p:nvSpPr>
          <p:cNvPr id="2" name="TextBox 1">
            <a:extLst>
              <a:ext uri="{FF2B5EF4-FFF2-40B4-BE49-F238E27FC236}">
                <a16:creationId xmlns:a16="http://schemas.microsoft.com/office/drawing/2014/main" id="{645F2F93-7283-228A-2399-699C4B8F0CDF}"/>
              </a:ext>
            </a:extLst>
          </p:cNvPr>
          <p:cNvSpPr txBox="1"/>
          <p:nvPr/>
        </p:nvSpPr>
        <p:spPr>
          <a:xfrm>
            <a:off x="1585255" y="2582636"/>
            <a:ext cx="2438400" cy="461665"/>
          </a:xfrm>
          <a:prstGeom prst="rect">
            <a:avLst/>
          </a:prstGeom>
          <a:noFill/>
        </p:spPr>
        <p:txBody>
          <a:bodyPr wrap="square">
            <a:spAutoFit/>
          </a:bodyPr>
          <a:lstStyle/>
          <a:p>
            <a:pPr fontAlgn="base"/>
            <a:r>
              <a:rPr lang="en-GB" sz="2400" b="1" u="sng">
                <a:solidFill>
                  <a:srgbClr val="000000"/>
                </a:solidFill>
                <a:latin typeface="Sassoon Infant Rg" panose="02000503030000020003" pitchFamily="2" charset="0"/>
                <a:ea typeface="Sassoon Infant Rg" panose="02000503030000020003" pitchFamily="2" charset="0"/>
              </a:rPr>
              <a:t>Key concepts:</a:t>
            </a:r>
            <a:endParaRPr lang="en-GB" sz="6000" b="0" i="0" u="sng">
              <a:solidFill>
                <a:srgbClr val="000000"/>
              </a:solidFill>
              <a:effectLst/>
              <a:latin typeface="Sassoon Infant Rg" panose="02000503030000020003" pitchFamily="2" charset="0"/>
              <a:ea typeface="Sassoon Infant Rg" panose="02000503030000020003" pitchFamily="2" charset="0"/>
            </a:endParaRPr>
          </a:p>
        </p:txBody>
      </p:sp>
      <p:sp>
        <p:nvSpPr>
          <p:cNvPr id="3" name="Oval 2">
            <a:extLst>
              <a:ext uri="{FF2B5EF4-FFF2-40B4-BE49-F238E27FC236}">
                <a16:creationId xmlns:a16="http://schemas.microsoft.com/office/drawing/2014/main" id="{30B8E3F9-06E0-3AB9-F7A3-66491DBE996E}"/>
              </a:ext>
            </a:extLst>
          </p:cNvPr>
          <p:cNvSpPr/>
          <p:nvPr/>
        </p:nvSpPr>
        <p:spPr>
          <a:xfrm>
            <a:off x="2275253" y="3782833"/>
            <a:ext cx="1343333" cy="127228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Waves carry energy</a:t>
            </a:r>
          </a:p>
        </p:txBody>
      </p:sp>
      <p:sp>
        <p:nvSpPr>
          <p:cNvPr id="4" name="Oval 3">
            <a:extLst>
              <a:ext uri="{FF2B5EF4-FFF2-40B4-BE49-F238E27FC236}">
                <a16:creationId xmlns:a16="http://schemas.microsoft.com/office/drawing/2014/main" id="{A683DD90-BF82-EB23-6D13-A162D3DE9699}"/>
              </a:ext>
            </a:extLst>
          </p:cNvPr>
          <p:cNvSpPr/>
          <p:nvPr/>
        </p:nvSpPr>
        <p:spPr>
          <a:xfrm>
            <a:off x="61674" y="2822019"/>
            <a:ext cx="1681918" cy="15111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The universe is made of matter and energy</a:t>
            </a:r>
          </a:p>
        </p:txBody>
      </p:sp>
      <p:sp>
        <p:nvSpPr>
          <p:cNvPr id="5" name="Oval 4">
            <a:extLst>
              <a:ext uri="{FF2B5EF4-FFF2-40B4-BE49-F238E27FC236}">
                <a16:creationId xmlns:a16="http://schemas.microsoft.com/office/drawing/2014/main" id="{2CE3F363-189C-2819-D407-C37C3B60F4D0}"/>
              </a:ext>
            </a:extLst>
          </p:cNvPr>
          <p:cNvSpPr/>
          <p:nvPr/>
        </p:nvSpPr>
        <p:spPr>
          <a:xfrm>
            <a:off x="3915788" y="2801919"/>
            <a:ext cx="1309594" cy="120032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Some quantities are conserved</a:t>
            </a:r>
          </a:p>
        </p:txBody>
      </p:sp>
      <p:sp>
        <p:nvSpPr>
          <p:cNvPr id="7" name="Oval 6">
            <a:extLst>
              <a:ext uri="{FF2B5EF4-FFF2-40B4-BE49-F238E27FC236}">
                <a16:creationId xmlns:a16="http://schemas.microsoft.com/office/drawing/2014/main" id="{9C817BE0-491D-9D82-A933-302E8F9A3C96}"/>
              </a:ext>
            </a:extLst>
          </p:cNvPr>
          <p:cNvSpPr/>
          <p:nvPr/>
        </p:nvSpPr>
        <p:spPr>
          <a:xfrm>
            <a:off x="1079537" y="5122384"/>
            <a:ext cx="1343333" cy="124247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There are four fundamental forces</a:t>
            </a:r>
          </a:p>
        </p:txBody>
      </p:sp>
      <p:sp>
        <p:nvSpPr>
          <p:cNvPr id="8" name="Oval 7">
            <a:extLst>
              <a:ext uri="{FF2B5EF4-FFF2-40B4-BE49-F238E27FC236}">
                <a16:creationId xmlns:a16="http://schemas.microsoft.com/office/drawing/2014/main" id="{E316E0BF-2B46-7C81-E65E-0B5D7D9751D6}"/>
              </a:ext>
            </a:extLst>
          </p:cNvPr>
          <p:cNvSpPr/>
          <p:nvPr/>
        </p:nvSpPr>
        <p:spPr>
          <a:xfrm>
            <a:off x="3676486" y="5037329"/>
            <a:ext cx="1734454" cy="14508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The universe evolves by means of interactions</a:t>
            </a:r>
          </a:p>
        </p:txBody>
      </p:sp>
      <p:sp>
        <p:nvSpPr>
          <p:cNvPr id="21" name="TextBox 20">
            <a:extLst>
              <a:ext uri="{FF2B5EF4-FFF2-40B4-BE49-F238E27FC236}">
                <a16:creationId xmlns:a16="http://schemas.microsoft.com/office/drawing/2014/main" id="{8693B1C2-69F0-02C0-1CB0-BD3F5E28EA29}"/>
              </a:ext>
            </a:extLst>
          </p:cNvPr>
          <p:cNvSpPr txBox="1"/>
          <p:nvPr/>
        </p:nvSpPr>
        <p:spPr>
          <a:xfrm>
            <a:off x="7840982" y="1302594"/>
            <a:ext cx="1626692" cy="523220"/>
          </a:xfrm>
          <a:prstGeom prst="rect">
            <a:avLst/>
          </a:prstGeom>
          <a:noFill/>
        </p:spPr>
        <p:txBody>
          <a:bodyPr wrap="square">
            <a:spAutoFit/>
          </a:bodyPr>
          <a:lstStyle/>
          <a:p>
            <a:r>
              <a:rPr lang="en-GB" sz="2800" b="1" u="sng">
                <a:solidFill>
                  <a:srgbClr val="000000"/>
                </a:solidFill>
                <a:latin typeface="Sassoon Infant Rg" panose="02000503030000020003" pitchFamily="2" charset="0"/>
                <a:ea typeface="Sassoon Infant Rg" panose="02000503030000020003" pitchFamily="2" charset="0"/>
              </a:rPr>
              <a:t>Contexts</a:t>
            </a:r>
            <a:endParaRPr lang="en-GB">
              <a:latin typeface="Sassoon Infant Rg" panose="02000503030000020003" pitchFamily="2" charset="0"/>
              <a:ea typeface="Sassoon Infant Rg" panose="02000503030000020003" pitchFamily="2" charset="0"/>
            </a:endParaRPr>
          </a:p>
        </p:txBody>
      </p:sp>
    </p:spTree>
    <p:extLst>
      <p:ext uri="{BB962C8B-B14F-4D97-AF65-F5344CB8AC3E}">
        <p14:creationId xmlns:p14="http://schemas.microsoft.com/office/powerpoint/2010/main" val="2747533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7"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900" decel="100000" fill="hold"/>
                                        <p:tgtEl>
                                          <p:spTgt spid="8"/>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7"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900" decel="100000" fill="hold"/>
                                        <p:tgtEl>
                                          <p:spTgt spid="4"/>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1000"/>
                                        <p:tgtEl>
                                          <p:spTgt spid="3"/>
                                        </p:tgtEl>
                                      </p:cBhvr>
                                    </p:animEffect>
                                    <p:anim calcmode="lin" valueType="num">
                                      <p:cBhvr>
                                        <p:cTn id="28" dur="1000" fill="hold"/>
                                        <p:tgtEl>
                                          <p:spTgt spid="3"/>
                                        </p:tgtEl>
                                        <p:attrNameLst>
                                          <p:attrName>ppt_x</p:attrName>
                                        </p:attrNameLst>
                                      </p:cBhvr>
                                      <p:tavLst>
                                        <p:tav tm="0">
                                          <p:val>
                                            <p:strVal val="#ppt_x"/>
                                          </p:val>
                                        </p:tav>
                                        <p:tav tm="100000">
                                          <p:val>
                                            <p:strVal val="#ppt_x"/>
                                          </p:val>
                                        </p:tav>
                                      </p:tavLst>
                                    </p:anim>
                                    <p:anim calcmode="lin" valueType="num">
                                      <p:cBhvr>
                                        <p:cTn id="29" dur="900" decel="100000" fill="hold"/>
                                        <p:tgtEl>
                                          <p:spTgt spid="3"/>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7"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900" decel="100000" fill="hold"/>
                                        <p:tgtEl>
                                          <p:spTgt spid="7"/>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7"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1000"/>
                                        <p:tgtEl>
                                          <p:spTgt spid="5"/>
                                        </p:tgtEl>
                                      </p:cBhvr>
                                    </p:animEffect>
                                    <p:anim calcmode="lin" valueType="num">
                                      <p:cBhvr>
                                        <p:cTn id="44" dur="1000" fill="hold"/>
                                        <p:tgtEl>
                                          <p:spTgt spid="5"/>
                                        </p:tgtEl>
                                        <p:attrNameLst>
                                          <p:attrName>ppt_x</p:attrName>
                                        </p:attrNameLst>
                                      </p:cBhvr>
                                      <p:tavLst>
                                        <p:tav tm="0">
                                          <p:val>
                                            <p:strVal val="#ppt_x"/>
                                          </p:val>
                                        </p:tav>
                                        <p:tav tm="100000">
                                          <p:val>
                                            <p:strVal val="#ppt_x"/>
                                          </p:val>
                                        </p:tav>
                                      </p:tavLst>
                                    </p:anim>
                                    <p:anim calcmode="lin" valueType="num">
                                      <p:cBhvr>
                                        <p:cTn id="45" dur="900" decel="100000" fill="hold"/>
                                        <p:tgtEl>
                                          <p:spTgt spid="5"/>
                                        </p:tgtEl>
                                        <p:attrNameLst>
                                          <p:attrName>ppt_y</p:attrName>
                                        </p:attrNameLst>
                                      </p:cBhvr>
                                      <p:tavLst>
                                        <p:tav tm="0">
                                          <p:val>
                                            <p:strVal val="#ppt_y+1"/>
                                          </p:val>
                                        </p:tav>
                                        <p:tav tm="100000">
                                          <p:val>
                                            <p:strVal val="#ppt_y-.03"/>
                                          </p:val>
                                        </p:tav>
                                      </p:tavLst>
                                    </p:anim>
                                    <p:anim calcmode="lin" valueType="num">
                                      <p:cBhvr>
                                        <p:cTn id="46"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0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3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3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3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 grpId="0"/>
      <p:bldP spid="331" grpId="0"/>
      <p:bldP spid="335" grpId="0"/>
      <p:bldP spid="337" grpId="0"/>
      <p:bldP spid="2" grpId="0"/>
      <p:bldP spid="3" grpId="0" animBg="1"/>
      <p:bldP spid="4" grpId="0" animBg="1"/>
      <p:bldP spid="5" grpId="0" animBg="1"/>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8A4CC-6A7E-2C05-25A6-BB9BCDB2DB01}"/>
            </a:ext>
          </a:extLst>
        </p:cNvPr>
        <p:cNvGrpSpPr/>
        <p:nvPr/>
      </p:nvGrpSpPr>
      <p:grpSpPr>
        <a:xfrm>
          <a:off x="0" y="0"/>
          <a:ext cx="0" cy="0"/>
          <a:chOff x="0" y="0"/>
          <a:chExt cx="0" cy="0"/>
        </a:xfrm>
      </p:grpSpPr>
      <p:sp>
        <p:nvSpPr>
          <p:cNvPr id="273" name="Freeform: Shape 272">
            <a:extLst>
              <a:ext uri="{FF2B5EF4-FFF2-40B4-BE49-F238E27FC236}">
                <a16:creationId xmlns:a16="http://schemas.microsoft.com/office/drawing/2014/main" id="{3A883ECC-A380-2E5B-998F-058377D18077}"/>
              </a:ext>
            </a:extLst>
          </p:cNvPr>
          <p:cNvSpPr/>
          <p:nvPr/>
        </p:nvSpPr>
        <p:spPr>
          <a:xfrm>
            <a:off x="6801640" y="1684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284" name="Freeform: Shape 283">
            <a:extLst>
              <a:ext uri="{FF2B5EF4-FFF2-40B4-BE49-F238E27FC236}">
                <a16:creationId xmlns:a16="http://schemas.microsoft.com/office/drawing/2014/main" id="{ED8F2C13-90BE-CEF8-E02B-B24D9FEC36E0}"/>
              </a:ext>
            </a:extLst>
          </p:cNvPr>
          <p:cNvSpPr/>
          <p:nvPr/>
        </p:nvSpPr>
        <p:spPr>
          <a:xfrm>
            <a:off x="9467674" y="224090"/>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p>
        </p:txBody>
      </p:sp>
      <p:sp>
        <p:nvSpPr>
          <p:cNvPr id="285" name="Freeform: Shape 284">
            <a:extLst>
              <a:ext uri="{FF2B5EF4-FFF2-40B4-BE49-F238E27FC236}">
                <a16:creationId xmlns:a16="http://schemas.microsoft.com/office/drawing/2014/main" id="{54496709-8346-1C78-C8C2-6428CD93AF29}"/>
              </a:ext>
            </a:extLst>
          </p:cNvPr>
          <p:cNvSpPr/>
          <p:nvPr/>
        </p:nvSpPr>
        <p:spPr>
          <a:xfrm>
            <a:off x="8109740" y="434950"/>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p>
        </p:txBody>
      </p:sp>
      <p:sp>
        <p:nvSpPr>
          <p:cNvPr id="286" name="Freeform: Shape 285">
            <a:extLst>
              <a:ext uri="{FF2B5EF4-FFF2-40B4-BE49-F238E27FC236}">
                <a16:creationId xmlns:a16="http://schemas.microsoft.com/office/drawing/2014/main" id="{00FF73F1-B55E-5F58-9CB5-61C92C9CC471}"/>
              </a:ext>
            </a:extLst>
          </p:cNvPr>
          <p:cNvSpPr/>
          <p:nvPr/>
        </p:nvSpPr>
        <p:spPr>
          <a:xfrm>
            <a:off x="7186402" y="5493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7"/>
                  <a:pt x="131059" y="64883"/>
                </a:cubicBezTo>
                <a:cubicBezTo>
                  <a:pt x="131059" y="29048"/>
                  <a:pt x="101721" y="0"/>
                  <a:pt x="65530" y="0"/>
                </a:cubicBezTo>
                <a:cubicBezTo>
                  <a:pt x="29338" y="0"/>
                  <a:pt x="0" y="29048"/>
                  <a:pt x="0" y="64883"/>
                </a:cubicBezTo>
                <a:cubicBezTo>
                  <a:pt x="0" y="100717"/>
                  <a:pt x="29338" y="129765"/>
                  <a:pt x="65530" y="129765"/>
                </a:cubicBezTo>
                <a:close/>
                <a:moveTo>
                  <a:pt x="65530" y="43255"/>
                </a:moveTo>
                <a:cubicBezTo>
                  <a:pt x="77594" y="43255"/>
                  <a:pt x="87373" y="52938"/>
                  <a:pt x="87373" y="64883"/>
                </a:cubicBezTo>
                <a:cubicBezTo>
                  <a:pt x="87373" y="76828"/>
                  <a:pt x="77594" y="86510"/>
                  <a:pt x="65530" y="86510"/>
                </a:cubicBezTo>
                <a:cubicBezTo>
                  <a:pt x="53466" y="86510"/>
                  <a:pt x="43686" y="76828"/>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grpSp>
        <p:nvGrpSpPr>
          <p:cNvPr id="6" name="Group 5">
            <a:extLst>
              <a:ext uri="{FF2B5EF4-FFF2-40B4-BE49-F238E27FC236}">
                <a16:creationId xmlns:a16="http://schemas.microsoft.com/office/drawing/2014/main" id="{4375C783-73EC-7DAF-A870-371E22465422}"/>
              </a:ext>
            </a:extLst>
          </p:cNvPr>
          <p:cNvGrpSpPr/>
          <p:nvPr/>
        </p:nvGrpSpPr>
        <p:grpSpPr>
          <a:xfrm>
            <a:off x="6417190" y="5097492"/>
            <a:ext cx="4969774" cy="661583"/>
            <a:chOff x="1999694" y="1717038"/>
            <a:chExt cx="1713901" cy="2885442"/>
          </a:xfrm>
        </p:grpSpPr>
        <p:sp>
          <p:nvSpPr>
            <p:cNvPr id="10" name="Rectangle: Rounded Corners 9">
              <a:extLst>
                <a:ext uri="{FF2B5EF4-FFF2-40B4-BE49-F238E27FC236}">
                  <a16:creationId xmlns:a16="http://schemas.microsoft.com/office/drawing/2014/main" id="{9C74E703-2BCC-D007-6EB0-A3EFDE9C8DC3}"/>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sz="2000">
                <a:latin typeface="Sassoon Infant Rg" panose="02000503030000020003" pitchFamily="2" charset="0"/>
                <a:ea typeface="Sassoon Infant Rg" panose="02000503030000020003" pitchFamily="2" charset="0"/>
              </a:endParaRPr>
            </a:p>
          </p:txBody>
        </p:sp>
        <p:sp>
          <p:nvSpPr>
            <p:cNvPr id="11" name="Rectangle: Rounded Corners 4">
              <a:extLst>
                <a:ext uri="{FF2B5EF4-FFF2-40B4-BE49-F238E27FC236}">
                  <a16:creationId xmlns:a16="http://schemas.microsoft.com/office/drawing/2014/main" id="{8602D44A-2DF2-41B4-3051-5ECFBC967239}"/>
                </a:ext>
              </a:extLst>
            </p:cNvPr>
            <p:cNvSpPr txBox="1"/>
            <p:nvPr/>
          </p:nvSpPr>
          <p:spPr>
            <a:xfrm>
              <a:off x="2349996" y="1800703"/>
              <a:ext cx="1279933" cy="27181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Matter &amp; Properties &amp; Measurements; Electricity</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0" name="Group 29">
            <a:extLst>
              <a:ext uri="{FF2B5EF4-FFF2-40B4-BE49-F238E27FC236}">
                <a16:creationId xmlns:a16="http://schemas.microsoft.com/office/drawing/2014/main" id="{5CE21195-A801-6EAA-0F28-CEB6A8BB1FFB}"/>
              </a:ext>
            </a:extLst>
          </p:cNvPr>
          <p:cNvGrpSpPr/>
          <p:nvPr/>
        </p:nvGrpSpPr>
        <p:grpSpPr>
          <a:xfrm>
            <a:off x="6532989" y="5035884"/>
            <a:ext cx="752715" cy="748493"/>
            <a:chOff x="4462145" y="450020"/>
            <a:chExt cx="801261" cy="903352"/>
          </a:xfrm>
        </p:grpSpPr>
        <p:pic>
          <p:nvPicPr>
            <p:cNvPr id="31" name="Picture 30">
              <a:extLst>
                <a:ext uri="{FF2B5EF4-FFF2-40B4-BE49-F238E27FC236}">
                  <a16:creationId xmlns:a16="http://schemas.microsoft.com/office/drawing/2014/main" id="{D065936D-1693-E9D0-8E8B-BFB0E753F5F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2" name="TextBox 31">
              <a:extLst>
                <a:ext uri="{FF2B5EF4-FFF2-40B4-BE49-F238E27FC236}">
                  <a16:creationId xmlns:a16="http://schemas.microsoft.com/office/drawing/2014/main" id="{EBDFCDED-0E37-4FB2-4D9B-F08CDB6AE4D9}"/>
                </a:ext>
              </a:extLst>
            </p:cNvPr>
            <p:cNvSpPr txBox="1"/>
            <p:nvPr/>
          </p:nvSpPr>
          <p:spPr>
            <a:xfrm>
              <a:off x="4704080" y="708024"/>
              <a:ext cx="375920" cy="482891"/>
            </a:xfrm>
            <a:prstGeom prst="rect">
              <a:avLst/>
            </a:prstGeom>
            <a:noFill/>
          </p:spPr>
          <p:txBody>
            <a:bodyPr wrap="square" rtlCol="0">
              <a:spAutoFit/>
            </a:bodyPr>
            <a:lstStyle/>
            <a:p>
              <a:r>
                <a:rPr lang="en-GB" sz="2000" b="1">
                  <a:latin typeface="Sassoon Infant Rg" panose="02000503030000020003" pitchFamily="2" charset="0"/>
                  <a:ea typeface="Sassoon Infant Rg" panose="02000503030000020003" pitchFamily="2" charset="0"/>
                </a:rPr>
                <a:t>2</a:t>
              </a:r>
            </a:p>
          </p:txBody>
        </p:sp>
      </p:grpSp>
      <p:grpSp>
        <p:nvGrpSpPr>
          <p:cNvPr id="12" name="Group 11">
            <a:extLst>
              <a:ext uri="{FF2B5EF4-FFF2-40B4-BE49-F238E27FC236}">
                <a16:creationId xmlns:a16="http://schemas.microsoft.com/office/drawing/2014/main" id="{B9781A20-A558-F57E-9E02-0C5B0C37C457}"/>
              </a:ext>
            </a:extLst>
          </p:cNvPr>
          <p:cNvGrpSpPr/>
          <p:nvPr/>
        </p:nvGrpSpPr>
        <p:grpSpPr>
          <a:xfrm>
            <a:off x="6450333" y="4413131"/>
            <a:ext cx="4827428" cy="661583"/>
            <a:chOff x="3999246" y="1747524"/>
            <a:chExt cx="1713901" cy="2824471"/>
          </a:xfrm>
        </p:grpSpPr>
        <p:sp>
          <p:nvSpPr>
            <p:cNvPr id="13" name="Rectangle: Rounded Corners 12">
              <a:extLst>
                <a:ext uri="{FF2B5EF4-FFF2-40B4-BE49-F238E27FC236}">
                  <a16:creationId xmlns:a16="http://schemas.microsoft.com/office/drawing/2014/main" id="{2EEA3F20-6892-0814-6CFA-D185001DDBB7}"/>
                </a:ext>
              </a:extLst>
            </p:cNvPr>
            <p:cNvSpPr/>
            <p:nvPr/>
          </p:nvSpPr>
          <p:spPr>
            <a:xfrm>
              <a:off x="3999246"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sz="2000">
                <a:latin typeface="Sassoon Infant Rg" panose="02000503030000020003" pitchFamily="2" charset="0"/>
                <a:ea typeface="Sassoon Infant Rg" panose="02000503030000020003" pitchFamily="2" charset="0"/>
              </a:endParaRPr>
            </a:p>
          </p:txBody>
        </p:sp>
        <p:sp>
          <p:nvSpPr>
            <p:cNvPr id="14" name="Rectangle: Rounded Corners 4">
              <a:extLst>
                <a:ext uri="{FF2B5EF4-FFF2-40B4-BE49-F238E27FC236}">
                  <a16:creationId xmlns:a16="http://schemas.microsoft.com/office/drawing/2014/main" id="{C1810392-1E44-0723-9F1B-4FAABAF75720}"/>
                </a:ext>
              </a:extLst>
            </p:cNvPr>
            <p:cNvSpPr txBox="1"/>
            <p:nvPr/>
          </p:nvSpPr>
          <p:spPr>
            <a:xfrm>
              <a:off x="4326919" y="1831189"/>
              <a:ext cx="1302562" cy="265713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defTabSz="1244600">
                <a:lnSpc>
                  <a:spcPct val="90000"/>
                </a:lnSpc>
                <a:spcBef>
                  <a:spcPct val="0"/>
                </a:spcBef>
                <a:spcAft>
                  <a:spcPct val="35000"/>
                </a:spcAft>
                <a:buNone/>
              </a:pPr>
              <a:r>
                <a:rPr lang="en-GB">
                  <a:solidFill>
                    <a:schemeClr val="tx1"/>
                  </a:solidFill>
                  <a:latin typeface="Sassoon Infant Rg" panose="02000503030000020003" pitchFamily="2" charset="0"/>
                  <a:ea typeface="Sassoon Infant Rg" panose="02000503030000020003" pitchFamily="2" charset="0"/>
                </a:rPr>
                <a:t>Physics</a:t>
              </a:r>
              <a:endParaRPr lang="en-GB" sz="2400" kern="1200">
                <a:solidFill>
                  <a:schemeClr val="tx1"/>
                </a:solidFill>
                <a:latin typeface="Sassoon Infant Rg" panose="02000503030000020003" pitchFamily="2" charset="0"/>
                <a:ea typeface="Sassoon Infant Rg" panose="02000503030000020003" pitchFamily="2" charset="0"/>
              </a:endParaRPr>
            </a:p>
          </p:txBody>
        </p:sp>
      </p:grpSp>
      <p:grpSp>
        <p:nvGrpSpPr>
          <p:cNvPr id="33" name="Group 32">
            <a:extLst>
              <a:ext uri="{FF2B5EF4-FFF2-40B4-BE49-F238E27FC236}">
                <a16:creationId xmlns:a16="http://schemas.microsoft.com/office/drawing/2014/main" id="{4D804106-0F3C-B4DA-650D-3E306CF9F9E7}"/>
              </a:ext>
            </a:extLst>
          </p:cNvPr>
          <p:cNvGrpSpPr/>
          <p:nvPr/>
        </p:nvGrpSpPr>
        <p:grpSpPr>
          <a:xfrm>
            <a:off x="6486751" y="4356793"/>
            <a:ext cx="752715" cy="748493"/>
            <a:chOff x="4462145" y="450020"/>
            <a:chExt cx="801261" cy="903352"/>
          </a:xfrm>
        </p:grpSpPr>
        <p:pic>
          <p:nvPicPr>
            <p:cNvPr id="34" name="Picture 33">
              <a:extLst>
                <a:ext uri="{FF2B5EF4-FFF2-40B4-BE49-F238E27FC236}">
                  <a16:creationId xmlns:a16="http://schemas.microsoft.com/office/drawing/2014/main" id="{5DD2814A-6798-EF4B-2063-B585559B556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5" name="TextBox 34">
              <a:extLst>
                <a:ext uri="{FF2B5EF4-FFF2-40B4-BE49-F238E27FC236}">
                  <a16:creationId xmlns:a16="http://schemas.microsoft.com/office/drawing/2014/main" id="{2A04F056-C653-F785-63E4-ACFF05216738}"/>
                </a:ext>
              </a:extLst>
            </p:cNvPr>
            <p:cNvSpPr txBox="1"/>
            <p:nvPr/>
          </p:nvSpPr>
          <p:spPr>
            <a:xfrm>
              <a:off x="4704080" y="708024"/>
              <a:ext cx="375920" cy="482891"/>
            </a:xfrm>
            <a:prstGeom prst="rect">
              <a:avLst/>
            </a:prstGeom>
            <a:noFill/>
          </p:spPr>
          <p:txBody>
            <a:bodyPr wrap="square" rtlCol="0">
              <a:spAutoFit/>
            </a:bodyPr>
            <a:lstStyle/>
            <a:p>
              <a:r>
                <a:rPr lang="en-GB" sz="2000" b="1">
                  <a:latin typeface="Sassoon Infant Rg" panose="02000503030000020003" pitchFamily="2" charset="0"/>
                  <a:ea typeface="Sassoon Infant Rg" panose="02000503030000020003" pitchFamily="2" charset="0"/>
                </a:rPr>
                <a:t>3</a:t>
              </a:r>
            </a:p>
          </p:txBody>
        </p:sp>
      </p:grpSp>
      <p:grpSp>
        <p:nvGrpSpPr>
          <p:cNvPr id="15" name="Group 14">
            <a:extLst>
              <a:ext uri="{FF2B5EF4-FFF2-40B4-BE49-F238E27FC236}">
                <a16:creationId xmlns:a16="http://schemas.microsoft.com/office/drawing/2014/main" id="{E1556367-F31C-8E3F-6F34-0B9B9B2BEE98}"/>
              </a:ext>
            </a:extLst>
          </p:cNvPr>
          <p:cNvGrpSpPr/>
          <p:nvPr/>
        </p:nvGrpSpPr>
        <p:grpSpPr>
          <a:xfrm>
            <a:off x="6431265" y="3709371"/>
            <a:ext cx="4865561" cy="661583"/>
            <a:chOff x="5998798" y="1737362"/>
            <a:chExt cx="1713901" cy="2844795"/>
          </a:xfrm>
          <a:solidFill>
            <a:schemeClr val="accent4">
              <a:lumMod val="20000"/>
              <a:lumOff val="80000"/>
            </a:schemeClr>
          </a:solidFill>
        </p:grpSpPr>
        <p:sp>
          <p:nvSpPr>
            <p:cNvPr id="16" name="Rectangle: Rounded Corners 15">
              <a:extLst>
                <a:ext uri="{FF2B5EF4-FFF2-40B4-BE49-F238E27FC236}">
                  <a16:creationId xmlns:a16="http://schemas.microsoft.com/office/drawing/2014/main" id="{3E305DEF-3ED1-5278-475E-C626F3584228}"/>
                </a:ext>
              </a:extLst>
            </p:cNvPr>
            <p:cNvSpPr/>
            <p:nvPr/>
          </p:nvSpPr>
          <p:spPr>
            <a:xfrm>
              <a:off x="5998798" y="1737362"/>
              <a:ext cx="1713901" cy="2844795"/>
            </a:xfrm>
            <a:prstGeom prst="roundRect">
              <a:avLst/>
            </a:prstGeom>
            <a:grpFill/>
            <a:ln>
              <a:solidFill>
                <a:schemeClr val="tx2">
                  <a:lumMod val="10000"/>
                  <a:lumOff val="9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sz="2000">
                <a:latin typeface="Sassoon Infant Rg" panose="02000503030000020003" pitchFamily="2" charset="0"/>
                <a:ea typeface="Sassoon Infant Rg" panose="02000503030000020003" pitchFamily="2" charset="0"/>
              </a:endParaRPr>
            </a:p>
          </p:txBody>
        </p:sp>
        <p:sp>
          <p:nvSpPr>
            <p:cNvPr id="17" name="Rectangle: Rounded Corners 4">
              <a:extLst>
                <a:ext uri="{FF2B5EF4-FFF2-40B4-BE49-F238E27FC236}">
                  <a16:creationId xmlns:a16="http://schemas.microsoft.com/office/drawing/2014/main" id="{D2956B5D-0F7D-54D5-A17E-DB25B7A52D85}"/>
                </a:ext>
              </a:extLst>
            </p:cNvPr>
            <p:cNvSpPr txBox="1"/>
            <p:nvPr/>
          </p:nvSpPr>
          <p:spPr>
            <a:xfrm>
              <a:off x="6082464" y="1821028"/>
              <a:ext cx="1546569" cy="2344261"/>
            </a:xfrm>
            <a:prstGeom prst="rect">
              <a:avLst/>
            </a:prstGeom>
            <a:grpFill/>
            <a:ln>
              <a:solidFill>
                <a:schemeClr val="tx2">
                  <a:lumMod val="10000"/>
                  <a:lumOff val="90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4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6" name="Group 35">
            <a:extLst>
              <a:ext uri="{FF2B5EF4-FFF2-40B4-BE49-F238E27FC236}">
                <a16:creationId xmlns:a16="http://schemas.microsoft.com/office/drawing/2014/main" id="{466DB0A8-67E2-697E-DC0F-91B6C3F85E85}"/>
              </a:ext>
            </a:extLst>
          </p:cNvPr>
          <p:cNvGrpSpPr/>
          <p:nvPr/>
        </p:nvGrpSpPr>
        <p:grpSpPr>
          <a:xfrm>
            <a:off x="6400961" y="3638841"/>
            <a:ext cx="752715" cy="748493"/>
            <a:chOff x="4462145" y="450020"/>
            <a:chExt cx="801261" cy="903352"/>
          </a:xfrm>
        </p:grpSpPr>
        <p:pic>
          <p:nvPicPr>
            <p:cNvPr id="37" name="Picture 36">
              <a:extLst>
                <a:ext uri="{FF2B5EF4-FFF2-40B4-BE49-F238E27FC236}">
                  <a16:creationId xmlns:a16="http://schemas.microsoft.com/office/drawing/2014/main" id="{1B72D975-714F-9E50-AEDF-3813CECB883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8" name="TextBox 37">
              <a:extLst>
                <a:ext uri="{FF2B5EF4-FFF2-40B4-BE49-F238E27FC236}">
                  <a16:creationId xmlns:a16="http://schemas.microsoft.com/office/drawing/2014/main" id="{2AA08608-A36C-797E-13A3-DABE3A0FF239}"/>
                </a:ext>
              </a:extLst>
            </p:cNvPr>
            <p:cNvSpPr txBox="1"/>
            <p:nvPr/>
          </p:nvSpPr>
          <p:spPr>
            <a:xfrm>
              <a:off x="4704080" y="708024"/>
              <a:ext cx="375920" cy="482891"/>
            </a:xfrm>
            <a:prstGeom prst="rect">
              <a:avLst/>
            </a:prstGeom>
            <a:noFill/>
          </p:spPr>
          <p:txBody>
            <a:bodyPr wrap="square" rtlCol="0">
              <a:spAutoFit/>
            </a:bodyPr>
            <a:lstStyle/>
            <a:p>
              <a:r>
                <a:rPr lang="en-GB" sz="2000" b="1">
                  <a:latin typeface="Sassoon Infant Rg" panose="02000503030000020003" pitchFamily="2" charset="0"/>
                  <a:ea typeface="Sassoon Infant Rg" panose="02000503030000020003" pitchFamily="2" charset="0"/>
                </a:rPr>
                <a:t>4</a:t>
              </a:r>
            </a:p>
          </p:txBody>
        </p:sp>
      </p:grpSp>
      <p:grpSp>
        <p:nvGrpSpPr>
          <p:cNvPr id="23" name="Group 22">
            <a:extLst>
              <a:ext uri="{FF2B5EF4-FFF2-40B4-BE49-F238E27FC236}">
                <a16:creationId xmlns:a16="http://schemas.microsoft.com/office/drawing/2014/main" id="{AB65607C-D186-10BC-DB97-70D2F29FFDAB}"/>
              </a:ext>
            </a:extLst>
          </p:cNvPr>
          <p:cNvGrpSpPr/>
          <p:nvPr/>
        </p:nvGrpSpPr>
        <p:grpSpPr>
          <a:xfrm>
            <a:off x="6532989" y="2319424"/>
            <a:ext cx="4791567" cy="745161"/>
            <a:chOff x="1999694" y="1717038"/>
            <a:chExt cx="1713901" cy="2885442"/>
          </a:xfrm>
        </p:grpSpPr>
        <p:sp>
          <p:nvSpPr>
            <p:cNvPr id="24" name="Rectangle: Rounded Corners 23">
              <a:extLst>
                <a:ext uri="{FF2B5EF4-FFF2-40B4-BE49-F238E27FC236}">
                  <a16:creationId xmlns:a16="http://schemas.microsoft.com/office/drawing/2014/main" id="{DEFF0C36-BA8E-15FE-70A4-01BBC0EC8543}"/>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sz="2000">
                <a:latin typeface="Sassoon Infant Rg" panose="02000503030000020003" pitchFamily="2" charset="0"/>
                <a:ea typeface="Sassoon Infant Rg" panose="02000503030000020003" pitchFamily="2" charset="0"/>
              </a:endParaRPr>
            </a:p>
          </p:txBody>
        </p:sp>
        <p:sp>
          <p:nvSpPr>
            <p:cNvPr id="25" name="Rectangle: Rounded Corners 4">
              <a:extLst>
                <a:ext uri="{FF2B5EF4-FFF2-40B4-BE49-F238E27FC236}">
                  <a16:creationId xmlns:a16="http://schemas.microsoft.com/office/drawing/2014/main" id="{FCED117A-7CAE-2E67-A944-72B731AFB13E}"/>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4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42" name="Group 41">
            <a:extLst>
              <a:ext uri="{FF2B5EF4-FFF2-40B4-BE49-F238E27FC236}">
                <a16:creationId xmlns:a16="http://schemas.microsoft.com/office/drawing/2014/main" id="{6EEA3E81-88C8-BD71-4BE3-D35372141E42}"/>
              </a:ext>
            </a:extLst>
          </p:cNvPr>
          <p:cNvGrpSpPr/>
          <p:nvPr/>
        </p:nvGrpSpPr>
        <p:grpSpPr>
          <a:xfrm>
            <a:off x="6467851" y="2298689"/>
            <a:ext cx="752715" cy="748493"/>
            <a:chOff x="1721712" y="2823332"/>
            <a:chExt cx="801261" cy="903352"/>
          </a:xfrm>
        </p:grpSpPr>
        <p:pic>
          <p:nvPicPr>
            <p:cNvPr id="43" name="Picture 42">
              <a:extLst>
                <a:ext uri="{FF2B5EF4-FFF2-40B4-BE49-F238E27FC236}">
                  <a16:creationId xmlns:a16="http://schemas.microsoft.com/office/drawing/2014/main" id="{875A44A0-1B0E-2F3C-54CA-3365DDC2258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1721712" y="2823332"/>
              <a:ext cx="801261" cy="903352"/>
            </a:xfrm>
            <a:prstGeom prst="rect">
              <a:avLst/>
            </a:prstGeom>
          </p:spPr>
        </p:pic>
        <p:sp>
          <p:nvSpPr>
            <p:cNvPr id="44" name="TextBox 43">
              <a:extLst>
                <a:ext uri="{FF2B5EF4-FFF2-40B4-BE49-F238E27FC236}">
                  <a16:creationId xmlns:a16="http://schemas.microsoft.com/office/drawing/2014/main" id="{ECE17235-F81C-0B3C-0ED2-2CAB6FD2F31A}"/>
                </a:ext>
              </a:extLst>
            </p:cNvPr>
            <p:cNvSpPr txBox="1"/>
            <p:nvPr/>
          </p:nvSpPr>
          <p:spPr>
            <a:xfrm>
              <a:off x="1959488" y="3052738"/>
              <a:ext cx="375920" cy="482891"/>
            </a:xfrm>
            <a:prstGeom prst="rect">
              <a:avLst/>
            </a:prstGeom>
            <a:noFill/>
          </p:spPr>
          <p:txBody>
            <a:bodyPr wrap="square" rtlCol="0">
              <a:spAutoFit/>
            </a:bodyPr>
            <a:lstStyle/>
            <a:p>
              <a:r>
                <a:rPr lang="en-GB" sz="2000" b="1">
                  <a:latin typeface="Sassoon Infant Rg" panose="02000503030000020003" pitchFamily="2" charset="0"/>
                  <a:ea typeface="Sassoon Infant Rg" panose="02000503030000020003" pitchFamily="2" charset="0"/>
                </a:rPr>
                <a:t>6</a:t>
              </a:r>
            </a:p>
          </p:txBody>
        </p:sp>
      </p:grpSp>
      <p:grpSp>
        <p:nvGrpSpPr>
          <p:cNvPr id="18" name="Group 17">
            <a:extLst>
              <a:ext uri="{FF2B5EF4-FFF2-40B4-BE49-F238E27FC236}">
                <a16:creationId xmlns:a16="http://schemas.microsoft.com/office/drawing/2014/main" id="{5C82109B-F5FE-AB2A-7B5F-F15A804C1F69}"/>
              </a:ext>
            </a:extLst>
          </p:cNvPr>
          <p:cNvGrpSpPr/>
          <p:nvPr/>
        </p:nvGrpSpPr>
        <p:grpSpPr>
          <a:xfrm>
            <a:off x="6419256" y="3046473"/>
            <a:ext cx="4827428" cy="661583"/>
            <a:chOff x="7998350" y="1737362"/>
            <a:chExt cx="1713901" cy="2844795"/>
          </a:xfrm>
        </p:grpSpPr>
        <p:sp>
          <p:nvSpPr>
            <p:cNvPr id="19" name="Rectangle: Rounded Corners 18">
              <a:extLst>
                <a:ext uri="{FF2B5EF4-FFF2-40B4-BE49-F238E27FC236}">
                  <a16:creationId xmlns:a16="http://schemas.microsoft.com/office/drawing/2014/main" id="{64B18153-2B5D-6CD9-0436-6563136AD1C8}"/>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sz="2000">
                <a:latin typeface="Sassoon Infant Rg" panose="02000503030000020003" pitchFamily="2" charset="0"/>
                <a:ea typeface="Sassoon Infant Rg" panose="02000503030000020003" pitchFamily="2" charset="0"/>
              </a:endParaRPr>
            </a:p>
          </p:txBody>
        </p:sp>
        <p:sp>
          <p:nvSpPr>
            <p:cNvPr id="20" name="Rectangle: Rounded Corners 4">
              <a:extLst>
                <a:ext uri="{FF2B5EF4-FFF2-40B4-BE49-F238E27FC236}">
                  <a16:creationId xmlns:a16="http://schemas.microsoft.com/office/drawing/2014/main" id="{4B8BB4E4-966A-C84D-B2C7-54970D57098D}"/>
                </a:ext>
              </a:extLst>
            </p:cNvPr>
            <p:cNvSpPr txBox="1"/>
            <p:nvPr/>
          </p:nvSpPr>
          <p:spPr>
            <a:xfrm>
              <a:off x="8082016" y="1821028"/>
              <a:ext cx="1546569" cy="26774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4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9" name="Group 38">
            <a:extLst>
              <a:ext uri="{FF2B5EF4-FFF2-40B4-BE49-F238E27FC236}">
                <a16:creationId xmlns:a16="http://schemas.microsoft.com/office/drawing/2014/main" id="{2F6CBFA5-7E8D-6E52-0076-7BDB88EC1CDA}"/>
              </a:ext>
            </a:extLst>
          </p:cNvPr>
          <p:cNvGrpSpPr/>
          <p:nvPr/>
        </p:nvGrpSpPr>
        <p:grpSpPr>
          <a:xfrm>
            <a:off x="6499917" y="2981007"/>
            <a:ext cx="752715" cy="748493"/>
            <a:chOff x="4462145" y="450020"/>
            <a:chExt cx="801261" cy="903352"/>
          </a:xfrm>
        </p:grpSpPr>
        <p:pic>
          <p:nvPicPr>
            <p:cNvPr id="40" name="Picture 39">
              <a:extLst>
                <a:ext uri="{FF2B5EF4-FFF2-40B4-BE49-F238E27FC236}">
                  <a16:creationId xmlns:a16="http://schemas.microsoft.com/office/drawing/2014/main" id="{BE8A86A1-937E-E3ED-8AA0-891EA6EC990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41" name="TextBox 40">
              <a:extLst>
                <a:ext uri="{FF2B5EF4-FFF2-40B4-BE49-F238E27FC236}">
                  <a16:creationId xmlns:a16="http://schemas.microsoft.com/office/drawing/2014/main" id="{30AEBBA9-1346-DD06-6E31-90A918930FDF}"/>
                </a:ext>
              </a:extLst>
            </p:cNvPr>
            <p:cNvSpPr txBox="1"/>
            <p:nvPr/>
          </p:nvSpPr>
          <p:spPr>
            <a:xfrm>
              <a:off x="4704080" y="708024"/>
              <a:ext cx="375920" cy="482891"/>
            </a:xfrm>
            <a:prstGeom prst="rect">
              <a:avLst/>
            </a:prstGeom>
            <a:noFill/>
          </p:spPr>
          <p:txBody>
            <a:bodyPr wrap="square" rtlCol="0">
              <a:spAutoFit/>
            </a:bodyPr>
            <a:lstStyle/>
            <a:p>
              <a:r>
                <a:rPr lang="en-GB" sz="2000" b="1">
                  <a:latin typeface="Sassoon Infant Rg" panose="02000503030000020003" pitchFamily="2" charset="0"/>
                  <a:ea typeface="Sassoon Infant Rg" panose="02000503030000020003" pitchFamily="2" charset="0"/>
                </a:rPr>
                <a:t>5</a:t>
              </a:r>
            </a:p>
          </p:txBody>
        </p:sp>
      </p:grpSp>
      <p:sp>
        <p:nvSpPr>
          <p:cNvPr id="138" name="Frame 137">
            <a:extLst>
              <a:ext uri="{FF2B5EF4-FFF2-40B4-BE49-F238E27FC236}">
                <a16:creationId xmlns:a16="http://schemas.microsoft.com/office/drawing/2014/main" id="{6F73A954-09A9-17F4-315E-E522A62A16E1}"/>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06" name="Group 305">
            <a:extLst>
              <a:ext uri="{FF2B5EF4-FFF2-40B4-BE49-F238E27FC236}">
                <a16:creationId xmlns:a16="http://schemas.microsoft.com/office/drawing/2014/main" id="{120F60F5-C857-1805-CD2C-2D7F50D3B8DF}"/>
              </a:ext>
            </a:extLst>
          </p:cNvPr>
          <p:cNvGrpSpPr/>
          <p:nvPr/>
        </p:nvGrpSpPr>
        <p:grpSpPr>
          <a:xfrm>
            <a:off x="6524130" y="5781853"/>
            <a:ext cx="4791569" cy="706284"/>
            <a:chOff x="7998350" y="1737362"/>
            <a:chExt cx="1713901" cy="2844795"/>
          </a:xfrm>
        </p:grpSpPr>
        <p:sp>
          <p:nvSpPr>
            <p:cNvPr id="307" name="Rectangle: Rounded Corners 306">
              <a:extLst>
                <a:ext uri="{FF2B5EF4-FFF2-40B4-BE49-F238E27FC236}">
                  <a16:creationId xmlns:a16="http://schemas.microsoft.com/office/drawing/2014/main" id="{89606CAB-C086-B5E2-F150-8D3DA6E75242}"/>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sz="2000">
                <a:latin typeface="Sassoon Infant Rg" panose="02000503030000020003" pitchFamily="2" charset="0"/>
                <a:ea typeface="Sassoon Infant Rg" panose="02000503030000020003" pitchFamily="2" charset="0"/>
              </a:endParaRPr>
            </a:p>
          </p:txBody>
        </p:sp>
        <p:sp>
          <p:nvSpPr>
            <p:cNvPr id="308" name="Rectangle: Rounded Corners 4">
              <a:extLst>
                <a:ext uri="{FF2B5EF4-FFF2-40B4-BE49-F238E27FC236}">
                  <a16:creationId xmlns:a16="http://schemas.microsoft.com/office/drawing/2014/main" id="{3460145F-24D2-7D88-9D73-54FED1D311A3}"/>
                </a:ext>
              </a:extLst>
            </p:cNvPr>
            <p:cNvSpPr txBox="1"/>
            <p:nvPr/>
          </p:nvSpPr>
          <p:spPr>
            <a:xfrm>
              <a:off x="8082016" y="1821028"/>
              <a:ext cx="1546569" cy="26774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4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12" name="Group 311">
            <a:extLst>
              <a:ext uri="{FF2B5EF4-FFF2-40B4-BE49-F238E27FC236}">
                <a16:creationId xmlns:a16="http://schemas.microsoft.com/office/drawing/2014/main" id="{89225203-920F-B207-3A51-2FAF530AEBF8}"/>
              </a:ext>
            </a:extLst>
          </p:cNvPr>
          <p:cNvGrpSpPr/>
          <p:nvPr/>
        </p:nvGrpSpPr>
        <p:grpSpPr>
          <a:xfrm>
            <a:off x="6569485" y="5750072"/>
            <a:ext cx="752715" cy="748493"/>
            <a:chOff x="6450334" y="5317226"/>
            <a:chExt cx="801261" cy="903352"/>
          </a:xfrm>
        </p:grpSpPr>
        <p:sp>
          <p:nvSpPr>
            <p:cNvPr id="29" name="TextBox 28">
              <a:extLst>
                <a:ext uri="{FF2B5EF4-FFF2-40B4-BE49-F238E27FC236}">
                  <a16:creationId xmlns:a16="http://schemas.microsoft.com/office/drawing/2014/main" id="{D60C893C-6B2D-50EF-9A7D-673BEF5C3D74}"/>
                </a:ext>
              </a:extLst>
            </p:cNvPr>
            <p:cNvSpPr txBox="1"/>
            <p:nvPr/>
          </p:nvSpPr>
          <p:spPr>
            <a:xfrm>
              <a:off x="6671572" y="5599207"/>
              <a:ext cx="389673" cy="482891"/>
            </a:xfrm>
            <a:prstGeom prst="rect">
              <a:avLst/>
            </a:prstGeom>
            <a:noFill/>
          </p:spPr>
          <p:txBody>
            <a:bodyPr wrap="square" rtlCol="0">
              <a:spAutoFit/>
            </a:bodyPr>
            <a:lstStyle/>
            <a:p>
              <a:r>
                <a:rPr lang="en-GB" sz="2000" b="1">
                  <a:latin typeface="Sassoon Infant Rg" panose="02000503030000020003" pitchFamily="2" charset="0"/>
                  <a:ea typeface="Sassoon Infant Rg" panose="02000503030000020003" pitchFamily="2" charset="0"/>
                </a:rPr>
                <a:t>1</a:t>
              </a:r>
            </a:p>
          </p:txBody>
        </p:sp>
        <p:pic>
          <p:nvPicPr>
            <p:cNvPr id="310" name="Picture 309">
              <a:extLst>
                <a:ext uri="{FF2B5EF4-FFF2-40B4-BE49-F238E27FC236}">
                  <a16:creationId xmlns:a16="http://schemas.microsoft.com/office/drawing/2014/main" id="{C41BE675-6821-A4BF-C514-C79C5F4E0BA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6450334" y="5317226"/>
              <a:ext cx="801261" cy="903352"/>
            </a:xfrm>
            <a:prstGeom prst="rect">
              <a:avLst/>
            </a:prstGeom>
          </p:spPr>
        </p:pic>
      </p:grpSp>
      <p:sp>
        <p:nvSpPr>
          <p:cNvPr id="320" name="Freeform: Shape 319">
            <a:extLst>
              <a:ext uri="{FF2B5EF4-FFF2-40B4-BE49-F238E27FC236}">
                <a16:creationId xmlns:a16="http://schemas.microsoft.com/office/drawing/2014/main" id="{D4905EF2-EF8B-C3B0-7CAA-AC264A235A11}"/>
              </a:ext>
            </a:extLst>
          </p:cNvPr>
          <p:cNvSpPr/>
          <p:nvPr/>
        </p:nvSpPr>
        <p:spPr>
          <a:xfrm>
            <a:off x="5838826" y="1098925"/>
            <a:ext cx="6099174" cy="5606668"/>
          </a:xfrm>
          <a:custGeom>
            <a:avLst/>
            <a:gdLst>
              <a:gd name="connsiteX0" fmla="*/ 513624 w 514349"/>
              <a:gd name="connsiteY0" fmla="*/ 5877 h 571500"/>
              <a:gd name="connsiteX1" fmla="*/ 504823 w 514349"/>
              <a:gd name="connsiteY1" fmla="*/ 0 h 571500"/>
              <a:gd name="connsiteX2" fmla="*/ 9523 w 514349"/>
              <a:gd name="connsiteY2" fmla="*/ 0 h 571500"/>
              <a:gd name="connsiteX3" fmla="*/ 0 w 514349"/>
              <a:gd name="connsiteY3" fmla="*/ 9527 h 571500"/>
              <a:gd name="connsiteX4" fmla="*/ 2789 w 514349"/>
              <a:gd name="connsiteY4" fmla="*/ 16259 h 571500"/>
              <a:gd name="connsiteX5" fmla="*/ 24144 w 514349"/>
              <a:gd name="connsiteY5" fmla="*/ 37624 h 571500"/>
              <a:gd name="connsiteX6" fmla="*/ 38098 w 514349"/>
              <a:gd name="connsiteY6" fmla="*/ 71295 h 571500"/>
              <a:gd name="connsiteX7" fmla="*/ 38098 w 514349"/>
              <a:gd name="connsiteY7" fmla="*/ 523875 h 571500"/>
              <a:gd name="connsiteX8" fmla="*/ 85723 w 514349"/>
              <a:gd name="connsiteY8" fmla="*/ 571500 h 571500"/>
              <a:gd name="connsiteX9" fmla="*/ 428623 w 514349"/>
              <a:gd name="connsiteY9" fmla="*/ 571500 h 571500"/>
              <a:gd name="connsiteX10" fmla="*/ 476248 w 514349"/>
              <a:gd name="connsiteY10" fmla="*/ 523875 h 571500"/>
              <a:gd name="connsiteX11" fmla="*/ 476248 w 514349"/>
              <a:gd name="connsiteY11" fmla="*/ 71295 h 571500"/>
              <a:gd name="connsiteX12" fmla="*/ 490202 w 514349"/>
              <a:gd name="connsiteY12" fmla="*/ 37624 h 571500"/>
              <a:gd name="connsiteX13" fmla="*/ 511557 w 514349"/>
              <a:gd name="connsiteY13" fmla="*/ 16259 h 571500"/>
              <a:gd name="connsiteX14" fmla="*/ 513624 w 514349"/>
              <a:gd name="connsiteY14" fmla="*/ 5877 h 571500"/>
              <a:gd name="connsiteX15" fmla="*/ 428623 w 514349"/>
              <a:gd name="connsiteY15" fmla="*/ 552450 h 571500"/>
              <a:gd name="connsiteX16" fmla="*/ 85723 w 514349"/>
              <a:gd name="connsiteY16" fmla="*/ 552450 h 571500"/>
              <a:gd name="connsiteX17" fmla="*/ 57148 w 514349"/>
              <a:gd name="connsiteY17" fmla="*/ 523875 h 571500"/>
              <a:gd name="connsiteX18" fmla="*/ 57148 w 514349"/>
              <a:gd name="connsiteY18" fmla="*/ 123739 h 571500"/>
              <a:gd name="connsiteX19" fmla="*/ 234113 w 514349"/>
              <a:gd name="connsiteY19" fmla="*/ 100013 h 571500"/>
              <a:gd name="connsiteX20" fmla="*/ 323848 w 514349"/>
              <a:gd name="connsiteY20" fmla="*/ 85725 h 571500"/>
              <a:gd name="connsiteX21" fmla="*/ 438348 w 514349"/>
              <a:gd name="connsiteY21" fmla="*/ 106804 h 571500"/>
              <a:gd name="connsiteX22" fmla="*/ 457198 w 514349"/>
              <a:gd name="connsiteY22" fmla="*/ 112919 h 571500"/>
              <a:gd name="connsiteX23" fmla="*/ 457198 w 514349"/>
              <a:gd name="connsiteY23" fmla="*/ 523875 h 571500"/>
              <a:gd name="connsiteX24" fmla="*/ 428623 w 514349"/>
              <a:gd name="connsiteY24" fmla="*/ 552450 h 571500"/>
              <a:gd name="connsiteX25" fmla="*/ 476715 w 514349"/>
              <a:gd name="connsiteY25" fmla="*/ 24165 h 571500"/>
              <a:gd name="connsiteX26" fmla="*/ 457198 w 514349"/>
              <a:gd name="connsiteY26" fmla="*/ 71295 h 571500"/>
              <a:gd name="connsiteX27" fmla="*/ 457198 w 514349"/>
              <a:gd name="connsiteY27" fmla="*/ 93202 h 571500"/>
              <a:gd name="connsiteX28" fmla="*/ 444816 w 514349"/>
              <a:gd name="connsiteY28" fmla="*/ 88897 h 571500"/>
              <a:gd name="connsiteX29" fmla="*/ 323848 w 514349"/>
              <a:gd name="connsiteY29" fmla="*/ 66675 h 571500"/>
              <a:gd name="connsiteX30" fmla="*/ 229312 w 514349"/>
              <a:gd name="connsiteY30" fmla="*/ 81563 h 571500"/>
              <a:gd name="connsiteX31" fmla="*/ 57148 w 514349"/>
              <a:gd name="connsiteY31" fmla="*/ 104699 h 571500"/>
              <a:gd name="connsiteX32" fmla="*/ 57148 w 514349"/>
              <a:gd name="connsiteY32" fmla="*/ 71295 h 571500"/>
              <a:gd name="connsiteX33" fmla="*/ 37641 w 514349"/>
              <a:gd name="connsiteY33" fmla="*/ 24184 h 571500"/>
              <a:gd name="connsiteX34" fmla="*/ 32678 w 514349"/>
              <a:gd name="connsiteY34" fmla="*/ 19212 h 571500"/>
              <a:gd name="connsiteX35" fmla="*/ 32745 w 514349"/>
              <a:gd name="connsiteY35" fmla="*/ 19050 h 571500"/>
              <a:gd name="connsiteX36" fmla="*/ 481601 w 514349"/>
              <a:gd name="connsiteY36" fmla="*/ 19050 h 571500"/>
              <a:gd name="connsiteX37" fmla="*/ 481668 w 514349"/>
              <a:gd name="connsiteY37" fmla="*/ 19212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14349" h="571500">
                <a:moveTo>
                  <a:pt x="513624" y="5877"/>
                </a:moveTo>
                <a:cubicBezTo>
                  <a:pt x="512149" y="2318"/>
                  <a:pt x="508675" y="-1"/>
                  <a:pt x="504823" y="0"/>
                </a:cubicBezTo>
                <a:lnTo>
                  <a:pt x="9523" y="0"/>
                </a:lnTo>
                <a:cubicBezTo>
                  <a:pt x="4262" y="1"/>
                  <a:pt x="-1" y="4266"/>
                  <a:pt x="0" y="9527"/>
                </a:cubicBezTo>
                <a:cubicBezTo>
                  <a:pt x="1" y="12052"/>
                  <a:pt x="1004" y="14473"/>
                  <a:pt x="2789" y="16259"/>
                </a:cubicBezTo>
                <a:lnTo>
                  <a:pt x="24144" y="37624"/>
                </a:lnTo>
                <a:cubicBezTo>
                  <a:pt x="33105" y="46533"/>
                  <a:pt x="38130" y="58658"/>
                  <a:pt x="38098" y="71295"/>
                </a:cubicBezTo>
                <a:lnTo>
                  <a:pt x="38098" y="523875"/>
                </a:lnTo>
                <a:cubicBezTo>
                  <a:pt x="38130" y="550165"/>
                  <a:pt x="59433" y="571469"/>
                  <a:pt x="85723" y="571500"/>
                </a:cubicBezTo>
                <a:lnTo>
                  <a:pt x="428623" y="571500"/>
                </a:lnTo>
                <a:cubicBezTo>
                  <a:pt x="454913" y="571469"/>
                  <a:pt x="476217" y="550165"/>
                  <a:pt x="476248" y="523875"/>
                </a:cubicBezTo>
                <a:lnTo>
                  <a:pt x="476248" y="71295"/>
                </a:lnTo>
                <a:cubicBezTo>
                  <a:pt x="476216" y="58658"/>
                  <a:pt x="481241" y="46533"/>
                  <a:pt x="490202" y="37624"/>
                </a:cubicBezTo>
                <a:lnTo>
                  <a:pt x="511557" y="16259"/>
                </a:lnTo>
                <a:cubicBezTo>
                  <a:pt x="514283" y="13535"/>
                  <a:pt x="515099" y="9437"/>
                  <a:pt x="513624" y="5877"/>
                </a:cubicBezTo>
                <a:close/>
                <a:moveTo>
                  <a:pt x="428623" y="552450"/>
                </a:moveTo>
                <a:lnTo>
                  <a:pt x="85723" y="552450"/>
                </a:lnTo>
                <a:cubicBezTo>
                  <a:pt x="69941" y="552450"/>
                  <a:pt x="57148" y="539657"/>
                  <a:pt x="57148" y="523875"/>
                </a:cubicBezTo>
                <a:lnTo>
                  <a:pt x="57148" y="123739"/>
                </a:lnTo>
                <a:cubicBezTo>
                  <a:pt x="116951" y="124062"/>
                  <a:pt x="176508" y="116077"/>
                  <a:pt x="234113" y="100013"/>
                </a:cubicBezTo>
                <a:cubicBezTo>
                  <a:pt x="263218" y="91110"/>
                  <a:pt x="293419" y="86302"/>
                  <a:pt x="323848" y="85725"/>
                </a:cubicBezTo>
                <a:cubicBezTo>
                  <a:pt x="363013" y="85345"/>
                  <a:pt x="401885" y="92501"/>
                  <a:pt x="438348" y="106804"/>
                </a:cubicBezTo>
                <a:cubicBezTo>
                  <a:pt x="444517" y="109177"/>
                  <a:pt x="450811" y="111219"/>
                  <a:pt x="457198" y="112919"/>
                </a:cubicBezTo>
                <a:lnTo>
                  <a:pt x="457198" y="523875"/>
                </a:lnTo>
                <a:cubicBezTo>
                  <a:pt x="457198" y="539657"/>
                  <a:pt x="444405" y="552450"/>
                  <a:pt x="428623" y="552450"/>
                </a:cubicBezTo>
                <a:close/>
                <a:moveTo>
                  <a:pt x="476715" y="24165"/>
                </a:moveTo>
                <a:cubicBezTo>
                  <a:pt x="464219" y="36666"/>
                  <a:pt x="457199" y="53619"/>
                  <a:pt x="457198" y="71295"/>
                </a:cubicBezTo>
                <a:lnTo>
                  <a:pt x="457198" y="93202"/>
                </a:lnTo>
                <a:cubicBezTo>
                  <a:pt x="453626" y="92069"/>
                  <a:pt x="449492" y="90583"/>
                  <a:pt x="444816" y="88897"/>
                </a:cubicBezTo>
                <a:cubicBezTo>
                  <a:pt x="406263" y="73898"/>
                  <a:pt x="365214" y="66357"/>
                  <a:pt x="323848" y="66675"/>
                </a:cubicBezTo>
                <a:cubicBezTo>
                  <a:pt x="291796" y="67197"/>
                  <a:pt x="259974" y="72208"/>
                  <a:pt x="229312" y="81563"/>
                </a:cubicBezTo>
                <a:cubicBezTo>
                  <a:pt x="173292" y="97306"/>
                  <a:pt x="115337" y="105093"/>
                  <a:pt x="57148" y="104699"/>
                </a:cubicBezTo>
                <a:lnTo>
                  <a:pt x="57148" y="71295"/>
                </a:lnTo>
                <a:cubicBezTo>
                  <a:pt x="57151" y="53626"/>
                  <a:pt x="50134" y="36679"/>
                  <a:pt x="37641" y="24184"/>
                </a:cubicBezTo>
                <a:lnTo>
                  <a:pt x="32678" y="19212"/>
                </a:lnTo>
                <a:cubicBezTo>
                  <a:pt x="32593" y="19126"/>
                  <a:pt x="32621" y="19050"/>
                  <a:pt x="32745" y="19050"/>
                </a:cubicBezTo>
                <a:lnTo>
                  <a:pt x="481601" y="19050"/>
                </a:lnTo>
                <a:cubicBezTo>
                  <a:pt x="481725" y="19050"/>
                  <a:pt x="481754" y="19126"/>
                  <a:pt x="481668" y="19212"/>
                </a:cubicBezTo>
                <a:close/>
              </a:path>
            </a:pathLst>
          </a:custGeom>
          <a:solidFill>
            <a:srgbClr val="000000"/>
          </a:solidFill>
          <a:ln w="9525" cap="flat">
            <a:noFill/>
            <a:prstDash val="solid"/>
            <a:miter/>
          </a:ln>
        </p:spPr>
        <p:txBody>
          <a:bodyPr rtlCol="0" anchor="ctr"/>
          <a:lstStyle/>
          <a:p>
            <a:endParaRPr lang="en-GB"/>
          </a:p>
        </p:txBody>
      </p:sp>
      <p:sp>
        <p:nvSpPr>
          <p:cNvPr id="326" name="Freeform: Shape 325">
            <a:extLst>
              <a:ext uri="{FF2B5EF4-FFF2-40B4-BE49-F238E27FC236}">
                <a16:creationId xmlns:a16="http://schemas.microsoft.com/office/drawing/2014/main" id="{21EA3FFE-9B42-8781-AD68-37E7EF27921A}"/>
              </a:ext>
            </a:extLst>
          </p:cNvPr>
          <p:cNvSpPr/>
          <p:nvPr/>
        </p:nvSpPr>
        <p:spPr>
          <a:xfrm>
            <a:off x="10249380" y="250021"/>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p>
        </p:txBody>
      </p:sp>
      <p:sp>
        <p:nvSpPr>
          <p:cNvPr id="327" name="Freeform: Shape 326">
            <a:extLst>
              <a:ext uri="{FF2B5EF4-FFF2-40B4-BE49-F238E27FC236}">
                <a16:creationId xmlns:a16="http://schemas.microsoft.com/office/drawing/2014/main" id="{538CC44F-E9C0-9A7D-AC5E-B3B32E3564A1}"/>
              </a:ext>
            </a:extLst>
          </p:cNvPr>
          <p:cNvSpPr/>
          <p:nvPr/>
        </p:nvSpPr>
        <p:spPr>
          <a:xfrm>
            <a:off x="9879186" y="663515"/>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328" name="Freeform: Shape 327">
            <a:extLst>
              <a:ext uri="{FF2B5EF4-FFF2-40B4-BE49-F238E27FC236}">
                <a16:creationId xmlns:a16="http://schemas.microsoft.com/office/drawing/2014/main" id="{77DC0C71-6489-ADF9-2143-6FD32CE8EECE}"/>
              </a:ext>
            </a:extLst>
          </p:cNvPr>
          <p:cNvSpPr/>
          <p:nvPr/>
        </p:nvSpPr>
        <p:spPr>
          <a:xfrm>
            <a:off x="8705483" y="233286"/>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329" name="Freeform: Shape 328">
            <a:extLst>
              <a:ext uri="{FF2B5EF4-FFF2-40B4-BE49-F238E27FC236}">
                <a16:creationId xmlns:a16="http://schemas.microsoft.com/office/drawing/2014/main" id="{39CBC035-9317-988B-47DD-1245C4B0C8C5}"/>
              </a:ext>
            </a:extLst>
          </p:cNvPr>
          <p:cNvSpPr/>
          <p:nvPr/>
        </p:nvSpPr>
        <p:spPr>
          <a:xfrm>
            <a:off x="6579005" y="641948"/>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p>
        </p:txBody>
      </p:sp>
      <p:sp>
        <p:nvSpPr>
          <p:cNvPr id="2" name="TextBox 1">
            <a:extLst>
              <a:ext uri="{FF2B5EF4-FFF2-40B4-BE49-F238E27FC236}">
                <a16:creationId xmlns:a16="http://schemas.microsoft.com/office/drawing/2014/main" id="{CAEB4A79-0377-8A5D-9C4A-28A1E2D4056C}"/>
              </a:ext>
            </a:extLst>
          </p:cNvPr>
          <p:cNvSpPr txBox="1"/>
          <p:nvPr/>
        </p:nvSpPr>
        <p:spPr>
          <a:xfrm>
            <a:off x="144316" y="961919"/>
            <a:ext cx="4618184" cy="1754326"/>
          </a:xfrm>
          <a:prstGeom prst="rect">
            <a:avLst/>
          </a:prstGeom>
          <a:noFill/>
        </p:spPr>
        <p:txBody>
          <a:bodyPr wrap="square" rtlCol="0">
            <a:spAutoFit/>
          </a:bodyPr>
          <a:lstStyle/>
          <a:p>
            <a:pPr algn="just"/>
            <a:r>
              <a:rPr lang="en-GB" i="1"/>
              <a:t>300, 000 years after their appearance matter and energy started to coalesce into complex structures called atoms, which then combined into molecules (13.2 billion years ago). The story of atoms, molecules and their interactions is called Chemistry</a:t>
            </a:r>
            <a:endParaRPr lang="en-GB" sz="1400">
              <a:latin typeface="Sassoon Infant Rg" panose="02000503030000020003" pitchFamily="2" charset="0"/>
              <a:ea typeface="Sassoon Infant Rg" panose="02000503030000020003" pitchFamily="2" charset="0"/>
            </a:endParaRPr>
          </a:p>
        </p:txBody>
      </p:sp>
      <p:sp>
        <p:nvSpPr>
          <p:cNvPr id="3" name="TextBox 2">
            <a:extLst>
              <a:ext uri="{FF2B5EF4-FFF2-40B4-BE49-F238E27FC236}">
                <a16:creationId xmlns:a16="http://schemas.microsoft.com/office/drawing/2014/main" id="{20F3B80B-FC9E-F7AF-C5FF-B298E7A810D8}"/>
              </a:ext>
            </a:extLst>
          </p:cNvPr>
          <p:cNvSpPr txBox="1"/>
          <p:nvPr/>
        </p:nvSpPr>
        <p:spPr>
          <a:xfrm>
            <a:off x="1154787" y="348834"/>
            <a:ext cx="3155691" cy="461665"/>
          </a:xfrm>
          <a:prstGeom prst="rect">
            <a:avLst/>
          </a:prstGeom>
          <a:noFill/>
        </p:spPr>
        <p:txBody>
          <a:bodyPr wrap="square">
            <a:spAutoFit/>
          </a:bodyPr>
          <a:lstStyle/>
          <a:p>
            <a:pPr fontAlgn="base"/>
            <a:r>
              <a:rPr lang="en-GB" sz="2400" b="1"/>
              <a:t>What is Chemistry?</a:t>
            </a:r>
            <a:r>
              <a:rPr lang="en-GB" sz="2400"/>
              <a:t> </a:t>
            </a:r>
            <a:r>
              <a:rPr lang="en-GB" sz="2400" b="0" i="0">
                <a:solidFill>
                  <a:srgbClr val="000000"/>
                </a:solidFill>
                <a:effectLst/>
                <a:latin typeface="Calibri" panose="020F0502020204030204" pitchFamily="34" charset="0"/>
              </a:rPr>
              <a:t> </a:t>
            </a:r>
            <a:endParaRPr lang="en-GB" sz="2400" b="0" i="0">
              <a:solidFill>
                <a:srgbClr val="000000"/>
              </a:solidFill>
              <a:effectLst/>
              <a:latin typeface="Segoe UI" panose="020B0502040204020203" pitchFamily="34" charset="0"/>
            </a:endParaRPr>
          </a:p>
        </p:txBody>
      </p:sp>
      <p:pic>
        <p:nvPicPr>
          <p:cNvPr id="4" name="Picture 3">
            <a:extLst>
              <a:ext uri="{FF2B5EF4-FFF2-40B4-BE49-F238E27FC236}">
                <a16:creationId xmlns:a16="http://schemas.microsoft.com/office/drawing/2014/main" id="{7F527261-C0B1-6606-AA77-1A5EBA5C9E88}"/>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144316" y="105448"/>
            <a:ext cx="1104848" cy="856471"/>
          </a:xfrm>
          <a:prstGeom prst="rect">
            <a:avLst/>
          </a:prstGeom>
        </p:spPr>
      </p:pic>
      <p:sp>
        <p:nvSpPr>
          <p:cNvPr id="8" name="TextBox 7">
            <a:extLst>
              <a:ext uri="{FF2B5EF4-FFF2-40B4-BE49-F238E27FC236}">
                <a16:creationId xmlns:a16="http://schemas.microsoft.com/office/drawing/2014/main" id="{4DC0AA56-91A0-12B1-FFB0-2CDB80B12A15}"/>
              </a:ext>
            </a:extLst>
          </p:cNvPr>
          <p:cNvSpPr txBox="1"/>
          <p:nvPr/>
        </p:nvSpPr>
        <p:spPr>
          <a:xfrm>
            <a:off x="7322200" y="2478250"/>
            <a:ext cx="3822159" cy="369332"/>
          </a:xfrm>
          <a:prstGeom prst="rect">
            <a:avLst/>
          </a:prstGeom>
          <a:noFill/>
        </p:spPr>
        <p:txBody>
          <a:bodyPr wrap="square">
            <a:spAutoFit/>
          </a:bodyPr>
          <a:lstStyle/>
          <a:p>
            <a:r>
              <a:rPr lang="en-GB">
                <a:latin typeface="Sassoon Infant Rg" panose="02000503030000020003" pitchFamily="2" charset="0"/>
                <a:ea typeface="Sassoon Infant Rg" panose="02000503030000020003" pitchFamily="2" charset="0"/>
              </a:rPr>
              <a:t>Chemistry &amp; Matter change</a:t>
            </a:r>
          </a:p>
        </p:txBody>
      </p:sp>
      <p:sp>
        <p:nvSpPr>
          <p:cNvPr id="21" name="TextBox 20">
            <a:extLst>
              <a:ext uri="{FF2B5EF4-FFF2-40B4-BE49-F238E27FC236}">
                <a16:creationId xmlns:a16="http://schemas.microsoft.com/office/drawing/2014/main" id="{AABEFC5E-A9CC-D9FA-9A3B-D27C7A56AB96}"/>
              </a:ext>
            </a:extLst>
          </p:cNvPr>
          <p:cNvSpPr txBox="1"/>
          <p:nvPr/>
        </p:nvSpPr>
        <p:spPr>
          <a:xfrm>
            <a:off x="7267324" y="3871274"/>
            <a:ext cx="3848861" cy="338554"/>
          </a:xfrm>
          <a:prstGeom prst="rect">
            <a:avLst/>
          </a:prstGeom>
          <a:noFill/>
        </p:spPr>
        <p:txBody>
          <a:bodyPr wrap="square">
            <a:spAutoFit/>
          </a:bodyPr>
          <a:lstStyle/>
          <a:p>
            <a:r>
              <a:rPr lang="en-GB" sz="1600">
                <a:latin typeface="Sassoon Infant Rg" panose="02000503030000020003" pitchFamily="2" charset="0"/>
                <a:ea typeface="Sassoon Infant Rg" panose="02000503030000020003" pitchFamily="2" charset="0"/>
              </a:rPr>
              <a:t>Electricity and Materials</a:t>
            </a:r>
          </a:p>
        </p:txBody>
      </p:sp>
      <p:sp>
        <p:nvSpPr>
          <p:cNvPr id="26" name="TextBox 25">
            <a:extLst>
              <a:ext uri="{FF2B5EF4-FFF2-40B4-BE49-F238E27FC236}">
                <a16:creationId xmlns:a16="http://schemas.microsoft.com/office/drawing/2014/main" id="{7A1B6430-7AE9-F4C8-03F4-655A09AE5E51}"/>
              </a:ext>
            </a:extLst>
          </p:cNvPr>
          <p:cNvSpPr txBox="1"/>
          <p:nvPr/>
        </p:nvSpPr>
        <p:spPr>
          <a:xfrm>
            <a:off x="7432956" y="5875008"/>
            <a:ext cx="3813728" cy="369332"/>
          </a:xfrm>
          <a:prstGeom prst="rect">
            <a:avLst/>
          </a:prstGeom>
          <a:noFill/>
        </p:spPr>
        <p:txBody>
          <a:bodyPr wrap="square">
            <a:spAutoFit/>
          </a:bodyPr>
          <a:lstStyle/>
          <a:p>
            <a:r>
              <a:rPr lang="en-GB">
                <a:solidFill>
                  <a:srgbClr val="000000"/>
                </a:solidFill>
                <a:latin typeface="Sassoon Infant Rg" panose="02000503030000020003" pitchFamily="2" charset="0"/>
                <a:ea typeface="Sassoon Infant Rg" panose="02000503030000020003" pitchFamily="2" charset="0"/>
              </a:rPr>
              <a:t>Everyday materials &amp; magnetism</a:t>
            </a:r>
            <a:endParaRPr lang="en-GB" sz="4800">
              <a:latin typeface="Sassoon Infant Rg" panose="02000503030000020003" pitchFamily="2" charset="0"/>
              <a:ea typeface="Sassoon Infant Rg" panose="02000503030000020003" pitchFamily="2" charset="0"/>
            </a:endParaRPr>
          </a:p>
        </p:txBody>
      </p:sp>
      <p:sp>
        <p:nvSpPr>
          <p:cNvPr id="5" name="TextBox 4">
            <a:extLst>
              <a:ext uri="{FF2B5EF4-FFF2-40B4-BE49-F238E27FC236}">
                <a16:creationId xmlns:a16="http://schemas.microsoft.com/office/drawing/2014/main" id="{08B16C1E-0DC3-D0C5-B51E-3AF36D39DB79}"/>
              </a:ext>
            </a:extLst>
          </p:cNvPr>
          <p:cNvSpPr txBox="1"/>
          <p:nvPr/>
        </p:nvSpPr>
        <p:spPr>
          <a:xfrm>
            <a:off x="7840982" y="1302594"/>
            <a:ext cx="1626692" cy="523220"/>
          </a:xfrm>
          <a:prstGeom prst="rect">
            <a:avLst/>
          </a:prstGeom>
          <a:noFill/>
        </p:spPr>
        <p:txBody>
          <a:bodyPr wrap="square">
            <a:spAutoFit/>
          </a:bodyPr>
          <a:lstStyle/>
          <a:p>
            <a:r>
              <a:rPr lang="en-GB" sz="2800" b="1" u="sng">
                <a:solidFill>
                  <a:srgbClr val="000000"/>
                </a:solidFill>
                <a:latin typeface="Sassoon Infant Rg" panose="02000503030000020003" pitchFamily="2" charset="0"/>
                <a:ea typeface="Sassoon Infant Rg" panose="02000503030000020003" pitchFamily="2" charset="0"/>
              </a:rPr>
              <a:t>Contexts</a:t>
            </a:r>
            <a:endParaRPr lang="en-GB"/>
          </a:p>
        </p:txBody>
      </p:sp>
      <p:sp>
        <p:nvSpPr>
          <p:cNvPr id="7" name="TextBox 6">
            <a:extLst>
              <a:ext uri="{FF2B5EF4-FFF2-40B4-BE49-F238E27FC236}">
                <a16:creationId xmlns:a16="http://schemas.microsoft.com/office/drawing/2014/main" id="{FF96B8F8-4681-7878-2973-216AFDA150E5}"/>
              </a:ext>
            </a:extLst>
          </p:cNvPr>
          <p:cNvSpPr txBox="1"/>
          <p:nvPr/>
        </p:nvSpPr>
        <p:spPr>
          <a:xfrm>
            <a:off x="1585255" y="2582636"/>
            <a:ext cx="2438400" cy="461665"/>
          </a:xfrm>
          <a:prstGeom prst="rect">
            <a:avLst/>
          </a:prstGeom>
          <a:noFill/>
        </p:spPr>
        <p:txBody>
          <a:bodyPr wrap="square">
            <a:spAutoFit/>
          </a:bodyPr>
          <a:lstStyle/>
          <a:p>
            <a:pPr fontAlgn="base"/>
            <a:r>
              <a:rPr lang="en-GB" sz="2400" b="1" u="sng">
                <a:solidFill>
                  <a:srgbClr val="000000"/>
                </a:solidFill>
                <a:latin typeface="Sassoon Infant Rg" panose="02000503030000020003" pitchFamily="2" charset="0"/>
                <a:ea typeface="Sassoon Infant Rg" panose="02000503030000020003" pitchFamily="2" charset="0"/>
              </a:rPr>
              <a:t>Key concepts:</a:t>
            </a:r>
            <a:endParaRPr lang="en-GB" sz="6000" b="0" i="0" u="sng">
              <a:solidFill>
                <a:srgbClr val="000000"/>
              </a:solidFill>
              <a:effectLst/>
              <a:latin typeface="Segoe UI" panose="020B0502040204020203" pitchFamily="34" charset="0"/>
            </a:endParaRPr>
          </a:p>
        </p:txBody>
      </p:sp>
      <p:sp>
        <p:nvSpPr>
          <p:cNvPr id="9" name="Oval 8">
            <a:extLst>
              <a:ext uri="{FF2B5EF4-FFF2-40B4-BE49-F238E27FC236}">
                <a16:creationId xmlns:a16="http://schemas.microsoft.com/office/drawing/2014/main" id="{AA359512-4978-A7C1-24B8-C6E94A03847A}"/>
              </a:ext>
            </a:extLst>
          </p:cNvPr>
          <p:cNvSpPr/>
          <p:nvPr/>
        </p:nvSpPr>
        <p:spPr>
          <a:xfrm>
            <a:off x="3931648" y="4932669"/>
            <a:ext cx="1773377" cy="160735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400">
                <a:solidFill>
                  <a:srgbClr val="000000"/>
                </a:solidFill>
                <a:latin typeface="Sassoon Infant Rg" panose="02000503030000020003" pitchFamily="2" charset="0"/>
                <a:ea typeface="Sassoon Infant Rg" panose="02000503030000020003" pitchFamily="2" charset="0"/>
              </a:rPr>
              <a:t>Energy plays a key role in determining the changes that matter can undergo  </a:t>
            </a:r>
            <a:endParaRPr lang="en-GB" sz="4000">
              <a:latin typeface="Sassoon Infant Rg" panose="02000503030000020003" pitchFamily="2" charset="0"/>
              <a:ea typeface="Sassoon Infant Rg" panose="02000503030000020003" pitchFamily="2" charset="0"/>
            </a:endParaRPr>
          </a:p>
        </p:txBody>
      </p:sp>
      <p:sp>
        <p:nvSpPr>
          <p:cNvPr id="27" name="Oval 26">
            <a:extLst>
              <a:ext uri="{FF2B5EF4-FFF2-40B4-BE49-F238E27FC236}">
                <a16:creationId xmlns:a16="http://schemas.microsoft.com/office/drawing/2014/main" id="{D6CE1082-C1A9-3734-B175-3A86D988D238}"/>
              </a:ext>
            </a:extLst>
          </p:cNvPr>
          <p:cNvSpPr/>
          <p:nvPr/>
        </p:nvSpPr>
        <p:spPr>
          <a:xfrm>
            <a:off x="4032631" y="2962531"/>
            <a:ext cx="1520253" cy="12377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Chemistry is everywhere</a:t>
            </a:r>
          </a:p>
        </p:txBody>
      </p:sp>
      <p:sp>
        <p:nvSpPr>
          <p:cNvPr id="28" name="Oval 27">
            <a:extLst>
              <a:ext uri="{FF2B5EF4-FFF2-40B4-BE49-F238E27FC236}">
                <a16:creationId xmlns:a16="http://schemas.microsoft.com/office/drawing/2014/main" id="{090BBFD6-49B1-9A41-A96C-6A89633405EA}"/>
              </a:ext>
            </a:extLst>
          </p:cNvPr>
          <p:cNvSpPr/>
          <p:nvPr/>
        </p:nvSpPr>
        <p:spPr>
          <a:xfrm>
            <a:off x="389056" y="3067358"/>
            <a:ext cx="1343333" cy="124247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400">
                <a:solidFill>
                  <a:srgbClr val="000000"/>
                </a:solidFill>
                <a:latin typeface="Sassoon Infant Rg" panose="02000503030000020003" pitchFamily="2" charset="0"/>
                <a:ea typeface="Sassoon Infant Rg" panose="02000503030000020003" pitchFamily="2" charset="0"/>
              </a:rPr>
              <a:t>All matter is made of particles  </a:t>
            </a:r>
            <a:endParaRPr lang="en-GB" sz="4000">
              <a:latin typeface="Sassoon Infant Rg" panose="02000503030000020003" pitchFamily="2" charset="0"/>
              <a:ea typeface="Sassoon Infant Rg" panose="02000503030000020003" pitchFamily="2" charset="0"/>
            </a:endParaRPr>
          </a:p>
        </p:txBody>
      </p:sp>
      <p:sp>
        <p:nvSpPr>
          <p:cNvPr id="45" name="Oval 44">
            <a:extLst>
              <a:ext uri="{FF2B5EF4-FFF2-40B4-BE49-F238E27FC236}">
                <a16:creationId xmlns:a16="http://schemas.microsoft.com/office/drawing/2014/main" id="{DFFB382F-8A95-99D0-CD25-894E2EC028F1}"/>
              </a:ext>
            </a:extLst>
          </p:cNvPr>
          <p:cNvSpPr/>
          <p:nvPr/>
        </p:nvSpPr>
        <p:spPr>
          <a:xfrm>
            <a:off x="1399688" y="4151721"/>
            <a:ext cx="2015547" cy="16073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400">
                <a:solidFill>
                  <a:srgbClr val="000000"/>
                </a:solidFill>
                <a:latin typeface="Sassoon Infant Rg" panose="02000503030000020003" pitchFamily="2" charset="0"/>
                <a:ea typeface="Sassoon Infant Rg" panose="02000503030000020003" pitchFamily="2" charset="0"/>
              </a:rPr>
              <a:t>The properties of materials derive from the identity and arrangement of particles  </a:t>
            </a:r>
            <a:endParaRPr lang="en-GB" sz="4000">
              <a:latin typeface="Sassoon Infant Rg" panose="02000503030000020003" pitchFamily="2" charset="0"/>
              <a:ea typeface="Sassoon Infant Rg" panose="02000503030000020003" pitchFamily="2" charset="0"/>
            </a:endParaRPr>
          </a:p>
        </p:txBody>
      </p:sp>
      <p:sp>
        <p:nvSpPr>
          <p:cNvPr id="46" name="TextBox 45">
            <a:extLst>
              <a:ext uri="{FF2B5EF4-FFF2-40B4-BE49-F238E27FC236}">
                <a16:creationId xmlns:a16="http://schemas.microsoft.com/office/drawing/2014/main" id="{3CDC48E0-7093-44ED-F077-84F3FE80ABE8}"/>
              </a:ext>
            </a:extLst>
          </p:cNvPr>
          <p:cNvSpPr txBox="1"/>
          <p:nvPr/>
        </p:nvSpPr>
        <p:spPr>
          <a:xfrm>
            <a:off x="7333294" y="3177521"/>
            <a:ext cx="3860932" cy="369332"/>
          </a:xfrm>
          <a:prstGeom prst="rect">
            <a:avLst/>
          </a:prstGeom>
          <a:noFill/>
        </p:spPr>
        <p:txBody>
          <a:bodyPr wrap="square">
            <a:spAutoFit/>
          </a:bodyPr>
          <a:lstStyle/>
          <a:p>
            <a:r>
              <a:rPr lang="en-GB">
                <a:latin typeface="Sassoon Infant Rg" panose="02000503030000020003" pitchFamily="2" charset="0"/>
                <a:ea typeface="Sassoon Infant Rg" panose="02000503030000020003" pitchFamily="2" charset="0"/>
              </a:rPr>
              <a:t>Chemistry</a:t>
            </a:r>
          </a:p>
        </p:txBody>
      </p:sp>
    </p:spTree>
    <p:extLst>
      <p:ext uri="{BB962C8B-B14F-4D97-AF65-F5344CB8AC3E}">
        <p14:creationId xmlns:p14="http://schemas.microsoft.com/office/powerpoint/2010/main" val="101044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7"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1000"/>
                                        <p:tgtEl>
                                          <p:spTgt spid="45"/>
                                        </p:tgtEl>
                                      </p:cBhvr>
                                    </p:animEffect>
                                    <p:anim calcmode="lin" valueType="num">
                                      <p:cBhvr>
                                        <p:cTn id="12" dur="1000" fill="hold"/>
                                        <p:tgtEl>
                                          <p:spTgt spid="45"/>
                                        </p:tgtEl>
                                        <p:attrNameLst>
                                          <p:attrName>ppt_x</p:attrName>
                                        </p:attrNameLst>
                                      </p:cBhvr>
                                      <p:tavLst>
                                        <p:tav tm="0">
                                          <p:val>
                                            <p:strVal val="#ppt_x"/>
                                          </p:val>
                                        </p:tav>
                                        <p:tav tm="100000">
                                          <p:val>
                                            <p:strVal val="#ppt_x"/>
                                          </p:val>
                                        </p:tav>
                                      </p:tavLst>
                                    </p:anim>
                                    <p:anim calcmode="lin" valueType="num">
                                      <p:cBhvr>
                                        <p:cTn id="13" dur="900" decel="100000" fill="hold"/>
                                        <p:tgtEl>
                                          <p:spTgt spid="45"/>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45"/>
                                        </p:tgtEl>
                                        <p:attrNameLst>
                                          <p:attrName>ppt_y</p:attrName>
                                        </p:attrNameLst>
                                      </p:cBhvr>
                                      <p:tavLst>
                                        <p:tav tm="0">
                                          <p:val>
                                            <p:strVal val="#ppt_y-.03"/>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7"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900" decel="100000" fill="hold"/>
                                        <p:tgtEl>
                                          <p:spTgt spid="9"/>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1000"/>
                                        <p:tgtEl>
                                          <p:spTgt spid="28"/>
                                        </p:tgtEl>
                                      </p:cBhvr>
                                    </p:animEffect>
                                    <p:anim calcmode="lin" valueType="num">
                                      <p:cBhvr>
                                        <p:cTn id="28" dur="1000" fill="hold"/>
                                        <p:tgtEl>
                                          <p:spTgt spid="28"/>
                                        </p:tgtEl>
                                        <p:attrNameLst>
                                          <p:attrName>ppt_x</p:attrName>
                                        </p:attrNameLst>
                                      </p:cBhvr>
                                      <p:tavLst>
                                        <p:tav tm="0">
                                          <p:val>
                                            <p:strVal val="#ppt_x"/>
                                          </p:val>
                                        </p:tav>
                                        <p:tav tm="100000">
                                          <p:val>
                                            <p:strVal val="#ppt_x"/>
                                          </p:val>
                                        </p:tav>
                                      </p:tavLst>
                                    </p:anim>
                                    <p:anim calcmode="lin" valueType="num">
                                      <p:cBhvr>
                                        <p:cTn id="29" dur="900" decel="100000" fill="hold"/>
                                        <p:tgtEl>
                                          <p:spTgt spid="28"/>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28"/>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7"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1000"/>
                                        <p:tgtEl>
                                          <p:spTgt spid="27"/>
                                        </p:tgtEl>
                                      </p:cBhvr>
                                    </p:animEffect>
                                    <p:anim calcmode="lin" valueType="num">
                                      <p:cBhvr>
                                        <p:cTn id="36" dur="1000" fill="hold"/>
                                        <p:tgtEl>
                                          <p:spTgt spid="27"/>
                                        </p:tgtEl>
                                        <p:attrNameLst>
                                          <p:attrName>ppt_x</p:attrName>
                                        </p:attrNameLst>
                                      </p:cBhvr>
                                      <p:tavLst>
                                        <p:tav tm="0">
                                          <p:val>
                                            <p:strVal val="#ppt_x"/>
                                          </p:val>
                                        </p:tav>
                                        <p:tav tm="100000">
                                          <p:val>
                                            <p:strVal val="#ppt_x"/>
                                          </p:val>
                                        </p:tav>
                                      </p:tavLst>
                                    </p:anim>
                                    <p:anim calcmode="lin" valueType="num">
                                      <p:cBhvr>
                                        <p:cTn id="37" dur="900" decel="100000" fill="hold"/>
                                        <p:tgtEl>
                                          <p:spTgt spid="27"/>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27"/>
                                        </p:tgtEl>
                                        <p:attrNameLst>
                                          <p:attrName>ppt_y</p:attrName>
                                        </p:attrNameLst>
                                      </p:cBhvr>
                                      <p:tavLst>
                                        <p:tav tm="0">
                                          <p:val>
                                            <p:strVal val="#ppt_y-.03"/>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1" grpId="0"/>
      <p:bldP spid="26" grpId="0"/>
      <p:bldP spid="7" grpId="0"/>
      <p:bldP spid="9" grpId="0" animBg="1"/>
      <p:bldP spid="27" grpId="0" animBg="1"/>
      <p:bldP spid="28" grpId="0" animBg="1"/>
      <p:bldP spid="45" grpId="0" animBg="1"/>
      <p:bldP spid="4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CD28B-826C-A9FE-BED6-C497560C37F8}"/>
            </a:ext>
          </a:extLst>
        </p:cNvPr>
        <p:cNvGrpSpPr/>
        <p:nvPr/>
      </p:nvGrpSpPr>
      <p:grpSpPr>
        <a:xfrm>
          <a:off x="0" y="0"/>
          <a:ext cx="0" cy="0"/>
          <a:chOff x="0" y="0"/>
          <a:chExt cx="0" cy="0"/>
        </a:xfrm>
      </p:grpSpPr>
      <p:sp>
        <p:nvSpPr>
          <p:cNvPr id="273" name="Freeform: Shape 272">
            <a:extLst>
              <a:ext uri="{FF2B5EF4-FFF2-40B4-BE49-F238E27FC236}">
                <a16:creationId xmlns:a16="http://schemas.microsoft.com/office/drawing/2014/main" id="{890B5CAE-62CF-1CA0-255F-51645AF88149}"/>
              </a:ext>
            </a:extLst>
          </p:cNvPr>
          <p:cNvSpPr/>
          <p:nvPr/>
        </p:nvSpPr>
        <p:spPr>
          <a:xfrm>
            <a:off x="6801640" y="1684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284" name="Freeform: Shape 283">
            <a:extLst>
              <a:ext uri="{FF2B5EF4-FFF2-40B4-BE49-F238E27FC236}">
                <a16:creationId xmlns:a16="http://schemas.microsoft.com/office/drawing/2014/main" id="{43E8D030-8741-C8CA-F1F0-5C12B9D32616}"/>
              </a:ext>
            </a:extLst>
          </p:cNvPr>
          <p:cNvSpPr/>
          <p:nvPr/>
        </p:nvSpPr>
        <p:spPr>
          <a:xfrm>
            <a:off x="9467674" y="224090"/>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p>
        </p:txBody>
      </p:sp>
      <p:sp>
        <p:nvSpPr>
          <p:cNvPr id="285" name="Freeform: Shape 284">
            <a:extLst>
              <a:ext uri="{FF2B5EF4-FFF2-40B4-BE49-F238E27FC236}">
                <a16:creationId xmlns:a16="http://schemas.microsoft.com/office/drawing/2014/main" id="{388152F7-4779-F5DA-F88B-FC8010CDDD5C}"/>
              </a:ext>
            </a:extLst>
          </p:cNvPr>
          <p:cNvSpPr/>
          <p:nvPr/>
        </p:nvSpPr>
        <p:spPr>
          <a:xfrm>
            <a:off x="8109740" y="434950"/>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p>
        </p:txBody>
      </p:sp>
      <p:sp>
        <p:nvSpPr>
          <p:cNvPr id="286" name="Freeform: Shape 285">
            <a:extLst>
              <a:ext uri="{FF2B5EF4-FFF2-40B4-BE49-F238E27FC236}">
                <a16:creationId xmlns:a16="http://schemas.microsoft.com/office/drawing/2014/main" id="{98E1F639-4E99-D483-D521-AFE3CE27EC43}"/>
              </a:ext>
            </a:extLst>
          </p:cNvPr>
          <p:cNvSpPr/>
          <p:nvPr/>
        </p:nvSpPr>
        <p:spPr>
          <a:xfrm>
            <a:off x="7186402" y="5493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7"/>
                  <a:pt x="131059" y="64883"/>
                </a:cubicBezTo>
                <a:cubicBezTo>
                  <a:pt x="131059" y="29048"/>
                  <a:pt x="101721" y="0"/>
                  <a:pt x="65530" y="0"/>
                </a:cubicBezTo>
                <a:cubicBezTo>
                  <a:pt x="29338" y="0"/>
                  <a:pt x="0" y="29048"/>
                  <a:pt x="0" y="64883"/>
                </a:cubicBezTo>
                <a:cubicBezTo>
                  <a:pt x="0" y="100717"/>
                  <a:pt x="29338" y="129765"/>
                  <a:pt x="65530" y="129765"/>
                </a:cubicBezTo>
                <a:close/>
                <a:moveTo>
                  <a:pt x="65530" y="43255"/>
                </a:moveTo>
                <a:cubicBezTo>
                  <a:pt x="77594" y="43255"/>
                  <a:pt x="87373" y="52938"/>
                  <a:pt x="87373" y="64883"/>
                </a:cubicBezTo>
                <a:cubicBezTo>
                  <a:pt x="87373" y="76828"/>
                  <a:pt x="77594" y="86510"/>
                  <a:pt x="65530" y="86510"/>
                </a:cubicBezTo>
                <a:cubicBezTo>
                  <a:pt x="53466" y="86510"/>
                  <a:pt x="43686" y="76828"/>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grpSp>
        <p:nvGrpSpPr>
          <p:cNvPr id="6" name="Group 5">
            <a:extLst>
              <a:ext uri="{FF2B5EF4-FFF2-40B4-BE49-F238E27FC236}">
                <a16:creationId xmlns:a16="http://schemas.microsoft.com/office/drawing/2014/main" id="{754AFFE3-3EDD-2D6B-F8F2-ECEC91D596C6}"/>
              </a:ext>
            </a:extLst>
          </p:cNvPr>
          <p:cNvGrpSpPr/>
          <p:nvPr/>
        </p:nvGrpSpPr>
        <p:grpSpPr>
          <a:xfrm>
            <a:off x="6417190" y="5097492"/>
            <a:ext cx="4969774" cy="661583"/>
            <a:chOff x="1999694" y="1717038"/>
            <a:chExt cx="1713901" cy="2885442"/>
          </a:xfrm>
        </p:grpSpPr>
        <p:sp>
          <p:nvSpPr>
            <p:cNvPr id="10" name="Rectangle: Rounded Corners 9">
              <a:extLst>
                <a:ext uri="{FF2B5EF4-FFF2-40B4-BE49-F238E27FC236}">
                  <a16:creationId xmlns:a16="http://schemas.microsoft.com/office/drawing/2014/main" id="{269E0FA1-E895-852F-3E15-494FEB12906F}"/>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1" name="Rectangle: Rounded Corners 4">
              <a:extLst>
                <a:ext uri="{FF2B5EF4-FFF2-40B4-BE49-F238E27FC236}">
                  <a16:creationId xmlns:a16="http://schemas.microsoft.com/office/drawing/2014/main" id="{3F4DC51A-284E-99E8-9167-59E68DE0A852}"/>
                </a:ext>
              </a:extLst>
            </p:cNvPr>
            <p:cNvSpPr txBox="1"/>
            <p:nvPr/>
          </p:nvSpPr>
          <p:spPr>
            <a:xfrm>
              <a:off x="2333340" y="1800703"/>
              <a:ext cx="1296589" cy="27181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The Earth and its place in the solar system</a:t>
              </a:r>
              <a:endParaRPr lang="en-GB" sz="2000" kern="1200">
                <a:solidFill>
                  <a:schemeClr val="tx1"/>
                </a:solidFill>
                <a:latin typeface="Sassoon Infant Rg" panose="02000503030000020003" pitchFamily="2" charset="0"/>
                <a:ea typeface="Sassoon Infant Rg" panose="02000503030000020003" pitchFamily="2" charset="0"/>
              </a:endParaRPr>
            </a:p>
          </p:txBody>
        </p:sp>
      </p:grpSp>
      <p:grpSp>
        <p:nvGrpSpPr>
          <p:cNvPr id="30" name="Group 29">
            <a:extLst>
              <a:ext uri="{FF2B5EF4-FFF2-40B4-BE49-F238E27FC236}">
                <a16:creationId xmlns:a16="http://schemas.microsoft.com/office/drawing/2014/main" id="{65636C74-8A8D-3356-77FA-D8DE51DE6802}"/>
              </a:ext>
            </a:extLst>
          </p:cNvPr>
          <p:cNvGrpSpPr/>
          <p:nvPr/>
        </p:nvGrpSpPr>
        <p:grpSpPr>
          <a:xfrm>
            <a:off x="6532989" y="5035884"/>
            <a:ext cx="752715" cy="748493"/>
            <a:chOff x="4462145" y="450020"/>
            <a:chExt cx="801261" cy="903352"/>
          </a:xfrm>
        </p:grpSpPr>
        <p:pic>
          <p:nvPicPr>
            <p:cNvPr id="31" name="Picture 30">
              <a:extLst>
                <a:ext uri="{FF2B5EF4-FFF2-40B4-BE49-F238E27FC236}">
                  <a16:creationId xmlns:a16="http://schemas.microsoft.com/office/drawing/2014/main" id="{2304A672-A20D-02D7-6BF9-1EC6B3D5E66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2" name="TextBox 31">
              <a:extLst>
                <a:ext uri="{FF2B5EF4-FFF2-40B4-BE49-F238E27FC236}">
                  <a16:creationId xmlns:a16="http://schemas.microsoft.com/office/drawing/2014/main" id="{53C212B0-28C8-5FA7-4F2B-74283CCE2772}"/>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2</a:t>
              </a:r>
            </a:p>
          </p:txBody>
        </p:sp>
      </p:grpSp>
      <p:grpSp>
        <p:nvGrpSpPr>
          <p:cNvPr id="12" name="Group 11">
            <a:extLst>
              <a:ext uri="{FF2B5EF4-FFF2-40B4-BE49-F238E27FC236}">
                <a16:creationId xmlns:a16="http://schemas.microsoft.com/office/drawing/2014/main" id="{F83AD538-88D8-1E11-1047-B873E8966AF3}"/>
              </a:ext>
            </a:extLst>
          </p:cNvPr>
          <p:cNvGrpSpPr/>
          <p:nvPr/>
        </p:nvGrpSpPr>
        <p:grpSpPr>
          <a:xfrm>
            <a:off x="6450333" y="4413131"/>
            <a:ext cx="4827428" cy="661583"/>
            <a:chOff x="3999246" y="1747524"/>
            <a:chExt cx="1713901" cy="2824471"/>
          </a:xfrm>
        </p:grpSpPr>
        <p:sp>
          <p:nvSpPr>
            <p:cNvPr id="13" name="Rectangle: Rounded Corners 12">
              <a:extLst>
                <a:ext uri="{FF2B5EF4-FFF2-40B4-BE49-F238E27FC236}">
                  <a16:creationId xmlns:a16="http://schemas.microsoft.com/office/drawing/2014/main" id="{1B060DAD-EF25-D8D0-A908-ED0BBEF67040}"/>
                </a:ext>
              </a:extLst>
            </p:cNvPr>
            <p:cNvSpPr/>
            <p:nvPr/>
          </p:nvSpPr>
          <p:spPr>
            <a:xfrm>
              <a:off x="3999246"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4" name="Rectangle: Rounded Corners 4">
              <a:extLst>
                <a:ext uri="{FF2B5EF4-FFF2-40B4-BE49-F238E27FC236}">
                  <a16:creationId xmlns:a16="http://schemas.microsoft.com/office/drawing/2014/main" id="{A709540D-1F0A-C010-4777-AB9A3887A110}"/>
                </a:ext>
              </a:extLst>
            </p:cNvPr>
            <p:cNvSpPr txBox="1"/>
            <p:nvPr/>
          </p:nvSpPr>
          <p:spPr>
            <a:xfrm>
              <a:off x="4363773" y="1977206"/>
              <a:ext cx="1337136" cy="195419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Rocks; The Water Cycle</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3" name="Group 32">
            <a:extLst>
              <a:ext uri="{FF2B5EF4-FFF2-40B4-BE49-F238E27FC236}">
                <a16:creationId xmlns:a16="http://schemas.microsoft.com/office/drawing/2014/main" id="{70B81624-0237-6726-B904-2554037D6481}"/>
              </a:ext>
            </a:extLst>
          </p:cNvPr>
          <p:cNvGrpSpPr/>
          <p:nvPr/>
        </p:nvGrpSpPr>
        <p:grpSpPr>
          <a:xfrm>
            <a:off x="6486751" y="4356793"/>
            <a:ext cx="752715" cy="748493"/>
            <a:chOff x="4462145" y="450020"/>
            <a:chExt cx="801261" cy="903352"/>
          </a:xfrm>
        </p:grpSpPr>
        <p:pic>
          <p:nvPicPr>
            <p:cNvPr id="34" name="Picture 33">
              <a:extLst>
                <a:ext uri="{FF2B5EF4-FFF2-40B4-BE49-F238E27FC236}">
                  <a16:creationId xmlns:a16="http://schemas.microsoft.com/office/drawing/2014/main" id="{52E3BFF9-E166-1B3E-216F-5B7FF45C838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5" name="TextBox 34">
              <a:extLst>
                <a:ext uri="{FF2B5EF4-FFF2-40B4-BE49-F238E27FC236}">
                  <a16:creationId xmlns:a16="http://schemas.microsoft.com/office/drawing/2014/main" id="{A4776757-FE5F-E8D9-5636-4D0000069244}"/>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3</a:t>
              </a:r>
            </a:p>
          </p:txBody>
        </p:sp>
      </p:grpSp>
      <p:grpSp>
        <p:nvGrpSpPr>
          <p:cNvPr id="15" name="Group 14">
            <a:extLst>
              <a:ext uri="{FF2B5EF4-FFF2-40B4-BE49-F238E27FC236}">
                <a16:creationId xmlns:a16="http://schemas.microsoft.com/office/drawing/2014/main" id="{49A79250-77D1-D55B-048B-0F4D6AD9FD8A}"/>
              </a:ext>
            </a:extLst>
          </p:cNvPr>
          <p:cNvGrpSpPr/>
          <p:nvPr/>
        </p:nvGrpSpPr>
        <p:grpSpPr>
          <a:xfrm>
            <a:off x="6431265" y="3709371"/>
            <a:ext cx="4865561" cy="661583"/>
            <a:chOff x="5998798" y="1737362"/>
            <a:chExt cx="1713901" cy="2844795"/>
          </a:xfrm>
          <a:solidFill>
            <a:schemeClr val="accent4">
              <a:lumMod val="20000"/>
              <a:lumOff val="80000"/>
            </a:schemeClr>
          </a:solidFill>
        </p:grpSpPr>
        <p:sp>
          <p:nvSpPr>
            <p:cNvPr id="16" name="Rectangle: Rounded Corners 15">
              <a:extLst>
                <a:ext uri="{FF2B5EF4-FFF2-40B4-BE49-F238E27FC236}">
                  <a16:creationId xmlns:a16="http://schemas.microsoft.com/office/drawing/2014/main" id="{38574402-6B1E-7410-73A1-79B19DF1D4AE}"/>
                </a:ext>
              </a:extLst>
            </p:cNvPr>
            <p:cNvSpPr/>
            <p:nvPr/>
          </p:nvSpPr>
          <p:spPr>
            <a:xfrm>
              <a:off x="5998798" y="1737362"/>
              <a:ext cx="1713901" cy="2844795"/>
            </a:xfrm>
            <a:prstGeom prst="roundRect">
              <a:avLst/>
            </a:prstGeom>
            <a:grpFill/>
            <a:ln>
              <a:solidFill>
                <a:schemeClr val="tx2">
                  <a:lumMod val="10000"/>
                  <a:lumOff val="9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7" name="Rectangle: Rounded Corners 4">
              <a:extLst>
                <a:ext uri="{FF2B5EF4-FFF2-40B4-BE49-F238E27FC236}">
                  <a16:creationId xmlns:a16="http://schemas.microsoft.com/office/drawing/2014/main" id="{62D5E931-161F-48C2-4C3C-03843B92EAF2}"/>
                </a:ext>
              </a:extLst>
            </p:cNvPr>
            <p:cNvSpPr txBox="1"/>
            <p:nvPr/>
          </p:nvSpPr>
          <p:spPr>
            <a:xfrm>
              <a:off x="6082464" y="1821028"/>
              <a:ext cx="1546569" cy="2344261"/>
            </a:xfrm>
            <a:prstGeom prst="rect">
              <a:avLst/>
            </a:prstGeom>
            <a:grpFill/>
            <a:ln>
              <a:solidFill>
                <a:schemeClr val="tx2">
                  <a:lumMod val="10000"/>
                  <a:lumOff val="90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6" name="Group 35">
            <a:extLst>
              <a:ext uri="{FF2B5EF4-FFF2-40B4-BE49-F238E27FC236}">
                <a16:creationId xmlns:a16="http://schemas.microsoft.com/office/drawing/2014/main" id="{46D32491-0465-C122-C963-98A7342F17C6}"/>
              </a:ext>
            </a:extLst>
          </p:cNvPr>
          <p:cNvGrpSpPr/>
          <p:nvPr/>
        </p:nvGrpSpPr>
        <p:grpSpPr>
          <a:xfrm>
            <a:off x="6400961" y="3638841"/>
            <a:ext cx="752715" cy="748493"/>
            <a:chOff x="4462145" y="450020"/>
            <a:chExt cx="801261" cy="903352"/>
          </a:xfrm>
        </p:grpSpPr>
        <p:pic>
          <p:nvPicPr>
            <p:cNvPr id="37" name="Picture 36">
              <a:extLst>
                <a:ext uri="{FF2B5EF4-FFF2-40B4-BE49-F238E27FC236}">
                  <a16:creationId xmlns:a16="http://schemas.microsoft.com/office/drawing/2014/main" id="{7CB2284D-50EA-00A5-D235-53A15263868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8" name="TextBox 37">
              <a:extLst>
                <a:ext uri="{FF2B5EF4-FFF2-40B4-BE49-F238E27FC236}">
                  <a16:creationId xmlns:a16="http://schemas.microsoft.com/office/drawing/2014/main" id="{CFA637AC-EBBD-BFF1-53CE-AD87E02885C5}"/>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4</a:t>
              </a:r>
            </a:p>
          </p:txBody>
        </p:sp>
      </p:grpSp>
      <p:grpSp>
        <p:nvGrpSpPr>
          <p:cNvPr id="23" name="Group 22">
            <a:extLst>
              <a:ext uri="{FF2B5EF4-FFF2-40B4-BE49-F238E27FC236}">
                <a16:creationId xmlns:a16="http://schemas.microsoft.com/office/drawing/2014/main" id="{5B96C828-97F2-290C-9323-3FD851DDCFA2}"/>
              </a:ext>
            </a:extLst>
          </p:cNvPr>
          <p:cNvGrpSpPr/>
          <p:nvPr/>
        </p:nvGrpSpPr>
        <p:grpSpPr>
          <a:xfrm>
            <a:off x="6532989" y="2319424"/>
            <a:ext cx="4791567" cy="745161"/>
            <a:chOff x="1999694" y="1717038"/>
            <a:chExt cx="1713901" cy="2885442"/>
          </a:xfrm>
        </p:grpSpPr>
        <p:sp>
          <p:nvSpPr>
            <p:cNvPr id="24" name="Rectangle: Rounded Corners 23">
              <a:extLst>
                <a:ext uri="{FF2B5EF4-FFF2-40B4-BE49-F238E27FC236}">
                  <a16:creationId xmlns:a16="http://schemas.microsoft.com/office/drawing/2014/main" id="{489CA199-6D37-F8A3-C2CC-124E47314080}"/>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5" name="Rectangle: Rounded Corners 4">
              <a:extLst>
                <a:ext uri="{FF2B5EF4-FFF2-40B4-BE49-F238E27FC236}">
                  <a16:creationId xmlns:a16="http://schemas.microsoft.com/office/drawing/2014/main" id="{4F09C7EA-2672-54DE-8871-20D4CD0D5AED}"/>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42" name="Group 41">
            <a:extLst>
              <a:ext uri="{FF2B5EF4-FFF2-40B4-BE49-F238E27FC236}">
                <a16:creationId xmlns:a16="http://schemas.microsoft.com/office/drawing/2014/main" id="{CB423AB4-C5FA-F3F2-E049-81B22D5B05C9}"/>
              </a:ext>
            </a:extLst>
          </p:cNvPr>
          <p:cNvGrpSpPr/>
          <p:nvPr/>
        </p:nvGrpSpPr>
        <p:grpSpPr>
          <a:xfrm>
            <a:off x="6467851" y="2298689"/>
            <a:ext cx="752715" cy="748493"/>
            <a:chOff x="1721712" y="2823332"/>
            <a:chExt cx="801261" cy="903352"/>
          </a:xfrm>
        </p:grpSpPr>
        <p:pic>
          <p:nvPicPr>
            <p:cNvPr id="43" name="Picture 42">
              <a:extLst>
                <a:ext uri="{FF2B5EF4-FFF2-40B4-BE49-F238E27FC236}">
                  <a16:creationId xmlns:a16="http://schemas.microsoft.com/office/drawing/2014/main" id="{B9CEB023-F614-932E-CE30-D43E095AE73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1721712" y="2823332"/>
              <a:ext cx="801261" cy="903352"/>
            </a:xfrm>
            <a:prstGeom prst="rect">
              <a:avLst/>
            </a:prstGeom>
          </p:spPr>
        </p:pic>
        <p:sp>
          <p:nvSpPr>
            <p:cNvPr id="44" name="TextBox 43">
              <a:extLst>
                <a:ext uri="{FF2B5EF4-FFF2-40B4-BE49-F238E27FC236}">
                  <a16:creationId xmlns:a16="http://schemas.microsoft.com/office/drawing/2014/main" id="{078FD884-0C76-D10F-0587-02975C2814C5}"/>
                </a:ext>
              </a:extLst>
            </p:cNvPr>
            <p:cNvSpPr txBox="1"/>
            <p:nvPr/>
          </p:nvSpPr>
          <p:spPr>
            <a:xfrm>
              <a:off x="1959488" y="3052739"/>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6</a:t>
              </a:r>
            </a:p>
          </p:txBody>
        </p:sp>
      </p:grpSp>
      <p:grpSp>
        <p:nvGrpSpPr>
          <p:cNvPr id="18" name="Group 17">
            <a:extLst>
              <a:ext uri="{FF2B5EF4-FFF2-40B4-BE49-F238E27FC236}">
                <a16:creationId xmlns:a16="http://schemas.microsoft.com/office/drawing/2014/main" id="{AA54D781-BC4F-8F2F-AF7C-D63C614BC73C}"/>
              </a:ext>
            </a:extLst>
          </p:cNvPr>
          <p:cNvGrpSpPr/>
          <p:nvPr/>
        </p:nvGrpSpPr>
        <p:grpSpPr>
          <a:xfrm>
            <a:off x="6419256" y="3046473"/>
            <a:ext cx="4827428" cy="661583"/>
            <a:chOff x="7998350" y="1737362"/>
            <a:chExt cx="1713901" cy="2844795"/>
          </a:xfrm>
        </p:grpSpPr>
        <p:sp>
          <p:nvSpPr>
            <p:cNvPr id="19" name="Rectangle: Rounded Corners 18">
              <a:extLst>
                <a:ext uri="{FF2B5EF4-FFF2-40B4-BE49-F238E27FC236}">
                  <a16:creationId xmlns:a16="http://schemas.microsoft.com/office/drawing/2014/main" id="{EA80802F-60E6-4F70-43A7-06C63E16E98A}"/>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0" name="Rectangle: Rounded Corners 4">
              <a:extLst>
                <a:ext uri="{FF2B5EF4-FFF2-40B4-BE49-F238E27FC236}">
                  <a16:creationId xmlns:a16="http://schemas.microsoft.com/office/drawing/2014/main" id="{21CD02FA-0292-309A-7D46-96D128028D07}"/>
                </a:ext>
              </a:extLst>
            </p:cNvPr>
            <p:cNvSpPr txBox="1"/>
            <p:nvPr/>
          </p:nvSpPr>
          <p:spPr>
            <a:xfrm>
              <a:off x="8322864" y="1821027"/>
              <a:ext cx="1305721" cy="267746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Life cycles &amp; Seasonal cycles; Astronomy &amp; Meteorology</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9" name="Group 38">
            <a:extLst>
              <a:ext uri="{FF2B5EF4-FFF2-40B4-BE49-F238E27FC236}">
                <a16:creationId xmlns:a16="http://schemas.microsoft.com/office/drawing/2014/main" id="{D115041C-8B24-D5EB-3E00-FDB0121F9A50}"/>
              </a:ext>
            </a:extLst>
          </p:cNvPr>
          <p:cNvGrpSpPr/>
          <p:nvPr/>
        </p:nvGrpSpPr>
        <p:grpSpPr>
          <a:xfrm>
            <a:off x="6499917" y="2981007"/>
            <a:ext cx="752715" cy="748493"/>
            <a:chOff x="4462145" y="450020"/>
            <a:chExt cx="801261" cy="903352"/>
          </a:xfrm>
        </p:grpSpPr>
        <p:pic>
          <p:nvPicPr>
            <p:cNvPr id="40" name="Picture 39">
              <a:extLst>
                <a:ext uri="{FF2B5EF4-FFF2-40B4-BE49-F238E27FC236}">
                  <a16:creationId xmlns:a16="http://schemas.microsoft.com/office/drawing/2014/main" id="{7B64CE59-2D84-7968-E2B7-436D34636D3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41" name="TextBox 40">
              <a:extLst>
                <a:ext uri="{FF2B5EF4-FFF2-40B4-BE49-F238E27FC236}">
                  <a16:creationId xmlns:a16="http://schemas.microsoft.com/office/drawing/2014/main" id="{E2831AE9-CCBA-C200-3372-BDDEC48D4D7C}"/>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5</a:t>
              </a:r>
            </a:p>
          </p:txBody>
        </p:sp>
      </p:grpSp>
      <p:sp>
        <p:nvSpPr>
          <p:cNvPr id="138" name="Frame 137">
            <a:extLst>
              <a:ext uri="{FF2B5EF4-FFF2-40B4-BE49-F238E27FC236}">
                <a16:creationId xmlns:a16="http://schemas.microsoft.com/office/drawing/2014/main" id="{25604C1C-BF3C-BA90-E0B7-2F1C514C632C}"/>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06" name="Group 305">
            <a:extLst>
              <a:ext uri="{FF2B5EF4-FFF2-40B4-BE49-F238E27FC236}">
                <a16:creationId xmlns:a16="http://schemas.microsoft.com/office/drawing/2014/main" id="{468C20B0-3C2F-D3EB-2A88-E8DE6921CCC9}"/>
              </a:ext>
            </a:extLst>
          </p:cNvPr>
          <p:cNvGrpSpPr/>
          <p:nvPr/>
        </p:nvGrpSpPr>
        <p:grpSpPr>
          <a:xfrm>
            <a:off x="6524130" y="5781853"/>
            <a:ext cx="4791569" cy="706284"/>
            <a:chOff x="7998350" y="1737362"/>
            <a:chExt cx="1713901" cy="2844795"/>
          </a:xfrm>
        </p:grpSpPr>
        <p:sp>
          <p:nvSpPr>
            <p:cNvPr id="307" name="Rectangle: Rounded Corners 306">
              <a:extLst>
                <a:ext uri="{FF2B5EF4-FFF2-40B4-BE49-F238E27FC236}">
                  <a16:creationId xmlns:a16="http://schemas.microsoft.com/office/drawing/2014/main" id="{1747B141-139B-400A-1928-F6F2C34D8CE6}"/>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08" name="Rectangle: Rounded Corners 4">
              <a:extLst>
                <a:ext uri="{FF2B5EF4-FFF2-40B4-BE49-F238E27FC236}">
                  <a16:creationId xmlns:a16="http://schemas.microsoft.com/office/drawing/2014/main" id="{EBDDC0F9-8C13-9E7A-13DA-0A466C2C3419}"/>
                </a:ext>
              </a:extLst>
            </p:cNvPr>
            <p:cNvSpPr txBox="1"/>
            <p:nvPr/>
          </p:nvSpPr>
          <p:spPr>
            <a:xfrm>
              <a:off x="8319208" y="2291858"/>
              <a:ext cx="1309377" cy="22066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 Seasonal Changes; Animals &amp; plants</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12" name="Group 311">
            <a:extLst>
              <a:ext uri="{FF2B5EF4-FFF2-40B4-BE49-F238E27FC236}">
                <a16:creationId xmlns:a16="http://schemas.microsoft.com/office/drawing/2014/main" id="{BD5F1F03-2EE2-8411-AC91-B9339B9EB5C8}"/>
              </a:ext>
            </a:extLst>
          </p:cNvPr>
          <p:cNvGrpSpPr/>
          <p:nvPr/>
        </p:nvGrpSpPr>
        <p:grpSpPr>
          <a:xfrm>
            <a:off x="6569485" y="5750072"/>
            <a:ext cx="752715" cy="748493"/>
            <a:chOff x="6450334" y="5317226"/>
            <a:chExt cx="801261" cy="903352"/>
          </a:xfrm>
        </p:grpSpPr>
        <p:sp>
          <p:nvSpPr>
            <p:cNvPr id="29" name="TextBox 28">
              <a:extLst>
                <a:ext uri="{FF2B5EF4-FFF2-40B4-BE49-F238E27FC236}">
                  <a16:creationId xmlns:a16="http://schemas.microsoft.com/office/drawing/2014/main" id="{824A121F-0AD1-0328-ECAF-FEFD1BC36000}"/>
                </a:ext>
              </a:extLst>
            </p:cNvPr>
            <p:cNvSpPr txBox="1"/>
            <p:nvPr/>
          </p:nvSpPr>
          <p:spPr>
            <a:xfrm>
              <a:off x="6671572" y="5599207"/>
              <a:ext cx="389673"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1</a:t>
              </a:r>
            </a:p>
          </p:txBody>
        </p:sp>
        <p:pic>
          <p:nvPicPr>
            <p:cNvPr id="310" name="Picture 309">
              <a:extLst>
                <a:ext uri="{FF2B5EF4-FFF2-40B4-BE49-F238E27FC236}">
                  <a16:creationId xmlns:a16="http://schemas.microsoft.com/office/drawing/2014/main" id="{7E5D7BE5-4218-0502-7CF9-D13205E7B2A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6450334" y="5317226"/>
              <a:ext cx="801261" cy="903352"/>
            </a:xfrm>
            <a:prstGeom prst="rect">
              <a:avLst/>
            </a:prstGeom>
          </p:spPr>
        </p:pic>
      </p:grpSp>
      <p:sp>
        <p:nvSpPr>
          <p:cNvPr id="320" name="Freeform: Shape 319">
            <a:extLst>
              <a:ext uri="{FF2B5EF4-FFF2-40B4-BE49-F238E27FC236}">
                <a16:creationId xmlns:a16="http://schemas.microsoft.com/office/drawing/2014/main" id="{398AF7CB-DED6-C9D4-3721-C5CBDF1DD33C}"/>
              </a:ext>
            </a:extLst>
          </p:cNvPr>
          <p:cNvSpPr/>
          <p:nvPr/>
        </p:nvSpPr>
        <p:spPr>
          <a:xfrm>
            <a:off x="5838826" y="1098925"/>
            <a:ext cx="6099174" cy="5606668"/>
          </a:xfrm>
          <a:custGeom>
            <a:avLst/>
            <a:gdLst>
              <a:gd name="connsiteX0" fmla="*/ 513624 w 514349"/>
              <a:gd name="connsiteY0" fmla="*/ 5877 h 571500"/>
              <a:gd name="connsiteX1" fmla="*/ 504823 w 514349"/>
              <a:gd name="connsiteY1" fmla="*/ 0 h 571500"/>
              <a:gd name="connsiteX2" fmla="*/ 9523 w 514349"/>
              <a:gd name="connsiteY2" fmla="*/ 0 h 571500"/>
              <a:gd name="connsiteX3" fmla="*/ 0 w 514349"/>
              <a:gd name="connsiteY3" fmla="*/ 9527 h 571500"/>
              <a:gd name="connsiteX4" fmla="*/ 2789 w 514349"/>
              <a:gd name="connsiteY4" fmla="*/ 16259 h 571500"/>
              <a:gd name="connsiteX5" fmla="*/ 24144 w 514349"/>
              <a:gd name="connsiteY5" fmla="*/ 37624 h 571500"/>
              <a:gd name="connsiteX6" fmla="*/ 38098 w 514349"/>
              <a:gd name="connsiteY6" fmla="*/ 71295 h 571500"/>
              <a:gd name="connsiteX7" fmla="*/ 38098 w 514349"/>
              <a:gd name="connsiteY7" fmla="*/ 523875 h 571500"/>
              <a:gd name="connsiteX8" fmla="*/ 85723 w 514349"/>
              <a:gd name="connsiteY8" fmla="*/ 571500 h 571500"/>
              <a:gd name="connsiteX9" fmla="*/ 428623 w 514349"/>
              <a:gd name="connsiteY9" fmla="*/ 571500 h 571500"/>
              <a:gd name="connsiteX10" fmla="*/ 476248 w 514349"/>
              <a:gd name="connsiteY10" fmla="*/ 523875 h 571500"/>
              <a:gd name="connsiteX11" fmla="*/ 476248 w 514349"/>
              <a:gd name="connsiteY11" fmla="*/ 71295 h 571500"/>
              <a:gd name="connsiteX12" fmla="*/ 490202 w 514349"/>
              <a:gd name="connsiteY12" fmla="*/ 37624 h 571500"/>
              <a:gd name="connsiteX13" fmla="*/ 511557 w 514349"/>
              <a:gd name="connsiteY13" fmla="*/ 16259 h 571500"/>
              <a:gd name="connsiteX14" fmla="*/ 513624 w 514349"/>
              <a:gd name="connsiteY14" fmla="*/ 5877 h 571500"/>
              <a:gd name="connsiteX15" fmla="*/ 428623 w 514349"/>
              <a:gd name="connsiteY15" fmla="*/ 552450 h 571500"/>
              <a:gd name="connsiteX16" fmla="*/ 85723 w 514349"/>
              <a:gd name="connsiteY16" fmla="*/ 552450 h 571500"/>
              <a:gd name="connsiteX17" fmla="*/ 57148 w 514349"/>
              <a:gd name="connsiteY17" fmla="*/ 523875 h 571500"/>
              <a:gd name="connsiteX18" fmla="*/ 57148 w 514349"/>
              <a:gd name="connsiteY18" fmla="*/ 123739 h 571500"/>
              <a:gd name="connsiteX19" fmla="*/ 234113 w 514349"/>
              <a:gd name="connsiteY19" fmla="*/ 100013 h 571500"/>
              <a:gd name="connsiteX20" fmla="*/ 323848 w 514349"/>
              <a:gd name="connsiteY20" fmla="*/ 85725 h 571500"/>
              <a:gd name="connsiteX21" fmla="*/ 438348 w 514349"/>
              <a:gd name="connsiteY21" fmla="*/ 106804 h 571500"/>
              <a:gd name="connsiteX22" fmla="*/ 457198 w 514349"/>
              <a:gd name="connsiteY22" fmla="*/ 112919 h 571500"/>
              <a:gd name="connsiteX23" fmla="*/ 457198 w 514349"/>
              <a:gd name="connsiteY23" fmla="*/ 523875 h 571500"/>
              <a:gd name="connsiteX24" fmla="*/ 428623 w 514349"/>
              <a:gd name="connsiteY24" fmla="*/ 552450 h 571500"/>
              <a:gd name="connsiteX25" fmla="*/ 476715 w 514349"/>
              <a:gd name="connsiteY25" fmla="*/ 24165 h 571500"/>
              <a:gd name="connsiteX26" fmla="*/ 457198 w 514349"/>
              <a:gd name="connsiteY26" fmla="*/ 71295 h 571500"/>
              <a:gd name="connsiteX27" fmla="*/ 457198 w 514349"/>
              <a:gd name="connsiteY27" fmla="*/ 93202 h 571500"/>
              <a:gd name="connsiteX28" fmla="*/ 444816 w 514349"/>
              <a:gd name="connsiteY28" fmla="*/ 88897 h 571500"/>
              <a:gd name="connsiteX29" fmla="*/ 323848 w 514349"/>
              <a:gd name="connsiteY29" fmla="*/ 66675 h 571500"/>
              <a:gd name="connsiteX30" fmla="*/ 229312 w 514349"/>
              <a:gd name="connsiteY30" fmla="*/ 81563 h 571500"/>
              <a:gd name="connsiteX31" fmla="*/ 57148 w 514349"/>
              <a:gd name="connsiteY31" fmla="*/ 104699 h 571500"/>
              <a:gd name="connsiteX32" fmla="*/ 57148 w 514349"/>
              <a:gd name="connsiteY32" fmla="*/ 71295 h 571500"/>
              <a:gd name="connsiteX33" fmla="*/ 37641 w 514349"/>
              <a:gd name="connsiteY33" fmla="*/ 24184 h 571500"/>
              <a:gd name="connsiteX34" fmla="*/ 32678 w 514349"/>
              <a:gd name="connsiteY34" fmla="*/ 19212 h 571500"/>
              <a:gd name="connsiteX35" fmla="*/ 32745 w 514349"/>
              <a:gd name="connsiteY35" fmla="*/ 19050 h 571500"/>
              <a:gd name="connsiteX36" fmla="*/ 481601 w 514349"/>
              <a:gd name="connsiteY36" fmla="*/ 19050 h 571500"/>
              <a:gd name="connsiteX37" fmla="*/ 481668 w 514349"/>
              <a:gd name="connsiteY37" fmla="*/ 19212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14349" h="571500">
                <a:moveTo>
                  <a:pt x="513624" y="5877"/>
                </a:moveTo>
                <a:cubicBezTo>
                  <a:pt x="512149" y="2318"/>
                  <a:pt x="508675" y="-1"/>
                  <a:pt x="504823" y="0"/>
                </a:cubicBezTo>
                <a:lnTo>
                  <a:pt x="9523" y="0"/>
                </a:lnTo>
                <a:cubicBezTo>
                  <a:pt x="4262" y="1"/>
                  <a:pt x="-1" y="4266"/>
                  <a:pt x="0" y="9527"/>
                </a:cubicBezTo>
                <a:cubicBezTo>
                  <a:pt x="1" y="12052"/>
                  <a:pt x="1004" y="14473"/>
                  <a:pt x="2789" y="16259"/>
                </a:cubicBezTo>
                <a:lnTo>
                  <a:pt x="24144" y="37624"/>
                </a:lnTo>
                <a:cubicBezTo>
                  <a:pt x="33105" y="46533"/>
                  <a:pt x="38130" y="58658"/>
                  <a:pt x="38098" y="71295"/>
                </a:cubicBezTo>
                <a:lnTo>
                  <a:pt x="38098" y="523875"/>
                </a:lnTo>
                <a:cubicBezTo>
                  <a:pt x="38130" y="550165"/>
                  <a:pt x="59433" y="571469"/>
                  <a:pt x="85723" y="571500"/>
                </a:cubicBezTo>
                <a:lnTo>
                  <a:pt x="428623" y="571500"/>
                </a:lnTo>
                <a:cubicBezTo>
                  <a:pt x="454913" y="571469"/>
                  <a:pt x="476217" y="550165"/>
                  <a:pt x="476248" y="523875"/>
                </a:cubicBezTo>
                <a:lnTo>
                  <a:pt x="476248" y="71295"/>
                </a:lnTo>
                <a:cubicBezTo>
                  <a:pt x="476216" y="58658"/>
                  <a:pt x="481241" y="46533"/>
                  <a:pt x="490202" y="37624"/>
                </a:cubicBezTo>
                <a:lnTo>
                  <a:pt x="511557" y="16259"/>
                </a:lnTo>
                <a:cubicBezTo>
                  <a:pt x="514283" y="13535"/>
                  <a:pt x="515099" y="9437"/>
                  <a:pt x="513624" y="5877"/>
                </a:cubicBezTo>
                <a:close/>
                <a:moveTo>
                  <a:pt x="428623" y="552450"/>
                </a:moveTo>
                <a:lnTo>
                  <a:pt x="85723" y="552450"/>
                </a:lnTo>
                <a:cubicBezTo>
                  <a:pt x="69941" y="552450"/>
                  <a:pt x="57148" y="539657"/>
                  <a:pt x="57148" y="523875"/>
                </a:cubicBezTo>
                <a:lnTo>
                  <a:pt x="57148" y="123739"/>
                </a:lnTo>
                <a:cubicBezTo>
                  <a:pt x="116951" y="124062"/>
                  <a:pt x="176508" y="116077"/>
                  <a:pt x="234113" y="100013"/>
                </a:cubicBezTo>
                <a:cubicBezTo>
                  <a:pt x="263218" y="91110"/>
                  <a:pt x="293419" y="86302"/>
                  <a:pt x="323848" y="85725"/>
                </a:cubicBezTo>
                <a:cubicBezTo>
                  <a:pt x="363013" y="85345"/>
                  <a:pt x="401885" y="92501"/>
                  <a:pt x="438348" y="106804"/>
                </a:cubicBezTo>
                <a:cubicBezTo>
                  <a:pt x="444517" y="109177"/>
                  <a:pt x="450811" y="111219"/>
                  <a:pt x="457198" y="112919"/>
                </a:cubicBezTo>
                <a:lnTo>
                  <a:pt x="457198" y="523875"/>
                </a:lnTo>
                <a:cubicBezTo>
                  <a:pt x="457198" y="539657"/>
                  <a:pt x="444405" y="552450"/>
                  <a:pt x="428623" y="552450"/>
                </a:cubicBezTo>
                <a:close/>
                <a:moveTo>
                  <a:pt x="476715" y="24165"/>
                </a:moveTo>
                <a:cubicBezTo>
                  <a:pt x="464219" y="36666"/>
                  <a:pt x="457199" y="53619"/>
                  <a:pt x="457198" y="71295"/>
                </a:cubicBezTo>
                <a:lnTo>
                  <a:pt x="457198" y="93202"/>
                </a:lnTo>
                <a:cubicBezTo>
                  <a:pt x="453626" y="92069"/>
                  <a:pt x="449492" y="90583"/>
                  <a:pt x="444816" y="88897"/>
                </a:cubicBezTo>
                <a:cubicBezTo>
                  <a:pt x="406263" y="73898"/>
                  <a:pt x="365214" y="66357"/>
                  <a:pt x="323848" y="66675"/>
                </a:cubicBezTo>
                <a:cubicBezTo>
                  <a:pt x="291796" y="67197"/>
                  <a:pt x="259974" y="72208"/>
                  <a:pt x="229312" y="81563"/>
                </a:cubicBezTo>
                <a:cubicBezTo>
                  <a:pt x="173292" y="97306"/>
                  <a:pt x="115337" y="105093"/>
                  <a:pt x="57148" y="104699"/>
                </a:cubicBezTo>
                <a:lnTo>
                  <a:pt x="57148" y="71295"/>
                </a:lnTo>
                <a:cubicBezTo>
                  <a:pt x="57151" y="53626"/>
                  <a:pt x="50134" y="36679"/>
                  <a:pt x="37641" y="24184"/>
                </a:cubicBezTo>
                <a:lnTo>
                  <a:pt x="32678" y="19212"/>
                </a:lnTo>
                <a:cubicBezTo>
                  <a:pt x="32593" y="19126"/>
                  <a:pt x="32621" y="19050"/>
                  <a:pt x="32745" y="19050"/>
                </a:cubicBezTo>
                <a:lnTo>
                  <a:pt x="481601" y="19050"/>
                </a:lnTo>
                <a:cubicBezTo>
                  <a:pt x="481725" y="19050"/>
                  <a:pt x="481754" y="19126"/>
                  <a:pt x="481668" y="19212"/>
                </a:cubicBezTo>
                <a:close/>
              </a:path>
            </a:pathLst>
          </a:custGeom>
          <a:solidFill>
            <a:srgbClr val="000000"/>
          </a:solidFill>
          <a:ln w="9525" cap="flat">
            <a:noFill/>
            <a:prstDash val="solid"/>
            <a:miter/>
          </a:ln>
        </p:spPr>
        <p:txBody>
          <a:bodyPr rtlCol="0" anchor="ctr"/>
          <a:lstStyle/>
          <a:p>
            <a:endParaRPr lang="en-GB"/>
          </a:p>
        </p:txBody>
      </p:sp>
      <p:sp>
        <p:nvSpPr>
          <p:cNvPr id="326" name="Freeform: Shape 325">
            <a:extLst>
              <a:ext uri="{FF2B5EF4-FFF2-40B4-BE49-F238E27FC236}">
                <a16:creationId xmlns:a16="http://schemas.microsoft.com/office/drawing/2014/main" id="{9675B98F-5F7A-9B51-F33C-2B8DF96E98E6}"/>
              </a:ext>
            </a:extLst>
          </p:cNvPr>
          <p:cNvSpPr/>
          <p:nvPr/>
        </p:nvSpPr>
        <p:spPr>
          <a:xfrm>
            <a:off x="10249380" y="250021"/>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p>
        </p:txBody>
      </p:sp>
      <p:sp>
        <p:nvSpPr>
          <p:cNvPr id="327" name="Freeform: Shape 326">
            <a:extLst>
              <a:ext uri="{FF2B5EF4-FFF2-40B4-BE49-F238E27FC236}">
                <a16:creationId xmlns:a16="http://schemas.microsoft.com/office/drawing/2014/main" id="{EAFB7493-1371-4D43-DEFA-1B105872E2D8}"/>
              </a:ext>
            </a:extLst>
          </p:cNvPr>
          <p:cNvSpPr/>
          <p:nvPr/>
        </p:nvSpPr>
        <p:spPr>
          <a:xfrm>
            <a:off x="9879186" y="663515"/>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328" name="Freeform: Shape 327">
            <a:extLst>
              <a:ext uri="{FF2B5EF4-FFF2-40B4-BE49-F238E27FC236}">
                <a16:creationId xmlns:a16="http://schemas.microsoft.com/office/drawing/2014/main" id="{B65D3A72-DB67-44A2-7590-D2ACB1638E62}"/>
              </a:ext>
            </a:extLst>
          </p:cNvPr>
          <p:cNvSpPr/>
          <p:nvPr/>
        </p:nvSpPr>
        <p:spPr>
          <a:xfrm>
            <a:off x="8705483" y="233286"/>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329" name="Freeform: Shape 328">
            <a:extLst>
              <a:ext uri="{FF2B5EF4-FFF2-40B4-BE49-F238E27FC236}">
                <a16:creationId xmlns:a16="http://schemas.microsoft.com/office/drawing/2014/main" id="{83A37025-3A24-6137-FE65-8F5348A20C75}"/>
              </a:ext>
            </a:extLst>
          </p:cNvPr>
          <p:cNvSpPr/>
          <p:nvPr/>
        </p:nvSpPr>
        <p:spPr>
          <a:xfrm>
            <a:off x="6579005" y="641948"/>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p>
        </p:txBody>
      </p:sp>
      <p:sp>
        <p:nvSpPr>
          <p:cNvPr id="51" name="TextBox 50">
            <a:extLst>
              <a:ext uri="{FF2B5EF4-FFF2-40B4-BE49-F238E27FC236}">
                <a16:creationId xmlns:a16="http://schemas.microsoft.com/office/drawing/2014/main" id="{1E87D3D7-E7E1-13E7-D410-5D7041A3EB28}"/>
              </a:ext>
            </a:extLst>
          </p:cNvPr>
          <p:cNvSpPr txBox="1"/>
          <p:nvPr/>
        </p:nvSpPr>
        <p:spPr>
          <a:xfrm>
            <a:off x="144316" y="961919"/>
            <a:ext cx="4618184" cy="1477328"/>
          </a:xfrm>
          <a:prstGeom prst="rect">
            <a:avLst/>
          </a:prstGeom>
          <a:noFill/>
        </p:spPr>
        <p:txBody>
          <a:bodyPr wrap="square" rtlCol="0">
            <a:spAutoFit/>
          </a:bodyPr>
          <a:lstStyle/>
          <a:p>
            <a:pPr algn="l" rtl="0" fontAlgn="base"/>
            <a:r>
              <a:rPr lang="en-GB" sz="1800" b="0" i="0">
                <a:solidFill>
                  <a:srgbClr val="000000"/>
                </a:solidFill>
                <a:effectLst/>
                <a:latin typeface="Calibri" panose="020F0502020204030204" pitchFamily="34" charset="0"/>
              </a:rPr>
              <a:t> </a:t>
            </a:r>
            <a:r>
              <a:rPr lang="en-GB" sz="1800" b="0" i="1">
                <a:solidFill>
                  <a:srgbClr val="000000"/>
                </a:solidFill>
                <a:effectLst/>
                <a:latin typeface="Calibri" panose="020F0502020204030204" pitchFamily="34" charset="0"/>
              </a:rPr>
              <a:t>4.5 billion years ago a cloud of space dust coalesced to form a star surrounded by a group of planets and other material. The story of this is Earth and Space Science.</a:t>
            </a:r>
            <a:r>
              <a:rPr lang="en-GB" sz="1800" b="0" i="0">
                <a:solidFill>
                  <a:srgbClr val="000000"/>
                </a:solidFill>
                <a:effectLst/>
                <a:latin typeface="Calibri" panose="020F0502020204030204" pitchFamily="34" charset="0"/>
              </a:rPr>
              <a:t> </a:t>
            </a:r>
            <a:endParaRPr lang="en-GB" b="0" i="0">
              <a:solidFill>
                <a:srgbClr val="000000"/>
              </a:solidFill>
              <a:effectLst/>
              <a:latin typeface="Segoe UI" panose="020B0502040204020203" pitchFamily="34" charset="0"/>
            </a:endParaRPr>
          </a:p>
          <a:p>
            <a:pPr algn="l" rtl="0" fontAlgn="base"/>
            <a:r>
              <a:rPr lang="en-GB" sz="1800" b="0" i="1">
                <a:solidFill>
                  <a:srgbClr val="000000"/>
                </a:solidFill>
                <a:effectLst/>
                <a:latin typeface="Calibri" panose="020F0502020204030204" pitchFamily="34" charset="0"/>
              </a:rPr>
              <a:t>The study of the Earth itself is Geography.</a:t>
            </a:r>
            <a:r>
              <a:rPr lang="en-GB" sz="1800" b="0" i="0">
                <a:solidFill>
                  <a:srgbClr val="000000"/>
                </a:solidFill>
                <a:effectLst/>
                <a:latin typeface="Calibri" panose="020F0502020204030204" pitchFamily="34" charset="0"/>
              </a:rPr>
              <a:t> </a:t>
            </a:r>
            <a:endParaRPr lang="en-GB" b="0" i="0">
              <a:solidFill>
                <a:srgbClr val="000000"/>
              </a:solidFill>
              <a:effectLst/>
              <a:latin typeface="Segoe UI" panose="020B0502040204020203" pitchFamily="34" charset="0"/>
            </a:endParaRPr>
          </a:p>
        </p:txBody>
      </p:sp>
      <p:sp>
        <p:nvSpPr>
          <p:cNvPr id="204" name="TextBox 203">
            <a:extLst>
              <a:ext uri="{FF2B5EF4-FFF2-40B4-BE49-F238E27FC236}">
                <a16:creationId xmlns:a16="http://schemas.microsoft.com/office/drawing/2014/main" id="{1EFACE21-A215-7F2A-264F-A6E3690E606D}"/>
              </a:ext>
            </a:extLst>
          </p:cNvPr>
          <p:cNvSpPr txBox="1"/>
          <p:nvPr/>
        </p:nvSpPr>
        <p:spPr>
          <a:xfrm>
            <a:off x="1154787" y="348834"/>
            <a:ext cx="4126647" cy="461665"/>
          </a:xfrm>
          <a:prstGeom prst="rect">
            <a:avLst/>
          </a:prstGeom>
          <a:noFill/>
        </p:spPr>
        <p:txBody>
          <a:bodyPr wrap="square">
            <a:spAutoFit/>
          </a:bodyPr>
          <a:lstStyle/>
          <a:p>
            <a:pPr fontAlgn="base"/>
            <a:r>
              <a:rPr lang="en-GB" b="1"/>
              <a:t>What is Earth and Space Science?</a:t>
            </a:r>
            <a:r>
              <a:rPr lang="en-GB"/>
              <a:t> </a:t>
            </a:r>
            <a:r>
              <a:rPr lang="en-GB" sz="2400" b="0" i="0">
                <a:solidFill>
                  <a:srgbClr val="000000"/>
                </a:solidFill>
                <a:effectLst/>
                <a:latin typeface="Calibri" panose="020F0502020204030204" pitchFamily="34" charset="0"/>
              </a:rPr>
              <a:t> </a:t>
            </a:r>
            <a:endParaRPr lang="en-GB" sz="6000" b="0" i="0">
              <a:solidFill>
                <a:srgbClr val="000000"/>
              </a:solidFill>
              <a:effectLst/>
              <a:latin typeface="Segoe UI" panose="020B0502040204020203" pitchFamily="34" charset="0"/>
            </a:endParaRPr>
          </a:p>
        </p:txBody>
      </p:sp>
      <p:pic>
        <p:nvPicPr>
          <p:cNvPr id="269" name="Picture 268">
            <a:extLst>
              <a:ext uri="{FF2B5EF4-FFF2-40B4-BE49-F238E27FC236}">
                <a16:creationId xmlns:a16="http://schemas.microsoft.com/office/drawing/2014/main" id="{07BFBE47-3111-E366-D91D-F789C3D23885}"/>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144316" y="105448"/>
            <a:ext cx="1104848" cy="856471"/>
          </a:xfrm>
          <a:prstGeom prst="rect">
            <a:avLst/>
          </a:prstGeom>
        </p:spPr>
      </p:pic>
      <p:sp>
        <p:nvSpPr>
          <p:cNvPr id="2" name="TextBox 1">
            <a:extLst>
              <a:ext uri="{FF2B5EF4-FFF2-40B4-BE49-F238E27FC236}">
                <a16:creationId xmlns:a16="http://schemas.microsoft.com/office/drawing/2014/main" id="{0068856C-220E-B13B-2C5F-12A2C9F29F15}"/>
              </a:ext>
            </a:extLst>
          </p:cNvPr>
          <p:cNvSpPr txBox="1"/>
          <p:nvPr/>
        </p:nvSpPr>
        <p:spPr>
          <a:xfrm>
            <a:off x="7840982" y="1302594"/>
            <a:ext cx="1626692" cy="523220"/>
          </a:xfrm>
          <a:prstGeom prst="rect">
            <a:avLst/>
          </a:prstGeom>
          <a:noFill/>
        </p:spPr>
        <p:txBody>
          <a:bodyPr wrap="square">
            <a:spAutoFit/>
          </a:bodyPr>
          <a:lstStyle/>
          <a:p>
            <a:r>
              <a:rPr lang="en-GB" sz="2800" b="1" u="sng">
                <a:solidFill>
                  <a:srgbClr val="000000"/>
                </a:solidFill>
                <a:latin typeface="Sassoon Infant Rg" panose="02000503030000020003" pitchFamily="2" charset="0"/>
                <a:ea typeface="Sassoon Infant Rg" panose="02000503030000020003" pitchFamily="2" charset="0"/>
              </a:rPr>
              <a:t>Contexts</a:t>
            </a:r>
            <a:endParaRPr lang="en-GB"/>
          </a:p>
        </p:txBody>
      </p:sp>
      <p:sp>
        <p:nvSpPr>
          <p:cNvPr id="3" name="TextBox 2">
            <a:extLst>
              <a:ext uri="{FF2B5EF4-FFF2-40B4-BE49-F238E27FC236}">
                <a16:creationId xmlns:a16="http://schemas.microsoft.com/office/drawing/2014/main" id="{A1A5D6C8-663F-7F05-1628-B61EBBD131BB}"/>
              </a:ext>
            </a:extLst>
          </p:cNvPr>
          <p:cNvSpPr txBox="1"/>
          <p:nvPr/>
        </p:nvSpPr>
        <p:spPr>
          <a:xfrm>
            <a:off x="1585255" y="2582636"/>
            <a:ext cx="2438400" cy="461665"/>
          </a:xfrm>
          <a:prstGeom prst="rect">
            <a:avLst/>
          </a:prstGeom>
          <a:noFill/>
        </p:spPr>
        <p:txBody>
          <a:bodyPr wrap="square">
            <a:spAutoFit/>
          </a:bodyPr>
          <a:lstStyle/>
          <a:p>
            <a:pPr fontAlgn="base"/>
            <a:r>
              <a:rPr lang="en-GB" sz="2400" b="1" u="sng">
                <a:solidFill>
                  <a:srgbClr val="000000"/>
                </a:solidFill>
                <a:latin typeface="Sassoon Infant Rg" panose="02000503030000020003" pitchFamily="2" charset="0"/>
                <a:ea typeface="Sassoon Infant Rg" panose="02000503030000020003" pitchFamily="2" charset="0"/>
              </a:rPr>
              <a:t>Key concepts:</a:t>
            </a:r>
            <a:endParaRPr lang="en-GB" sz="6000" b="0" i="0" u="sng">
              <a:solidFill>
                <a:srgbClr val="000000"/>
              </a:solidFill>
              <a:effectLst/>
              <a:latin typeface="Segoe UI" panose="020B0502040204020203" pitchFamily="34" charset="0"/>
            </a:endParaRPr>
          </a:p>
        </p:txBody>
      </p:sp>
      <p:sp>
        <p:nvSpPr>
          <p:cNvPr id="4" name="Oval 3">
            <a:extLst>
              <a:ext uri="{FF2B5EF4-FFF2-40B4-BE49-F238E27FC236}">
                <a16:creationId xmlns:a16="http://schemas.microsoft.com/office/drawing/2014/main" id="{3A5F6A66-415C-8024-328A-E31AD1BC41B5}"/>
              </a:ext>
            </a:extLst>
          </p:cNvPr>
          <p:cNvSpPr/>
          <p:nvPr/>
        </p:nvSpPr>
        <p:spPr>
          <a:xfrm>
            <a:off x="3608299" y="4711431"/>
            <a:ext cx="1773377" cy="160735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Earth is dynamically part of the solar system and beyond</a:t>
            </a:r>
          </a:p>
        </p:txBody>
      </p:sp>
      <p:sp>
        <p:nvSpPr>
          <p:cNvPr id="5" name="Oval 4">
            <a:extLst>
              <a:ext uri="{FF2B5EF4-FFF2-40B4-BE49-F238E27FC236}">
                <a16:creationId xmlns:a16="http://schemas.microsoft.com/office/drawing/2014/main" id="{5A473CCB-FB4C-30DB-F3D7-529924009355}"/>
              </a:ext>
            </a:extLst>
          </p:cNvPr>
          <p:cNvSpPr/>
          <p:nvPr/>
        </p:nvSpPr>
        <p:spPr>
          <a:xfrm>
            <a:off x="472935" y="2981007"/>
            <a:ext cx="1681918" cy="15111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he Earth is a single system with four dynamically interconnected 'spheres'</a:t>
            </a:r>
          </a:p>
        </p:txBody>
      </p:sp>
      <p:sp>
        <p:nvSpPr>
          <p:cNvPr id="7" name="Oval 6">
            <a:extLst>
              <a:ext uri="{FF2B5EF4-FFF2-40B4-BE49-F238E27FC236}">
                <a16:creationId xmlns:a16="http://schemas.microsoft.com/office/drawing/2014/main" id="{B63C3B3C-7EAF-8C8F-523B-21D73A30DB8C}"/>
              </a:ext>
            </a:extLst>
          </p:cNvPr>
          <p:cNvSpPr/>
          <p:nvPr/>
        </p:nvSpPr>
        <p:spPr>
          <a:xfrm>
            <a:off x="4201955" y="2904053"/>
            <a:ext cx="1537915" cy="136486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The Earth works in cycles</a:t>
            </a:r>
          </a:p>
        </p:txBody>
      </p:sp>
      <p:sp>
        <p:nvSpPr>
          <p:cNvPr id="8" name="Oval 7">
            <a:extLst>
              <a:ext uri="{FF2B5EF4-FFF2-40B4-BE49-F238E27FC236}">
                <a16:creationId xmlns:a16="http://schemas.microsoft.com/office/drawing/2014/main" id="{F753D1EC-D11A-6280-A0A9-36EBF88977EF}"/>
              </a:ext>
            </a:extLst>
          </p:cNvPr>
          <p:cNvSpPr/>
          <p:nvPr/>
        </p:nvSpPr>
        <p:spPr>
          <a:xfrm>
            <a:off x="767803" y="4793887"/>
            <a:ext cx="1661588" cy="14508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Distance/time scales in Earth and space systems vary greatly</a:t>
            </a:r>
          </a:p>
        </p:txBody>
      </p:sp>
      <p:sp>
        <p:nvSpPr>
          <p:cNvPr id="9" name="Oval 8">
            <a:extLst>
              <a:ext uri="{FF2B5EF4-FFF2-40B4-BE49-F238E27FC236}">
                <a16:creationId xmlns:a16="http://schemas.microsoft.com/office/drawing/2014/main" id="{BBA34E04-9534-93AF-1D41-2037CCF5ADD5}"/>
              </a:ext>
            </a:extLst>
          </p:cNvPr>
          <p:cNvSpPr/>
          <p:nvPr/>
        </p:nvSpPr>
        <p:spPr>
          <a:xfrm>
            <a:off x="2425204" y="3244990"/>
            <a:ext cx="1734454" cy="14508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All parts of the Earth system are constantly changing</a:t>
            </a:r>
          </a:p>
        </p:txBody>
      </p:sp>
    </p:spTree>
    <p:extLst>
      <p:ext uri="{BB962C8B-B14F-4D97-AF65-F5344CB8AC3E}">
        <p14:creationId xmlns:p14="http://schemas.microsoft.com/office/powerpoint/2010/main" val="106983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7"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900" decel="100000" fill="hold"/>
                                        <p:tgtEl>
                                          <p:spTgt spid="9"/>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7"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900" decel="100000" fill="hold"/>
                                        <p:tgtEl>
                                          <p:spTgt spid="5"/>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900" decel="100000" fill="hold"/>
                                        <p:tgtEl>
                                          <p:spTgt spid="4"/>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7"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900" decel="100000" fill="hold"/>
                                        <p:tgtEl>
                                          <p:spTgt spid="8"/>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7"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1000"/>
                                        <p:tgtEl>
                                          <p:spTgt spid="7"/>
                                        </p:tgtEl>
                                      </p:cBhvr>
                                    </p:animEffect>
                                    <p:anim calcmode="lin" valueType="num">
                                      <p:cBhvr>
                                        <p:cTn id="44" dur="1000" fill="hold"/>
                                        <p:tgtEl>
                                          <p:spTgt spid="7"/>
                                        </p:tgtEl>
                                        <p:attrNameLst>
                                          <p:attrName>ppt_x</p:attrName>
                                        </p:attrNameLst>
                                      </p:cBhvr>
                                      <p:tavLst>
                                        <p:tav tm="0">
                                          <p:val>
                                            <p:strVal val="#ppt_x"/>
                                          </p:val>
                                        </p:tav>
                                        <p:tav tm="100000">
                                          <p:val>
                                            <p:strVal val="#ppt_x"/>
                                          </p:val>
                                        </p:tav>
                                      </p:tavLst>
                                    </p:anim>
                                    <p:anim calcmode="lin" valueType="num">
                                      <p:cBhvr>
                                        <p:cTn id="45" dur="900" decel="100000" fill="hold"/>
                                        <p:tgtEl>
                                          <p:spTgt spid="7"/>
                                        </p:tgtEl>
                                        <p:attrNameLst>
                                          <p:attrName>ppt_y</p:attrName>
                                        </p:attrNameLst>
                                      </p:cBhvr>
                                      <p:tavLst>
                                        <p:tav tm="0">
                                          <p:val>
                                            <p:strVal val="#ppt_y+1"/>
                                          </p:val>
                                        </p:tav>
                                        <p:tav tm="100000">
                                          <p:val>
                                            <p:strVal val="#ppt_y-.03"/>
                                          </p:val>
                                        </p:tav>
                                      </p:tavLst>
                                    </p:anim>
                                    <p:anim calcmode="lin" valueType="num">
                                      <p:cBhvr>
                                        <p:cTn id="46"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0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3B627AAB-F48D-1CDA-A00A-94378EDCE6E2}"/>
              </a:ext>
            </a:extLst>
          </p:cNvPr>
          <p:cNvSpPr/>
          <p:nvPr/>
        </p:nvSpPr>
        <p:spPr>
          <a:xfrm>
            <a:off x="3160898" y="1613391"/>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assoon Infant Rg" panose="02000503030000020003" pitchFamily="2" charset="0"/>
              <a:ea typeface="Sassoon Infant Rg" panose="02000503030000020003" pitchFamily="2" charset="0"/>
            </a:endParaRPr>
          </a:p>
        </p:txBody>
      </p:sp>
      <p:sp>
        <p:nvSpPr>
          <p:cNvPr id="4" name="Oval 3">
            <a:extLst>
              <a:ext uri="{FF2B5EF4-FFF2-40B4-BE49-F238E27FC236}">
                <a16:creationId xmlns:a16="http://schemas.microsoft.com/office/drawing/2014/main" id="{80CD4EA4-024E-CE12-6195-79830902D2E6}"/>
              </a:ext>
            </a:extLst>
          </p:cNvPr>
          <p:cNvSpPr/>
          <p:nvPr/>
        </p:nvSpPr>
        <p:spPr>
          <a:xfrm>
            <a:off x="2609192" y="2073265"/>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assoon Infant Rg" panose="02000503030000020003" pitchFamily="2" charset="0"/>
              <a:ea typeface="Sassoon Infant Rg" panose="02000503030000020003" pitchFamily="2" charset="0"/>
            </a:endParaRPr>
          </a:p>
        </p:txBody>
      </p:sp>
      <p:grpSp>
        <p:nvGrpSpPr>
          <p:cNvPr id="5" name="Group 4">
            <a:extLst>
              <a:ext uri="{FF2B5EF4-FFF2-40B4-BE49-F238E27FC236}">
                <a16:creationId xmlns:a16="http://schemas.microsoft.com/office/drawing/2014/main" id="{2818658F-C74F-DFC6-D30D-E3EA1422BC4F}"/>
              </a:ext>
            </a:extLst>
          </p:cNvPr>
          <p:cNvGrpSpPr/>
          <p:nvPr/>
        </p:nvGrpSpPr>
        <p:grpSpPr>
          <a:xfrm>
            <a:off x="3554547" y="1091691"/>
            <a:ext cx="1838188" cy="1169519"/>
            <a:chOff x="2644385" y="2866760"/>
            <a:chExt cx="1838188" cy="1384526"/>
          </a:xfrm>
        </p:grpSpPr>
        <p:sp>
          <p:nvSpPr>
            <p:cNvPr id="6" name="Freeform: Shape 5">
              <a:extLst>
                <a:ext uri="{FF2B5EF4-FFF2-40B4-BE49-F238E27FC236}">
                  <a16:creationId xmlns:a16="http://schemas.microsoft.com/office/drawing/2014/main" id="{F2D68A66-ACA7-3B6D-2273-320572289958}"/>
                </a:ext>
              </a:extLst>
            </p:cNvPr>
            <p:cNvSpPr/>
            <p:nvPr/>
          </p:nvSpPr>
          <p:spPr>
            <a:xfrm>
              <a:off x="2644386" y="2866760"/>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Sassoon Infant Rg" panose="02000503030000020003" pitchFamily="2" charset="0"/>
                <a:ea typeface="Sassoon Infant Rg" panose="02000503030000020003" pitchFamily="2" charset="0"/>
              </a:endParaRPr>
            </a:p>
          </p:txBody>
        </p:sp>
        <p:sp>
          <p:nvSpPr>
            <p:cNvPr id="7" name="TextBox 6">
              <a:extLst>
                <a:ext uri="{FF2B5EF4-FFF2-40B4-BE49-F238E27FC236}">
                  <a16:creationId xmlns:a16="http://schemas.microsoft.com/office/drawing/2014/main" id="{AD0E418E-97AE-7231-1ACB-8268F66C80DC}"/>
                </a:ext>
              </a:extLst>
            </p:cNvPr>
            <p:cNvSpPr txBox="1"/>
            <p:nvPr/>
          </p:nvSpPr>
          <p:spPr>
            <a:xfrm>
              <a:off x="2644385" y="3160918"/>
              <a:ext cx="1838187"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rPr>
                <a:t>What am I learning?</a:t>
              </a:r>
            </a:p>
          </p:txBody>
        </p:sp>
      </p:grpSp>
      <p:pic>
        <p:nvPicPr>
          <p:cNvPr id="8" name="Picture 7" descr="A picture containing room&#10;&#10;Description automatically generated">
            <a:extLst>
              <a:ext uri="{FF2B5EF4-FFF2-40B4-BE49-F238E27FC236}">
                <a16:creationId xmlns:a16="http://schemas.microsoft.com/office/drawing/2014/main" id="{39470358-46BA-AFE1-D285-EA91F17CB433}"/>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1229619" y="2064681"/>
            <a:ext cx="1451414" cy="2106656"/>
          </a:xfrm>
          <a:prstGeom prst="rect">
            <a:avLst/>
          </a:prstGeom>
          <a:ln>
            <a:noFill/>
          </a:ln>
        </p:spPr>
      </p:pic>
      <p:sp>
        <p:nvSpPr>
          <p:cNvPr id="9" name="Freeform: Shape 8">
            <a:extLst>
              <a:ext uri="{FF2B5EF4-FFF2-40B4-BE49-F238E27FC236}">
                <a16:creationId xmlns:a16="http://schemas.microsoft.com/office/drawing/2014/main" id="{6413C7AD-97FF-6814-B019-11BCF337CD8B}"/>
              </a:ext>
            </a:extLst>
          </p:cNvPr>
          <p:cNvSpPr/>
          <p:nvPr/>
        </p:nvSpPr>
        <p:spPr>
          <a:xfrm>
            <a:off x="3349144" y="2885069"/>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assoon Infant Rg" panose="02000503030000020003" pitchFamily="2" charset="0"/>
              <a:ea typeface="Sassoon Infant Rg" panose="02000503030000020003" pitchFamily="2" charset="0"/>
            </a:endParaRPr>
          </a:p>
        </p:txBody>
      </p:sp>
      <p:sp>
        <p:nvSpPr>
          <p:cNvPr id="10" name="Oval 9">
            <a:extLst>
              <a:ext uri="{FF2B5EF4-FFF2-40B4-BE49-F238E27FC236}">
                <a16:creationId xmlns:a16="http://schemas.microsoft.com/office/drawing/2014/main" id="{D1E4BDB0-4A5E-1213-C02C-9998B59F6B14}"/>
              </a:ext>
            </a:extLst>
          </p:cNvPr>
          <p:cNvSpPr/>
          <p:nvPr/>
        </p:nvSpPr>
        <p:spPr>
          <a:xfrm>
            <a:off x="3010383" y="2885107"/>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assoon Infant Rg" panose="02000503030000020003" pitchFamily="2" charset="0"/>
              <a:ea typeface="Sassoon Infant Rg" panose="02000503030000020003" pitchFamily="2" charset="0"/>
            </a:endParaRPr>
          </a:p>
        </p:txBody>
      </p:sp>
      <p:grpSp>
        <p:nvGrpSpPr>
          <p:cNvPr id="11" name="Group 10">
            <a:extLst>
              <a:ext uri="{FF2B5EF4-FFF2-40B4-BE49-F238E27FC236}">
                <a16:creationId xmlns:a16="http://schemas.microsoft.com/office/drawing/2014/main" id="{68A6C06E-3C79-BADB-6350-F74CF2F0FDCF}"/>
              </a:ext>
            </a:extLst>
          </p:cNvPr>
          <p:cNvGrpSpPr/>
          <p:nvPr/>
        </p:nvGrpSpPr>
        <p:grpSpPr>
          <a:xfrm>
            <a:off x="4170289" y="2642887"/>
            <a:ext cx="2097602" cy="1251349"/>
            <a:chOff x="6125888" y="3028716"/>
            <a:chExt cx="1838187" cy="1384526"/>
          </a:xfrm>
          <a:solidFill>
            <a:schemeClr val="accent6">
              <a:lumMod val="60000"/>
              <a:lumOff val="40000"/>
            </a:schemeClr>
          </a:solidFill>
        </p:grpSpPr>
        <p:sp>
          <p:nvSpPr>
            <p:cNvPr id="12" name="Freeform: Shape 11">
              <a:extLst>
                <a:ext uri="{FF2B5EF4-FFF2-40B4-BE49-F238E27FC236}">
                  <a16:creationId xmlns:a16="http://schemas.microsoft.com/office/drawing/2014/main" id="{2F70C17E-4189-DD21-B205-52CD0BBDDE36}"/>
                </a:ext>
              </a:extLst>
            </p:cNvPr>
            <p:cNvSpPr/>
            <p:nvPr/>
          </p:nvSpPr>
          <p:spPr>
            <a:xfrm>
              <a:off x="6125888" y="3028716"/>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1" i="0" u="none" strike="noStrike" kern="1200" cap="none" spc="0" normalizeH="0" baseline="0" noProof="0">
                <a:ln>
                  <a:noFill/>
                </a:ln>
                <a:solidFill>
                  <a:prstClr val="white"/>
                </a:solidFill>
                <a:effectLst/>
                <a:uLnTx/>
                <a:uFillTx/>
                <a:latin typeface="Sassoon Infant Rg" panose="02000503030000020003" pitchFamily="2" charset="0"/>
                <a:ea typeface="Sassoon Infant Rg" panose="02000503030000020003" pitchFamily="2" charset="0"/>
              </a:endParaRPr>
            </a:p>
          </p:txBody>
        </p:sp>
        <p:sp>
          <p:nvSpPr>
            <p:cNvPr id="13" name="TextBox 12">
              <a:extLst>
                <a:ext uri="{FF2B5EF4-FFF2-40B4-BE49-F238E27FC236}">
                  <a16:creationId xmlns:a16="http://schemas.microsoft.com/office/drawing/2014/main" id="{57C0A6F4-E585-B24C-1482-1850F917181A}"/>
                </a:ext>
              </a:extLst>
            </p:cNvPr>
            <p:cNvSpPr txBox="1"/>
            <p:nvPr/>
          </p:nvSpPr>
          <p:spPr>
            <a:xfrm>
              <a:off x="6263965" y="3326148"/>
              <a:ext cx="1595765"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rPr>
                <a:t>Why am I learning this?</a:t>
              </a:r>
            </a:p>
          </p:txBody>
        </p:sp>
      </p:grpSp>
      <p:sp>
        <p:nvSpPr>
          <p:cNvPr id="14" name="Freeform: Shape 13">
            <a:extLst>
              <a:ext uri="{FF2B5EF4-FFF2-40B4-BE49-F238E27FC236}">
                <a16:creationId xmlns:a16="http://schemas.microsoft.com/office/drawing/2014/main" id="{29E056B9-E4D5-CA11-EA8B-997725C9FC91}"/>
              </a:ext>
            </a:extLst>
          </p:cNvPr>
          <p:cNvSpPr/>
          <p:nvPr/>
        </p:nvSpPr>
        <p:spPr>
          <a:xfrm>
            <a:off x="3041608" y="3930561"/>
            <a:ext cx="200648" cy="240777"/>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assoon Infant Rg" panose="02000503030000020003" pitchFamily="2" charset="0"/>
              <a:ea typeface="Sassoon Infant Rg" panose="02000503030000020003" pitchFamily="2" charset="0"/>
            </a:endParaRPr>
          </a:p>
        </p:txBody>
      </p:sp>
      <p:sp>
        <p:nvSpPr>
          <p:cNvPr id="15" name="Oval 14">
            <a:extLst>
              <a:ext uri="{FF2B5EF4-FFF2-40B4-BE49-F238E27FC236}">
                <a16:creationId xmlns:a16="http://schemas.microsoft.com/office/drawing/2014/main" id="{B4664F69-00B2-FE19-BBAF-86F4EAC3CED0}"/>
              </a:ext>
            </a:extLst>
          </p:cNvPr>
          <p:cNvSpPr/>
          <p:nvPr/>
        </p:nvSpPr>
        <p:spPr>
          <a:xfrm>
            <a:off x="2810226" y="3747212"/>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assoon Infant Rg" panose="02000503030000020003" pitchFamily="2" charset="0"/>
              <a:ea typeface="Sassoon Infant Rg" panose="02000503030000020003" pitchFamily="2" charset="0"/>
            </a:endParaRPr>
          </a:p>
        </p:txBody>
      </p:sp>
      <p:grpSp>
        <p:nvGrpSpPr>
          <p:cNvPr id="18" name="Group 17">
            <a:extLst>
              <a:ext uri="{FF2B5EF4-FFF2-40B4-BE49-F238E27FC236}">
                <a16:creationId xmlns:a16="http://schemas.microsoft.com/office/drawing/2014/main" id="{91DACD19-26A8-69E0-D221-F7EC3975F375}"/>
              </a:ext>
            </a:extLst>
          </p:cNvPr>
          <p:cNvGrpSpPr/>
          <p:nvPr/>
        </p:nvGrpSpPr>
        <p:grpSpPr>
          <a:xfrm>
            <a:off x="3757833" y="4286380"/>
            <a:ext cx="2214943" cy="1028271"/>
            <a:chOff x="10001131" y="2709337"/>
            <a:chExt cx="1838187" cy="1105414"/>
          </a:xfrm>
        </p:grpSpPr>
        <p:sp>
          <p:nvSpPr>
            <p:cNvPr id="19" name="Freeform: Shape 18">
              <a:extLst>
                <a:ext uri="{FF2B5EF4-FFF2-40B4-BE49-F238E27FC236}">
                  <a16:creationId xmlns:a16="http://schemas.microsoft.com/office/drawing/2014/main" id="{16799A44-EB10-4872-2259-7FB3DABB60FB}"/>
                </a:ext>
              </a:extLst>
            </p:cNvPr>
            <p:cNvSpPr/>
            <p:nvPr/>
          </p:nvSpPr>
          <p:spPr>
            <a:xfrm>
              <a:off x="10001131" y="2709337"/>
              <a:ext cx="1838187" cy="1105414"/>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a:ln>
                  <a:noFill/>
                </a:ln>
                <a:solidFill>
                  <a:prstClr val="white"/>
                </a:solidFill>
                <a:effectLst/>
                <a:uLnTx/>
                <a:uFillTx/>
                <a:latin typeface="Sassoon Infant Rg" panose="02000503030000020003" pitchFamily="2" charset="0"/>
                <a:ea typeface="Sassoon Infant Rg" panose="02000503030000020003" pitchFamily="2" charset="0"/>
              </a:endParaRPr>
            </a:p>
          </p:txBody>
        </p:sp>
        <p:sp>
          <p:nvSpPr>
            <p:cNvPr id="20" name="TextBox 19">
              <a:extLst>
                <a:ext uri="{FF2B5EF4-FFF2-40B4-BE49-F238E27FC236}">
                  <a16:creationId xmlns:a16="http://schemas.microsoft.com/office/drawing/2014/main" id="{692C35E4-BB0E-878B-B0C6-CA28CD06DE01}"/>
                </a:ext>
              </a:extLst>
            </p:cNvPr>
            <p:cNvSpPr txBox="1"/>
            <p:nvPr/>
          </p:nvSpPr>
          <p:spPr>
            <a:xfrm>
              <a:off x="10146498" y="2857389"/>
              <a:ext cx="1547451" cy="694820"/>
            </a:xfrm>
            <a:prstGeom prst="rect">
              <a:avLst/>
            </a:prstGeom>
            <a:noFill/>
            <a:ln w="190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rPr>
                <a:t>How will I know when I get there?</a:t>
              </a:r>
            </a:p>
          </p:txBody>
        </p:sp>
      </p:grpSp>
      <p:sp>
        <p:nvSpPr>
          <p:cNvPr id="21" name="Freeform: Shape 20">
            <a:extLst>
              <a:ext uri="{FF2B5EF4-FFF2-40B4-BE49-F238E27FC236}">
                <a16:creationId xmlns:a16="http://schemas.microsoft.com/office/drawing/2014/main" id="{3CF436E4-24A5-799F-DFD0-CE5B148AD0FC}"/>
              </a:ext>
            </a:extLst>
          </p:cNvPr>
          <p:cNvSpPr/>
          <p:nvPr/>
        </p:nvSpPr>
        <p:spPr>
          <a:xfrm>
            <a:off x="3319440" y="4227866"/>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assoon Infant Rg" panose="02000503030000020003" pitchFamily="2" charset="0"/>
              <a:ea typeface="Sassoon Infant Rg" panose="02000503030000020003" pitchFamily="2" charset="0"/>
            </a:endParaRPr>
          </a:p>
        </p:txBody>
      </p:sp>
      <p:sp>
        <p:nvSpPr>
          <p:cNvPr id="22" name="Freeform: Shape 21">
            <a:extLst>
              <a:ext uri="{FF2B5EF4-FFF2-40B4-BE49-F238E27FC236}">
                <a16:creationId xmlns:a16="http://schemas.microsoft.com/office/drawing/2014/main" id="{62C1348B-30AE-E3F5-0DA9-71B24A77B3D2}"/>
              </a:ext>
            </a:extLst>
          </p:cNvPr>
          <p:cNvSpPr/>
          <p:nvPr/>
        </p:nvSpPr>
        <p:spPr>
          <a:xfrm>
            <a:off x="3757833" y="2958395"/>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assoon Infant Rg" panose="02000503030000020003" pitchFamily="2" charset="0"/>
              <a:ea typeface="Sassoon Infant Rg" panose="02000503030000020003" pitchFamily="2" charset="0"/>
            </a:endParaRPr>
          </a:p>
        </p:txBody>
      </p:sp>
      <p:sp>
        <p:nvSpPr>
          <p:cNvPr id="23" name="Freeform: Shape 22">
            <a:extLst>
              <a:ext uri="{FF2B5EF4-FFF2-40B4-BE49-F238E27FC236}">
                <a16:creationId xmlns:a16="http://schemas.microsoft.com/office/drawing/2014/main" id="{CCDBA400-6C55-A1BF-CEEF-1767CD6B5834}"/>
              </a:ext>
            </a:extLst>
          </p:cNvPr>
          <p:cNvSpPr/>
          <p:nvPr/>
        </p:nvSpPr>
        <p:spPr>
          <a:xfrm>
            <a:off x="2823116" y="1879752"/>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Sassoon Infant Rg" panose="02000503030000020003" pitchFamily="2" charset="0"/>
              <a:ea typeface="Sassoon Infant Rg" panose="02000503030000020003" pitchFamily="2" charset="0"/>
            </a:endParaRPr>
          </a:p>
        </p:txBody>
      </p:sp>
      <p:sp>
        <p:nvSpPr>
          <p:cNvPr id="24" name="Frame 23">
            <a:extLst>
              <a:ext uri="{FF2B5EF4-FFF2-40B4-BE49-F238E27FC236}">
                <a16:creationId xmlns:a16="http://schemas.microsoft.com/office/drawing/2014/main" id="{7ED878D8-7033-8F76-A1AE-4AF47CB71B87}"/>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2" name="Picture 1">
            <a:extLst>
              <a:ext uri="{FF2B5EF4-FFF2-40B4-BE49-F238E27FC236}">
                <a16:creationId xmlns:a16="http://schemas.microsoft.com/office/drawing/2014/main" id="{F5EC7F69-1FCE-2031-0949-2D53425B2FAC}"/>
              </a:ext>
            </a:extLst>
          </p:cNvPr>
          <p:cNvPicPr/>
          <p:nvPr/>
        </p:nvPicPr>
        <p:blipFill>
          <a:blip r:embed="rId3">
            <a:extLst>
              <a:ext uri="{28A0092B-C50C-407E-A947-70E740481C1C}">
                <a14:useLocalDpi xmlns:a14="http://schemas.microsoft.com/office/drawing/2010/main" val="0"/>
              </a:ext>
            </a:extLst>
          </a:blip>
          <a:stretch>
            <a:fillRect/>
          </a:stretch>
        </p:blipFill>
        <p:spPr>
          <a:xfrm>
            <a:off x="10583067" y="45602"/>
            <a:ext cx="1721536" cy="697981"/>
          </a:xfrm>
          <a:prstGeom prst="rect">
            <a:avLst/>
          </a:prstGeom>
        </p:spPr>
      </p:pic>
      <p:pic>
        <p:nvPicPr>
          <p:cNvPr id="25" name="Picture 24">
            <a:extLst>
              <a:ext uri="{FF2B5EF4-FFF2-40B4-BE49-F238E27FC236}">
                <a16:creationId xmlns:a16="http://schemas.microsoft.com/office/drawing/2014/main" id="{BD32407C-EB8B-3136-7C9F-67C3DC9FE745}"/>
              </a:ext>
            </a:extLst>
          </p:cNvPr>
          <p:cNvPicPr>
            <a:picLocks noChangeAspect="1"/>
          </p:cNvPicPr>
          <p:nvPr/>
        </p:nvPicPr>
        <p:blipFill>
          <a:blip r:embed="rId4"/>
          <a:stretch>
            <a:fillRect/>
          </a:stretch>
        </p:blipFill>
        <p:spPr>
          <a:xfrm>
            <a:off x="643187" y="5435255"/>
            <a:ext cx="1172863" cy="1172863"/>
          </a:xfrm>
          <a:prstGeom prst="rect">
            <a:avLst/>
          </a:prstGeom>
          <a:ln>
            <a:noFill/>
          </a:ln>
        </p:spPr>
      </p:pic>
      <p:sp>
        <p:nvSpPr>
          <p:cNvPr id="26" name="TextBox 25">
            <a:extLst>
              <a:ext uri="{FF2B5EF4-FFF2-40B4-BE49-F238E27FC236}">
                <a16:creationId xmlns:a16="http://schemas.microsoft.com/office/drawing/2014/main" id="{56B8F983-151B-FA8C-9803-8ED89E6702DA}"/>
              </a:ext>
            </a:extLst>
          </p:cNvPr>
          <p:cNvSpPr txBox="1"/>
          <p:nvPr/>
        </p:nvSpPr>
        <p:spPr>
          <a:xfrm>
            <a:off x="1527565" y="5790855"/>
            <a:ext cx="8540095" cy="461665"/>
          </a:xfrm>
          <a:prstGeom prst="rect">
            <a:avLst/>
          </a:prstGeom>
          <a:noFill/>
        </p:spPr>
        <p:txBody>
          <a:bodyPr wrap="none" rtlCol="0">
            <a:spAutoFit/>
          </a:bodyPr>
          <a:lstStyle/>
          <a:p>
            <a:r>
              <a:rPr lang="en-GB" sz="2400" b="1">
                <a:latin typeface="Sassoon Infant Rg" panose="02000503030000020003" pitchFamily="2" charset="0"/>
                <a:ea typeface="Sassoon Infant Rg" panose="02000503030000020003" pitchFamily="2" charset="0"/>
              </a:rPr>
              <a:t>We will be working scientifically and developing our skill of testing </a:t>
            </a:r>
          </a:p>
        </p:txBody>
      </p:sp>
    </p:spTree>
    <p:extLst>
      <p:ext uri="{BB962C8B-B14F-4D97-AF65-F5344CB8AC3E}">
        <p14:creationId xmlns:p14="http://schemas.microsoft.com/office/powerpoint/2010/main" val="528684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 1">
            <a:extLst>
              <a:ext uri="{FF2B5EF4-FFF2-40B4-BE49-F238E27FC236}">
                <a16:creationId xmlns:a16="http://schemas.microsoft.com/office/drawing/2014/main" id="{F2115A88-B567-6B48-173C-457093D31977}"/>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 name="Text Placeholder 5">
            <a:extLst>
              <a:ext uri="{FF2B5EF4-FFF2-40B4-BE49-F238E27FC236}">
                <a16:creationId xmlns:a16="http://schemas.microsoft.com/office/drawing/2014/main" id="{787A996F-EE79-4941-5E68-7AE476338801}"/>
              </a:ext>
            </a:extLst>
          </p:cNvPr>
          <p:cNvSpPr txBox="1">
            <a:spLocks/>
          </p:cNvSpPr>
          <p:nvPr/>
        </p:nvSpPr>
        <p:spPr>
          <a:xfrm>
            <a:off x="6096000" y="1354169"/>
            <a:ext cx="5961477" cy="50276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b="1">
                <a:latin typeface="Sassoon Infant Rg" panose="02000503030000020003" pitchFamily="2" charset="0"/>
                <a:ea typeface="Sassoon Infant Rg" panose="02000503030000020003" pitchFamily="2" charset="0"/>
              </a:rPr>
              <a:t>I remember that cells..</a:t>
            </a:r>
          </a:p>
        </p:txBody>
      </p:sp>
      <p:sp>
        <p:nvSpPr>
          <p:cNvPr id="5" name="Text Placeholder 12">
            <a:extLst>
              <a:ext uri="{FF2B5EF4-FFF2-40B4-BE49-F238E27FC236}">
                <a16:creationId xmlns:a16="http://schemas.microsoft.com/office/drawing/2014/main" id="{241B3C4D-412C-744F-EA88-DD5EF0ADE64D}"/>
              </a:ext>
            </a:extLst>
          </p:cNvPr>
          <p:cNvSpPr txBox="1">
            <a:spLocks/>
          </p:cNvSpPr>
          <p:nvPr/>
        </p:nvSpPr>
        <p:spPr>
          <a:xfrm>
            <a:off x="257871" y="1456080"/>
            <a:ext cx="5157787" cy="400855"/>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b="1">
                <a:latin typeface="Sassoon Infant Rg" panose="02000503030000020003" pitchFamily="2" charset="0"/>
                <a:ea typeface="Sassoon Infant Rg" panose="02000503030000020003" pitchFamily="2" charset="0"/>
              </a:rPr>
              <a:t>I know a cell is…</a:t>
            </a:r>
          </a:p>
        </p:txBody>
      </p:sp>
      <p:cxnSp>
        <p:nvCxnSpPr>
          <p:cNvPr id="6" name="Straight Connector 5">
            <a:extLst>
              <a:ext uri="{FF2B5EF4-FFF2-40B4-BE49-F238E27FC236}">
                <a16:creationId xmlns:a16="http://schemas.microsoft.com/office/drawing/2014/main" id="{63A9D6F8-59F8-29DE-4001-CEE28BF89CC3}"/>
              </a:ext>
            </a:extLst>
          </p:cNvPr>
          <p:cNvCxnSpPr>
            <a:cxnSpLocks/>
          </p:cNvCxnSpPr>
          <p:nvPr/>
        </p:nvCxnSpPr>
        <p:spPr>
          <a:xfrm>
            <a:off x="5950634" y="1252025"/>
            <a:ext cx="0" cy="25655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descr="A close-up of a pink sign&#10;&#10;Description automatically generated">
            <a:extLst>
              <a:ext uri="{FF2B5EF4-FFF2-40B4-BE49-F238E27FC236}">
                <a16:creationId xmlns:a16="http://schemas.microsoft.com/office/drawing/2014/main" id="{BF5640F7-8FA9-2563-B1B3-CAC44FC8F0E1}"/>
              </a:ext>
            </a:extLst>
          </p:cNvPr>
          <p:cNvPicPr>
            <a:picLocks noChangeAspect="1"/>
          </p:cNvPicPr>
          <p:nvPr/>
        </p:nvPicPr>
        <p:blipFill>
          <a:blip r:embed="rId3"/>
          <a:stretch>
            <a:fillRect/>
          </a:stretch>
        </p:blipFill>
        <p:spPr>
          <a:xfrm>
            <a:off x="10618849" y="177360"/>
            <a:ext cx="1501922" cy="645454"/>
          </a:xfrm>
          <a:prstGeom prst="rect">
            <a:avLst/>
          </a:prstGeom>
        </p:spPr>
      </p:pic>
      <p:sp>
        <p:nvSpPr>
          <p:cNvPr id="9" name="Rectangle: Rounded Corners 8">
            <a:extLst>
              <a:ext uri="{FF2B5EF4-FFF2-40B4-BE49-F238E27FC236}">
                <a16:creationId xmlns:a16="http://schemas.microsoft.com/office/drawing/2014/main" id="{318135EF-F7C8-6430-1EF0-AD66993A330E}"/>
              </a:ext>
            </a:extLst>
          </p:cNvPr>
          <p:cNvSpPr/>
          <p:nvPr/>
        </p:nvSpPr>
        <p:spPr>
          <a:xfrm>
            <a:off x="3338311" y="177360"/>
            <a:ext cx="5224645" cy="930278"/>
          </a:xfrm>
          <a:prstGeom prst="roundRect">
            <a:avLst/>
          </a:prstGeom>
          <a:solidFill>
            <a:schemeClr val="tx2">
              <a:lumMod val="10000"/>
              <a:lumOff val="9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a:solidFill>
                  <a:schemeClr val="accent1">
                    <a:lumMod val="50000"/>
                  </a:schemeClr>
                </a:solidFill>
                <a:effectLst>
                  <a:outerShdw blurRad="38100" dist="38100" dir="2700000" algn="tl">
                    <a:srgbClr val="000000">
                      <a:alpha val="43137"/>
                    </a:srgbClr>
                  </a:outerShdw>
                </a:effectLst>
              </a:rPr>
              <a:t>I know … I Remember…</a:t>
            </a:r>
          </a:p>
        </p:txBody>
      </p:sp>
      <p:cxnSp>
        <p:nvCxnSpPr>
          <p:cNvPr id="10" name="Straight Connector 9">
            <a:extLst>
              <a:ext uri="{FF2B5EF4-FFF2-40B4-BE49-F238E27FC236}">
                <a16:creationId xmlns:a16="http://schemas.microsoft.com/office/drawing/2014/main" id="{43E93DDE-59CD-1393-8E44-AC85E9379FFF}"/>
              </a:ext>
            </a:extLst>
          </p:cNvPr>
          <p:cNvCxnSpPr>
            <a:cxnSpLocks/>
          </p:cNvCxnSpPr>
          <p:nvPr/>
        </p:nvCxnSpPr>
        <p:spPr>
          <a:xfrm>
            <a:off x="91440" y="3817620"/>
            <a:ext cx="1196603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12">
            <a:extLst>
              <a:ext uri="{FF2B5EF4-FFF2-40B4-BE49-F238E27FC236}">
                <a16:creationId xmlns:a16="http://schemas.microsoft.com/office/drawing/2014/main" id="{7E219EB3-445A-4BB8-003D-3343D55CC899}"/>
              </a:ext>
            </a:extLst>
          </p:cNvPr>
          <p:cNvSpPr txBox="1">
            <a:spLocks/>
          </p:cNvSpPr>
          <p:nvPr/>
        </p:nvSpPr>
        <p:spPr>
          <a:xfrm>
            <a:off x="2583180" y="3962008"/>
            <a:ext cx="8126729" cy="460522"/>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b="1">
                <a:latin typeface="Sassoon Infant Rg" panose="02000503030000020003" pitchFamily="2" charset="0"/>
                <a:ea typeface="Sassoon Infant Rg" panose="02000503030000020003" pitchFamily="2" charset="0"/>
              </a:rPr>
              <a:t>I Wonder...             I would like to know…</a:t>
            </a:r>
          </a:p>
        </p:txBody>
      </p:sp>
    </p:spTree>
    <p:extLst>
      <p:ext uri="{BB962C8B-B14F-4D97-AF65-F5344CB8AC3E}">
        <p14:creationId xmlns:p14="http://schemas.microsoft.com/office/powerpoint/2010/main" val="2554150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7B633E-6F43-414C-B10D-C8044AFB766A}"/>
              </a:ext>
            </a:extLst>
          </p:cNvPr>
          <p:cNvSpPr txBox="1"/>
          <p:nvPr/>
        </p:nvSpPr>
        <p:spPr>
          <a:xfrm>
            <a:off x="134307" y="182480"/>
            <a:ext cx="852963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prstClr val="black"/>
                </a:solidFill>
                <a:effectLst/>
                <a:uLnTx/>
                <a:uFillTx/>
                <a:latin typeface="Twinkl Cursive Looped"/>
                <a:ea typeface="+mn-ea"/>
                <a:cs typeface="+mn-cs"/>
              </a:rPr>
              <a:t>Knowledge organiser- please stick in your Learning Journey. </a:t>
            </a:r>
            <a:r>
              <a:rPr lang="en-GB" sz="2400">
                <a:solidFill>
                  <a:prstClr val="black"/>
                </a:solidFill>
                <a:latin typeface="Twinkl Cursive Looped"/>
              </a:rPr>
              <a:t>We will add more detail to it this week.</a:t>
            </a:r>
            <a:endParaRPr kumimoji="0" lang="en-GB" sz="2400" b="0" i="0" u="none" strike="noStrike" kern="1200" cap="none" spc="0" normalizeH="0" baseline="0" noProof="0">
              <a:ln>
                <a:noFill/>
              </a:ln>
              <a:solidFill>
                <a:prstClr val="black"/>
              </a:solidFill>
              <a:effectLst/>
              <a:uLnTx/>
              <a:uFillTx/>
              <a:latin typeface="Twinkl Cursive Loope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winkl Cursive Looped"/>
              <a:ea typeface="+mn-ea"/>
              <a:cs typeface="+mn-cs"/>
            </a:endParaRPr>
          </a:p>
        </p:txBody>
      </p:sp>
      <p:sp>
        <p:nvSpPr>
          <p:cNvPr id="4" name="Frame 3">
            <a:extLst>
              <a:ext uri="{FF2B5EF4-FFF2-40B4-BE49-F238E27FC236}">
                <a16:creationId xmlns:a16="http://schemas.microsoft.com/office/drawing/2014/main" id="{0D0ED5C9-B3D9-CC5E-ADF5-C237008058D2}"/>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5" name="Picture 4" descr="A green background with black text&#10;&#10;Description automatically generated">
            <a:extLst>
              <a:ext uri="{FF2B5EF4-FFF2-40B4-BE49-F238E27FC236}">
                <a16:creationId xmlns:a16="http://schemas.microsoft.com/office/drawing/2014/main" id="{74E720EF-8EA2-450D-EAD4-AA716F838545}"/>
              </a:ext>
            </a:extLst>
          </p:cNvPr>
          <p:cNvPicPr>
            <a:picLocks noChangeAspect="1"/>
          </p:cNvPicPr>
          <p:nvPr/>
        </p:nvPicPr>
        <p:blipFill>
          <a:blip r:embed="rId3"/>
          <a:stretch>
            <a:fillRect/>
          </a:stretch>
        </p:blipFill>
        <p:spPr>
          <a:xfrm>
            <a:off x="10714905" y="182480"/>
            <a:ext cx="1477095" cy="614422"/>
          </a:xfrm>
          <a:prstGeom prst="rect">
            <a:avLst/>
          </a:prstGeom>
        </p:spPr>
      </p:pic>
      <p:grpSp>
        <p:nvGrpSpPr>
          <p:cNvPr id="10" name="Group 9">
            <a:extLst>
              <a:ext uri="{FF2B5EF4-FFF2-40B4-BE49-F238E27FC236}">
                <a16:creationId xmlns:a16="http://schemas.microsoft.com/office/drawing/2014/main" id="{9CFEA66A-B618-282B-7030-C3A415CEFB43}"/>
              </a:ext>
            </a:extLst>
          </p:cNvPr>
          <p:cNvGrpSpPr/>
          <p:nvPr/>
        </p:nvGrpSpPr>
        <p:grpSpPr>
          <a:xfrm>
            <a:off x="586566" y="1659808"/>
            <a:ext cx="6744047" cy="4635738"/>
            <a:chOff x="2723976" y="1111131"/>
            <a:chExt cx="6744047" cy="4635738"/>
          </a:xfrm>
        </p:grpSpPr>
        <p:pic>
          <p:nvPicPr>
            <p:cNvPr id="6" name="Picture 5">
              <a:extLst>
                <a:ext uri="{FF2B5EF4-FFF2-40B4-BE49-F238E27FC236}">
                  <a16:creationId xmlns:a16="http://schemas.microsoft.com/office/drawing/2014/main" id="{B04EFB6E-E2EE-A996-C83F-33886D4B0152}"/>
                </a:ext>
              </a:extLst>
            </p:cNvPr>
            <p:cNvPicPr>
              <a:picLocks noChangeAspect="1"/>
            </p:cNvPicPr>
            <p:nvPr/>
          </p:nvPicPr>
          <p:blipFill>
            <a:blip r:embed="rId4"/>
            <a:stretch>
              <a:fillRect/>
            </a:stretch>
          </p:blipFill>
          <p:spPr>
            <a:xfrm>
              <a:off x="2723976" y="1111131"/>
              <a:ext cx="6744047" cy="4635738"/>
            </a:xfrm>
            <a:prstGeom prst="rect">
              <a:avLst/>
            </a:prstGeom>
          </p:spPr>
        </p:pic>
        <p:sp>
          <p:nvSpPr>
            <p:cNvPr id="7" name="Rectangle 6">
              <a:extLst>
                <a:ext uri="{FF2B5EF4-FFF2-40B4-BE49-F238E27FC236}">
                  <a16:creationId xmlns:a16="http://schemas.microsoft.com/office/drawing/2014/main" id="{D838B36B-A3B0-B073-9A86-7BCF14AC6666}"/>
                </a:ext>
              </a:extLst>
            </p:cNvPr>
            <p:cNvSpPr/>
            <p:nvPr/>
          </p:nvSpPr>
          <p:spPr>
            <a:xfrm>
              <a:off x="2777490" y="1497330"/>
              <a:ext cx="3463290" cy="12687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CDE0C6EC-E68D-068F-F43B-D0BEF0D9F9FC}"/>
                </a:ext>
              </a:extLst>
            </p:cNvPr>
            <p:cNvSpPr/>
            <p:nvPr/>
          </p:nvSpPr>
          <p:spPr>
            <a:xfrm>
              <a:off x="2723976" y="3048379"/>
              <a:ext cx="3463290" cy="26984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Speech Bubble: Rectangle with Corners Rounded 8">
            <a:extLst>
              <a:ext uri="{FF2B5EF4-FFF2-40B4-BE49-F238E27FC236}">
                <a16:creationId xmlns:a16="http://schemas.microsoft.com/office/drawing/2014/main" id="{85B49E90-AE52-0DE6-17D8-93769317AF97}"/>
              </a:ext>
            </a:extLst>
          </p:cNvPr>
          <p:cNvSpPr/>
          <p:nvPr/>
        </p:nvSpPr>
        <p:spPr>
          <a:xfrm>
            <a:off x="7666121" y="2354580"/>
            <a:ext cx="3910018" cy="2148840"/>
          </a:xfrm>
          <a:prstGeom prst="wedgeRoundRect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solidFill>
                  <a:schemeClr val="tx1"/>
                </a:solidFill>
                <a:latin typeface="Sassoon Infant Rg" panose="02000503030000020003" pitchFamily="2" charset="0"/>
                <a:ea typeface="Sassoon Infant Rg" panose="02000503030000020003" pitchFamily="2" charset="0"/>
              </a:rPr>
              <a:t>Let’s have a look at the vocabulary and make sure we can read and say all of the new words</a:t>
            </a:r>
            <a:r>
              <a:rPr lang="en-GB">
                <a:solidFill>
                  <a:schemeClr val="tx1"/>
                </a:solidFill>
                <a:latin typeface="Sassoon Infant Rg" panose="02000503030000020003" pitchFamily="2" charset="0"/>
                <a:ea typeface="Sassoon Infant Rg" panose="02000503030000020003" pitchFamily="2" charset="0"/>
              </a:rPr>
              <a:t>.</a:t>
            </a:r>
          </a:p>
        </p:txBody>
      </p:sp>
    </p:spTree>
    <p:extLst>
      <p:ext uri="{BB962C8B-B14F-4D97-AF65-F5344CB8AC3E}">
        <p14:creationId xmlns:p14="http://schemas.microsoft.com/office/powerpoint/2010/main" val="3396404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8BB7D-5F52-9799-3189-ED153C0B77A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23BAF61-62C7-D0BA-456A-108A1E7694E9}"/>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61793" b="81925" l="43765" r="56864"/>
                    </a14:imgEffect>
                  </a14:imgLayer>
                </a14:imgProps>
              </a:ext>
            </a:extLst>
          </a:blip>
          <a:srcRect l="42128" t="59276" r="41499" b="15559"/>
          <a:stretch/>
        </p:blipFill>
        <p:spPr>
          <a:xfrm>
            <a:off x="121193" y="858967"/>
            <a:ext cx="1645920" cy="2398601"/>
          </a:xfrm>
          <a:prstGeom prst="rect">
            <a:avLst/>
          </a:prstGeom>
        </p:spPr>
      </p:pic>
      <p:pic>
        <p:nvPicPr>
          <p:cNvPr id="8" name="Picture 7">
            <a:extLst>
              <a:ext uri="{FF2B5EF4-FFF2-40B4-BE49-F238E27FC236}">
                <a16:creationId xmlns:a16="http://schemas.microsoft.com/office/drawing/2014/main" id="{E10293AF-D3B1-2657-A8F5-5EB2700C40C4}"/>
              </a:ext>
            </a:extLst>
          </p:cNvPr>
          <p:cNvPicPr>
            <a:picLocks noChangeAspect="1"/>
          </p:cNvPicPr>
          <p:nvPr/>
        </p:nvPicPr>
        <p:blipFill>
          <a:blip r:embed="rId5"/>
          <a:stretch>
            <a:fillRect/>
          </a:stretch>
        </p:blipFill>
        <p:spPr>
          <a:xfrm>
            <a:off x="4861081" y="1757308"/>
            <a:ext cx="3246549" cy="3648184"/>
          </a:xfrm>
          <a:prstGeom prst="rect">
            <a:avLst/>
          </a:prstGeom>
        </p:spPr>
      </p:pic>
      <p:sp>
        <p:nvSpPr>
          <p:cNvPr id="4" name="Frame 3">
            <a:extLst>
              <a:ext uri="{FF2B5EF4-FFF2-40B4-BE49-F238E27FC236}">
                <a16:creationId xmlns:a16="http://schemas.microsoft.com/office/drawing/2014/main" id="{E230006F-D5EF-F9AB-A1E5-8D0A75EF57A1}"/>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15" name="Picture 14">
            <a:extLst>
              <a:ext uri="{FF2B5EF4-FFF2-40B4-BE49-F238E27FC236}">
                <a16:creationId xmlns:a16="http://schemas.microsoft.com/office/drawing/2014/main" id="{5F49494A-A054-189B-F8BB-79CFBC422D2F}"/>
              </a:ext>
            </a:extLst>
          </p:cNvPr>
          <p:cNvPicPr>
            <a:picLocks noChangeAspect="1"/>
          </p:cNvPicPr>
          <p:nvPr/>
        </p:nvPicPr>
        <p:blipFill>
          <a:blip r:embed="rId6"/>
          <a:stretch>
            <a:fillRect/>
          </a:stretch>
        </p:blipFill>
        <p:spPr>
          <a:xfrm>
            <a:off x="612053" y="5089320"/>
            <a:ext cx="956012" cy="1391913"/>
          </a:xfrm>
          <a:prstGeom prst="rect">
            <a:avLst/>
          </a:prstGeom>
        </p:spPr>
      </p:pic>
      <p:pic>
        <p:nvPicPr>
          <p:cNvPr id="17" name="Picture 16">
            <a:extLst>
              <a:ext uri="{FF2B5EF4-FFF2-40B4-BE49-F238E27FC236}">
                <a16:creationId xmlns:a16="http://schemas.microsoft.com/office/drawing/2014/main" id="{E176E044-F230-74C9-F1AF-2052400AC6BC}"/>
              </a:ext>
            </a:extLst>
          </p:cNvPr>
          <p:cNvPicPr>
            <a:picLocks noChangeAspect="1"/>
          </p:cNvPicPr>
          <p:nvPr/>
        </p:nvPicPr>
        <p:blipFill rotWithShape="1">
          <a:blip r:embed="rId7">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0254101" y="779899"/>
            <a:ext cx="1186938" cy="1694889"/>
          </a:xfrm>
          <a:prstGeom prst="rect">
            <a:avLst/>
          </a:prstGeom>
        </p:spPr>
      </p:pic>
      <p:pic>
        <p:nvPicPr>
          <p:cNvPr id="19" name="Picture 18" descr="A close-up of a pink sign&#10;&#10;Description automatically generated">
            <a:extLst>
              <a:ext uri="{FF2B5EF4-FFF2-40B4-BE49-F238E27FC236}">
                <a16:creationId xmlns:a16="http://schemas.microsoft.com/office/drawing/2014/main" id="{52471810-AA91-8EA1-0803-4D5A24F0B679}"/>
              </a:ext>
            </a:extLst>
          </p:cNvPr>
          <p:cNvPicPr>
            <a:picLocks noChangeAspect="1"/>
          </p:cNvPicPr>
          <p:nvPr/>
        </p:nvPicPr>
        <p:blipFill>
          <a:blip r:embed="rId8"/>
          <a:stretch>
            <a:fillRect/>
          </a:stretch>
        </p:blipFill>
        <p:spPr>
          <a:xfrm>
            <a:off x="10690078" y="134445"/>
            <a:ext cx="1501922" cy="645454"/>
          </a:xfrm>
          <a:prstGeom prst="rect">
            <a:avLst/>
          </a:prstGeom>
        </p:spPr>
      </p:pic>
      <p:sp>
        <p:nvSpPr>
          <p:cNvPr id="21" name="Speech Bubble: Rectangle with Corners Rounded 20">
            <a:extLst>
              <a:ext uri="{FF2B5EF4-FFF2-40B4-BE49-F238E27FC236}">
                <a16:creationId xmlns:a16="http://schemas.microsoft.com/office/drawing/2014/main" id="{7B78897D-FD10-01BF-18BE-D21C4FBD26A2}"/>
              </a:ext>
            </a:extLst>
          </p:cNvPr>
          <p:cNvSpPr/>
          <p:nvPr/>
        </p:nvSpPr>
        <p:spPr>
          <a:xfrm>
            <a:off x="2230051" y="5251345"/>
            <a:ext cx="4433639" cy="1229887"/>
          </a:xfrm>
          <a:prstGeom prst="wedgeRoundRectCallout">
            <a:avLst>
              <a:gd name="adj1" fmla="val -65727"/>
              <a:gd name="adj2" fmla="val 8904"/>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solidFill>
                  <a:schemeClr val="tx1"/>
                </a:solidFill>
                <a:latin typeface="Sassoon Infant Rg" panose="02000503030000020003" pitchFamily="2" charset="0"/>
                <a:ea typeface="Sassoon Infant Rg" panose="02000503030000020003" pitchFamily="2" charset="0"/>
              </a:rPr>
              <a:t>You won’t see anything unless you turn on the light.</a:t>
            </a:r>
          </a:p>
        </p:txBody>
      </p:sp>
      <p:sp>
        <p:nvSpPr>
          <p:cNvPr id="22" name="Speech Bubble: Rectangle with Corners Rounded 21">
            <a:extLst>
              <a:ext uri="{FF2B5EF4-FFF2-40B4-BE49-F238E27FC236}">
                <a16:creationId xmlns:a16="http://schemas.microsoft.com/office/drawing/2014/main" id="{9582BB68-25EC-B973-FD72-523C33AA67D4}"/>
              </a:ext>
            </a:extLst>
          </p:cNvPr>
          <p:cNvSpPr/>
          <p:nvPr/>
        </p:nvSpPr>
        <p:spPr>
          <a:xfrm>
            <a:off x="8344733" y="2681662"/>
            <a:ext cx="3543300" cy="1480162"/>
          </a:xfrm>
          <a:prstGeom prst="wedgeRoundRectCallout">
            <a:avLst>
              <a:gd name="adj1" fmla="val -3351"/>
              <a:gd name="adj2" fmla="val -79232"/>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solidFill>
                  <a:schemeClr val="tx1"/>
                </a:solidFill>
                <a:latin typeface="Sassoon Infant Rg" panose="02000503030000020003" pitchFamily="2" charset="0"/>
                <a:ea typeface="Sassoon Infant Rg" panose="02000503030000020003" pitchFamily="2" charset="0"/>
              </a:rPr>
              <a:t>You will only be able to see it’s eyes – they shine in the dark.</a:t>
            </a:r>
          </a:p>
        </p:txBody>
      </p:sp>
      <p:sp>
        <p:nvSpPr>
          <p:cNvPr id="24" name="TextBox 23">
            <a:extLst>
              <a:ext uri="{FF2B5EF4-FFF2-40B4-BE49-F238E27FC236}">
                <a16:creationId xmlns:a16="http://schemas.microsoft.com/office/drawing/2014/main" id="{F9AABC21-49C3-2CB5-0D20-92C871F2E1B9}"/>
              </a:ext>
            </a:extLst>
          </p:cNvPr>
          <p:cNvSpPr txBox="1"/>
          <p:nvPr/>
        </p:nvSpPr>
        <p:spPr>
          <a:xfrm>
            <a:off x="391135" y="2899399"/>
            <a:ext cx="1131015" cy="369332"/>
          </a:xfrm>
          <a:prstGeom prst="rect">
            <a:avLst/>
          </a:prstGeom>
          <a:noFill/>
        </p:spPr>
        <p:txBody>
          <a:bodyPr wrap="none" rtlCol="0">
            <a:spAutoFit/>
          </a:bodyPr>
          <a:lstStyle/>
          <a:p>
            <a:r>
              <a:rPr lang="en-GB"/>
              <a:t>Learner A</a:t>
            </a:r>
          </a:p>
        </p:txBody>
      </p:sp>
      <p:sp>
        <p:nvSpPr>
          <p:cNvPr id="25" name="TextBox 24">
            <a:extLst>
              <a:ext uri="{FF2B5EF4-FFF2-40B4-BE49-F238E27FC236}">
                <a16:creationId xmlns:a16="http://schemas.microsoft.com/office/drawing/2014/main" id="{F989A2D8-BE77-76B0-55AA-E20796D5027D}"/>
              </a:ext>
            </a:extLst>
          </p:cNvPr>
          <p:cNvSpPr txBox="1"/>
          <p:nvPr/>
        </p:nvSpPr>
        <p:spPr>
          <a:xfrm>
            <a:off x="10481592" y="2236799"/>
            <a:ext cx="1134221" cy="369332"/>
          </a:xfrm>
          <a:prstGeom prst="rect">
            <a:avLst/>
          </a:prstGeom>
          <a:noFill/>
        </p:spPr>
        <p:txBody>
          <a:bodyPr wrap="none" rtlCol="0">
            <a:spAutoFit/>
          </a:bodyPr>
          <a:lstStyle/>
          <a:p>
            <a:r>
              <a:rPr lang="en-GB"/>
              <a:t>Learner B</a:t>
            </a:r>
          </a:p>
        </p:txBody>
      </p:sp>
      <p:sp>
        <p:nvSpPr>
          <p:cNvPr id="26" name="TextBox 25">
            <a:extLst>
              <a:ext uri="{FF2B5EF4-FFF2-40B4-BE49-F238E27FC236}">
                <a16:creationId xmlns:a16="http://schemas.microsoft.com/office/drawing/2014/main" id="{D70D29E0-36CB-844A-46FA-DF8341836FCE}"/>
              </a:ext>
            </a:extLst>
          </p:cNvPr>
          <p:cNvSpPr txBox="1"/>
          <p:nvPr/>
        </p:nvSpPr>
        <p:spPr>
          <a:xfrm>
            <a:off x="612053" y="6354223"/>
            <a:ext cx="1155060" cy="369332"/>
          </a:xfrm>
          <a:prstGeom prst="rect">
            <a:avLst/>
          </a:prstGeom>
          <a:noFill/>
        </p:spPr>
        <p:txBody>
          <a:bodyPr wrap="none" rtlCol="0">
            <a:spAutoFit/>
          </a:bodyPr>
          <a:lstStyle/>
          <a:p>
            <a:r>
              <a:rPr lang="en-GB"/>
              <a:t>Learner C</a:t>
            </a:r>
          </a:p>
        </p:txBody>
      </p:sp>
      <p:sp>
        <p:nvSpPr>
          <p:cNvPr id="3" name="Rectangle: Rounded Corners 2">
            <a:extLst>
              <a:ext uri="{FF2B5EF4-FFF2-40B4-BE49-F238E27FC236}">
                <a16:creationId xmlns:a16="http://schemas.microsoft.com/office/drawing/2014/main" id="{167F1881-C1D2-969B-68E4-C61F42BF5996}"/>
              </a:ext>
            </a:extLst>
          </p:cNvPr>
          <p:cNvSpPr/>
          <p:nvPr/>
        </p:nvSpPr>
        <p:spPr>
          <a:xfrm>
            <a:off x="1924107" y="224176"/>
            <a:ext cx="8343786" cy="81592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a:solidFill>
                  <a:srgbClr val="002060"/>
                </a:solidFill>
                <a:latin typeface="Sassoon Infant Rg" panose="02000503030000020003" pitchFamily="2" charset="0"/>
                <a:ea typeface="Sassoon Infant Rg" panose="02000503030000020003" pitchFamily="2" charset="0"/>
              </a:rPr>
              <a:t>Who do you agree/disagree with and Why?</a:t>
            </a:r>
          </a:p>
        </p:txBody>
      </p:sp>
      <p:sp>
        <p:nvSpPr>
          <p:cNvPr id="20" name="Speech Bubble: Rectangle with Corners Rounded 19">
            <a:extLst>
              <a:ext uri="{FF2B5EF4-FFF2-40B4-BE49-F238E27FC236}">
                <a16:creationId xmlns:a16="http://schemas.microsoft.com/office/drawing/2014/main" id="{54498F26-D947-0543-B112-F417CC37026C}"/>
              </a:ext>
            </a:extLst>
          </p:cNvPr>
          <p:cNvSpPr/>
          <p:nvPr/>
        </p:nvSpPr>
        <p:spPr>
          <a:xfrm>
            <a:off x="1575198" y="1264272"/>
            <a:ext cx="3762612" cy="1341859"/>
          </a:xfrm>
          <a:prstGeom prst="wedgeRoundRectCallout">
            <a:avLst>
              <a:gd name="adj1" fmla="val -56873"/>
              <a:gd name="adj2" fmla="val -7773"/>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solidFill>
                  <a:schemeClr val="tx1"/>
                </a:solidFill>
                <a:latin typeface="Sassoon Infant Rg" panose="02000503030000020003" pitchFamily="2" charset="0"/>
                <a:ea typeface="Sassoon Infant Rg" panose="02000503030000020003" pitchFamily="2" charset="0"/>
              </a:rPr>
              <a:t>I will still be able to see the white cat in the dark room </a:t>
            </a:r>
          </a:p>
        </p:txBody>
      </p:sp>
      <p:sp>
        <p:nvSpPr>
          <p:cNvPr id="6" name="AutoShape 6">
            <a:extLst>
              <a:ext uri="{FF2B5EF4-FFF2-40B4-BE49-F238E27FC236}">
                <a16:creationId xmlns:a16="http://schemas.microsoft.com/office/drawing/2014/main" id="{E5A4AB66-7196-AA00-45AA-99911EEBE78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858670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F5652-2440-B4E7-6BD9-2D1E3DE112EA}"/>
            </a:ext>
          </a:extLst>
        </p:cNvPr>
        <p:cNvGrpSpPr/>
        <p:nvPr/>
      </p:nvGrpSpPr>
      <p:grpSpPr>
        <a:xfrm>
          <a:off x="0" y="0"/>
          <a:ext cx="0" cy="0"/>
          <a:chOff x="0" y="0"/>
          <a:chExt cx="0" cy="0"/>
        </a:xfrm>
      </p:grpSpPr>
      <p:sp>
        <p:nvSpPr>
          <p:cNvPr id="4" name="Frame 3">
            <a:extLst>
              <a:ext uri="{FF2B5EF4-FFF2-40B4-BE49-F238E27FC236}">
                <a16:creationId xmlns:a16="http://schemas.microsoft.com/office/drawing/2014/main" id="{E375068E-1A78-F908-0393-25A959E8359A}"/>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14" name="Group 13">
            <a:extLst>
              <a:ext uri="{FF2B5EF4-FFF2-40B4-BE49-F238E27FC236}">
                <a16:creationId xmlns:a16="http://schemas.microsoft.com/office/drawing/2014/main" id="{E15A2AC6-B421-3948-545E-DFCA42C645DC}"/>
              </a:ext>
            </a:extLst>
          </p:cNvPr>
          <p:cNvGrpSpPr/>
          <p:nvPr/>
        </p:nvGrpSpPr>
        <p:grpSpPr>
          <a:xfrm>
            <a:off x="3753327" y="1697984"/>
            <a:ext cx="4423410" cy="3120390"/>
            <a:chOff x="2491740" y="1771650"/>
            <a:chExt cx="4423410" cy="3120390"/>
          </a:xfrm>
        </p:grpSpPr>
        <p:sp>
          <p:nvSpPr>
            <p:cNvPr id="13" name="Rectangle 12">
              <a:extLst>
                <a:ext uri="{FF2B5EF4-FFF2-40B4-BE49-F238E27FC236}">
                  <a16:creationId xmlns:a16="http://schemas.microsoft.com/office/drawing/2014/main" id="{9724D108-AF38-93A8-D42B-578E90487075}"/>
                </a:ext>
              </a:extLst>
            </p:cNvPr>
            <p:cNvSpPr/>
            <p:nvPr/>
          </p:nvSpPr>
          <p:spPr>
            <a:xfrm>
              <a:off x="2491740" y="1771650"/>
              <a:ext cx="4423410" cy="31203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descr="A cartoon of a door&#10;&#10;AI-generated content may be incorrect.">
              <a:extLst>
                <a:ext uri="{FF2B5EF4-FFF2-40B4-BE49-F238E27FC236}">
                  <a16:creationId xmlns:a16="http://schemas.microsoft.com/office/drawing/2014/main" id="{12D54C73-E8E6-8C37-6EF7-C195010891C2}"/>
                </a:ext>
              </a:extLst>
            </p:cNvPr>
            <p:cNvPicPr>
              <a:picLocks noChangeAspect="1"/>
            </p:cNvPicPr>
            <p:nvPr/>
          </p:nvPicPr>
          <p:blipFill>
            <a:blip r:embed="rId3"/>
            <a:stretch>
              <a:fillRect/>
            </a:stretch>
          </p:blipFill>
          <p:spPr>
            <a:xfrm>
              <a:off x="5183874" y="1771650"/>
              <a:ext cx="1562318" cy="2772162"/>
            </a:xfrm>
            <a:prstGeom prst="rect">
              <a:avLst/>
            </a:prstGeom>
          </p:spPr>
        </p:pic>
      </p:grpSp>
      <p:pic>
        <p:nvPicPr>
          <p:cNvPr id="1028" name="Picture 4" descr="300+ Seed Tray Stock Illustrations ...">
            <a:extLst>
              <a:ext uri="{FF2B5EF4-FFF2-40B4-BE49-F238E27FC236}">
                <a16:creationId xmlns:a16="http://schemas.microsoft.com/office/drawing/2014/main" id="{359CF7C2-3A8A-4C81-80E8-2B1D9E9999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7832" y="2186616"/>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F20CB480-6421-2E94-238E-85304376F078}"/>
              </a:ext>
            </a:extLst>
          </p:cNvPr>
          <p:cNvPicPr>
            <a:picLocks noChangeAspect="1"/>
          </p:cNvPicPr>
          <p:nvPr/>
        </p:nvPicPr>
        <p:blipFill>
          <a:blip r:embed="rId5"/>
          <a:stretch>
            <a:fillRect/>
          </a:stretch>
        </p:blipFill>
        <p:spPr>
          <a:xfrm>
            <a:off x="612053" y="5089320"/>
            <a:ext cx="956012" cy="1391913"/>
          </a:xfrm>
          <a:prstGeom prst="rect">
            <a:avLst/>
          </a:prstGeom>
        </p:spPr>
      </p:pic>
      <p:pic>
        <p:nvPicPr>
          <p:cNvPr id="16" name="Picture 15">
            <a:extLst>
              <a:ext uri="{FF2B5EF4-FFF2-40B4-BE49-F238E27FC236}">
                <a16:creationId xmlns:a16="http://schemas.microsoft.com/office/drawing/2014/main" id="{4459D02F-9A5A-A8D4-F714-0634B332D840}"/>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165148" y="1171987"/>
            <a:ext cx="1332436" cy="1634235"/>
          </a:xfrm>
          <a:prstGeom prst="rect">
            <a:avLst/>
          </a:prstGeom>
        </p:spPr>
      </p:pic>
      <p:pic>
        <p:nvPicPr>
          <p:cNvPr id="17" name="Picture 16">
            <a:extLst>
              <a:ext uri="{FF2B5EF4-FFF2-40B4-BE49-F238E27FC236}">
                <a16:creationId xmlns:a16="http://schemas.microsoft.com/office/drawing/2014/main" id="{9EBB8F05-5C8A-0815-8560-BE4A81290E9E}"/>
              </a:ext>
            </a:extLst>
          </p:cNvPr>
          <p:cNvPicPr>
            <a:picLocks noChangeAspect="1"/>
          </p:cNvPicPr>
          <p:nvPr/>
        </p:nvPicPr>
        <p:blipFill rotWithShape="1">
          <a:blip r:embed="rId8">
            <a:extLst>
              <a:ext uri="{BEBA8EAE-BF5A-486C-A8C5-ECC9F3942E4B}">
                <a14:imgProps xmlns:a14="http://schemas.microsoft.com/office/drawing/2010/main">
                  <a14:imgLayer r:embed="rId7">
                    <a14:imgEffect>
                      <a14:backgroundRemoval t="61793" b="81925" l="64809" r="78176">
                        <a14:foregroundMark x1="75238" y1="61799" x2="75238" y2="61799"/>
                      </a14:backgroundRemoval>
                    </a14:imgEffect>
                  </a14:imgLayer>
                </a14:imgProps>
              </a:ext>
            </a:extLst>
          </a:blip>
          <a:srcRect l="63138" t="59276" r="20153" b="15559"/>
          <a:stretch/>
        </p:blipFill>
        <p:spPr>
          <a:xfrm>
            <a:off x="10743126" y="729362"/>
            <a:ext cx="1186938" cy="1694889"/>
          </a:xfrm>
          <a:prstGeom prst="rect">
            <a:avLst/>
          </a:prstGeom>
        </p:spPr>
      </p:pic>
      <p:pic>
        <p:nvPicPr>
          <p:cNvPr id="18" name="Picture 17">
            <a:extLst>
              <a:ext uri="{FF2B5EF4-FFF2-40B4-BE49-F238E27FC236}">
                <a16:creationId xmlns:a16="http://schemas.microsoft.com/office/drawing/2014/main" id="{73F7B903-A58A-5903-1425-16892D695EC2}"/>
              </a:ext>
            </a:extLst>
          </p:cNvPr>
          <p:cNvPicPr>
            <a:picLocks noChangeAspect="1"/>
          </p:cNvPicPr>
          <p:nvPr/>
        </p:nvPicPr>
        <p:blipFill rotWithShape="1">
          <a:blip r:embed="rId9">
            <a:extLst>
              <a:ext uri="{BEBA8EAE-BF5A-486C-A8C5-ECC9F3942E4B}">
                <a14:imgProps xmlns:a14="http://schemas.microsoft.com/office/drawing/2010/main">
                  <a14:imgLayer r:embed="rId7">
                    <a14:imgEffect>
                      <a14:backgroundRemoval t="61793" b="81925" l="43765" r="56864"/>
                    </a14:imgEffect>
                  </a14:imgLayer>
                </a14:imgProps>
              </a:ext>
            </a:extLst>
          </a:blip>
          <a:srcRect l="42128" t="59276" r="41499" b="15559"/>
          <a:stretch/>
        </p:blipFill>
        <p:spPr>
          <a:xfrm>
            <a:off x="10955428" y="5100750"/>
            <a:ext cx="1249037" cy="1820224"/>
          </a:xfrm>
          <a:prstGeom prst="rect">
            <a:avLst/>
          </a:prstGeom>
        </p:spPr>
      </p:pic>
      <p:pic>
        <p:nvPicPr>
          <p:cNvPr id="19" name="Picture 18" descr="A close-up of a pink sign&#10;&#10;Description automatically generated">
            <a:extLst>
              <a:ext uri="{FF2B5EF4-FFF2-40B4-BE49-F238E27FC236}">
                <a16:creationId xmlns:a16="http://schemas.microsoft.com/office/drawing/2014/main" id="{19B3B627-DF0B-D9B8-3853-15F00D2BFB93}"/>
              </a:ext>
            </a:extLst>
          </p:cNvPr>
          <p:cNvPicPr>
            <a:picLocks noChangeAspect="1"/>
          </p:cNvPicPr>
          <p:nvPr/>
        </p:nvPicPr>
        <p:blipFill>
          <a:blip r:embed="rId10"/>
          <a:stretch>
            <a:fillRect/>
          </a:stretch>
        </p:blipFill>
        <p:spPr>
          <a:xfrm>
            <a:off x="10690078" y="134445"/>
            <a:ext cx="1501922" cy="645454"/>
          </a:xfrm>
          <a:prstGeom prst="rect">
            <a:avLst/>
          </a:prstGeom>
        </p:spPr>
      </p:pic>
      <p:sp>
        <p:nvSpPr>
          <p:cNvPr id="20" name="Speech Bubble: Rectangle with Corners Rounded 19">
            <a:extLst>
              <a:ext uri="{FF2B5EF4-FFF2-40B4-BE49-F238E27FC236}">
                <a16:creationId xmlns:a16="http://schemas.microsoft.com/office/drawing/2014/main" id="{A5485046-E85C-63A5-2659-BA5F42D566D9}"/>
              </a:ext>
            </a:extLst>
          </p:cNvPr>
          <p:cNvSpPr/>
          <p:nvPr/>
        </p:nvSpPr>
        <p:spPr>
          <a:xfrm>
            <a:off x="1599203" y="1426189"/>
            <a:ext cx="3881240" cy="1364782"/>
          </a:xfrm>
          <a:prstGeom prst="wedgeRoundRectCallout">
            <a:avLst>
              <a:gd name="adj1" fmla="val -56873"/>
              <a:gd name="adj2" fmla="val -7773"/>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solidFill>
                  <a:schemeClr val="tx1"/>
                </a:solidFill>
                <a:latin typeface="Sassoon Infant Rg" panose="02000503030000020003" pitchFamily="2" charset="0"/>
                <a:ea typeface="Sassoon Infant Rg" panose="02000503030000020003" pitchFamily="2" charset="0"/>
              </a:rPr>
              <a:t>The seeds will start to grow if I put them in a dark cupboard.</a:t>
            </a:r>
          </a:p>
        </p:txBody>
      </p:sp>
      <p:sp>
        <p:nvSpPr>
          <p:cNvPr id="21" name="Speech Bubble: Rectangle with Corners Rounded 20">
            <a:extLst>
              <a:ext uri="{FF2B5EF4-FFF2-40B4-BE49-F238E27FC236}">
                <a16:creationId xmlns:a16="http://schemas.microsoft.com/office/drawing/2014/main" id="{2FA17665-8C96-4434-7B9F-6B892EA7653E}"/>
              </a:ext>
            </a:extLst>
          </p:cNvPr>
          <p:cNvSpPr/>
          <p:nvPr/>
        </p:nvSpPr>
        <p:spPr>
          <a:xfrm>
            <a:off x="2230051" y="4740903"/>
            <a:ext cx="2691291" cy="1740330"/>
          </a:xfrm>
          <a:prstGeom prst="wedgeRoundRectCallout">
            <a:avLst>
              <a:gd name="adj1" fmla="val -66910"/>
              <a:gd name="adj2" fmla="val -9001"/>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solidFill>
                  <a:schemeClr val="tx1"/>
                </a:solidFill>
                <a:latin typeface="Sassoon Infant Rg" panose="02000503030000020003" pitchFamily="2" charset="0"/>
                <a:ea typeface="Sassoon Infant Rg" panose="02000503030000020003" pitchFamily="2" charset="0"/>
              </a:rPr>
              <a:t>They will start to grow better under a bright light.</a:t>
            </a:r>
          </a:p>
        </p:txBody>
      </p:sp>
      <p:sp>
        <p:nvSpPr>
          <p:cNvPr id="22" name="Speech Bubble: Rectangle with Corners Rounded 21">
            <a:extLst>
              <a:ext uri="{FF2B5EF4-FFF2-40B4-BE49-F238E27FC236}">
                <a16:creationId xmlns:a16="http://schemas.microsoft.com/office/drawing/2014/main" id="{465B4EFC-5D88-C6AB-0E73-6CC4D0B8F9B3}"/>
              </a:ext>
            </a:extLst>
          </p:cNvPr>
          <p:cNvSpPr/>
          <p:nvPr/>
        </p:nvSpPr>
        <p:spPr>
          <a:xfrm>
            <a:off x="8264137" y="2213900"/>
            <a:ext cx="2691291" cy="1740330"/>
          </a:xfrm>
          <a:prstGeom prst="wedgeRoundRectCallout">
            <a:avLst>
              <a:gd name="adj1" fmla="val 40965"/>
              <a:gd name="adj2" fmla="val -79276"/>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solidFill>
                  <a:schemeClr val="tx1"/>
                </a:solidFill>
                <a:latin typeface="Sassoon Infant Rg" panose="02000503030000020003" pitchFamily="2" charset="0"/>
                <a:ea typeface="Sassoon Infant Rg" panose="02000503030000020003" pitchFamily="2" charset="0"/>
              </a:rPr>
              <a:t>The amount of light doesn’t make any difference.</a:t>
            </a:r>
          </a:p>
        </p:txBody>
      </p:sp>
      <p:sp>
        <p:nvSpPr>
          <p:cNvPr id="23" name="Speech Bubble: Rectangle with Corners Rounded 22">
            <a:extLst>
              <a:ext uri="{FF2B5EF4-FFF2-40B4-BE49-F238E27FC236}">
                <a16:creationId xmlns:a16="http://schemas.microsoft.com/office/drawing/2014/main" id="{BDF756A7-FF86-F2AF-C51A-A05679AFCE71}"/>
              </a:ext>
            </a:extLst>
          </p:cNvPr>
          <p:cNvSpPr/>
          <p:nvPr/>
        </p:nvSpPr>
        <p:spPr>
          <a:xfrm>
            <a:off x="7889516" y="4270532"/>
            <a:ext cx="2691291" cy="1740330"/>
          </a:xfrm>
          <a:prstGeom prst="wedgeRoundRectCallout">
            <a:avLst>
              <a:gd name="adj1" fmla="val 61351"/>
              <a:gd name="adj2" fmla="val 42227"/>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solidFill>
                  <a:schemeClr val="tx1"/>
                </a:solidFill>
                <a:latin typeface="Sassoon Infant Rg" panose="02000503030000020003" pitchFamily="2" charset="0"/>
                <a:ea typeface="Sassoon Infant Rg" panose="02000503030000020003" pitchFamily="2" charset="0"/>
              </a:rPr>
              <a:t>They will start to grow better in the dark.</a:t>
            </a:r>
          </a:p>
        </p:txBody>
      </p:sp>
      <p:sp>
        <p:nvSpPr>
          <p:cNvPr id="24" name="TextBox 23">
            <a:extLst>
              <a:ext uri="{FF2B5EF4-FFF2-40B4-BE49-F238E27FC236}">
                <a16:creationId xmlns:a16="http://schemas.microsoft.com/office/drawing/2014/main" id="{A8C940D8-B5AB-E1CA-A8B8-16B5A84A96D8}"/>
              </a:ext>
            </a:extLst>
          </p:cNvPr>
          <p:cNvSpPr txBox="1"/>
          <p:nvPr/>
        </p:nvSpPr>
        <p:spPr>
          <a:xfrm>
            <a:off x="391135" y="2899399"/>
            <a:ext cx="1131015" cy="369332"/>
          </a:xfrm>
          <a:prstGeom prst="rect">
            <a:avLst/>
          </a:prstGeom>
          <a:noFill/>
        </p:spPr>
        <p:txBody>
          <a:bodyPr wrap="none" rtlCol="0">
            <a:spAutoFit/>
          </a:bodyPr>
          <a:lstStyle/>
          <a:p>
            <a:r>
              <a:rPr lang="en-GB"/>
              <a:t>Learner A</a:t>
            </a:r>
          </a:p>
        </p:txBody>
      </p:sp>
      <p:sp>
        <p:nvSpPr>
          <p:cNvPr id="25" name="TextBox 24">
            <a:extLst>
              <a:ext uri="{FF2B5EF4-FFF2-40B4-BE49-F238E27FC236}">
                <a16:creationId xmlns:a16="http://schemas.microsoft.com/office/drawing/2014/main" id="{2D2D5818-09F5-9768-BC93-E0AFD7EAEA51}"/>
              </a:ext>
            </a:extLst>
          </p:cNvPr>
          <p:cNvSpPr txBox="1"/>
          <p:nvPr/>
        </p:nvSpPr>
        <p:spPr>
          <a:xfrm>
            <a:off x="10912084" y="2150926"/>
            <a:ext cx="1134221" cy="369332"/>
          </a:xfrm>
          <a:prstGeom prst="rect">
            <a:avLst/>
          </a:prstGeom>
          <a:noFill/>
        </p:spPr>
        <p:txBody>
          <a:bodyPr wrap="none" rtlCol="0">
            <a:spAutoFit/>
          </a:bodyPr>
          <a:lstStyle/>
          <a:p>
            <a:r>
              <a:rPr lang="en-GB"/>
              <a:t>Learner B</a:t>
            </a:r>
          </a:p>
        </p:txBody>
      </p:sp>
      <p:sp>
        <p:nvSpPr>
          <p:cNvPr id="26" name="TextBox 25">
            <a:extLst>
              <a:ext uri="{FF2B5EF4-FFF2-40B4-BE49-F238E27FC236}">
                <a16:creationId xmlns:a16="http://schemas.microsoft.com/office/drawing/2014/main" id="{2A3D8E67-ACA3-40DA-89E7-4716E79471C1}"/>
              </a:ext>
            </a:extLst>
          </p:cNvPr>
          <p:cNvSpPr txBox="1"/>
          <p:nvPr/>
        </p:nvSpPr>
        <p:spPr>
          <a:xfrm>
            <a:off x="612053" y="6354223"/>
            <a:ext cx="1155060" cy="369332"/>
          </a:xfrm>
          <a:prstGeom prst="rect">
            <a:avLst/>
          </a:prstGeom>
          <a:noFill/>
        </p:spPr>
        <p:txBody>
          <a:bodyPr wrap="none" rtlCol="0">
            <a:spAutoFit/>
          </a:bodyPr>
          <a:lstStyle/>
          <a:p>
            <a:r>
              <a:rPr lang="en-GB"/>
              <a:t>Learner C</a:t>
            </a:r>
          </a:p>
        </p:txBody>
      </p:sp>
      <p:sp>
        <p:nvSpPr>
          <p:cNvPr id="27" name="TextBox 26">
            <a:extLst>
              <a:ext uri="{FF2B5EF4-FFF2-40B4-BE49-F238E27FC236}">
                <a16:creationId xmlns:a16="http://schemas.microsoft.com/office/drawing/2014/main" id="{96397055-A849-DC49-8AFE-FAE1694FB696}"/>
              </a:ext>
            </a:extLst>
          </p:cNvPr>
          <p:cNvSpPr txBox="1"/>
          <p:nvPr/>
        </p:nvSpPr>
        <p:spPr>
          <a:xfrm>
            <a:off x="9781069" y="6276497"/>
            <a:ext cx="1153457" cy="369332"/>
          </a:xfrm>
          <a:prstGeom prst="rect">
            <a:avLst/>
          </a:prstGeom>
          <a:noFill/>
        </p:spPr>
        <p:txBody>
          <a:bodyPr wrap="none" rtlCol="0">
            <a:spAutoFit/>
          </a:bodyPr>
          <a:lstStyle/>
          <a:p>
            <a:r>
              <a:rPr lang="en-GB"/>
              <a:t>Learner D</a:t>
            </a:r>
          </a:p>
        </p:txBody>
      </p:sp>
      <p:sp>
        <p:nvSpPr>
          <p:cNvPr id="3" name="Rectangle: Rounded Corners 2">
            <a:extLst>
              <a:ext uri="{FF2B5EF4-FFF2-40B4-BE49-F238E27FC236}">
                <a16:creationId xmlns:a16="http://schemas.microsoft.com/office/drawing/2014/main" id="{49CBF928-E61C-F920-7AA7-E008FDE94C2F}"/>
              </a:ext>
            </a:extLst>
          </p:cNvPr>
          <p:cNvSpPr/>
          <p:nvPr/>
        </p:nvSpPr>
        <p:spPr>
          <a:xfrm>
            <a:off x="1924107" y="224176"/>
            <a:ext cx="8343786" cy="81592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a:solidFill>
                  <a:srgbClr val="002060"/>
                </a:solidFill>
                <a:latin typeface="Sassoon Infant Rg" panose="02000503030000020003" pitchFamily="2" charset="0"/>
                <a:ea typeface="Sassoon Infant Rg" panose="02000503030000020003" pitchFamily="2" charset="0"/>
              </a:rPr>
              <a:t>Who do you agree/disagree with and Why?</a:t>
            </a:r>
          </a:p>
        </p:txBody>
      </p:sp>
    </p:spTree>
    <p:extLst>
      <p:ext uri="{BB962C8B-B14F-4D97-AF65-F5344CB8AC3E}">
        <p14:creationId xmlns:p14="http://schemas.microsoft.com/office/powerpoint/2010/main" val="2785226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73A84-9546-2D26-D0EB-229016152559}"/>
            </a:ext>
          </a:extLst>
        </p:cNvPr>
        <p:cNvGrpSpPr/>
        <p:nvPr/>
      </p:nvGrpSpPr>
      <p:grpSpPr>
        <a:xfrm>
          <a:off x="0" y="0"/>
          <a:ext cx="0" cy="0"/>
          <a:chOff x="0" y="0"/>
          <a:chExt cx="0" cy="0"/>
        </a:xfrm>
      </p:grpSpPr>
      <p:sp>
        <p:nvSpPr>
          <p:cNvPr id="4" name="Frame 3">
            <a:extLst>
              <a:ext uri="{FF2B5EF4-FFF2-40B4-BE49-F238E27FC236}">
                <a16:creationId xmlns:a16="http://schemas.microsoft.com/office/drawing/2014/main" id="{19620AB4-6985-B892-3276-C0A3F45EAAB5}"/>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19" name="Picture 18" descr="A close-up of a pink sign&#10;&#10;Description automatically generated">
            <a:extLst>
              <a:ext uri="{FF2B5EF4-FFF2-40B4-BE49-F238E27FC236}">
                <a16:creationId xmlns:a16="http://schemas.microsoft.com/office/drawing/2014/main" id="{619E06BD-BFAA-1F2E-ADFC-614EEAC354FC}"/>
              </a:ext>
            </a:extLst>
          </p:cNvPr>
          <p:cNvPicPr>
            <a:picLocks noChangeAspect="1"/>
          </p:cNvPicPr>
          <p:nvPr/>
        </p:nvPicPr>
        <p:blipFill>
          <a:blip r:embed="rId3"/>
          <a:stretch>
            <a:fillRect/>
          </a:stretch>
        </p:blipFill>
        <p:spPr>
          <a:xfrm>
            <a:off x="10690078" y="134445"/>
            <a:ext cx="1501922" cy="645454"/>
          </a:xfrm>
          <a:prstGeom prst="rect">
            <a:avLst/>
          </a:prstGeom>
        </p:spPr>
      </p:pic>
      <p:sp>
        <p:nvSpPr>
          <p:cNvPr id="3" name="Rectangle: Rounded Corners 2">
            <a:extLst>
              <a:ext uri="{FF2B5EF4-FFF2-40B4-BE49-F238E27FC236}">
                <a16:creationId xmlns:a16="http://schemas.microsoft.com/office/drawing/2014/main" id="{170CDD01-1C18-A493-B23F-F25D004D6738}"/>
              </a:ext>
            </a:extLst>
          </p:cNvPr>
          <p:cNvSpPr/>
          <p:nvPr/>
        </p:nvSpPr>
        <p:spPr>
          <a:xfrm>
            <a:off x="1924107" y="224176"/>
            <a:ext cx="8343786" cy="81592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a:solidFill>
                  <a:srgbClr val="002060"/>
                </a:solidFill>
                <a:latin typeface="Sassoon Infant Rg" panose="02000503030000020003" pitchFamily="2" charset="0"/>
                <a:ea typeface="Sassoon Infant Rg" panose="02000503030000020003" pitchFamily="2" charset="0"/>
              </a:rPr>
              <a:t>Fed in Facts</a:t>
            </a:r>
          </a:p>
        </p:txBody>
      </p:sp>
    </p:spTree>
    <p:extLst>
      <p:ext uri="{BB962C8B-B14F-4D97-AF65-F5344CB8AC3E}">
        <p14:creationId xmlns:p14="http://schemas.microsoft.com/office/powerpoint/2010/main" val="575902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0E90-0111-AD8F-3565-B473F7F94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00276-9CFE-87FB-C0BA-F03BACF29962}"/>
              </a:ext>
            </a:extLst>
          </p:cNvPr>
          <p:cNvSpPr>
            <a:spLocks noGrp="1"/>
          </p:cNvSpPr>
          <p:nvPr>
            <p:ph type="title"/>
          </p:nvPr>
        </p:nvSpPr>
        <p:spPr/>
        <p:txBody>
          <a:bodyPr/>
          <a:lstStyle/>
          <a:p>
            <a:pPr algn="ctr"/>
            <a:r>
              <a:rPr lang="en-GB"/>
              <a:t>Quick Quiz! </a:t>
            </a:r>
          </a:p>
        </p:txBody>
      </p:sp>
      <p:sp>
        <p:nvSpPr>
          <p:cNvPr id="3" name="Content Placeholder 2">
            <a:extLst>
              <a:ext uri="{FF2B5EF4-FFF2-40B4-BE49-F238E27FC236}">
                <a16:creationId xmlns:a16="http://schemas.microsoft.com/office/drawing/2014/main" id="{55AAAFFB-F15D-C3B2-B750-74826068FD1D}"/>
              </a:ext>
            </a:extLst>
          </p:cNvPr>
          <p:cNvSpPr>
            <a:spLocks noGrp="1"/>
          </p:cNvSpPr>
          <p:nvPr>
            <p:ph idx="1"/>
          </p:nvPr>
        </p:nvSpPr>
        <p:spPr/>
        <p:txBody>
          <a:bodyPr>
            <a:normAutofit/>
          </a:bodyPr>
          <a:lstStyle/>
          <a:p>
            <a:pPr marL="514350" indent="-514350">
              <a:buFont typeface="+mj-lt"/>
              <a:buAutoNum type="arabicPeriod"/>
            </a:pPr>
            <a:r>
              <a:rPr lang="en-GB"/>
              <a:t>What is a cell?</a:t>
            </a:r>
          </a:p>
          <a:p>
            <a:pPr marL="514350" indent="-514350">
              <a:buFont typeface="+mj-lt"/>
              <a:buAutoNum type="arabicPeriod"/>
            </a:pPr>
            <a:endParaRPr lang="en-GB"/>
          </a:p>
          <a:p>
            <a:pPr marL="514350" indent="-514350">
              <a:buFont typeface="+mj-lt"/>
              <a:buAutoNum type="arabicPeriod"/>
            </a:pPr>
            <a:r>
              <a:rPr lang="en-GB"/>
              <a:t>Write down three things that are made of cells. </a:t>
            </a:r>
          </a:p>
          <a:p>
            <a:pPr marL="514350" indent="-514350">
              <a:buFont typeface="+mj-lt"/>
              <a:buAutoNum type="arabicPeriod"/>
            </a:pPr>
            <a:endParaRPr lang="en-GB"/>
          </a:p>
          <a:p>
            <a:pPr marL="514350" indent="-514350">
              <a:buFont typeface="+mj-lt"/>
              <a:buAutoNum type="arabicPeriod"/>
            </a:pPr>
            <a:r>
              <a:rPr lang="en-GB"/>
              <a:t>Write down the four components of animal cells</a:t>
            </a:r>
          </a:p>
          <a:p>
            <a:pPr marL="0" indent="0">
              <a:buNone/>
            </a:pPr>
            <a:r>
              <a:rPr lang="en-GB"/>
              <a:t>that we learnt about. </a:t>
            </a:r>
          </a:p>
          <a:p>
            <a:pPr marL="0" indent="0">
              <a:buNone/>
            </a:pPr>
            <a:endParaRPr lang="en-GB"/>
          </a:p>
          <a:p>
            <a:pPr marL="0" indent="0">
              <a:buNone/>
            </a:pPr>
            <a:r>
              <a:rPr lang="en-GB"/>
              <a:t>4. True or false? Cells are the smallest building blocks of life. </a:t>
            </a:r>
          </a:p>
        </p:txBody>
      </p:sp>
      <p:sp>
        <p:nvSpPr>
          <p:cNvPr id="4" name="Speech Bubble: Rectangle with Corners Rounded 3">
            <a:extLst>
              <a:ext uri="{FF2B5EF4-FFF2-40B4-BE49-F238E27FC236}">
                <a16:creationId xmlns:a16="http://schemas.microsoft.com/office/drawing/2014/main" id="{5EF253B5-5592-66C9-4EBD-BC7FC1BF6671}"/>
              </a:ext>
            </a:extLst>
          </p:cNvPr>
          <p:cNvSpPr/>
          <p:nvPr/>
        </p:nvSpPr>
        <p:spPr>
          <a:xfrm>
            <a:off x="8104723" y="230188"/>
            <a:ext cx="2305094" cy="1959470"/>
          </a:xfrm>
          <a:prstGeom prst="wedgeRoundRectCallout">
            <a:avLst>
              <a:gd name="adj1" fmla="val 60441"/>
              <a:gd name="adj2" fmla="val 16306"/>
              <a:gd name="adj3"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GB" sz="2000" b="0" i="0" u="none" strike="noStrike" kern="1200" cap="none" spc="0" normalizeH="0" baseline="0" noProof="0">
                <a:ln>
                  <a:noFill/>
                </a:ln>
                <a:solidFill>
                  <a:prstClr val="black"/>
                </a:solidFill>
                <a:effectLst/>
                <a:uLnTx/>
                <a:uFillTx/>
                <a:latin typeface="Twinkl Cursive Looped"/>
                <a:ea typeface="+mn-ea"/>
                <a:cs typeface="+mn-cs"/>
              </a:rPr>
              <a:t>Answer these questions on your whiteboard. </a:t>
            </a:r>
          </a:p>
        </p:txBody>
      </p:sp>
      <p:sp>
        <p:nvSpPr>
          <p:cNvPr id="6" name="Frame 5">
            <a:extLst>
              <a:ext uri="{FF2B5EF4-FFF2-40B4-BE49-F238E27FC236}">
                <a16:creationId xmlns:a16="http://schemas.microsoft.com/office/drawing/2014/main" id="{1F625B1D-49A4-8C95-5475-AF08B4C093F5}"/>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7" name="Picture 6" descr="A green background with black text&#10;&#10;Description automatically generated">
            <a:extLst>
              <a:ext uri="{FF2B5EF4-FFF2-40B4-BE49-F238E27FC236}">
                <a16:creationId xmlns:a16="http://schemas.microsoft.com/office/drawing/2014/main" id="{A0924E40-67B7-6818-9952-10FB68573B30}"/>
              </a:ext>
            </a:extLst>
          </p:cNvPr>
          <p:cNvPicPr>
            <a:picLocks noChangeAspect="1"/>
          </p:cNvPicPr>
          <p:nvPr/>
        </p:nvPicPr>
        <p:blipFill>
          <a:blip r:embed="rId2"/>
          <a:stretch>
            <a:fillRect/>
          </a:stretch>
        </p:blipFill>
        <p:spPr>
          <a:xfrm>
            <a:off x="10562361" y="230188"/>
            <a:ext cx="1477095" cy="614422"/>
          </a:xfrm>
          <a:prstGeom prst="rect">
            <a:avLst/>
          </a:prstGeom>
        </p:spPr>
      </p:pic>
    </p:spTree>
    <p:extLst>
      <p:ext uri="{BB962C8B-B14F-4D97-AF65-F5344CB8AC3E}">
        <p14:creationId xmlns:p14="http://schemas.microsoft.com/office/powerpoint/2010/main" val="3103324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E12D0-3637-F38F-3FF5-6732831AD6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BE0C6-1149-7656-957A-F6A8266FF303}"/>
              </a:ext>
            </a:extLst>
          </p:cNvPr>
          <p:cNvSpPr>
            <a:spLocks noGrp="1"/>
          </p:cNvSpPr>
          <p:nvPr>
            <p:ph type="title"/>
          </p:nvPr>
        </p:nvSpPr>
        <p:spPr/>
        <p:txBody>
          <a:bodyPr/>
          <a:lstStyle/>
          <a:p>
            <a:pPr algn="ctr"/>
            <a:r>
              <a:rPr lang="en-GB"/>
              <a:t>Quick Quiz! </a:t>
            </a:r>
          </a:p>
        </p:txBody>
      </p:sp>
      <p:sp>
        <p:nvSpPr>
          <p:cNvPr id="3" name="Content Placeholder 2">
            <a:extLst>
              <a:ext uri="{FF2B5EF4-FFF2-40B4-BE49-F238E27FC236}">
                <a16:creationId xmlns:a16="http://schemas.microsoft.com/office/drawing/2014/main" id="{B9F560A4-C38B-DBA2-F32D-30249C68F002}"/>
              </a:ext>
            </a:extLst>
          </p:cNvPr>
          <p:cNvSpPr>
            <a:spLocks noGrp="1"/>
          </p:cNvSpPr>
          <p:nvPr>
            <p:ph idx="1"/>
          </p:nvPr>
        </p:nvSpPr>
        <p:spPr/>
        <p:txBody>
          <a:bodyPr>
            <a:normAutofit fontScale="92500" lnSpcReduction="10000"/>
          </a:bodyPr>
          <a:lstStyle/>
          <a:p>
            <a:pPr marL="514350" indent="-514350">
              <a:buFont typeface="+mj-lt"/>
              <a:buAutoNum type="arabicPeriod"/>
            </a:pPr>
            <a:r>
              <a:rPr lang="en-GB"/>
              <a:t>What is a cell? </a:t>
            </a:r>
            <a:r>
              <a:rPr lang="en-GB">
                <a:solidFill>
                  <a:srgbClr val="FF0000"/>
                </a:solidFill>
              </a:rPr>
              <a:t>Smallest building block of life. </a:t>
            </a:r>
            <a:endParaRPr lang="en-GB"/>
          </a:p>
          <a:p>
            <a:pPr marL="514350" indent="-514350">
              <a:buFont typeface="+mj-lt"/>
              <a:buAutoNum type="arabicPeriod"/>
            </a:pPr>
            <a:endParaRPr lang="en-GB"/>
          </a:p>
          <a:p>
            <a:pPr marL="514350" indent="-514350">
              <a:buFont typeface="+mj-lt"/>
              <a:buAutoNum type="arabicPeriod"/>
            </a:pPr>
            <a:r>
              <a:rPr lang="en-GB"/>
              <a:t>Write down three things that are made of cells. </a:t>
            </a:r>
            <a:r>
              <a:rPr lang="en-GB">
                <a:solidFill>
                  <a:srgbClr val="FF0000"/>
                </a:solidFill>
              </a:rPr>
              <a:t>Animals, plants, humans. </a:t>
            </a:r>
            <a:endParaRPr lang="en-GB"/>
          </a:p>
          <a:p>
            <a:pPr marL="514350" indent="-514350">
              <a:buFont typeface="+mj-lt"/>
              <a:buAutoNum type="arabicPeriod"/>
            </a:pPr>
            <a:endParaRPr lang="en-GB"/>
          </a:p>
          <a:p>
            <a:pPr marL="514350" indent="-514350">
              <a:buFont typeface="+mj-lt"/>
              <a:buAutoNum type="arabicPeriod"/>
            </a:pPr>
            <a:r>
              <a:rPr lang="en-GB"/>
              <a:t>Write down the four components of animal cells</a:t>
            </a:r>
          </a:p>
          <a:p>
            <a:pPr marL="0" indent="0">
              <a:buNone/>
            </a:pPr>
            <a:r>
              <a:rPr lang="en-GB"/>
              <a:t>that we learnt about. </a:t>
            </a:r>
            <a:r>
              <a:rPr lang="en-GB">
                <a:solidFill>
                  <a:srgbClr val="FF0000"/>
                </a:solidFill>
              </a:rPr>
              <a:t>Cell membrane, nucleus, mitochondria, cytoplasm.  </a:t>
            </a:r>
            <a:endParaRPr lang="en-GB"/>
          </a:p>
          <a:p>
            <a:pPr marL="0" indent="0">
              <a:buNone/>
            </a:pPr>
            <a:endParaRPr lang="en-GB"/>
          </a:p>
          <a:p>
            <a:pPr marL="0" indent="0">
              <a:buNone/>
            </a:pPr>
            <a:r>
              <a:rPr lang="en-GB"/>
              <a:t>4. True or false? Cells are the smallest building blocks of life. </a:t>
            </a:r>
            <a:r>
              <a:rPr lang="en-GB">
                <a:solidFill>
                  <a:srgbClr val="FF0000"/>
                </a:solidFill>
              </a:rPr>
              <a:t>True. </a:t>
            </a:r>
            <a:endParaRPr lang="en-GB"/>
          </a:p>
        </p:txBody>
      </p:sp>
      <p:sp>
        <p:nvSpPr>
          <p:cNvPr id="4" name="Frame 3">
            <a:extLst>
              <a:ext uri="{FF2B5EF4-FFF2-40B4-BE49-F238E27FC236}">
                <a16:creationId xmlns:a16="http://schemas.microsoft.com/office/drawing/2014/main" id="{B2E1F922-D476-0CB9-764C-5AE70A2EFC9A}"/>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316109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08515-1413-253F-B5E8-05FD49D7A369}"/>
            </a:ext>
          </a:extLst>
        </p:cNvPr>
        <p:cNvGrpSpPr/>
        <p:nvPr/>
      </p:nvGrpSpPr>
      <p:grpSpPr>
        <a:xfrm>
          <a:off x="0" y="0"/>
          <a:ext cx="0" cy="0"/>
          <a:chOff x="0" y="0"/>
          <a:chExt cx="0" cy="0"/>
        </a:xfrm>
      </p:grpSpPr>
      <p:sp>
        <p:nvSpPr>
          <p:cNvPr id="2" name="Frame 1">
            <a:extLst>
              <a:ext uri="{FF2B5EF4-FFF2-40B4-BE49-F238E27FC236}">
                <a16:creationId xmlns:a16="http://schemas.microsoft.com/office/drawing/2014/main" id="{4D3EBC9E-E11C-71C2-30C7-D0A52EA2654E}"/>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 name="Picture 7" descr="A close-up of a card&#10;&#10;Description automatically generated">
            <a:extLst>
              <a:ext uri="{FF2B5EF4-FFF2-40B4-BE49-F238E27FC236}">
                <a16:creationId xmlns:a16="http://schemas.microsoft.com/office/drawing/2014/main" id="{452274F7-28DD-B361-F2CF-CB408CB08E08}"/>
              </a:ext>
            </a:extLst>
          </p:cNvPr>
          <p:cNvPicPr>
            <a:picLocks noChangeAspect="1"/>
          </p:cNvPicPr>
          <p:nvPr/>
        </p:nvPicPr>
        <p:blipFill>
          <a:blip r:embed="rId3"/>
          <a:stretch>
            <a:fillRect/>
          </a:stretch>
        </p:blipFill>
        <p:spPr>
          <a:xfrm>
            <a:off x="2623415" y="3010195"/>
            <a:ext cx="1359177" cy="670279"/>
          </a:xfrm>
          <a:prstGeom prst="rect">
            <a:avLst/>
          </a:prstGeom>
        </p:spPr>
      </p:pic>
      <p:pic>
        <p:nvPicPr>
          <p:cNvPr id="9" name="Picture 8" descr="A close-up of a pink sign&#10;&#10;Description automatically generated">
            <a:extLst>
              <a:ext uri="{FF2B5EF4-FFF2-40B4-BE49-F238E27FC236}">
                <a16:creationId xmlns:a16="http://schemas.microsoft.com/office/drawing/2014/main" id="{585EC205-47F4-29E2-03F6-E58FDB4AFDE3}"/>
              </a:ext>
            </a:extLst>
          </p:cNvPr>
          <p:cNvPicPr>
            <a:picLocks noChangeAspect="1"/>
          </p:cNvPicPr>
          <p:nvPr/>
        </p:nvPicPr>
        <p:blipFill>
          <a:blip r:embed="rId4"/>
          <a:stretch>
            <a:fillRect/>
          </a:stretch>
        </p:blipFill>
        <p:spPr>
          <a:xfrm>
            <a:off x="5788592" y="3010195"/>
            <a:ext cx="1501922" cy="645454"/>
          </a:xfrm>
          <a:prstGeom prst="rect">
            <a:avLst/>
          </a:prstGeom>
        </p:spPr>
      </p:pic>
      <p:pic>
        <p:nvPicPr>
          <p:cNvPr id="10" name="Picture 9" descr="A pink background with a cartoon character&#10;&#10;Description automatically generated">
            <a:extLst>
              <a:ext uri="{FF2B5EF4-FFF2-40B4-BE49-F238E27FC236}">
                <a16:creationId xmlns:a16="http://schemas.microsoft.com/office/drawing/2014/main" id="{FC2B26D7-F3C2-9A7C-53F0-83C71614769D}"/>
              </a:ext>
            </a:extLst>
          </p:cNvPr>
          <p:cNvPicPr>
            <a:picLocks noChangeAspect="1"/>
          </p:cNvPicPr>
          <p:nvPr/>
        </p:nvPicPr>
        <p:blipFill>
          <a:blip r:embed="rId5"/>
          <a:stretch>
            <a:fillRect/>
          </a:stretch>
        </p:blipFill>
        <p:spPr>
          <a:xfrm>
            <a:off x="1115089" y="3010195"/>
            <a:ext cx="1477096" cy="608216"/>
          </a:xfrm>
          <a:prstGeom prst="rect">
            <a:avLst/>
          </a:prstGeom>
        </p:spPr>
      </p:pic>
      <p:pic>
        <p:nvPicPr>
          <p:cNvPr id="11" name="Picture 10" descr="A green background with black text&#10;&#10;Description automatically generated">
            <a:extLst>
              <a:ext uri="{FF2B5EF4-FFF2-40B4-BE49-F238E27FC236}">
                <a16:creationId xmlns:a16="http://schemas.microsoft.com/office/drawing/2014/main" id="{CF928063-52C7-0629-5AFB-96B6B7670455}"/>
              </a:ext>
            </a:extLst>
          </p:cNvPr>
          <p:cNvPicPr>
            <a:picLocks noChangeAspect="1"/>
          </p:cNvPicPr>
          <p:nvPr/>
        </p:nvPicPr>
        <p:blipFill>
          <a:blip r:embed="rId6"/>
          <a:stretch>
            <a:fillRect/>
          </a:stretch>
        </p:blipFill>
        <p:spPr>
          <a:xfrm>
            <a:off x="4229356" y="3010195"/>
            <a:ext cx="1477095" cy="614422"/>
          </a:xfrm>
          <a:prstGeom prst="rect">
            <a:avLst/>
          </a:prstGeom>
        </p:spPr>
      </p:pic>
      <p:pic>
        <p:nvPicPr>
          <p:cNvPr id="12" name="Picture 11">
            <a:extLst>
              <a:ext uri="{FF2B5EF4-FFF2-40B4-BE49-F238E27FC236}">
                <a16:creationId xmlns:a16="http://schemas.microsoft.com/office/drawing/2014/main" id="{29AF5749-7124-4C74-6FA5-E9C2181E2E33}"/>
              </a:ext>
            </a:extLst>
          </p:cNvPr>
          <p:cNvPicPr>
            <a:picLocks noChangeAspect="1"/>
          </p:cNvPicPr>
          <p:nvPr/>
        </p:nvPicPr>
        <p:blipFill>
          <a:blip r:embed="rId7"/>
          <a:stretch>
            <a:fillRect/>
          </a:stretch>
        </p:blipFill>
        <p:spPr>
          <a:xfrm>
            <a:off x="9001673" y="3226230"/>
            <a:ext cx="956012" cy="1391913"/>
          </a:xfrm>
          <a:prstGeom prst="rect">
            <a:avLst/>
          </a:prstGeom>
        </p:spPr>
      </p:pic>
      <p:pic>
        <p:nvPicPr>
          <p:cNvPr id="13" name="Picture 12">
            <a:extLst>
              <a:ext uri="{FF2B5EF4-FFF2-40B4-BE49-F238E27FC236}">
                <a16:creationId xmlns:a16="http://schemas.microsoft.com/office/drawing/2014/main" id="{10E4FEDF-D67F-5089-4D18-96248259D728}"/>
              </a:ext>
            </a:extLst>
          </p:cNvPr>
          <p:cNvPicPr>
            <a:picLocks noChangeAspect="1"/>
          </p:cNvPicPr>
          <p:nvPr/>
        </p:nvPicPr>
        <p:blipFill rotWithShape="1">
          <a:blip r:embed="rId8">
            <a:extLst>
              <a:ext uri="{BEBA8EAE-BF5A-486C-A8C5-ECC9F3942E4B}">
                <a14:imgProps xmlns:a14="http://schemas.microsoft.com/office/drawing/2010/main">
                  <a14:imgLayer r:embed="rId9">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8813461" y="1506111"/>
            <a:ext cx="1332436" cy="1634235"/>
          </a:xfrm>
          <a:prstGeom prst="rect">
            <a:avLst/>
          </a:prstGeom>
        </p:spPr>
      </p:pic>
      <p:pic>
        <p:nvPicPr>
          <p:cNvPr id="14" name="Picture 13">
            <a:extLst>
              <a:ext uri="{FF2B5EF4-FFF2-40B4-BE49-F238E27FC236}">
                <a16:creationId xmlns:a16="http://schemas.microsoft.com/office/drawing/2014/main" id="{B9765410-BBA9-25AE-33F2-DA56BD5984C8}"/>
              </a:ext>
            </a:extLst>
          </p:cNvPr>
          <p:cNvPicPr>
            <a:picLocks noChangeAspect="1"/>
          </p:cNvPicPr>
          <p:nvPr/>
        </p:nvPicPr>
        <p:blipFill rotWithShape="1">
          <a:blip r:embed="rId10">
            <a:extLst>
              <a:ext uri="{BEBA8EAE-BF5A-486C-A8C5-ECC9F3942E4B}">
                <a14:imgProps xmlns:a14="http://schemas.microsoft.com/office/drawing/2010/main">
                  <a14:imgLayer r:embed="rId9">
                    <a14:imgEffect>
                      <a14:backgroundRemoval t="61793" b="81925" l="64809" r="78176">
                        <a14:foregroundMark x1="75238" y1="61799" x2="75238" y2="61799"/>
                      </a14:backgroundRemoval>
                    </a14:imgEffect>
                  </a14:imgLayer>
                </a14:imgProps>
              </a:ext>
            </a:extLst>
          </a:blip>
          <a:srcRect l="63138" t="59276" r="20153" b="15559"/>
          <a:stretch/>
        </p:blipFill>
        <p:spPr>
          <a:xfrm>
            <a:off x="10153456" y="1129412"/>
            <a:ext cx="1186938" cy="1694889"/>
          </a:xfrm>
          <a:prstGeom prst="rect">
            <a:avLst/>
          </a:prstGeom>
        </p:spPr>
      </p:pic>
      <p:pic>
        <p:nvPicPr>
          <p:cNvPr id="15" name="Picture 14">
            <a:extLst>
              <a:ext uri="{FF2B5EF4-FFF2-40B4-BE49-F238E27FC236}">
                <a16:creationId xmlns:a16="http://schemas.microsoft.com/office/drawing/2014/main" id="{26FBF090-64FE-200B-F6F4-E6D49B73B1CF}"/>
              </a:ext>
            </a:extLst>
          </p:cNvPr>
          <p:cNvPicPr>
            <a:picLocks noChangeAspect="1"/>
          </p:cNvPicPr>
          <p:nvPr/>
        </p:nvPicPr>
        <p:blipFill rotWithShape="1">
          <a:blip r:embed="rId11">
            <a:extLst>
              <a:ext uri="{BEBA8EAE-BF5A-486C-A8C5-ECC9F3942E4B}">
                <a14:imgProps xmlns:a14="http://schemas.microsoft.com/office/drawing/2010/main">
                  <a14:imgLayer r:embed="rId9">
                    <a14:imgEffect>
                      <a14:backgroundRemoval t="61793" b="81925" l="43765" r="56864"/>
                    </a14:imgEffect>
                  </a14:imgLayer>
                </a14:imgProps>
              </a:ext>
            </a:extLst>
          </a:blip>
          <a:srcRect l="42128" t="59276" r="41499" b="15559"/>
          <a:stretch/>
        </p:blipFill>
        <p:spPr>
          <a:xfrm>
            <a:off x="10153456" y="2518888"/>
            <a:ext cx="1249037" cy="1820224"/>
          </a:xfrm>
          <a:prstGeom prst="rect">
            <a:avLst/>
          </a:prstGeom>
        </p:spPr>
      </p:pic>
      <p:grpSp>
        <p:nvGrpSpPr>
          <p:cNvPr id="16" name="Group 15">
            <a:extLst>
              <a:ext uri="{FF2B5EF4-FFF2-40B4-BE49-F238E27FC236}">
                <a16:creationId xmlns:a16="http://schemas.microsoft.com/office/drawing/2014/main" id="{E5B7E119-3988-369A-EA6B-1A7760E9FF9B}"/>
              </a:ext>
            </a:extLst>
          </p:cNvPr>
          <p:cNvGrpSpPr/>
          <p:nvPr/>
        </p:nvGrpSpPr>
        <p:grpSpPr>
          <a:xfrm>
            <a:off x="326306" y="690594"/>
            <a:ext cx="1186938" cy="815518"/>
            <a:chOff x="241300" y="109196"/>
            <a:chExt cx="1477095" cy="983005"/>
          </a:xfrm>
        </p:grpSpPr>
        <p:sp>
          <p:nvSpPr>
            <p:cNvPr id="17" name="Rectangle: Rounded Corners 16">
              <a:extLst>
                <a:ext uri="{FF2B5EF4-FFF2-40B4-BE49-F238E27FC236}">
                  <a16:creationId xmlns:a16="http://schemas.microsoft.com/office/drawing/2014/main" id="{A4469208-AC1C-6A9E-3BA9-A03D3C7D10EA}"/>
                </a:ext>
              </a:extLst>
            </p:cNvPr>
            <p:cNvSpPr/>
            <p:nvPr/>
          </p:nvSpPr>
          <p:spPr>
            <a:xfrm>
              <a:off x="241300" y="109196"/>
              <a:ext cx="1477095" cy="98300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 name="Picture 4" descr="edding 361 whiteboard marker - black ...">
              <a:extLst>
                <a:ext uri="{FF2B5EF4-FFF2-40B4-BE49-F238E27FC236}">
                  <a16:creationId xmlns:a16="http://schemas.microsoft.com/office/drawing/2014/main" id="{B167E6F5-0231-43B0-F84B-30E145489F9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5605" y="416908"/>
              <a:ext cx="447390" cy="4826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3">
            <a:extLst>
              <a:ext uri="{FF2B5EF4-FFF2-40B4-BE49-F238E27FC236}">
                <a16:creationId xmlns:a16="http://schemas.microsoft.com/office/drawing/2014/main" id="{BC84F851-7609-6274-5101-016B73200E64}"/>
              </a:ext>
            </a:extLst>
          </p:cNvPr>
          <p:cNvGrpSpPr/>
          <p:nvPr/>
        </p:nvGrpSpPr>
        <p:grpSpPr>
          <a:xfrm>
            <a:off x="1709015" y="161455"/>
            <a:ext cx="6668849" cy="930278"/>
            <a:chOff x="2565400" y="317061"/>
            <a:chExt cx="6668849" cy="930278"/>
          </a:xfrm>
          <a:solidFill>
            <a:schemeClr val="tx2">
              <a:lumMod val="10000"/>
              <a:lumOff val="90000"/>
            </a:schemeClr>
          </a:solidFill>
        </p:grpSpPr>
        <p:sp>
          <p:nvSpPr>
            <p:cNvPr id="5" name="Rectangle: Rounded Corners 4">
              <a:extLst>
                <a:ext uri="{FF2B5EF4-FFF2-40B4-BE49-F238E27FC236}">
                  <a16:creationId xmlns:a16="http://schemas.microsoft.com/office/drawing/2014/main" id="{E3C73014-0950-80A9-98A9-73C2E9F893EE}"/>
                </a:ext>
              </a:extLst>
            </p:cNvPr>
            <p:cNvSpPr/>
            <p:nvPr/>
          </p:nvSpPr>
          <p:spPr>
            <a:xfrm>
              <a:off x="2565401" y="317061"/>
              <a:ext cx="6668848" cy="930278"/>
            </a:xfrm>
            <a:prstGeom prst="roundRect">
              <a:avLst/>
            </a:prstGeom>
            <a:grp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a:solidFill>
                    <a:schemeClr val="accent1">
                      <a:lumMod val="50000"/>
                    </a:schemeClr>
                  </a:solidFill>
                  <a:effectLst>
                    <a:outerShdw blurRad="38100" dist="38100" dir="2700000" algn="tl">
                      <a:srgbClr val="000000">
                        <a:alpha val="43137"/>
                      </a:srgbClr>
                    </a:outerShdw>
                  </a:effectLst>
                </a:rPr>
                <a:t>Agree  or   Disagree</a:t>
              </a:r>
            </a:p>
          </p:txBody>
        </p:sp>
        <p:pic>
          <p:nvPicPr>
            <p:cNvPr id="7" name="Graphic 6" descr="Clenched Fist outline">
              <a:extLst>
                <a:ext uri="{FF2B5EF4-FFF2-40B4-BE49-F238E27FC236}">
                  <a16:creationId xmlns:a16="http://schemas.microsoft.com/office/drawing/2014/main" id="{DE79B5EA-454F-F006-ABD8-D3017BFB801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319848" y="332939"/>
              <a:ext cx="914400" cy="914400"/>
            </a:xfrm>
            <a:prstGeom prst="rect">
              <a:avLst/>
            </a:prstGeom>
          </p:spPr>
        </p:pic>
        <p:pic>
          <p:nvPicPr>
            <p:cNvPr id="19" name="Graphic 18" descr="Raised hand outline">
              <a:extLst>
                <a:ext uri="{FF2B5EF4-FFF2-40B4-BE49-F238E27FC236}">
                  <a16:creationId xmlns:a16="http://schemas.microsoft.com/office/drawing/2014/main" id="{01507E21-9AFC-6298-8ED3-0766F87EDF0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565400" y="332939"/>
              <a:ext cx="914400" cy="914400"/>
            </a:xfrm>
            <a:prstGeom prst="rect">
              <a:avLst/>
            </a:prstGeom>
          </p:spPr>
        </p:pic>
      </p:grpSp>
      <p:sp>
        <p:nvSpPr>
          <p:cNvPr id="20" name="Rectangle: Rounded Corners 19">
            <a:extLst>
              <a:ext uri="{FF2B5EF4-FFF2-40B4-BE49-F238E27FC236}">
                <a16:creationId xmlns:a16="http://schemas.microsoft.com/office/drawing/2014/main" id="{B27F4416-85E5-35CE-CA4E-B5D5486C3838}"/>
              </a:ext>
            </a:extLst>
          </p:cNvPr>
          <p:cNvSpPr/>
          <p:nvPr/>
        </p:nvSpPr>
        <p:spPr>
          <a:xfrm>
            <a:off x="3153217" y="1588086"/>
            <a:ext cx="5224645" cy="930278"/>
          </a:xfrm>
          <a:prstGeom prst="roundRect">
            <a:avLst/>
          </a:prstGeom>
          <a:solidFill>
            <a:schemeClr val="tx2">
              <a:lumMod val="10000"/>
              <a:lumOff val="9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a:solidFill>
                  <a:schemeClr val="accent1">
                    <a:lumMod val="50000"/>
                  </a:schemeClr>
                </a:solidFill>
                <a:effectLst>
                  <a:outerShdw blurRad="38100" dist="38100" dir="2700000" algn="tl">
                    <a:srgbClr val="000000">
                      <a:alpha val="43137"/>
                    </a:srgbClr>
                  </a:outerShdw>
                </a:effectLst>
              </a:rPr>
              <a:t>I know … I Remember…</a:t>
            </a:r>
          </a:p>
        </p:txBody>
      </p:sp>
      <p:pic>
        <p:nvPicPr>
          <p:cNvPr id="21" name="Picture 2" descr="Discuss Icons - Download Free Vector Icons | Noun Project">
            <a:extLst>
              <a:ext uri="{FF2B5EF4-FFF2-40B4-BE49-F238E27FC236}">
                <a16:creationId xmlns:a16="http://schemas.microsoft.com/office/drawing/2014/main" id="{7DB9F3DA-0945-45F7-017F-78224DCC523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2477" y="3902133"/>
            <a:ext cx="1032909" cy="873957"/>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9AB03218-354A-7889-3858-672AFDB783F4}"/>
              </a:ext>
            </a:extLst>
          </p:cNvPr>
          <p:cNvGrpSpPr/>
          <p:nvPr/>
        </p:nvGrpSpPr>
        <p:grpSpPr>
          <a:xfrm>
            <a:off x="2042192" y="3957772"/>
            <a:ext cx="943858" cy="1020728"/>
            <a:chOff x="1798861" y="3129835"/>
            <a:chExt cx="914400" cy="971836"/>
          </a:xfrm>
        </p:grpSpPr>
        <p:pic>
          <p:nvPicPr>
            <p:cNvPr id="23" name="Graphic 22" descr="Users with solid fill">
              <a:extLst>
                <a:ext uri="{FF2B5EF4-FFF2-40B4-BE49-F238E27FC236}">
                  <a16:creationId xmlns:a16="http://schemas.microsoft.com/office/drawing/2014/main" id="{855F854D-8A33-326B-69A2-7E5B4F918A4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798861" y="3187271"/>
              <a:ext cx="914400" cy="914400"/>
            </a:xfrm>
            <a:prstGeom prst="rect">
              <a:avLst/>
            </a:prstGeom>
          </p:spPr>
        </p:pic>
        <p:sp>
          <p:nvSpPr>
            <p:cNvPr id="24" name="Speech Bubble: Oval 23">
              <a:extLst>
                <a:ext uri="{FF2B5EF4-FFF2-40B4-BE49-F238E27FC236}">
                  <a16:creationId xmlns:a16="http://schemas.microsoft.com/office/drawing/2014/main" id="{6F659110-FD3E-9D47-AA21-4C54040C4393}"/>
                </a:ext>
              </a:extLst>
            </p:cNvPr>
            <p:cNvSpPr/>
            <p:nvPr/>
          </p:nvSpPr>
          <p:spPr>
            <a:xfrm>
              <a:off x="2107686" y="3129835"/>
              <a:ext cx="381228" cy="204522"/>
            </a:xfrm>
            <a:prstGeom prst="wedgeEllipseCallou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5" name="TextBox 24">
            <a:extLst>
              <a:ext uri="{FF2B5EF4-FFF2-40B4-BE49-F238E27FC236}">
                <a16:creationId xmlns:a16="http://schemas.microsoft.com/office/drawing/2014/main" id="{610655B0-C7CA-DFD7-E699-F8A381F6C0E4}"/>
              </a:ext>
            </a:extLst>
          </p:cNvPr>
          <p:cNvSpPr txBox="1"/>
          <p:nvPr/>
        </p:nvSpPr>
        <p:spPr>
          <a:xfrm>
            <a:off x="3558857" y="4791669"/>
            <a:ext cx="7188068" cy="1569660"/>
          </a:xfrm>
          <a:prstGeom prst="rect">
            <a:avLst/>
          </a:prstGeom>
          <a:noFill/>
        </p:spPr>
        <p:txBody>
          <a:bodyPr wrap="square" rtlCol="0">
            <a:spAutoFit/>
          </a:bodyPr>
          <a:lstStyle/>
          <a:p>
            <a:r>
              <a:rPr lang="en-GB" sz="2400"/>
              <a:t>For planning and assessment support this is a fantastic free resource that covers the whole national curriculum: </a:t>
            </a:r>
            <a:r>
              <a:rPr lang="en-GB" sz="2400">
                <a:hlinkClick r:id="rId17"/>
              </a:rPr>
              <a:t>https://www.planassessment.com/</a:t>
            </a:r>
            <a:endParaRPr lang="en-GB" sz="2400"/>
          </a:p>
          <a:p>
            <a:endParaRPr lang="en-GB" sz="2400"/>
          </a:p>
        </p:txBody>
      </p:sp>
    </p:spTree>
    <p:extLst>
      <p:ext uri="{BB962C8B-B14F-4D97-AF65-F5344CB8AC3E}">
        <p14:creationId xmlns:p14="http://schemas.microsoft.com/office/powerpoint/2010/main" val="527447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2BF7FE-2927-FE68-C5C5-A393D29CD862}"/>
              </a:ext>
            </a:extLst>
          </p:cNvPr>
          <p:cNvSpPr txBox="1"/>
          <p:nvPr/>
        </p:nvSpPr>
        <p:spPr>
          <a:xfrm>
            <a:off x="368831" y="112233"/>
            <a:ext cx="11688490" cy="6463308"/>
          </a:xfrm>
          <a:prstGeom prst="rect">
            <a:avLst/>
          </a:prstGeom>
          <a:noFill/>
        </p:spPr>
        <p:txBody>
          <a:bodyPr wrap="square" rtlCol="0">
            <a:spAutoFit/>
          </a:bodyPr>
          <a:lstStyle/>
          <a:p>
            <a:r>
              <a:rPr lang="en-GB"/>
              <a:t>Notes for the delivery of Science learning:</a:t>
            </a:r>
          </a:p>
          <a:p>
            <a:endParaRPr lang="en-GB"/>
          </a:p>
          <a:p>
            <a:r>
              <a:rPr lang="en-GB"/>
              <a:t>Each learning objective or every lesson should be recorded in the Learning journey in some form this might be photos of practical activities.</a:t>
            </a:r>
          </a:p>
          <a:p>
            <a:endParaRPr lang="en-GB"/>
          </a:p>
          <a:p>
            <a:r>
              <a:rPr lang="en-GB"/>
              <a:t>Please use </a:t>
            </a:r>
            <a:r>
              <a:rPr lang="en-GB" b="1"/>
              <a:t>Knowledge Organisers</a:t>
            </a:r>
          </a:p>
          <a:p>
            <a:pPr marL="742950" lvl="1" indent="-285750">
              <a:buFontTx/>
              <a:buChar char="-"/>
            </a:pPr>
            <a:r>
              <a:rPr lang="en-GB"/>
              <a:t> Ks1 use whole class KOs</a:t>
            </a:r>
          </a:p>
          <a:p>
            <a:pPr marL="742950" lvl="1" indent="-285750">
              <a:buFontTx/>
              <a:buChar char="-"/>
            </a:pPr>
            <a:r>
              <a:rPr lang="en-GB"/>
              <a:t>Vocabulary focused with oracy based teaching of the vocabulary</a:t>
            </a:r>
          </a:p>
          <a:p>
            <a:pPr marL="742950" lvl="1" indent="-285750">
              <a:buFontTx/>
              <a:buChar char="-"/>
            </a:pPr>
            <a:r>
              <a:rPr lang="en-GB"/>
              <a:t>Ks2 individual with space and time to add details built into lessons </a:t>
            </a:r>
          </a:p>
          <a:p>
            <a:pPr marL="742950" lvl="1" indent="-285750">
              <a:buFontTx/>
              <a:buChar char="-"/>
            </a:pPr>
            <a:r>
              <a:rPr lang="en-GB"/>
              <a:t>Adapted for individual needs (SEN, EAL)</a:t>
            </a:r>
          </a:p>
          <a:p>
            <a:pPr marL="285750" indent="-285750">
              <a:buFontTx/>
              <a:buChar char="-"/>
            </a:pPr>
            <a:endParaRPr lang="en-GB"/>
          </a:p>
          <a:p>
            <a:pPr marL="285750" indent="-285750">
              <a:buFontTx/>
              <a:buChar char="-"/>
            </a:pPr>
            <a:r>
              <a:rPr lang="en-GB"/>
              <a:t>How do we record the discussions that we have? Can we be strategic about how record discussion e.g. typed directly onto the plenary slide</a:t>
            </a:r>
          </a:p>
          <a:p>
            <a:pPr marL="285750" indent="-285750">
              <a:buFontTx/>
              <a:buChar char="-"/>
            </a:pPr>
            <a:endParaRPr lang="en-GB"/>
          </a:p>
          <a:p>
            <a:pPr marL="285750" indent="-285750">
              <a:buFontTx/>
              <a:buChar char="-"/>
            </a:pPr>
            <a:r>
              <a:rPr lang="en-GB"/>
              <a:t>How do we attend to misconceptions – questions at the start of each lesson.</a:t>
            </a:r>
          </a:p>
          <a:p>
            <a:pPr marL="285750" indent="-285750">
              <a:buFontTx/>
              <a:buChar char="-"/>
            </a:pPr>
            <a:endParaRPr lang="en-GB"/>
          </a:p>
          <a:p>
            <a:pPr marL="285750" indent="-285750">
              <a:buFontTx/>
              <a:buChar char="-"/>
            </a:pPr>
            <a:r>
              <a:rPr lang="en-GB"/>
              <a:t>Ensure that working scientifically skills are covered over the year and consider tasks and outcome to achieve this. </a:t>
            </a:r>
          </a:p>
          <a:p>
            <a:pPr marL="285750" indent="-285750">
              <a:buFontTx/>
              <a:buChar char="-"/>
            </a:pPr>
            <a:r>
              <a:rPr lang="en-GB"/>
              <a:t>I know and I remember slides should be used to activate prior knowledge and can be a useful assessment tool at the start of an Enquiry.</a:t>
            </a:r>
          </a:p>
          <a:p>
            <a:pPr marL="285750" indent="-285750">
              <a:buFontTx/>
              <a:buChar char="-"/>
            </a:pPr>
            <a:r>
              <a:rPr lang="en-GB"/>
              <a:t>Pick a skill to focus on and have several opportunities for learners to practise use the curriculum documents to support you to do this. There are a lot of ideas that work available.</a:t>
            </a:r>
          </a:p>
          <a:p>
            <a:pPr marL="285750" indent="-285750">
              <a:buFontTx/>
              <a:buChar char="-"/>
            </a:pPr>
            <a:r>
              <a:rPr lang="en-GB"/>
              <a:t>Consider the outcome writing objectives can be met in short bursts throughout the enquiry so that the big challenge isn’t 3 days of writing.</a:t>
            </a:r>
          </a:p>
        </p:txBody>
      </p:sp>
    </p:spTree>
    <p:extLst>
      <p:ext uri="{BB962C8B-B14F-4D97-AF65-F5344CB8AC3E}">
        <p14:creationId xmlns:p14="http://schemas.microsoft.com/office/powerpoint/2010/main" val="2660423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8532FDBC-8933-FAB5-4A74-082970B6ACDB}"/>
              </a:ext>
            </a:extLst>
          </p:cNvPr>
          <p:cNvSpPr/>
          <p:nvPr/>
        </p:nvSpPr>
        <p:spPr>
          <a:xfrm>
            <a:off x="241583" y="862942"/>
            <a:ext cx="11656503" cy="113067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04E9EC29-A000-9F04-814F-56BD2FE2715F}"/>
              </a:ext>
            </a:extLst>
          </p:cNvPr>
          <p:cNvSpPr txBox="1"/>
          <p:nvPr/>
        </p:nvSpPr>
        <p:spPr>
          <a:xfrm>
            <a:off x="197225" y="178811"/>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Working Scientifically Skills by Key Stage </a:t>
            </a:r>
          </a:p>
        </p:txBody>
      </p:sp>
      <p:grpSp>
        <p:nvGrpSpPr>
          <p:cNvPr id="2" name="Group 1">
            <a:extLst>
              <a:ext uri="{FF2B5EF4-FFF2-40B4-BE49-F238E27FC236}">
                <a16:creationId xmlns:a16="http://schemas.microsoft.com/office/drawing/2014/main" id="{8B93E756-580A-F442-B10F-948CB959A3DE}"/>
              </a:ext>
            </a:extLst>
          </p:cNvPr>
          <p:cNvGrpSpPr/>
          <p:nvPr/>
        </p:nvGrpSpPr>
        <p:grpSpPr>
          <a:xfrm>
            <a:off x="1421478" y="993635"/>
            <a:ext cx="10231445" cy="987792"/>
            <a:chOff x="2275973" y="794446"/>
            <a:chExt cx="9337957" cy="1399223"/>
          </a:xfrm>
        </p:grpSpPr>
        <p:sp>
          <p:nvSpPr>
            <p:cNvPr id="6" name="TextBox 5">
              <a:extLst>
                <a:ext uri="{FF2B5EF4-FFF2-40B4-BE49-F238E27FC236}">
                  <a16:creationId xmlns:a16="http://schemas.microsoft.com/office/drawing/2014/main" id="{949C2FFA-6E06-DBF1-B6FD-5B17B1F6F115}"/>
                </a:ext>
              </a:extLst>
            </p:cNvPr>
            <p:cNvSpPr txBox="1"/>
            <p:nvPr/>
          </p:nvSpPr>
          <p:spPr>
            <a:xfrm>
              <a:off x="4233324" y="915895"/>
              <a:ext cx="163559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t>Test</a:t>
              </a:r>
            </a:p>
            <a:p>
              <a:r>
                <a:rPr lang="en-US" sz="1200"/>
                <a:t>Perform a simple test </a:t>
              </a:r>
            </a:p>
          </p:txBody>
        </p:sp>
        <p:sp>
          <p:nvSpPr>
            <p:cNvPr id="7" name="TextBox 6">
              <a:extLst>
                <a:ext uri="{FF2B5EF4-FFF2-40B4-BE49-F238E27FC236}">
                  <a16:creationId xmlns:a16="http://schemas.microsoft.com/office/drawing/2014/main" id="{2B5C14AD-70DD-4A9D-FFB1-6C26EED44365}"/>
                </a:ext>
              </a:extLst>
            </p:cNvPr>
            <p:cNvSpPr txBox="1"/>
            <p:nvPr/>
          </p:nvSpPr>
          <p:spPr>
            <a:xfrm>
              <a:off x="5938367" y="879127"/>
              <a:ext cx="1904536" cy="646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t>Observe and measure</a:t>
              </a:r>
            </a:p>
            <a:p>
              <a:r>
                <a:rPr lang="en-US" sz="1200"/>
                <a:t> Observe using simple equipment </a:t>
              </a:r>
            </a:p>
          </p:txBody>
        </p:sp>
        <p:sp>
          <p:nvSpPr>
            <p:cNvPr id="8" name="TextBox 7">
              <a:extLst>
                <a:ext uri="{FF2B5EF4-FFF2-40B4-BE49-F238E27FC236}">
                  <a16:creationId xmlns:a16="http://schemas.microsoft.com/office/drawing/2014/main" id="{3E1F50F4-6C0E-63DD-1BD2-21F4951205FB}"/>
                </a:ext>
              </a:extLst>
            </p:cNvPr>
            <p:cNvSpPr txBox="1"/>
            <p:nvPr/>
          </p:nvSpPr>
          <p:spPr>
            <a:xfrm>
              <a:off x="7712859" y="808674"/>
              <a:ext cx="2363977"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Record and present</a:t>
              </a:r>
            </a:p>
            <a:p>
              <a:r>
                <a:rPr lang="en-US" sz="1200"/>
                <a:t>Use observations to suggest answers to questions Gather and record to help answer a question Sort and classify information </a:t>
              </a:r>
            </a:p>
            <a:p>
              <a:endParaRPr lang="en-GB" sz="1200"/>
            </a:p>
            <a:p>
              <a:endParaRPr lang="en-GB" sz="1200"/>
            </a:p>
          </p:txBody>
        </p:sp>
        <p:sp>
          <p:nvSpPr>
            <p:cNvPr id="9" name="TextBox 8">
              <a:extLst>
                <a:ext uri="{FF2B5EF4-FFF2-40B4-BE49-F238E27FC236}">
                  <a16:creationId xmlns:a16="http://schemas.microsoft.com/office/drawing/2014/main" id="{6CADB8D3-0C87-80B0-D659-F13C8B7C8F76}"/>
                </a:ext>
              </a:extLst>
            </p:cNvPr>
            <p:cNvSpPr txBox="1"/>
            <p:nvPr/>
          </p:nvSpPr>
          <p:spPr>
            <a:xfrm>
              <a:off x="9877482" y="941472"/>
              <a:ext cx="173644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Conclude </a:t>
              </a:r>
            </a:p>
            <a:p>
              <a:r>
                <a:rPr lang="en-US" sz="1200"/>
                <a:t>Say what you found out</a:t>
              </a:r>
            </a:p>
          </p:txBody>
        </p:sp>
        <p:sp>
          <p:nvSpPr>
            <p:cNvPr id="10" name="TextBox 9">
              <a:extLst>
                <a:ext uri="{FF2B5EF4-FFF2-40B4-BE49-F238E27FC236}">
                  <a16:creationId xmlns:a16="http://schemas.microsoft.com/office/drawing/2014/main" id="{73AC5EA3-CE81-1062-095D-24F0B9A0F6EE}"/>
                </a:ext>
              </a:extLst>
            </p:cNvPr>
            <p:cNvSpPr txBox="1"/>
            <p:nvPr/>
          </p:nvSpPr>
          <p:spPr>
            <a:xfrm>
              <a:off x="2275973" y="794446"/>
              <a:ext cx="2014819" cy="8422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Plan, and Ask Question</a:t>
              </a:r>
              <a:r>
                <a:rPr lang="en-US" sz="1200"/>
                <a:t>s</a:t>
              </a:r>
            </a:p>
            <a:p>
              <a:r>
                <a:rPr lang="en-US" sz="1200"/>
                <a:t> Asking simple questions </a:t>
              </a:r>
            </a:p>
            <a:p>
              <a:r>
                <a:rPr lang="en-US" sz="1200" err="1"/>
                <a:t>Recognise</a:t>
              </a:r>
              <a:r>
                <a:rPr lang="en-US" sz="1200"/>
                <a:t> they can be answered in different ways </a:t>
              </a:r>
            </a:p>
          </p:txBody>
        </p:sp>
      </p:grpSp>
      <p:grpSp>
        <p:nvGrpSpPr>
          <p:cNvPr id="3" name="Group 2">
            <a:extLst>
              <a:ext uri="{FF2B5EF4-FFF2-40B4-BE49-F238E27FC236}">
                <a16:creationId xmlns:a16="http://schemas.microsoft.com/office/drawing/2014/main" id="{FBB645EC-F26F-6536-AFB4-80E93E23D97C}"/>
              </a:ext>
            </a:extLst>
          </p:cNvPr>
          <p:cNvGrpSpPr/>
          <p:nvPr/>
        </p:nvGrpSpPr>
        <p:grpSpPr>
          <a:xfrm>
            <a:off x="1773818" y="2122164"/>
            <a:ext cx="9884470" cy="1938992"/>
            <a:chOff x="1773818" y="2122164"/>
            <a:chExt cx="9884470" cy="1938992"/>
          </a:xfrm>
        </p:grpSpPr>
        <p:sp>
          <p:nvSpPr>
            <p:cNvPr id="12" name="TextBox 11">
              <a:extLst>
                <a:ext uri="{FF2B5EF4-FFF2-40B4-BE49-F238E27FC236}">
                  <a16:creationId xmlns:a16="http://schemas.microsoft.com/office/drawing/2014/main" id="{F16CAC67-5107-F68A-EA4D-074B4836A6AE}"/>
                </a:ext>
              </a:extLst>
            </p:cNvPr>
            <p:cNvSpPr txBox="1"/>
            <p:nvPr/>
          </p:nvSpPr>
          <p:spPr>
            <a:xfrm>
              <a:off x="3894841" y="2187369"/>
              <a:ext cx="163559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t>Test</a:t>
              </a:r>
            </a:p>
            <a:p>
              <a:r>
                <a:rPr lang="en-US" sz="1200">
                  <a:ea typeface="+mn-lt"/>
                  <a:cs typeface="+mn-lt"/>
                </a:rPr>
                <a:t>• Set up simple fair </a:t>
              </a:r>
            </a:p>
            <a:p>
              <a:r>
                <a:rPr lang="en-US" sz="1200">
                  <a:ea typeface="+mn-lt"/>
                  <a:cs typeface="+mn-lt"/>
                </a:rPr>
                <a:t>tests</a:t>
              </a:r>
            </a:p>
          </p:txBody>
        </p:sp>
        <p:sp>
          <p:nvSpPr>
            <p:cNvPr id="13" name="TextBox 12">
              <a:extLst>
                <a:ext uri="{FF2B5EF4-FFF2-40B4-BE49-F238E27FC236}">
                  <a16:creationId xmlns:a16="http://schemas.microsoft.com/office/drawing/2014/main" id="{43C7D4AA-4A10-4AC5-B444-14DAEAAABCD7}"/>
                </a:ext>
              </a:extLst>
            </p:cNvPr>
            <p:cNvSpPr txBox="1"/>
            <p:nvPr/>
          </p:nvSpPr>
          <p:spPr>
            <a:xfrm>
              <a:off x="5530436" y="2134351"/>
              <a:ext cx="190453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t>Observe and measure</a:t>
              </a:r>
            </a:p>
            <a:p>
              <a:r>
                <a:rPr lang="en-US" sz="1200">
                  <a:ea typeface="+mn-lt"/>
                  <a:cs typeface="+mn-lt"/>
                </a:rPr>
                <a:t>• Make careful </a:t>
              </a:r>
              <a:endParaRPr lang="en-US" sz="1200"/>
            </a:p>
            <a:p>
              <a:r>
                <a:rPr lang="en-US" sz="1200">
                  <a:ea typeface="+mn-lt"/>
                  <a:cs typeface="+mn-lt"/>
                </a:rPr>
                <a:t>observations </a:t>
              </a:r>
              <a:endParaRPr lang="en-US" sz="1200"/>
            </a:p>
            <a:p>
              <a:r>
                <a:rPr lang="en-US" sz="1200">
                  <a:ea typeface="+mn-lt"/>
                  <a:cs typeface="+mn-lt"/>
                </a:rPr>
                <a:t>• Take accurate </a:t>
              </a:r>
              <a:endParaRPr lang="en-US" sz="1200"/>
            </a:p>
            <a:p>
              <a:r>
                <a:rPr lang="en-US" sz="1200">
                  <a:ea typeface="+mn-lt"/>
                  <a:cs typeface="+mn-lt"/>
                </a:rPr>
                <a:t>measurements</a:t>
              </a:r>
              <a:endParaRPr lang="en-US" sz="1200"/>
            </a:p>
            <a:p>
              <a:r>
                <a:rPr lang="en-US" sz="1200">
                  <a:ea typeface="+mn-lt"/>
                  <a:cs typeface="+mn-lt"/>
                </a:rPr>
                <a:t>• Use a range of </a:t>
              </a:r>
              <a:endParaRPr lang="en-US" sz="1200"/>
            </a:p>
            <a:p>
              <a:r>
                <a:rPr lang="en-US" sz="1200">
                  <a:ea typeface="+mn-lt"/>
                  <a:cs typeface="+mn-lt"/>
                </a:rPr>
                <a:t>equipment including </a:t>
              </a:r>
              <a:endParaRPr lang="en-US" sz="1200"/>
            </a:p>
            <a:p>
              <a:r>
                <a:rPr lang="en-US" sz="1200">
                  <a:ea typeface="+mn-lt"/>
                  <a:cs typeface="+mn-lt"/>
                </a:rPr>
                <a:t>thermometers and data </a:t>
              </a:r>
              <a:endParaRPr lang="en-US" sz="1200"/>
            </a:p>
            <a:p>
              <a:r>
                <a:rPr lang="en-US" sz="1200">
                  <a:ea typeface="+mn-lt"/>
                  <a:cs typeface="+mn-lt"/>
                </a:rPr>
                <a:t>loggers</a:t>
              </a:r>
              <a:endParaRPr lang="en-US" sz="1200"/>
            </a:p>
          </p:txBody>
        </p:sp>
        <p:sp>
          <p:nvSpPr>
            <p:cNvPr id="14" name="TextBox 13">
              <a:extLst>
                <a:ext uri="{FF2B5EF4-FFF2-40B4-BE49-F238E27FC236}">
                  <a16:creationId xmlns:a16="http://schemas.microsoft.com/office/drawing/2014/main" id="{485BF274-5554-DDD8-EAF0-1BA37FD43B57}"/>
                </a:ext>
              </a:extLst>
            </p:cNvPr>
            <p:cNvSpPr txBox="1"/>
            <p:nvPr/>
          </p:nvSpPr>
          <p:spPr>
            <a:xfrm>
              <a:off x="7386349" y="2122164"/>
              <a:ext cx="236397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Record and present</a:t>
              </a:r>
            </a:p>
            <a:p>
              <a:r>
                <a:rPr lang="en-US" sz="1200">
                  <a:ea typeface="+mn-lt"/>
                  <a:cs typeface="+mn-lt"/>
                </a:rPr>
                <a:t>• Collect, record and present results, using bar charts and tables</a:t>
              </a:r>
              <a:endParaRPr lang="en-US" sz="1200"/>
            </a:p>
            <a:p>
              <a:r>
                <a:rPr lang="en-US" sz="1200">
                  <a:ea typeface="+mn-lt"/>
                  <a:cs typeface="+mn-lt"/>
                </a:rPr>
                <a:t>• Suggest criteria for grouping, sorting and classifying/use a </a:t>
              </a:r>
              <a:endParaRPr lang="en-US" sz="1200"/>
            </a:p>
            <a:p>
              <a:r>
                <a:rPr lang="en-US" sz="1200">
                  <a:ea typeface="+mn-lt"/>
                  <a:cs typeface="+mn-lt"/>
                </a:rPr>
                <a:t>simple key</a:t>
              </a:r>
              <a:endParaRPr lang="en-US" sz="1200"/>
            </a:p>
            <a:p>
              <a:r>
                <a:rPr lang="en-US" sz="1200">
                  <a:ea typeface="+mn-lt"/>
                  <a:cs typeface="+mn-lt"/>
                </a:rPr>
                <a:t>• Write a simple scientific report with a plan, method, results </a:t>
              </a:r>
              <a:endParaRPr lang="en-US" sz="1200"/>
            </a:p>
            <a:p>
              <a:r>
                <a:rPr lang="en-US" sz="1200">
                  <a:ea typeface="+mn-lt"/>
                  <a:cs typeface="+mn-lt"/>
                </a:rPr>
                <a:t>and conclusion</a:t>
              </a:r>
              <a:endParaRPr lang="en-GB" sz="1200"/>
            </a:p>
          </p:txBody>
        </p:sp>
        <p:sp>
          <p:nvSpPr>
            <p:cNvPr id="15" name="TextBox 14">
              <a:extLst>
                <a:ext uri="{FF2B5EF4-FFF2-40B4-BE49-F238E27FC236}">
                  <a16:creationId xmlns:a16="http://schemas.microsoft.com/office/drawing/2014/main" id="{2A6AFAB0-C023-1B8F-C3B9-27A448B0074B}"/>
                </a:ext>
              </a:extLst>
            </p:cNvPr>
            <p:cNvSpPr txBox="1"/>
            <p:nvPr/>
          </p:nvSpPr>
          <p:spPr>
            <a:xfrm>
              <a:off x="9610013" y="2210177"/>
              <a:ext cx="204827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Conclude </a:t>
              </a:r>
            </a:p>
            <a:p>
              <a:r>
                <a:rPr lang="en-US" sz="1200">
                  <a:ea typeface="+mn-lt"/>
                  <a:cs typeface="+mn-lt"/>
                </a:rPr>
                <a:t>• Draw conclusions </a:t>
              </a:r>
              <a:endParaRPr lang="en-US" sz="1200"/>
            </a:p>
            <a:p>
              <a:r>
                <a:rPr lang="en-US" sz="1200">
                  <a:ea typeface="+mn-lt"/>
                  <a:cs typeface="+mn-lt"/>
                </a:rPr>
                <a:t>• Use scientific language in discussions</a:t>
              </a:r>
              <a:endParaRPr lang="en-US" sz="1200"/>
            </a:p>
            <a:p>
              <a:r>
                <a:rPr lang="en-US" sz="1200">
                  <a:ea typeface="+mn-lt"/>
                  <a:cs typeface="+mn-lt"/>
                </a:rPr>
                <a:t>• Make predictions </a:t>
              </a:r>
              <a:endParaRPr lang="en-US" sz="1200"/>
            </a:p>
            <a:p>
              <a:r>
                <a:rPr lang="en-US" sz="1200">
                  <a:ea typeface="+mn-lt"/>
                  <a:cs typeface="+mn-lt"/>
                </a:rPr>
                <a:t>• Look for patterns in results</a:t>
              </a:r>
              <a:endParaRPr lang="en-US" sz="1200"/>
            </a:p>
          </p:txBody>
        </p:sp>
        <p:sp>
          <p:nvSpPr>
            <p:cNvPr id="16" name="TextBox 15">
              <a:extLst>
                <a:ext uri="{FF2B5EF4-FFF2-40B4-BE49-F238E27FC236}">
                  <a16:creationId xmlns:a16="http://schemas.microsoft.com/office/drawing/2014/main" id="{018CC04C-4C53-BD2C-7F2C-EA5D27D604FE}"/>
                </a:ext>
              </a:extLst>
            </p:cNvPr>
            <p:cNvSpPr txBox="1"/>
            <p:nvPr/>
          </p:nvSpPr>
          <p:spPr>
            <a:xfrm>
              <a:off x="1773818" y="2211983"/>
              <a:ext cx="2014819"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Plan, and Ask Question</a:t>
              </a:r>
              <a:r>
                <a:rPr lang="en-US" sz="1200"/>
                <a:t>s</a:t>
              </a:r>
            </a:p>
            <a:p>
              <a:r>
                <a:rPr lang="en-US" sz="1200"/>
                <a:t> </a:t>
              </a:r>
              <a:r>
                <a:rPr lang="en-US" sz="1200">
                  <a:ea typeface="+mn-lt"/>
                  <a:cs typeface="+mn-lt"/>
                </a:rPr>
                <a:t>• Ask relevant questions </a:t>
              </a:r>
            </a:p>
            <a:p>
              <a:r>
                <a:rPr lang="en-US" sz="1200">
                  <a:ea typeface="+mn-lt"/>
                  <a:cs typeface="+mn-lt"/>
                </a:rPr>
                <a:t>• Answer relevant questions</a:t>
              </a:r>
              <a:endParaRPr lang="en-US" sz="1200"/>
            </a:p>
            <a:p>
              <a:r>
                <a:rPr lang="en-US" sz="1200">
                  <a:ea typeface="+mn-lt"/>
                  <a:cs typeface="+mn-lt"/>
                </a:rPr>
                <a:t>• Select appropriate equipment to help answer </a:t>
              </a:r>
              <a:endParaRPr lang="en-US" sz="1200"/>
            </a:p>
            <a:p>
              <a:r>
                <a:rPr lang="en-US" sz="1200">
                  <a:ea typeface="+mn-lt"/>
                  <a:cs typeface="+mn-lt"/>
                </a:rPr>
                <a:t>questions/enquiries</a:t>
              </a:r>
              <a:r>
                <a:rPr lang="en-US" sz="1200"/>
                <a:t> </a:t>
              </a:r>
            </a:p>
          </p:txBody>
        </p:sp>
      </p:grpSp>
      <p:grpSp>
        <p:nvGrpSpPr>
          <p:cNvPr id="5" name="Group 4">
            <a:extLst>
              <a:ext uri="{FF2B5EF4-FFF2-40B4-BE49-F238E27FC236}">
                <a16:creationId xmlns:a16="http://schemas.microsoft.com/office/drawing/2014/main" id="{05F62060-0DDF-A6FD-9EDD-582766B97733}"/>
              </a:ext>
            </a:extLst>
          </p:cNvPr>
          <p:cNvGrpSpPr/>
          <p:nvPr/>
        </p:nvGrpSpPr>
        <p:grpSpPr>
          <a:xfrm>
            <a:off x="1045464" y="4422954"/>
            <a:ext cx="11090455" cy="2123658"/>
            <a:chOff x="1045464" y="4157637"/>
            <a:chExt cx="11090455" cy="2123658"/>
          </a:xfrm>
        </p:grpSpPr>
        <p:sp>
          <p:nvSpPr>
            <p:cNvPr id="18" name="TextBox 17">
              <a:extLst>
                <a:ext uri="{FF2B5EF4-FFF2-40B4-BE49-F238E27FC236}">
                  <a16:creationId xmlns:a16="http://schemas.microsoft.com/office/drawing/2014/main" id="{9689398F-1D70-2813-F060-BC6C033FBB23}"/>
                </a:ext>
              </a:extLst>
            </p:cNvPr>
            <p:cNvSpPr txBox="1"/>
            <p:nvPr/>
          </p:nvSpPr>
          <p:spPr>
            <a:xfrm>
              <a:off x="1045464" y="4452251"/>
              <a:ext cx="221652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Plan and Questions </a:t>
              </a:r>
            </a:p>
            <a:p>
              <a:r>
                <a:rPr lang="en-US" sz="1200"/>
                <a:t>• Ask relevant questions </a:t>
              </a:r>
            </a:p>
            <a:p>
              <a:r>
                <a:rPr lang="en-US" sz="1200"/>
                <a:t>• Answer relevant questions </a:t>
              </a:r>
            </a:p>
            <a:p>
              <a:r>
                <a:rPr lang="en-US" sz="1200"/>
                <a:t>• Select appropriate enquiry to help answer questions/equipment </a:t>
              </a:r>
            </a:p>
          </p:txBody>
        </p:sp>
        <p:sp>
          <p:nvSpPr>
            <p:cNvPr id="19" name="TextBox 18">
              <a:extLst>
                <a:ext uri="{FF2B5EF4-FFF2-40B4-BE49-F238E27FC236}">
                  <a16:creationId xmlns:a16="http://schemas.microsoft.com/office/drawing/2014/main" id="{AC23E6E9-84E9-12C8-412B-AF49F22B297C}"/>
                </a:ext>
              </a:extLst>
            </p:cNvPr>
            <p:cNvSpPr txBox="1"/>
            <p:nvPr/>
          </p:nvSpPr>
          <p:spPr>
            <a:xfrm>
              <a:off x="3109998" y="4441562"/>
              <a:ext cx="224821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cs typeface="Segoe UI"/>
                </a:rPr>
                <a:t>Test</a:t>
              </a:r>
              <a:r>
                <a:rPr lang="en-US" sz="1200">
                  <a:cs typeface="Segoe UI"/>
                </a:rPr>
                <a:t> ​</a:t>
              </a:r>
            </a:p>
            <a:p>
              <a:r>
                <a:rPr lang="en-US" sz="1200">
                  <a:cs typeface="Segoe UI"/>
                </a:rPr>
                <a:t>• Set up simple fair tests by controlling variables </a:t>
              </a:r>
            </a:p>
            <a:p>
              <a:r>
                <a:rPr lang="en-US" sz="1200">
                  <a:cs typeface="Segoe UI"/>
                </a:rPr>
                <a:t>• Sort evidence into two categories: supporting or disproving a scientific idea</a:t>
              </a:r>
            </a:p>
          </p:txBody>
        </p:sp>
        <p:sp>
          <p:nvSpPr>
            <p:cNvPr id="20" name="TextBox 19">
              <a:extLst>
                <a:ext uri="{FF2B5EF4-FFF2-40B4-BE49-F238E27FC236}">
                  <a16:creationId xmlns:a16="http://schemas.microsoft.com/office/drawing/2014/main" id="{07FA914C-D633-CA6F-88CB-CBB3A7D7EA24}"/>
                </a:ext>
              </a:extLst>
            </p:cNvPr>
            <p:cNvSpPr txBox="1"/>
            <p:nvPr/>
          </p:nvSpPr>
          <p:spPr>
            <a:xfrm>
              <a:off x="5101864" y="4480877"/>
              <a:ext cx="1988269"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cs typeface="Segoe UI"/>
                </a:rPr>
                <a:t> Observe and measure </a:t>
              </a:r>
            </a:p>
            <a:p>
              <a:r>
                <a:rPr lang="en-US" sz="1200">
                  <a:cs typeface="Segoe UI"/>
                </a:rPr>
                <a:t>• Make careful observations </a:t>
              </a:r>
            </a:p>
            <a:p>
              <a:r>
                <a:rPr lang="en-US" sz="1200">
                  <a:cs typeface="Segoe UI"/>
                </a:rPr>
                <a:t>• Take accurate measurements</a:t>
              </a:r>
            </a:p>
            <a:p>
              <a:r>
                <a:rPr lang="en-US" sz="1200">
                  <a:cs typeface="Segoe UI"/>
                </a:rPr>
                <a:t> • Use a range of precise scientific equipment​</a:t>
              </a:r>
              <a:endParaRPr lang="en-US" sz="1200"/>
            </a:p>
          </p:txBody>
        </p:sp>
        <p:sp>
          <p:nvSpPr>
            <p:cNvPr id="22" name="TextBox 21">
              <a:extLst>
                <a:ext uri="{FF2B5EF4-FFF2-40B4-BE49-F238E27FC236}">
                  <a16:creationId xmlns:a16="http://schemas.microsoft.com/office/drawing/2014/main" id="{2653587B-C90A-B8DA-5215-78DD12D3BFE4}"/>
                </a:ext>
              </a:extLst>
            </p:cNvPr>
            <p:cNvSpPr txBox="1"/>
            <p:nvPr/>
          </p:nvSpPr>
          <p:spPr>
            <a:xfrm>
              <a:off x="7019292" y="4157637"/>
              <a:ext cx="2437840"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cs typeface="Segoe UI"/>
                </a:rPr>
                <a:t> Record and Present </a:t>
              </a:r>
            </a:p>
            <a:p>
              <a:r>
                <a:rPr lang="en-US" sz="1200">
                  <a:cs typeface="Segoe UI"/>
                </a:rPr>
                <a:t>• Collect, record and present results, including the use of line graphs, scatter graphs, bar charts and tables where appropriate </a:t>
              </a:r>
            </a:p>
            <a:p>
              <a:r>
                <a:rPr lang="en-US" sz="1200">
                  <a:cs typeface="Segoe UI"/>
                </a:rPr>
                <a:t>• Suggest criteria for grouping, sorting and classifying/use a simple key </a:t>
              </a:r>
            </a:p>
            <a:p>
              <a:r>
                <a:rPr lang="en-US" sz="1200">
                  <a:cs typeface="Segoe UI"/>
                </a:rPr>
                <a:t>• Write a simple scientific report with a plan, method, results and conclusion</a:t>
              </a:r>
            </a:p>
          </p:txBody>
        </p:sp>
        <p:sp>
          <p:nvSpPr>
            <p:cNvPr id="23" name="TextBox 22">
              <a:extLst>
                <a:ext uri="{FF2B5EF4-FFF2-40B4-BE49-F238E27FC236}">
                  <a16:creationId xmlns:a16="http://schemas.microsoft.com/office/drawing/2014/main" id="{DC1CDE3E-1CDB-8E5C-A10F-4DD00F4FBEA9}"/>
                </a:ext>
              </a:extLst>
            </p:cNvPr>
            <p:cNvSpPr txBox="1"/>
            <p:nvPr/>
          </p:nvSpPr>
          <p:spPr>
            <a:xfrm>
              <a:off x="9694966" y="4157637"/>
              <a:ext cx="2440953"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Conclude</a:t>
              </a:r>
              <a:r>
                <a:rPr lang="en-US" sz="1200"/>
                <a:t> </a:t>
              </a:r>
              <a:endParaRPr lang="en-GB" sz="1200"/>
            </a:p>
            <a:p>
              <a:r>
                <a:rPr lang="en-US" sz="1200"/>
                <a:t>• Draw conclusions </a:t>
              </a:r>
              <a:endParaRPr lang="en-GB" sz="1200"/>
            </a:p>
            <a:p>
              <a:r>
                <a:rPr lang="en-US" sz="1200"/>
                <a:t>• Use scientific language in discussions </a:t>
              </a:r>
              <a:endParaRPr lang="en-GB" sz="1200"/>
            </a:p>
            <a:p>
              <a:r>
                <a:rPr lang="en-US" sz="1200"/>
                <a:t>• Look and describe patterns in results</a:t>
              </a:r>
              <a:endParaRPr lang="en-GB" sz="1200"/>
            </a:p>
            <a:p>
              <a:r>
                <a:rPr lang="en-US" sz="1200"/>
                <a:t> • Use patterns to make predictions and design further tests </a:t>
              </a:r>
              <a:endParaRPr lang="en-GB" sz="1200"/>
            </a:p>
            <a:p>
              <a:r>
                <a:rPr lang="en-US" sz="1200"/>
                <a:t>• Reflect on the reliability of results​</a:t>
              </a:r>
              <a:r>
                <a:rPr lang="en-GB" sz="1200"/>
                <a:t>​</a:t>
              </a:r>
            </a:p>
          </p:txBody>
        </p:sp>
      </p:grpSp>
      <p:sp>
        <p:nvSpPr>
          <p:cNvPr id="11" name="Frame 10">
            <a:extLst>
              <a:ext uri="{FF2B5EF4-FFF2-40B4-BE49-F238E27FC236}">
                <a16:creationId xmlns:a16="http://schemas.microsoft.com/office/drawing/2014/main" id="{82F739D5-14F1-1A4C-FFB9-B65C1361E1C1}"/>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1" name="TextBox 20">
            <a:extLst>
              <a:ext uri="{FF2B5EF4-FFF2-40B4-BE49-F238E27FC236}">
                <a16:creationId xmlns:a16="http://schemas.microsoft.com/office/drawing/2014/main" id="{4EC7F498-72E2-2B6D-6B09-53D6ED04D5B3}"/>
              </a:ext>
            </a:extLst>
          </p:cNvPr>
          <p:cNvSpPr txBox="1"/>
          <p:nvPr/>
        </p:nvSpPr>
        <p:spPr>
          <a:xfrm>
            <a:off x="533198" y="1181350"/>
            <a:ext cx="566822" cy="369332"/>
          </a:xfrm>
          <a:prstGeom prst="rect">
            <a:avLst/>
          </a:prstGeom>
          <a:noFill/>
        </p:spPr>
        <p:txBody>
          <a:bodyPr wrap="none" rtlCol="0">
            <a:spAutoFit/>
          </a:bodyPr>
          <a:lstStyle/>
          <a:p>
            <a:r>
              <a:rPr lang="en-GB"/>
              <a:t>KS1</a:t>
            </a:r>
          </a:p>
        </p:txBody>
      </p:sp>
      <p:sp>
        <p:nvSpPr>
          <p:cNvPr id="24" name="Rectangle: Rounded Corners 23">
            <a:extLst>
              <a:ext uri="{FF2B5EF4-FFF2-40B4-BE49-F238E27FC236}">
                <a16:creationId xmlns:a16="http://schemas.microsoft.com/office/drawing/2014/main" id="{349541AF-46D8-288B-895B-02778ACE66C4}"/>
              </a:ext>
            </a:extLst>
          </p:cNvPr>
          <p:cNvSpPr/>
          <p:nvPr/>
        </p:nvSpPr>
        <p:spPr>
          <a:xfrm>
            <a:off x="267748" y="2159576"/>
            <a:ext cx="11656503" cy="19335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F9838A47-8601-4515-8A28-CDCF2F730025}"/>
              </a:ext>
            </a:extLst>
          </p:cNvPr>
          <p:cNvSpPr txBox="1"/>
          <p:nvPr/>
        </p:nvSpPr>
        <p:spPr>
          <a:xfrm>
            <a:off x="338545" y="2860424"/>
            <a:ext cx="682238" cy="369332"/>
          </a:xfrm>
          <a:prstGeom prst="rect">
            <a:avLst/>
          </a:prstGeom>
          <a:noFill/>
        </p:spPr>
        <p:txBody>
          <a:bodyPr wrap="none" rtlCol="0">
            <a:spAutoFit/>
          </a:bodyPr>
          <a:lstStyle/>
          <a:p>
            <a:r>
              <a:rPr lang="en-GB"/>
              <a:t>LKS2</a:t>
            </a:r>
          </a:p>
        </p:txBody>
      </p:sp>
      <p:sp>
        <p:nvSpPr>
          <p:cNvPr id="26" name="Rectangle: Rounded Corners 25">
            <a:extLst>
              <a:ext uri="{FF2B5EF4-FFF2-40B4-BE49-F238E27FC236}">
                <a16:creationId xmlns:a16="http://schemas.microsoft.com/office/drawing/2014/main" id="{1B7CBED7-9041-83F4-49CC-97483176561B}"/>
              </a:ext>
            </a:extLst>
          </p:cNvPr>
          <p:cNvSpPr/>
          <p:nvPr/>
        </p:nvSpPr>
        <p:spPr>
          <a:xfrm>
            <a:off x="241582" y="4350969"/>
            <a:ext cx="11656503" cy="23282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25CA59A-69DE-6946-BF7B-B732B4F1981C}"/>
              </a:ext>
            </a:extLst>
          </p:cNvPr>
          <p:cNvSpPr txBox="1"/>
          <p:nvPr/>
        </p:nvSpPr>
        <p:spPr>
          <a:xfrm>
            <a:off x="376632" y="5254025"/>
            <a:ext cx="723916" cy="369332"/>
          </a:xfrm>
          <a:prstGeom prst="rect">
            <a:avLst/>
          </a:prstGeom>
          <a:noFill/>
        </p:spPr>
        <p:txBody>
          <a:bodyPr wrap="none" rtlCol="0">
            <a:spAutoFit/>
          </a:bodyPr>
          <a:lstStyle/>
          <a:p>
            <a:r>
              <a:rPr lang="en-GB"/>
              <a:t>UKS2</a:t>
            </a:r>
          </a:p>
        </p:txBody>
      </p:sp>
    </p:spTree>
    <p:extLst>
      <p:ext uri="{BB962C8B-B14F-4D97-AF65-F5344CB8AC3E}">
        <p14:creationId xmlns:p14="http://schemas.microsoft.com/office/powerpoint/2010/main" val="4041234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945F9C42-29FC-F23C-1BBB-1C8036CD17A1}"/>
              </a:ext>
            </a:extLst>
          </p:cNvPr>
          <p:cNvGraphicFramePr>
            <a:graphicFrameLocks noGrp="1"/>
          </p:cNvGraphicFramePr>
          <p:nvPr/>
        </p:nvGraphicFramePr>
        <p:xfrm>
          <a:off x="335279" y="264160"/>
          <a:ext cx="11521440" cy="4815840"/>
        </p:xfrm>
        <a:graphic>
          <a:graphicData uri="http://schemas.openxmlformats.org/drawingml/2006/table">
            <a:tbl>
              <a:tblPr firstRow="1" bandRow="1">
                <a:tableStyleId>{5940675A-B579-460E-94D1-54222C63F5DA}</a:tableStyleId>
              </a:tblPr>
              <a:tblGrid>
                <a:gridCol w="2304288">
                  <a:extLst>
                    <a:ext uri="{9D8B030D-6E8A-4147-A177-3AD203B41FA5}">
                      <a16:colId xmlns:a16="http://schemas.microsoft.com/office/drawing/2014/main" val="709030840"/>
                    </a:ext>
                  </a:extLst>
                </a:gridCol>
                <a:gridCol w="2304288">
                  <a:extLst>
                    <a:ext uri="{9D8B030D-6E8A-4147-A177-3AD203B41FA5}">
                      <a16:colId xmlns:a16="http://schemas.microsoft.com/office/drawing/2014/main" val="3681655293"/>
                    </a:ext>
                  </a:extLst>
                </a:gridCol>
                <a:gridCol w="2304288">
                  <a:extLst>
                    <a:ext uri="{9D8B030D-6E8A-4147-A177-3AD203B41FA5}">
                      <a16:colId xmlns:a16="http://schemas.microsoft.com/office/drawing/2014/main" val="4121556772"/>
                    </a:ext>
                  </a:extLst>
                </a:gridCol>
                <a:gridCol w="2304288">
                  <a:extLst>
                    <a:ext uri="{9D8B030D-6E8A-4147-A177-3AD203B41FA5}">
                      <a16:colId xmlns:a16="http://schemas.microsoft.com/office/drawing/2014/main" val="705841786"/>
                    </a:ext>
                  </a:extLst>
                </a:gridCol>
                <a:gridCol w="2304288">
                  <a:extLst>
                    <a:ext uri="{9D8B030D-6E8A-4147-A177-3AD203B41FA5}">
                      <a16:colId xmlns:a16="http://schemas.microsoft.com/office/drawing/2014/main" val="2179451184"/>
                    </a:ext>
                  </a:extLst>
                </a:gridCol>
              </a:tblGrid>
              <a:tr h="1605280">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657547995"/>
                  </a:ext>
                </a:extLst>
              </a:tr>
              <a:tr h="1605280">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627293696"/>
                  </a:ext>
                </a:extLst>
              </a:tr>
              <a:tr h="1605280">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553428929"/>
                  </a:ext>
                </a:extLst>
              </a:tr>
            </a:tbl>
          </a:graphicData>
        </a:graphic>
      </p:graphicFrame>
      <p:pic>
        <p:nvPicPr>
          <p:cNvPr id="4" name="Picture 3">
            <a:extLst>
              <a:ext uri="{FF2B5EF4-FFF2-40B4-BE49-F238E27FC236}">
                <a16:creationId xmlns:a16="http://schemas.microsoft.com/office/drawing/2014/main" id="{B55FF0BE-2921-831A-E5A0-FBCA62B0DF15}"/>
              </a:ext>
            </a:extLst>
          </p:cNvPr>
          <p:cNvPicPr>
            <a:picLocks noChangeAspect="1"/>
          </p:cNvPicPr>
          <p:nvPr/>
        </p:nvPicPr>
        <p:blipFill>
          <a:blip r:embed="rId3"/>
          <a:stretch>
            <a:fillRect/>
          </a:stretch>
        </p:blipFill>
        <p:spPr>
          <a:xfrm>
            <a:off x="3403351" y="409010"/>
            <a:ext cx="944705" cy="944705"/>
          </a:xfrm>
          <a:prstGeom prst="rect">
            <a:avLst/>
          </a:prstGeom>
        </p:spPr>
      </p:pic>
      <p:pic>
        <p:nvPicPr>
          <p:cNvPr id="5" name="Picture 4">
            <a:extLst>
              <a:ext uri="{FF2B5EF4-FFF2-40B4-BE49-F238E27FC236}">
                <a16:creationId xmlns:a16="http://schemas.microsoft.com/office/drawing/2014/main" id="{B4ABCD95-01D6-03A0-6C57-C09F4E6728C2}"/>
              </a:ext>
            </a:extLst>
          </p:cNvPr>
          <p:cNvPicPr>
            <a:picLocks noChangeAspect="1"/>
          </p:cNvPicPr>
          <p:nvPr/>
        </p:nvPicPr>
        <p:blipFill>
          <a:blip r:embed="rId4"/>
          <a:stretch>
            <a:fillRect/>
          </a:stretch>
        </p:blipFill>
        <p:spPr>
          <a:xfrm>
            <a:off x="5567862" y="415790"/>
            <a:ext cx="1048710" cy="944705"/>
          </a:xfrm>
          <a:prstGeom prst="rect">
            <a:avLst/>
          </a:prstGeom>
        </p:spPr>
      </p:pic>
      <p:pic>
        <p:nvPicPr>
          <p:cNvPr id="6" name="Picture 5">
            <a:extLst>
              <a:ext uri="{FF2B5EF4-FFF2-40B4-BE49-F238E27FC236}">
                <a16:creationId xmlns:a16="http://schemas.microsoft.com/office/drawing/2014/main" id="{2614CABE-DF30-7765-1B60-10698210EF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1564" y="297610"/>
            <a:ext cx="1415740" cy="1092480"/>
          </a:xfrm>
          <a:prstGeom prst="rect">
            <a:avLst/>
          </a:prstGeom>
        </p:spPr>
      </p:pic>
      <p:sp>
        <p:nvSpPr>
          <p:cNvPr id="8" name="TextBox 7">
            <a:extLst>
              <a:ext uri="{FF2B5EF4-FFF2-40B4-BE49-F238E27FC236}">
                <a16:creationId xmlns:a16="http://schemas.microsoft.com/office/drawing/2014/main" id="{6EE1E2C2-54B7-FAFD-B2BD-ACF41D906391}"/>
              </a:ext>
            </a:extLst>
          </p:cNvPr>
          <p:cNvSpPr txBox="1"/>
          <p:nvPr/>
        </p:nvSpPr>
        <p:spPr>
          <a:xfrm>
            <a:off x="335280" y="1403317"/>
            <a:ext cx="2285999" cy="392413"/>
          </a:xfrm>
          <a:prstGeom prst="rect">
            <a:avLst/>
          </a:prstGeom>
          <a:noFill/>
        </p:spPr>
        <p:txBody>
          <a:bodyPr wrap="square" rtlCol="0">
            <a:spAutoFit/>
          </a:bodyPr>
          <a:lstStyle/>
          <a:p>
            <a:pPr algn="ctr"/>
            <a:r>
              <a:rPr lang="en-GB" sz="1950" b="1">
                <a:latin typeface="Sassoon Primary Rg" panose="02000606020000020004" pitchFamily="2" charset="0"/>
              </a:rPr>
              <a:t>Being a historian</a:t>
            </a:r>
          </a:p>
        </p:txBody>
      </p:sp>
      <p:sp>
        <p:nvSpPr>
          <p:cNvPr id="9" name="TextBox 8">
            <a:extLst>
              <a:ext uri="{FF2B5EF4-FFF2-40B4-BE49-F238E27FC236}">
                <a16:creationId xmlns:a16="http://schemas.microsoft.com/office/drawing/2014/main" id="{8F54FCE4-F5EF-D2E8-1979-3F79B5068538}"/>
              </a:ext>
            </a:extLst>
          </p:cNvPr>
          <p:cNvSpPr txBox="1"/>
          <p:nvPr/>
        </p:nvSpPr>
        <p:spPr>
          <a:xfrm>
            <a:off x="2659333" y="1403315"/>
            <a:ext cx="2285999" cy="392413"/>
          </a:xfrm>
          <a:prstGeom prst="rect">
            <a:avLst/>
          </a:prstGeom>
          <a:noFill/>
        </p:spPr>
        <p:txBody>
          <a:bodyPr wrap="square" rtlCol="0">
            <a:spAutoFit/>
          </a:bodyPr>
          <a:lstStyle/>
          <a:p>
            <a:pPr algn="ctr"/>
            <a:r>
              <a:rPr lang="en-GB" sz="1950" b="1">
                <a:latin typeface="Sassoon Primary Rg" panose="02000606020000020004" pitchFamily="2" charset="0"/>
              </a:rPr>
              <a:t>Being an artist</a:t>
            </a:r>
          </a:p>
        </p:txBody>
      </p:sp>
      <p:sp>
        <p:nvSpPr>
          <p:cNvPr id="10" name="TextBox 9">
            <a:extLst>
              <a:ext uri="{FF2B5EF4-FFF2-40B4-BE49-F238E27FC236}">
                <a16:creationId xmlns:a16="http://schemas.microsoft.com/office/drawing/2014/main" id="{C562209E-4A8D-DD24-4373-00B0810E31BC}"/>
              </a:ext>
            </a:extLst>
          </p:cNvPr>
          <p:cNvSpPr txBox="1"/>
          <p:nvPr/>
        </p:nvSpPr>
        <p:spPr>
          <a:xfrm>
            <a:off x="4916323" y="1417180"/>
            <a:ext cx="2285999" cy="389945"/>
          </a:xfrm>
          <a:prstGeom prst="rect">
            <a:avLst/>
          </a:prstGeom>
          <a:noFill/>
        </p:spPr>
        <p:txBody>
          <a:bodyPr wrap="square" rtlCol="0">
            <a:spAutoFit/>
          </a:bodyPr>
          <a:lstStyle/>
          <a:p>
            <a:pPr algn="ctr"/>
            <a:r>
              <a:rPr lang="en-GB" sz="1950" b="1">
                <a:latin typeface="Sassoon Primary Rg" panose="02000606020000020004" pitchFamily="2" charset="0"/>
              </a:rPr>
              <a:t>Being an athlete</a:t>
            </a:r>
          </a:p>
        </p:txBody>
      </p:sp>
      <p:pic>
        <p:nvPicPr>
          <p:cNvPr id="14" name="Picture 13">
            <a:extLst>
              <a:ext uri="{FF2B5EF4-FFF2-40B4-BE49-F238E27FC236}">
                <a16:creationId xmlns:a16="http://schemas.microsoft.com/office/drawing/2014/main" id="{0F213D17-7C1B-A762-26A7-EF2310406DC4}"/>
              </a:ext>
            </a:extLst>
          </p:cNvPr>
          <p:cNvPicPr>
            <a:picLocks noChangeAspect="1"/>
          </p:cNvPicPr>
          <p:nvPr/>
        </p:nvPicPr>
        <p:blipFill>
          <a:blip r:embed="rId6"/>
          <a:stretch>
            <a:fillRect/>
          </a:stretch>
        </p:blipFill>
        <p:spPr>
          <a:xfrm>
            <a:off x="8071057" y="465913"/>
            <a:ext cx="868476" cy="830898"/>
          </a:xfrm>
          <a:prstGeom prst="rect">
            <a:avLst/>
          </a:prstGeom>
        </p:spPr>
      </p:pic>
      <p:sp>
        <p:nvSpPr>
          <p:cNvPr id="15" name="TextBox 14">
            <a:extLst>
              <a:ext uri="{FF2B5EF4-FFF2-40B4-BE49-F238E27FC236}">
                <a16:creationId xmlns:a16="http://schemas.microsoft.com/office/drawing/2014/main" id="{F8FDF6AD-6005-8488-BAF2-AA57A49F76E6}"/>
              </a:ext>
            </a:extLst>
          </p:cNvPr>
          <p:cNvSpPr txBox="1"/>
          <p:nvPr/>
        </p:nvSpPr>
        <p:spPr>
          <a:xfrm>
            <a:off x="7240376" y="1431045"/>
            <a:ext cx="2285998" cy="389945"/>
          </a:xfrm>
          <a:prstGeom prst="rect">
            <a:avLst/>
          </a:prstGeom>
          <a:noFill/>
        </p:spPr>
        <p:txBody>
          <a:bodyPr wrap="square" rtlCol="0">
            <a:spAutoFit/>
          </a:bodyPr>
          <a:lstStyle/>
          <a:p>
            <a:pPr algn="ctr"/>
            <a:r>
              <a:rPr lang="en-GB" sz="1950" b="1">
                <a:latin typeface="Sassoon Primary Rg" panose="02000606020000020004" pitchFamily="2" charset="0"/>
              </a:rPr>
              <a:t>Being a writer</a:t>
            </a:r>
          </a:p>
        </p:txBody>
      </p:sp>
      <p:pic>
        <p:nvPicPr>
          <p:cNvPr id="16" name="Picture 15">
            <a:extLst>
              <a:ext uri="{FF2B5EF4-FFF2-40B4-BE49-F238E27FC236}">
                <a16:creationId xmlns:a16="http://schemas.microsoft.com/office/drawing/2014/main" id="{51E81D53-A6D1-67EB-567C-590E11C65AC4}"/>
              </a:ext>
            </a:extLst>
          </p:cNvPr>
          <p:cNvPicPr>
            <a:picLocks noChangeAspect="1"/>
          </p:cNvPicPr>
          <p:nvPr/>
        </p:nvPicPr>
        <p:blipFill>
          <a:blip r:embed="rId7"/>
          <a:stretch>
            <a:fillRect/>
          </a:stretch>
        </p:blipFill>
        <p:spPr>
          <a:xfrm>
            <a:off x="10105757" y="385555"/>
            <a:ext cx="1111149" cy="1045490"/>
          </a:xfrm>
          <a:prstGeom prst="rect">
            <a:avLst/>
          </a:prstGeom>
        </p:spPr>
      </p:pic>
      <p:sp>
        <p:nvSpPr>
          <p:cNvPr id="17" name="TextBox 16">
            <a:extLst>
              <a:ext uri="{FF2B5EF4-FFF2-40B4-BE49-F238E27FC236}">
                <a16:creationId xmlns:a16="http://schemas.microsoft.com/office/drawing/2014/main" id="{9ABB87DC-4402-B1AF-7357-9C055418AC52}"/>
              </a:ext>
            </a:extLst>
          </p:cNvPr>
          <p:cNvSpPr txBox="1"/>
          <p:nvPr/>
        </p:nvSpPr>
        <p:spPr>
          <a:xfrm>
            <a:off x="9564428" y="1436905"/>
            <a:ext cx="2285998" cy="392415"/>
          </a:xfrm>
          <a:prstGeom prst="rect">
            <a:avLst/>
          </a:prstGeom>
          <a:noFill/>
        </p:spPr>
        <p:txBody>
          <a:bodyPr wrap="square" rtlCol="0">
            <a:spAutoFit/>
          </a:bodyPr>
          <a:lstStyle/>
          <a:p>
            <a:pPr algn="ctr"/>
            <a:r>
              <a:rPr lang="en-GB" sz="1950" b="1">
                <a:latin typeface="Sassoon Primary Rg" panose="02000606020000020004" pitchFamily="2" charset="0"/>
              </a:rPr>
              <a:t>Being an engineer</a:t>
            </a:r>
          </a:p>
        </p:txBody>
      </p:sp>
      <p:pic>
        <p:nvPicPr>
          <p:cNvPr id="19" name="Picture 18">
            <a:extLst>
              <a:ext uri="{FF2B5EF4-FFF2-40B4-BE49-F238E27FC236}">
                <a16:creationId xmlns:a16="http://schemas.microsoft.com/office/drawing/2014/main" id="{94282FD0-8B46-8D61-B0AE-0E5CD8237E16}"/>
              </a:ext>
            </a:extLst>
          </p:cNvPr>
          <p:cNvPicPr>
            <a:picLocks noChangeAspect="1"/>
          </p:cNvPicPr>
          <p:nvPr/>
        </p:nvPicPr>
        <p:blipFill>
          <a:blip r:embed="rId8"/>
          <a:stretch>
            <a:fillRect/>
          </a:stretch>
        </p:blipFill>
        <p:spPr>
          <a:xfrm>
            <a:off x="971658" y="2048393"/>
            <a:ext cx="961708" cy="961708"/>
          </a:xfrm>
          <a:prstGeom prst="rect">
            <a:avLst/>
          </a:prstGeom>
        </p:spPr>
      </p:pic>
      <p:sp>
        <p:nvSpPr>
          <p:cNvPr id="20" name="TextBox 19">
            <a:extLst>
              <a:ext uri="{FF2B5EF4-FFF2-40B4-BE49-F238E27FC236}">
                <a16:creationId xmlns:a16="http://schemas.microsoft.com/office/drawing/2014/main" id="{A7EAB2A5-3C9E-84E9-FAD0-A553E53F3303}"/>
              </a:ext>
            </a:extLst>
          </p:cNvPr>
          <p:cNvSpPr txBox="1"/>
          <p:nvPr/>
        </p:nvSpPr>
        <p:spPr>
          <a:xfrm>
            <a:off x="335278" y="3036587"/>
            <a:ext cx="2286001" cy="392413"/>
          </a:xfrm>
          <a:prstGeom prst="rect">
            <a:avLst/>
          </a:prstGeom>
          <a:noFill/>
        </p:spPr>
        <p:txBody>
          <a:bodyPr wrap="square" rtlCol="0">
            <a:spAutoFit/>
          </a:bodyPr>
          <a:lstStyle/>
          <a:p>
            <a:pPr algn="ctr"/>
            <a:r>
              <a:rPr lang="en-GB" sz="1950" b="1">
                <a:latin typeface="Sassoon Primary Rg" panose="02000606020000020004" pitchFamily="2" charset="0"/>
              </a:rPr>
              <a:t>Being a geographer</a:t>
            </a:r>
          </a:p>
        </p:txBody>
      </p:sp>
      <p:sp>
        <p:nvSpPr>
          <p:cNvPr id="21" name="TextBox 20">
            <a:extLst>
              <a:ext uri="{FF2B5EF4-FFF2-40B4-BE49-F238E27FC236}">
                <a16:creationId xmlns:a16="http://schemas.microsoft.com/office/drawing/2014/main" id="{E1AE83F5-AE51-6699-6F5E-3DA305E64AE5}"/>
              </a:ext>
            </a:extLst>
          </p:cNvPr>
          <p:cNvSpPr txBox="1"/>
          <p:nvPr/>
        </p:nvSpPr>
        <p:spPr>
          <a:xfrm>
            <a:off x="2651759" y="3036586"/>
            <a:ext cx="2286001" cy="369332"/>
          </a:xfrm>
          <a:prstGeom prst="rect">
            <a:avLst/>
          </a:prstGeom>
          <a:noFill/>
        </p:spPr>
        <p:txBody>
          <a:bodyPr wrap="square" rtlCol="0">
            <a:spAutoFit/>
          </a:bodyPr>
          <a:lstStyle/>
          <a:p>
            <a:pPr algn="ctr"/>
            <a:r>
              <a:rPr lang="en-GB" b="1">
                <a:latin typeface="Sassoon Primary Rg" panose="02000606020000020004" pitchFamily="2" charset="0"/>
              </a:rPr>
              <a:t>Being a mathematician</a:t>
            </a:r>
          </a:p>
        </p:txBody>
      </p:sp>
      <p:sp>
        <p:nvSpPr>
          <p:cNvPr id="22" name="TextBox 21">
            <a:extLst>
              <a:ext uri="{FF2B5EF4-FFF2-40B4-BE49-F238E27FC236}">
                <a16:creationId xmlns:a16="http://schemas.microsoft.com/office/drawing/2014/main" id="{AE8FEE89-8802-6E26-E7C7-01D3FDEF67BC}"/>
              </a:ext>
            </a:extLst>
          </p:cNvPr>
          <p:cNvSpPr txBox="1"/>
          <p:nvPr/>
        </p:nvSpPr>
        <p:spPr>
          <a:xfrm>
            <a:off x="4954375" y="3062813"/>
            <a:ext cx="2286001" cy="392413"/>
          </a:xfrm>
          <a:prstGeom prst="rect">
            <a:avLst/>
          </a:prstGeom>
          <a:noFill/>
        </p:spPr>
        <p:txBody>
          <a:bodyPr wrap="square" rtlCol="0">
            <a:spAutoFit/>
          </a:bodyPr>
          <a:lstStyle/>
          <a:p>
            <a:pPr algn="ctr"/>
            <a:r>
              <a:rPr lang="en-GB" sz="1950" b="1">
                <a:latin typeface="Sassoon Primary Rg" panose="02000606020000020004" pitchFamily="2" charset="0"/>
              </a:rPr>
              <a:t>Being a musician</a:t>
            </a:r>
          </a:p>
        </p:txBody>
      </p:sp>
      <p:sp>
        <p:nvSpPr>
          <p:cNvPr id="24" name="TextBox 23">
            <a:extLst>
              <a:ext uri="{FF2B5EF4-FFF2-40B4-BE49-F238E27FC236}">
                <a16:creationId xmlns:a16="http://schemas.microsoft.com/office/drawing/2014/main" id="{A16946F9-EBC7-DFE1-B9AC-3F6A07236BFD}"/>
              </a:ext>
            </a:extLst>
          </p:cNvPr>
          <p:cNvSpPr txBox="1"/>
          <p:nvPr/>
        </p:nvSpPr>
        <p:spPr>
          <a:xfrm>
            <a:off x="9540241" y="3071143"/>
            <a:ext cx="2286001" cy="392413"/>
          </a:xfrm>
          <a:prstGeom prst="rect">
            <a:avLst/>
          </a:prstGeom>
          <a:noFill/>
        </p:spPr>
        <p:txBody>
          <a:bodyPr wrap="square" rtlCol="0">
            <a:spAutoFit/>
          </a:bodyPr>
          <a:lstStyle/>
          <a:p>
            <a:pPr algn="ctr"/>
            <a:r>
              <a:rPr lang="en-GB" sz="1950" b="1">
                <a:latin typeface="Sassoon Primary Rg" panose="02000606020000020004" pitchFamily="2" charset="0"/>
              </a:rPr>
              <a:t>Being a scientist</a:t>
            </a:r>
          </a:p>
        </p:txBody>
      </p:sp>
      <p:pic>
        <p:nvPicPr>
          <p:cNvPr id="27" name="Picture 26" descr="A black background with graphics and symbols&#10;&#10;Description automatically generated">
            <a:extLst>
              <a:ext uri="{FF2B5EF4-FFF2-40B4-BE49-F238E27FC236}">
                <a16:creationId xmlns:a16="http://schemas.microsoft.com/office/drawing/2014/main" id="{2B211C41-3FB4-5220-E21D-DB693BFD21D9}"/>
              </a:ext>
            </a:extLst>
          </p:cNvPr>
          <p:cNvPicPr>
            <a:picLocks noChangeAspect="1"/>
          </p:cNvPicPr>
          <p:nvPr/>
        </p:nvPicPr>
        <p:blipFill>
          <a:blip r:embed="rId9"/>
          <a:stretch>
            <a:fillRect/>
          </a:stretch>
        </p:blipFill>
        <p:spPr>
          <a:xfrm>
            <a:off x="3241543" y="2012016"/>
            <a:ext cx="1106431" cy="961708"/>
          </a:xfrm>
          <a:prstGeom prst="rect">
            <a:avLst/>
          </a:prstGeom>
        </p:spPr>
      </p:pic>
      <p:pic>
        <p:nvPicPr>
          <p:cNvPr id="29" name="Picture 28">
            <a:extLst>
              <a:ext uri="{FF2B5EF4-FFF2-40B4-BE49-F238E27FC236}">
                <a16:creationId xmlns:a16="http://schemas.microsoft.com/office/drawing/2014/main" id="{C56149D5-1E89-FF08-E7A3-5FA100D4B792}"/>
              </a:ext>
            </a:extLst>
          </p:cNvPr>
          <p:cNvPicPr>
            <a:picLocks noChangeAspect="1"/>
          </p:cNvPicPr>
          <p:nvPr/>
        </p:nvPicPr>
        <p:blipFill>
          <a:blip r:embed="rId10"/>
          <a:stretch>
            <a:fillRect/>
          </a:stretch>
        </p:blipFill>
        <p:spPr>
          <a:xfrm>
            <a:off x="5539001" y="2012016"/>
            <a:ext cx="1106431" cy="1000598"/>
          </a:xfrm>
          <a:prstGeom prst="rect">
            <a:avLst/>
          </a:prstGeom>
        </p:spPr>
      </p:pic>
      <p:pic>
        <p:nvPicPr>
          <p:cNvPr id="31" name="Picture 30">
            <a:extLst>
              <a:ext uri="{FF2B5EF4-FFF2-40B4-BE49-F238E27FC236}">
                <a16:creationId xmlns:a16="http://schemas.microsoft.com/office/drawing/2014/main" id="{346CFD0A-7DFA-54B3-4DD8-772A4B52BF6A}"/>
              </a:ext>
            </a:extLst>
          </p:cNvPr>
          <p:cNvPicPr>
            <a:picLocks noChangeAspect="1"/>
          </p:cNvPicPr>
          <p:nvPr/>
        </p:nvPicPr>
        <p:blipFill>
          <a:blip r:embed="rId11"/>
          <a:stretch>
            <a:fillRect/>
          </a:stretch>
        </p:blipFill>
        <p:spPr>
          <a:xfrm>
            <a:off x="10046968" y="2057601"/>
            <a:ext cx="1228725" cy="952500"/>
          </a:xfrm>
          <a:prstGeom prst="rect">
            <a:avLst/>
          </a:prstGeom>
        </p:spPr>
      </p:pic>
      <p:pic>
        <p:nvPicPr>
          <p:cNvPr id="32" name="Picture 31" descr="A picture containing shape&#10;&#10;Description automatically generated">
            <a:extLst>
              <a:ext uri="{FF2B5EF4-FFF2-40B4-BE49-F238E27FC236}">
                <a16:creationId xmlns:a16="http://schemas.microsoft.com/office/drawing/2014/main" id="{2609782D-EEAE-58E1-C14B-43BD954EF789}"/>
              </a:ext>
            </a:extLst>
          </p:cNvPr>
          <p:cNvPicPr>
            <a:picLocks noChangeAspect="1"/>
          </p:cNvPicPr>
          <p:nvPr/>
        </p:nvPicPr>
        <p:blipFill rotWithShape="1">
          <a:blip r:embed="rId12" cstate="screen">
            <a:extLst>
              <a:ext uri="{28A0092B-C50C-407E-A947-70E740481C1C}">
                <a14:useLocalDpi xmlns:a14="http://schemas.microsoft.com/office/drawing/2010/main" val="0"/>
              </a:ext>
            </a:extLst>
          </a:blip>
          <a:srcRect/>
          <a:stretch/>
        </p:blipFill>
        <p:spPr>
          <a:xfrm>
            <a:off x="878685" y="3582988"/>
            <a:ext cx="1147653" cy="1159058"/>
          </a:xfrm>
          <a:prstGeom prst="rect">
            <a:avLst/>
          </a:prstGeom>
        </p:spPr>
      </p:pic>
      <p:sp>
        <p:nvSpPr>
          <p:cNvPr id="33" name="TextBox 32">
            <a:extLst>
              <a:ext uri="{FF2B5EF4-FFF2-40B4-BE49-F238E27FC236}">
                <a16:creationId xmlns:a16="http://schemas.microsoft.com/office/drawing/2014/main" id="{47D43D76-17A3-4807-EDA2-6EF551E289DD}"/>
              </a:ext>
            </a:extLst>
          </p:cNvPr>
          <p:cNvSpPr txBox="1"/>
          <p:nvPr/>
        </p:nvSpPr>
        <p:spPr>
          <a:xfrm>
            <a:off x="335278" y="4691916"/>
            <a:ext cx="2286001" cy="392413"/>
          </a:xfrm>
          <a:prstGeom prst="rect">
            <a:avLst/>
          </a:prstGeom>
          <a:noFill/>
        </p:spPr>
        <p:txBody>
          <a:bodyPr wrap="square" rtlCol="0">
            <a:spAutoFit/>
          </a:bodyPr>
          <a:lstStyle/>
          <a:p>
            <a:pPr algn="ctr"/>
            <a:r>
              <a:rPr lang="en-GB" sz="1950" b="1">
                <a:latin typeface="Sassoon Primary Rg" panose="02000606020000020004" pitchFamily="2" charset="0"/>
              </a:rPr>
              <a:t>Being a citizen</a:t>
            </a:r>
          </a:p>
        </p:txBody>
      </p:sp>
      <p:sp>
        <p:nvSpPr>
          <p:cNvPr id="37" name="TextBox 36">
            <a:extLst>
              <a:ext uri="{FF2B5EF4-FFF2-40B4-BE49-F238E27FC236}">
                <a16:creationId xmlns:a16="http://schemas.microsoft.com/office/drawing/2014/main" id="{F19D7D66-5174-49FD-D0DD-A852DDD9811D}"/>
              </a:ext>
            </a:extLst>
          </p:cNvPr>
          <p:cNvSpPr txBox="1"/>
          <p:nvPr/>
        </p:nvSpPr>
        <p:spPr>
          <a:xfrm>
            <a:off x="7202322" y="3083693"/>
            <a:ext cx="2286001" cy="392413"/>
          </a:xfrm>
          <a:prstGeom prst="rect">
            <a:avLst/>
          </a:prstGeom>
          <a:noFill/>
        </p:spPr>
        <p:txBody>
          <a:bodyPr wrap="square" rtlCol="0">
            <a:spAutoFit/>
          </a:bodyPr>
          <a:lstStyle/>
          <a:p>
            <a:pPr algn="ctr"/>
            <a:r>
              <a:rPr lang="en-GB" sz="1950" b="1">
                <a:latin typeface="Sassoon Primary Rg" panose="02000606020000020004" pitchFamily="2" charset="0"/>
              </a:rPr>
              <a:t>Being a reader</a:t>
            </a:r>
          </a:p>
        </p:txBody>
      </p:sp>
      <p:pic>
        <p:nvPicPr>
          <p:cNvPr id="11" name="Picture 8" descr="Reading Icon 2954745">
            <a:extLst>
              <a:ext uri="{FF2B5EF4-FFF2-40B4-BE49-F238E27FC236}">
                <a16:creationId xmlns:a16="http://schemas.microsoft.com/office/drawing/2014/main" id="{1FB7E6A2-C49F-AE0D-696C-D177706EDC4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61005" y="2132590"/>
            <a:ext cx="952500" cy="952500"/>
          </a:xfrm>
          <a:prstGeom prst="rect">
            <a:avLst/>
          </a:prstGeom>
          <a:noFill/>
          <a:extLst>
            <a:ext uri="{909E8E84-426E-40DD-AFC4-6F175D3DCCD1}">
              <a14:hiddenFill xmlns:a14="http://schemas.microsoft.com/office/drawing/2010/main">
                <a:solidFill>
                  <a:srgbClr val="FFFFFF"/>
                </a:solidFill>
              </a14:hiddenFill>
            </a:ext>
          </a:extLst>
        </p:spPr>
      </p:pic>
      <p:pic>
        <p:nvPicPr>
          <p:cNvPr id="13" name="Graphic 12" descr="Lights On with solid fill">
            <a:extLst>
              <a:ext uri="{FF2B5EF4-FFF2-40B4-BE49-F238E27FC236}">
                <a16:creationId xmlns:a16="http://schemas.microsoft.com/office/drawing/2014/main" id="{2D9036FF-3311-3400-6D41-2D94715BBDA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625840" y="1955225"/>
            <a:ext cx="390762" cy="390762"/>
          </a:xfrm>
          <a:prstGeom prst="rect">
            <a:avLst/>
          </a:prstGeom>
        </p:spPr>
      </p:pic>
      <p:pic>
        <p:nvPicPr>
          <p:cNvPr id="2" name="Picture 1">
            <a:extLst>
              <a:ext uri="{FF2B5EF4-FFF2-40B4-BE49-F238E27FC236}">
                <a16:creationId xmlns:a16="http://schemas.microsoft.com/office/drawing/2014/main" id="{62F2EA69-D9F3-8E1F-1AB1-ABCC799B075E}"/>
              </a:ext>
            </a:extLst>
          </p:cNvPr>
          <p:cNvPicPr>
            <a:picLocks noChangeAspect="1"/>
          </p:cNvPicPr>
          <p:nvPr/>
        </p:nvPicPr>
        <p:blipFill>
          <a:blip r:embed="rId6"/>
          <a:stretch>
            <a:fillRect/>
          </a:stretch>
        </p:blipFill>
        <p:spPr>
          <a:xfrm>
            <a:off x="8071057" y="474243"/>
            <a:ext cx="868476" cy="830898"/>
          </a:xfrm>
          <a:prstGeom prst="rect">
            <a:avLst/>
          </a:prstGeom>
        </p:spPr>
      </p:pic>
      <p:sp>
        <p:nvSpPr>
          <p:cNvPr id="3" name="TextBox 2">
            <a:extLst>
              <a:ext uri="{FF2B5EF4-FFF2-40B4-BE49-F238E27FC236}">
                <a16:creationId xmlns:a16="http://schemas.microsoft.com/office/drawing/2014/main" id="{7CFB4866-A566-B03A-B267-5DC73E7A4244}"/>
              </a:ext>
            </a:extLst>
          </p:cNvPr>
          <p:cNvSpPr txBox="1"/>
          <p:nvPr/>
        </p:nvSpPr>
        <p:spPr>
          <a:xfrm>
            <a:off x="7240376" y="1439375"/>
            <a:ext cx="2285998" cy="389945"/>
          </a:xfrm>
          <a:prstGeom prst="rect">
            <a:avLst/>
          </a:prstGeom>
          <a:noFill/>
        </p:spPr>
        <p:txBody>
          <a:bodyPr wrap="square" rtlCol="0">
            <a:spAutoFit/>
          </a:bodyPr>
          <a:lstStyle/>
          <a:p>
            <a:pPr algn="ctr"/>
            <a:r>
              <a:rPr lang="en-GB" sz="1950" b="1">
                <a:latin typeface="Sassoon Primary Rg" panose="02000606020000020004" pitchFamily="2" charset="0"/>
              </a:rPr>
              <a:t>Being a writer</a:t>
            </a:r>
          </a:p>
        </p:txBody>
      </p:sp>
    </p:spTree>
    <p:extLst>
      <p:ext uri="{BB962C8B-B14F-4D97-AF65-F5344CB8AC3E}">
        <p14:creationId xmlns:p14="http://schemas.microsoft.com/office/powerpoint/2010/main" val="13122238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71695694772F44B387615DF8DED97F" ma:contentTypeVersion="16" ma:contentTypeDescription="Create a new document." ma:contentTypeScope="" ma:versionID="6b988a150421d80c99f84aa2bfb3de38">
  <xsd:schema xmlns:xsd="http://www.w3.org/2001/XMLSchema" xmlns:xs="http://www.w3.org/2001/XMLSchema" xmlns:p="http://schemas.microsoft.com/office/2006/metadata/properties" xmlns:ns2="9e6dd442-da5e-411e-833f-0fee7dcd7819" xmlns:ns3="4848fd07-94db-4308-8950-9cb0e230b958" targetNamespace="http://schemas.microsoft.com/office/2006/metadata/properties" ma:root="true" ma:fieldsID="0840e1ae8104f568f88bbc0ee80d0ce2" ns2:_="" ns3:_="">
    <xsd:import namespace="9e6dd442-da5e-411e-833f-0fee7dcd7819"/>
    <xsd:import namespace="4848fd07-94db-4308-8950-9cb0e230b95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MediaServiceLocatio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6dd442-da5e-411e-833f-0fee7dcd78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Location" ma:index="13" nillable="true" ma:displayName="Location" ma:indexed="true"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d08261e-ebf2-489e-9cf5-3c5ddf1ef55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48fd07-94db-4308-8950-9cb0e230b95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0903c9d-9125-4551-886d-abbd3fd64318}" ma:internalName="TaxCatchAll" ma:showField="CatchAllData" ma:web="4848fd07-94db-4308-8950-9cb0e230b958">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e6dd442-da5e-411e-833f-0fee7dcd7819">
      <Terms xmlns="http://schemas.microsoft.com/office/infopath/2007/PartnerControls"/>
    </lcf76f155ced4ddcb4097134ff3c332f>
    <TaxCatchAll xmlns="4848fd07-94db-4308-8950-9cb0e230b95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B4DBD3-1650-4F14-9F48-B17CE115DAA3}">
  <ds:schemaRefs>
    <ds:schemaRef ds:uri="4848fd07-94db-4308-8950-9cb0e230b958"/>
    <ds:schemaRef ds:uri="9e6dd442-da5e-411e-833f-0fee7dcd781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FFDE8DF-3064-4F6F-ABCB-4D7C0E2AE5CB}">
  <ds:schemaRefs>
    <ds:schemaRef ds:uri="http://schemas.microsoft.com/office/2006/documentManagement/types"/>
    <ds:schemaRef ds:uri="http://schemas.microsoft.com/office/2006/metadata/properties"/>
    <ds:schemaRef ds:uri="http://purl.org/dc/elements/1.1/"/>
    <ds:schemaRef ds:uri="http://www.w3.org/XML/1998/namespace"/>
    <ds:schemaRef ds:uri="http://schemas.microsoft.com/office/infopath/2007/PartnerControls"/>
    <ds:schemaRef ds:uri="http://schemas.openxmlformats.org/package/2006/metadata/core-properties"/>
    <ds:schemaRef ds:uri="9e6dd442-da5e-411e-833f-0fee7dcd7819"/>
    <ds:schemaRef ds:uri="http://purl.org/dc/dcmitype/"/>
    <ds:schemaRef ds:uri="4848fd07-94db-4308-8950-9cb0e230b958"/>
    <ds:schemaRef ds:uri="http://purl.org/dc/terms/"/>
  </ds:schemaRefs>
</ds:datastoreItem>
</file>

<file path=customXml/itemProps3.xml><?xml version="1.0" encoding="utf-8"?>
<ds:datastoreItem xmlns:ds="http://schemas.openxmlformats.org/officeDocument/2006/customXml" ds:itemID="{0F5FD6E2-7B08-4A6F-A2DF-BA161DFA201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45</TotalTime>
  <Words>1923</Words>
  <Application>Microsoft Macintosh PowerPoint</Application>
  <PresentationFormat>Widescreen</PresentationFormat>
  <Paragraphs>280</Paragraphs>
  <Slides>19</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Aptos</vt:lpstr>
      <vt:lpstr>Aptos Display</vt:lpstr>
      <vt:lpstr>Arial</vt:lpstr>
      <vt:lpstr>Calibri</vt:lpstr>
      <vt:lpstr>Sassoon Infant Rg</vt:lpstr>
      <vt:lpstr>Sassoon Primary Rg</vt:lpstr>
      <vt:lpstr>Segoe UI</vt:lpstr>
      <vt:lpstr>Twinkl Cursive Looped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Quick Quiz! </vt:lpstr>
      <vt:lpstr>Quick Quiz!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Innes Mclean - WFA</cp:lastModifiedBy>
  <cp:revision>2</cp:revision>
  <cp:lastPrinted>2026-03-10T10:00:11Z</cp:lastPrinted>
  <dcterms:created xsi:type="dcterms:W3CDTF">2025-03-06T13:15:34Z</dcterms:created>
  <dcterms:modified xsi:type="dcterms:W3CDTF">2026-07-09T10:50:48Z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0x010100AC71695694772F44B387615DF8DED97F</vt:lpwstr>
  </property>
  <property fmtid="{D5CDD505-2E9C-101B-9397-08002B2CF9AE}" pid="3" name="MediaServiceImageTags">
    <vt:lpwstr/>
  </property>
</Properties>
</file>