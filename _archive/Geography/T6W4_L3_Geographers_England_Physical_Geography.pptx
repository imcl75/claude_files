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4.xml" ContentType="application/vnd.openxmlformats-officedocument.them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5.xml" ContentType="application/vnd.openxmlformats-officedocument.them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4"/>
    <p:sldMasterId id="2147483772" r:id="rId5"/>
    <p:sldMasterId id="2147483676" r:id="rId6"/>
    <p:sldMasterId id="2147483688" r:id="rId7"/>
    <p:sldMasterId id="2147483788" r:id="rId8"/>
    <p:sldMasterId id="2147483770" r:id="rId9"/>
  </p:sldMasterIdLst>
  <p:notesMasterIdLst>
    <p:notesMasterId r:id="rId23"/>
  </p:notesMasterIdLst>
  <p:sldIdLst>
    <p:sldId id="4301" r:id="rId10"/>
    <p:sldId id="4302" r:id="rId13"/>
    <p:sldId id="4303" r:id="rId14"/>
    <p:sldId id="4304" r:id="rId15"/>
    <p:sldId id="4305" r:id="rId16"/>
    <p:sldId id="4306" r:id="rId17"/>
    <p:sldId id="4307" r:id="rId29"/>
    <p:sldId id="4308" r:id="rId30"/>
    <p:sldId id="4309" r:id="rId31"/>
    <p:sldId id="4310" r:id="rId18"/>
    <p:sldId id="4311" r:id="rId19"/>
    <p:sldId id="4312" r:id="rId20"/>
    <p:sldId id="4313" r:id="rId21"/>
    <p:sldId id="431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ources" id="{154E198E-0130-A84B-84B2-A60C971BA2A2}">
          <p14:sldIdLst>
            <p14:sldId id="256"/>
            <p14:sldId id="257"/>
            <p14:sldId id="258"/>
            <p14:sldId id="259"/>
          </p14:sldIdLst>
        </p14:section>
        <p14:section name="Slide Deck" id="{66BEB757-3A3E-994B-8B52-AC6FEC5ACC75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EEB0"/>
    <a:srgbClr val="4574C4"/>
    <a:srgbClr val="BDD7EF"/>
    <a:srgbClr val="DDEAF8"/>
    <a:srgbClr val="FFEC9F"/>
    <a:srgbClr val="FFF3CC"/>
    <a:srgbClr val="61CCF5"/>
    <a:srgbClr val="B1B1FF"/>
    <a:srgbClr val="FDD6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2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tableStyles" Target="tableStyles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48081D9B-5E24-4A44-A38E-60CF0FCB9C87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C49D36C8-F0F3-6D40-939B-09DEAE02A2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83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1" kern="1200">
        <a:solidFill>
          <a:schemeClr val="tx1"/>
        </a:solidFill>
        <a:latin typeface="Twinkl Cursive Looped" panose="02000000000000000000" pitchFamily="2" charset="77"/>
        <a:ea typeface="+mn-ea"/>
        <a:cs typeface="+mn-cs"/>
      </a:defRPr>
    </a:lvl1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1069325" y="5079350"/>
            <a:ext cx="8554700" cy="4812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82763" y="801688"/>
            <a:ext cx="7129462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1.xml"/><Relationship Id="rId9" Type="http://schemas.openxmlformats.org/officeDocument/2006/relationships/image" Target="../media/image12.png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5.xml.rels><?xml version="1.0" encoding="UTF-8"?>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7.xml.rels><?xml version="1.0" encoding="UTF-8"?>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microsoft.com/office/2007/relationships/hdphoto" Target="../media/hdphoto1.wdp"/><Relationship Id="rId12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image" Target="../media/image8.png"/><Relationship Id="rId14" Type="http://schemas.openxmlformats.org/officeDocument/2006/relationships/image" Target="../media/image29.png"/></Relationships>
</file>

<file path=ppt/slideLayouts/_rels/slideLayout14.xml.rels><?xml version="1.0" encoding="UTF-8"?>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microsoft.com/office/2007/relationships/hdphoto" Target="../media/hdphoto1.wdp"/><Relationship Id="rId12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image" Target="../media/image8.png"/><Relationship Id="rId14" Type="http://schemas.openxmlformats.org/officeDocument/2006/relationships/image" Target="../media/image29.png"/></Relationships>
</file>

<file path=ppt/slideLayouts/_rels/slideLayout15.xml.rels><?xml version="1.0" encoding="UTF-8"?>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16.xml.rels><?xml version="1.0" encoding="UTF-8"?>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17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2.xml"/><Relationship Id="rId9" Type="http://schemas.openxmlformats.org/officeDocument/2006/relationships/image" Target="../media/image12.png"/></Relationships>
</file>

<file path=ppt/slideLayouts/_rels/slideLayout1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?>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21.xml.rels><?xml version="1.0" encoding="UTF-8"?>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?>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3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?><Relationships xmlns="http://schemas.openxmlformats.org/package/2006/relationships"><Relationship Id="rId8" Type="http://schemas.openxmlformats.org/officeDocument/2006/relationships/image" Target="../media/image38.emf"/><Relationship Id="rId13" Type="http://schemas.openxmlformats.org/officeDocument/2006/relationships/image" Target="../media/image30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5.png"/><Relationship Id="rId11" Type="http://schemas.openxmlformats.org/officeDocument/2006/relationships/image" Target="../media/image28.png"/><Relationship Id="rId5" Type="http://schemas.openxmlformats.org/officeDocument/2006/relationships/image" Target="../media/image8.png"/><Relationship Id="rId10" Type="http://schemas.openxmlformats.org/officeDocument/2006/relationships/image" Target="../media/image27.png"/><Relationship Id="rId4" Type="http://schemas.openxmlformats.org/officeDocument/2006/relationships/image" Target="../media/image7.png"/><Relationship Id="rId9" Type="http://schemas.openxmlformats.org/officeDocument/2006/relationships/image" Target="../media/image26.png"/></Relationships>
</file>

<file path=ppt/slideLayouts/_rels/slideLayout29.xml.rels><?xml version="1.0" encoding="UTF-8"?>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8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7.png"/><Relationship Id="rId11" Type="http://schemas.microsoft.com/office/2007/relationships/hdphoto" Target="../media/hdphoto1.wdp"/><Relationship Id="rId5" Type="http://schemas.openxmlformats.org/officeDocument/2006/relationships/image" Target="../media/image26.png"/><Relationship Id="rId10" Type="http://schemas.openxmlformats.org/officeDocument/2006/relationships/image" Target="../media/image6.png"/><Relationship Id="rId4" Type="http://schemas.openxmlformats.org/officeDocument/2006/relationships/image" Target="../media/image38.emf"/><Relationship Id="rId9" Type="http://schemas.openxmlformats.org/officeDocument/2006/relationships/image" Target="../media/image30.png"/></Relationships>
</file>

<file path=ppt/slideLayouts/_rels/slideLayout30.xml.rels><?xml version="1.0" encoding="UTF-8"?>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31.xml.rels><?xml version="1.0" encoding="UTF-8"?>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32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3.xml"/><Relationship Id="rId9" Type="http://schemas.openxmlformats.org/officeDocument/2006/relationships/image" Target="../media/image12.png"/></Relationships>
</file>

<file path=ppt/slideLayouts/_rels/slideLayout33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?>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36.xml.rels><?xml version="1.0" encoding="UTF-8"?>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?>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?>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9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Layouts/_rels/slideLayout44.xml.rels><?xml version="1.0" encoding="UTF-8"?>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8.png"/><Relationship Id="rId11" Type="http://schemas.microsoft.com/office/2007/relationships/hdphoto" Target="../media/hdphoto1.wdp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39.png"/></Relationships>
</file>

<file path=ppt/slideLayouts/_rels/slideLayout45.xml.rels><?xml version="1.0" encoding="UTF-8"?>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46.xml.rels><?xml version="1.0" encoding="UTF-8"?>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47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4.xml"/><Relationship Id="rId9" Type="http://schemas.openxmlformats.org/officeDocument/2006/relationships/image" Target="../media/image12.png"/></Relationships>
</file>

<file path=ppt/slideLayouts/_rels/slideLayout4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?>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51.xml.rels><?xml version="1.0" encoding="UTF-8"?>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Layouts/_rels/slideLayout53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?>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40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Layouts/_rels/slideLayout59.xml.rels><?xml version="1.0" encoding="UTF-8"?>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8.png"/><Relationship Id="rId11" Type="http://schemas.microsoft.com/office/2007/relationships/hdphoto" Target="../media/hdphoto1.wdp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40.png"/></Relationships>
</file>

<file path=ppt/slideLayouts/_rels/slideLayout60.xml.rels><?xml version="1.0" encoding="UTF-8"?>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4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61.xml.rels><?xml version="1.0" encoding="UTF-8"?>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62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5.xml"/><Relationship Id="rId9" Type="http://schemas.openxmlformats.org/officeDocument/2006/relationships/image" Target="../media/image12.png"/></Relationships>
</file>

<file path=ppt/slideLayouts/_rels/slideLayout63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?>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?>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1.png"/><Relationship Id="rId4" Type="http://schemas.openxmlformats.org/officeDocument/2006/relationships/image" Target="../media/image10.png"/></Relationships>
</file>

<file path=ppt/slideLayouts/_rels/slideLayout66.xml.rels><?xml version="1.0" encoding="UTF-8"?>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Layouts/_rels/slideLayout6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69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?>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41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Layouts/_rels/slideLayout74.xml.rels><?xml version="1.0" encoding="UTF-8"?>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8.png"/><Relationship Id="rId11" Type="http://schemas.microsoft.com/office/2007/relationships/hdphoto" Target="../media/hdphoto1.wdp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41.png"/></Relationships>
</file>

<file path=ppt/slideLayouts/_rels/slideLayout75.xml.rels><?xml version="1.0" encoding="UTF-8"?>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5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76.xml.rels><?xml version="1.0" encoding="UTF-8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  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3658419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B672B1-AC07-685F-26E5-5FE38F1AF523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4" name="Picture 3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9368C0B-8A7A-3819-1CA5-AA42533CF6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B0AFE8A-73CC-12A4-8FE1-FF6EC924081B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257948248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F6972451-9FCF-E12E-E2C6-C5AEE9125716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C5A300-381A-EE6C-5C2E-02ADDCF9465B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DC06F2E-1285-269E-7349-05A96EF1F535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4D2AFD3F-AF4C-0C21-FFF6-473ACA17C8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72D65CA4-6512-DD92-8ED7-526936E970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D89F2DD5-B21C-7DBD-7E49-810C107AA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26A933A2-592C-7454-8D1A-96EC6FC9F6BD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1F0FBE62-EBD5-568C-556F-7F6DB434CD9D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C0299BBE-0AB0-32A6-23B9-30E78001BEE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63E6F1E-341C-A86C-5E79-0CCBAF40EF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Block Arc 25">
            <a:extLst>
              <a:ext uri="{FF2B5EF4-FFF2-40B4-BE49-F238E27FC236}">
                <a16:creationId xmlns:a16="http://schemas.microsoft.com/office/drawing/2014/main" id="{D65A4DA7-AE87-EB39-9C76-F0E505405E0D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2" name="Block Arc 31">
            <a:extLst>
              <a:ext uri="{FF2B5EF4-FFF2-40B4-BE49-F238E27FC236}">
                <a16:creationId xmlns:a16="http://schemas.microsoft.com/office/drawing/2014/main" id="{F7DB73B0-E970-8F1F-5855-A3A70B6077F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3" name="Block Arc 32">
            <a:extLst>
              <a:ext uri="{FF2B5EF4-FFF2-40B4-BE49-F238E27FC236}">
                <a16:creationId xmlns:a16="http://schemas.microsoft.com/office/drawing/2014/main" id="{AE117020-31D5-CC00-87CA-8035D37D912D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4" name="Block Arc 33">
            <a:extLst>
              <a:ext uri="{FF2B5EF4-FFF2-40B4-BE49-F238E27FC236}">
                <a16:creationId xmlns:a16="http://schemas.microsoft.com/office/drawing/2014/main" id="{C2D54078-E26A-533B-B6EA-5D9ACE39198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5" name="Block Arc 34">
            <a:extLst>
              <a:ext uri="{FF2B5EF4-FFF2-40B4-BE49-F238E27FC236}">
                <a16:creationId xmlns:a16="http://schemas.microsoft.com/office/drawing/2014/main" id="{FF98B4B1-9ACD-D1BA-8AF4-2FDF4CF99F02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4BC1237A-9E27-686B-64DF-A1D1C62E290B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AB3D2A-30C3-AE50-86D6-B59B9BFC088C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4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5B75D6AF-6141-A4B9-9C20-458D575F4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AEC3D70-8F22-C00B-5CC7-46284A838E40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CFBBB9-A881-A36C-7F66-A59A942FF1CF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A5D20AB0-5899-4612-9523-6EB7E03C663B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3C9EB5B4-09DF-35A0-7502-B18217A657B8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1" name="Block Arc 100">
                <a:extLst>
                  <a:ext uri="{FF2B5EF4-FFF2-40B4-BE49-F238E27FC236}">
                    <a16:creationId xmlns:a16="http://schemas.microsoft.com/office/drawing/2014/main" id="{56745FE9-6639-5EA5-A55B-A5724F9429B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7D169A7E-D3B0-9117-9935-8618473CBC73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23F59D23-B470-6411-B92B-080DCD434F2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479902FD-5868-6F87-2667-E043A38B7867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C9541158-7541-8B18-6B36-2310EBAA56B6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4" name="Curved Right Arrow 113">
                    <a:extLst>
                      <a:ext uri="{FF2B5EF4-FFF2-40B4-BE49-F238E27FC236}">
                        <a16:creationId xmlns:a16="http://schemas.microsoft.com/office/drawing/2014/main" id="{D9C015ED-BBE7-9BB8-92C8-5694C8D3A13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4AEF3EF4-FD17-31AE-E78A-D0CAA2F6A211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DFD4F67E-1842-7FF3-432E-630F33ABDF32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C4421B9B-0A42-D845-9C69-9EFCC121FA8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3E2EC88D-2659-C803-48B3-4EB2000ADB5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8C71302C-29BC-5890-D7CB-A16038C10082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30D01548-2DA2-5BB1-2803-A4A2FD541B59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6F456347-47CE-3CE4-EF29-62F43ED0A2B6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6" name="Block Arc 105">
                <a:extLst>
                  <a:ext uri="{FF2B5EF4-FFF2-40B4-BE49-F238E27FC236}">
                    <a16:creationId xmlns:a16="http://schemas.microsoft.com/office/drawing/2014/main" id="{AEF90A1D-5B59-1545-252B-67061E3710E1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5F21714-6809-7E39-742F-5CAFE0694C58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BCE679E9-D7F0-0530-C962-5800FFE7069D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CC91828B-3451-0663-75B4-BDD6885F4F32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5" name="Block Arc 84">
                <a:extLst>
                  <a:ext uri="{FF2B5EF4-FFF2-40B4-BE49-F238E27FC236}">
                    <a16:creationId xmlns:a16="http://schemas.microsoft.com/office/drawing/2014/main" id="{6817FBA4-1936-9058-0A8E-234A065DCCBB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1C6AB123-5B40-9C39-A941-E939C44A65C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834D5FE1-BF48-3712-5A11-908A76176976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CF4B54C6-6A5F-7DFB-0C64-98E6C8BF41F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5767E3BA-8CA3-244B-9033-5C5C03251D89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8" name="Curved Right Arrow 97">
                    <a:extLst>
                      <a:ext uri="{FF2B5EF4-FFF2-40B4-BE49-F238E27FC236}">
                        <a16:creationId xmlns:a16="http://schemas.microsoft.com/office/drawing/2014/main" id="{9ECE95BB-7C6B-D52B-FEB4-25AE7429816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26FEF4E7-ADF7-964D-988D-48439EFB476E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E5011BBA-839A-5088-0FE7-3E887A39EF2C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20F4B7CF-09DC-BC39-A70E-F69E19F685A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78C5C760-9501-33AD-B4C2-79AC4E556B54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D993B034-171B-8C4A-201B-69E143EFD657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984E0272-E18A-014C-3429-E33DB19D4A64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E1506918-8165-1002-6D43-1214EF3822EC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0" name="Block Arc 89">
                <a:extLst>
                  <a:ext uri="{FF2B5EF4-FFF2-40B4-BE49-F238E27FC236}">
                    <a16:creationId xmlns:a16="http://schemas.microsoft.com/office/drawing/2014/main" id="{E1CF8784-188F-B9D5-72AC-754A96AD2DE5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3F04211-7FBA-DEDB-6623-718BDBAC7C29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D483C653-F2D0-5A3F-C5F7-459F23962B56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C531719F-A6E4-9FF9-A349-A025534DB9EB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9" name="Block Arc 68">
                <a:extLst>
                  <a:ext uri="{FF2B5EF4-FFF2-40B4-BE49-F238E27FC236}">
                    <a16:creationId xmlns:a16="http://schemas.microsoft.com/office/drawing/2014/main" id="{C539DD76-98F7-7D0F-1566-16EB1D756670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7D30FD67-0D3E-0DC4-7C49-F82987D2C504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B92093A2-7274-4FD4-A4EF-85DA97356F42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7F5CF7F2-3C07-E28D-A686-9875574F66E4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C2609CD3-6F26-2748-2D43-9E803B15CA0A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2" name="Curved Right Arrow 81">
                    <a:extLst>
                      <a:ext uri="{FF2B5EF4-FFF2-40B4-BE49-F238E27FC236}">
                        <a16:creationId xmlns:a16="http://schemas.microsoft.com/office/drawing/2014/main" id="{8E4C3668-762B-10A6-3456-AC5135D8847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B5998D09-78D1-BCF2-6715-0BE9B486897D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3B8C9561-1C6F-389B-6230-AFD3A35079FD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64E76E7A-02C8-9EB8-3B8A-3278E8A08EA9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6BFF15C9-4228-FDAB-908F-F21084243B24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8BDCDB65-EF63-1541-79CD-C1E9467FDEE3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40C39FB9-F4D4-DB68-1015-42C75C2E1A1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DC02CE29-61C4-EB4E-1994-602C3D92C493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4" name="Block Arc 73">
                <a:extLst>
                  <a:ext uri="{FF2B5EF4-FFF2-40B4-BE49-F238E27FC236}">
                    <a16:creationId xmlns:a16="http://schemas.microsoft.com/office/drawing/2014/main" id="{4D332B1E-B105-28ED-9BF7-5922E91C2A55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1393196-721F-EF59-831F-C9DA82A96E42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4C4569D8-772A-E648-13BF-8CD12D3D154C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356CDAE7-F8AB-1375-1708-1C86AF23E0A4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3" name="Block Arc 52">
                <a:extLst>
                  <a:ext uri="{FF2B5EF4-FFF2-40B4-BE49-F238E27FC236}">
                    <a16:creationId xmlns:a16="http://schemas.microsoft.com/office/drawing/2014/main" id="{63B6884B-5BDE-1FCE-0D8C-A25B430BA7F3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703F2A8B-AA14-3DFA-99CC-64CC908DE00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A7287A49-D033-B379-58FD-F5DC6B7631FF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21FC3293-CC54-C1B3-858B-A0B14DB0C534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5B153BEE-4F46-3F6E-0C4C-483636001A6E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" name="Curved Right Arrow 65">
                    <a:extLst>
                      <a:ext uri="{FF2B5EF4-FFF2-40B4-BE49-F238E27FC236}">
                        <a16:creationId xmlns:a16="http://schemas.microsoft.com/office/drawing/2014/main" id="{858D7E0F-BEE2-7D47-B49E-477B111D624B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9996504D-CC99-46A7-8059-80A2B6739B08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C12E1D56-79D8-7AA4-AD9D-618FD058398F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3ACB0B72-D1D3-6C55-F692-842D133D88EF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D2197F82-7420-30E4-C2B0-314878828DEB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E70AF7F6-F6B1-7D4A-C3D0-2D5380CD607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7ACC680A-FCD9-0A0C-5434-54B3A4CFAA45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2B463098-4976-396F-198A-2CEC84D271AB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8" name="Block Arc 57">
                <a:extLst>
                  <a:ext uri="{FF2B5EF4-FFF2-40B4-BE49-F238E27FC236}">
                    <a16:creationId xmlns:a16="http://schemas.microsoft.com/office/drawing/2014/main" id="{FB828018-B0A9-3628-672F-40942C20BD0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ABB2B70-4314-64FD-FB26-CE313C409BD2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11" name="Block Arc 10">
                <a:extLst>
                  <a:ext uri="{FF2B5EF4-FFF2-40B4-BE49-F238E27FC236}">
                    <a16:creationId xmlns:a16="http://schemas.microsoft.com/office/drawing/2014/main" id="{E79C49D6-465A-0C75-7594-0B4177292AB3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3" name="Block Arc 12">
                <a:extLst>
                  <a:ext uri="{FF2B5EF4-FFF2-40B4-BE49-F238E27FC236}">
                    <a16:creationId xmlns:a16="http://schemas.microsoft.com/office/drawing/2014/main" id="{1E1B741F-967B-583C-3AEB-029F4F0B0059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" name="Block Arc 13">
                <a:extLst>
                  <a:ext uri="{FF2B5EF4-FFF2-40B4-BE49-F238E27FC236}">
                    <a16:creationId xmlns:a16="http://schemas.microsoft.com/office/drawing/2014/main" id="{3BAA8DC6-DB35-F31D-7A3F-B1A79D5BC4D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29F1F60-D121-0F95-A46B-4A28550CDAD4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C10CDF87-C82C-8BDD-A066-BB99E3410A80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BB0F15F4-7BA9-9DFA-9870-DE1416E8C18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EAD52C42-6F35-26E3-70FA-A9AAEB6F029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0" name="Curved Right Arrow 49">
                    <a:extLst>
                      <a:ext uri="{FF2B5EF4-FFF2-40B4-BE49-F238E27FC236}">
                        <a16:creationId xmlns:a16="http://schemas.microsoft.com/office/drawing/2014/main" id="{1912908B-A427-150D-1F84-50DF93EC724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C83DC12D-6E3F-309A-FA70-05E70C2C6A5C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C80632D3-EB4A-B786-CEF0-92C602FB3895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13DDAFBD-6A9F-7693-3625-C047D7A9F87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B576B5EE-41A6-D3A2-B68B-F80907CBE53A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7" name="Block Arc 16">
                <a:extLst>
                  <a:ext uri="{FF2B5EF4-FFF2-40B4-BE49-F238E27FC236}">
                    <a16:creationId xmlns:a16="http://schemas.microsoft.com/office/drawing/2014/main" id="{23930245-5AC7-D69E-EDE0-9ED4399C9766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9" name="Block Arc 18">
                <a:extLst>
                  <a:ext uri="{FF2B5EF4-FFF2-40B4-BE49-F238E27FC236}">
                    <a16:creationId xmlns:a16="http://schemas.microsoft.com/office/drawing/2014/main" id="{A153AF45-714A-7DF1-6765-1EC13D23BE0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0" name="Block Arc 19">
                <a:extLst>
                  <a:ext uri="{FF2B5EF4-FFF2-40B4-BE49-F238E27FC236}">
                    <a16:creationId xmlns:a16="http://schemas.microsoft.com/office/drawing/2014/main" id="{AB4ED728-F96D-C718-7CEB-CC8B7DB0EBDD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" name="Block Arc 20">
                <a:extLst>
                  <a:ext uri="{FF2B5EF4-FFF2-40B4-BE49-F238E27FC236}">
                    <a16:creationId xmlns:a16="http://schemas.microsoft.com/office/drawing/2014/main" id="{9A7394EE-594B-DD8E-AC0F-424778C078CB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6583BF4-6930-A2A4-385A-34EA0BF40CEB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DFB448D8-045C-CB84-C7A7-DF41CD4181C1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5E42A1FB-80B3-51C5-0076-233BF3D12C7E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F4595039-749F-BE96-0D5E-FEEBB2E6521F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7D800002-0BFF-BDBE-517D-C47ACC98E67B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9D7BD638-2823-584C-9B68-061561BAC55B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</p:spTree>
    <p:extLst>
      <p:ext uri="{BB962C8B-B14F-4D97-AF65-F5344CB8AC3E}">
        <p14:creationId xmlns:p14="http://schemas.microsoft.com/office/powerpoint/2010/main" val="224300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  <p:bldP spid="43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4C3142-EB23-8F25-054D-72ACFF70EA01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60009FB-A7C6-DA05-9D0E-F6836A2822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604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468346-116A-66E6-812B-38A1A615A19E}"/>
              </a:ext>
            </a:extLst>
          </p:cNvPr>
          <p:cNvSpPr txBox="1"/>
          <p:nvPr userDrawn="1"/>
        </p:nvSpPr>
        <p:spPr>
          <a:xfrm>
            <a:off x="923238" y="808490"/>
            <a:ext cx="2860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Places are spaces that have been defined by a given name. We can describe them by their location, shape, boundaries, features, physical and human characteristics.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737784-658A-AD05-8998-BAF2495F66FD}"/>
              </a:ext>
            </a:extLst>
          </p:cNvPr>
          <p:cNvGrpSpPr/>
          <p:nvPr userDrawn="1"/>
        </p:nvGrpSpPr>
        <p:grpSpPr>
          <a:xfrm>
            <a:off x="57580" y="1031926"/>
            <a:ext cx="865658" cy="744149"/>
            <a:chOff x="57580" y="1031926"/>
            <a:chExt cx="865658" cy="74414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F052065-1DDB-E2DC-0F3B-396DB5BB06C8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96DFED09-CF66-B228-0F68-96827508064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1DB2582-79EF-90E8-ADCB-2AE7029E691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0DE7C01-422A-A7BB-1D1B-3A49D84E46E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BF84855-F164-7917-D065-84DDE64A51A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11" name="Picture 10" descr="A black arrow pointing to a line  AI-generated content may be incorrect.">
              <a:extLst>
                <a:ext uri="{FF2B5EF4-FFF2-40B4-BE49-F238E27FC236}">
                  <a16:creationId xmlns:a16="http://schemas.microsoft.com/office/drawing/2014/main" id="{16D06F16-D317-4C08-C147-AFE6431A94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12" name="Picture 11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A426F523-D2E6-E414-F47E-F0FCA36951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E1CB9C8-816F-DF00-0844-27C1265768A2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3746263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572C4D2-64B4-1B32-68D7-DC03C6792927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DD991092-BCCC-E70B-ADBC-A96CF09BB70B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ADA91177-EA61-A14F-48D8-9FDF4FDA3BDF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14D384F1-2722-256C-0B84-CA37221FCFDC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27" name="Rectangle: Rounded Corners 12">
                    <a:extLst>
                      <a:ext uri="{FF2B5EF4-FFF2-40B4-BE49-F238E27FC236}">
                        <a16:creationId xmlns:a16="http://schemas.microsoft.com/office/drawing/2014/main" id="{D78E21CA-437C-E8E6-D43F-7FB2BDD79DF7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8" name="Rectangle: Rounded Corners 4">
                    <a:extLst>
                      <a:ext uri="{FF2B5EF4-FFF2-40B4-BE49-F238E27FC236}">
                        <a16:creationId xmlns:a16="http://schemas.microsoft.com/office/drawing/2014/main" id="{78EC23C4-1992-220E-873E-902A6715F9E6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787CDB7E-949B-491F-5C11-1723326B1CA5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25" name="Picture 124">
                    <a:extLst>
                      <a:ext uri="{FF2B5EF4-FFF2-40B4-BE49-F238E27FC236}">
                        <a16:creationId xmlns:a16="http://schemas.microsoft.com/office/drawing/2014/main" id="{B0216510-CCFD-8238-F8E5-772CFF29E6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46C3A5F4-3B03-A278-1907-2AB241FAF2E0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D3DEC776-1FA8-AD8E-F0A6-5A041B4487D6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BB850CB8-AFE7-F6FF-4B59-55E6B4ED76C5}"/>
                </a:ext>
              </a:extLst>
            </p:cNvPr>
            <p:cNvSpPr txBox="1"/>
            <p:nvPr/>
          </p:nvSpPr>
          <p:spPr>
            <a:xfrm>
              <a:off x="6767704" y="3786935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know I live in South West England and can name some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cities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in the region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. I can name some countries in Europe and describe a place in the Mediterranean. </a:t>
              </a: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23707F62-5BC9-73A8-06FB-B7B94D9CDA14}"/>
              </a:ext>
            </a:extLst>
          </p:cNvPr>
          <p:cNvSpPr txBox="1"/>
          <p:nvPr userDrawn="1"/>
        </p:nvSpPr>
        <p:spPr>
          <a:xfrm>
            <a:off x="583309" y="1869817"/>
            <a:ext cx="2693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Places are areas that have been defined by a given name. </a:t>
            </a: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466AB6B-12CA-B770-FC7A-C9C398FD84B9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CB746930-222B-86B4-89C0-C8DC202EF3EB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46F2FF87-3180-D2B4-D77E-EFD684493CCE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04D6BE85-A902-2EBF-1495-D6BA8628D9A9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39" name="Rectangle: Rounded Corners 9">
                    <a:extLst>
                      <a:ext uri="{FF2B5EF4-FFF2-40B4-BE49-F238E27FC236}">
                        <a16:creationId xmlns:a16="http://schemas.microsoft.com/office/drawing/2014/main" id="{D7FB5E20-2597-C2F9-9D1F-032BEE084135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0" name="Rectangle: Rounded Corners 4">
                    <a:extLst>
                      <a:ext uri="{FF2B5EF4-FFF2-40B4-BE49-F238E27FC236}">
                        <a16:creationId xmlns:a16="http://schemas.microsoft.com/office/drawing/2014/main" id="{CBAB15B9-D2D2-7071-FE7D-4836909AFF45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36" name="Group 135">
                  <a:extLst>
                    <a:ext uri="{FF2B5EF4-FFF2-40B4-BE49-F238E27FC236}">
                      <a16:creationId xmlns:a16="http://schemas.microsoft.com/office/drawing/2014/main" id="{FEC6F23F-F501-E370-737C-7E5904F01B95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37" name="Picture 136">
                    <a:extLst>
                      <a:ext uri="{FF2B5EF4-FFF2-40B4-BE49-F238E27FC236}">
                        <a16:creationId xmlns:a16="http://schemas.microsoft.com/office/drawing/2014/main" id="{D9CB490D-D898-A179-70A1-0499A117ECA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28FD4341-097C-C237-D68D-557B2D3A852E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7D8EAC55-2763-2E54-A516-F75C56290EB9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147B050-DCFA-BD81-F8D1-37EAD487D659}"/>
                </a:ext>
              </a:extLst>
            </p:cNvPr>
            <p:cNvSpPr txBox="1"/>
            <p:nvPr/>
          </p:nvSpPr>
          <p:spPr>
            <a:xfrm>
              <a:off x="6824631" y="479839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use a map to locate the seven continents and five oceans. I know that England is in the continent Europe and China is in the continent Asia.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B88E5574-5424-3800-FBBA-A065DAC6D9BA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E794C7E4-08FC-3E62-5385-741FB5A5AE2B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26D23B01-63B5-9745-6BD4-FF90FDA7FFA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46" name="Rectangle: Rounded Corners 3">
                  <a:extLst>
                    <a:ext uri="{FF2B5EF4-FFF2-40B4-BE49-F238E27FC236}">
                      <a16:creationId xmlns:a16="http://schemas.microsoft.com/office/drawing/2014/main" id="{2EDFC930-7F32-8E38-3B3E-B0DCC43E6F33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5C6F202A-9BFF-F6BB-D3B4-FD9992240FC2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48" name="Picture 147">
                    <a:extLst>
                      <a:ext uri="{FF2B5EF4-FFF2-40B4-BE49-F238E27FC236}">
                        <a16:creationId xmlns:a16="http://schemas.microsoft.com/office/drawing/2014/main" id="{C9B7B796-5F7C-3AF9-11C3-AE48B1EF696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B6408EC0-CF69-72D6-22D4-E55345FD11D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3972111-5E24-221D-A3AE-4FAF4317106C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0D65EB27-4FE8-704E-2D3A-5DDD8D09673C}"/>
                </a:ext>
              </a:extLst>
            </p:cNvPr>
            <p:cNvSpPr txBox="1"/>
            <p:nvPr/>
          </p:nvSpPr>
          <p:spPr>
            <a:xfrm>
              <a:off x="6824631" y="5889684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know where I live and where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Wallscourt Farm Academy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is. I know I live in England and can name the four countries of the United Kingdom. 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1C51D6F-9B82-78D2-3E56-2CC37064D297}"/>
              </a:ext>
            </a:extLst>
          </p:cNvPr>
          <p:cNvGrpSpPr/>
          <p:nvPr userDrawn="1"/>
        </p:nvGrpSpPr>
        <p:grpSpPr>
          <a:xfrm>
            <a:off x="3525668" y="2707320"/>
            <a:ext cx="8308198" cy="954107"/>
            <a:chOff x="3525668" y="2707320"/>
            <a:chExt cx="8308198" cy="954107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C84BC7-360F-82FE-D852-17506775C6F8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4C1A94B3-1B9C-2743-32AB-4B83AFF0C3A8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3738305E-36B9-41B9-E67E-47F2D1F68F75}"/>
                    </a:ext>
                  </a:extLst>
                </p:cNvPr>
                <p:cNvGrpSpPr/>
                <p:nvPr/>
              </p:nvGrpSpPr>
              <p:grpSpPr>
                <a:xfrm>
                  <a:off x="3533229" y="2722725"/>
                  <a:ext cx="8300637" cy="900000"/>
                  <a:chOff x="5998798" y="1737362"/>
                  <a:chExt cx="1713901" cy="2844795"/>
                </a:xfrm>
              </p:grpSpPr>
              <p:sp>
                <p:nvSpPr>
                  <p:cNvPr id="170" name="Rectangle: Rounded Corners 15">
                    <a:extLst>
                      <a:ext uri="{FF2B5EF4-FFF2-40B4-BE49-F238E27FC236}">
                        <a16:creationId xmlns:a16="http://schemas.microsoft.com/office/drawing/2014/main" id="{750B889C-4590-2233-1B06-6A75B19246CF}"/>
                      </a:ext>
                    </a:extLst>
                  </p:cNvPr>
                  <p:cNvSpPr/>
                  <p:nvPr/>
                </p:nvSpPr>
                <p:spPr>
                  <a:xfrm>
                    <a:off x="5998798" y="1737362"/>
                    <a:ext cx="1713901" cy="2844795"/>
                  </a:xfrm>
                  <a:prstGeom prst="roundRect">
                    <a:avLst/>
                  </a:prstGeom>
                  <a:solidFill>
                    <a:srgbClr val="BDD7EF"/>
                  </a:solidFill>
                  <a:ln>
                    <a:noFill/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1" name="Rectangle: Rounded Corners 4">
                    <a:extLst>
                      <a:ext uri="{FF2B5EF4-FFF2-40B4-BE49-F238E27FC236}">
                        <a16:creationId xmlns:a16="http://schemas.microsoft.com/office/drawing/2014/main" id="{9B6102C5-D823-0B4F-B267-AAD650C9FB01}"/>
                      </a:ext>
                    </a:extLst>
                  </p:cNvPr>
                  <p:cNvSpPr txBox="1"/>
                  <p:nvPr/>
                </p:nvSpPr>
                <p:spPr>
                  <a:xfrm>
                    <a:off x="6082464" y="1821028"/>
                    <a:ext cx="1546569" cy="2344261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4F48F122-E542-6645-1730-8D916B6C940C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68" name="Picture 167">
                    <a:extLst>
                      <a:ext uri="{FF2B5EF4-FFF2-40B4-BE49-F238E27FC236}">
                        <a16:creationId xmlns:a16="http://schemas.microsoft.com/office/drawing/2014/main" id="{075A870B-9788-88E5-4712-9B7442C105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69" name="TextBox 168">
                    <a:extLst>
                      <a:ext uri="{FF2B5EF4-FFF2-40B4-BE49-F238E27FC236}">
                        <a16:creationId xmlns:a16="http://schemas.microsoft.com/office/drawing/2014/main" id="{055B0069-2F7F-3BDD-7014-7C9EC2D78D6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E66FC725-A387-28A8-C7D7-4B9A65D69567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8AC9B67A-0F15-331A-E781-7F016E8795CF}"/>
                </a:ext>
              </a:extLst>
            </p:cNvPr>
            <p:cNvSpPr txBox="1"/>
            <p:nvPr/>
          </p:nvSpPr>
          <p:spPr>
            <a:xfrm>
              <a:off x="6824631" y="2707320"/>
              <a:ext cx="488210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use world maps to locate the equator, tropics and  hemispheres and use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 latitude and longitude to locate places.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I can name significant cities in the UK describe a place in South America. </a:t>
              </a:r>
            </a:p>
          </p:txBody>
        </p: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C03EA156-7E21-1D05-39B0-4AA499688BDB}"/>
              </a:ext>
            </a:extLst>
          </p:cNvPr>
          <p:cNvSpPr txBox="1"/>
          <p:nvPr userDrawn="1"/>
        </p:nvSpPr>
        <p:spPr>
          <a:xfrm>
            <a:off x="596419" y="3486712"/>
            <a:ext cx="2740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Scale is when we ‘zoom –in and zoom-out’ to explore local, regional and global patterns and connections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F084291-0649-F1E8-23A2-23A2A3BF6154}"/>
              </a:ext>
            </a:extLst>
          </p:cNvPr>
          <p:cNvSpPr txBox="1"/>
          <p:nvPr userDrawn="1"/>
        </p:nvSpPr>
        <p:spPr>
          <a:xfrm>
            <a:off x="598388" y="2520074"/>
            <a:ext cx="28054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Space</a:t>
            </a:r>
            <a:r>
              <a:rPr kumimoji="0" lang="en-GB" sz="14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 is about the importance of places and the way people organise where we live.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  <a:cs typeface="+mn-cs"/>
            </a:endParaRP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EEDBCC6-5644-F19A-ADD5-0820C10A8B5F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FFEEB0"/>
          </a:solid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7D343F5F-0310-8BF1-153F-738F244F6B87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824A26F8-2EFF-49EE-5959-CE6CD9FD154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6" name="Rectangle: Top Corners Rounded 71">
                <a:extLst>
                  <a:ext uri="{FF2B5EF4-FFF2-40B4-BE49-F238E27FC236}">
                    <a16:creationId xmlns:a16="http://schemas.microsoft.com/office/drawing/2014/main" id="{0C0B3541-7ACE-E20A-F4B8-275913C1BDD5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7" name="Rectangle: Top Corners Rounded 72">
                <a:extLst>
                  <a:ext uri="{FF2B5EF4-FFF2-40B4-BE49-F238E27FC236}">
                    <a16:creationId xmlns:a16="http://schemas.microsoft.com/office/drawing/2014/main" id="{C6C01646-8B6E-657C-4854-39EB1B4A5965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8" name="Rectangle: Top Corners Rounded 73">
                <a:extLst>
                  <a:ext uri="{FF2B5EF4-FFF2-40B4-BE49-F238E27FC236}">
                    <a16:creationId xmlns:a16="http://schemas.microsoft.com/office/drawing/2014/main" id="{AB185C89-AD94-E1C7-6A02-62FEA46471F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921A253F-5A1F-44C8-FE26-9851FB495E89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A4226305-104A-0BF5-8BD6-C5DBE225FA64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2" name="Rectangle: Top Corners Rounded 76">
                <a:extLst>
                  <a:ext uri="{FF2B5EF4-FFF2-40B4-BE49-F238E27FC236}">
                    <a16:creationId xmlns:a16="http://schemas.microsoft.com/office/drawing/2014/main" id="{B1C553D7-DF13-9D2C-F8EE-E1887A5973D4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3" name="Rectangle: Top Corners Rounded 77">
                <a:extLst>
                  <a:ext uri="{FF2B5EF4-FFF2-40B4-BE49-F238E27FC236}">
                    <a16:creationId xmlns:a16="http://schemas.microsoft.com/office/drawing/2014/main" id="{F57A6308-5609-D038-7817-D8F816944EBC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4" name="Rectangle: Top Corners Rounded 78">
                <a:extLst>
                  <a:ext uri="{FF2B5EF4-FFF2-40B4-BE49-F238E27FC236}">
                    <a16:creationId xmlns:a16="http://schemas.microsoft.com/office/drawing/2014/main" id="{7AE8B410-CF97-109E-AC73-7EE2E0A3CBC9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79D539B1-633E-3258-46D8-189D057BD239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1D4CA877-08BB-2743-2C91-D772E29BE181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8" name="Rectangle: Top Corners Rounded 81">
                <a:extLst>
                  <a:ext uri="{FF2B5EF4-FFF2-40B4-BE49-F238E27FC236}">
                    <a16:creationId xmlns:a16="http://schemas.microsoft.com/office/drawing/2014/main" id="{388DAA77-D3FE-F8FE-0D0A-C6904438768F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9" name="Rectangle: Top Corners Rounded 82">
                <a:extLst>
                  <a:ext uri="{FF2B5EF4-FFF2-40B4-BE49-F238E27FC236}">
                    <a16:creationId xmlns:a16="http://schemas.microsoft.com/office/drawing/2014/main" id="{7D82C541-F81F-7E02-29B0-6D26AE40838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0" name="Rectangle: Top Corners Rounded 83">
                <a:extLst>
                  <a:ext uri="{FF2B5EF4-FFF2-40B4-BE49-F238E27FC236}">
                    <a16:creationId xmlns:a16="http://schemas.microsoft.com/office/drawing/2014/main" id="{F877950A-A4C0-251B-7352-0C7970A6542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29EA8D5D-939B-B699-5132-D73BAF0FE920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A75FA34F-8591-3BCD-59BB-790571FFBBBC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5" name="Rectangle: Top Corners Rounded 86">
                <a:extLst>
                  <a:ext uri="{FF2B5EF4-FFF2-40B4-BE49-F238E27FC236}">
                    <a16:creationId xmlns:a16="http://schemas.microsoft.com/office/drawing/2014/main" id="{7DDFA530-4D70-7082-0CC8-E44E8EDC0BFF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6" name="Rectangle: Top Corners Rounded 87">
                <a:extLst>
                  <a:ext uri="{FF2B5EF4-FFF2-40B4-BE49-F238E27FC236}">
                    <a16:creationId xmlns:a16="http://schemas.microsoft.com/office/drawing/2014/main" id="{B1A4774C-F438-3577-C784-C78E58127F7A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7FA78F10-C2D3-D61B-80D0-2EC3B738D3EA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80FBCE67-BF54-A8F6-6581-421ECE26470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3" name="Rectangle: Top Corners Rounded 91">
                <a:extLst>
                  <a:ext uri="{FF2B5EF4-FFF2-40B4-BE49-F238E27FC236}">
                    <a16:creationId xmlns:a16="http://schemas.microsoft.com/office/drawing/2014/main" id="{0BD5FDF6-5429-7725-8D8F-DEAF1206276D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E16FC6D-02CF-0369-9BF5-714D19C48255}"/>
              </a:ext>
            </a:extLst>
          </p:cNvPr>
          <p:cNvGrpSpPr/>
          <p:nvPr userDrawn="1"/>
        </p:nvGrpSpPr>
        <p:grpSpPr>
          <a:xfrm>
            <a:off x="79830" y="956034"/>
            <a:ext cx="865658" cy="744149"/>
            <a:chOff x="156589" y="971826"/>
            <a:chExt cx="865658" cy="74414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05F1859-534C-A3B2-1089-FC2963208EAF}"/>
                </a:ext>
              </a:extLst>
            </p:cNvPr>
            <p:cNvGrpSpPr/>
            <p:nvPr userDrawn="1"/>
          </p:nvGrpSpPr>
          <p:grpSpPr>
            <a:xfrm>
              <a:off x="368025" y="971826"/>
              <a:ext cx="500775" cy="483300"/>
              <a:chOff x="182509" y="2709452"/>
              <a:chExt cx="1909033" cy="1842414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4FAF9F7-CFFB-712E-8174-6B08F12753C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226DCCE-7F90-3D2D-7B92-68AB3D71E65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8FE28DF-CD74-E91F-7E90-9A581130751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2C24270A-47E8-90CC-808D-6468B8BA2DF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9" name="Picture 8" descr="A black arrow pointing to a line  AI-generated content may be incorrect.">
              <a:extLst>
                <a:ext uri="{FF2B5EF4-FFF2-40B4-BE49-F238E27FC236}">
                  <a16:creationId xmlns:a16="http://schemas.microsoft.com/office/drawing/2014/main" id="{F1BC72FC-661B-8A27-D566-ACE39CD9C0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93868" y="1318751"/>
              <a:ext cx="428379" cy="397224"/>
            </a:xfrm>
            <a:prstGeom prst="rect">
              <a:avLst/>
            </a:prstGeom>
          </p:spPr>
        </p:pic>
        <p:pic>
          <p:nvPicPr>
            <p:cNvPr id="10" name="Picture 9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89A8F77E-48E5-C692-3290-5C0784924E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rcRect b="18880"/>
            <a:stretch>
              <a:fillRect/>
            </a:stretch>
          </p:blipFill>
          <p:spPr>
            <a:xfrm>
              <a:off x="156589" y="1305725"/>
              <a:ext cx="505729" cy="410250"/>
            </a:xfrm>
            <a:prstGeom prst="rect">
              <a:avLst/>
            </a:prstGeom>
          </p:spPr>
        </p:pic>
      </p:grpSp>
      <p:pic>
        <p:nvPicPr>
          <p:cNvPr id="2" name="Picture 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857185FD-3197-DAEA-211F-4586140FDFE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8880"/>
          <a:stretch>
            <a:fillRect/>
          </a:stretch>
        </p:blipFill>
        <p:spPr>
          <a:xfrm>
            <a:off x="79900" y="1921592"/>
            <a:ext cx="505729" cy="410250"/>
          </a:xfrm>
          <a:prstGeom prst="rect">
            <a:avLst/>
          </a:prstGeom>
        </p:spPr>
      </p:pic>
      <p:pic>
        <p:nvPicPr>
          <p:cNvPr id="3" name="Picture 2" descr="A black arrow pointing to a line  AI-generated content may be incorrect.">
            <a:extLst>
              <a:ext uri="{FF2B5EF4-FFF2-40B4-BE49-F238E27FC236}">
                <a16:creationId xmlns:a16="http://schemas.microsoft.com/office/drawing/2014/main" id="{E4E22923-73F2-85BB-0E14-C1224F23C14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3944" y="3748770"/>
            <a:ext cx="428379" cy="39722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4A8653C-3F9A-E6D1-5387-8F326F19BE14}"/>
              </a:ext>
            </a:extLst>
          </p:cNvPr>
          <p:cNvGrpSpPr/>
          <p:nvPr userDrawn="1"/>
        </p:nvGrpSpPr>
        <p:grpSpPr>
          <a:xfrm>
            <a:off x="89359" y="2684566"/>
            <a:ext cx="500775" cy="483300"/>
            <a:chOff x="182509" y="2709452"/>
            <a:chExt cx="1909033" cy="184241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E4D4E9A-EAB4-AF3B-1D50-3B0BC3C675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36075"/>
            <a:stretch>
              <a:fillRect/>
            </a:stretch>
          </p:blipFill>
          <p:spPr>
            <a:xfrm>
              <a:off x="306750" y="3420521"/>
              <a:ext cx="1691777" cy="113134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38A1E50-058E-AF3E-F086-478E877820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399765" y="2709452"/>
              <a:ext cx="1691777" cy="39722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BC4737-519C-6B37-5079-5B57CEB56E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182509" y="3047811"/>
              <a:ext cx="958202" cy="39722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F6BD36D-B43A-63C8-6538-2A67302326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1086043" y="3047811"/>
              <a:ext cx="958202" cy="397224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A66D92C-0198-E900-4E7E-627045286571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Place, space and scale</a:t>
            </a:r>
          </a:p>
        </p:txBody>
      </p:sp>
      <p:pic>
        <p:nvPicPr>
          <p:cNvPr id="18" name="Picture 17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E0B62B8-2F8F-2437-D5B8-EB0DB1C1B8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40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  <p:bldP spid="183" grpId="0"/>
      <p:bldP spid="184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  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9CE78D3-4D6F-90E5-681F-7AB795A4E326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421044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S2 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ysClr val="windowText" lastClr="000000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E1DAF15-881F-D457-A8BB-5F26B91D1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D893F5CB-E312-B8E4-9D3B-5A16B80FF8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943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4433074-4860-5888-A9EA-F8EC030A0F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20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  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435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  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819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  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277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  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187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  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Google Shape;65;p1">
            <a:extLst>
              <a:ext uri="{FF2B5EF4-FFF2-40B4-BE49-F238E27FC236}">
                <a16:creationId xmlns:a16="http://schemas.microsoft.com/office/drawing/2014/main" id="{70F7B5CA-EE6F-A068-7B72-62F2CA5032EB}"/>
              </a:ext>
            </a:extLst>
          </p:cNvPr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66;p1">
            <a:extLst>
              <a:ext uri="{FF2B5EF4-FFF2-40B4-BE49-F238E27FC236}">
                <a16:creationId xmlns:a16="http://schemas.microsoft.com/office/drawing/2014/main" id="{92AC3C05-52D8-4BF7-9607-8E5F862A74BD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81E7730-02B2-601B-5548-0FC454426F11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22" name="Google Shape;68;p1">
              <a:extLst>
                <a:ext uri="{FF2B5EF4-FFF2-40B4-BE49-F238E27FC236}">
                  <a16:creationId xmlns:a16="http://schemas.microsoft.com/office/drawing/2014/main" id="{445F415D-EB9D-F543-FD24-A3833A868445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69;p1">
              <a:extLst>
                <a:ext uri="{FF2B5EF4-FFF2-40B4-BE49-F238E27FC236}">
                  <a16:creationId xmlns:a16="http://schemas.microsoft.com/office/drawing/2014/main" id="{1860890C-EFCC-F246-1D20-8B910D97C2B9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0;p1">
              <a:extLst>
                <a:ext uri="{FF2B5EF4-FFF2-40B4-BE49-F238E27FC236}">
                  <a16:creationId xmlns:a16="http://schemas.microsoft.com/office/drawing/2014/main" id="{D7B84AE3-2C55-AA2C-02EA-EC11470FB80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1;p1">
              <a:extLst>
                <a:ext uri="{FF2B5EF4-FFF2-40B4-BE49-F238E27FC236}">
                  <a16:creationId xmlns:a16="http://schemas.microsoft.com/office/drawing/2014/main" id="{B84E6DCD-3102-1364-2C6E-BF15B7F0323F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2;p1">
              <a:extLst>
                <a:ext uri="{FF2B5EF4-FFF2-40B4-BE49-F238E27FC236}">
                  <a16:creationId xmlns:a16="http://schemas.microsoft.com/office/drawing/2014/main" id="{EA7A2CE1-6DAD-9D54-6E8E-6D4865CE94CC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73;p1">
              <a:extLst>
                <a:ext uri="{FF2B5EF4-FFF2-40B4-BE49-F238E27FC236}">
                  <a16:creationId xmlns:a16="http://schemas.microsoft.com/office/drawing/2014/main" id="{BADF32B1-6A04-6AD8-A41A-699E8E54EE2E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74;p1">
              <a:extLst>
                <a:ext uri="{FF2B5EF4-FFF2-40B4-BE49-F238E27FC236}">
                  <a16:creationId xmlns:a16="http://schemas.microsoft.com/office/drawing/2014/main" id="{A095AC11-265A-770A-D8AF-0D848BD2664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" name="Google Shape;75;p1">
              <a:extLst>
                <a:ext uri="{FF2B5EF4-FFF2-40B4-BE49-F238E27FC236}">
                  <a16:creationId xmlns:a16="http://schemas.microsoft.com/office/drawing/2014/main" id="{EBDD7BE9-F4A4-D678-8345-17A17384C5E4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76;p1">
              <a:extLst>
                <a:ext uri="{FF2B5EF4-FFF2-40B4-BE49-F238E27FC236}">
                  <a16:creationId xmlns:a16="http://schemas.microsoft.com/office/drawing/2014/main" id="{FE45251F-A4E7-3A6C-7DA6-23A99EC20B77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77;p1">
              <a:extLst>
                <a:ext uri="{FF2B5EF4-FFF2-40B4-BE49-F238E27FC236}">
                  <a16:creationId xmlns:a16="http://schemas.microsoft.com/office/drawing/2014/main" id="{F3C3A71B-DFE3-BD66-3750-D82A37F5DB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78;p1">
              <a:extLst>
                <a:ext uri="{FF2B5EF4-FFF2-40B4-BE49-F238E27FC236}">
                  <a16:creationId xmlns:a16="http://schemas.microsoft.com/office/drawing/2014/main" id="{ED4910A9-AEB3-CF4B-930E-201EDE92EA9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79;p1">
              <a:extLst>
                <a:ext uri="{FF2B5EF4-FFF2-40B4-BE49-F238E27FC236}">
                  <a16:creationId xmlns:a16="http://schemas.microsoft.com/office/drawing/2014/main" id="{9A5D346C-9D40-603B-A8AA-BBB4D48CBDCC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80;p1">
              <a:extLst>
                <a:ext uri="{FF2B5EF4-FFF2-40B4-BE49-F238E27FC236}">
                  <a16:creationId xmlns:a16="http://schemas.microsoft.com/office/drawing/2014/main" id="{A10529B7-8462-D827-FCA9-8A22440D8E3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81;p1">
              <a:extLst>
                <a:ext uri="{FF2B5EF4-FFF2-40B4-BE49-F238E27FC236}">
                  <a16:creationId xmlns:a16="http://schemas.microsoft.com/office/drawing/2014/main" id="{C5EC11F9-9945-DC46-D47F-7E918AC0B2BB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82;p1">
              <a:extLst>
                <a:ext uri="{FF2B5EF4-FFF2-40B4-BE49-F238E27FC236}">
                  <a16:creationId xmlns:a16="http://schemas.microsoft.com/office/drawing/2014/main" id="{6FE8E051-9855-B3B6-DA39-C21CB5ACD7C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" name="Google Shape;83;p1">
            <a:extLst>
              <a:ext uri="{FF2B5EF4-FFF2-40B4-BE49-F238E27FC236}">
                <a16:creationId xmlns:a16="http://schemas.microsoft.com/office/drawing/2014/main" id="{C19B36B6-D372-9387-44C2-C0F388D37227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B3B978E-D37E-23E8-46FB-D4CF990797FD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</p:spTree>
    <p:extLst>
      <p:ext uri="{BB962C8B-B14F-4D97-AF65-F5344CB8AC3E}">
        <p14:creationId xmlns:p14="http://schemas.microsoft.com/office/powerpoint/2010/main" val="3226473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  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Google Shape;65;p1">
            <a:extLst>
              <a:ext uri="{FF2B5EF4-FFF2-40B4-BE49-F238E27FC236}">
                <a16:creationId xmlns:a16="http://schemas.microsoft.com/office/drawing/2014/main" id="{70F7B5CA-EE6F-A068-7B72-62F2CA5032EB}"/>
              </a:ext>
            </a:extLst>
          </p:cNvPr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66;p1">
            <a:extLst>
              <a:ext uri="{FF2B5EF4-FFF2-40B4-BE49-F238E27FC236}">
                <a16:creationId xmlns:a16="http://schemas.microsoft.com/office/drawing/2014/main" id="{92AC3C05-52D8-4BF7-9607-8E5F862A74BD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81E7730-02B2-601B-5548-0FC454426F11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22" name="Google Shape;68;p1">
              <a:extLst>
                <a:ext uri="{FF2B5EF4-FFF2-40B4-BE49-F238E27FC236}">
                  <a16:creationId xmlns:a16="http://schemas.microsoft.com/office/drawing/2014/main" id="{445F415D-EB9D-F543-FD24-A3833A868445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69;p1">
              <a:extLst>
                <a:ext uri="{FF2B5EF4-FFF2-40B4-BE49-F238E27FC236}">
                  <a16:creationId xmlns:a16="http://schemas.microsoft.com/office/drawing/2014/main" id="{1860890C-EFCC-F246-1D20-8B910D97C2B9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0;p1">
              <a:extLst>
                <a:ext uri="{FF2B5EF4-FFF2-40B4-BE49-F238E27FC236}">
                  <a16:creationId xmlns:a16="http://schemas.microsoft.com/office/drawing/2014/main" id="{D7B84AE3-2C55-AA2C-02EA-EC11470FB80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1;p1">
              <a:extLst>
                <a:ext uri="{FF2B5EF4-FFF2-40B4-BE49-F238E27FC236}">
                  <a16:creationId xmlns:a16="http://schemas.microsoft.com/office/drawing/2014/main" id="{B84E6DCD-3102-1364-2C6E-BF15B7F0323F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2;p1">
              <a:extLst>
                <a:ext uri="{FF2B5EF4-FFF2-40B4-BE49-F238E27FC236}">
                  <a16:creationId xmlns:a16="http://schemas.microsoft.com/office/drawing/2014/main" id="{EA7A2CE1-6DAD-9D54-6E8E-6D4865CE94CC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73;p1">
              <a:extLst>
                <a:ext uri="{FF2B5EF4-FFF2-40B4-BE49-F238E27FC236}">
                  <a16:creationId xmlns:a16="http://schemas.microsoft.com/office/drawing/2014/main" id="{BADF32B1-6A04-6AD8-A41A-699E8E54EE2E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74;p1">
              <a:extLst>
                <a:ext uri="{FF2B5EF4-FFF2-40B4-BE49-F238E27FC236}">
                  <a16:creationId xmlns:a16="http://schemas.microsoft.com/office/drawing/2014/main" id="{A095AC11-265A-770A-D8AF-0D848BD2664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" name="Google Shape;75;p1">
              <a:extLst>
                <a:ext uri="{FF2B5EF4-FFF2-40B4-BE49-F238E27FC236}">
                  <a16:creationId xmlns:a16="http://schemas.microsoft.com/office/drawing/2014/main" id="{EBDD7BE9-F4A4-D678-8345-17A17384C5E4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76;p1">
              <a:extLst>
                <a:ext uri="{FF2B5EF4-FFF2-40B4-BE49-F238E27FC236}">
                  <a16:creationId xmlns:a16="http://schemas.microsoft.com/office/drawing/2014/main" id="{FE45251F-A4E7-3A6C-7DA6-23A99EC20B77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77;p1">
              <a:extLst>
                <a:ext uri="{FF2B5EF4-FFF2-40B4-BE49-F238E27FC236}">
                  <a16:creationId xmlns:a16="http://schemas.microsoft.com/office/drawing/2014/main" id="{F3C3A71B-DFE3-BD66-3750-D82A37F5DB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78;p1">
              <a:extLst>
                <a:ext uri="{FF2B5EF4-FFF2-40B4-BE49-F238E27FC236}">
                  <a16:creationId xmlns:a16="http://schemas.microsoft.com/office/drawing/2014/main" id="{ED4910A9-AEB3-CF4B-930E-201EDE92EA9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79;p1">
              <a:extLst>
                <a:ext uri="{FF2B5EF4-FFF2-40B4-BE49-F238E27FC236}">
                  <a16:creationId xmlns:a16="http://schemas.microsoft.com/office/drawing/2014/main" id="{9A5D346C-9D40-603B-A8AA-BBB4D48CBDCC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80;p1">
              <a:extLst>
                <a:ext uri="{FF2B5EF4-FFF2-40B4-BE49-F238E27FC236}">
                  <a16:creationId xmlns:a16="http://schemas.microsoft.com/office/drawing/2014/main" id="{A10529B7-8462-D827-FCA9-8A22440D8E3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81;p1">
              <a:extLst>
                <a:ext uri="{FF2B5EF4-FFF2-40B4-BE49-F238E27FC236}">
                  <a16:creationId xmlns:a16="http://schemas.microsoft.com/office/drawing/2014/main" id="{C5EC11F9-9945-DC46-D47F-7E918AC0B2BB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82;p1">
              <a:extLst>
                <a:ext uri="{FF2B5EF4-FFF2-40B4-BE49-F238E27FC236}">
                  <a16:creationId xmlns:a16="http://schemas.microsoft.com/office/drawing/2014/main" id="{6FE8E051-9855-B3B6-DA39-C21CB5ACD7C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" name="Google Shape;83;p1">
            <a:extLst>
              <a:ext uri="{FF2B5EF4-FFF2-40B4-BE49-F238E27FC236}">
                <a16:creationId xmlns:a16="http://schemas.microsoft.com/office/drawing/2014/main" id="{C19B36B6-D372-9387-44C2-C0F388D37227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B3B978E-D37E-23E8-46FB-D4CF990797FD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A96BDBD-0A8D-C301-4B6D-B2CE4821C0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9682AB36-2705-DE99-3278-5B4C7D6540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2C4081E0-2302-6168-4F67-D9199AFAD8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1623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rgbClr val="FFEEB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14830"/>
            <a:ext cx="1665573" cy="313372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rgbClr val="FFEEB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81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  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36226400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D3180A-16BA-1B9B-F2DE-A96AA7638A11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4" name="Picture 3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3F8B152-2B26-BF10-7707-76FE1E8873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A40E08BF-07F8-6DD3-9818-6449AED1403C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204078596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941CE53D-09C2-DFBF-B564-61A87B1BA2AE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66711A-1353-0809-C865-04C4006D07D4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C30D2AB-4533-A76C-472C-277CB230BDA7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77878E7A-6257-24CE-F404-0501AFE9F1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14BA34B7-7533-1F98-BBDA-544F84971C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FAABFA48-9A78-4EFA-4FBC-0F9FF5FD7D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D0BEDCF0-C236-FFD9-5898-9E1B7DF195C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2E5F1E08-DC0A-324B-6012-90F369773B0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213B4C4E-FF40-3E1F-3E72-C703DDA27A8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48A2AC4-E645-06BE-C41B-D7454F1994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Block Arc 2">
            <a:extLst>
              <a:ext uri="{FF2B5EF4-FFF2-40B4-BE49-F238E27FC236}">
                <a16:creationId xmlns:a16="http://schemas.microsoft.com/office/drawing/2014/main" id="{C3275E21-FCEB-3946-CBBD-E19507AE9E8F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AFEE6BCE-381F-88CF-6F61-595BCE9B8AE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EB38116D-E43D-AC5B-B144-04F021C7656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Block Arc 6">
            <a:extLst>
              <a:ext uri="{FF2B5EF4-FFF2-40B4-BE49-F238E27FC236}">
                <a16:creationId xmlns:a16="http://schemas.microsoft.com/office/drawing/2014/main" id="{C23EF21F-9FF2-9D27-89B4-6DB6FF0846D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07B239F0-3478-0C1A-7DFF-116415B1FD70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D11016F-E7CE-9BBD-A806-58F41B4D3FEE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B81D8F-DF88-9486-FB88-99FCE4353368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23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78D58DF-38F4-5388-13D5-717DFAB573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51791CE-1FE0-7FC3-14DA-B37B07406820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06960DA-3B26-9562-F08B-D031FEC79E40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8" name="Block Arc 97">
                <a:extLst>
                  <a:ext uri="{FF2B5EF4-FFF2-40B4-BE49-F238E27FC236}">
                    <a16:creationId xmlns:a16="http://schemas.microsoft.com/office/drawing/2014/main" id="{19E2E6AF-2C86-027D-77FE-40E7CFB278B4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BB5CE440-D1BF-33CF-6A4B-7BBD31EE9A04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5074D96D-6F05-E8F9-0C9C-9E7DE4D6B1CD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A8621D6C-D30A-AF4B-4657-72DE0EB4EB9D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6178D732-8AF7-7EB6-1252-6991BFD3156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56858E20-9B42-B6D5-72BE-55446B94C54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63C0261C-CBA0-733D-7002-3DF27104F69E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24A0FCA1-A00D-3A4E-840B-BEB90E7CE72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044E7B68-7A97-727D-B7DB-22E4AFF06793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8" name="Curved Right Arrow 107">
                    <a:extLst>
                      <a:ext uri="{FF2B5EF4-FFF2-40B4-BE49-F238E27FC236}">
                        <a16:creationId xmlns:a16="http://schemas.microsoft.com/office/drawing/2014/main" id="{1056A102-2DDA-6E1B-0451-D5F30AC8F093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24BA38C1-EFD4-915C-5CC4-07BFF22E4DF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6C6A7918-2C21-D384-CB36-F939ED82167E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2" name="Block Arc 101">
                <a:extLst>
                  <a:ext uri="{FF2B5EF4-FFF2-40B4-BE49-F238E27FC236}">
                    <a16:creationId xmlns:a16="http://schemas.microsoft.com/office/drawing/2014/main" id="{8828DFC7-A021-AA73-597B-B1C5053E26A3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02F5FFD2-E6D4-D35F-5C1C-1BE3ADFA2299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068C528E-DDC1-4473-9DAA-173BB13C0BED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4C719156-F574-B974-6835-CA04CBE5FCEE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C170842-B5F4-A074-0A81-C23EC4D03D35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4E641499-81C8-1047-616C-04B3FD752B17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CA9F1DDC-EA25-C118-1E9F-3E55CDBDBFE7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476C3250-04F3-A930-32C2-58C2F6FEF07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89DFDFBC-2ECB-CA4A-479B-483FA710193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1C75C27F-BB00-96B0-74E1-3647600B3FEF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68B5C85F-F7FE-E39C-D8F5-01D1C13847A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80E46E6A-3287-EBBA-2ED2-C66187BEE73C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8AF23A9F-78EB-CD67-197E-A4AFA7FF6A8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9006E404-BA53-A589-35CD-6D3B152CCAA4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2" name="Curved Right Arrow 91">
                    <a:extLst>
                      <a:ext uri="{FF2B5EF4-FFF2-40B4-BE49-F238E27FC236}">
                        <a16:creationId xmlns:a16="http://schemas.microsoft.com/office/drawing/2014/main" id="{EC15CCB9-0054-0835-3F23-2941B49AC59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AD7E5DCB-DA90-0867-D4EC-A3C8BFECCB00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9B2D63AE-5BE0-01AB-F6C4-69986625921D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261AC846-8B7C-F692-1B41-C0CF76E8931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A0F70CA7-88B3-C5ED-DCBD-9EAF7FFBA73C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9F879593-DEAC-5870-5DEC-DA7C670101A1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5922FBB7-C333-F930-DECA-46919D2492AD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AAF2BBF-90CE-A8F0-02C3-9E11C8827EB4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6" name="Block Arc 65">
                <a:extLst>
                  <a:ext uri="{FF2B5EF4-FFF2-40B4-BE49-F238E27FC236}">
                    <a16:creationId xmlns:a16="http://schemas.microsoft.com/office/drawing/2014/main" id="{062E1D12-FC4B-1956-F660-B1E7569A1138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FA7CAE68-9037-FCB7-6C92-D1B662965ABE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8223A222-CE21-5D4D-AC25-B0ABC2422A0A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92433A96-3506-F628-55D8-EC5F0A85276A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E206693D-DED9-22B2-10C0-94DFB802CB6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BE857825-2E40-ED9B-0270-EB017F346779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E8D27F75-804A-9491-8520-64F6CE1BECD5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A6B8BEC8-5B1E-4F91-FF3F-53FAB7CF36C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4D3FEC54-D359-5EBD-7426-B27E9663697D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6" name="Curved Right Arrow 75">
                    <a:extLst>
                      <a:ext uri="{FF2B5EF4-FFF2-40B4-BE49-F238E27FC236}">
                        <a16:creationId xmlns:a16="http://schemas.microsoft.com/office/drawing/2014/main" id="{554D1E72-B8DC-8D14-7067-DB1D24593A87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5F2A4A39-0960-4706-C8C0-DF3D3249B15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8B7D7D02-38AE-1FFD-96A5-39D2AB197307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48F60715-7584-39E0-7D5A-9EAF6DF6E355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0F6EE40F-9ABD-2D05-F947-D355078DC30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A31C47EA-38D1-5B06-92E9-6954FF3A0C67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580A3A83-AFFA-6144-D7EB-51B9106F6081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9F1B8BD-7F10-E1AB-9D9C-55B2FDC3829E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BA5A3EF2-6D76-EB5E-96F4-1D841D3F2CC1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38DCB475-4032-7807-6B22-8EC3B63EC592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13BB38F9-09AA-C0D9-5F88-D9F64FAE09F4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720E8469-F1D0-51F5-3790-532259698461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318653F7-45F0-3502-23C7-DC09197A985C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345BED48-6944-33D3-89DC-4B377D27294F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11CC6D29-41FF-76D3-65EB-EEB91E4E239B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59DBA528-9F14-1F0C-55D2-F862699EF5D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1E0EC242-8248-D678-0BCE-8452F2EED805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0" name="Curved Right Arrow 59">
                    <a:extLst>
                      <a:ext uri="{FF2B5EF4-FFF2-40B4-BE49-F238E27FC236}">
                        <a16:creationId xmlns:a16="http://schemas.microsoft.com/office/drawing/2014/main" id="{5AB36E4C-B3AB-955C-3A03-188E74FDE5A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BCE0F75C-1291-8360-AD5C-63D4D55EFF6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10B5659B-8872-2829-78AC-5ED776409731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4" name="Block Arc 53">
                <a:extLst>
                  <a:ext uri="{FF2B5EF4-FFF2-40B4-BE49-F238E27FC236}">
                    <a16:creationId xmlns:a16="http://schemas.microsoft.com/office/drawing/2014/main" id="{98C87A34-8D3A-C669-FF21-A79404D6D388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4D46E662-673F-549B-79E5-F3B98B83B492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A0B840BE-C875-35CB-6542-61656B1183A7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74EDF90E-9A1A-0723-4E95-EBFD068F347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768DB74-5B35-7582-A4C1-66D20D33107A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251BA772-AA21-CA27-D40B-14301C710C49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1805B651-844F-05FD-FBFA-3E6EF5B9997C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3FE302F4-6077-FFEA-9DE6-72151166B351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4339E62F-DEAF-8A4F-4435-C2675DA37B82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B815E8CA-11C6-9E5D-B09E-6B27A3DCB6F0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D66BA1BC-E947-87C6-6699-6FB04AF2BC1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6B01D8A0-49EA-D089-593D-9AD8C893C1B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3CFF030E-8030-5093-0FF7-655B2988724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DB55C770-7B5E-C2A3-E545-60667FA816F1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4" name="Curved Right Arrow 43">
                    <a:extLst>
                      <a:ext uri="{FF2B5EF4-FFF2-40B4-BE49-F238E27FC236}">
                        <a16:creationId xmlns:a16="http://schemas.microsoft.com/office/drawing/2014/main" id="{EB74BCC3-CEC0-7FBC-3ED4-C9E72B79AAB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6FA6EAFE-263C-D74A-8C37-FB9F39AB1BD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477DFB65-E282-DF52-0474-192618EADC0F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0C25866E-FDAC-986D-78A5-9AC23327BAE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C9AE04FA-BADA-5973-A998-6587C6FC1904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0" name="Block Arc 39">
                <a:extLst>
                  <a:ext uri="{FF2B5EF4-FFF2-40B4-BE49-F238E27FC236}">
                    <a16:creationId xmlns:a16="http://schemas.microsoft.com/office/drawing/2014/main" id="{6EF14282-095F-2638-484C-5D45AA9AB74B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04A112B9-B722-6602-F839-8DC7F98111B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E18E4442-86DC-5635-EAE7-32DA6D457352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684FB3A-F3FC-AC6A-9459-0128FA470FC9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78C2C0F-EB3B-8732-A309-876384F6AA1B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BEEACA57-4857-88AB-A700-F9DA91B9BAE2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4F89A62F-D268-FE62-8066-FFB5BCEC6300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27664619-6C78-3B1B-463B-D36B1D462932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</p:spTree>
    <p:extLst>
      <p:ext uri="{BB962C8B-B14F-4D97-AF65-F5344CB8AC3E}">
        <p14:creationId xmlns:p14="http://schemas.microsoft.com/office/powerpoint/2010/main" val="201992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24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A4C266-4F85-3F09-DE59-533D9948FE9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F5E2CE0-2DCE-F613-5427-F8DA852B9D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1151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86A2CA-7706-DE44-CA7D-393232DF743C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 is the study of how people live, use and change places, including towns, cities, jobs, transport and how humans affect the environment.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1F81D1-2DFF-7F3B-FA22-10EA11D395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39278" y="1141596"/>
            <a:ext cx="783960" cy="4411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66B223-D952-E1B4-7E7E-ED9500426968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24516170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23707F62-5BC9-73A8-06FB-B7B94D9CDA14}"/>
              </a:ext>
            </a:extLst>
          </p:cNvPr>
          <p:cNvSpPr txBox="1"/>
          <p:nvPr userDrawn="1"/>
        </p:nvSpPr>
        <p:spPr>
          <a:xfrm>
            <a:off x="209565" y="1716741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 is the study of how people live, use and change places. This includes towns, cities, jobs, transport and how humans affect the environment.</a:t>
            </a: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EEDBCC6-5644-F19A-ADD5-0820C10A8B5F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FFB5B3"/>
          </a:solid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7D343F5F-0310-8BF1-153F-738F244F6B87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824A26F8-2EFF-49EE-5959-CE6CD9FD154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6" name="Rectangle: Top Corners Rounded 71">
                <a:extLst>
                  <a:ext uri="{FF2B5EF4-FFF2-40B4-BE49-F238E27FC236}">
                    <a16:creationId xmlns:a16="http://schemas.microsoft.com/office/drawing/2014/main" id="{0C0B3541-7ACE-E20A-F4B8-275913C1BDD5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7" name="Rectangle: Top Corners Rounded 72">
                <a:extLst>
                  <a:ext uri="{FF2B5EF4-FFF2-40B4-BE49-F238E27FC236}">
                    <a16:creationId xmlns:a16="http://schemas.microsoft.com/office/drawing/2014/main" id="{C6C01646-8B6E-657C-4854-39EB1B4A5965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8" name="Rectangle: Top Corners Rounded 73">
                <a:extLst>
                  <a:ext uri="{FF2B5EF4-FFF2-40B4-BE49-F238E27FC236}">
                    <a16:creationId xmlns:a16="http://schemas.microsoft.com/office/drawing/2014/main" id="{AB185C89-AD94-E1C7-6A02-62FEA46471F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921A253F-5A1F-44C8-FE26-9851FB495E89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A4226305-104A-0BF5-8BD6-C5DBE225FA64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2" name="Rectangle: Top Corners Rounded 76">
                <a:extLst>
                  <a:ext uri="{FF2B5EF4-FFF2-40B4-BE49-F238E27FC236}">
                    <a16:creationId xmlns:a16="http://schemas.microsoft.com/office/drawing/2014/main" id="{B1C553D7-DF13-9D2C-F8EE-E1887A5973D4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3" name="Rectangle: Top Corners Rounded 77">
                <a:extLst>
                  <a:ext uri="{FF2B5EF4-FFF2-40B4-BE49-F238E27FC236}">
                    <a16:creationId xmlns:a16="http://schemas.microsoft.com/office/drawing/2014/main" id="{F57A6308-5609-D038-7817-D8F816944EBC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4" name="Rectangle: Top Corners Rounded 78">
                <a:extLst>
                  <a:ext uri="{FF2B5EF4-FFF2-40B4-BE49-F238E27FC236}">
                    <a16:creationId xmlns:a16="http://schemas.microsoft.com/office/drawing/2014/main" id="{7AE8B410-CF97-109E-AC73-7EE2E0A3CBC9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79D539B1-633E-3258-46D8-189D057BD239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1D4CA877-08BB-2743-2C91-D772E29BE181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8" name="Rectangle: Top Corners Rounded 81">
                <a:extLst>
                  <a:ext uri="{FF2B5EF4-FFF2-40B4-BE49-F238E27FC236}">
                    <a16:creationId xmlns:a16="http://schemas.microsoft.com/office/drawing/2014/main" id="{388DAA77-D3FE-F8FE-0D0A-C6904438768F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9" name="Rectangle: Top Corners Rounded 82">
                <a:extLst>
                  <a:ext uri="{FF2B5EF4-FFF2-40B4-BE49-F238E27FC236}">
                    <a16:creationId xmlns:a16="http://schemas.microsoft.com/office/drawing/2014/main" id="{7D82C541-F81F-7E02-29B0-6D26AE40838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0" name="Rectangle: Top Corners Rounded 83">
                <a:extLst>
                  <a:ext uri="{FF2B5EF4-FFF2-40B4-BE49-F238E27FC236}">
                    <a16:creationId xmlns:a16="http://schemas.microsoft.com/office/drawing/2014/main" id="{F877950A-A4C0-251B-7352-0C7970A6542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29EA8D5D-939B-B699-5132-D73BAF0FE920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A75FA34F-8591-3BCD-59BB-790571FFBBBC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5" name="Rectangle: Top Corners Rounded 86">
                <a:extLst>
                  <a:ext uri="{FF2B5EF4-FFF2-40B4-BE49-F238E27FC236}">
                    <a16:creationId xmlns:a16="http://schemas.microsoft.com/office/drawing/2014/main" id="{7DDFA530-4D70-7082-0CC8-E44E8EDC0BFF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6" name="Rectangle: Top Corners Rounded 87">
                <a:extLst>
                  <a:ext uri="{FF2B5EF4-FFF2-40B4-BE49-F238E27FC236}">
                    <a16:creationId xmlns:a16="http://schemas.microsoft.com/office/drawing/2014/main" id="{B1A4774C-F438-3577-C784-C78E58127F7A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7FA78F10-C2D3-D61B-80D0-2EC3B738D3EA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80FBCE67-BF54-A8F6-6581-421ECE26470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3" name="Rectangle: Top Corners Rounded 91">
                <a:extLst>
                  <a:ext uri="{FF2B5EF4-FFF2-40B4-BE49-F238E27FC236}">
                    <a16:creationId xmlns:a16="http://schemas.microsoft.com/office/drawing/2014/main" id="{0BD5FDF6-5429-7725-8D8F-DEAF1206276D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2FF8227-CDB1-6860-CD50-9A17DBC304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72090" y="939862"/>
            <a:ext cx="1296694" cy="72961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16FC126-FD82-1317-DB8C-FB74C9A9AB37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6202A21-3D36-A70A-AAD4-4B6336CB56EA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817E33F-3504-0BE9-05B4-F6A810AE7E60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FEA21353-D433-3ADC-D22F-8EFCF7E5CFAF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8" name="Rectangle: Rounded Corners 12">
                    <a:extLst>
                      <a:ext uri="{FF2B5EF4-FFF2-40B4-BE49-F238E27FC236}">
                        <a16:creationId xmlns:a16="http://schemas.microsoft.com/office/drawing/2014/main" id="{65ABC842-FD91-5AFC-D204-38D2B5AC5F9A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" name="Rectangle: Rounded Corners 4">
                    <a:extLst>
                      <a:ext uri="{FF2B5EF4-FFF2-40B4-BE49-F238E27FC236}">
                        <a16:creationId xmlns:a16="http://schemas.microsoft.com/office/drawing/2014/main" id="{79515D7F-4CC7-9E23-554D-78BD4437C718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6FB2032A-C69A-FE48-D1A0-E11713D3F3F9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6" name="Picture 15">
                    <a:extLst>
                      <a:ext uri="{FF2B5EF4-FFF2-40B4-BE49-F238E27FC236}">
                        <a16:creationId xmlns:a16="http://schemas.microsoft.com/office/drawing/2014/main" id="{9CEFD77B-B429-872B-E798-DC8809BAE5B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7698F628-B378-9A7A-F75F-60658D6D9E96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984EDD-7012-A5DD-2FB0-201287FB3372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C1FC94-CD87-854D-1AA9-9227C2E7A9ED}"/>
                </a:ext>
              </a:extLst>
            </p:cNvPr>
            <p:cNvSpPr txBox="1"/>
            <p:nvPr/>
          </p:nvSpPr>
          <p:spPr>
            <a:xfrm>
              <a:off x="6767704" y="3825035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describe how people use the land in my region and the Mediterranean. This includes jobs, leisure and transport links. 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95D963C-B4B9-DC5B-1915-5D891F8D0C36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70D541C-C382-33D0-17B5-1EDC0378E0A6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EA6B126-1276-28BA-A2F2-B7A2A99AE82D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1F10E2EA-B570-721A-9AC0-C18A6558E74E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29" name="Rectangle: Rounded Corners 9">
                    <a:extLst>
                      <a:ext uri="{FF2B5EF4-FFF2-40B4-BE49-F238E27FC236}">
                        <a16:creationId xmlns:a16="http://schemas.microsoft.com/office/drawing/2014/main" id="{F0F31D55-95CE-160E-BF9F-A1EC65E9BE22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" name="Rectangle: Rounded Corners 4">
                    <a:extLst>
                      <a:ext uri="{FF2B5EF4-FFF2-40B4-BE49-F238E27FC236}">
                        <a16:creationId xmlns:a16="http://schemas.microsoft.com/office/drawing/2014/main" id="{D4ED4B8C-C6EA-703B-DED8-F1F70EFDE90A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508DCDFE-911A-7803-C8A2-4CED6585D52F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27" name="Picture 26">
                    <a:extLst>
                      <a:ext uri="{FF2B5EF4-FFF2-40B4-BE49-F238E27FC236}">
                        <a16:creationId xmlns:a16="http://schemas.microsoft.com/office/drawing/2014/main" id="{0FCFA404-8758-5D13-7BEE-E9B4B40CFE5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9A4B8FF0-A4B3-AEA7-8625-B29289362064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6DC5647-75BD-CFBC-F401-547281551DE5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2ADC3D-D3EF-6E50-8D54-BDD70E5F9E72}"/>
                </a:ext>
              </a:extLst>
            </p:cNvPr>
            <p:cNvSpPr txBox="1"/>
            <p:nvPr/>
          </p:nvSpPr>
          <p:spPr>
            <a:xfrm>
              <a:off x="6824631" y="4899996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explain similarities and differences between human features in my local area and Guizhou in South West China.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E0694D1-9829-8011-10D7-64CBFD35DEBF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A5ACA5C-8369-742B-2646-B953ADB8ECA3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FA7F2370-CBF9-A1C5-107F-8F1ACCB9FF9C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36" name="Rectangle: Rounded Corners 3">
                  <a:extLst>
                    <a:ext uri="{FF2B5EF4-FFF2-40B4-BE49-F238E27FC236}">
                      <a16:creationId xmlns:a16="http://schemas.microsoft.com/office/drawing/2014/main" id="{B78330E8-6785-F487-6B0B-8EB483580120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CC2A4B0A-9D16-FFC3-182A-97C980E9020F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38" name="Picture 37">
                    <a:extLst>
                      <a:ext uri="{FF2B5EF4-FFF2-40B4-BE49-F238E27FC236}">
                        <a16:creationId xmlns:a16="http://schemas.microsoft.com/office/drawing/2014/main" id="{D87461E1-7338-A9F5-15FF-DF1BD48C42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426D8057-EEBF-4542-ED22-17CC3E3D1AA6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B339A26-54D6-A3BF-E316-573BDA5305BF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F0E2E54-86B6-EC2A-E811-C38B40137A53}"/>
                </a:ext>
              </a:extLst>
            </p:cNvPr>
            <p:cNvSpPr txBox="1"/>
            <p:nvPr/>
          </p:nvSpPr>
          <p:spPr>
            <a:xfrm>
              <a:off x="6824631" y="5864284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describe my home, my school and the area where I live. I can name different human features and jobs in my local area. 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7B63172-9799-EF95-5E76-1C161E1F42FA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E1F87DA-AD0E-441D-B862-D4F21F8BF72F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8AAB5D67-279F-260A-29B3-4CEAFF9A6F32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60" name="Rectangle: Rounded Corners 15">
                  <a:extLst>
                    <a:ext uri="{FF2B5EF4-FFF2-40B4-BE49-F238E27FC236}">
                      <a16:creationId xmlns:a16="http://schemas.microsoft.com/office/drawing/2014/main" id="{A1F9D0EE-7678-1BFD-D27E-C5392E89BA37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1C475E96-233D-17E8-9592-DDAC8B1B0471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58" name="Picture 57">
                    <a:extLst>
                      <a:ext uri="{FF2B5EF4-FFF2-40B4-BE49-F238E27FC236}">
                        <a16:creationId xmlns:a16="http://schemas.microsoft.com/office/drawing/2014/main" id="{F2F19F78-0E80-8C67-5132-AA17A1BF1C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A9E7F21B-ED07-8174-4C9F-4C380FBED5AD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4ED4395-13B2-5B6A-F285-0D2D2BAA096D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F1C3216-1E2F-1047-38CA-71DB21BB6542}"/>
                </a:ext>
              </a:extLst>
            </p:cNvPr>
            <p:cNvSpPr txBox="1"/>
            <p:nvPr/>
          </p:nvSpPr>
          <p:spPr>
            <a:xfrm>
              <a:off x="6824631" y="2924121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compare and contrast different land use patterns in the UK and South America. 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8709356-0806-8FCD-FA4C-347A007A245C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4F1D520-8D84-CAD1-9F31-5D33AE989C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68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676B5987-E34B-3374-2D16-1118493B96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D2AC8D-5B45-FBC6-ED64-5FA76590AD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BF02F0-7222-DE82-65FB-CFBE9801A4CE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2975321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S2 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ysClr val="windowText" lastClr="000000"/>
                </a:solidFill>
                <a:latin typeface="Twinkl Cursive Looped" panose="02000000000000000000" pitchFamily="2" charset="77"/>
              </a:rPr>
              <a:t>How will I know when I’m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E1DAF15-881F-D457-A8BB-5F26B91D1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E1FA7D91-B467-DE06-BAEA-1D4513FF48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5302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BB1EB2E-3AEE-0F1F-1115-2ACC63E0D5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3710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  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681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  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22284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563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613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  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3097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80870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60764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  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8347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48E775-7E5B-D61D-6C7A-30665AFB9D0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258308B-A5EF-27F7-ACFA-C48919113C2E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F2CC941E-5515-0566-9740-AC813C96565F}"/>
              </a:ext>
            </a:extLst>
          </p:cNvPr>
          <p:cNvPicPr preferRelativeResize="0"/>
          <p:nvPr userDrawn="1"/>
        </p:nvPicPr>
        <p:blipFill rotWithShape="1">
          <a:blip r:embed="rId10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CB936BF-88E7-1C75-F07B-FF9D8E9A422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615331AA-E1A6-315E-7ACD-8CCF5F58E0B7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1876378-D1AE-3FBA-F022-D41AC4C75EA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406248-432F-AD3A-3B25-031A3B2B77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2D527684-E785-DE6C-1343-3D4F678F4788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3F0CC92C-123A-5DED-71E0-FF2703B6F79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EDA4AD19-39FB-BC92-8D73-078BEB371F0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8EC4A9D8-318D-C609-5887-AFF178B8EFA4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C0DE7081-898E-C258-45FE-DBF29E383747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BFD8662A-3574-1C8B-83F8-D213AF12C157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4118246B-2B6E-01DA-756F-68150ED0A1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7E8ED48D-C345-5FDF-98D4-78681CE9098B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2B162815-248D-79EB-378A-75C57DEB4389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0EF27A-5612-6D8F-4B36-77EDD95A733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D748184E-5BC6-2CB4-B78F-B871890AEF9A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72380410-F1D8-D35D-9412-59CAE1756FF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F07F817B-115F-D872-2379-D5FBC6B36666}"/>
              </a:ext>
            </a:extLst>
          </p:cNvPr>
          <p:cNvPicPr preferRelativeResize="0"/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9A3D85A-1113-B057-2F54-C699154532F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</p:spTree>
    <p:extLst>
      <p:ext uri="{BB962C8B-B14F-4D97-AF65-F5344CB8AC3E}">
        <p14:creationId xmlns:p14="http://schemas.microsoft.com/office/powerpoint/2010/main" val="34804199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48E775-7E5B-D61D-6C7A-30665AFB9D0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258308B-A5EF-27F7-ACFA-C48919113C2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F2CC941E-5515-0566-9740-AC813C96565F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CB936BF-88E7-1C75-F07B-FF9D8E9A422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615331AA-E1A6-315E-7ACD-8CCF5F58E0B7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1876378-D1AE-3FBA-F022-D41AC4C75EA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406248-432F-AD3A-3B25-031A3B2B77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2D527684-E785-DE6C-1343-3D4F678F4788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3F0CC92C-123A-5DED-71E0-FF2703B6F79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EDA4AD19-39FB-BC92-8D73-078BEB371F0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8EC4A9D8-318D-C609-5887-AFF178B8EFA4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C0DE7081-898E-C258-45FE-DBF29E383747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BFD8662A-3574-1C8B-83F8-D213AF12C157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4118246B-2B6E-01DA-756F-68150ED0A1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7E8ED48D-C345-5FDF-98D4-78681CE9098B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2B162815-248D-79EB-378A-75C57DEB4389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0EF27A-5612-6D8F-4B36-77EDD95A733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D748184E-5BC6-2CB4-B78F-B871890AEF9A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72380410-F1D8-D35D-9412-59CAE1756FF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F07F817B-115F-D872-2379-D5FBC6B36666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9A3D85A-1113-B057-2F54-C699154532F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1C6021-E34C-20CE-40D1-F8E01C7FE8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56FD54D-6C8A-AFC9-56C1-4C1712A526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C198537-C7C3-0133-D001-8D777FBB27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783822F-1EEA-F096-6671-4866AC36F7D8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862739-FA4B-EEA3-CD2F-BFCE5A87560E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72E8A4-31C5-DBAA-944F-F2DD42A24AB7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2671F131-8DA2-36F0-6311-BCD322217C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7EDB6FC2-B0B6-F2D4-105B-D5AACC9F5A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BA938BB2-D8F5-EFAF-82D6-E53B74F00C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5872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45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14830"/>
            <a:ext cx="1665573" cy="313372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rgbClr val="FCE4D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714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  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37421626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0D5788-D6F3-1EF3-52FE-3A9B7F2F7A8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21F989F-E8F9-972B-C8C1-36FAA615DC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40DC4D0-7F7F-C129-518C-69F0172A7BB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832470467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D5622F02-0A76-0D9D-A336-6448DB731649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429841-8EEF-7450-D4DA-EB5A4CFB60C7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6B0EBA-659A-9CF9-9A5E-9ED25D444BB7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206E88E3-8214-ED86-2067-2CF76369AE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3709136C-B799-DAFB-3508-3089ABA041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561E6138-EE33-5EA7-95EC-CAD4864566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32946585-566C-C88C-3F07-2EF0D4BE025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9B507417-8285-FFD4-A97B-D64C6B84287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DEF2E511-C50D-E316-407D-1999B51F481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70EF334-2ECA-E645-B345-A6BB56E7A7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Block Arc 1">
            <a:extLst>
              <a:ext uri="{FF2B5EF4-FFF2-40B4-BE49-F238E27FC236}">
                <a16:creationId xmlns:a16="http://schemas.microsoft.com/office/drawing/2014/main" id="{0F51EE5E-9D96-6377-7AED-A342AC12815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D03FAE61-7929-B3AC-6CF6-32CF93C9ABFE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C689AEDB-A518-F678-F216-5EF82E51A1D4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B1424620-BD5D-E330-9E7D-766AFA8443CB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C9EE6365-EC18-FB26-5239-DFB00ADBECE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F3199C1-3AAC-B13A-714D-B458D416B742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2A4B2C-0E02-B6C9-33CB-72689080A10B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2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6BFE418-756D-B838-B836-1C17A20E33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D8A1CB3-B3B3-5E8D-BFC4-76E8E7000697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796864E-D121-760D-A632-4F99275809A6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8" name="Block Arc 97">
                <a:extLst>
                  <a:ext uri="{FF2B5EF4-FFF2-40B4-BE49-F238E27FC236}">
                    <a16:creationId xmlns:a16="http://schemas.microsoft.com/office/drawing/2014/main" id="{8AECB691-077B-3FA4-C5B1-F494A5A4B795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48503CD1-38C3-F36F-F16F-FCCA92E03574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18E2E257-B50B-66EA-C630-37472B8475A1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CDF2B60D-A1EF-D223-89E1-97E2402534D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1A391B98-7CBF-A005-06BA-5AA445060D87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1BFA9C14-25C0-43FE-56F6-0F692A333BBE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E4B570B4-9762-6C09-62AB-0AFD675C94D0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EB93CAC3-002D-C035-1C6B-0B908ECF601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05BB272E-53FD-5428-95AB-3F843787DAB9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8" name="Curved Right Arrow 107">
                    <a:extLst>
                      <a:ext uri="{FF2B5EF4-FFF2-40B4-BE49-F238E27FC236}">
                        <a16:creationId xmlns:a16="http://schemas.microsoft.com/office/drawing/2014/main" id="{E6D3D01C-824F-FDFF-AE13-673FC71C345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12FF4A7E-FB7F-E153-7CD0-B49BB4D4400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B5E4BC4C-43F3-89F2-A49B-4D81B08CEAE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2" name="Block Arc 101">
                <a:extLst>
                  <a:ext uri="{FF2B5EF4-FFF2-40B4-BE49-F238E27FC236}">
                    <a16:creationId xmlns:a16="http://schemas.microsoft.com/office/drawing/2014/main" id="{31D5E86E-CA23-B468-7006-87762C5E2195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89C3DC5E-43D2-5D9F-E420-95C65E543A86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4123B444-2A36-6505-F15C-370B7E885C57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88D74EA2-F281-B45B-446A-29D9FAE959F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F6C9A15-03F6-D320-BA53-C345A9DD0654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6C93855F-14C2-1EE0-1E5B-8B0C07F79FD7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0564580F-B1CB-CC13-8334-C4DCD13DD3B0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8DA7B546-DFAB-E72E-80F8-47A4DCB33030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5BE492A8-8B0F-EBDF-DF2D-A89C3981B1C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AA5ACEB5-0609-0F2C-3A5C-57CDD29818C3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BD0B8E33-45C5-408C-DE89-3E76C0145D7E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9FD00B0C-DC1F-187F-3E66-6BE5079DD1A4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3A3A5818-0C20-FA92-9260-62B9CC32800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CEEFA341-493F-09E0-1173-D275D9AE23AA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2" name="Curved Right Arrow 91">
                    <a:extLst>
                      <a:ext uri="{FF2B5EF4-FFF2-40B4-BE49-F238E27FC236}">
                        <a16:creationId xmlns:a16="http://schemas.microsoft.com/office/drawing/2014/main" id="{F9079747-78FD-77C9-F596-E424F0620017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CC264D0B-A62D-1EF1-7857-8531432CAE23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DCB75A3D-251E-B47C-C41E-C191150ECD99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4C7B514F-AE9B-F50F-996B-90DA327DD2F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EA5E121D-2ED7-57DA-DAE4-21FB0BBF4BDF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38DE2AE4-D7CF-CFCA-9295-0004D7C6F5AF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59C7B0A4-0742-5609-5C82-ED68C9E0E5BD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C183EF3-D455-DCF1-9335-242571A6764B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6" name="Block Arc 65">
                <a:extLst>
                  <a:ext uri="{FF2B5EF4-FFF2-40B4-BE49-F238E27FC236}">
                    <a16:creationId xmlns:a16="http://schemas.microsoft.com/office/drawing/2014/main" id="{C217F4A7-F72A-9879-C36B-A1DA8C34D8EA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ECA2C6C5-CCA4-08A3-6BEB-1555A98DC7D2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AB37D42E-4FC2-EE49-D88A-234235D154EF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2FF6CB3F-C17C-6EDA-EA4D-9DE1476423A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4B3CAE91-4184-06C8-F0B2-96E5FB497BE0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924FAA4A-1DDB-B72A-7BC0-20ABE8B8216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571B54EC-8E89-D1EF-1805-93840BBF2FC0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928FF976-CB79-D57E-37D3-73CB8B09AB6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FA47923F-BBEB-0238-9891-24085D8CF89F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6" name="Curved Right Arrow 75">
                    <a:extLst>
                      <a:ext uri="{FF2B5EF4-FFF2-40B4-BE49-F238E27FC236}">
                        <a16:creationId xmlns:a16="http://schemas.microsoft.com/office/drawing/2014/main" id="{2667CE29-0C9F-2AB9-2A60-EC12F6457A9A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6DD59758-B2B7-CA19-DC0A-61CA897DB5F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79C78309-E4EA-E8D4-B357-7E3A67933D63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3C62EAF6-A862-612B-C498-A7826F63DBA1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3C3157BB-6CE3-39FC-96E3-8985FC63085C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CEEB70F4-6602-96E8-2E53-73CAB4292C12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3E41C02F-114B-4F16-DD1D-707DEA50C8A5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F596A70-92A1-2EFC-88AE-A35E80B5D906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C74448D0-D736-7050-742E-54380E1E2F49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7C0554FE-45E1-039E-EB88-C0D9B4E490C5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6D9A027A-1772-9976-3861-8FCAB9919B1E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D375B6E2-3335-0B17-D5AB-F318740C024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890F2705-3804-52B8-B9C8-24B59F62F4F1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35E72163-BB0B-F7BC-DC5C-775F3B1B7F55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32B3A1C3-78E3-D201-CD88-4DF2158DFBE6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C2A2160D-79F4-61B8-A787-DDA43B0F7282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C18E4770-C62F-27B6-F160-27041C7C9E5C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0" name="Curved Right Arrow 59">
                    <a:extLst>
                      <a:ext uri="{FF2B5EF4-FFF2-40B4-BE49-F238E27FC236}">
                        <a16:creationId xmlns:a16="http://schemas.microsoft.com/office/drawing/2014/main" id="{178C0ADD-C366-4D18-C6B8-674112B718C1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7F41EF1F-9E95-8570-FE09-D87BF1DE7350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9B8D4519-0E5D-E113-C869-B04FC3B94997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4" name="Block Arc 53">
                <a:extLst>
                  <a:ext uri="{FF2B5EF4-FFF2-40B4-BE49-F238E27FC236}">
                    <a16:creationId xmlns:a16="http://schemas.microsoft.com/office/drawing/2014/main" id="{18B76D7A-ED0D-974D-C7B6-DF9C04854CC1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D01748A2-A701-AFE4-B794-485E4EEFEC0B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9A65E1D8-9732-AEDF-572C-480EF145CDFF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A73370D0-B87E-FA79-0664-EB7C531BB957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81A54F7-B6F0-53C2-011C-B23C51B7B7C2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4E5A45AE-4D8B-4A81-D3CF-DC9A365257FA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66CB90F3-FA57-E1C8-212D-8C0CDB6E4EAB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9744E677-8921-387D-14FD-C219F0CD049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6BC00184-C8AB-0213-097B-0C881196B315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A37D4CFA-F8E3-9D1F-86FA-74484453B411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6F5712B0-380A-204A-B649-394B0312D14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00A79808-134F-6B80-993F-D50EEB3971E4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5C7A3783-CB8E-2E83-D695-F1643CFDAD6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7B3FAF48-4BAA-A58D-B654-D57D156D5A1B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4" name="Curved Right Arrow 43">
                    <a:extLst>
                      <a:ext uri="{FF2B5EF4-FFF2-40B4-BE49-F238E27FC236}">
                        <a16:creationId xmlns:a16="http://schemas.microsoft.com/office/drawing/2014/main" id="{A4CEBF0E-8BFB-9AF1-F1FC-C3900BC08C97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1AE4C85E-921D-CBEC-F034-9CCA4CFF88A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BCB465E8-281C-F422-6FFE-D272EAEA6E43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7EE8FD02-66C8-DE51-01BD-4F0AEFD478BD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6579A704-1A70-6063-CF97-53D272D13290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0" name="Block Arc 39">
                <a:extLst>
                  <a:ext uri="{FF2B5EF4-FFF2-40B4-BE49-F238E27FC236}">
                    <a16:creationId xmlns:a16="http://schemas.microsoft.com/office/drawing/2014/main" id="{CEB989CD-231F-02F6-CC64-A025E22828BA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16DCA297-438F-51C4-7DCE-98D81001C992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589D9C6-522E-655E-F69F-7F68BA3F9333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3D09668D-62B7-E404-9599-BF61879B86DD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203991A6-1118-399B-F345-0421EB64FD75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C66660D-829B-5AFE-C514-7D3A89C2A499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614A1144-922B-6BB7-497A-81BBF7A94FB0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01CDB80E-BE6E-B498-4C54-4BC9526BBFC4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</p:spTree>
    <p:extLst>
      <p:ext uri="{BB962C8B-B14F-4D97-AF65-F5344CB8AC3E}">
        <p14:creationId xmlns:p14="http://schemas.microsoft.com/office/powerpoint/2010/main" val="338728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21" grpId="0" animBg="1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A18B94-3BC6-2B80-8733-0D19E7534BF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933B3F1-5FED-3378-CB38-EAC98CD50E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6948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208491-7D4F-DF12-CFE1-84A861DF3329}"/>
              </a:ext>
            </a:extLst>
          </p:cNvPr>
          <p:cNvSpPr txBox="1"/>
          <p:nvPr userDrawn="1"/>
        </p:nvSpPr>
        <p:spPr>
          <a:xfrm>
            <a:off x="923238" y="1014230"/>
            <a:ext cx="28601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Culture is the ideas, customs, behaviours and way of life of a group of people.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11" name="Picture 10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50AABF0A-7E21-F779-B0D9-F8EF959FAB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259"/>
          <a:stretch>
            <a:fillRect/>
          </a:stretch>
        </p:blipFill>
        <p:spPr>
          <a:xfrm>
            <a:off x="96080" y="975198"/>
            <a:ext cx="907028" cy="7776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625CF3-DBA2-15E8-2E8D-C0F15A3016AA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5394588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4DA16B8-0D53-26E4-13D0-85D328DA6C9D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chemeClr val="tx2">
              <a:lumMod val="25000"/>
              <a:lumOff val="75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5CC82D9-AC82-7D2D-52E8-760A3E5955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1198173-860F-0935-2EEC-F634E844497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5" name="Rectangle: Top Corners Rounded 71">
                <a:extLst>
                  <a:ext uri="{FF2B5EF4-FFF2-40B4-BE49-F238E27FC236}">
                    <a16:creationId xmlns:a16="http://schemas.microsoft.com/office/drawing/2014/main" id="{4180F89A-13CE-C870-2BED-3882A448102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72">
                <a:extLst>
                  <a:ext uri="{FF2B5EF4-FFF2-40B4-BE49-F238E27FC236}">
                    <a16:creationId xmlns:a16="http://schemas.microsoft.com/office/drawing/2014/main" id="{7A717861-E11F-FFD5-B57F-A446D7E6E2A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7" name="Rectangle: Top Corners Rounded 73">
                <a:extLst>
                  <a:ext uri="{FF2B5EF4-FFF2-40B4-BE49-F238E27FC236}">
                    <a16:creationId xmlns:a16="http://schemas.microsoft.com/office/drawing/2014/main" id="{89C49B47-0AA7-4D4D-D90B-398040F6F956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42C6130-44AD-6318-D2BE-D6D0819BF12A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F4CF979-CAEC-3BC2-8DC3-0259E87FD5BA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76">
                <a:extLst>
                  <a:ext uri="{FF2B5EF4-FFF2-40B4-BE49-F238E27FC236}">
                    <a16:creationId xmlns:a16="http://schemas.microsoft.com/office/drawing/2014/main" id="{503F8540-AC01-3468-1A7F-FCF10E23048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77">
                <a:extLst>
                  <a:ext uri="{FF2B5EF4-FFF2-40B4-BE49-F238E27FC236}">
                    <a16:creationId xmlns:a16="http://schemas.microsoft.com/office/drawing/2014/main" id="{95657FBD-BAC0-6B7E-A1D1-E236D957E4EF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3" name="Rectangle: Top Corners Rounded 78">
                <a:extLst>
                  <a:ext uri="{FF2B5EF4-FFF2-40B4-BE49-F238E27FC236}">
                    <a16:creationId xmlns:a16="http://schemas.microsoft.com/office/drawing/2014/main" id="{BCA5C02A-FF91-55DD-668C-41F415D6B560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EDF64CE-B085-7386-F376-D4BD9F3A2154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D85CE1F-B891-17A6-8BE1-E4B6E8FD3110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7" name="Rectangle: Top Corners Rounded 81">
                <a:extLst>
                  <a:ext uri="{FF2B5EF4-FFF2-40B4-BE49-F238E27FC236}">
                    <a16:creationId xmlns:a16="http://schemas.microsoft.com/office/drawing/2014/main" id="{25724C3D-76C1-2069-9E42-AEB53814A0A9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8" name="Rectangle: Top Corners Rounded 82">
                <a:extLst>
                  <a:ext uri="{FF2B5EF4-FFF2-40B4-BE49-F238E27FC236}">
                    <a16:creationId xmlns:a16="http://schemas.microsoft.com/office/drawing/2014/main" id="{C6707F1F-2185-DD9E-D15E-7035417EFB88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" name="Rectangle: Top Corners Rounded 83">
                <a:extLst>
                  <a:ext uri="{FF2B5EF4-FFF2-40B4-BE49-F238E27FC236}">
                    <a16:creationId xmlns:a16="http://schemas.microsoft.com/office/drawing/2014/main" id="{F06399A0-D714-31F2-3B90-BC870E009E4A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0DF3EF4-5491-C1F1-71EC-5CDBDA1D848B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EA6C0F8-1BD9-DEBD-0E39-08874D9803CB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4" name="Rectangle: Top Corners Rounded 86">
                <a:extLst>
                  <a:ext uri="{FF2B5EF4-FFF2-40B4-BE49-F238E27FC236}">
                    <a16:creationId xmlns:a16="http://schemas.microsoft.com/office/drawing/2014/main" id="{08D82B7D-23AE-CE8E-01F0-51A516DB2383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5" name="Rectangle: Top Corners Rounded 87">
                <a:extLst>
                  <a:ext uri="{FF2B5EF4-FFF2-40B4-BE49-F238E27FC236}">
                    <a16:creationId xmlns:a16="http://schemas.microsoft.com/office/drawing/2014/main" id="{120F725D-181E-DDB7-E85B-2396573E5B7D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3336102-BCE0-17B6-24BD-B59E7D678762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EF7DE92-7163-24AE-760B-6FAE943FAB3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2" name="Rectangle: Top Corners Rounded 91">
                <a:extLst>
                  <a:ext uri="{FF2B5EF4-FFF2-40B4-BE49-F238E27FC236}">
                    <a16:creationId xmlns:a16="http://schemas.microsoft.com/office/drawing/2014/main" id="{D008C889-CDBA-F9BF-BBCE-D55D02365D1F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C8BF6DC9-4879-BFDE-6EAD-2048D1CB9783}"/>
              </a:ext>
            </a:extLst>
          </p:cNvPr>
          <p:cNvSpPr txBox="1"/>
          <p:nvPr userDrawn="1"/>
        </p:nvSpPr>
        <p:spPr>
          <a:xfrm>
            <a:off x="105741" y="1697448"/>
            <a:ext cx="32055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Culture is the ideas, customs, behaviours and way of life of a group of people.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9AF734A-10FE-70CD-AF99-9AF7547E84EC}"/>
              </a:ext>
            </a:extLst>
          </p:cNvPr>
          <p:cNvSpPr txBox="1"/>
          <p:nvPr userDrawn="1"/>
        </p:nvSpPr>
        <p:spPr>
          <a:xfrm>
            <a:off x="100582" y="2536175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We can make links between the physical and human geography of a place and how this affects the culture of the people living there.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98" name="Picture 9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47240A49-8CEB-0760-E2CE-D638C0D3B0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E2A5BD02-2ABD-339B-D4FE-C954EF27AA2D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1C54AB1-890B-8155-8020-C83CAD4D534D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35AC154A-7405-B3CB-1FF5-D12C183AE710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00" name="Group 99">
                  <a:extLst>
                    <a:ext uri="{FF2B5EF4-FFF2-40B4-BE49-F238E27FC236}">
                      <a16:creationId xmlns:a16="http://schemas.microsoft.com/office/drawing/2014/main" id="{A440A67D-62E4-3B3F-2150-E1CC98870307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04" name="Rectangle: Rounded Corners 12">
                    <a:extLst>
                      <a:ext uri="{FF2B5EF4-FFF2-40B4-BE49-F238E27FC236}">
                        <a16:creationId xmlns:a16="http://schemas.microsoft.com/office/drawing/2014/main" id="{9D734C61-CAA5-618C-A66F-EAF3892E6480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5" name="Rectangle: Rounded Corners 4">
                    <a:extLst>
                      <a:ext uri="{FF2B5EF4-FFF2-40B4-BE49-F238E27FC236}">
                        <a16:creationId xmlns:a16="http://schemas.microsoft.com/office/drawing/2014/main" id="{3386500E-1CE7-B8C3-BF6C-830B34E6D25F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6C81FABF-2A4B-46AA-2AF7-82EC10906F8D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02" name="Picture 101">
                    <a:extLst>
                      <a:ext uri="{FF2B5EF4-FFF2-40B4-BE49-F238E27FC236}">
                        <a16:creationId xmlns:a16="http://schemas.microsoft.com/office/drawing/2014/main" id="{FBFF1364-3FEE-EF67-2907-211411F8BA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5FB7DB65-D848-5490-073E-D52A9A65C7F2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B6C111E-44F8-BE02-E3A1-4593968F2369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2043D60-F0CC-30DD-8067-C1FD931F6A76}"/>
                </a:ext>
              </a:extLst>
            </p:cNvPr>
            <p:cNvSpPr txBox="1"/>
            <p:nvPr/>
          </p:nvSpPr>
          <p:spPr>
            <a:xfrm>
              <a:off x="6767704" y="3895375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make links between the physical geography, human geography and culture in the Mediterranean. 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C4178A9-F41E-222F-246F-159870BAB92F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1CD0691E-F0BE-2A65-2D56-3FE4A5981DE7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C64B9DD4-75BA-5FBA-C0B5-E7E621A5AFD6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11" name="Group 110">
                  <a:extLst>
                    <a:ext uri="{FF2B5EF4-FFF2-40B4-BE49-F238E27FC236}">
                      <a16:creationId xmlns:a16="http://schemas.microsoft.com/office/drawing/2014/main" id="{A21F9263-BABA-FD45-12F5-4D203291E992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5" name="Rectangle: Rounded Corners 9">
                    <a:extLst>
                      <a:ext uri="{FF2B5EF4-FFF2-40B4-BE49-F238E27FC236}">
                        <a16:creationId xmlns:a16="http://schemas.microsoft.com/office/drawing/2014/main" id="{AEFB0A30-E10C-8D1A-3041-6E5883ABE2E0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6" name="Rectangle: Rounded Corners 4">
                    <a:extLst>
                      <a:ext uri="{FF2B5EF4-FFF2-40B4-BE49-F238E27FC236}">
                        <a16:creationId xmlns:a16="http://schemas.microsoft.com/office/drawing/2014/main" id="{DF7C6A30-18F1-7530-4C14-F489703DE5B8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4E5C9BD5-11C9-4B1D-91E1-6229B0486C77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13" name="Picture 112">
                    <a:extLst>
                      <a:ext uri="{FF2B5EF4-FFF2-40B4-BE49-F238E27FC236}">
                        <a16:creationId xmlns:a16="http://schemas.microsoft.com/office/drawing/2014/main" id="{D9EDFD36-373E-B34F-13F8-3626F1ACB33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1DF21842-FC53-C46C-CD59-25F1718B5AE0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3B8B35A7-2DB4-92EB-F10D-5FD04B43A80B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6A5AC59-EF7C-0106-DE8A-39321E258CED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explain the similarities and differences in culture where I live in the United Kingdom and in Guizhou region in South West China. 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DFB1D6E-5FE5-AACA-EBE1-D1E650535C72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B3EDE152-7C0F-D137-5FFF-A46E24409617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ECA858FC-45BE-5821-7A04-F91C656C2A1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22" name="Rectangle: Rounded Corners 3">
                  <a:extLst>
                    <a:ext uri="{FF2B5EF4-FFF2-40B4-BE49-F238E27FC236}">
                      <a16:creationId xmlns:a16="http://schemas.microsoft.com/office/drawing/2014/main" id="{F90FAE8F-E73A-5EB8-960A-D6787FE3D5CB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B78DE608-63BC-8143-3015-0A9E81C4E71A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24" name="Picture 123">
                    <a:extLst>
                      <a:ext uri="{FF2B5EF4-FFF2-40B4-BE49-F238E27FC236}">
                        <a16:creationId xmlns:a16="http://schemas.microsoft.com/office/drawing/2014/main" id="{B73B8142-91D1-DB2A-D67D-A90E791DB7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5" name="TextBox 124">
                    <a:extLst>
                      <a:ext uri="{FF2B5EF4-FFF2-40B4-BE49-F238E27FC236}">
                        <a16:creationId xmlns:a16="http://schemas.microsoft.com/office/drawing/2014/main" id="{4F424B14-D548-76DE-56C2-19C2486EED38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5D83EF1-D711-C42E-31D1-0AC5F8097132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2D7F9D6-E21E-751B-AA90-38F97F44AD11}"/>
                </a:ext>
              </a:extLst>
            </p:cNvPr>
            <p:cNvSpPr txBox="1"/>
            <p:nvPr/>
          </p:nvSpPr>
          <p:spPr>
            <a:xfrm>
              <a:off x="6824631" y="5878352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that culture means the way of life of a group of people. I can talk about the different people, jobs and landmarks in my local area. 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6D5C4F10-7879-58F2-1D60-FEB4CC3988EC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4EA1DE59-E551-BCE6-3048-2019ECF7A4E1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74F7FBA9-111E-45B7-0BA8-B6431491B9DA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42" name="Rectangle: Rounded Corners 15">
                  <a:extLst>
                    <a:ext uri="{FF2B5EF4-FFF2-40B4-BE49-F238E27FC236}">
                      <a16:creationId xmlns:a16="http://schemas.microsoft.com/office/drawing/2014/main" id="{05CF309E-DCC1-5D56-6DC4-6BBFFAD71AA8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AF0581E7-C97C-B1F7-165D-2382B94DFED3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44" name="Picture 143">
                    <a:extLst>
                      <a:ext uri="{FF2B5EF4-FFF2-40B4-BE49-F238E27FC236}">
                        <a16:creationId xmlns:a16="http://schemas.microsoft.com/office/drawing/2014/main" id="{3E32F10A-5F31-DD7A-FB94-AC970FCDCB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2339432D-B2CF-50C9-AB21-97EC561BB5C1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DE578201-4E89-1051-7197-9B61870A5C64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E52D4432-96B0-6C7C-ED06-407C6E793917}"/>
                </a:ext>
              </a:extLst>
            </p:cNvPr>
            <p:cNvSpPr txBox="1"/>
            <p:nvPr/>
          </p:nvSpPr>
          <p:spPr>
            <a:xfrm>
              <a:off x="6824631" y="2924121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make links between the physical geography, human geography and culture in South America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75B7A67-87DA-CD98-0E72-A3ED1AB3DE02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Cultural awareness &amp; diversity</a:t>
            </a:r>
          </a:p>
        </p:txBody>
      </p:sp>
      <p:pic>
        <p:nvPicPr>
          <p:cNvPr id="8" name="Picture 7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F5FB5CF-05B9-B200-9085-D29357F06A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394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93" grpId="0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F80A4B6-DBA2-D228-5E62-DC28674BE8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79E28B79-F94C-7819-45A7-F129CBA2F1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A49868-55C0-C948-8F46-8AFCF36233F9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26581454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F5E13AFA-3970-5633-8869-613679954D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83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2D282E2-C594-7769-1AA9-A48C71FC4D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6331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  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067568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  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69155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  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5933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  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36431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8784DBF-A5BF-8E8C-33D6-8D848534089B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B79F7C4B-7C6C-3712-DE99-A417AA8226C9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D8A5ABD-72B1-8FCC-D2E3-AFF72A1EA39A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E90BE148-4E8D-2CEC-9ED0-3A226AFAD140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CFEDBD4-C58D-96F6-5713-49A597758780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C9B120-59A6-FB6E-BCA7-04B388EB521F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071E9B71-1D6B-A658-51A8-6BF85EE3C843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BA6A7AAB-4D0E-E3C6-97F0-0198F06F9F8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309C4563-8B5F-3C62-C199-9C3F9A0BD83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9D2D681E-6C63-11A9-642B-6DD202388EA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A818638E-7FF2-9FE7-0538-3F399E39CF82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0D4557AC-2E2A-6A8D-7083-C24467D8E297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A0D971E6-B3A0-5841-E864-46972A675BE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4624AC3-A4E0-C52D-7DB6-AB8579E3D843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9905BC2D-B4E0-8CFB-4745-6E4703B1D522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C62CB1-8159-EB1E-2AB8-95B5CED9F04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A3738056-49A2-088E-EE8F-5388331993D9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82B818FC-AA86-C7B3-CF06-C03FC4E4833E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40CD6A64-190F-2562-F14C-76305F732AF8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F2E4F4E-C2C0-5BC3-61DC-A80B23F68F26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F6E15BD8-067F-5777-5819-3CAC1F2D6A9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36049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8784DBF-A5BF-8E8C-33D6-8D848534089B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B79F7C4B-7C6C-3712-DE99-A417AA8226C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D8A5ABD-72B1-8FCC-D2E3-AFF72A1EA39A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E90BE148-4E8D-2CEC-9ED0-3A226AFAD140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CFEDBD4-C58D-96F6-5713-49A597758780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C9B120-59A6-FB6E-BCA7-04B388EB521F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071E9B71-1D6B-A658-51A8-6BF85EE3C843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BA6A7AAB-4D0E-E3C6-97F0-0198F06F9F8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309C4563-8B5F-3C62-C199-9C3F9A0BD83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9D2D681E-6C63-11A9-642B-6DD202388EA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A818638E-7FF2-9FE7-0538-3F399E39CF8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0D4557AC-2E2A-6A8D-7083-C24467D8E297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A0D971E6-B3A0-5841-E864-46972A675BE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4624AC3-A4E0-C52D-7DB6-AB8579E3D843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9905BC2D-B4E0-8CFB-4745-6E4703B1D522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C62CB1-8159-EB1E-2AB8-95B5CED9F04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A3738056-49A2-088E-EE8F-5388331993D9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82B818FC-AA86-C7B3-CF06-C03FC4E4833E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40CD6A64-190F-2562-F14C-76305F732AF8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F2E4F4E-C2C0-5BC3-61DC-A80B23F68F26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F6E15BD8-067F-5777-5819-3CAC1F2D6A9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10F729-013A-63E2-0214-1ED40F1427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500ED0-92C3-76B7-A98C-25AE755D9C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FF592F4-2BCB-5EAB-A130-75D137594C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F1BFD2F-BDEB-870D-A592-57DB317404BB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8E24C5-732E-FB6C-FB21-5938A2ECB0BC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A97946-BA60-699D-D8E2-BB99BE443572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B1965D64-3352-1DA8-13E4-D16ACCAA89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00867787-551F-CF0C-BC20-2470D10961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8FBB344-85B5-76A3-3AAC-250B1EC04D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7222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02076"/>
            <a:ext cx="1665573" cy="3133725"/>
          </a:xfrm>
          <a:prstGeom prst="rect">
            <a:avLst/>
          </a:prstGeom>
          <a:noFill/>
          <a:ln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624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  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223241688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D7AD81-E14F-C5B1-6D8B-66EEBD8EFDF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18EE7AE-F359-0788-9079-EAE09AB5E8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96ED62E6-0F84-E11D-B1EC-BA5BFB16079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574847764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DE170A29-0188-94A9-F182-937A573B3790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DA3FB8-60ED-F533-1982-023664F2BF6C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CD7773-EC2D-86EE-E145-DFDEC740729C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B03F5A25-1A0B-89B4-2245-3106981464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262DCC48-74D4-B523-2864-FD952EADFE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D7D13343-B9CD-4CF7-A83E-223EDC84B2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C87E4F36-1F41-5CE4-ECA5-90EFD76E533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BBC8A87E-6746-3BE4-1B3F-2AC6FC2692F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E4C5D60D-0F5C-5399-9F11-068B6A27A0F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AD6C44A-EE0A-682D-1D05-D90148B7AE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Block Arc 1">
            <a:extLst>
              <a:ext uri="{FF2B5EF4-FFF2-40B4-BE49-F238E27FC236}">
                <a16:creationId xmlns:a16="http://schemas.microsoft.com/office/drawing/2014/main" id="{7050BFD6-6884-2822-C1D2-6EB91C8073D1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92C628F0-42EA-A630-DA64-2A91A917973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E175ABA4-EFD0-6819-D204-66055A08F636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EE6D1E83-96B8-FCE9-0949-1F15638ACCB3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D5C05C96-E554-FC5B-5CC4-C0E7904F1013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2659A530-A046-9C8B-DA70-208E39864755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2AD1F0-555B-3630-98EE-D34ED0EFFB9E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2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7994353-7443-FA35-1A04-FEEAD0CEC5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9D8855B-33DF-88C0-10CD-4FC26712878E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BA8295F-40E3-0EC3-2948-7BE3656FF259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8" name="Block Arc 97">
                <a:extLst>
                  <a:ext uri="{FF2B5EF4-FFF2-40B4-BE49-F238E27FC236}">
                    <a16:creationId xmlns:a16="http://schemas.microsoft.com/office/drawing/2014/main" id="{FF463DD2-0FCB-E45B-B39E-22C0812C6CC5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5FB8E2CB-4857-3CF9-52F0-7E4E5D77192E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CE2DCF82-F1AD-C3F4-9DE1-9FD5D364AFF1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BC18AF30-456F-92C7-1344-194E87AEDC6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3D7B7A3E-053C-54F9-A40F-40609E49DE76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6A9647B9-F4BD-F675-FAB0-921A24EFC57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509B42AB-EFD3-BA68-08B3-AAECF266396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995F4CEF-96FC-2797-9583-78C85C69AF86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6881F713-E45D-3833-9CDA-EECDB0694C52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8" name="Curved Right Arrow 107">
                    <a:extLst>
                      <a:ext uri="{FF2B5EF4-FFF2-40B4-BE49-F238E27FC236}">
                        <a16:creationId xmlns:a16="http://schemas.microsoft.com/office/drawing/2014/main" id="{6F512785-E71D-C05D-8148-17AFDD32BD2E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E056A0FF-BC19-06E5-5824-9C1F460F6DB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A755CE52-E83C-EB92-F226-5478B2EDDD5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2" name="Block Arc 101">
                <a:extLst>
                  <a:ext uri="{FF2B5EF4-FFF2-40B4-BE49-F238E27FC236}">
                    <a16:creationId xmlns:a16="http://schemas.microsoft.com/office/drawing/2014/main" id="{04F526DB-B08E-2B10-4068-D964A6B32E2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475D0189-B593-CAD2-02C3-3D6482612801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0770329E-4988-98FB-946A-AEAF982E6695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A32808B6-F9B6-DCB1-426F-7B8E3D621919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07CF0C7-E346-0A84-DC6E-CBD49421C930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E7ADCAC1-0477-8953-9654-C185553D5D3D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055E117B-4C26-0EA0-04F6-A2BAB05A648A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39B004E6-52D0-C635-A907-A1E1DFEA2F0A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44E262F2-76BA-C035-336A-9C519839450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1E706AD0-9048-F33C-4937-0D0334A108A4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9D0D9BAB-4D96-5AFA-D1CA-359BF293E4FF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2108E0E8-AAE4-2182-5BD5-ADB17EBC3D51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89BEB4BC-5713-6869-79E8-04DC3DED95CB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E840C377-B0F8-73B8-8ED6-BF0CD9CA9E57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2" name="Curved Right Arrow 91">
                    <a:extLst>
                      <a:ext uri="{FF2B5EF4-FFF2-40B4-BE49-F238E27FC236}">
                        <a16:creationId xmlns:a16="http://schemas.microsoft.com/office/drawing/2014/main" id="{7FFE9BA4-7BBD-1C66-AFB0-028C2DDE9C4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860F7202-C62A-B5EB-4398-FA9F4BF09EE3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CB9AC5A1-29F8-6BB4-29DA-B9409D536CAB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F8C4CB95-C9F2-2F62-D9AF-4400C902D4B8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9E73C768-220B-1FDB-C4A0-3A51AB139733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FC6A0EB7-4AEB-A1F5-31D0-323D47065498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80809667-341E-90C7-9DFB-242434647E69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98EFFCE-D606-EB7C-E011-85E366102BB2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6" name="Block Arc 65">
                <a:extLst>
                  <a:ext uri="{FF2B5EF4-FFF2-40B4-BE49-F238E27FC236}">
                    <a16:creationId xmlns:a16="http://schemas.microsoft.com/office/drawing/2014/main" id="{D6E332CE-1E88-47C9-8401-A8136661E7A1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7CBDCFA2-42E5-3712-A098-D09C40B8BA03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9C55455D-BA4D-9FD7-0C06-A6D10C1C8203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9FBA7B94-8DC9-DFA5-B8A4-A4679A392D7F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87B2038B-5A05-6EAF-8DF9-609FB6B9B43A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0A1D4E78-F704-4909-61FB-A701A38D5B1C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04E8B254-934D-4929-8420-06F497CF7378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508A179B-20C6-7A0F-E964-914399B64CD6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EE1D7334-BEAB-6E6F-8982-16E5B40E45CB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6" name="Curved Right Arrow 75">
                    <a:extLst>
                      <a:ext uri="{FF2B5EF4-FFF2-40B4-BE49-F238E27FC236}">
                        <a16:creationId xmlns:a16="http://schemas.microsoft.com/office/drawing/2014/main" id="{53143E28-4F33-5B8F-8283-E58BDB384732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42E4BA97-DDEF-DFFC-2DE3-00CE4A39D72F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9FCC79F1-02F3-E87C-0246-35AD8B0E021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6E158287-D3E3-2507-E7E6-A83892A2C863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E7A07502-AB01-AD4F-7808-7F5ACB69D3B7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3957EECF-47FC-4198-9F37-A5BA372ED555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68BFC372-78C7-70DC-B918-054E49267DF6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C85D203-768B-D8C9-B6CD-27620F89CAAA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56C58433-4F14-BA79-DDA7-47D5F5B17CD1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66BABDD6-5F58-5B2F-D025-A400626CDB4A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323469AF-9E7F-0F05-13C2-089BCF3C7AA0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0B5CAD5B-E95B-ED17-24B5-85469530AF97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7E1A41A6-D976-BF0B-A975-F8178D5010C1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967EFEB5-31D4-20F2-1DF7-F6A46EE36642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7A579E44-0233-DC3C-5662-9CE68751AB8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9B83A0FE-2A52-9C5C-1B29-4C2488CFAF3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E31BB64B-606E-786D-13A9-5DADA2DA14E0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0" name="Curved Right Arrow 59">
                    <a:extLst>
                      <a:ext uri="{FF2B5EF4-FFF2-40B4-BE49-F238E27FC236}">
                        <a16:creationId xmlns:a16="http://schemas.microsoft.com/office/drawing/2014/main" id="{04718333-D5BE-A48E-F629-2D5B4550288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315D142D-241A-1958-E25F-56959D6F1789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DC441593-9F65-4ABE-B719-7CADC90D7FF3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4" name="Block Arc 53">
                <a:extLst>
                  <a:ext uri="{FF2B5EF4-FFF2-40B4-BE49-F238E27FC236}">
                    <a16:creationId xmlns:a16="http://schemas.microsoft.com/office/drawing/2014/main" id="{5E27379C-18A8-586C-D4A0-AD5A519029AD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21647CAD-055F-9639-CEA6-33F53D04DAD6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F3052A87-C888-9419-3B97-866567FAC9FA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7778573C-888A-AC35-B633-B29EFCE46B4F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26FF172-F3DB-CA58-9DF7-E7636AE47302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28934801-91F0-43BE-55FF-00E3642CFD86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7928380A-FA5A-DF22-E7DA-EE6E0D01E186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9E66FE10-8783-E0BB-87E7-5BBACFF7CFEB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8DC29FA2-B776-857E-1F03-D6D4E52774AF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2A437FD0-DCED-E3C2-2929-14F1BC831212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FA4636AD-5929-70BB-CA4E-EFB7EE10CB1E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1C39E483-F6E9-54AB-406C-A7FF10575971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5A709D68-168D-F69F-BA27-A106FB6C035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0A1AACE4-50DA-4934-32C6-9C9399B38E3B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4" name="Curved Right Arrow 43">
                    <a:extLst>
                      <a:ext uri="{FF2B5EF4-FFF2-40B4-BE49-F238E27FC236}">
                        <a16:creationId xmlns:a16="http://schemas.microsoft.com/office/drawing/2014/main" id="{A3EA2056-4C41-443A-3B12-0E9088028932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695630DF-CA77-96BF-E6CE-18ABCBF7BDB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39C0D864-4FF1-84D3-300D-8FE27DA24C4F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4A1A9C7F-35FE-3956-F0B2-380F38983E50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829CA266-F561-A142-F92F-109203F2DA13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0" name="Block Arc 39">
                <a:extLst>
                  <a:ext uri="{FF2B5EF4-FFF2-40B4-BE49-F238E27FC236}">
                    <a16:creationId xmlns:a16="http://schemas.microsoft.com/office/drawing/2014/main" id="{66A09B03-489A-2ABB-B882-3E4553FCA820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65BA0E2A-468B-FA1C-8EB6-E49979621D6B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E464327-07E3-9342-AA3E-608C3F778672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71D80F14-A7A6-6782-98BB-3A0998A6087F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66C6526D-B642-4AE1-2044-80AD3CD09B69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8FA49F10-9123-607E-7189-E0A3D8152E6A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27A978E3-35A7-3F11-AFD8-E22AC8220927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49B8DCEC-F457-4763-7CCC-CFE88CFB93DB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</p:spTree>
    <p:extLst>
      <p:ext uri="{BB962C8B-B14F-4D97-AF65-F5344CB8AC3E}">
        <p14:creationId xmlns:p14="http://schemas.microsoft.com/office/powerpoint/2010/main" val="23996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17" grpId="0" animBg="1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F31070-AF5E-9C1E-7965-8FF24EB0F388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B3AF3FA-F27A-9D83-2460-6514CEAF9B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17851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0F003-86CF-4CDD-0A82-22C58EE8CF90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 is the study of the natural features and processes of the Earth, such as land, water, weather and climate, and how they change our world.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9" name="Picture 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0F47FFF7-129D-F356-260B-EE9AA89ED6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33A436-9AD0-6EB1-1B41-6A171B90C01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14277792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7CE3DC6-66B7-D4F2-C0D1-EACFDA80B4DB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chemeClr val="accent6">
              <a:lumMod val="40000"/>
              <a:lumOff val="60000"/>
            </a:schemeClr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A9BCBEF-728D-E808-0931-F69097E39D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71A29F1-1F58-E0F2-B827-D684ECB916D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32" name="Rectangle: Top Corners Rounded 71">
                <a:extLst>
                  <a:ext uri="{FF2B5EF4-FFF2-40B4-BE49-F238E27FC236}">
                    <a16:creationId xmlns:a16="http://schemas.microsoft.com/office/drawing/2014/main" id="{3E159E34-00D2-CA34-C9C7-3CB27FC5F2B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3" name="Rectangle: Top Corners Rounded 72">
                <a:extLst>
                  <a:ext uri="{FF2B5EF4-FFF2-40B4-BE49-F238E27FC236}">
                    <a16:creationId xmlns:a16="http://schemas.microsoft.com/office/drawing/2014/main" id="{2A418118-CC77-1C03-91ED-3D25A70B46C0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4" name="Rectangle: Top Corners Rounded 73">
                <a:extLst>
                  <a:ext uri="{FF2B5EF4-FFF2-40B4-BE49-F238E27FC236}">
                    <a16:creationId xmlns:a16="http://schemas.microsoft.com/office/drawing/2014/main" id="{660946A8-B758-C3DC-A376-30F28E6F2342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4FD205B-5877-364A-9FD7-7CE1600ED158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8285FC4-FE2A-2D40-9D44-7E07EB2D79DD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8" name="Rectangle: Top Corners Rounded 76">
                <a:extLst>
                  <a:ext uri="{FF2B5EF4-FFF2-40B4-BE49-F238E27FC236}">
                    <a16:creationId xmlns:a16="http://schemas.microsoft.com/office/drawing/2014/main" id="{8D6769BE-9839-CF96-B5C1-D95CF32A7328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9" name="Rectangle: Top Corners Rounded 77">
                <a:extLst>
                  <a:ext uri="{FF2B5EF4-FFF2-40B4-BE49-F238E27FC236}">
                    <a16:creationId xmlns:a16="http://schemas.microsoft.com/office/drawing/2014/main" id="{3857F63F-DFFB-0DAF-6203-41FDE458CC1E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0" name="Rectangle: Top Corners Rounded 78">
                <a:extLst>
                  <a:ext uri="{FF2B5EF4-FFF2-40B4-BE49-F238E27FC236}">
                    <a16:creationId xmlns:a16="http://schemas.microsoft.com/office/drawing/2014/main" id="{0B2436B1-8880-9197-460C-EEFCBB9EBB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7D84915-193B-C838-12BA-CB116120F3FD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7E58F6A-9239-0FC0-400D-F80620565C87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4" name="Rectangle: Top Corners Rounded 81">
                <a:extLst>
                  <a:ext uri="{FF2B5EF4-FFF2-40B4-BE49-F238E27FC236}">
                    <a16:creationId xmlns:a16="http://schemas.microsoft.com/office/drawing/2014/main" id="{C979471E-8A23-684E-376F-0EF799013AA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5" name="Rectangle: Top Corners Rounded 82">
                <a:extLst>
                  <a:ext uri="{FF2B5EF4-FFF2-40B4-BE49-F238E27FC236}">
                    <a16:creationId xmlns:a16="http://schemas.microsoft.com/office/drawing/2014/main" id="{1598DB8C-84B5-974C-362A-7FE931501656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83">
                <a:extLst>
                  <a:ext uri="{FF2B5EF4-FFF2-40B4-BE49-F238E27FC236}">
                    <a16:creationId xmlns:a16="http://schemas.microsoft.com/office/drawing/2014/main" id="{1D7DA501-458D-8FCE-183D-8B03E84D22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6CA7716-D77F-3DBD-FB50-5F903E5F4D15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1B8B56D-7CC5-D6E1-392C-593904645B22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86">
                <a:extLst>
                  <a:ext uri="{FF2B5EF4-FFF2-40B4-BE49-F238E27FC236}">
                    <a16:creationId xmlns:a16="http://schemas.microsoft.com/office/drawing/2014/main" id="{C0E2ECE4-4218-E7B7-F28A-87EA452AABDC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87">
                <a:extLst>
                  <a:ext uri="{FF2B5EF4-FFF2-40B4-BE49-F238E27FC236}">
                    <a16:creationId xmlns:a16="http://schemas.microsoft.com/office/drawing/2014/main" id="{9DE23A4B-1625-9326-7D0C-E41D5F34B5D2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3DB581-5603-13E5-AA4C-2807828EF9CB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5E5E1D8-4B43-563F-D29D-77A1A42D4CB8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" name="Rectangle: Top Corners Rounded 91">
                <a:extLst>
                  <a:ext uri="{FF2B5EF4-FFF2-40B4-BE49-F238E27FC236}">
                    <a16:creationId xmlns:a16="http://schemas.microsoft.com/office/drawing/2014/main" id="{2F90A077-200B-01E2-D697-3A0684D025C2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C65853A-435B-6C0B-78D2-52D344E6E905}"/>
              </a:ext>
            </a:extLst>
          </p:cNvPr>
          <p:cNvSpPr txBox="1"/>
          <p:nvPr userDrawn="1"/>
        </p:nvSpPr>
        <p:spPr>
          <a:xfrm>
            <a:off x="103162" y="1752700"/>
            <a:ext cx="32055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 is the study of the natural features and processes of the Earth, such as land, water, weather and climate, and how they change our world.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6" name="Picture 5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B9284B1C-ACB5-B703-9C2A-5839A1AF49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4000"/>
          <a:stretch>
            <a:fillRect/>
          </a:stretch>
        </p:blipFill>
        <p:spPr>
          <a:xfrm>
            <a:off x="31378" y="883956"/>
            <a:ext cx="902901" cy="77649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E49E2FC-EFFD-F8D2-A5E6-3F1EBDB42E70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C56C45F-E666-5B60-5705-8C2C29EC8C74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0ACD9B0-F4EC-6FAA-B969-3D3FD9CD7AEC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0CF3A17F-15B9-9926-B98A-D4AA988019A8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57" name="Rectangle: Rounded Corners 12">
                    <a:extLst>
                      <a:ext uri="{FF2B5EF4-FFF2-40B4-BE49-F238E27FC236}">
                        <a16:creationId xmlns:a16="http://schemas.microsoft.com/office/drawing/2014/main" id="{95F931B1-CDE4-AB61-6D8B-FE6C5E6749C0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0" name="Rectangle: Rounded Corners 4">
                    <a:extLst>
                      <a:ext uri="{FF2B5EF4-FFF2-40B4-BE49-F238E27FC236}">
                        <a16:creationId xmlns:a16="http://schemas.microsoft.com/office/drawing/2014/main" id="{F1B22BAA-DCE2-E6D1-D5FA-DD4FA64D46B3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CED2FF4C-14AE-95FD-F4AC-EEBA4A4A9192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0" name="Picture 9">
                    <a:extLst>
                      <a:ext uri="{FF2B5EF4-FFF2-40B4-BE49-F238E27FC236}">
                        <a16:creationId xmlns:a16="http://schemas.microsoft.com/office/drawing/2014/main" id="{EBE5FFFA-7A0C-3B93-9250-F9B812D6F9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1E27B828-01EF-0DAE-18EB-3F15D4E733B4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5FDD96-05D1-7D18-81C8-ABA6F57E351E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6A1F722-7CC2-D5FC-8C43-51680DC524C5}"/>
                </a:ext>
              </a:extLst>
            </p:cNvPr>
            <p:cNvSpPr txBox="1"/>
            <p:nvPr/>
          </p:nvSpPr>
          <p:spPr>
            <a:xfrm>
              <a:off x="6767704" y="380238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and compare physical features in my region and in the Mediterranean. I can explain what a biome is and give examples from the Mediterranean and the UK.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0375B82-E516-08FE-4D25-AF3CBF3C3AE6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5B3DC981-845B-7B7F-319F-76EEC4A80B5D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167391BC-833A-7FD1-4EEB-EA868F88DBC4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C39A79FA-DEED-E0F2-163D-13F59230E5CA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0" name="Rectangle: Rounded Corners 9">
                    <a:extLst>
                      <a:ext uri="{FF2B5EF4-FFF2-40B4-BE49-F238E27FC236}">
                        <a16:creationId xmlns:a16="http://schemas.microsoft.com/office/drawing/2014/main" id="{6D67646D-1660-B235-318B-C1495E2E165C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" name="Rectangle: Rounded Corners 4">
                    <a:extLst>
                      <a:ext uri="{FF2B5EF4-FFF2-40B4-BE49-F238E27FC236}">
                        <a16:creationId xmlns:a16="http://schemas.microsoft.com/office/drawing/2014/main" id="{469E9C14-B6CA-F438-6CE2-0E29A88B7838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1B3829AD-9F58-2A26-37D6-D4F3040499E2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08" name="Picture 107">
                    <a:extLst>
                      <a:ext uri="{FF2B5EF4-FFF2-40B4-BE49-F238E27FC236}">
                        <a16:creationId xmlns:a16="http://schemas.microsoft.com/office/drawing/2014/main" id="{F1F232DA-1391-C60E-B25A-EECF098368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DAAC683A-4E80-8630-07E4-BDD3F3A96DBD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40AC895A-3291-F8F9-FA35-69065F6A6BEB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74DE1B41-AFF4-BE3A-C9A8-39183C6B8017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the difference between weather and climate and know that some places are hotter or colder. I can name and compare physical features in my local area and Guizhou.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7CFE614-1889-EAC3-4693-70121470C32E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B4172FF4-59AA-9592-DF0B-F72A4298D96D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48C91D26-3183-BEE2-3FED-F9CF5AE5F7A9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17" name="Rectangle: Rounded Corners 3">
                  <a:extLst>
                    <a:ext uri="{FF2B5EF4-FFF2-40B4-BE49-F238E27FC236}">
                      <a16:creationId xmlns:a16="http://schemas.microsoft.com/office/drawing/2014/main" id="{47BB46CD-FD23-4BF9-7839-26C483FD8B07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6AFEFF20-7781-0E28-7335-B293936BFB2C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19" name="Picture 118">
                    <a:extLst>
                      <a:ext uri="{FF2B5EF4-FFF2-40B4-BE49-F238E27FC236}">
                        <a16:creationId xmlns:a16="http://schemas.microsoft.com/office/drawing/2014/main" id="{085357BB-C861-4F4B-DC47-D25F56C709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46A5B6BE-8B2D-782B-B8E8-4D64A84A75D9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2F2F78A2-F0AF-6C40-2384-F08761224904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38D4198-A593-6D80-4336-4468B93A0135}"/>
                </a:ext>
              </a:extLst>
            </p:cNvPr>
            <p:cNvSpPr txBox="1"/>
            <p:nvPr/>
          </p:nvSpPr>
          <p:spPr>
            <a:xfrm>
              <a:off x="6824631" y="5971340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what the weather and the four seasons are. I know some physical features around my local area.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39171E4A-419D-1960-1660-B47E01E3D572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E0D34104-9B75-EA51-A3CC-155587BBEB3D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211C4DDD-4E45-64F7-1A59-B29BB7FEA2C4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37" name="Rectangle: Rounded Corners 15">
                  <a:extLst>
                    <a:ext uri="{FF2B5EF4-FFF2-40B4-BE49-F238E27FC236}">
                      <a16:creationId xmlns:a16="http://schemas.microsoft.com/office/drawing/2014/main" id="{D9DF815D-BC98-19CD-3271-2B6062CAC9A9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5AEB2E4E-22C4-9E91-A37D-9648508D2A4A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39" name="Picture 138">
                    <a:extLst>
                      <a:ext uri="{FF2B5EF4-FFF2-40B4-BE49-F238E27FC236}">
                        <a16:creationId xmlns:a16="http://schemas.microsoft.com/office/drawing/2014/main" id="{B28AD876-015C-6447-58F1-EA22451BFF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22E26D94-288A-3313-7620-18292CBDD54A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6C40D716-2DF9-7BBE-8085-C72039D586A2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E43B4708-3D6A-D4BF-1405-4FAA78DDDEAD}"/>
                </a:ext>
              </a:extLst>
            </p:cNvPr>
            <p:cNvSpPr txBox="1"/>
            <p:nvPr/>
          </p:nvSpPr>
          <p:spPr>
            <a:xfrm>
              <a:off x="6824631" y="280013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use maps to find the equator, tropics and hemispheres. I can describe and contrast the physical geography of South America.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pic>
        <p:nvPicPr>
          <p:cNvPr id="35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98A1B6D-67F7-F99F-9C09-FE4E906511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5E3F61D-B928-3510-A776-3C3F6586BED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Physical Geography</a:t>
            </a:r>
          </a:p>
        </p:txBody>
      </p:sp>
    </p:spTree>
    <p:extLst>
      <p:ext uri="{BB962C8B-B14F-4D97-AF65-F5344CB8AC3E}">
        <p14:creationId xmlns:p14="http://schemas.microsoft.com/office/powerpoint/2010/main" val="260630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5781BF93-85A7-C744-36C2-0F821E8738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A7A137-46BE-41B3-8129-A8C4DD05848F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Vocabulary</a:t>
            </a:r>
          </a:p>
        </p:txBody>
      </p:sp>
      <p:pic>
        <p:nvPicPr>
          <p:cNvPr id="4" name="Picture 3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72023D4C-E739-574B-0D0E-AE5D4969B2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06681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ounded Rectangle 23">
            <a:extLst>
              <a:ext uri="{FF2B5EF4-FFF2-40B4-BE49-F238E27FC236}">
                <a16:creationId xmlns:a16="http://schemas.microsoft.com/office/drawing/2014/main" id="{794DAE5F-C59F-B3F0-3FCE-3EB3B286135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6" name="Rounded Rectangle 22">
            <a:extLst>
              <a:ext uri="{FF2B5EF4-FFF2-40B4-BE49-F238E27FC236}">
                <a16:creationId xmlns:a16="http://schemas.microsoft.com/office/drawing/2014/main" id="{35A01401-10ED-6F4D-1F1C-0E3FEE734279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1093191D-2864-BFE3-BAC6-FE3078E39402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0" name="Right Arrow 38">
            <a:extLst>
              <a:ext uri="{FF2B5EF4-FFF2-40B4-BE49-F238E27FC236}">
                <a16:creationId xmlns:a16="http://schemas.microsoft.com/office/drawing/2014/main" id="{8AA0E372-369C-4941-5057-0E8F5480B1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A8AFB17-4869-9C19-FEA1-1565D67FDFAD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2" name="Cloud Callout 14">
            <a:extLst>
              <a:ext uri="{FF2B5EF4-FFF2-40B4-BE49-F238E27FC236}">
                <a16:creationId xmlns:a16="http://schemas.microsoft.com/office/drawing/2014/main" id="{61EF286F-9345-BB0C-4F56-A1F12BAE82D8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43" name="Cloud Callout 17">
            <a:extLst>
              <a:ext uri="{FF2B5EF4-FFF2-40B4-BE49-F238E27FC236}">
                <a16:creationId xmlns:a16="http://schemas.microsoft.com/office/drawing/2014/main" id="{C71C66BF-D58B-4831-075C-341ABDCBB6A9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44" name="Cloud Callout 43">
            <a:extLst>
              <a:ext uri="{FF2B5EF4-FFF2-40B4-BE49-F238E27FC236}">
                <a16:creationId xmlns:a16="http://schemas.microsoft.com/office/drawing/2014/main" id="{5F799D0A-BCB5-0692-9B09-12BF7ECBCFB2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45" name="Rounded Rectangle 25">
            <a:extLst>
              <a:ext uri="{FF2B5EF4-FFF2-40B4-BE49-F238E27FC236}">
                <a16:creationId xmlns:a16="http://schemas.microsoft.com/office/drawing/2014/main" id="{986FCAFE-1A47-3A75-E8C0-DF7CFA64906C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D11E385-E30A-306C-46AE-F9458F3B55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955640E-425C-E065-E469-3F57419A40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B63634A-303B-2635-7607-6574B2DFFA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62805B2-74FB-04A4-25AE-B716B092E5EF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53ACAAF-AE0A-4BDE-AF75-4CF0BCA47856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1" name="Text Placeholder 33">
            <a:extLst>
              <a:ext uri="{FF2B5EF4-FFF2-40B4-BE49-F238E27FC236}">
                <a16:creationId xmlns:a16="http://schemas.microsoft.com/office/drawing/2014/main" id="{B3BB70E2-26D2-0B49-D267-7AAB4BF86D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EE674DA5-D366-6FAC-3E19-D83FED4EC9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33">
            <a:extLst>
              <a:ext uri="{FF2B5EF4-FFF2-40B4-BE49-F238E27FC236}">
                <a16:creationId xmlns:a16="http://schemas.microsoft.com/office/drawing/2014/main" id="{C20E1614-EA91-9C2C-B7F1-BB4DF8CC1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Rounded Rectangle 23">
            <a:extLst>
              <a:ext uri="{FF2B5EF4-FFF2-40B4-BE49-F238E27FC236}">
                <a16:creationId xmlns:a16="http://schemas.microsoft.com/office/drawing/2014/main" id="{0D1FC744-3662-3249-1F03-EE193D1872E7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5" name="Rounded Rectangle 22">
            <a:extLst>
              <a:ext uri="{FF2B5EF4-FFF2-40B4-BE49-F238E27FC236}">
                <a16:creationId xmlns:a16="http://schemas.microsoft.com/office/drawing/2014/main" id="{8867268F-6BC6-CDE0-A54C-C7C7D22A17CE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6" name="Rounded Rectangle 21">
            <a:extLst>
              <a:ext uri="{FF2B5EF4-FFF2-40B4-BE49-F238E27FC236}">
                <a16:creationId xmlns:a16="http://schemas.microsoft.com/office/drawing/2014/main" id="{DEC8C24A-C2A2-B6FB-CEBC-DB3CFE63E845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7" name="Right Arrow 38">
            <a:extLst>
              <a:ext uri="{FF2B5EF4-FFF2-40B4-BE49-F238E27FC236}">
                <a16:creationId xmlns:a16="http://schemas.microsoft.com/office/drawing/2014/main" id="{24D9F813-6CEE-ED6F-064E-59CDA1216AD8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8" name="Right Arrow 40">
            <a:extLst>
              <a:ext uri="{FF2B5EF4-FFF2-40B4-BE49-F238E27FC236}">
                <a16:creationId xmlns:a16="http://schemas.microsoft.com/office/drawing/2014/main" id="{B268B9E1-8800-1738-CE60-9C6C5F486497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9" name="Cloud Callout 14">
            <a:extLst>
              <a:ext uri="{FF2B5EF4-FFF2-40B4-BE49-F238E27FC236}">
                <a16:creationId xmlns:a16="http://schemas.microsoft.com/office/drawing/2014/main" id="{3BE98BE1-8756-AA3F-37FC-961A3A117F44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60" name="Cloud Callout 17">
            <a:extLst>
              <a:ext uri="{FF2B5EF4-FFF2-40B4-BE49-F238E27FC236}">
                <a16:creationId xmlns:a16="http://schemas.microsoft.com/office/drawing/2014/main" id="{83D62656-6C25-077C-4F80-552A71A1BC63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61" name="Cloud Callout 60">
            <a:extLst>
              <a:ext uri="{FF2B5EF4-FFF2-40B4-BE49-F238E27FC236}">
                <a16:creationId xmlns:a16="http://schemas.microsoft.com/office/drawing/2014/main" id="{D209243E-CE20-B43A-B229-5E6919A22DBC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62" name="Rounded Rectangle 25">
            <a:extLst>
              <a:ext uri="{FF2B5EF4-FFF2-40B4-BE49-F238E27FC236}">
                <a16:creationId xmlns:a16="http://schemas.microsoft.com/office/drawing/2014/main" id="{2EAD39BD-B099-6728-8D13-A4C177B6F805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C9530EB-C903-8086-18DC-0C03544C45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07629C6-4FFA-FF30-5372-13F87DC076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6D0A70B-6C4D-F75B-6A9F-D8FDC6BEE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4259EB2-DF36-65F9-FFFF-42FBE54E1CB4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4E77597-DD8E-B80E-CAF9-828893FC90DF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" name="Picture 17">
            <a:extLst>
              <a:ext uri="{FF2B5EF4-FFF2-40B4-BE49-F238E27FC236}">
                <a16:creationId xmlns:a16="http://schemas.microsoft.com/office/drawing/2014/main" id="{A26F170F-2A34-51B3-CA05-11C54204D42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616770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88E71F8-6BAE-0B02-D973-40B20FD545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50308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  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99726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  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13118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  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95728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  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3968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oogle Shape;65;p1">
            <a:extLst>
              <a:ext uri="{FF2B5EF4-FFF2-40B4-BE49-F238E27FC236}">
                <a16:creationId xmlns:a16="http://schemas.microsoft.com/office/drawing/2014/main" id="{6D71331F-84DF-BB57-DC61-C6FD26F0F144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39D13355-F5EC-24EE-E679-05B78BE15B55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1CADD8D-233F-CAA2-D6BA-666AED94D7B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6D5A7812-4788-687B-12B4-FCB8DEF22159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F37F1A8E-A913-0449-00F3-14360B270D2C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C69B81F3-E3B8-2632-A7DA-CCC6CE2109C4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7E00A608-C938-2209-82E7-209839FA5144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ECFF9625-2047-3699-7FEB-26A68BA5829B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990B5F90-23A2-E846-65B0-ECE209BBB1FD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CBB1CB39-0011-BBA7-3163-1500F27C0670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1C4769F1-AC51-A6A5-667F-C3264F158695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323F2A04-3396-AC2F-F72A-61AD07DCFDBD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9CAA8C0E-FB41-84CA-A1C7-BEBA0D277D36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3DFCA21-F50C-DB9F-1D6E-0B67A584D911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E03EB7A8-D67E-DE8A-224E-118CA3304940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5CB3A0C0-7138-EA31-BF64-B228DD6D006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1D30A987-7C12-93D5-42E5-98A02F715C22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4F9200F0-7310-7B59-2508-8A5277721857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AC29D72F-5FA6-4EF4-2537-C8B5B322A082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B5A41F0-E53B-845A-F7D5-3F203A6D3A27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002D6CC3-4398-7E02-B14F-B5636F710AD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7109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oogle Shape;65;p1">
            <a:extLst>
              <a:ext uri="{FF2B5EF4-FFF2-40B4-BE49-F238E27FC236}">
                <a16:creationId xmlns:a16="http://schemas.microsoft.com/office/drawing/2014/main" id="{6D71331F-84DF-BB57-DC61-C6FD26F0F144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39D13355-F5EC-24EE-E679-05B78BE15B5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1CADD8D-233F-CAA2-D6BA-666AED94D7B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6D5A7812-4788-687B-12B4-FCB8DEF22159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F37F1A8E-A913-0449-00F3-14360B270D2C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C69B81F3-E3B8-2632-A7DA-CCC6CE2109C4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7E00A608-C938-2209-82E7-209839FA5144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ECFF9625-2047-3699-7FEB-26A68BA5829B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990B5F90-23A2-E846-65B0-ECE209BBB1FD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CBB1CB39-0011-BBA7-3163-1500F27C0670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1C4769F1-AC51-A6A5-667F-C3264F15869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323F2A04-3396-AC2F-F72A-61AD07DCFDBD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9CAA8C0E-FB41-84CA-A1C7-BEBA0D277D36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3DFCA21-F50C-DB9F-1D6E-0B67A584D911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E03EB7A8-D67E-DE8A-224E-118CA3304940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5CB3A0C0-7138-EA31-BF64-B228DD6D006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1D30A987-7C12-93D5-42E5-98A02F715C22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4F9200F0-7310-7B59-2508-8A5277721857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AC29D72F-5FA6-4EF4-2537-C8B5B322A082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B5A41F0-E53B-845A-F7D5-3F203A6D3A27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002D6CC3-4398-7E02-B14F-B5636F710AD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520CE31-0DB1-CF74-2D30-243CB61C1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155504-0D7D-E12F-2810-C80509748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61449B4-373F-26EB-5DD3-8EA50FF6F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CF9E021-CDAB-AF6F-D110-50079C97376D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CB0474-FA16-FF09-A32D-46D9EB113A2D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804A85-EC78-C2DA-D09E-7451F0B086DB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0C7433EE-8E28-A156-C234-1746B0F8A3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38A8B543-CEF5-FC3B-6C84-50A7AB8E57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AF88D0C-1D9F-76B2-0A0C-CA0BF90260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61301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02076"/>
            <a:ext cx="1665573" cy="313372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0025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  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130143252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5D9FAA-5F2A-C965-5709-A9EF45085CBA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71A9D8C-4901-A95F-F38A-5DA5B05192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ED4DFCAC-74F6-F330-96CC-381E993F2D5C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549771547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B766C722-04BD-AA7D-2A02-9B8F52D1BD24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C912A2-FC41-BA63-44EC-5C3F5F8591EE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86AA72A-3035-F6FD-CD77-306AA6DE27B2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8F1FCFD1-159D-F299-10DC-502AF46FCA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98DF4D44-C4E7-3AD3-2538-084505C582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95E4B939-B874-DB04-9CE4-287A214567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47C4A552-745E-BDC7-7A89-5013C6EA4C7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97F37ED8-55D7-A3B5-C7F2-02621F159C3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5FE9247A-0866-F36B-7093-4968C455385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F375DF64-883C-EDF6-7047-300CF446B02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Block Arc 43">
            <a:extLst>
              <a:ext uri="{FF2B5EF4-FFF2-40B4-BE49-F238E27FC236}">
                <a16:creationId xmlns:a16="http://schemas.microsoft.com/office/drawing/2014/main" id="{4B8F51AD-E05C-76C6-E3D1-0AC89F84DD83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5" name="Block Arc 44">
            <a:extLst>
              <a:ext uri="{FF2B5EF4-FFF2-40B4-BE49-F238E27FC236}">
                <a16:creationId xmlns:a16="http://schemas.microsoft.com/office/drawing/2014/main" id="{176F6BBD-782A-6A05-387F-9001A00F814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6" name="Block Arc 45">
            <a:extLst>
              <a:ext uri="{FF2B5EF4-FFF2-40B4-BE49-F238E27FC236}">
                <a16:creationId xmlns:a16="http://schemas.microsoft.com/office/drawing/2014/main" id="{E74C9132-5EC7-5463-3E57-C6D90E75AFC6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7" name="Block Arc 46">
            <a:extLst>
              <a:ext uri="{FF2B5EF4-FFF2-40B4-BE49-F238E27FC236}">
                <a16:creationId xmlns:a16="http://schemas.microsoft.com/office/drawing/2014/main" id="{E17D4507-469A-F4C3-5141-B002BF7CE11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8" name="Block Arc 47">
            <a:extLst>
              <a:ext uri="{FF2B5EF4-FFF2-40B4-BE49-F238E27FC236}">
                <a16:creationId xmlns:a16="http://schemas.microsoft.com/office/drawing/2014/main" id="{54C4236C-3B91-D8D5-5790-034F671DC0F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661BBABF-5104-3819-3D5F-0EE5E8993155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95CBB9-0727-9A5E-9C93-0D0924FFE9F4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4800" b="1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5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90A813B-BCDB-49E1-5CAD-66CFBDE923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2" name="Group 241">
            <a:extLst>
              <a:ext uri="{FF2B5EF4-FFF2-40B4-BE49-F238E27FC236}">
                <a16:creationId xmlns:a16="http://schemas.microsoft.com/office/drawing/2014/main" id="{744A6D70-CD3E-1C72-8CE4-040A23C47541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35A4B173-B81A-55C0-C00F-D41BC5A64418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152" name="Block Arc 151">
                <a:extLst>
                  <a:ext uri="{FF2B5EF4-FFF2-40B4-BE49-F238E27FC236}">
                    <a16:creationId xmlns:a16="http://schemas.microsoft.com/office/drawing/2014/main" id="{65988C65-DA72-14E2-B853-B7E9525B2D44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8" name="Block Arc 147">
                <a:extLst>
                  <a:ext uri="{FF2B5EF4-FFF2-40B4-BE49-F238E27FC236}">
                    <a16:creationId xmlns:a16="http://schemas.microsoft.com/office/drawing/2014/main" id="{4CF48090-F6C4-F501-4ACF-4D30F4DF720D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4" name="Block Arc 143">
                <a:extLst>
                  <a:ext uri="{FF2B5EF4-FFF2-40B4-BE49-F238E27FC236}">
                    <a16:creationId xmlns:a16="http://schemas.microsoft.com/office/drawing/2014/main" id="{428D3FDB-FAEB-3178-56CD-53E9A70A0EC6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43368CBD-FA81-486A-EB44-8B64A2E5FB0D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30" name="Group 129">
                  <a:extLst>
                    <a:ext uri="{FF2B5EF4-FFF2-40B4-BE49-F238E27FC236}">
                      <a16:creationId xmlns:a16="http://schemas.microsoft.com/office/drawing/2014/main" id="{C839B189-C70D-206A-E1AD-6F2C41984C3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35" name="Curved Right Arrow 134">
                    <a:extLst>
                      <a:ext uri="{FF2B5EF4-FFF2-40B4-BE49-F238E27FC236}">
                        <a16:creationId xmlns:a16="http://schemas.microsoft.com/office/drawing/2014/main" id="{EE12EB3B-C7A0-A1A6-A586-CB04024E81AA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6" name="Curved Right Arrow 135">
                    <a:extLst>
                      <a:ext uri="{FF2B5EF4-FFF2-40B4-BE49-F238E27FC236}">
                        <a16:creationId xmlns:a16="http://schemas.microsoft.com/office/drawing/2014/main" id="{ED8E9A96-D61E-63BF-FBCC-AEEE7FA60735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7" name="Curved Right Arrow 136">
                    <a:extLst>
                      <a:ext uri="{FF2B5EF4-FFF2-40B4-BE49-F238E27FC236}">
                        <a16:creationId xmlns:a16="http://schemas.microsoft.com/office/drawing/2014/main" id="{72C750F4-645D-53B3-4097-A1BF77AEFA2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80F495D1-4AA2-8B1D-03A7-AC525C908CC1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32" name="Curved Right Arrow 131">
                    <a:extLst>
                      <a:ext uri="{FF2B5EF4-FFF2-40B4-BE49-F238E27FC236}">
                        <a16:creationId xmlns:a16="http://schemas.microsoft.com/office/drawing/2014/main" id="{E2B7F3C4-B87B-567E-8763-C7E5139F9CB1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3" name="Curved Right Arrow 132">
                    <a:extLst>
                      <a:ext uri="{FF2B5EF4-FFF2-40B4-BE49-F238E27FC236}">
                        <a16:creationId xmlns:a16="http://schemas.microsoft.com/office/drawing/2014/main" id="{134F4CCA-DC08-D059-46CC-FFBD712A079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4" name="Curved Right Arrow 133">
                    <a:extLst>
                      <a:ext uri="{FF2B5EF4-FFF2-40B4-BE49-F238E27FC236}">
                        <a16:creationId xmlns:a16="http://schemas.microsoft.com/office/drawing/2014/main" id="{1E1243C9-E878-B20F-E0C8-8B9F504B93DB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38" name="Block Arc 137">
                <a:extLst>
                  <a:ext uri="{FF2B5EF4-FFF2-40B4-BE49-F238E27FC236}">
                    <a16:creationId xmlns:a16="http://schemas.microsoft.com/office/drawing/2014/main" id="{1185D010-FD4C-9B7B-3197-C5668952CE1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6" name="Block Arc 145">
                <a:extLst>
                  <a:ext uri="{FF2B5EF4-FFF2-40B4-BE49-F238E27FC236}">
                    <a16:creationId xmlns:a16="http://schemas.microsoft.com/office/drawing/2014/main" id="{25A84A43-0367-14E9-96C5-A6C324D2EA60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9" name="Block Arc 148">
                <a:extLst>
                  <a:ext uri="{FF2B5EF4-FFF2-40B4-BE49-F238E27FC236}">
                    <a16:creationId xmlns:a16="http://schemas.microsoft.com/office/drawing/2014/main" id="{5574DF77-F1FF-FAE8-957A-77DD871939AA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54" name="Block Arc 153">
                <a:extLst>
                  <a:ext uri="{FF2B5EF4-FFF2-40B4-BE49-F238E27FC236}">
                    <a16:creationId xmlns:a16="http://schemas.microsoft.com/office/drawing/2014/main" id="{800E325B-4614-424E-5DC0-3AC1BD388692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6F134D09-D546-80EC-C802-9433051AB269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158" name="Block Arc 157">
                <a:extLst>
                  <a:ext uri="{FF2B5EF4-FFF2-40B4-BE49-F238E27FC236}">
                    <a16:creationId xmlns:a16="http://schemas.microsoft.com/office/drawing/2014/main" id="{891E92A3-567C-E5AB-E85F-CB8021D777B3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59" name="Block Arc 158">
                <a:extLst>
                  <a:ext uri="{FF2B5EF4-FFF2-40B4-BE49-F238E27FC236}">
                    <a16:creationId xmlns:a16="http://schemas.microsoft.com/office/drawing/2014/main" id="{B00FEDE7-5503-0C06-26E9-2793B6220830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0" name="Block Arc 159">
                <a:extLst>
                  <a:ext uri="{FF2B5EF4-FFF2-40B4-BE49-F238E27FC236}">
                    <a16:creationId xmlns:a16="http://schemas.microsoft.com/office/drawing/2014/main" id="{0FCD129C-295F-08B5-0528-7233A37D36F9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9365680C-330D-DEAF-A0C7-CC6E49C21124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B0497FE-6D93-8C4B-3FEC-80255368F54A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71" name="Curved Right Arrow 170">
                    <a:extLst>
                      <a:ext uri="{FF2B5EF4-FFF2-40B4-BE49-F238E27FC236}">
                        <a16:creationId xmlns:a16="http://schemas.microsoft.com/office/drawing/2014/main" id="{71CA5154-D547-64DC-DD5F-8BAFF2A41AA3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2" name="Curved Right Arrow 171">
                    <a:extLst>
                      <a:ext uri="{FF2B5EF4-FFF2-40B4-BE49-F238E27FC236}">
                        <a16:creationId xmlns:a16="http://schemas.microsoft.com/office/drawing/2014/main" id="{131473E8-1A0E-3BC6-3F1D-FF09E3FE0244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3" name="Curved Right Arrow 172">
                    <a:extLst>
                      <a:ext uri="{FF2B5EF4-FFF2-40B4-BE49-F238E27FC236}">
                        <a16:creationId xmlns:a16="http://schemas.microsoft.com/office/drawing/2014/main" id="{7E012DEF-05EA-9BC2-B493-33CF115DDA9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59F81DE1-79C5-5A82-7EA3-106750D85134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68" name="Curved Right Arrow 167">
                    <a:extLst>
                      <a:ext uri="{FF2B5EF4-FFF2-40B4-BE49-F238E27FC236}">
                        <a16:creationId xmlns:a16="http://schemas.microsoft.com/office/drawing/2014/main" id="{0B5FC590-9586-E70A-5872-992CC920984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9" name="Curved Right Arrow 168">
                    <a:extLst>
                      <a:ext uri="{FF2B5EF4-FFF2-40B4-BE49-F238E27FC236}">
                        <a16:creationId xmlns:a16="http://schemas.microsoft.com/office/drawing/2014/main" id="{482A8B25-16C0-688C-1711-92892AA754D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0" name="Curved Right Arrow 169">
                    <a:extLst>
                      <a:ext uri="{FF2B5EF4-FFF2-40B4-BE49-F238E27FC236}">
                        <a16:creationId xmlns:a16="http://schemas.microsoft.com/office/drawing/2014/main" id="{585121C7-5E4C-9CAA-7F54-A403FB236252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62" name="Block Arc 161">
                <a:extLst>
                  <a:ext uri="{FF2B5EF4-FFF2-40B4-BE49-F238E27FC236}">
                    <a16:creationId xmlns:a16="http://schemas.microsoft.com/office/drawing/2014/main" id="{7BA02118-C9C4-EB6A-2B68-7996A4D61EE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3" name="Block Arc 162">
                <a:extLst>
                  <a:ext uri="{FF2B5EF4-FFF2-40B4-BE49-F238E27FC236}">
                    <a16:creationId xmlns:a16="http://schemas.microsoft.com/office/drawing/2014/main" id="{B4AF4DD4-E4FF-2072-2F91-2F2E54644E90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4" name="Block Arc 163">
                <a:extLst>
                  <a:ext uri="{FF2B5EF4-FFF2-40B4-BE49-F238E27FC236}">
                    <a16:creationId xmlns:a16="http://schemas.microsoft.com/office/drawing/2014/main" id="{6CCBBA0F-3871-55A1-0442-A9F5D979788C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5" name="Block Arc 164">
                <a:extLst>
                  <a:ext uri="{FF2B5EF4-FFF2-40B4-BE49-F238E27FC236}">
                    <a16:creationId xmlns:a16="http://schemas.microsoft.com/office/drawing/2014/main" id="{52ECADC0-2236-60D0-4A24-ADFE1B9C4F1C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AC9D7FE2-1F3D-BA86-275E-211E553DF55D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175" name="Block Arc 174">
                <a:extLst>
                  <a:ext uri="{FF2B5EF4-FFF2-40B4-BE49-F238E27FC236}">
                    <a16:creationId xmlns:a16="http://schemas.microsoft.com/office/drawing/2014/main" id="{BFA9FDE3-A994-EF95-3B6D-DE2B74248782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76" name="Block Arc 175">
                <a:extLst>
                  <a:ext uri="{FF2B5EF4-FFF2-40B4-BE49-F238E27FC236}">
                    <a16:creationId xmlns:a16="http://schemas.microsoft.com/office/drawing/2014/main" id="{4DCC7790-8FF1-5324-464C-7DE535DC24D1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77" name="Block Arc 176">
                <a:extLst>
                  <a:ext uri="{FF2B5EF4-FFF2-40B4-BE49-F238E27FC236}">
                    <a16:creationId xmlns:a16="http://schemas.microsoft.com/office/drawing/2014/main" id="{0FAAFFBA-2A60-6860-3984-2609C817246A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7376B72F-1D49-845B-760F-C413CFEC6AF1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08717B59-E10A-98DF-6FA9-58733ACEC912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88" name="Curved Right Arrow 187">
                    <a:extLst>
                      <a:ext uri="{FF2B5EF4-FFF2-40B4-BE49-F238E27FC236}">
                        <a16:creationId xmlns:a16="http://schemas.microsoft.com/office/drawing/2014/main" id="{3F6BCD90-CD6A-DBA7-0D8B-CBD8C850F378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9" name="Curved Right Arrow 188">
                    <a:extLst>
                      <a:ext uri="{FF2B5EF4-FFF2-40B4-BE49-F238E27FC236}">
                        <a16:creationId xmlns:a16="http://schemas.microsoft.com/office/drawing/2014/main" id="{987AFB46-0701-1A1B-4755-319344BA282B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0" name="Curved Right Arrow 189">
                    <a:extLst>
                      <a:ext uri="{FF2B5EF4-FFF2-40B4-BE49-F238E27FC236}">
                        <a16:creationId xmlns:a16="http://schemas.microsoft.com/office/drawing/2014/main" id="{BA2A2702-EAF5-6DF5-9F98-7EF08B3FBE1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84" name="Group 183">
                  <a:extLst>
                    <a:ext uri="{FF2B5EF4-FFF2-40B4-BE49-F238E27FC236}">
                      <a16:creationId xmlns:a16="http://schemas.microsoft.com/office/drawing/2014/main" id="{AE21A413-D962-7209-EF28-73C1870D0D67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85" name="Curved Right Arrow 184">
                    <a:extLst>
                      <a:ext uri="{FF2B5EF4-FFF2-40B4-BE49-F238E27FC236}">
                        <a16:creationId xmlns:a16="http://schemas.microsoft.com/office/drawing/2014/main" id="{D021BA53-4855-F93B-C1FC-8BCEFBB72104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6" name="Curved Right Arrow 185">
                    <a:extLst>
                      <a:ext uri="{FF2B5EF4-FFF2-40B4-BE49-F238E27FC236}">
                        <a16:creationId xmlns:a16="http://schemas.microsoft.com/office/drawing/2014/main" id="{818E012B-010E-CFF9-1756-98AEFF13212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7" name="Curved Right Arrow 186">
                    <a:extLst>
                      <a:ext uri="{FF2B5EF4-FFF2-40B4-BE49-F238E27FC236}">
                        <a16:creationId xmlns:a16="http://schemas.microsoft.com/office/drawing/2014/main" id="{94E523A7-DEE6-DF8F-3B60-B8D9A50B812E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79" name="Block Arc 178">
                <a:extLst>
                  <a:ext uri="{FF2B5EF4-FFF2-40B4-BE49-F238E27FC236}">
                    <a16:creationId xmlns:a16="http://schemas.microsoft.com/office/drawing/2014/main" id="{33F25D14-10FC-37C4-9109-F784B089B3C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80" name="Block Arc 179">
                <a:extLst>
                  <a:ext uri="{FF2B5EF4-FFF2-40B4-BE49-F238E27FC236}">
                    <a16:creationId xmlns:a16="http://schemas.microsoft.com/office/drawing/2014/main" id="{44E7CF12-0198-071E-051C-B7C84D35A1E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81" name="Block Arc 180">
                <a:extLst>
                  <a:ext uri="{FF2B5EF4-FFF2-40B4-BE49-F238E27FC236}">
                    <a16:creationId xmlns:a16="http://schemas.microsoft.com/office/drawing/2014/main" id="{B3889160-2B62-0AEA-B13E-6492CD0C0021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82" name="Block Arc 181">
                <a:extLst>
                  <a:ext uri="{FF2B5EF4-FFF2-40B4-BE49-F238E27FC236}">
                    <a16:creationId xmlns:a16="http://schemas.microsoft.com/office/drawing/2014/main" id="{90C1C463-FB6E-AA21-842E-B9B09090D20C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7C868BAF-67D8-685B-FBF0-381130DDAC81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209" name="Block Arc 208">
                <a:extLst>
                  <a:ext uri="{FF2B5EF4-FFF2-40B4-BE49-F238E27FC236}">
                    <a16:creationId xmlns:a16="http://schemas.microsoft.com/office/drawing/2014/main" id="{B6A2E1EC-EF14-3F23-25FB-A9BCA9259365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0" name="Block Arc 209">
                <a:extLst>
                  <a:ext uri="{FF2B5EF4-FFF2-40B4-BE49-F238E27FC236}">
                    <a16:creationId xmlns:a16="http://schemas.microsoft.com/office/drawing/2014/main" id="{6E647087-D5A9-9B4D-BCE1-E8AA51F34EBD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1" name="Block Arc 210">
                <a:extLst>
                  <a:ext uri="{FF2B5EF4-FFF2-40B4-BE49-F238E27FC236}">
                    <a16:creationId xmlns:a16="http://schemas.microsoft.com/office/drawing/2014/main" id="{5A28EFFC-B639-7A60-0E1F-CBF492E49AD4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248940DE-3174-34E6-5961-975175DE101A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217" name="Group 216">
                  <a:extLst>
                    <a:ext uri="{FF2B5EF4-FFF2-40B4-BE49-F238E27FC236}">
                      <a16:creationId xmlns:a16="http://schemas.microsoft.com/office/drawing/2014/main" id="{71DD3B6E-FAB8-79C4-9EE7-D7EAD3656BDD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222" name="Curved Right Arrow 221">
                    <a:extLst>
                      <a:ext uri="{FF2B5EF4-FFF2-40B4-BE49-F238E27FC236}">
                        <a16:creationId xmlns:a16="http://schemas.microsoft.com/office/drawing/2014/main" id="{84B50631-111E-DA9D-EF9A-3E6E787C1F48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3" name="Curved Right Arrow 222">
                    <a:extLst>
                      <a:ext uri="{FF2B5EF4-FFF2-40B4-BE49-F238E27FC236}">
                        <a16:creationId xmlns:a16="http://schemas.microsoft.com/office/drawing/2014/main" id="{5E4C5B5A-8986-3EBD-436F-4971011A4FEA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4" name="Curved Right Arrow 223">
                    <a:extLst>
                      <a:ext uri="{FF2B5EF4-FFF2-40B4-BE49-F238E27FC236}">
                        <a16:creationId xmlns:a16="http://schemas.microsoft.com/office/drawing/2014/main" id="{5D80C5EF-8461-EDA4-A0BA-D8CD99ACDD66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18" name="Group 217">
                  <a:extLst>
                    <a:ext uri="{FF2B5EF4-FFF2-40B4-BE49-F238E27FC236}">
                      <a16:creationId xmlns:a16="http://schemas.microsoft.com/office/drawing/2014/main" id="{43B38A18-79DC-F09C-31A4-3215EED1D676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219" name="Curved Right Arrow 218">
                    <a:extLst>
                      <a:ext uri="{FF2B5EF4-FFF2-40B4-BE49-F238E27FC236}">
                        <a16:creationId xmlns:a16="http://schemas.microsoft.com/office/drawing/2014/main" id="{9B912550-BDE7-62B9-6F71-3459D6216B39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0" name="Curved Right Arrow 219">
                    <a:extLst>
                      <a:ext uri="{FF2B5EF4-FFF2-40B4-BE49-F238E27FC236}">
                        <a16:creationId xmlns:a16="http://schemas.microsoft.com/office/drawing/2014/main" id="{86EF7E5E-8DA4-7FC4-1015-0872CB7B307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1" name="Curved Right Arrow 220">
                    <a:extLst>
                      <a:ext uri="{FF2B5EF4-FFF2-40B4-BE49-F238E27FC236}">
                        <a16:creationId xmlns:a16="http://schemas.microsoft.com/office/drawing/2014/main" id="{6EB6CAA9-06F4-2DB6-8BFA-FDFE55D2FE4D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13" name="Block Arc 212">
                <a:extLst>
                  <a:ext uri="{FF2B5EF4-FFF2-40B4-BE49-F238E27FC236}">
                    <a16:creationId xmlns:a16="http://schemas.microsoft.com/office/drawing/2014/main" id="{6F2487B9-0810-66D7-358A-A40447CBE7D1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4" name="Block Arc 213">
                <a:extLst>
                  <a:ext uri="{FF2B5EF4-FFF2-40B4-BE49-F238E27FC236}">
                    <a16:creationId xmlns:a16="http://schemas.microsoft.com/office/drawing/2014/main" id="{1D423479-E227-AE56-2D2A-C517AD4954D8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5" name="Block Arc 214">
                <a:extLst>
                  <a:ext uri="{FF2B5EF4-FFF2-40B4-BE49-F238E27FC236}">
                    <a16:creationId xmlns:a16="http://schemas.microsoft.com/office/drawing/2014/main" id="{7A3C9914-57A9-675F-9B87-01152ACD1BF4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6" name="Block Arc 215">
                <a:extLst>
                  <a:ext uri="{FF2B5EF4-FFF2-40B4-BE49-F238E27FC236}">
                    <a16:creationId xmlns:a16="http://schemas.microsoft.com/office/drawing/2014/main" id="{6D8A73DF-4887-747B-D851-4D010908A0C3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E8E9F192-ED35-CE25-9A2D-17B99BB97D5E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226" name="Block Arc 225">
                <a:extLst>
                  <a:ext uri="{FF2B5EF4-FFF2-40B4-BE49-F238E27FC236}">
                    <a16:creationId xmlns:a16="http://schemas.microsoft.com/office/drawing/2014/main" id="{998DE0F2-B873-0153-A629-06FB58438D1C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27" name="Block Arc 226">
                <a:extLst>
                  <a:ext uri="{FF2B5EF4-FFF2-40B4-BE49-F238E27FC236}">
                    <a16:creationId xmlns:a16="http://schemas.microsoft.com/office/drawing/2014/main" id="{64A161B2-4652-2459-E8FF-0604F308843E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28" name="Block Arc 227">
                <a:extLst>
                  <a:ext uri="{FF2B5EF4-FFF2-40B4-BE49-F238E27FC236}">
                    <a16:creationId xmlns:a16="http://schemas.microsoft.com/office/drawing/2014/main" id="{1C874E50-1FA4-26BE-E55A-A83E6B90EB7F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75A418CD-A489-5EED-1BE8-65FC8DEAB3E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234" name="Group 233">
                  <a:extLst>
                    <a:ext uri="{FF2B5EF4-FFF2-40B4-BE49-F238E27FC236}">
                      <a16:creationId xmlns:a16="http://schemas.microsoft.com/office/drawing/2014/main" id="{22E8757C-C17C-5A15-C4D2-A0F51D28EECD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239" name="Curved Right Arrow 238">
                    <a:extLst>
                      <a:ext uri="{FF2B5EF4-FFF2-40B4-BE49-F238E27FC236}">
                        <a16:creationId xmlns:a16="http://schemas.microsoft.com/office/drawing/2014/main" id="{2D26CC59-9CBB-5524-3746-565FE9E0D4B6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0" name="Curved Right Arrow 239">
                    <a:extLst>
                      <a:ext uri="{FF2B5EF4-FFF2-40B4-BE49-F238E27FC236}">
                        <a16:creationId xmlns:a16="http://schemas.microsoft.com/office/drawing/2014/main" id="{E0523F26-797C-C452-9C1C-71E14B354849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1" name="Curved Right Arrow 240">
                    <a:extLst>
                      <a:ext uri="{FF2B5EF4-FFF2-40B4-BE49-F238E27FC236}">
                        <a16:creationId xmlns:a16="http://schemas.microsoft.com/office/drawing/2014/main" id="{CA3FB094-9EE0-A67C-E6D4-FCE1F8C4AE0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35" name="Group 234">
                  <a:extLst>
                    <a:ext uri="{FF2B5EF4-FFF2-40B4-BE49-F238E27FC236}">
                      <a16:creationId xmlns:a16="http://schemas.microsoft.com/office/drawing/2014/main" id="{6BD733AA-7E7B-9AB4-C969-AFDFB39D729E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236" name="Curved Right Arrow 235">
                    <a:extLst>
                      <a:ext uri="{FF2B5EF4-FFF2-40B4-BE49-F238E27FC236}">
                        <a16:creationId xmlns:a16="http://schemas.microsoft.com/office/drawing/2014/main" id="{6AC205FF-EF96-C2B5-501F-382ED1CB1A1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7" name="Curved Right Arrow 236">
                    <a:extLst>
                      <a:ext uri="{FF2B5EF4-FFF2-40B4-BE49-F238E27FC236}">
                        <a16:creationId xmlns:a16="http://schemas.microsoft.com/office/drawing/2014/main" id="{ECE5C892-928A-8087-9E04-43F2B33FD49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8" name="Curved Right Arrow 237">
                    <a:extLst>
                      <a:ext uri="{FF2B5EF4-FFF2-40B4-BE49-F238E27FC236}">
                        <a16:creationId xmlns:a16="http://schemas.microsoft.com/office/drawing/2014/main" id="{20129413-01C5-1CDB-E3D8-EE606C1E335A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30" name="Block Arc 229">
                <a:extLst>
                  <a:ext uri="{FF2B5EF4-FFF2-40B4-BE49-F238E27FC236}">
                    <a16:creationId xmlns:a16="http://schemas.microsoft.com/office/drawing/2014/main" id="{2CCF233A-E8E6-C045-F84B-F54DE13F9D4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31" name="Block Arc 230">
                <a:extLst>
                  <a:ext uri="{FF2B5EF4-FFF2-40B4-BE49-F238E27FC236}">
                    <a16:creationId xmlns:a16="http://schemas.microsoft.com/office/drawing/2014/main" id="{8EF7FAB2-F7F1-CE66-33E3-D5831AA3D20D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32" name="Block Arc 231">
                <a:extLst>
                  <a:ext uri="{FF2B5EF4-FFF2-40B4-BE49-F238E27FC236}">
                    <a16:creationId xmlns:a16="http://schemas.microsoft.com/office/drawing/2014/main" id="{8AB29057-402F-18F8-598F-C8EDFEA7A4F5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33" name="Block Arc 232">
                <a:extLst>
                  <a:ext uri="{FF2B5EF4-FFF2-40B4-BE49-F238E27FC236}">
                    <a16:creationId xmlns:a16="http://schemas.microsoft.com/office/drawing/2014/main" id="{F77B4551-D9BC-A7FB-DAA5-401AA6ADA8D9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50" name="Freeform 49">
            <a:extLst>
              <a:ext uri="{FF2B5EF4-FFF2-40B4-BE49-F238E27FC236}">
                <a16:creationId xmlns:a16="http://schemas.microsoft.com/office/drawing/2014/main" id="{8C4FF195-CBF7-00FA-EE88-559723EB59B0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02E74CB5-2658-3819-5348-986FA8FA6DA5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3FB192E0-CF0D-3A3E-F8AE-2C7936146CAF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A424355A-8157-8F9B-793B-6FCDAF2D2A55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EE958DA0-99EF-EAFE-07F6-CBB1A77314ED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DE9A1495-0C8C-27AA-0D2C-9B0E78A895D0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</p:spTree>
    <p:extLst>
      <p:ext uri="{BB962C8B-B14F-4D97-AF65-F5344CB8AC3E}">
        <p14:creationId xmlns:p14="http://schemas.microsoft.com/office/powerpoint/2010/main" val="298067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5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262" grpId="0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AACB11-BAD2-FA1C-1458-34E0DEF57E1E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B825575-8371-084D-D9DD-7E8F23ECB8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7055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0F003-86CF-4CDD-0A82-22C58EE8CF90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Sustainability is about the environment and whether it can continue to support humans and the lives of other living creatures in the future. </a:t>
            </a:r>
          </a:p>
        </p:txBody>
      </p:sp>
      <p:pic>
        <p:nvPicPr>
          <p:cNvPr id="9" name="Picture 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967AC669-DA44-5096-B865-FAFB61A9F3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17E443-6322-CB9D-C2E2-88BE255BC8DC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395917606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7CE3DC6-66B7-D4F2-C0D1-EACFDA80B4DB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B1B1FF"/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A9BCBEF-728D-E808-0931-F69097E39D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71A29F1-1F58-E0F2-B827-D684ECB916D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32" name="Rectangle: Top Corners Rounded 71">
                <a:extLst>
                  <a:ext uri="{FF2B5EF4-FFF2-40B4-BE49-F238E27FC236}">
                    <a16:creationId xmlns:a16="http://schemas.microsoft.com/office/drawing/2014/main" id="{3E159E34-00D2-CA34-C9C7-3CB27FC5F2B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3" name="Rectangle: Top Corners Rounded 72">
                <a:extLst>
                  <a:ext uri="{FF2B5EF4-FFF2-40B4-BE49-F238E27FC236}">
                    <a16:creationId xmlns:a16="http://schemas.microsoft.com/office/drawing/2014/main" id="{2A418118-CC77-1C03-91ED-3D25A70B46C0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4" name="Rectangle: Top Corners Rounded 73">
                <a:extLst>
                  <a:ext uri="{FF2B5EF4-FFF2-40B4-BE49-F238E27FC236}">
                    <a16:creationId xmlns:a16="http://schemas.microsoft.com/office/drawing/2014/main" id="{660946A8-B758-C3DC-A376-30F28E6F2342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4FD205B-5877-364A-9FD7-7CE1600ED158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8285FC4-FE2A-2D40-9D44-7E07EB2D79DD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8" name="Rectangle: Top Corners Rounded 76">
                <a:extLst>
                  <a:ext uri="{FF2B5EF4-FFF2-40B4-BE49-F238E27FC236}">
                    <a16:creationId xmlns:a16="http://schemas.microsoft.com/office/drawing/2014/main" id="{8D6769BE-9839-CF96-B5C1-D95CF32A7328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9" name="Rectangle: Top Corners Rounded 77">
                <a:extLst>
                  <a:ext uri="{FF2B5EF4-FFF2-40B4-BE49-F238E27FC236}">
                    <a16:creationId xmlns:a16="http://schemas.microsoft.com/office/drawing/2014/main" id="{3857F63F-DFFB-0DAF-6203-41FDE458CC1E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0" name="Rectangle: Top Corners Rounded 78">
                <a:extLst>
                  <a:ext uri="{FF2B5EF4-FFF2-40B4-BE49-F238E27FC236}">
                    <a16:creationId xmlns:a16="http://schemas.microsoft.com/office/drawing/2014/main" id="{0B2436B1-8880-9197-460C-EEFCBB9EBB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7D84915-193B-C838-12BA-CB116120F3FD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7E58F6A-9239-0FC0-400D-F80620565C87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4" name="Rectangle: Top Corners Rounded 81">
                <a:extLst>
                  <a:ext uri="{FF2B5EF4-FFF2-40B4-BE49-F238E27FC236}">
                    <a16:creationId xmlns:a16="http://schemas.microsoft.com/office/drawing/2014/main" id="{C979471E-8A23-684E-376F-0EF799013AA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5" name="Rectangle: Top Corners Rounded 82">
                <a:extLst>
                  <a:ext uri="{FF2B5EF4-FFF2-40B4-BE49-F238E27FC236}">
                    <a16:creationId xmlns:a16="http://schemas.microsoft.com/office/drawing/2014/main" id="{1598DB8C-84B5-974C-362A-7FE931501656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83">
                <a:extLst>
                  <a:ext uri="{FF2B5EF4-FFF2-40B4-BE49-F238E27FC236}">
                    <a16:creationId xmlns:a16="http://schemas.microsoft.com/office/drawing/2014/main" id="{1D7DA501-458D-8FCE-183D-8B03E84D22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6CA7716-D77F-3DBD-FB50-5F903E5F4D15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1B8B56D-7CC5-D6E1-392C-593904645B22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86">
                <a:extLst>
                  <a:ext uri="{FF2B5EF4-FFF2-40B4-BE49-F238E27FC236}">
                    <a16:creationId xmlns:a16="http://schemas.microsoft.com/office/drawing/2014/main" id="{C0E2ECE4-4218-E7B7-F28A-87EA452AABDC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87">
                <a:extLst>
                  <a:ext uri="{FF2B5EF4-FFF2-40B4-BE49-F238E27FC236}">
                    <a16:creationId xmlns:a16="http://schemas.microsoft.com/office/drawing/2014/main" id="{9DE23A4B-1625-9326-7D0C-E41D5F34B5D2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3DB581-5603-13E5-AA4C-2807828EF9CB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5E5E1D8-4B43-563F-D29D-77A1A42D4CB8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" name="Rectangle: Top Corners Rounded 91">
                <a:extLst>
                  <a:ext uri="{FF2B5EF4-FFF2-40B4-BE49-F238E27FC236}">
                    <a16:creationId xmlns:a16="http://schemas.microsoft.com/office/drawing/2014/main" id="{2F90A077-200B-01E2-D697-3A0684D025C2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C65853A-435B-6C0B-78D2-52D344E6E905}"/>
              </a:ext>
            </a:extLst>
          </p:cNvPr>
          <p:cNvSpPr txBox="1"/>
          <p:nvPr userDrawn="1"/>
        </p:nvSpPr>
        <p:spPr>
          <a:xfrm>
            <a:off x="93534" y="1894865"/>
            <a:ext cx="32055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Sustainability is about the environment and whether it can continue to support humans and the lives of other living creatures in the future.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  <a:cs typeface="+mn-cs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F4801E2F-605B-6715-F377-B8ADE2F32855}"/>
              </a:ext>
            </a:extLst>
          </p:cNvPr>
          <p:cNvSpPr txBox="1"/>
          <p:nvPr userDrawn="1"/>
        </p:nvSpPr>
        <p:spPr>
          <a:xfrm>
            <a:off x="85221" y="3079842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It involves the interaction between physical and human environments and the effect they have on each other. 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E839CC3-866D-DAC4-AA75-A829A239DB46}"/>
              </a:ext>
            </a:extLst>
          </p:cNvPr>
          <p:cNvSpPr txBox="1"/>
          <p:nvPr userDrawn="1"/>
        </p:nvSpPr>
        <p:spPr>
          <a:xfrm>
            <a:off x="85221" y="4044121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When we are Being a Geographer, we think about what is natural and what is man-made in our environment, and how we can live more sustainably.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2F62B3F-B24C-7A75-519B-05332E2D5F60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66FF2D-0A1A-B277-069D-332B2323A220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6D2D617E-E09E-B15C-5BA8-0FEDD315C7BB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FE11128B-D333-FDC5-2CD2-67B2D2101231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00" name="Rectangle: Rounded Corners 12">
                    <a:extLst>
                      <a:ext uri="{FF2B5EF4-FFF2-40B4-BE49-F238E27FC236}">
                        <a16:creationId xmlns:a16="http://schemas.microsoft.com/office/drawing/2014/main" id="{7DB0B7F2-89F9-C136-7D06-593FD33F050E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1" name="Rectangle: Rounded Corners 4">
                    <a:extLst>
                      <a:ext uri="{FF2B5EF4-FFF2-40B4-BE49-F238E27FC236}">
                        <a16:creationId xmlns:a16="http://schemas.microsoft.com/office/drawing/2014/main" id="{E176FD70-2633-7D23-07A2-B3EE2D05E9B1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5183ACA2-B1AC-970B-A8A2-A01135DC3DFF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9" name="Picture 8">
                    <a:extLst>
                      <a:ext uri="{FF2B5EF4-FFF2-40B4-BE49-F238E27FC236}">
                        <a16:creationId xmlns:a16="http://schemas.microsoft.com/office/drawing/2014/main" id="{5ADA602A-39E5-CF61-8567-4FD5E832DC6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30F00F44-F494-704A-8544-7968DA0A6C01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CD40ED-E8A2-4783-5657-AFB823604F7E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82F746C-88BC-706F-10DD-B1A1F6C82C2E}"/>
                </a:ext>
              </a:extLst>
            </p:cNvPr>
            <p:cNvSpPr txBox="1"/>
            <p:nvPr/>
          </p:nvSpPr>
          <p:spPr>
            <a:xfrm>
              <a:off x="6767704" y="3802386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how human activity affects habitats around the world. I can explain how people’s choices can protect the environment for the future. 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142D110-9A5B-663B-FEA4-631B55E60E03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C4D2B20E-4846-D613-6022-C7145317AAC8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304A4915-2CDD-B186-20BA-B9ECB4C09B9C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7FC1643A-EC4C-D21B-2CEA-4734B31818B3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1" name="Rectangle: Rounded Corners 9">
                    <a:extLst>
                      <a:ext uri="{FF2B5EF4-FFF2-40B4-BE49-F238E27FC236}">
                        <a16:creationId xmlns:a16="http://schemas.microsoft.com/office/drawing/2014/main" id="{5CB4F8EC-E9E2-36F0-97BD-0D215CE3059F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2" name="Rectangle: Rounded Corners 4">
                    <a:extLst>
                      <a:ext uri="{FF2B5EF4-FFF2-40B4-BE49-F238E27FC236}">
                        <a16:creationId xmlns:a16="http://schemas.microsoft.com/office/drawing/2014/main" id="{BD6532CE-76D8-7DDE-6583-A25D26ADB0A2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B0D500DB-0A8D-7EDE-F324-7F5BDB085929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09" name="Picture 108">
                    <a:extLst>
                      <a:ext uri="{FF2B5EF4-FFF2-40B4-BE49-F238E27FC236}">
                        <a16:creationId xmlns:a16="http://schemas.microsoft.com/office/drawing/2014/main" id="{B37BBF63-092F-9029-650E-47203FFB34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47C8D7FC-5423-A960-F2CE-46BA93B871E5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E7E904E-24DB-1AD4-7EA6-66F172E2C14E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CE1CAB4E-0E4F-5357-B8C0-5346B74046BF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how human behaviour can affect the world. I can think of ways that we can help our environment and oceans. 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C04C43F-9AEF-D70D-7B37-637C049EFCE9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4D10131E-31AA-D59F-FA35-D1120BB096ED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F6B11EB6-F482-D20C-9EB8-4694307BE64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18" name="Rectangle: Rounded Corners 3">
                  <a:extLst>
                    <a:ext uri="{FF2B5EF4-FFF2-40B4-BE49-F238E27FC236}">
                      <a16:creationId xmlns:a16="http://schemas.microsoft.com/office/drawing/2014/main" id="{A8683132-44F3-83F7-D73D-1654C9BD4E80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233C009A-44B9-79EA-5E68-4DDD27E3F3C0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20" name="Picture 119">
                    <a:extLst>
                      <a:ext uri="{FF2B5EF4-FFF2-40B4-BE49-F238E27FC236}">
                        <a16:creationId xmlns:a16="http://schemas.microsoft.com/office/drawing/2014/main" id="{6BC6DCF5-939A-ECAA-5EE5-5C4879C5E9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26246DA9-EF4A-7A42-5980-25A548FAA6D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D04B6EE7-C6AF-A812-0BFF-1BEEBAC4D248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11254BAB-F777-7F1F-FFA9-A7102160181B}"/>
                </a:ext>
              </a:extLst>
            </p:cNvPr>
            <p:cNvSpPr txBox="1"/>
            <p:nvPr/>
          </p:nvSpPr>
          <p:spPr>
            <a:xfrm>
              <a:off x="6824631" y="5971340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people and animals share the world. I can explain simple ways of how to look after my environment. </a:t>
              </a: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BBC6348-8F2D-29C2-516F-7B7FB9695EFB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EA996A48-88EA-6263-4D0F-13790E011A8F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42A913D7-2341-4295-A769-303DE7DAEC09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38" name="Rectangle: Rounded Corners 15">
                  <a:extLst>
                    <a:ext uri="{FF2B5EF4-FFF2-40B4-BE49-F238E27FC236}">
                      <a16:creationId xmlns:a16="http://schemas.microsoft.com/office/drawing/2014/main" id="{FC5C05D4-1170-A456-6F92-DC602BBDC8B8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39" name="Group 138">
                  <a:extLst>
                    <a:ext uri="{FF2B5EF4-FFF2-40B4-BE49-F238E27FC236}">
                      <a16:creationId xmlns:a16="http://schemas.microsoft.com/office/drawing/2014/main" id="{F867F0A4-B989-987C-07CF-473AA4BA4D62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40" name="Picture 139">
                    <a:extLst>
                      <a:ext uri="{FF2B5EF4-FFF2-40B4-BE49-F238E27FC236}">
                        <a16:creationId xmlns:a16="http://schemas.microsoft.com/office/drawing/2014/main" id="{FA326AB0-6806-6C08-F96A-9F8999FA35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BC80C0CB-3842-9A67-A8B5-1D9353CB9B0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24F4F00-A848-2996-B368-44F7F6416503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C11D1384-2FD0-B0DF-AA64-937986C8BE24}"/>
                </a:ext>
              </a:extLst>
            </p:cNvPr>
            <p:cNvSpPr txBox="1"/>
            <p:nvPr/>
          </p:nvSpPr>
          <p:spPr>
            <a:xfrm>
              <a:off x="6824631" y="280013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use maps to find the equator, tropics and hemispheres. I can describe and contrast the physical geography of South America.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pic>
        <p:nvPicPr>
          <p:cNvPr id="35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268B894-20C9-9A18-D1E3-AC3DFD82BA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45490982-16A9-FBB6-A35F-113DAB24388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76B55A1-CA27-B16C-8F6D-1AA02AA18D02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Environmental impact and sustainability</a:t>
            </a:r>
          </a:p>
        </p:txBody>
      </p:sp>
    </p:spTree>
    <p:extLst>
      <p:ext uri="{BB962C8B-B14F-4D97-AF65-F5344CB8AC3E}">
        <p14:creationId xmlns:p14="http://schemas.microsoft.com/office/powerpoint/2010/main" val="156992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187" grpId="0"/>
      <p:bldP spid="188" grpId="0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EC3E4FE-C4C8-0CD5-73D5-8F95A599AE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D4322BA7-DA94-FDFE-7A7B-D5438A1482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C57756-EBCF-A581-82CD-558554934C04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32210826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ounded Rectangle 23">
            <a:extLst>
              <a:ext uri="{FF2B5EF4-FFF2-40B4-BE49-F238E27FC236}">
                <a16:creationId xmlns:a16="http://schemas.microsoft.com/office/drawing/2014/main" id="{794DAE5F-C59F-B3F0-3FCE-3EB3B286135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6" name="Rounded Rectangle 22">
            <a:extLst>
              <a:ext uri="{FF2B5EF4-FFF2-40B4-BE49-F238E27FC236}">
                <a16:creationId xmlns:a16="http://schemas.microsoft.com/office/drawing/2014/main" id="{35A01401-10ED-6F4D-1F1C-0E3FEE734279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1093191D-2864-BFE3-BAC6-FE3078E39402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0" name="Right Arrow 38">
            <a:extLst>
              <a:ext uri="{FF2B5EF4-FFF2-40B4-BE49-F238E27FC236}">
                <a16:creationId xmlns:a16="http://schemas.microsoft.com/office/drawing/2014/main" id="{8AA0E372-369C-4941-5057-0E8F5480B1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A8AFB17-4869-9C19-FEA1-1565D67FDFAD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2" name="Cloud Callout 14">
            <a:extLst>
              <a:ext uri="{FF2B5EF4-FFF2-40B4-BE49-F238E27FC236}">
                <a16:creationId xmlns:a16="http://schemas.microsoft.com/office/drawing/2014/main" id="{61EF286F-9345-BB0C-4F56-A1F12BAE82D8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43" name="Cloud Callout 17">
            <a:extLst>
              <a:ext uri="{FF2B5EF4-FFF2-40B4-BE49-F238E27FC236}">
                <a16:creationId xmlns:a16="http://schemas.microsoft.com/office/drawing/2014/main" id="{C71C66BF-D58B-4831-075C-341ABDCBB6A9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44" name="Cloud Callout 43">
            <a:extLst>
              <a:ext uri="{FF2B5EF4-FFF2-40B4-BE49-F238E27FC236}">
                <a16:creationId xmlns:a16="http://schemas.microsoft.com/office/drawing/2014/main" id="{5F799D0A-BCB5-0692-9B09-12BF7ECBCFB2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45" name="Rounded Rectangle 25">
            <a:extLst>
              <a:ext uri="{FF2B5EF4-FFF2-40B4-BE49-F238E27FC236}">
                <a16:creationId xmlns:a16="http://schemas.microsoft.com/office/drawing/2014/main" id="{986FCAFE-1A47-3A75-E8C0-DF7CFA64906C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D11E385-E30A-306C-46AE-F9458F3B55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955640E-425C-E065-E469-3F57419A40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B63634A-303B-2635-7607-6574B2DFFA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62805B2-74FB-04A4-25AE-B716B092E5EF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53ACAAF-AE0A-4BDE-AF75-4CF0BCA47856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1" name="Text Placeholder 33">
            <a:extLst>
              <a:ext uri="{FF2B5EF4-FFF2-40B4-BE49-F238E27FC236}">
                <a16:creationId xmlns:a16="http://schemas.microsoft.com/office/drawing/2014/main" id="{B3BB70E2-26D2-0B49-D267-7AAB4BF86D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EE674DA5-D366-6FAC-3E19-D83FED4EC9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33">
            <a:extLst>
              <a:ext uri="{FF2B5EF4-FFF2-40B4-BE49-F238E27FC236}">
                <a16:creationId xmlns:a16="http://schemas.microsoft.com/office/drawing/2014/main" id="{C20E1614-EA91-9C2C-B7F1-BB4DF8CC1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Rounded Rectangle 23">
            <a:extLst>
              <a:ext uri="{FF2B5EF4-FFF2-40B4-BE49-F238E27FC236}">
                <a16:creationId xmlns:a16="http://schemas.microsoft.com/office/drawing/2014/main" id="{0D1FC744-3662-3249-1F03-EE193D1872E7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5" name="Rounded Rectangle 22">
            <a:extLst>
              <a:ext uri="{FF2B5EF4-FFF2-40B4-BE49-F238E27FC236}">
                <a16:creationId xmlns:a16="http://schemas.microsoft.com/office/drawing/2014/main" id="{8867268F-6BC6-CDE0-A54C-C7C7D22A17CE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6" name="Rounded Rectangle 21">
            <a:extLst>
              <a:ext uri="{FF2B5EF4-FFF2-40B4-BE49-F238E27FC236}">
                <a16:creationId xmlns:a16="http://schemas.microsoft.com/office/drawing/2014/main" id="{DEC8C24A-C2A2-B6FB-CEBC-DB3CFE63E845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7" name="Right Arrow 38">
            <a:extLst>
              <a:ext uri="{FF2B5EF4-FFF2-40B4-BE49-F238E27FC236}">
                <a16:creationId xmlns:a16="http://schemas.microsoft.com/office/drawing/2014/main" id="{24D9F813-6CEE-ED6F-064E-59CDA1216AD8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8" name="Right Arrow 40">
            <a:extLst>
              <a:ext uri="{FF2B5EF4-FFF2-40B4-BE49-F238E27FC236}">
                <a16:creationId xmlns:a16="http://schemas.microsoft.com/office/drawing/2014/main" id="{B268B9E1-8800-1738-CE60-9C6C5F486497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9" name="Cloud Callout 14">
            <a:extLst>
              <a:ext uri="{FF2B5EF4-FFF2-40B4-BE49-F238E27FC236}">
                <a16:creationId xmlns:a16="http://schemas.microsoft.com/office/drawing/2014/main" id="{3BE98BE1-8756-AA3F-37FC-961A3A117F44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60" name="Cloud Callout 17">
            <a:extLst>
              <a:ext uri="{FF2B5EF4-FFF2-40B4-BE49-F238E27FC236}">
                <a16:creationId xmlns:a16="http://schemas.microsoft.com/office/drawing/2014/main" id="{83D62656-6C25-077C-4F80-552A71A1BC63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61" name="Cloud Callout 60">
            <a:extLst>
              <a:ext uri="{FF2B5EF4-FFF2-40B4-BE49-F238E27FC236}">
                <a16:creationId xmlns:a16="http://schemas.microsoft.com/office/drawing/2014/main" id="{D209243E-CE20-B43A-B229-5E6919A22DBC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62" name="Rounded Rectangle 25">
            <a:extLst>
              <a:ext uri="{FF2B5EF4-FFF2-40B4-BE49-F238E27FC236}">
                <a16:creationId xmlns:a16="http://schemas.microsoft.com/office/drawing/2014/main" id="{2EAD39BD-B099-6728-8D13-A4C177B6F805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C9530EB-C903-8086-18DC-0C03544C45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07629C6-4FFA-FF30-5372-13F87DC076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6D0A70B-6C4D-F75B-6A9F-D8FDC6BEE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4259EB2-DF36-65F9-FFFF-42FBE54E1CB4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4E77597-DD8E-B80E-CAF9-828893FC90DF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" name="Picture 17">
            <a:extLst>
              <a:ext uri="{FF2B5EF4-FFF2-40B4-BE49-F238E27FC236}">
                <a16:creationId xmlns:a16="http://schemas.microsoft.com/office/drawing/2014/main" id="{000648E7-97B9-D1D3-490C-AAF2E3A785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468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6BBF9FDF-75DA-CFF3-BA62-2E74EDB80D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63229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  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3477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  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05096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  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48421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  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8706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A200618B-DE41-97A3-47BD-4B17F9BBAECD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587B6B17-3657-E981-AFEE-86E0340C3E86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F1192C9-2A8B-250D-E7E8-20FBD8C52A6E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E454BB4E-6EAE-F0D4-4935-10DD7644B9DF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063D3CD5-027F-A6BB-C6B1-A63BA192F1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2C94E003-EE48-9DF8-4D9E-E313BF20330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85C84200-017D-67B0-98FF-FD9A8940589E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469AA09C-BDEC-4A64-5E44-D17DC63CB7FD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A0BD0169-5F6D-524E-5B63-3526635D9C36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A78FF751-919A-866D-47E3-B64BC72B8693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B56EFC80-164C-0065-2B96-24A0D0A180A9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576A31B1-BF32-AB67-4738-CE3F55B3CC91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FE2DC321-990E-E6C8-37A2-FCA7A0542BD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F818DC8D-521D-9676-09B4-29091635A36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7B0B539E-9731-998B-1EDC-0C5D234EF608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C6BCF8AD-8FB4-E6AA-11B9-2E5789BC7DD7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7692F46B-6FA7-6985-161C-CFC8F1C5B6E0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C83153AB-9229-C542-D880-AA337526F47A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97D45DE2-E5E8-532F-CFA4-4984B0308EC7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0E3CBA9-9A7C-9AF6-33D3-4E6DC9B751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BF742F4E-A61D-2477-A2F0-A890F91B562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C5C6429-E930-A525-0A0A-8A17C6F2BAFE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</p:spTree>
    <p:extLst>
      <p:ext uri="{BB962C8B-B14F-4D97-AF65-F5344CB8AC3E}">
        <p14:creationId xmlns:p14="http://schemas.microsoft.com/office/powerpoint/2010/main" val="219113093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A200618B-DE41-97A3-47BD-4B17F9BBAECD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587B6B17-3657-E981-AFEE-86E0340C3E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F1192C9-2A8B-250D-E7E8-20FBD8C52A6E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E454BB4E-6EAE-F0D4-4935-10DD7644B9DF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063D3CD5-027F-A6BB-C6B1-A63BA192F1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2C94E003-EE48-9DF8-4D9E-E313BF20330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85C84200-017D-67B0-98FF-FD9A8940589E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469AA09C-BDEC-4A64-5E44-D17DC63CB7FD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A0BD0169-5F6D-524E-5B63-3526635D9C36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A78FF751-919A-866D-47E3-B64BC72B8693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B56EFC80-164C-0065-2B96-24A0D0A180A9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576A31B1-BF32-AB67-4738-CE3F55B3CC91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FE2DC321-990E-E6C8-37A2-FCA7A0542BD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F818DC8D-521D-9676-09B4-29091635A36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7B0B539E-9731-998B-1EDC-0C5D234EF608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C6BCF8AD-8FB4-E6AA-11B9-2E5789BC7DD7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7692F46B-6FA7-6985-161C-CFC8F1C5B6E0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C83153AB-9229-C542-D880-AA337526F47A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97D45DE2-E5E8-532F-CFA4-4984B0308EC7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0E3CBA9-9A7C-9AF6-33D3-4E6DC9B751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BF742F4E-A61D-2477-A2F0-A890F91B562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C5C6429-E930-A525-0A0A-8A17C6F2BAFE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083ABA-2E28-20F3-21C8-C6D213F54C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326CD2-ADCC-7E76-89DE-BC13046C4E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612590E-3C17-F676-4D10-1008049D02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19CD1FD-0FA0-D21D-D1F0-64BDB53C1C77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8EA24D-55B0-8144-AA39-968CC2FDB519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E2A5F2-A79A-546A-3141-7274CF067AEF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7B76A4C4-2BF9-6349-E000-2E819614C2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C7B60BF0-4537-D3E5-640C-003C735C4A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366E2C34-794D-A693-366B-C959F7B50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93288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rgbClr val="CCCCFF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02076"/>
            <a:ext cx="1665573" cy="313372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3890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03493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E8FB97-A527-4E45-92CB-DD469A4EFFFA}"/>
              </a:ext>
            </a:extLst>
          </p:cNvPr>
          <p:cNvSpPr txBox="1"/>
          <p:nvPr userDrawn="1"/>
        </p:nvSpPr>
        <p:spPr>
          <a:xfrm>
            <a:off x="306559" y="-13989"/>
            <a:ext cx="11382933" cy="69865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0" i="0" u="sng">
                <a:solidFill>
                  <a:srgbClr val="242424"/>
                </a:solidFill>
                <a:latin typeface="Twinkl Cursive Looped" panose="02000000000000000000" pitchFamily="2" charset="77"/>
              </a:rPr>
              <a:t>Structure of Being a Geographer Slides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Key Question (I do/We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Geographical Skill Focus (I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Prior Knowledge Retrieval (Revisit) (You do/trio)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Sequence (connections)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What, Why, How	 (I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Key Vocabulary (I do/We Do/You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Geographical Skill reasoning problem (You do/trio)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Explain New Learning (I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Guided Practice (We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Independent / Collaborative Practice (You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Check for Understanding (Pause to Think)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Apply Learning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Learning Review: Thinking Like a Geographer (Oracy)</a:t>
            </a:r>
          </a:p>
        </p:txBody>
      </p:sp>
    </p:spTree>
    <p:extLst>
      <p:ext uri="{BB962C8B-B14F-4D97-AF65-F5344CB8AC3E}">
        <p14:creationId xmlns:p14="http://schemas.microsoft.com/office/powerpoint/2010/main" val="380444267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8A772E-F613-7034-9A36-0C389B316798}"/>
              </a:ext>
            </a:extLst>
          </p:cNvPr>
          <p:cNvSpPr/>
          <p:nvPr userDrawn="1"/>
        </p:nvSpPr>
        <p:spPr>
          <a:xfrm>
            <a:off x="195943" y="179614"/>
            <a:ext cx="11870871" cy="6405913"/>
          </a:xfrm>
          <a:prstGeom prst="rect">
            <a:avLst/>
          </a:prstGeom>
          <a:solidFill>
            <a:srgbClr val="BDD7EF"/>
          </a:solidFill>
          <a:ln>
            <a:solidFill>
              <a:srgbClr val="4574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 </a:t>
            </a:r>
            <a:r>
              <a:rPr lang="en-GB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pupils’ knowledge of places, environments and processes, while </a:t>
            </a:r>
            <a:r>
              <a:rPr lang="en-GB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geographical skills </a:t>
            </a:r>
            <a:r>
              <a:rPr lang="en-GB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enable pupils to think, question and work like geographers through increasingly independent enquiry.</a:t>
            </a:r>
          </a:p>
          <a:p>
            <a:pPr algn="l"/>
            <a:endParaRPr lang="en-US" b="1" u="sng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KS1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know the main geography ideas, like places, weather, seasons and the features of the area where I live.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 look carefully at places, use simple maps and pictures, ask questions, and explore my local area.</a:t>
            </a:r>
          </a:p>
          <a:p>
            <a:pPr algn="l"/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LKS2 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know important geography ideas about regions, physical and human features, and how people and environments are connected.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 use maps and tools, collect information through fieldwork, and compare and explain different places.</a:t>
            </a:r>
          </a:p>
          <a:p>
            <a:pPr algn="l"/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UKS2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know key geography ideas and processes, such as rivers, climate change, natural resources and sustainability, that explain how the world works.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 investigate places like a geographer by </a:t>
            </a:r>
            <a:r>
              <a:rPr lang="en-US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analysing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information, using detailed maps, carrying out enquiries and explaining my conclusions.</a:t>
            </a:r>
          </a:p>
        </p:txBody>
      </p:sp>
    </p:spTree>
    <p:extLst>
      <p:ext uri="{BB962C8B-B14F-4D97-AF65-F5344CB8AC3E}">
        <p14:creationId xmlns:p14="http://schemas.microsoft.com/office/powerpoint/2010/main" val="45766869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?>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2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/Relationships>
</file>

<file path=ppt/slideMasters/_rels/slideMaster4.xml.rels><?xml version="1.0" encoding="UTF-8"?>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/Relationships>
</file>

<file path=ppt/slideMasters/_rels/slideMaster5.xml.rels><?xml version="1.0" encoding="UTF-8"?>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/Relationships>
</file>

<file path=ppt/slideMasters/_rels/slideMaster6.xml.rels><?xml version="1.0" encoding="UTF-8"?><Relationships xmlns="http://schemas.openxmlformats.org/package/2006/relationships"><Relationship Id="rId3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E31A5D-81D7-86BF-9F89-C85C5614D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F32C4-272F-4D79-223B-CA8E09091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AA001-1B5D-CDA2-38CC-7F60FF1FB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4F31996-478E-AB49-B249-C881152DC864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A51DE-BFC5-5128-5E55-DAFE88A4F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FA9D7-B4D9-EF1F-23DF-1D659D7FE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C3310EA2-8160-1046-A641-CE136A204D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494340E5-87E4-F310-37BE-2238F82839C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67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817" r:id="rId3"/>
    <p:sldLayoutId id="2147483740" r:id="rId4"/>
    <p:sldLayoutId id="2147483661" r:id="rId5"/>
    <p:sldLayoutId id="2147483784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818" r:id="rId13"/>
    <p:sldLayoutId id="2147483831" r:id="rId14"/>
    <p:sldLayoutId id="2147483748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524C0-1C92-5DC2-66E0-3ADCE332D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25FAD-D996-CA58-6C3E-BC095EB37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AA94B-D759-4801-6CD1-6E66DA677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1619F549-3D0B-A141-8D63-915844BA9B42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AD4FF-5DD4-B9F1-35A1-B9862AD1F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04EC7-5020-8356-6563-5BA3702F3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61437F6C-24F6-F24E-A689-35A7F3AD4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16B47AD8-5AFC-CF11-0F61-90D01982117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969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825" r:id="rId3"/>
    <p:sldLayoutId id="2147483775" r:id="rId4"/>
    <p:sldLayoutId id="2147483776" r:id="rId5"/>
    <p:sldLayoutId id="2147483785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819" r:id="rId13"/>
    <p:sldLayoutId id="2147483832" r:id="rId14"/>
    <p:sldLayoutId id="214748378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7824A-0AF9-4738-F221-B8183E450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93C30-E0D9-1E88-B519-0D30E9E46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33E9E-6EAA-0D76-BB96-53A73E3C3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2029319A-4A70-5A4B-9E33-842C4C45AE69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DB60E-0F55-9A54-FA03-71EDCEAD3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3676D-669A-39FA-6B0F-1727CC0B2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1CE6401-4AF7-AE42-9690-ECB39B553F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DCA81AE5-4318-55E7-A3E0-6DF245A247E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4573C4"/>
          </a:solidFill>
          <a:ln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8382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826" r:id="rId3"/>
    <p:sldLayoutId id="2147483751" r:id="rId4"/>
    <p:sldLayoutId id="2147483662" r:id="rId5"/>
    <p:sldLayoutId id="2147483786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820" r:id="rId13"/>
    <p:sldLayoutId id="2147483833" r:id="rId14"/>
    <p:sldLayoutId id="214748375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30F56E-FE65-F3F1-9FAC-DB93F1565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9DE58-64FF-3948-39DF-734AF3C45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9CB98-5757-3839-A7C0-D2C85F063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2FE44AB8-700B-C141-9852-6FF3C722C54D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D89FE-E21F-55B3-2929-A51FD86C0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B86D3-F974-31AE-72A2-76BAF8DF7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9DF32073-090B-5244-8DDA-E3F3620238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664928D8-8CB7-A497-4A96-C332731D19E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06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827" r:id="rId3"/>
    <p:sldLayoutId id="2147483762" r:id="rId4"/>
    <p:sldLayoutId id="2147483653" r:id="rId5"/>
    <p:sldLayoutId id="2147483787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821" r:id="rId13"/>
    <p:sldLayoutId id="2147483834" r:id="rId14"/>
    <p:sldLayoutId id="214748376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2E6823-EDB8-9AF5-DE99-4442ED5B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26269-E179-A117-5DE4-D44CFD7F3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36E3F-E940-26AF-C9D6-0EAE33CAA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A809972E-73E4-474F-8C19-461BACEB0A05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52106-0A4F-4AFD-C8DE-FAEBDA8B6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2DD94-F41F-4285-6735-0993E2CF4E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124EFB3-8909-4640-BE76-2FC085DA8F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0" name="Frame 99">
            <a:extLst>
              <a:ext uri="{FF2B5EF4-FFF2-40B4-BE49-F238E27FC236}">
                <a16:creationId xmlns:a16="http://schemas.microsoft.com/office/drawing/2014/main" id="{4E42EF8C-46E9-DA7C-1794-5AA3EA43FB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5768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28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22" r:id="rId13"/>
    <p:sldLayoutId id="2147483835" r:id="rId14"/>
    <p:sldLayoutId id="2147483811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77DF14-F00E-72CF-12CF-E3B1C500B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41EDA-2629-656F-490B-C0FEC50D5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41859-A1D9-7F12-358F-7DE777EF46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FDBEEC07-0607-8B48-9834-7B8003280270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2EB78-35C7-000E-D1DA-7E0C941AB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BB577-B7C0-86AE-49E3-AD4E8FAF89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CDFCD4FA-D224-824E-9633-70C10A3BD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61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829" r:id="rId2"/>
    <p:sldLayoutId id="214748383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image" Target="../media/conn_col.emf"/><Relationship Id="rId3" Type="http://schemas.openxmlformats.org/officeDocument/2006/relationships/image" Target="../media/conn_grey.emf"/><Relationship Id="rId4" Type="http://schemas.openxmlformats.org/officeDocument/2006/relationships/image" Target="../media/conn_icon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/>
              <a:t>📋 Teacher Checklist — Lesson 3: England Physical Geography</a:t>
            </a:r>
          </a:p>
        </p:txBody>
      </p:sp>
      <p:sp>
        <p:nvSpPr>
          <p:cNvPr id="231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700" dirty="0"/>
              <a:t>Before the lesson:</a:t>
            </a:r>
          </a:p>
          <a:p>
            <a:pPr lvl="1"/>
            <a:r>
              <a:rPr lang="en-GB" sz="1700" dirty="0"/>
              <a:t>Print LP3 — England Physical Geography (1 per pupil)</a:t>
            </a:r>
          </a:p>
          <a:p>
            <a:pPr lvl="1"/>
            <a:r>
              <a:rPr lang="en-GB" sz="1700" dirty="0"/>
              <a:t>Display topographical map of England on board for We Do 1</a:t>
            </a:r>
          </a:p>
          <a:p>
            <a:pPr lvl="1"/>
            <a:r>
              <a:rPr lang="en-GB" sz="1700" dirty="0"/>
              <a:t>Pupils will use comparison table on LP for We Do 2</a:t>
            </a:r>
          </a:p>
          <a:p>
            <a:r>
              <a:rPr lang="en-GB" sz="1700" dirty="0"/>
              <a:t>Recap quiz (slide after LO) tests L2 content — Brazil's biomes and climate</a:t>
            </a:r>
          </a:p>
          <a:p>
            <a:r>
              <a:rPr lang="en-GB" sz="1700" dirty="0"/>
              <a:t>Vocabulary slide before I Do introduces: temperate, topography, deciduous</a:t>
            </a:r>
          </a:p>
          <a:p>
            <a:r>
              <a:rPr lang="en-GB" sz="1700" dirty="0"/>
              <a:t>Slide order: Recap quiz → Vocabulary → I Do → We Do 1 → We Do 2 → You Do → LR</a:t>
            </a:r>
          </a:p>
          <a:p>
            <a:r>
              <a:rPr lang="en-GB" sz="1700" dirty="0"/>
              <a:t>Key teaching point:</a:t>
            </a:r>
          </a:p>
          <a:p>
            <a:pPr lvl="1"/>
            <a:r>
              <a:rPr lang="en-GB" sz="1700" dirty="0"/>
              <a:t>England is further from the Equator than Brazil → cooler, no tropical climate</a:t>
            </a:r>
          </a:p>
          <a:p>
            <a:pPr lvl="1"/>
            <a:r>
              <a:rPr lang="en-GB" sz="1700" dirty="0"/>
              <a:t>England = cold and wet; Brazil (north) = hot and wet — wet for different reasons!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A64E0-0ED6-F208-F723-46B8345C2D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Are England and Brazil different?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B3466-067C-3FCD-C3B1-7F181CDBAF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293" y="5761822"/>
            <a:ext cx="3893119" cy="1066100"/>
          </a:xfrm>
        </p:spPr>
        <p:txBody>
          <a:bodyPr/>
          <a:lstStyle/>
          <a:p>
            <a:r>
              <a:rPr lang="en-GB" dirty="0"/>
              <a:t>Year 4 Maple</a:t>
            </a:r>
          </a:p>
          <a:p>
            <a:r>
              <a:rPr lang="en-GB" dirty="0"/>
              <a:t>Friday 26 June 2026</a:t>
            </a:r>
          </a:p>
        </p:txBody>
      </p:sp>
    </p:spTree>
    <p:extLst>
      <p:ext uri="{BB962C8B-B14F-4D97-AF65-F5344CB8AC3E}">
        <p14:creationId xmlns:p14="http://schemas.microsoft.com/office/powerpoint/2010/main" val="2695554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4431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D9FA7-D464-DB16-F9D9-1A8F22C9C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CDA825-4A9F-8790-0FB2-64DF3A55F95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84699" y="4308522"/>
            <a:ext cx="2311677" cy="23116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5F9710-C058-4AAB-0AE9-43EB97DCFAE3}"/>
              </a:ext>
            </a:extLst>
          </p:cNvPr>
          <p:cNvSpPr txBox="1"/>
          <p:nvPr/>
        </p:nvSpPr>
        <p:spPr>
          <a:xfrm>
            <a:off x="3538549" y="4725580"/>
            <a:ext cx="1396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inkl Cursive Looped" panose="02000000000000000000" pitchFamily="2" charset="77"/>
              </a:rPr>
              <a:t>Lesson 1 ✓ Locating Brazil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2B39C3-B7BA-66B4-CB70-85C5337903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34800" y="4308522"/>
            <a:ext cx="2317967" cy="23179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996542-736F-868F-AFBC-EC2927048E44}"/>
              </a:ext>
            </a:extLst>
          </p:cNvPr>
          <p:cNvSpPr txBox="1"/>
          <p:nvPr/>
        </p:nvSpPr>
        <p:spPr>
          <a:xfrm>
            <a:off x="1786266" y="4777132"/>
            <a:ext cx="12984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winkl Cursive Looped" panose="02000000000000000000" pitchFamily="2" charset="77"/>
              </a:rPr>
              <a:t>Lesson 2 ✓ Brazil physical geography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B2614B-06E3-135C-6D45-607F4667111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4EA72E"/>
              <a:prstClr val="white"/>
            </a:duotone>
          </a:blip>
          <a:stretch>
            <a:fillRect/>
          </a:stretch>
        </p:blipFill>
        <p:spPr>
          <a:xfrm>
            <a:off x="4957200" y="4302232"/>
            <a:ext cx="2311677" cy="23116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650DA9-3C46-2B1D-CC52-2A2D75718E1F}"/>
              </a:ext>
            </a:extLst>
          </p:cNvPr>
          <p:cNvSpPr txBox="1"/>
          <p:nvPr/>
        </p:nvSpPr>
        <p:spPr>
          <a:xfrm>
            <a:off x="5411050" y="4719290"/>
            <a:ext cx="1396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inkl Cursive Looped" panose="02000000000000000000" pitchFamily="2" charset="77"/>
              </a:rPr>
              <a:t>Lesson 3 → TODAY: England comparison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7784B6A-717C-6318-5D17-C7E4CFC4193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21774" y="4302232"/>
            <a:ext cx="2311677" cy="231167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87B0251-6BB0-1D08-6C63-D6A67076886F}"/>
              </a:ext>
            </a:extLst>
          </p:cNvPr>
          <p:cNvSpPr txBox="1"/>
          <p:nvPr/>
        </p:nvSpPr>
        <p:spPr>
          <a:xfrm>
            <a:off x="7275624" y="4719290"/>
            <a:ext cx="1396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inkl Cursive Looped" panose="02000000000000000000" pitchFamily="2" charset="77"/>
              </a:rPr>
              <a:t>Coming up: Human geography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2C10349-D842-12E8-C3D3-D68FB0137A6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77952" y="2459165"/>
            <a:ext cx="2311677" cy="231167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FCB0377-6D62-9F03-9E66-6B6B2C8A4209}"/>
              </a:ext>
            </a:extLst>
          </p:cNvPr>
          <p:cNvSpPr txBox="1"/>
          <p:nvPr/>
        </p:nvSpPr>
        <p:spPr>
          <a:xfrm>
            <a:off x="3531802" y="2876223"/>
            <a:ext cx="1396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inkl Cursive Looped" panose="02000000000000000000" pitchFamily="2" charset="77"/>
              </a:rPr>
              <a:t>Coming up: Culture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00F10C3-A213-7AD6-ADFC-B6E04EFDF5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50453" y="2459165"/>
            <a:ext cx="2311677" cy="231167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9B2ACFC-574F-E2EA-1287-383E50438186}"/>
              </a:ext>
            </a:extLst>
          </p:cNvPr>
          <p:cNvSpPr txBox="1"/>
          <p:nvPr/>
        </p:nvSpPr>
        <p:spPr>
          <a:xfrm>
            <a:off x="5404303" y="2876223"/>
            <a:ext cx="13960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inkl Cursive Looped" panose="02000000000000000000" pitchFamily="2" charset="77"/>
              </a:rPr>
              <a:t>Coming up:</a:t>
            </a:r>
            <a:r>
              <a:rPr lang="en-US" sz="1400" dirty="0">
                <a:latin typeface="Twinkl Cursive Looped" panose="02000000000000000000" pitchFamily="2" charset="77"/>
              </a:rPr>
              <a:t>Environment</a:t>
            </a:r>
            <a:endParaRPr lang="en-US" dirty="0">
              <a:latin typeface="Twinkl Cursive Looped" panose="02000000000000000000" pitchFamily="2" charset="77"/>
            </a:endParaRPr>
          </a:p>
        </p:txBody>
      </p:sp>
      <p:pic>
        <p:nvPicPr>
          <p:cNvPr id="27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040889C-1C9E-285A-C962-166D70576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78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09" fill="hold">
                      <p:stCondLst>
                        <p:cond delay="indefinite"/>
                      </p:stCondLst>
                      <p:childTnLst>
                        <p:par>
                          <p:cTn id="2010" fill="hold">
                            <p:stCondLst>
                              <p:cond delay="0"/>
                            </p:stCondLst>
                            <p:childTnLst>
                              <p:par>
                                <p:cTn id="20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9" fill="hold">
                      <p:stCondLst>
                        <p:cond delay="indefinite"/>
                      </p:stCondLst>
                      <p:childTnLst>
                        <p:par>
                          <p:cTn id="2020" fill="hold">
                            <p:stCondLst>
                              <p:cond delay="0"/>
                            </p:stCondLst>
                            <p:childTnLst>
                              <p:par>
                                <p:cTn id="20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9" fill="hold">
                      <p:stCondLst>
                        <p:cond delay="indefinite"/>
                      </p:stCondLst>
                      <p:childTnLst>
                        <p:par>
                          <p:cTn id="2030" fill="hold">
                            <p:stCondLst>
                              <p:cond delay="0"/>
                            </p:stCondLst>
                            <p:childTnLst>
                              <p:par>
                                <p:cTn id="20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9" fill="hold">
                      <p:stCondLst>
                        <p:cond delay="indefinite"/>
                      </p:stCondLst>
                      <p:childTnLst>
                        <p:par>
                          <p:cTn id="2040" fill="hold">
                            <p:stCondLst>
                              <p:cond delay="0"/>
                            </p:stCondLst>
                            <p:childTnLst>
                              <p:par>
                                <p:cTn id="20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9" fill="hold">
                      <p:stCondLst>
                        <p:cond delay="indefinite"/>
                      </p:stCondLst>
                      <p:childTnLst>
                        <p:par>
                          <p:cTn id="2050" fill="hold">
                            <p:stCondLst>
                              <p:cond delay="0"/>
                            </p:stCondLst>
                            <p:childTnLst>
                              <p:par>
                                <p:cTn id="20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9" fill="hold">
                      <p:stCondLst>
                        <p:cond delay="indefinite"/>
                      </p:stCondLst>
                      <p:childTnLst>
                        <p:par>
                          <p:cTn id="2060" fill="hold">
                            <p:stCondLst>
                              <p:cond delay="0"/>
                            </p:stCondLst>
                            <p:childTnLst>
                              <p:par>
                                <p:cTn id="20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Engage your prior knowledge</a:t>
            </a:r>
          </a:p>
        </p:txBody>
      </p:sp>
      <p:sp>
        <p:nvSpPr>
          <p:cNvPr id="202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/>
              <a:t>Our Key Question is: Are England and Brazil different?</a:t>
            </a:r>
          </a:p>
          <a:p>
            <a:endParaRPr lang="en-GB" dirty="0"/>
          </a:p>
          <a:p>
            <a:r>
              <a:rPr lang="en-GB" sz="1800" dirty="0"/>
              <a:t>What do you remember about England's landscape from previous years?</a:t>
            </a:r>
          </a:p>
          <a:p>
            <a:endParaRPr lang="en-GB" dirty="0"/>
          </a:p>
          <a:p>
            <a:r>
              <a:rPr lang="en-GB" sz="1800" dirty="0"/>
              <a:t>How would you describe the weather where we live? Is it similar to or different from Brazil?</a:t>
            </a:r>
          </a:p>
          <a:p>
            <a:endParaRPr lang="en-GB" dirty="0"/>
          </a:p>
          <a:p>
            <a:r>
              <a:rPr lang="en-GB" sz="1800" dirty="0"/>
              <a:t>Which do you think has more variation in landscape — England or Brazil? Why?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600" dirty="0"/>
              <a:t>Friday 26 June 2026</a:t>
            </a:r>
          </a:p>
        </p:txBody>
      </p:sp>
      <p:sp xmlns:p="http://schemas.openxmlformats.org/presentationml/2006/main" xmlns:a="http://schemas.openxmlformats.org/drawingml/2006/main">
        <p:nvSpPr>
          <p:cNvPr id="210" name="lo10"/>
          <p:cNvSpPr>
            <a:spLocks noGrp="1"/>
          </p:cNvSpPr>
          <p:nvPr>
            <p:ph idx="10"/>
          </p:nvPr>
        </p:nvSpPr>
        <p:spPr/>
        <p:txBody>
          <a:bodyPr insTp="1000000" rtlCol="0">
            <a:normAutofit/>
          </a:bodyPr>
          <a:lstStyle/>
          <a:p>
            <a:r>
              <a:rPr lang="en-GB" dirty="0" sz="1400"/>
              <a:t>describe and compare England's physical geography with Brazil's.</a:t>
            </a:r>
          </a:p>
        </p:txBody>
      </p:sp>
      <p:sp xmlns:p="http://schemas.openxmlformats.org/presentationml/2006/main" xmlns:a="http://schemas.openxmlformats.org/drawingml/2006/main">
        <p:nvSpPr>
          <p:cNvPr id="211" name="lo13"/>
          <p:cNvSpPr>
            <a:spLocks noGrp="1"/>
          </p:cNvSpPr>
          <p:nvPr>
            <p:ph idx="13"/>
          </p:nvPr>
        </p:nvSpPr>
        <p:spPr/>
        <p:txBody>
          <a:bodyPr insTp="1000000" rtlCol="0">
            <a:normAutofit/>
          </a:bodyPr>
          <a:lstStyle/>
          <a:p>
            <a:r>
              <a:rPr lang="en-GB" dirty="0" sz="1400"/>
              <a:t>comparing places is a core geographical skill and it helps us answer our enquiry question about England and Brazil.</a:t>
            </a:r>
          </a:p>
        </p:txBody>
      </p:sp>
      <p:sp xmlns:p="http://schemas.openxmlformats.org/presentationml/2006/main" xmlns:a="http://schemas.openxmlformats.org/drawingml/2006/main">
        <p:nvSpPr>
          <p:cNvPr id="212" name="lo14"/>
          <p:cNvSpPr>
            <a:spLocks noGrp="1"/>
          </p:cNvSpPr>
          <p:nvPr>
            <p:ph idx="14"/>
          </p:nvPr>
        </p:nvSpPr>
        <p:spPr>
          <a:xfrm>
            <a:off x="8979945" y="5200000"/>
            <a:ext cx="2559050" cy="984000"/>
          </a:xfrm>
        </p:spPr>
        <p:txBody>
          <a:bodyPr insTp="1000000" rtlCol="0">
            <a:normAutofit/>
          </a:bodyPr>
          <a:lstStyle/>
          <a:p>
            <a:r>
              <a:rPr lang="en-GB" dirty="0" sz="1400"/>
              <a:t>writing a comparison that uses at least two geographical vocabulary words and evidence from both countries.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63" fill="hold">
                      <p:stCondLst>
                        <p:cond delay="indefinite"/>
                      </p:stCondLst>
                      <p:childTnLst>
                        <p:par>
                          <p:cTn id="1064" fill="hold">
                            <p:stCondLst>
                              <p:cond delay="0"/>
                            </p:stCondLst>
                            <p:childTnLst>
                              <p:par>
                                <p:cTn id="10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9" fill="hold">
                      <p:stCondLst>
                        <p:cond delay="indefinite"/>
                      </p:stCondLst>
                      <p:childTnLst>
                        <p:par>
                          <p:cTn id="1070" fill="hold">
                            <p:stCondLst>
                              <p:cond delay="0"/>
                            </p:stCondLst>
                            <p:childTnLst>
                              <p:par>
                                <p:cTn id="10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5" fill="hold">
                      <p:stCondLst>
                        <p:cond delay="indefinite"/>
                      </p:stCondLst>
                      <p:childTnLst>
                        <p:par>
                          <p:cTn id="1076" fill="hold">
                            <p:stCondLst>
                              <p:cond delay="0"/>
                            </p:stCondLst>
                            <p:childTnLst>
                              <p:par>
                                <p:cTn id="10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England's physical geography</a:t>
            </a:r>
          </a:p>
        </p:txBody>
      </p:sp>
      <p:sp>
        <p:nvSpPr>
          <p:cNvPr id="214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/>
              <a:t>England's climate:</a:t>
            </a:r>
          </a:p>
          <a:p>
            <a:pPr lvl="1"/>
            <a:r>
              <a:rPr lang="en-GB" sz="1800" dirty="0"/>
              <a:t>Temperate maritime — mild all year, wetter in the west, cooler in the north</a:t>
            </a:r>
          </a:p>
          <a:p>
            <a:pPr lvl="1"/>
            <a:r>
              <a:rPr lang="en-GB" sz="1800" dirty="0"/>
              <a:t>Further from the Equator than Brazil, so much cooler and less intense sunshine</a:t>
            </a:r>
          </a:p>
          <a:p>
            <a:endParaRPr lang="en-GB" dirty="0"/>
          </a:p>
          <a:p>
            <a:r>
              <a:rPr lang="en-GB" sz="1800" dirty="0"/>
              <a:t>England's biomes:</a:t>
            </a:r>
          </a:p>
          <a:p>
            <a:pPr lvl="1"/>
            <a:r>
              <a:rPr lang="en-GB" sz="1800" dirty="0"/>
              <a:t>Temperate deciduous forest — the main natural biome; trees lose leaves in winter</a:t>
            </a:r>
          </a:p>
          <a:p>
            <a:pPr lvl="1"/>
            <a:r>
              <a:rPr lang="en-GB" sz="1800" dirty="0"/>
              <a:t>Upland moorland — found in the highlands; heather and grasses, very wet</a:t>
            </a:r>
          </a:p>
          <a:p>
            <a:endParaRPr lang="en-GB" dirty="0"/>
          </a:p>
          <a:p>
            <a:r>
              <a:rPr lang="en-GB" sz="1800" dirty="0"/>
              <a:t>England's topography:</a:t>
            </a:r>
          </a:p>
          <a:p>
            <a:pPr lvl="1"/>
            <a:r>
              <a:rPr lang="en-GB" sz="1800" dirty="0"/>
              <a:t>Highlands in the north and west (Pennines, Lake District, Dartmoor)</a:t>
            </a:r>
          </a:p>
          <a:p>
            <a:pPr lvl="1"/>
            <a:r>
              <a:rPr lang="en-GB" sz="1800" dirty="0"/>
              <a:t>Lowlands in the south and east — flat plains, river valleys and farmland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Find the highlands and lowlands.</a:t>
            </a:r>
          </a:p>
        </p:txBody>
      </p:sp>
      <p:sp>
        <p:nvSpPr>
          <p:cNvPr id="216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/>
              <a:t>Look at the topographical map of England on the board.</a:t>
            </a:r>
          </a:p>
          <a:p>
            <a:endParaRPr lang="en-GB" dirty="0"/>
          </a:p>
          <a:p>
            <a:r>
              <a:rPr lang="en-GB" sz="1800" dirty="0"/>
              <a:t>Find and point to:</a:t>
            </a:r>
          </a:p>
          <a:p>
            <a:endParaRPr lang="en-GB" dirty="0"/>
          </a:p>
          <a:p>
            <a:pPr lvl="1"/>
            <a:r>
              <a:rPr lang="en-GB" sz="1800" dirty="0"/>
              <a:t>An area of highland — where is it? North, south, east or west?</a:t>
            </a:r>
          </a:p>
          <a:p>
            <a:pPr lvl="1"/>
            <a:r>
              <a:rPr lang="en-GB" sz="1800" dirty="0"/>
              <a:t>An area of lowland — how is it different?</a:t>
            </a:r>
          </a:p>
          <a:p>
            <a:pPr lvl="1"/>
            <a:r>
              <a:rPr lang="en-GB" sz="1800" dirty="0"/>
              <a:t>A major river — which direction does it flow? Why?</a:t>
            </a:r>
          </a:p>
          <a:p>
            <a:endParaRPr lang="en-GB" dirty="0"/>
          </a:p>
          <a:p>
            <a:r>
              <a:rPr lang="en-GB" sz="1800" dirty="0"/>
              <a:t>Now compare with Brazil: which country has more variety in landscape?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Compare England and Brazil.</a:t>
            </a:r>
          </a:p>
        </p:txBody>
      </p:sp>
      <p:sp>
        <p:nvSpPr>
          <p:cNvPr id="218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/>
              <a:t>Use the comparison table on your learning paper.</a:t>
            </a:r>
          </a:p>
          <a:p>
            <a:endParaRPr lang="en-GB" dirty="0"/>
          </a:p>
          <a:p>
            <a:r>
              <a:rPr lang="en-GB" sz="1800" dirty="0"/>
              <a:t>Work with your partner to complete:</a:t>
            </a:r>
          </a:p>
          <a:p>
            <a:endParaRPr lang="en-GB" dirty="0"/>
          </a:p>
          <a:p>
            <a:pPr lvl="1"/>
            <a:r>
              <a:rPr lang="en-GB" sz="1800" dirty="0"/>
              <a:t>Climate type — what is each country's climate?</a:t>
            </a:r>
          </a:p>
          <a:p>
            <a:pPr lvl="1"/>
            <a:r>
              <a:rPr lang="en-GB" sz="1800" dirty="0"/>
              <a:t>Temperature — hot, mild or cold? Does it change?</a:t>
            </a:r>
          </a:p>
          <a:p>
            <a:pPr lvl="1"/>
            <a:r>
              <a:rPr lang="en-GB" sz="1800" dirty="0"/>
              <a:t>Main biome — what is the natural vegetation?</a:t>
            </a:r>
          </a:p>
          <a:p>
            <a:pPr lvl="1"/>
            <a:r>
              <a:rPr lang="en-GB" sz="1800" dirty="0"/>
              <a:t>Topography — highlands, lowlands or both?</a:t>
            </a:r>
          </a:p>
          <a:p>
            <a:endParaRPr lang="en-GB" dirty="0"/>
          </a:p>
          <a:p>
            <a:r>
              <a:rPr lang="en-GB" sz="1800" dirty="0"/>
              <a:t>Be ready to share one comparison with the class.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Write your comparison.</a:t>
            </a:r>
          </a:p>
        </p:txBody>
      </p:sp>
      <p:sp>
        <p:nvSpPr>
          <p:cNvPr id="220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/>
              <a:t>Use these sentence starters:</a:t>
            </a:r>
          </a:p>
          <a:p>
            <a:endParaRPr lang="en-GB" dirty="0"/>
          </a:p>
          <a:p>
            <a:pPr lvl="1"/>
            <a:r>
              <a:rPr lang="en-GB" sz="1800" dirty="0"/>
              <a:t>England is different from Brazil because…</a:t>
            </a:r>
          </a:p>
          <a:p>
            <a:pPr lvl="1"/>
            <a:r>
              <a:rPr lang="en-GB" sz="1800" dirty="0"/>
              <a:t>Unlike Brazil, England…</a:t>
            </a:r>
          </a:p>
          <a:p>
            <a:pPr lvl="1"/>
            <a:r>
              <a:rPr lang="en-GB" sz="1800" dirty="0"/>
              <a:t>One similarity between England and Brazil is…</a:t>
            </a:r>
          </a:p>
          <a:p>
            <a:endParaRPr lang="en-GB" dirty="0"/>
          </a:p>
          <a:p>
            <a:r>
              <a:rPr lang="en-GB" sz="1800" dirty="0"/>
              <a:t>Use at least TWO geographical vocabulary words.</a:t>
            </a:r>
          </a:p>
          <a:p>
            <a:endParaRPr lang="en-GB" dirty="0"/>
          </a:p>
          <a:p>
            <a:r>
              <a:rPr lang="en-GB" sz="1800" dirty="0"/>
              <a:t>Challenge: Why does England have four seasons when parts of Brazil only have two?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h10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GB" dirty="0"/>
              <a:t>What surprised you most about England's physical geography?</a:t>
            </a:r>
          </a:p>
        </p:txBody>
      </p:sp>
      <p:sp>
        <p:nvSpPr>
          <p:cNvPr id="222" name="ph11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GB" dirty="0"/>
              <a:t>Why does a country's distance from the Equator affect its climate?</a:t>
            </a:r>
          </a:p>
        </p:txBody>
      </p:sp>
      <p:sp>
        <p:nvSpPr>
          <p:cNvPr id="223" name="ph12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GB" dirty="0"/>
              <a:t>What is one similarity between England and Brazil?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Quiz</a:t>
            </a:r>
          </a:p>
        </p:txBody>
      </p:sp>
      <p:sp>
        <p:nvSpPr>
          <p:cNvPr id="241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700" dirty="0"/>
              <a:t>Name the three main biomes found in Brazil.</a:t>
            </a:r>
          </a:p>
          <a:p>
            <a:pPr lvl="1"/>
            <a:r>
              <a:rPr lang="en-GB" sz="1700" dirty="0"/>
              <a:t>Answer: tropical rainforest, cerrado, pantanal</a:t>
            </a:r>
          </a:p>
          <a:p>
            <a:endParaRPr lang="en-GB" dirty="0"/>
          </a:p>
          <a:p>
            <a:r>
              <a:rPr lang="en-GB" sz="1700" dirty="0"/>
              <a:t>True or false? Brazil's climate is tropical because the Equator passes through the north.</a:t>
            </a:r>
          </a:p>
          <a:p>
            <a:pPr lvl="1"/>
            <a:r>
              <a:rPr lang="en-GB" sz="1700" dirty="0"/>
              <a:t>Answer: True</a:t>
            </a:r>
          </a:p>
          <a:p>
            <a:endParaRPr lang="en-GB" dirty="0"/>
          </a:p>
          <a:p>
            <a:r>
              <a:rPr lang="en-GB" sz="1700" dirty="0"/>
              <a:t>Why is it wrong to say rainforest soil is fertile?</a:t>
            </a:r>
          </a:p>
          <a:p>
            <a:pPr lvl="1"/>
            <a:r>
              <a:rPr lang="en-GB" sz="1700" dirty="0"/>
              <a:t>Answer: the nutrients are held in the plants, not the soil</a:t>
            </a:r>
          </a:p>
          <a:p>
            <a:endParaRPr lang="en-GB" dirty="0"/>
          </a:p>
          <a:p>
            <a:r>
              <a:rPr lang="en-GB" sz="1700" dirty="0"/>
              <a:t>Which biome is a savanna with wet and dry seasons — cerrado or pantanal?</a:t>
            </a:r>
          </a:p>
          <a:p>
            <a:pPr lvl="1"/>
            <a:r>
              <a:rPr lang="en-GB" sz="1700" dirty="0"/>
              <a:t>Answer: cerrado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Vocabulary</a:t>
            </a:r>
          </a:p>
        </p:txBody>
      </p:sp>
      <p:sp>
        <p:nvSpPr>
          <p:cNvPr id="243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700" dirty="0"/>
              <a:t>Temperate</a:t>
            </a:r>
          </a:p>
          <a:p>
            <a:pPr lvl="1"/>
            <a:r>
              <a:rPr lang="en-GB" sz="1700" dirty="0"/>
              <a:t>A climate that is mild — not very hot or very cold — with rain spread through the year</a:t>
            </a:r>
          </a:p>
          <a:p>
            <a:endParaRPr lang="en-GB" dirty="0"/>
          </a:p>
          <a:p>
            <a:r>
              <a:rPr lang="en-GB" sz="1700" dirty="0"/>
              <a:t>Deciduous</a:t>
            </a:r>
          </a:p>
          <a:p>
            <a:pPr lvl="1"/>
            <a:r>
              <a:rPr lang="en-GB" sz="1700" dirty="0"/>
              <a:t>A type of tree that loses its leaves in autumn and grows new ones in spring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600" dirty="0"/>
              <a:t>Understanding topography</a:t>
            </a:r>
          </a:p>
        </p:txBody>
      </p:sp>
      <p:sp>
        <p:nvSpPr>
          <p:cNvPr id="251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500" dirty="0"/>
              <a:t>Topography means the shape of the land — how high, low, flat or hilly a place is.</a:t>
            </a:r>
          </a:p>
          <a:p>
            <a:endParaRPr lang="en-GB" dirty="0"/>
          </a:p>
          <a:p>
            <a:pPr lvl="1"/>
            <a:r>
              <a:rPr lang="en-GB" sz="1500" dirty="0"/>
              <a:t>Highland — hills and mountains. The land is high up.</a:t>
            </a:r>
          </a:p>
          <a:p>
            <a:pPr lvl="1"/>
            <a:r>
              <a:rPr lang="en-GB" sz="1500" dirty="0"/>
              <a:t>Lowland — flat plains and valleys. The land is low and often flat.</a:t>
            </a:r>
          </a:p>
          <a:p>
            <a:endParaRPr lang="en-GB" dirty="0"/>
          </a:p>
          <a:p>
            <a:r>
              <a:rPr lang="en-GB" sz="1500" dirty="0"/>
              <a:t>Example: the Pennines run through the north of England — this is an area of highland.</a:t>
            </a:r>
          </a:p>
          <a:p>
            <a:r>
              <a:rPr lang="en-GB" sz="1500" dirty="0"/>
              <a:t>Example: East Anglia in the south-east of England is mostly flat — this is an area of lowland.</a:t>
            </a:r>
          </a:p>
          <a:p>
            <a:endParaRPr lang="en-GB" dirty="0"/>
          </a:p>
          <a:p>
            <a:r>
              <a:rPr lang="en-GB" sz="1500" dirty="0"/>
              <a:t>On a map, highland is often shown in brown or dark green. Lowland is often shown in pale green.</a:t>
            </a:r>
          </a:p>
          <a:p>
            <a:endParaRPr lang="en-GB" dirty="0"/>
          </a:p>
          <a:p>
            <a:r>
              <a:rPr lang="en-GB" sz="1500" dirty="0"/>
              <a:t>Look at the map on the board. Find one area that looks like highland and one that looks like lowland. Discuss with your trio: how can you tell the difference?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lace, Space &amp; Scal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D2C3B9E7-B64F-9144-B093-0DE3631703F7}"/>
    </a:ext>
  </a:extLst>
</a:theme>
</file>

<file path=ppt/theme/theme2.xml><?xml version="1.0" encoding="utf-8"?>
<a:theme xmlns:a="http://schemas.openxmlformats.org/drawingml/2006/main" name="Human Geograph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E81D0F21-355D-B94F-B206-BFD661D1789F}"/>
    </a:ext>
  </a:extLst>
</a:theme>
</file>

<file path=ppt/theme/theme3.xml><?xml version="1.0" encoding="utf-8"?>
<a:theme xmlns:a="http://schemas.openxmlformats.org/drawingml/2006/main" name="Cultural Awareness &amp; Diversit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39893858-C156-AB4E-9927-8667689EC1DC}"/>
    </a:ext>
  </a:extLst>
</a:theme>
</file>

<file path=ppt/theme/theme4.xml><?xml version="1.0" encoding="utf-8"?>
<a:theme xmlns:a="http://schemas.openxmlformats.org/drawingml/2006/main" name="Physical Geograph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1114C6C5-458E-3141-886F-AAB2FE0B17DB}"/>
    </a:ext>
  </a:extLst>
</a:theme>
</file>

<file path=ppt/theme/theme5.xml><?xml version="1.0" encoding="utf-8"?>
<a:theme xmlns:a="http://schemas.openxmlformats.org/drawingml/2006/main" name="Environmental Impact &amp; Sustainabilit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3DF64C86-57E4-4142-8814-3273357A8EBC}"/>
    </a:ext>
  </a:extLst>
</a:theme>
</file>

<file path=ppt/theme/theme6.xml><?xml version="1.0" encoding="utf-8"?>
<a:theme xmlns:a="http://schemas.openxmlformats.org/drawingml/2006/main" name="Z - Not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CF74EC8C-93CA-004C-BE05-B0B3FDDB5246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1695694772F44B387615DF8DED97F" ma:contentTypeVersion="16" ma:contentTypeDescription="Create a new document." ma:contentTypeScope="" ma:versionID="6b988a150421d80c99f84aa2bfb3de38">
  <xsd:schema xmlns:xsd="http://www.w3.org/2001/XMLSchema" xmlns:xs="http://www.w3.org/2001/XMLSchema" xmlns:p="http://schemas.microsoft.com/office/2006/metadata/properties" xmlns:ns2="9e6dd442-da5e-411e-833f-0fee7dcd7819" xmlns:ns3="4848fd07-94db-4308-8950-9cb0e230b958" targetNamespace="http://schemas.microsoft.com/office/2006/metadata/properties" ma:root="true" ma:fieldsID="0840e1ae8104f568f88bbc0ee80d0ce2" ns2:_="" ns3:_="">
    <xsd:import namespace="9e6dd442-da5e-411e-833f-0fee7dcd7819"/>
    <xsd:import namespace="4848fd07-94db-4308-8950-9cb0e230b9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dd442-da5e-411e-833f-0fee7dcd7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d08261e-ebf2-489e-9cf5-3c5ddf1ef5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8fd07-94db-4308-8950-9cb0e230b95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0903c9d-9125-4551-886d-abbd3fd64318}" ma:internalName="TaxCatchAll" ma:showField="CatchAllData" ma:web="4848fd07-94db-4308-8950-9cb0e230b9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6dd442-da5e-411e-833f-0fee7dcd7819">
      <Terms xmlns="http://schemas.microsoft.com/office/infopath/2007/PartnerControls"/>
    </lcf76f155ced4ddcb4097134ff3c332f>
    <TaxCatchAll xmlns="4848fd07-94db-4308-8950-9cb0e230b958" xsi:nil="true"/>
  </documentManagement>
</p:properties>
</file>

<file path=customXml/itemProps1.xml><?xml version="1.0" encoding="utf-8"?>
<ds:datastoreItem xmlns:ds="http://schemas.openxmlformats.org/officeDocument/2006/customXml" ds:itemID="{4D711390-D44A-4E93-AE20-B41395FDED8B}">
  <ds:schemaRefs>
    <ds:schemaRef ds:uri="4848fd07-94db-4308-8950-9cb0e230b958"/>
    <ds:schemaRef ds:uri="9e6dd442-da5e-411e-833f-0fee7dcd78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6EF9E5F-4208-4CCB-9209-F9F1400DE91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95EA48-DC2D-459B-B922-A2C4EE3BFC7C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9e6dd442-da5e-411e-833f-0fee7dcd7819"/>
    <ds:schemaRef ds:uri="http://purl.org/dc/elements/1.1/"/>
    <ds:schemaRef ds:uri="http://purl.org/dc/terms/"/>
    <ds:schemaRef ds:uri="http://purl.org/dc/dcmitype/"/>
    <ds:schemaRef ds:uri="http://schemas.openxmlformats.org/package/2006/metadata/core-properties"/>
    <ds:schemaRef ds:uri="4848fd07-94db-4308-8950-9cb0e230b95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Place, Space &amp; Scale</Template>
  <TotalTime>8</TotalTime>
  <Words>773</Words>
  <Application>Microsoft Macintosh PowerPoint</Application>
  <PresentationFormat>Widescreen</PresentationFormat>
  <Paragraphs>122</Paragraphs>
  <Slides>13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Twinkl Cursive Looped</vt:lpstr>
      <vt:lpstr>Place, Space &amp; Scale</vt:lpstr>
      <vt:lpstr>Human Geography</vt:lpstr>
      <vt:lpstr>Cultural Awareness &amp; Diversity</vt:lpstr>
      <vt:lpstr>Physical Geography</vt:lpstr>
      <vt:lpstr>Environmental Impact &amp; Sustainability</vt:lpstr>
      <vt:lpstr>Z - Notes</vt:lpstr>
      <vt:lpstr>The Oracy Framework</vt:lpstr>
      <vt:lpstr>PowerPoint Presentation</vt:lpstr>
      <vt:lpstr>PowerPoint Presentation</vt:lpstr>
      <vt:lpstr>PowerPoint Presentation</vt:lpstr>
      <vt:lpstr>PowerPoint Presentation</vt:lpstr>
      <vt:lpstr>Connections</vt:lpstr>
      <vt:lpstr>Engage your prior knowledge</vt:lpstr>
      <vt:lpstr>Tuesday 23 June 2026</vt:lpstr>
      <vt:lpstr>Latitude, longitude and location</vt:lpstr>
      <vt:lpstr>Let's find Brazil.</vt:lpstr>
      <vt:lpstr>Label South America together.</vt:lpstr>
      <vt:lpstr>Write your location description.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innes mclean</dc:creator>
  <cp:lastModifiedBy>innes mclean</cp:lastModifiedBy>
  <cp:revision>2</cp:revision>
  <dcterms:created xsi:type="dcterms:W3CDTF">2026-06-21T16:44:49Z</dcterms:created>
  <dcterms:modified xsi:type="dcterms:W3CDTF">2026-06-21T18:42:18Z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0x010100AC71695694772F44B387615DF8DED97F</vt:lpwstr>
  </property>
  <property fmtid="{D5CDD505-2E9C-101B-9397-08002B2CF9AE}" pid="3" name="MediaServiceImageTags">
    <vt:lpwstr/>
  </property>
</Properties>
</file>